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four ELI16 executive-summary slides, then all fifteen module responsibilities and the exercised dependency maps before implementation detail. M1 establishes replaceable ports; M1.2 connects real Hive; M2 adds private memory and guarded revision; M3 adds independent STI and bounded inference; M3.1 accounts for delivery and feedback. M4 connects a generated, shareable native inspect result to an isolated real chain and checks its actual post-state effect plus matching deploy-effect finality. The cognition and commitment paths stay separate. Suggested delivery: 50–55 minutes through slide 43; nine appendices support discussion. Tested source 55ed5402391ab6ed14f8ab20e1eea4c85d8be955; evidence-only descendant 05b1c52cfa6ced6e263700753e82ad6038a3b0dd. Presentation changes do not rerun integrations or expand their guarantees.</a:t>
            </a:r>
          </a:p>
          <a:p/>
          <a:p>
            <a:r>
              <a:t>Source: M4 evidence 05b1c52 · tested 55ed540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ELI16 assumes a technically curious sixteen-year-old. The analogy explains responsibilities, not an additional experiment. C1 records occurrences and provenance. C2 distinguishes admission from numerical aggregation and retains disagreement. The pure providers reuse guarded Truth_Revision and one grounded Truth_Deduction rule. Their outputs remain model-specific heuristics, not proof of external truth or source independence. Derived conclusions inherit evidence roots and ancestry and add no observation or evidence count. Generated observations and operator assumptions remain fixtures, even when they travel through real runtimes.</a:t>
            </a:r>
          </a:p>
          <a:p/>
          <a:p>
            <a:r>
              <a:t>Source: M2 preserved · M3 derived admission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importance, or STI, is a simple deterministic priority score. It is separate from PLN truth values. C4 handles a fixed explicit workset; it does not invent new tasks or search the knowledge base. The measured two-task experiment changes initial attention to select the other task while keeping the one-attempt budget fixed. Attempts are durable physical evaluation opportunities. A crash after reservation spends the slot even if no result commits. Successful replay recovers recorded admission and feedback without extra native calls. These are local process-restart observations, not hard real-time or production-quality claims.</a:t>
            </a:r>
          </a:p>
          <a:p/>
          <a:p>
            <a:r>
              <a:t>Source: C3 attention · C4 bounded inference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means accounting for recorded effects, not guaranteeing global completion. Nine fixture methods, five real-provider methods, sixteen direct SIGKILL cases and seven native Hive cases (four with kills) support the new behavior. The 33-event episode uses real DeTTa/native PLN with generated observations. A report can be durably processed without a numerical truth value. Feedback resolution never newly applies eligible feedback: it returns an existing receipt, creates a no-credit retirement if stale or expired, or stays pending. C4 exposes progress separately from immutable execution counters. New profiles require fresh journals; old M3 pending stores are not migrated or repaired.</a:t>
            </a:r>
          </a:p>
          <a:p/>
          <a:p>
            <a:r>
              <a:t>Source: M3.1 delivery closure · owner receipts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sealed-envelope analogy describes durable signed-intent replay. M4 uses the real native fusion-inspect operation and a separate fusion-commitment action, with generated shareable input and a labelled fixture counterparty. Operator approval binds exact result reference/digest, actor, expiry, chain/genesis/profile, signer and operation. The same stored signed request survives caller/adapter kills, including a lost response after real finality. A separate reader verifies DA bytes and the chain tuple without opening a caller journal or signing key. The chain records a commitment; it neither executes PLN nor certifies off-chain reasoning. This is one real local validator, not decentralized security or a production network.</a:t>
            </a:r>
          </a:p>
          <a:p/>
          <a:p>
            <a:r>
              <a:t>Source: M4 · native Hive → isolated F1R3node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responsibility groups remain visible. C1/C2 implement private memory and beliefs; M3 adds independent STI and bounded C4 plus a pure kernel for one grounded rule. Relations and Search remain specifications. Attention implements a bounded reference policy, not ECAN, LTI or the coupled metta-attention algorithm. RevisionMath is separate from PLNKernel.applyRule. Hive consumes these modules; a module need not be a separate process or repository. Blue means implemented local contracts, not production readiness. Authorization uses real Hive authentication followed by local test policy. M4 selects a new explicit finality profile against clean pinned F1R3node; the required real chain gate passes. It commits only the approved generated inspect result, with no cognitive dependency. Maintainer assignments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AtomStorage owns immutable scoped references and replay metadata, while DA only persists opaque payloads and generic coordinates. Relations and Search remain typed specifications. C1 exposes recordEpisode, appendEvent, readEpisode, readEvidence and pendingEvidence. The new local v3 completion port is bound to a trusted relay context separately from the ordinary EpisodeJournal. C1 validates completion identity and selected consumer, not PLN snapshots. Original v2 remains selectable. findEpisodes is not advertised. C1 preserves committed episode-local order and admitted provenance; observed time is metadata. It can run without C2 or PLN and against an independently implemented AtomStorage fixture. Its event bytes are immutable atoms, while its episode head and delivery intents belong to C1.</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implements the bounded sti-additive-linear-decay/1 reference policy, not ECAN or the inspected metta-attention implementation. C4 owns selection and physical attempt reservations; it depends on AtomStorage, Attention, DerivedBeliefRevision and PrivateAuthority. It does not call PLNKernel directly. C2 depends on AtomStorage, C1 readEvidence, RevisionMath, PLNKernel and PrivateAuthority. The pure kernel owns no belief, agenda or attention state. M2 revision-only local v2 remains selectable; derived private C2 is a fresh local v3 profile.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acceptance differs from delivery and acknowledgement. Execution accepts only inspect_atom and owns jobs plus its completion outbox; result atoms commit independently. The registry advertises descriptors, and the resolver matches consumer requirements. Neither grants permission. Finality owns durable logical/signed intents and verified chain observations in M4; it is not a C1/C2 dependency. Native commitment progress holds only caller mapping and receipts. Native authentication supplies trusted actor context, while local Fusion policy determines current access. The preserved M2 relay is a narrow delivery cursor between C1 and C2. M3 C4 separately owns its bounded step journal; neither grants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graph shows exercised calls. Hive's scenario appends private C1 events and uses the selected relay as its only new-profile evidence-admission path. Relay calls C1 pending/ack and C2 submitEvidence; it validates the complete selected C2 decision before attesting completion to C1. C4 reads private task/workset atoms and C2 snapshots, selects through C3, reserves work and submits or recovers C2 derivations. C4 reconciliation calls only Attention.resolveFeedback on recorded intents: no task selection, C2 admission or PLN call. C2 reads evidence through C1 and calls the unchanged pure math providers. C3 requires authority and reference syntax only. Bottom cards summarize storage/authority dependencies; each owner has an independent local commit. Original M2/M3 profiles remain selectable.</a:t>
            </a:r>
          </a:p>
          <a:p/>
          <a:p>
            <a:r>
              <a:t>Source: cognition.py · ports.py · evidence_relay.py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real native dispatch into the thin plugin, which holds a caller-owned receipt and uses Subprocess/Peer through descriptor-bound validation. Direct storage, messaging and execution calls all cross the same authenticated boundary. Trusted composition supplies concrete owners; the plugin never constructs them or accesses their tables. Messaging.send validates the referenced bytes through caller-authorized AtomStorage.get; Execution.submit reads the input before accepting a new job. The worker calls declared AtomStorage get/create, then execution commits terminal state/outbox. CompletionDelivery.accept belongs to the mailbox owner and commits separately. The original M1.2 operation does not invoke chain. M4 adds a separate native sibling and caller-owned completed-result accessor after acceptance. This is a logical call map; it does not force one process per module.</a:t>
            </a:r>
          </a:p>
          <a:p/>
          <a:p>
            <a:r>
              <a:t>Source: program.py · ports.py · execution.py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Arrows show caller-to-provider dependencies, not a cross-owner transaction. Actual authenticated Programs dispatch loads the new narrow sibling fusion-commitment. Its only user parameter is original_command; operator configuration controls the approved generated workflow and selected chain. A read-only completed-result accessor lives beside the original inspect plugin and rechecks accepted/acknowledged result and live authority. The sibling also retrieves exact bytes via the selected AtomStorage interface. A typed local ConsensusFinality session validates the explicit f1r3-generated-post-state/2 profile; existing port signatures and the legacy adapter are unchanged. The adapter owns logical plan, signed request, submission and observation state. The caller owns only command/progress mapping and calls no other owner's SQL. The original inspect plugin, cognition and DA core are unchanged. Private C1/C2/C3/C4 state has no edge to the chain.</a:t>
            </a:r>
          </a:p>
          <a:p/>
          <a:p>
            <a:r>
              <a:t>Source: hive/commitment · completed.py · f1r3_m4.py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unchanged DA boundary is exercised against a freshly fetched clean secured-contract-spaces revision 272888f264dd2dde18b574cabb53c266b0dac2ec. No Hive-specific schema is added to DeTTa. Application references and replay semantics belong above opaque DA. Conformance removes the cached payload and two erasure shares and verifies reconstruction; three missing shares and corruption fail explicitly. This is actual local library execution, not a validator/custody network or an indefinite-retention claim. The independent atomic-file provider is an AtomStorage contract fixture, not a second DA network. The clean-source rebaseline excludes historical dirty storage-format and custody-pruning additions and reruns applicable tests.</a:t>
            </a:r>
          </a:p>
          <a:p/>
          <a:p>
            <a:r>
              <a:t>Source: adapters/detta/src/main.rs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storage matrix has two implementations times two bindings. C1 is independently exercised without cognition using hostile declared-port wrappers. M3 attention replacement uses a separately implemented atomic-file provider; only DTO validation is shared with the SQLite implementation. Four controlled native cases hold exact task/evidence identities, policy, budgets and deadline fixed while selecting the provider in composition. Separate initial-preference cases show the selection effect. Both replacements persist actual state, but the file implementations remain classified fixtures rather than real DeTTa or a production attention service. This demonstrates same-profile replacement on fresh stores, not live migration.</a:t>
            </a:r>
          </a:p>
          <a:p/>
          <a:p>
            <a:r>
              <a:t>Source: m11-swap-demo.json ·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plugin receives authenticated actor context and derives authority from operator configuration. Request parameters cannot select credentials, arbitrary scopes or private premise identities. Public parameters are generated seed, preference a/b and an absolute deadline. Privacy tests intercept shared bindings, populate shared stores and inspect native receipts/logs/state for canaries and private hashes. This is tested local placement under a trusted operator/host, not secrecy from administrators. Each journal has one owner and commits independently; there is no cross-owner SQL transaction.</a:t>
            </a:r>
          </a:p>
          <a:p/>
          <a:p>
            <a:r>
              <a:t>Source: cognition.py · inference_program/program.py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contracts use closed bounded DTOs and detach nested request inputs before authorization or foreign calls. A task binds P,Q,R,P⇒Q,Q⇒R to exact private references. Premise vectors record each belief's historical revision and support ID; the upstream knowledge revision of zero is only a local evaluation ID, not a global ledger. Derived support tags distinguish observation, two-local-premise revision and five-foreign-premise deduction. C2 local v3 is explicit and does not widen M2 v2. WorkBudget contains an absolute Unix-ms deadline, max_candidates, max_rule_applications and max_feedback_generation. Historical reads and recovered owner responses are validated against the exact request.</a:t>
            </a:r>
          </a:p>
          <a:p/>
          <a:p>
            <a:r>
              <a:t>Source: attention_contracts.py · cognition_contracts.py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illustrated event roles match the generated story. Each immutable event is referenced by an AtomRef; the episode head begins at zero and advances by one for accepted occurrences. A duplicate occurrence with the same semantic content returns its original receipt before a stale expected-head check, even under a new request key. Changed content or provenance for that occurrence conflicts. Distinct occurrences can have identical bytes. Payload persistence can precede episode commit and leave an orphan after death; replay recovers the same atom without inventing an acknowledged event. C1 exposes bounded reads, pending evidence and trusted acknowledgements, with no cognition dependency. No dynamic episode search or garbage collector is implemented.</a:t>
            </a:r>
          </a:p>
          <a:p/>
          <a:p>
            <a:r>
              <a:t>Source: episodes.py · tests/test_m2.py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commits belong to three owners; there is no cross-owner transaction. The selected adapter validates exactly one C2 profile and full response, including v3 support fields after a real deduction. C1 accepts trusted-evidence-completion/1 through a separately bound context unavailable to ordinary episode/Hive clients. A completion identifies scope, delivery, exact evidence/claim/context, selected consumer, request and decision digests. It asserts committed processing, not truth. Relay recovers its own committed intents when the C1 acknowledgment response was lost and the delivery no longer appears pending. The real-provider run drains 33 generated observations in batches 16/16/1. Capacity testing refuses append 17, then uses public drain before appending. Reports and unregistered-origin observations close as model-inapplicable with null numerical truth; contrary observations remain retained. Four evidence boundaries times two providers give eight direct kills, plus two native caller evidence kills.</a:t>
            </a:r>
          </a:p>
          <a:p/>
          <a:p>
            <a:r>
              <a:t>Source: delivery_contracts.py · evidence_relay.py · m3_1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preserved observation admission. M3 adds a separate derivation command with inherited evidence, described next. The first eligible explicit assessment initializes the aggregate. Later evidence is retained without automatic aggregation unless an exact pair assumption and guards permit revision. Unknown origins cannot initialize a justified numerical aggregate. A report without numerical assessment is model-inapplicable. The ledger retains observations, support records, immutable snapshots and exact decisions. A later authorized independence declaration may combine already admitted supports, without creating another observation. Exact successful replay returns the original historical decision even after later revisions; a new-key duplicate returns current state without adding weight. Retained-alternative is a pair outcome, so an already covered ancestor need not produce a new alternative list entry or revision. Coverage fields state the actual result.</a:t>
            </a:r>
          </a:p>
          <a:p/>
          <a:p>
            <a:r>
              <a:t>Source: beliefs.py · memory_types.py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foreign premises are not five independent observations of the output claim. local-admitted-supports/1 treats the deduction as one local support unit with its inherited evidence/root union. Logical derivation identity is independent of request/step IDs, deadlines and output CAS. A duplicate cannot gain another admission or causal feedback credit. A separately authorized independence assumption can request the unchanged guarded native revision of eligible supports. Derive → revise retains grounded ancestry; a cyclic subsequent deduction is refused. Claims remain heuristic and lineage-aware, not calibrated uncertainty or proven entailment.</a:t>
            </a:r>
          </a:p>
          <a:p/>
          <a:p>
            <a:r>
              <a:t>Source: derived_beliefs.py · pln_deduction.py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unchanged Reachability dd56f3f implementation invokes PLN 4405956 Truth_Deduction on PeTTa ae66fa8 and SWI source 6977543, version 10.1.14. The exact runtime profile is fusion-petta-swi-10.1.14-deduction/1. No PLN.Derive, PLN.Query or task search is used. The Q&gt;0.9999 branch and its assumptions remain upstream semantics and are tested. Kernel source checks and native subprocesses use the remaining absolute deadline. This pure component owns no belief, agenda or attention state. Source drift, malformed output and timeout are explicit refusals, with fault injections labelled in the native suite.</a:t>
            </a:r>
          </a:p>
          <a:p/>
          <a:p>
            <a:r>
              <a:t>Source: deduction-sources.json · integration/pln/test_deduction.py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M3 golden has five ordered premises and uses the actual native Truth_Deduction. Expected values are independent test oracles, not production mathematics. M2 revision goldens still pass in the M3 regression, including reversed unequal pairs. Native suites include actual computation plus explicitly injected malformed responses, timeouts, source-drift clones and authorization/CAS interleavings. Fifteen upstream guard-only tests use RecordingRuntime and are not counted as native numerical evaluation. Evidence_count remains null, and a derived conclusion never turns into a fresh independent observation.</a:t>
            </a:r>
          </a:p>
          <a:p/>
          <a:p>
            <a:r>
              <a:t>Source: test_deduction.py · preserved test_revision.py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policy is frozen in its identity. Bounds are 16 targets, 16 advance steps per call, eight contexts, 512 causes per context, 1024 commands per owner and feedback generation three. Capacities refuse without silent eviction of acknowledged commands. Stimulus saturation is min(amount, Smax-current); total context budget is enforced atomically. Successful replay is checked before logical clock CAS under live authorization. Causal deduplication is independent of request identity; changing a causal body conflicts. Fresh feedback follows the target's current causal parent and next generation. metta-attention 3e1c8147 was inspected but not integrated because it couples STI/LTI/VLTI, wages and shared funds. C3 has no hidden dependency on AtomStorage, C1, C2, PLN or Hive.</a:t>
            </a:r>
          </a:p>
          <a:p/>
          <a:p>
            <a:r>
              <a:t>Source: attention.py · fixture_attention.py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fresh cases use two tasks, five premises per task, ten generated observations, two episodes and twelve claim atoms. Held fixed: exact task/evidence refs, policy parameters, one-attempt/two-candidate budgets, absolute deadline and logical schedule. Separate preference cases exchange initial scores 20/10 and 10/20. Only composition chooses SQLite or the independently implemented file fixture; no consumer code changes. Every result records examined=2, reserved=1, completed=1, refused=0, unique admission=1 and feedback_applied=1, ending at rule-budget. The second candidate is counted before discovering the exhausted rule budget. Preparation takes about 11.5–11.8 seconds and is separate from the reported step time. Store sizes are 1,040,671 and 1,020,409 bytes respectively. These are one-run local measurements, not throughput or cognitive-quality evidence.</a:t>
            </a:r>
          </a:p>
          <a:p/>
          <a:p>
            <a:r>
              <a:t>Source: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counts a candidate before resolving it, including unresolved or refused candidates. It commits reservation before dispatch and queries a prior C2 decision first during recovery. C2 persists semantic intent before evaluation, evaluates outside its commit transaction, then rechecks authority and output CAS. A killed pending attempt needs a new reserved slot/key; a committed decision is read back without evaluation. Logical derivation identity is distinct from transport request, controller step, attempt key, deadline and output CAS. Feedback is a fixed one-unit workflow signal tied to logical derivation identity, never a truth update. Absolute Unix-ms deadline survives restart; scheduling/file I/O remain cooperative, not hard real-time.</a:t>
            </a:r>
          </a:p>
          <a:p/>
          <a:p>
            <a:r>
              <a:t>Source: inference.py · deadlines.py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resolveFeedback never applies fresh eligible feedback. Existing application wins even after expiry or decay; it returns the original receipt without changing current STI. Otherwise stale/expired intent can create a no-credit tombstone atomically; eligible or unavailable/malformed responses remain pending, and revocation fails closed. Application and retirement share SQLite transaction or independent atomic-file locking. Concurrent eligible application versus clock advance/retirement and both serialized outcomes were exercised on both providers. First retirement consumes one existing cause and command slot; existing receipts/tombstones need no new slot. No capacity enlargement or eviction. C4 persists a bounded cursor and separate closure version. Same reconciliation key returns its original observation; fresh keys/readProgress can see newer closure. It never calls selection, C2 admission or PLN, refunds reservations, resets deadlines or retimes feedback. Finite exhausted capacity can leave work pending.</a:t>
            </a:r>
          </a:p>
          <a:p/>
          <a:p>
            <a:r>
              <a:t>Source: attention.py · fixture_attention.py · inference.py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native recovery methods cover ten actual SIGKILL cases: stimulus commit for both attention providers; reservation and kernel-return loss under budgets one and two; belief/feedback recovery for both providers. The real Hive suite adds five actual caller kills across the same boundaries. A one-slot loss conservatively exhausts the budget; a two-slot case may recover one logical admission after another physical calculation. Thus there is no claim of exactly one physical calculation per logical derivation. Committed admission and feedback are duplicate-safe. This is intact-local-file, same-host process restart, not reboot, power loss or distributed failover.</a:t>
            </a:r>
          </a:p>
          <a:p/>
          <a:p>
            <a:r>
              <a:t>Source: test_m3_recovery.py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records are copied before foreign calls and authorization so a malicious boundary cannot mutate the retained command. Recovered C2 and attention responses are checked against exact owner/request identities and semantics. Current principal, scope, method and descriptor permissions apply on every invocation. The assumption permission for revision remains separate. Native proposal calculation runs outside the owner commit transaction; final authorization and expected output revision are rechecked afterward. Old-profile feedback can remain CONFLICT after a clock change. The new profile lets Attention resolve recorded stale feedback by no-credit retirement; eligible or unavailable feedback stays pending. The controller never rewrites the logical schedule. These are local trusted-authority guarantees, not a production identity system.</a:t>
            </a:r>
          </a:p>
          <a:p/>
          <a:p>
            <a:r>
              <a:t>Source: cognition.py · derived_beliefs.py · tests/test_m3.py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pinned Hive create_app, authenticated Programs dispatch, default Supervisor and native PeTTa run in the integration. The narrow sibling plugin uses native assessment role, action infer-generated, and trusted actor mapping. ASGI TestClient, identities, observations and operator assumptions are fixtures; the runtime, DeTTa and formula execution are actual providers. The plugin owns caller intent/receipt and invokes the private scenario; it owns no belief, STI or controller state. The preserved M3 suite has eight native cases and five kills. The new M3.1 suite adds seven native cases, four with actual kills, covering both providers, closure progress, evidence recovery and explicit zero-conclusion execution. The new-profile scenario drains C1 evidence through the relay. The diagram summarizes the call sequence; each owner commits independently. M1 fusion-inspect and M2 fusion-episode remain supported and rerun in regression.</a:t>
            </a:r>
          </a:p>
          <a:p/>
          <a:p>
            <a:r>
              <a:t>Source: inference_program/program.py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summarizes the tested stale-feedback case: original execution has one admission and zero acknowledged feedback; after controlled clock advance STI is nine, and reconciliation retires the stale effect without changing that execution. The bottom row covers separate applied-before-lost-reply and expired-before-execution tests, not one combined run. The actual authenticated native Programs 0.1 dispatcher selects the existing plugin. Prepared original-command mapping is private and persisted before step. Public parameter original_command respects the unchanged Hive credential guard. The response exposes execution status/reason, admissions, original counts/remaining, evidence pending/state, feedback closure counts and version. Private episode/task/support IDs, roots, snapshots, credentials and paths are excluded. Seven native cases include four process kills; both attention providers are exercised. Same public reconciliation identifier replays the same observation; use a new one for newer progress.</a:t>
            </a:r>
          </a:p>
          <a:p/>
          <a:p>
            <a:r>
              <a:t>Source: inference_program/program.py · test_m3_1_integration.py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depicts the explicitly configured STI scores in the controlled scenarios, not a learned score or performance estimate. The comparison exercises both preferences with both providers; the real Hive tests separately exercise actual native action and replacement. A step freezes the ranked selection. Subsequent feedback affects a later step, not the order already accepted. C4 examines two candidates but reserves and executes only one attempt, so terminal reason is rule-budget. All four comparison cases recover identical receipts after reopening owners and invoke the native formula zero additional times on successful replay. Cognitive usefulness of the chosen conclusion is not measured.</a:t>
            </a:r>
          </a:p>
          <a:p/>
          <a:p>
            <a:r>
              <a:t>Source: m3/final/comparison.json · native Hive scenario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Generated command generated-m4-916416dc-1394-411e-ba8f-64420a8c4ffb. The original inspect action creates a 53-byte shared input, sends its reference to the labelled fixture counterparty, delegates inspect_atom and accepts/acknowledges the 143-byte result. The approved digest shown is public generated data, not a private cognitive identifier. Timings: storage/worker/acceptance 2.296 s; signing callback including serialization/imports 0.040513 s; submission HTTP 0.041256 s; full authorized signing/submission 2.522 s; first inclusion and finalized-effect observation 4.066 s; same-genesis node restart to readiness 1.148 s. Signed JSON request 673 bytes; node execution cost 675 phlo. Regressions ran concurrently. Inclusion/finality times include proposal and authorization overhead and are not pure consensus latency. Full exact identifiers and effect transcript are in the same-artifact JSON; a separate read-only process confirms the same digest, deploy, inclusion and post-state.</a:t>
            </a:r>
          </a:p>
          <a:p/>
          <a:p>
            <a:r>
              <a:t>Source: evidence/m4/final/same-artifact.json · readback.json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profile is f1r3-generated-post-state/2; provider f1r3-local; interface 1.0.0; implementation 0.4.0. Approval binds the exact generated operation to one native principal/swarm, scope, result, expiry, chain and signer. Chain identity is not an RPC URL. The adapter persists canonical copies of approval and binding rather than retaining nested aliases. A negative regression on 1219bb5 demonstrated that a frozen dataclass alone allowed nested mutation; 55ed540 fixes it and passes the full rerun. Current authority is checked for accepted/replayed work and before submission. Wrong result, private scope, changed profile/genesis, malformed receipt or revoked authority fails explicitly. Only this generated shareable inspect workflow is eligible; there is no generic private-state publishing service.</a:t>
            </a:r>
          </a:p>
          <a:p/>
          <a:p>
            <a:r>
              <a:t>Source: f1r3_m4.py · hive/commitment/program.py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node source was inspected, built and probed before adapter implementation. /api/prepare-deploy derives the unforgeable read name from saved public deployer and timestamp. /api/data-at-name-by-block-hash performs a non-consuming read of inclusion-block post-state. The inspected source ignores the pre-state switch, so this profile fixes usePreStateHash:false. The name must occur in that block's reductions; a later heartbeat or current-head block is not a substitute. Verification checks exact namespace/operation/digest, target signed deploy, successful inclusion/cost and matching deploy-effect Finalized state. A finalized block alone is insufficient. Inclusion block 6922353b9d0d0b7307d3f472a92e40cbe5902e61da01150986d9daa9188a1b82; post-state 351c1234a0d0793edc7c19eb33f1f1a221d659a97f325261c6dac9afcc01f8f1. The separate reader receives DA get-only authority and read RPC, and opens neither signer nor caller journal. Readback is node-observed, not a trustless attestation.</a:t>
            </a:r>
          </a:p>
          <a:p/>
          <a:p>
            <a:r>
              <a:t>Source: F1R3node 9ec1096 · f1r3-generated-post-state/2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native caller/adapter SIGKILL cases cover acceptance, durable signed intent, submission-response loss, and observation before caller progress. The last case uses the first native observation with no owner reset. The lost-response test waits for actual finality before retry, demonstrating recovery even when the chain has already completed. Signed bytes, timestamp, signature, gas limits and deploy identity are reused: no re-signing or validity extension. commit replay returns the original submission receipt; observe obtains fresh evidence without signing/submitting. A separate node SIGKILL/outage/restart preserves accepted and acknowledged off-chain state. Original counts remain one job, one outbox, two messages and two atoms. These are same-host process-restart guarantees with intact files, not a distributed transaction, global exactly-once effect or power-loss durability.</a:t>
            </a:r>
          </a:p>
          <a:p/>
          <a:p>
            <a:r>
              <a:t>Source: evidence/m4/final/recovery-*.json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F1R3node pin 9ec1096e10774926ea8e72f0823482f0bf9213e1 was obtainable from the authorized repository. The historical dirty workspace at the same SHA has eight tracked modifications and one untracked input; it was untouched and unused. M4 deliberately validates the clean source as a new baseline. Fresh node build uses nightly-2026-02-09, cargo --offline --locked -j2 -p node --bin node, debug 0, incremental 0 and RUST_MIN_STACK 8388608. Node binary SHA-256 2021389d8e1a1db0470d55ba6744124e33f2bc44f5155e6cfa662798b4ffd085. Each chain run uses disposable data/genesis within an unprivileged user/network namespace; only loopback is brought up. Live socket/route tests verify actual isolation. All generated nodes are stopped after verification. Warm downloads and possible cached upstream Rust regression binaries are explicit; fresh provider binaries were not copied.</a:t>
            </a:r>
          </a:p>
          <a:p/>
          <a:p>
            <a:r>
              <a:t>Source: evidence/m4/build/chain.json · final/isolation.json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required M4 gates pass, including real chain. Legacy nested verifier CHAIN=NOT_RUN fields describe earlier scope; the outer M4 REAL_CHAIN_EFFECT=PASS supplies the new evidence. The historical M1 dirty-source reproduction remains blocked independently. One actual native caller and one fixture counterparty are not two production Omega agents. TestClient transport, generated identities and deterministic kill pauses are fixtures; Hive authentication/dispatch, default Supervisor, PeTTa, DeTTa and F1R3node are real. The independent atomic-file attention provider remains a fixture. The full upstream Hive suite, historical SWI 10.0.1, public networks and production security/quality studies are unrun. No fixture pass substitutes for chain or native math.</a:t>
            </a:r>
          </a:p>
          <a:p/>
          <a:p>
            <a:r>
              <a:t>Source: evidence/m4/manifest.json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M4 final execution uses clean detached 55ed540 at start and end with unchanged runtime hashes. Eleven focused fixture cases and six native chain cases passed, with no skipped native case. The full M1–M3.1 regression ran for 1414.133 seconds. It includes the 138-case aggregate, M1 subset 51, upstream DeTTa 62+38, native Hive baseline 34 and original inspect 13. M2 fixture/guard/native/recovery/Hive: 16/8/12/6/7. M3 attention/contracts/guards/native/recovery/Hive: 5/7/15/13/3/8 plus four comparison cases. M3.1 fixtures/providers/direct recovery/Hive: 9/5/3/7; direct recovery methods cover sixteen kills and native cases four caller kills. Repeated subsets overlap. Earlier M3.1 non-numerical probes and 33-event observations retain their original source labels. Development harness failures and the nested approval-alias negative regression are archived separately, corrected before the final pass. Presentation QA does not rerun these integrations.</a:t>
            </a:r>
          </a:p>
          <a:p/>
          <a:p>
            <a:r>
              <a:t>Source: evidence/m4/final/verification.json · regression-summaries.json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are read directly from the M4 machine manifest and match the final verifier at 55ed540. Earlier M3.1's twelve supported gates remain preserved; its optional CHAIN=NOT_RUN is a historical scope field, not the M4 outcome. M4 uses the actual same-run generated native inspect artifact and mandatory real F1R3node effect. Source discovery and independent clean build/probe preceded adapter implementation. Development failures, including an initial launcher issue and a negative mutable-alias regression, remain in preparation/attempts.json and the red regression log. They were corrected and superseded by the clean final run; they are not reported as missing prerequisites. Results establish the tested local scope only.</a:t>
            </a:r>
          </a:p>
          <a:p/>
          <a:p>
            <a:r>
              <a:t>Source: evidence/m4/manifest.json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are read directly from the M4 machine manifest and match the final verifier at 55ed540. Earlier M3.1's twelve supported gates remain preserved; its optional CHAIN=NOT_RUN is a historical scope field, not the M4 outcome. M4 uses the actual same-run generated native inspect artifact and mandatory real F1R3node effect. Source discovery and independent clean build/probe preceded adapter implementation. Development failures, including an initial launcher issue and a negative mutable-alias regression, remain in preparation/attempts.json and the red regression log. They were corrected and superseded by the clean final run; they are not reported as missing prerequisites. Results establish the tested local scope only.</a:t>
            </a:r>
          </a:p>
          <a:p/>
          <a:p>
            <a:r>
              <a:t>Source: evidence/m4/manifest.json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Requested ancestor 985d2f34ea8df8c5d93582e4ed6fe5cbe1843074; actual start 8491c4900a5ccab872073e62b1024e3b731aeaf9; tested 55ed5402391ab6ed14f8ab20e1eea4c85d8be955; evidence 05b1c52cfa6ced6e263700753e82ad6038a3b0dd. Implementation commits 1219bb5 and 55ed540 precede evidence-only 05b1c52. The final verifier checked 116 runtime/test/build source hashes at start/end and reran all prior supported regressions. Provider sources, venv, SWI/DeTTa/node builds, compatibility target, test directories and genesis were fresh. Downloads were cached; upstream Rust regression test binaries may be cached between attempts. Provider build began when Fusion recorded 8491c49, but recipes/pins/guard inputs were byte-identical at 55ed540, verified by the committed equivalence artifact; M4 Python plugins loaded from 55ed540. Full source and binary hashes are recorded. Binary identity is specific to this build, not cross-host bit reproducibility. This deck audits evidence without changing it.</a:t>
            </a:r>
          </a:p>
          <a:p/>
          <a:p>
            <a:r>
              <a:t>Source: evidence/m4/build · 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M4 adds a fresh single-operation journal and explicit chain profile; legacy finality and cognitive profiles remain selectable. It does not migrate state or repair pre-existing M3 pending work. M3.1 closure retains finite capacity and eligible/unavailable pending outcomes; reservations and absolute deadlines never reset. M4 observation is bounded and call-driven: at most 120 calls start, no new calls start after 180 seconds, and existing 15-second socket timeouts can finish later; at most 256 observations are retained. No scheduler or unbounded polling is added. One native caller and one fixture counterparty do not establish a multi-agent production system. Files and local post-state must remain available. Trusted operator/host, warm downloads and single-validator genesis are explicit assumptions. Production security/economics, power loss, distributed failover and full upstream Hive suite remain unrun.</a:t>
            </a:r>
          </a:p>
          <a:p/>
          <a:p>
            <a:r>
              <a:t>Source: m4-evidence.md · m3_1-evidence.md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four ELI16 stories. C1 preserves history; C2 owns beliefs with inherited evidence; pure PLN supplies the existing guarded mathematics; C3 owns priority and causal feedback; C4 bounds work and reports closure separately. M4 adds a narrow shared generated-result commitment through existing ports. Exact approval precedes signing; saved signed bytes survive retry; actual post-state readback and matching deploy-effect finality close the chain claim. Four native kill boundaries, node outage/restart and an independent read-only process exercise recovery. All ten required M4 gates and full M1–M3.1 regression pass. Private cognition remains off-chain. Single-validator local success is a precise integration result, not production readiness or evidence that the reasoning is true.</a:t>
            </a:r>
          </a:p>
          <a:p/>
          <a:p>
            <a:r>
              <a:t>Source: M4 tested 55ed540 · evidence 05b1c52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Paths are relative to fusion/ unless marked hive/, which is under integration/. ports.py declares the protocols; attention_contracts.py and cognition_contracts.py enforce the executable bounded schemas. Shared DTO validators are permitted in the independent fixture, shared owner transitions are not. C2 default M2 behavior remains via its original validators and profile; the derived owner selects fresh v3 behavior. The native plugin uses integration/m3_scenario.py and holds only caller intent and public receipt. No owner reaches into another owner's private SQL. Tests and exact source hashes are indexed in the M3.1 machine manifest. Historical protocol declarations are preserved; new closure protocols are explicit.</a:t>
            </a:r>
          </a:p>
          <a:p/>
          <a:p>
            <a:r>
              <a:t>Source: architecture.md · ports.py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commit 05b1c52cfa6ced6e263700753e82ad6038a3b0dd. Full inspected metta-attention revision: 3e1c8147dc17299d17ab34720334fc19277cb6a9, clean. Its coupled STI/LTI/VLTI, wages and funds are not silently adopted. Runtime profile: fusion-petta-swi-10.1.14-deduction/1; rule profile: grounded-five-premise-deduction/1; truth model: trueagi-pln-stv-finite-k1/v1. PLN library SHA-256 cdfb3f18bd7b336440fc7b4409209afddf0e64c41f17dee7eefc8f02718de433. Historical M3 SWI binary SHA-256 dcd379ed717cd4869b4ef0b4683bcb4023177b6d04f2356cddb85b1c5c666262; M4 build/binary-identities.json records the new build identities. Native Python 3.12.12, Janus 1.5.3; fixture runner Python 3.11.14. All exercised source checkouts were clean. No upstream formula or runtime implementation was patched. Historical SWI 10.0.1 remains unrun.</a:t>
            </a:r>
          </a:p>
          <a:p/>
          <a:p>
            <a:r>
              <a:t>Source: evidence/m4/final/verification.json · source_pins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configuration selector is fusion-delivery-closure/1. C1's trusted completion DTO has profile trusted-evidence-completion/1. C3 arithmetic policy remains sti-additive-linear-decay/1 while its interface/profile explicitly adds submitFeedback and resolveFeedback. C4 adds readProgress and reconcile. Max 16 targets, 16 advance steps, eight contexts, 512 causes/context, 1024 commands/owner and feedback generation three are unchanged. First retirement consumes existing cause/command capacity; recovering an existing application or retirement does not allocate a new slot. Reconciliation has its own finite command budget and cannot reset original WorkBudget/deadline. M1 wire, M2 revision and M3 old cognition profiles remain supported. Algorithm profile, interface version, selected descriptor, runtime and current permissions all matter.</a:t>
            </a:r>
          </a:p>
          <a:p/>
          <a:p>
            <a:r>
              <a:t>Source: contracts.md · cognition.py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reproduction against clean 3b34e00 confirms the old acknowledgment/relay NOT_AVAILABLE, 16 pending then append 17 OVERLOADED, and persistent stale-feedback CONFLICT after reopen. Those expected gaps are separate from the passing baseline regression. New-profile delivery drains, including after deduction and for model-inapplicable reports. Neither this extension nor the presentation migrates existing state. Compatibility tests populate old stores, operate on disposable copies, reject new selection without modifying bytes and replay with original descriptors. Fresh profiles preserve strict time and causal semantics. This distinction must survive any claim that the seam is now closed.</a:t>
            </a:r>
          </a:p>
          <a:p/>
          <a:p>
            <a:r>
              <a:t>Source: m3_1/baseline/gaps.json · test_m3_1_compat.py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effects originate in the real native operation, not a renamed protocol demo. The caller first commits its original intent. AtomStorage persists generated bytes in actual DeTTa, then Messaging accepts a reference for the explicitly labelled fixture counterparty. DelegatedExecution accepts only inspect_atom under the original key and correlation. The caller records the accepted job. A separate real worker reads/persists through AtomStorage, then commits execution terminal state/outbox. Messaging accepts the completion in a separate transaction. The final arrow summarizes reconciliation: status /2 restores known correlation, poll and get verify the completion, caller acceptance commits, and a stable-key acknowledgement follows. This is not one distributed transaction.</a:t>
            </a:r>
          </a:p>
          <a:p/>
          <a:p>
            <a:r>
              <a:t>Source: program.py · execution.py · messaging.py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this historical result without promoting it into the new real-caller gate. The M1 chain JSON records pending, included with effect finality Pending, then finalized, at height 3 with no execution error, no rejection and cost 351 phlo. The committed digest belongs to the original protocol-peer result, not the generated native Hive result in M1.2. The M1 adapter used a registered approved digest, injected signer and durable signed intent against one isolated local node. That source had local changes and an untracked input. Exact historical reproduction remains blocked until those authorized bytes are supplied or a different clean revision is separately validated. M1.2, M2, M3 and M3.1 did not run chain. M4 now has a separate real native artifact, clean source rebaseline, post-state verification and readback. This historical protocol-peer result is not reused as M4 proof. The presentation update itself runs no chain process or transaction. Finality does not establish indefinite off-chain availability.</a:t>
            </a:r>
          </a:p>
          <a:p/>
          <a:p>
            <a:r>
              <a:t>Source: evidence/chain-demo.json · M1 historical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runbook M4 required isolated chain reproduction section for actual paths and Linux/SSH/toolchain prerequisites. Build_m4.py obtains all pinned sources and builds providers plus a clean F1R3node with offline locked Cargo build after fetch. User/network namespaces must be available; generated keys/genesis stay inside ignored artifacts. verify_m4.py checks exact source start/end, runs full M1–M3.1 regression plus eleven commitment fixtures and six real native chain tests. It records positive observation timeouts separately from missing prerequisites and executed failures. Independent reproduction: &lt;NATIVE_PYTHON&gt; scripts/readback_m4.py &lt;PRIVATE_READ_ACCESS_JSON&gt; &lt;SAME_ARTIFACT_JSON&gt;, with reachable isolated node and retained post-state. Follow the runbook for the exact invocation and namespace access. Do not publish raw provider environments, journals or keys. Downloads may be warm; provider builds are fresh. This deck's export/check commands do not rerun integrations.</a:t>
            </a:r>
          </a:p>
          <a:p/>
          <a:p>
            <a:r>
              <a:t>Source: runbook.md · build_m4.py · verify_m4.py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derivation's logical ID excludes request/step identity, output CAS and deadline so a retry cannot manufacture new independent support. An attempt key freezes its exact semantic body and is evaluated at most once; a killed pending attempt consumes a physical reservation. Multiple physical calculations for one logical derivation remain possible under distinct reserved attempts. C2 commits its decision before C4 progress; C3 commits feedback before C4 acknowledgment. Recovery queries those owners rather than inferring success from a missing local reply. Feedback_applied counts acknowledged unique logical credits; feedback_duplicate records suppression on duplicate admission. Fixed feedback adds no truth evidence. The semantics distinguish bounded termination, successful admission and fully acknowledged work.</a:t>
            </a:r>
          </a:p>
          <a:p/>
          <a:p>
            <a:r>
              <a:t>Source: inference.py · derived_beliefs.py · attention.py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sibling exposes commit and observe, with only original_command. It gets completed accepted/acknowledged results through a caller-owned accessor beside the unchanged fusion-inspect plugin. ConsensusFinality signatures remain backend-independent. The new profile pins actual inclusion-block post-state semantics and fixed commitment format; it does not widen the legacy adapter. Logical timestamp/plan commit before signing, full signed deploy commits before HTTP. Replays retain the exact signature, serialization, gas limits, timestamp and deployment identity, without extending validity. Native progress is separate from adapter observations and cannot access other owners' tables. Observation calls are bounded and cooperative; an in-flight socket timeout may complete after the start deadline. Fresh single-operation journals only; no migration. Tests live in tests/test_m4_chain.py and integration/chain/test_m4.py. Build, verify and separate readback scripts provide the evidence workflow.</a:t>
            </a:r>
          </a:p>
          <a:p/>
          <a:p>
            <a:r>
              <a:t>Source: contracts.md · ADR-013 · f1r3_m4.py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Keep the evidence.</a:t>
            </a:r>
          </a:p>
        </p:txBody>
      </p:sp>
      <p:sp>
        <p:nvSpPr>
          <p:cNvPr id="5" name="TextBox 4"/>
          <p:cNvSpPr txBox="1"/>
          <p:nvPr/>
        </p:nvSpPr>
        <p:spPr>
          <a:xfrm>
            <a:off x="548640" y="191871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Bound the work.</a:t>
            </a:r>
          </a:p>
        </p:txBody>
      </p:sp>
      <p:sp>
        <p:nvSpPr>
          <p:cNvPr id="6" name="TextBox 5"/>
          <p:cNvSpPr txBox="1"/>
          <p:nvPr/>
        </p:nvSpPr>
        <p:spPr>
          <a:xfrm>
            <a:off x="548640" y="254965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Verify the commitment.</a:t>
            </a:r>
          </a:p>
        </p:txBody>
      </p:sp>
      <p:sp>
        <p:nvSpPr>
          <p:cNvPr id="7" name="TextBox 6"/>
          <p:cNvSpPr txBox="1"/>
          <p:nvPr/>
        </p:nvSpPr>
        <p:spPr>
          <a:xfrm>
            <a:off x="579120" y="3665219"/>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a:t>
            </a:r>
          </a:p>
        </p:txBody>
      </p:sp>
      <p:sp>
        <p:nvSpPr>
          <p:cNvPr id="8" name="TextBox 7"/>
          <p:cNvSpPr txBox="1"/>
          <p:nvPr/>
        </p:nvSpPr>
        <p:spPr>
          <a:xfrm>
            <a:off x="579120" y="4191000"/>
            <a:ext cx="105918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a:rPr>
              <a:t>Private cognition, explicit delivery closure and verified chain commitments</a:t>
            </a:r>
          </a:p>
        </p:txBody>
      </p:sp>
      <p:sp>
        <p:nvSpPr>
          <p:cNvPr id="9" name="Rounded Rectangle 8"/>
          <p:cNvSpPr/>
          <p:nvPr/>
        </p:nvSpPr>
        <p:spPr>
          <a:xfrm>
            <a:off x="579120" y="5151120"/>
            <a:ext cx="2830279"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2639779"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THROUGH M4 · C1–C4 + CHAIN</a:t>
            </a:r>
          </a:p>
        </p:txBody>
      </p:sp>
      <p:sp>
        <p:nvSpPr>
          <p:cNvPr id="11" name="Rounded Rectangle 10"/>
          <p:cNvSpPr/>
          <p:nvPr/>
        </p:nvSpPr>
        <p:spPr>
          <a:xfrm>
            <a:off x="4495800" y="5151120"/>
            <a:ext cx="2438042" cy="289560"/>
          </a:xfrm>
          <a:prstGeom prst="roundRect">
            <a:avLst>
              <a:gd name="adj" fmla="val 18421"/>
            </a:avLst>
          </a:prstGeom>
          <a:solidFill>
            <a:srgbClr val="E4EBF5"/>
          </a:solidFill>
          <a:ln>
            <a:noFill/>
          </a:ln>
          <a:effectLst/>
        </p:spPr>
        <p:txBody>
          <a:bodyPr rtlCol="0" anchor="ctr"/>
          <a:lstStyle/>
          <a:p>
            <a:pPr algn="ctr"/>
          </a:p>
        </p:txBody>
      </p:sp>
      <p:sp>
        <p:nvSpPr>
          <p:cNvPr id="12" name="TextBox 11"/>
          <p:cNvSpPr txBox="1"/>
          <p:nvPr/>
        </p:nvSpPr>
        <p:spPr>
          <a:xfrm>
            <a:off x="4602480" y="5204460"/>
            <a:ext cx="2247542"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315E9C"/>
                </a:solidFill>
                <a:latin typeface="DejaVu Sans"/>
              </a:rPr>
              <a:t>HIVE · DETTA · PLN · F1R3</a:t>
            </a:r>
          </a:p>
        </p:txBody>
      </p:sp>
      <p:sp>
        <p:nvSpPr>
          <p:cNvPr id="13" name="TextBox 12"/>
          <p:cNvSpPr txBox="1"/>
          <p:nvPr/>
        </p:nvSpPr>
        <p:spPr>
          <a:xfrm>
            <a:off x="579120" y="5745480"/>
            <a:ext cx="10287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and evidence • 16 October 2026 • supported local scope</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M4 / M4 evidence 05b1c52 · tested 55ed540</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1 OF 4</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ELI16: remember, weigh evidence, do the calculation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Think of a student investigating a question with a notebook, evidence ledger and calculator.</a:t>
            </a:r>
          </a:p>
        </p:txBody>
      </p:sp>
      <p:sp>
        <p:nvSpPr>
          <p:cNvPr id="5" name="Rounded Rectangle 4"/>
          <p:cNvSpPr/>
          <p:nvPr/>
        </p:nvSpPr>
        <p:spPr>
          <a:xfrm>
            <a:off x="54864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NOTEBOOK</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Keep the original story</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 what happened and</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where each report came from.</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Keep contrary observations;</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 does not add another</a:t>
            </a:r>
          </a:p>
        </p:txBody>
      </p:sp>
      <p:sp>
        <p:nvSpPr>
          <p:cNvPr id="12" name="TextBox 11"/>
          <p:cNvSpPr txBox="1"/>
          <p:nvPr/>
        </p:nvSpPr>
        <p:spPr>
          <a:xfrm>
            <a:off x="71628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event.</a:t>
            </a:r>
          </a:p>
        </p:txBody>
      </p:sp>
      <p:sp>
        <p:nvSpPr>
          <p:cNvPr id="13" name="Rounded Rectangle 12"/>
          <p:cNvSpPr/>
          <p:nvPr/>
        </p:nvSpPr>
        <p:spPr>
          <a:xfrm>
            <a:off x="432816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14" name="TextBox 13"/>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C2 · EVIDENCE LEDGER</a:t>
            </a:r>
          </a:p>
        </p:txBody>
      </p:sp>
      <p:sp>
        <p:nvSpPr>
          <p:cNvPr id="15" name="TextBox 14"/>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Know what supports a</a:t>
            </a:r>
          </a:p>
        </p:txBody>
      </p:sp>
      <p:sp>
        <p:nvSpPr>
          <p:cNvPr id="16" name="TextBox 15"/>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belief</a:t>
            </a:r>
          </a:p>
        </p:txBody>
      </p:sp>
      <p:sp>
        <p:nvSpPr>
          <p:cNvPr id="17" name="TextBox 16"/>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copy is still the same source.</a:t>
            </a:r>
          </a:p>
        </p:txBody>
      </p:sp>
      <p:sp>
        <p:nvSpPr>
          <p:cNvPr id="18" name="TextBox 17"/>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conclusion keeps its</a:t>
            </a:r>
          </a:p>
        </p:txBody>
      </p:sp>
      <p:sp>
        <p:nvSpPr>
          <p:cNvPr id="19" name="TextBox 18"/>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parents; it does not become a</a:t>
            </a:r>
          </a:p>
        </p:txBody>
      </p:sp>
      <p:sp>
        <p:nvSpPr>
          <p:cNvPr id="20" name="TextBox 19"/>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fresh observation.</a:t>
            </a:r>
          </a:p>
        </p:txBody>
      </p:sp>
      <p:sp>
        <p:nvSpPr>
          <p:cNvPr id="21" name="Rounded Rectangle 20"/>
          <p:cNvSpPr/>
          <p:nvPr/>
        </p:nvSpPr>
        <p:spPr>
          <a:xfrm>
            <a:off x="810768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PLN · CALCULATOR</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Apply a guarded</a:t>
            </a:r>
          </a:p>
        </p:txBody>
      </p:sp>
      <p:sp>
        <p:nvSpPr>
          <p:cNvPr id="24" name="TextBox 23"/>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formula</a:t>
            </a:r>
          </a:p>
        </p:txBody>
      </p:sp>
      <p:sp>
        <p:nvSpPr>
          <p:cNvPr id="25" name="TextBox 24"/>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Use the existing pinned</a:t>
            </a:r>
          </a:p>
        </p:txBody>
      </p:sp>
      <p:sp>
        <p:nvSpPr>
          <p:cNvPr id="26" name="TextBox 25"/>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mathematics on exact inputs.</a:t>
            </a:r>
          </a:p>
        </p:txBody>
      </p:sp>
      <p:sp>
        <p:nvSpPr>
          <p:cNvPr id="27" name="TextBox 26"/>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C2 checks and saves the</a:t>
            </a:r>
          </a:p>
        </p:txBody>
      </p:sp>
      <p:sp>
        <p:nvSpPr>
          <p:cNvPr id="28" name="TextBox 27"/>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the calculator owns no</a:t>
            </a:r>
          </a:p>
        </p:txBody>
      </p:sp>
      <p:sp>
        <p:nvSpPr>
          <p:cNvPr id="29" name="TextBox 28"/>
          <p:cNvSpPr txBox="1"/>
          <p:nvPr/>
        </p:nvSpPr>
        <p:spPr>
          <a:xfrm>
            <a:off x="827532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beliefs.</a:t>
            </a:r>
          </a:p>
        </p:txBody>
      </p:sp>
      <p:sp>
        <p:nvSpPr>
          <p:cNvPr id="30" name="Rounded Rectangle 29"/>
          <p:cNvSpPr/>
          <p:nvPr/>
        </p:nvSpPr>
        <p:spPr>
          <a:xfrm>
            <a:off x="548640" y="4953000"/>
            <a:ext cx="11094720" cy="754380"/>
          </a:xfrm>
          <a:prstGeom prst="roundRect">
            <a:avLst>
              <a:gd name="adj" fmla="val 13131"/>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What this gives us</a:t>
            </a:r>
          </a:p>
        </p:txBody>
      </p:sp>
      <p:sp>
        <p:nvSpPr>
          <p:cNvPr id="32" name="TextBox 31"/>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An inspectable trail from original observations to admitted conclusions.</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A repeated message, a new conclusion and an independent observation mean different things.</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M2 preserved · M3 derived admission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2 OF 4</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ELI16: a priority list and a limited attempt budget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There are two prepared questions, but time for only one calculation. Which should run first?</a:t>
            </a:r>
          </a:p>
        </p:txBody>
      </p:sp>
      <p:sp>
        <p:nvSpPr>
          <p:cNvPr id="5" name="Rounded Rectangle 4"/>
          <p:cNvSpPr/>
          <p:nvPr/>
        </p:nvSpPr>
        <p:spPr>
          <a:xfrm>
            <a:off x="548640" y="1935480"/>
            <a:ext cx="3535679" cy="2072639"/>
          </a:xfrm>
          <a:prstGeom prst="roundRect">
            <a:avLst>
              <a:gd name="adj" fmla="val 477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C3 · Priority list</a:t>
            </a:r>
          </a:p>
        </p:txBody>
      </p:sp>
      <p:sp>
        <p:nvSpPr>
          <p:cNvPr id="7" name="TextBox 6"/>
          <p:cNvSpPr txBox="1"/>
          <p:nvPr/>
        </p:nvSpPr>
        <p:spPr>
          <a:xfrm>
            <a:off x="716280" y="251094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Give each eligible task an</a:t>
            </a:r>
          </a:p>
        </p:txBody>
      </p:sp>
      <p:sp>
        <p:nvSpPr>
          <p:cNvPr id="8" name="TextBox 7"/>
          <p:cNvSpPr txBox="1"/>
          <p:nvPr/>
        </p:nvSpPr>
        <p:spPr>
          <a:xfrm>
            <a:off x="716280" y="279379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integer score. Rank it, decay</a:t>
            </a:r>
          </a:p>
        </p:txBody>
      </p:sp>
      <p:sp>
        <p:nvSpPr>
          <p:cNvPr id="9" name="TextBox 8"/>
          <p:cNvSpPr txBox="1"/>
          <p:nvPr/>
        </p:nvSpPr>
        <p:spPr>
          <a:xfrm>
            <a:off x="716280" y="307665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it explicitly, and remember</a:t>
            </a:r>
          </a:p>
        </p:txBody>
      </p:sp>
      <p:sp>
        <p:nvSpPr>
          <p:cNvPr id="10" name="TextBox 9"/>
          <p:cNvSpPr txBox="1"/>
          <p:nvPr/>
        </p:nvSpPr>
        <p:spPr>
          <a:xfrm>
            <a:off x="716280" y="335950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feedback once.</a:t>
            </a:r>
          </a:p>
        </p:txBody>
      </p:sp>
      <p:sp>
        <p:nvSpPr>
          <p:cNvPr id="11" name="Rounded Rectangle 10"/>
          <p:cNvSpPr/>
          <p:nvPr/>
        </p:nvSpPr>
        <p:spPr>
          <a:xfrm>
            <a:off x="4328160" y="1935480"/>
            <a:ext cx="3535679" cy="2072639"/>
          </a:xfrm>
          <a:prstGeom prst="roundRect">
            <a:avLst>
              <a:gd name="adj" fmla="val 4779"/>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C4 · Work</a:t>
            </a:r>
          </a:p>
        </p:txBody>
      </p:sp>
      <p:sp>
        <p:nvSpPr>
          <p:cNvPr id="13" name="TextBox 12"/>
          <p:cNvSpPr txBox="1"/>
          <p:nvPr/>
        </p:nvSpPr>
        <p:spPr>
          <a:xfrm>
            <a:off x="449580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coordinator</a:t>
            </a:r>
          </a:p>
        </p:txBody>
      </p:sp>
      <p:sp>
        <p:nvSpPr>
          <p:cNvPr id="14" name="TextBox 13"/>
          <p:cNvSpPr txBox="1"/>
          <p:nvPr/>
        </p:nvSpPr>
        <p:spPr>
          <a:xfrm>
            <a:off x="449580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Choose from that list. Save</a:t>
            </a:r>
          </a:p>
        </p:txBody>
      </p:sp>
      <p:sp>
        <p:nvSpPr>
          <p:cNvPr id="15" name="TextBox 14"/>
          <p:cNvSpPr txBox="1"/>
          <p:nvPr/>
        </p:nvSpPr>
        <p:spPr>
          <a:xfrm>
            <a:off x="449580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attempt reservation</a:t>
            </a:r>
          </a:p>
        </p:txBody>
      </p:sp>
      <p:sp>
        <p:nvSpPr>
          <p:cNvPr id="16" name="TextBox 15"/>
          <p:cNvSpPr txBox="1"/>
          <p:nvPr/>
        </p:nvSpPr>
        <p:spPr>
          <a:xfrm>
            <a:off x="449580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before calculation, then track</a:t>
            </a:r>
          </a:p>
        </p:txBody>
      </p:sp>
      <p:sp>
        <p:nvSpPr>
          <p:cNvPr id="17" name="TextBox 16"/>
          <p:cNvSpPr txBox="1"/>
          <p:nvPr/>
        </p:nvSpPr>
        <p:spPr>
          <a:xfrm>
            <a:off x="449580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admission and feedback.</a:t>
            </a:r>
          </a:p>
        </p:txBody>
      </p:sp>
      <p:sp>
        <p:nvSpPr>
          <p:cNvPr id="18" name="Rounded Rectangle 17"/>
          <p:cNvSpPr/>
          <p:nvPr/>
        </p:nvSpPr>
        <p:spPr>
          <a:xfrm>
            <a:off x="8107680" y="1935480"/>
            <a:ext cx="3535679" cy="2072639"/>
          </a:xfrm>
          <a:prstGeom prst="roundRect">
            <a:avLst>
              <a:gd name="adj" fmla="val 4779"/>
            </a:avLst>
          </a:prstGeom>
          <a:solidFill>
            <a:srgbClr val="F3E7CE"/>
          </a:solidFill>
          <a:ln w="7620">
            <a:solidFill>
              <a:srgbClr val="A86A15"/>
            </a:solidFill>
          </a:ln>
          <a:effectLst/>
        </p:spPr>
        <p:txBody>
          <a:bodyPr rtlCol="0" anchor="ctr"/>
          <a:lstStyle/>
          <a:p>
            <a:pPr algn="ctr"/>
          </a:p>
        </p:txBody>
      </p:sp>
      <p:sp>
        <p:nvSpPr>
          <p:cNvPr id="19" name="TextBox 18"/>
          <p:cNvSpPr txBox="1"/>
          <p:nvPr/>
        </p:nvSpPr>
        <p:spPr>
          <a:xfrm>
            <a:off x="827532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Restart · Same</a:t>
            </a:r>
          </a:p>
        </p:txBody>
      </p:sp>
      <p:sp>
        <p:nvSpPr>
          <p:cNvPr id="20" name="TextBox 19"/>
          <p:cNvSpPr txBox="1"/>
          <p:nvPr/>
        </p:nvSpPr>
        <p:spPr>
          <a:xfrm>
            <a:off x="827532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budget</a:t>
            </a:r>
          </a:p>
        </p:txBody>
      </p:sp>
      <p:sp>
        <p:nvSpPr>
          <p:cNvPr id="21" name="TextBox 20"/>
          <p:cNvSpPr txBox="1"/>
          <p:nvPr/>
        </p:nvSpPr>
        <p:spPr>
          <a:xfrm>
            <a:off x="827532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Reopening the notebook</a:t>
            </a:r>
          </a:p>
        </p:txBody>
      </p:sp>
      <p:sp>
        <p:nvSpPr>
          <p:cNvPr id="22" name="TextBox 21"/>
          <p:cNvSpPr txBox="1"/>
          <p:nvPr/>
        </p:nvSpPr>
        <p:spPr>
          <a:xfrm>
            <a:off x="827532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does not refill the budget.</a:t>
            </a:r>
          </a:p>
        </p:txBody>
      </p:sp>
      <p:sp>
        <p:nvSpPr>
          <p:cNvPr id="23" name="TextBox 22"/>
          <p:cNvSpPr txBox="1"/>
          <p:nvPr/>
        </p:nvSpPr>
        <p:spPr>
          <a:xfrm>
            <a:off x="827532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Recover a saved decision; do</a:t>
            </a:r>
          </a:p>
        </p:txBody>
      </p:sp>
      <p:sp>
        <p:nvSpPr>
          <p:cNvPr id="24" name="TextBox 23"/>
          <p:cNvSpPr txBox="1"/>
          <p:nvPr/>
        </p:nvSpPr>
        <p:spPr>
          <a:xfrm>
            <a:off x="827532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not credit it twice.</a:t>
            </a:r>
          </a:p>
        </p:txBody>
      </p:sp>
      <p:cxnSp>
        <p:nvCxnSpPr>
          <p:cNvPr id="25" name="Connector 24"/>
          <p:cNvCxnSpPr/>
          <p:nvPr/>
        </p:nvCxnSpPr>
        <p:spPr>
          <a:xfrm>
            <a:off x="4084319" y="2971800"/>
            <a:ext cx="243841" cy="0"/>
          </a:xfrm>
          <a:prstGeom prst="line">
            <a:avLst/>
          </a:prstGeom>
          <a:ln w="15240">
            <a:solidFill>
              <a:srgbClr val="315E9C"/>
            </a:solidFill>
          </a:ln>
          <a:effectLst/>
        </p:spPr>
      </p:cxnSp>
      <p:sp>
        <p:nvSpPr>
          <p:cNvPr id="26" name="Freeform 25"/>
          <p:cNvSpPr/>
          <p:nvPr/>
        </p:nvSpPr>
        <p:spPr>
          <a:xfrm>
            <a:off x="4229100" y="2933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27" name="Connector 26"/>
          <p:cNvCxnSpPr/>
          <p:nvPr/>
        </p:nvCxnSpPr>
        <p:spPr>
          <a:xfrm>
            <a:off x="7863839" y="2971800"/>
            <a:ext cx="243841" cy="0"/>
          </a:xfrm>
          <a:prstGeom prst="line">
            <a:avLst/>
          </a:prstGeom>
          <a:ln w="15240">
            <a:solidFill>
              <a:srgbClr val="007C78"/>
            </a:solidFill>
          </a:ln>
          <a:effectLst/>
        </p:spPr>
      </p:cxnSp>
      <p:sp>
        <p:nvSpPr>
          <p:cNvPr id="28" name="Freeform 27"/>
          <p:cNvSpPr/>
          <p:nvPr/>
        </p:nvSpPr>
        <p:spPr>
          <a:xfrm>
            <a:off x="8008620" y="2933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9" name="Rounded Rectangle 28"/>
          <p:cNvSpPr/>
          <p:nvPr/>
        </p:nvSpPr>
        <p:spPr>
          <a:xfrm>
            <a:off x="548640" y="4373880"/>
            <a:ext cx="5364480" cy="1211580"/>
          </a:xfrm>
          <a:prstGeom prst="roundRect">
            <a:avLst>
              <a:gd name="adj" fmla="val 8176"/>
            </a:avLst>
          </a:prstGeom>
          <a:solidFill>
            <a:srgbClr val="FFFFFF"/>
          </a:solidFill>
          <a:ln w="7620">
            <a:solidFill>
              <a:srgbClr val="007C78"/>
            </a:solidFill>
          </a:ln>
          <a:effectLst/>
        </p:spPr>
        <p:txBody>
          <a:bodyPr rtlCol="0" anchor="ctr"/>
          <a:lstStyle/>
          <a:p>
            <a:pPr algn="ctr"/>
          </a:p>
        </p:txBody>
      </p:sp>
      <p:sp>
        <p:nvSpPr>
          <p:cNvPr id="30" name="TextBox 29"/>
          <p:cNvSpPr txBox="1"/>
          <p:nvPr/>
        </p:nvSpPr>
        <p:spPr>
          <a:xfrm>
            <a:off x="716280" y="454152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Observed in real Hive</a:t>
            </a:r>
          </a:p>
        </p:txBody>
      </p:sp>
      <p:sp>
        <p:nvSpPr>
          <p:cNvPr id="31" name="TextBox 30"/>
          <p:cNvSpPr txBox="1"/>
          <p:nvPr/>
        </p:nvSpPr>
        <p:spPr>
          <a:xfrm>
            <a:off x="716280" y="490057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One native action, one admitted conclusion, one</a:t>
            </a:r>
          </a:p>
        </p:txBody>
      </p:sp>
      <p:sp>
        <p:nvSpPr>
          <p:cNvPr id="32" name="TextBox 31"/>
          <p:cNvSpPr txBox="1"/>
          <p:nvPr/>
        </p:nvSpPr>
        <p:spPr>
          <a:xfrm>
            <a:off x="716280" y="515416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feedback credit; restart and replay tested.</a:t>
            </a:r>
          </a:p>
        </p:txBody>
      </p:sp>
      <p:sp>
        <p:nvSpPr>
          <p:cNvPr id="33" name="Rounded Rectangle 32"/>
          <p:cNvSpPr/>
          <p:nvPr/>
        </p:nvSpPr>
        <p:spPr>
          <a:xfrm>
            <a:off x="6096000" y="4373880"/>
            <a:ext cx="5547360" cy="1211580"/>
          </a:xfrm>
          <a:prstGeom prst="roundRect">
            <a:avLst>
              <a:gd name="adj" fmla="val 8176"/>
            </a:avLst>
          </a:prstGeom>
          <a:solidFill>
            <a:srgbClr val="FFFFFF"/>
          </a:solidFill>
          <a:ln w="7620">
            <a:solidFill>
              <a:srgbClr val="A86A15"/>
            </a:solidFill>
          </a:ln>
          <a:effectLst/>
        </p:spPr>
        <p:txBody>
          <a:bodyPr rtlCol="0" anchor="ctr"/>
          <a:lstStyle/>
          <a:p>
            <a:pPr algn="ctr"/>
          </a:p>
        </p:txBody>
      </p:sp>
      <p:sp>
        <p:nvSpPr>
          <p:cNvPr id="34" name="TextBox 33"/>
          <p:cNvSpPr txBox="1"/>
          <p:nvPr/>
        </p:nvSpPr>
        <p:spPr>
          <a:xfrm>
            <a:off x="6263640" y="4541520"/>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The deliberate tradeoff</a:t>
            </a:r>
          </a:p>
        </p:txBody>
      </p:sp>
      <p:sp>
        <p:nvSpPr>
          <p:cNvPr id="35" name="TextBox 34"/>
          <p:cNvSpPr txBox="1"/>
          <p:nvPr/>
        </p:nvSpPr>
        <p:spPr>
          <a:xfrm>
            <a:off x="6263640" y="490057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 crash can spend the last attempt without</a:t>
            </a:r>
          </a:p>
        </p:txBody>
      </p:sp>
      <p:sp>
        <p:nvSpPr>
          <p:cNvPr id="36" name="TextBox 35"/>
          <p:cNvSpPr txBox="1"/>
          <p:nvPr/>
        </p:nvSpPr>
        <p:spPr>
          <a:xfrm>
            <a:off x="6263640" y="5154168"/>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producing a conclusion. The receipt says so.</a:t>
            </a:r>
          </a:p>
        </p:txBody>
      </p:sp>
      <p:sp>
        <p:nvSpPr>
          <p:cNvPr id="37" name="Rounded Rectangle 3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8" name="TextBox 37"/>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Priority is not truth. A bounded step finishing is not a promise that a conclusion was found.</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C3 attention · C4 bounded inference</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3 OF 4</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ELI16: finishing the job and settling its receipts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notebook entry, a calculation and a reward can finish at different times.</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RELAY</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The report was</a:t>
            </a:r>
          </a:p>
        </p:txBody>
      </p:sp>
      <p:sp>
        <p:nvSpPr>
          <p:cNvPr id="8" name="TextBox 7"/>
          <p:cNvSpPr txBox="1"/>
          <p:nvPr/>
        </p:nvSpPr>
        <p:spPr>
          <a:xfrm>
            <a:off x="71628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processed</a:t>
            </a:r>
          </a:p>
        </p:txBody>
      </p:sp>
      <p:sp>
        <p:nvSpPr>
          <p:cNvPr id="9" name="TextBox 8"/>
          <p:cNvSpPr txBox="1"/>
          <p:nvPr/>
        </p:nvSpPr>
        <p:spPr>
          <a:xfrm>
            <a:off x="71628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notebook gets a delivery</a:t>
            </a:r>
          </a:p>
        </p:txBody>
      </p:sp>
      <p:sp>
        <p:nvSpPr>
          <p:cNvPr id="10" name="TextBox 9"/>
          <p:cNvSpPr txBox="1"/>
          <p:nvPr/>
        </p:nvSpPr>
        <p:spPr>
          <a:xfrm>
            <a:off x="71628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receipt even when a report</a:t>
            </a:r>
          </a:p>
        </p:txBody>
      </p:sp>
      <p:sp>
        <p:nvSpPr>
          <p:cNvPr id="11" name="TextBox 10"/>
          <p:cNvSpPr txBox="1"/>
          <p:nvPr/>
        </p:nvSpPr>
        <p:spPr>
          <a:xfrm>
            <a:off x="71628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cannot change a number.</a:t>
            </a:r>
          </a:p>
        </p:txBody>
      </p:sp>
      <p:sp>
        <p:nvSpPr>
          <p:cNvPr id="12" name="TextBox 11"/>
          <p:cNvSpPr txBox="1"/>
          <p:nvPr/>
        </p:nvSpPr>
        <p:spPr>
          <a:xfrm>
            <a:off x="71628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Contrary evidence stays in the</a:t>
            </a:r>
          </a:p>
        </p:txBody>
      </p:sp>
      <p:sp>
        <p:nvSpPr>
          <p:cNvPr id="13" name="TextBox 12"/>
          <p:cNvSpPr txBox="1"/>
          <p:nvPr/>
        </p:nvSpPr>
        <p:spPr>
          <a:xfrm>
            <a:off x="71628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story.</a:t>
            </a:r>
          </a:p>
        </p:txBody>
      </p:sp>
      <p:sp>
        <p:nvSpPr>
          <p:cNvPr id="14" name="Rounded Rectangle 13"/>
          <p:cNvSpPr/>
          <p:nvPr/>
        </p:nvSpPr>
        <p:spPr>
          <a:xfrm>
            <a:off x="432816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15" name="TextBox 14"/>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C3 · ATTENTION</a:t>
            </a:r>
          </a:p>
        </p:txBody>
      </p:sp>
      <p:sp>
        <p:nvSpPr>
          <p:cNvPr id="16" name="TextBox 15"/>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The reward has one</a:t>
            </a:r>
          </a:p>
        </p:txBody>
      </p:sp>
      <p:sp>
        <p:nvSpPr>
          <p:cNvPr id="17" name="TextBox 16"/>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outcome</a:t>
            </a:r>
          </a:p>
        </p:txBody>
      </p:sp>
      <p:sp>
        <p:nvSpPr>
          <p:cNvPr id="18" name="TextBox 17"/>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Ask the priority-list owner:</a:t>
            </a:r>
          </a:p>
        </p:txBody>
      </p:sp>
      <p:sp>
        <p:nvSpPr>
          <p:cNvPr id="19" name="TextBox 18"/>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already credited, retired</a:t>
            </a:r>
          </a:p>
        </p:txBody>
      </p:sp>
      <p:sp>
        <p:nvSpPr>
          <p:cNvPr id="20" name="TextBox 19"/>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without credit, or still pending.</a:t>
            </a:r>
          </a:p>
        </p:txBody>
      </p:sp>
      <p:sp>
        <p:nvSpPr>
          <p:cNvPr id="21" name="TextBox 20"/>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lost reply never earns a</a:t>
            </a:r>
          </a:p>
        </p:txBody>
      </p:sp>
      <p:sp>
        <p:nvSpPr>
          <p:cNvPr id="22" name="TextBox 21"/>
          <p:cNvSpPr txBox="1"/>
          <p:nvPr/>
        </p:nvSpPr>
        <p:spPr>
          <a:xfrm>
            <a:off x="449580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second reward.</a:t>
            </a:r>
          </a:p>
        </p:txBody>
      </p:sp>
      <p:sp>
        <p:nvSpPr>
          <p:cNvPr id="23" name="Rounded Rectangle 22"/>
          <p:cNvSpPr/>
          <p:nvPr/>
        </p:nvSpPr>
        <p:spPr>
          <a:xfrm>
            <a:off x="8107680" y="1920239"/>
            <a:ext cx="3535679" cy="2971800"/>
          </a:xfrm>
          <a:prstGeom prst="roundRect">
            <a:avLst>
              <a:gd name="adj" fmla="val 3333"/>
            </a:avLst>
          </a:prstGeom>
          <a:solidFill>
            <a:srgbClr val="FFFFFF"/>
          </a:solidFill>
          <a:ln w="7620">
            <a:solidFill>
              <a:srgbClr val="A86A15"/>
            </a:solidFill>
          </a:ln>
          <a:effectLst/>
        </p:spPr>
        <p:txBody>
          <a:bodyPr rtlCol="0" anchor="ctr"/>
          <a:lstStyle/>
          <a:p>
            <a:pPr algn="ctr"/>
          </a:p>
        </p:txBody>
      </p:sp>
      <p:sp>
        <p:nvSpPr>
          <p:cNvPr id="24" name="TextBox 23"/>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C4 + HIVE</a:t>
            </a:r>
          </a:p>
        </p:txBody>
      </p:sp>
      <p:sp>
        <p:nvSpPr>
          <p:cNvPr id="25" name="TextBox 24"/>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The receipt tells both</a:t>
            </a:r>
          </a:p>
        </p:txBody>
      </p:sp>
      <p:sp>
        <p:nvSpPr>
          <p:cNvPr id="26" name="TextBox 25"/>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stories</a:t>
            </a:r>
          </a:p>
        </p:txBody>
      </p:sp>
      <p:sp>
        <p:nvSpPr>
          <p:cNvPr id="27" name="TextBox 26"/>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Show the original work result</a:t>
            </a:r>
          </a:p>
        </p:txBody>
      </p:sp>
      <p:sp>
        <p:nvSpPr>
          <p:cNvPr id="28" name="TextBox 27"/>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the later cleanup progress</a:t>
            </a:r>
          </a:p>
        </p:txBody>
      </p:sp>
      <p:sp>
        <p:nvSpPr>
          <p:cNvPr id="29" name="TextBox 28"/>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separately. Cleanup does not</a:t>
            </a:r>
          </a:p>
        </p:txBody>
      </p:sp>
      <p:sp>
        <p:nvSpPr>
          <p:cNvPr id="30" name="TextBox 29"/>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buy another attempt.</a:t>
            </a:r>
          </a:p>
        </p:txBody>
      </p:sp>
      <p:sp>
        <p:nvSpPr>
          <p:cNvPr id="31" name="Rounded Rectangle 30"/>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2" name="TextBox 31"/>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Observed</a:t>
            </a:r>
          </a:p>
        </p:txBody>
      </p:sp>
      <p:sp>
        <p:nvSpPr>
          <p:cNvPr id="33" name="TextBox 32"/>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33 observations drained; 20 new process-kill cases; no new formula calls during reconciliation.</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M3.1 settles recorded effects. It does not extend the deadline, change the past or start new thinking.</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M3.1 delivery closure · owner receipts</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4 OF 4</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ELI16: approve a fingerprint, then check the receipt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Imagine signing a sealed envelope containing the fingerprint of one shareable result.</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1 · APPROVE</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Name the exact result</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Hive finishes a generated task.</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operator approves that</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its destination and who</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may sign it.</a:t>
            </a:r>
          </a:p>
        </p:txBody>
      </p:sp>
      <p:sp>
        <p:nvSpPr>
          <p:cNvPr id="12" name="Rounded Rectangle 11"/>
          <p:cNvSpPr/>
          <p:nvPr/>
        </p:nvSpPr>
        <p:spPr>
          <a:xfrm>
            <a:off x="4328160" y="1920239"/>
            <a:ext cx="3535679" cy="2971800"/>
          </a:xfrm>
          <a:prstGeom prst="roundRect">
            <a:avLst>
              <a:gd name="adj" fmla="val 3333"/>
            </a:avLst>
          </a:prstGeom>
          <a:solidFill>
            <a:srgbClr val="FFFFFF"/>
          </a:solidFill>
          <a:ln w="7620">
            <a:solidFill>
              <a:srgbClr val="A86A15"/>
            </a:solidFill>
          </a:ln>
          <a:effectLst/>
        </p:spPr>
        <p:txBody>
          <a:bodyPr rtlCol="0" anchor="ctr"/>
          <a:lstStyle/>
          <a:p>
            <a:pPr algn="ctr"/>
          </a:p>
        </p:txBody>
      </p:sp>
      <p:sp>
        <p:nvSpPr>
          <p:cNvPr id="13" name="TextBox 12"/>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2 · SAVE, THEN SEND</a:t>
            </a:r>
          </a:p>
        </p:txBody>
      </p:sp>
      <p:sp>
        <p:nvSpPr>
          <p:cNvPr id="14" name="TextBox 13"/>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Keep the same</a:t>
            </a:r>
          </a:p>
        </p:txBody>
      </p:sp>
      <p:sp>
        <p:nvSpPr>
          <p:cNvPr id="15" name="TextBox 14"/>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envelope</a:t>
            </a:r>
          </a:p>
        </p:txBody>
      </p:sp>
      <p:sp>
        <p:nvSpPr>
          <p:cNvPr id="16" name="TextBox 15"/>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the signed request</a:t>
            </a:r>
          </a:p>
        </p:txBody>
      </p:sp>
      <p:sp>
        <p:nvSpPr>
          <p:cNvPr id="17" name="TextBox 16"/>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before sending. After a crash,</a:t>
            </a:r>
          </a:p>
        </p:txBody>
      </p:sp>
      <p:sp>
        <p:nvSpPr>
          <p:cNvPr id="18" name="TextBox 17"/>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retry those same bytes; a lost</a:t>
            </a:r>
          </a:p>
        </p:txBody>
      </p:sp>
      <p:sp>
        <p:nvSpPr>
          <p:cNvPr id="19" name="TextBox 18"/>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reply does not mean a new</a:t>
            </a:r>
          </a:p>
        </p:txBody>
      </p:sp>
      <p:sp>
        <p:nvSpPr>
          <p:cNvPr id="20" name="TextBox 19"/>
          <p:cNvSpPr txBox="1"/>
          <p:nvPr/>
        </p:nvSpPr>
        <p:spPr>
          <a:xfrm>
            <a:off x="449580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request.</a:t>
            </a:r>
          </a:p>
        </p:txBody>
      </p:sp>
      <p:sp>
        <p:nvSpPr>
          <p:cNvPr id="21" name="Rounded Rectangle 20"/>
          <p:cNvSpPr/>
          <p:nvPr/>
        </p:nvSpPr>
        <p:spPr>
          <a:xfrm>
            <a:off x="810768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3 · VERIFY</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Read what was stored</a:t>
            </a:r>
          </a:p>
        </p:txBody>
      </p:sp>
      <p:sp>
        <p:nvSpPr>
          <p:cNvPr id="24" name="TextBox 23"/>
          <p:cNvSpPr txBox="1"/>
          <p:nvPr/>
        </p:nvSpPr>
        <p:spPr>
          <a:xfrm>
            <a:off x="827532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Check the fingerprint in the</a:t>
            </a:r>
          </a:p>
        </p:txBody>
      </p:sp>
      <p:sp>
        <p:nvSpPr>
          <p:cNvPr id="25" name="TextBox 24"/>
          <p:cNvSpPr txBox="1"/>
          <p:nvPr/>
        </p:nvSpPr>
        <p:spPr>
          <a:xfrm>
            <a:off x="827532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block’s resulting state and the</a:t>
            </a:r>
          </a:p>
        </p:txBody>
      </p:sp>
      <p:sp>
        <p:nvSpPr>
          <p:cNvPr id="26" name="TextBox 25"/>
          <p:cNvSpPr txBox="1"/>
          <p:nvPr/>
        </p:nvSpPr>
        <p:spPr>
          <a:xfrm>
            <a:off x="827532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matching deployment’s</a:t>
            </a:r>
          </a:p>
        </p:txBody>
      </p:sp>
      <p:sp>
        <p:nvSpPr>
          <p:cNvPr id="27" name="TextBox 26"/>
          <p:cNvSpPr txBox="1"/>
          <p:nvPr/>
        </p:nvSpPr>
        <p:spPr>
          <a:xfrm>
            <a:off x="827532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finalized effect. Repeat after</a:t>
            </a:r>
          </a:p>
        </p:txBody>
      </p:sp>
      <p:sp>
        <p:nvSpPr>
          <p:cNvPr id="28" name="TextBox 27"/>
          <p:cNvSpPr txBox="1"/>
          <p:nvPr/>
        </p:nvSpPr>
        <p:spPr>
          <a:xfrm>
            <a:off x="827532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restart.</a:t>
            </a:r>
          </a:p>
        </p:txBody>
      </p:sp>
      <p:sp>
        <p:nvSpPr>
          <p:cNvPr id="29" name="Rounded Rectangle 28"/>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Private notebooks stay private</a:t>
            </a:r>
          </a:p>
        </p:txBody>
      </p:sp>
      <p:sp>
        <p:nvSpPr>
          <p:cNvPr id="31" name="TextBox 30"/>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Only the approved generated workflow is eligible. Episodes, beliefs and their identifying hashes stay off-chain.</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 stored fingerprint identifies the approved result. It does not establish that the reasoning is true.</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M4 · native Hive → isolated F1R3node</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module owns a responsibility. It need not be a separate process or repository.</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53440" y="245364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853440" y="304800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53440" y="364236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PLN · one rule</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0" name="TextBox 19"/>
          <p:cNvSpPr txBox="1"/>
          <p:nvPr/>
        </p:nvSpPr>
        <p:spPr>
          <a:xfrm>
            <a:off x="853440" y="423672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STI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853440" y="483108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Relations · future</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8" name="TextBox 27"/>
          <p:cNvSpPr txBox="1"/>
          <p:nvPr/>
        </p:nvSpPr>
        <p:spPr>
          <a:xfrm>
            <a:off x="3505200" y="3642360"/>
            <a:ext cx="2438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7458A2"/>
                </a:solidFill>
                <a:latin typeface="DejaVu Sans"/>
              </a:rPr>
              <a:t>Search projection · future</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local DeTTa</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007C78"/>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isolated</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F1R3node · M4</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test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1765250" cy="274320"/>
          </a:xfrm>
          <a:prstGeom prst="roundRect">
            <a:avLst>
              <a:gd name="adj" fmla="val 19444"/>
            </a:avLst>
          </a:prstGeom>
          <a:solidFill>
            <a:srgbClr val="EBE5F3"/>
          </a:solidFill>
          <a:ln>
            <a:noFill/>
          </a:ln>
          <a:effectLst/>
        </p:spPr>
        <p:txBody>
          <a:bodyPr rtlCol="0" anchor="ctr"/>
          <a:lstStyle/>
          <a:p>
            <a:pPr algn="ctr"/>
          </a:p>
        </p:txBody>
      </p:sp>
      <p:sp>
        <p:nvSpPr>
          <p:cNvPr id="51" name="TextBox 50"/>
          <p:cNvSpPr txBox="1"/>
          <p:nvPr/>
        </p:nvSpPr>
        <p:spPr>
          <a:xfrm>
            <a:off x="655320" y="5844540"/>
            <a:ext cx="157475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7458A2"/>
                </a:solidFill>
                <a:latin typeface="DejaVu Sans"/>
              </a:rPr>
              <a:t>SPECIFIED / FUTURE</a:t>
            </a:r>
          </a:p>
        </p:txBody>
      </p:sp>
      <p:sp>
        <p:nvSpPr>
          <p:cNvPr id="52" name="Rounded Rectangle 51"/>
          <p:cNvSpPr/>
          <p:nvPr/>
        </p:nvSpPr>
        <p:spPr>
          <a:xfrm>
            <a:off x="2781300" y="5791200"/>
            <a:ext cx="1874549"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887980" y="5844540"/>
            <a:ext cx="1684049"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LOCAL</a:t>
            </a:r>
          </a:p>
        </p:txBody>
      </p:sp>
      <p:sp>
        <p:nvSpPr>
          <p:cNvPr id="54" name="Rounded Rectangle 53"/>
          <p:cNvSpPr/>
          <p:nvPr/>
        </p:nvSpPr>
        <p:spPr>
          <a:xfrm>
            <a:off x="5234940" y="5791200"/>
            <a:ext cx="1447063"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341620" y="5844540"/>
            <a:ext cx="1256563"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a:t>
            </a:r>
          </a:p>
        </p:txBody>
      </p:sp>
      <p:sp>
        <p:nvSpPr>
          <p:cNvPr id="56" name="TextBox 55"/>
          <p:cNvSpPr txBox="1"/>
          <p:nvPr/>
        </p:nvSpPr>
        <p:spPr>
          <a:xfrm>
            <a:off x="7520939" y="5836920"/>
            <a:ext cx="4114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One grounded rule; no ECAN or LTI</a:t>
            </a:r>
          </a:p>
        </p:txBody>
      </p:sp>
      <p:cxnSp>
        <p:nvCxnSpPr>
          <p:cNvPr id="57" name="Connector 56"/>
          <p:cNvCxnSpPr/>
          <p:nvPr/>
        </p:nvCxnSpPr>
        <p:spPr>
          <a:xfrm>
            <a:off x="548640" y="6393180"/>
            <a:ext cx="11094720" cy="0"/>
          </a:xfrm>
          <a:prstGeom prst="line">
            <a:avLst/>
          </a:prstGeom>
          <a:ln w="7620">
            <a:solidFill>
              <a:srgbClr val="C9D2D4"/>
            </a:solidFill>
          </a:ln>
          <a:effectLst/>
        </p:spPr>
      </p:cxnSp>
      <p:sp>
        <p:nvSpPr>
          <p:cNvPr id="58" name="TextBox 5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architecture.md</a:t>
            </a:r>
          </a:p>
        </p:txBody>
      </p:sp>
      <p:sp>
        <p:nvSpPr>
          <p:cNvPr id="59" name="TextBox 5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Persistence, identity, structure, discovery and provenance have different owners.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DA storage</a:t>
            </a:r>
          </a:p>
        </p:txBody>
      </p:sp>
      <p:sp>
        <p:nvSpPr>
          <p:cNvPr id="10" name="TextBox 9"/>
          <p:cNvSpPr txBox="1"/>
          <p:nvPr/>
        </p:nvSpPr>
        <p:spPr>
          <a:xfrm>
            <a:off x="3185160" y="224028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Persist opaque bytes</a:t>
            </a:r>
          </a:p>
        </p:txBody>
      </p:sp>
      <p:sp>
        <p:nvSpPr>
          <p:cNvPr id="11" name="TextBox 10"/>
          <p:cNvSpPr txBox="1"/>
          <p:nvPr/>
        </p:nvSpPr>
        <p:spPr>
          <a:xfrm>
            <a:off x="3185160" y="247436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put · get · availability</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Payloads + shares</a:t>
            </a:r>
          </a:p>
        </p:txBody>
      </p:sp>
      <p:sp>
        <p:nvSpPr>
          <p:cNvPr id="13" name="TextBox 12"/>
          <p:cNvSpPr txBox="1"/>
          <p:nvPr/>
        </p:nvSpPr>
        <p:spPr>
          <a:xfrm>
            <a:off x="7757159" y="247436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AtomStorage</a:t>
            </a:r>
          </a:p>
        </p:txBody>
      </p:sp>
      <p:sp>
        <p:nvSpPr>
          <p:cNvPr id="16" name="TextBox 15"/>
          <p:cNvSpPr txBox="1"/>
          <p:nvPr/>
        </p:nvSpPr>
        <p:spPr>
          <a:xfrm>
            <a:off x="3185160" y="294132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Scoped immutable envelopes</a:t>
            </a:r>
          </a:p>
        </p:txBody>
      </p:sp>
      <p:sp>
        <p:nvSpPr>
          <p:cNvPr id="17" name="TextBox 16"/>
          <p:cNvSpPr txBox="1"/>
          <p:nvPr/>
        </p:nvSpPr>
        <p:spPr>
          <a:xfrm>
            <a:off x="3185160" y="317540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create · get · getMany · availability</a:t>
            </a:r>
          </a:p>
        </p:txBody>
      </p:sp>
      <p:sp>
        <p:nvSpPr>
          <p:cNvPr id="18" name="TextBox 17"/>
          <p:cNvSpPr txBox="1"/>
          <p:nvPr/>
        </p:nvSpPr>
        <p:spPr>
          <a:xfrm>
            <a:off x="7757159" y="294132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Reference + replay metadata</a:t>
            </a:r>
          </a:p>
        </p:txBody>
      </p:sp>
      <p:sp>
        <p:nvSpPr>
          <p:cNvPr id="19" name="TextBox 18"/>
          <p:cNvSpPr txBox="1"/>
          <p:nvPr/>
        </p:nvSpPr>
        <p:spPr>
          <a:xfrm>
            <a:off x="7757159" y="317540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Relations</a:t>
            </a:r>
          </a:p>
        </p:txBody>
      </p:sp>
      <p:sp>
        <p:nvSpPr>
          <p:cNvPr id="22" name="TextBox 21"/>
          <p:cNvSpPr txBox="1"/>
          <p:nvPr/>
        </p:nvSpPr>
        <p:spPr>
          <a:xfrm>
            <a:off x="3185160" y="364236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Represent ordered structural roles</a:t>
            </a:r>
          </a:p>
        </p:txBody>
      </p:sp>
      <p:sp>
        <p:nvSpPr>
          <p:cNvPr id="23" name="TextBox 22"/>
          <p:cNvSpPr txBox="1"/>
          <p:nvPr/>
        </p:nvSpPr>
        <p:spPr>
          <a:xfrm>
            <a:off x="3185160" y="387644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assertRelation · getRelation</a:t>
            </a:r>
          </a:p>
        </p:txBody>
      </p:sp>
      <p:sp>
        <p:nvSpPr>
          <p:cNvPr id="24" name="TextBox 23"/>
          <p:cNvSpPr txBox="1"/>
          <p:nvPr/>
        </p:nvSpPr>
        <p:spPr>
          <a:xfrm>
            <a:off x="7757159" y="36423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Immutable relation records</a:t>
            </a:r>
          </a:p>
        </p:txBody>
      </p:sp>
      <p:sp>
        <p:nvSpPr>
          <p:cNvPr id="25" name="TextBox 24"/>
          <p:cNvSpPr txBox="1"/>
          <p:nvPr/>
        </p:nvSpPr>
        <p:spPr>
          <a:xfrm>
            <a:off x="7757159" y="387644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Search projection</a:t>
            </a:r>
          </a:p>
        </p:txBody>
      </p:sp>
      <p:sp>
        <p:nvSpPr>
          <p:cNvPr id="28" name="TextBox 27"/>
          <p:cNvSpPr txBox="1"/>
          <p:nvPr/>
        </p:nvSpPr>
        <p:spPr>
          <a:xfrm>
            <a:off x="3185160" y="434340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Find refs at a known watermark</a:t>
            </a:r>
          </a:p>
        </p:txBody>
      </p:sp>
      <p:sp>
        <p:nvSpPr>
          <p:cNvPr id="29" name="TextBox 28"/>
          <p:cNvSpPr txBox="1"/>
          <p:nvPr/>
        </p:nvSpPr>
        <p:spPr>
          <a:xfrm>
            <a:off x="3185160" y="457748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query</a:t>
            </a:r>
          </a:p>
        </p:txBody>
      </p:sp>
      <p:sp>
        <p:nvSpPr>
          <p:cNvPr id="30" name="TextBox 29"/>
          <p:cNvSpPr txBox="1"/>
          <p:nvPr/>
        </p:nvSpPr>
        <p:spPr>
          <a:xfrm>
            <a:off x="7757159" y="43434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Rebuildable index</a:t>
            </a:r>
          </a:p>
        </p:txBody>
      </p:sp>
      <p:sp>
        <p:nvSpPr>
          <p:cNvPr id="31" name="TextBox 30"/>
          <p:cNvSpPr txBox="1"/>
          <p:nvPr/>
        </p:nvSpPr>
        <p:spPr>
          <a:xfrm>
            <a:off x="7757159" y="457748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Episodic memory C1</a:t>
            </a:r>
          </a:p>
        </p:txBody>
      </p:sp>
      <p:sp>
        <p:nvSpPr>
          <p:cNvPr id="34" name="TextBox 33"/>
          <p:cNvSpPr txBox="1"/>
          <p:nvPr/>
        </p:nvSpPr>
        <p:spPr>
          <a:xfrm>
            <a:off x="3185160" y="504444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Record / append / read ordered events</a:t>
            </a:r>
          </a:p>
        </p:txBody>
      </p:sp>
      <p:sp>
        <p:nvSpPr>
          <p:cNvPr id="35" name="TextBox 34"/>
          <p:cNvSpPr txBox="1"/>
          <p:nvPr/>
        </p:nvSpPr>
        <p:spPr>
          <a:xfrm>
            <a:off x="3185160" y="527852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pendingEvidence · trusted completion</a:t>
            </a:r>
          </a:p>
        </p:txBody>
      </p:sp>
      <p:sp>
        <p:nvSpPr>
          <p:cNvPr id="36" name="TextBox 35"/>
          <p:cNvSpPr txBox="1"/>
          <p:nvPr/>
        </p:nvSpPr>
        <p:spPr>
          <a:xfrm>
            <a:off x="7757159" y="50444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history + delivery intents</a:t>
            </a:r>
          </a:p>
        </p:txBody>
      </p:sp>
      <p:sp>
        <p:nvSpPr>
          <p:cNvPr id="37" name="TextBox 36"/>
          <p:cNvSpPr txBox="1"/>
          <p:nvPr/>
        </p:nvSpPr>
        <p:spPr>
          <a:xfrm>
            <a:off x="7757159" y="527852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M3.1</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DA persists bytes. Only the application owners interpret events, claims or beliefs.</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Cognitive responsibilities: four separate roles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Attention, belief admission, pure mathematics and work coordination remain separate.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BOUNDARY</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Belief revision C2</a:t>
            </a:r>
          </a:p>
        </p:txBody>
      </p:sp>
      <p:sp>
        <p:nvSpPr>
          <p:cNvPr id="10" name="TextBox 9"/>
          <p:cNvSpPr txBox="1"/>
          <p:nvPr/>
        </p:nvSpPr>
        <p:spPr>
          <a:xfrm>
            <a:off x="3185160" y="224028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submitEvidence · readBelief</a:t>
            </a:r>
          </a:p>
        </p:txBody>
      </p:sp>
      <p:sp>
        <p:nvSpPr>
          <p:cNvPr id="11" name="TextBox 10"/>
          <p:cNvSpPr txBox="1"/>
          <p:nvPr/>
        </p:nvSpPr>
        <p:spPr>
          <a:xfrm>
            <a:off x="3185160" y="247436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submitDerivation · readDerivation</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Supports, snapshots, attempts</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Only C2 commits belief changes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 kernel</a:t>
            </a:r>
          </a:p>
        </p:txBody>
      </p:sp>
      <p:sp>
        <p:nvSpPr>
          <p:cNvPr id="16" name="TextBox 15"/>
          <p:cNvSpPr txBox="1"/>
          <p:nvPr/>
        </p:nvSpPr>
        <p:spPr>
          <a:xfrm>
            <a:off x="3185160" y="307086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Apply one grounded rule to exact premises</a:t>
            </a:r>
          </a:p>
        </p:txBody>
      </p:sp>
      <p:sp>
        <p:nvSpPr>
          <p:cNvPr id="17" name="TextBox 16"/>
          <p:cNvSpPr txBox="1"/>
          <p:nvPr/>
        </p:nvSpPr>
        <p:spPr>
          <a:xfrm>
            <a:off x="3185160" y="330494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profiles · applyRule</a:t>
            </a:r>
          </a:p>
        </p:txBody>
      </p:sp>
      <p:sp>
        <p:nvSpPr>
          <p:cNvPr id="18" name="TextBox 17"/>
          <p:cNvSpPr txBox="1"/>
          <p:nvPr/>
        </p:nvSpPr>
        <p:spPr>
          <a:xfrm>
            <a:off x="7985759" y="307086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mutable domain state</a:t>
            </a:r>
          </a:p>
        </p:txBody>
      </p:sp>
      <p:sp>
        <p:nvSpPr>
          <p:cNvPr id="19" name="TextBox 18"/>
          <p:cNvSpPr txBox="1"/>
          <p:nvPr/>
        </p:nvSpPr>
        <p:spPr>
          <a:xfrm>
            <a:off x="7985759" y="330494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Pure native proposal</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C3</a:t>
            </a:r>
          </a:p>
        </p:txBody>
      </p:sp>
      <p:sp>
        <p:nvSpPr>
          <p:cNvPr id="22" name="TextBox 21"/>
          <p:cNvSpPr txBox="1"/>
          <p:nvPr/>
        </p:nvSpPr>
        <p:spPr>
          <a:xfrm>
            <a:off x="3185160" y="390144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 · advance · submitStimulus</a:t>
            </a:r>
          </a:p>
        </p:txBody>
      </p:sp>
      <p:sp>
        <p:nvSpPr>
          <p:cNvPr id="23" name="TextBox 22"/>
          <p:cNvSpPr txBox="1"/>
          <p:nvPr/>
        </p:nvSpPr>
        <p:spPr>
          <a:xfrm>
            <a:off x="3185160" y="413552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submitFeedback · resolveFeedback</a:t>
            </a:r>
          </a:p>
        </p:txBody>
      </p:sp>
      <p:sp>
        <p:nvSpPr>
          <p:cNvPr id="24" name="TextBox 23"/>
          <p:cNvSpPr txBox="1"/>
          <p:nvPr/>
        </p:nvSpPr>
        <p:spPr>
          <a:xfrm>
            <a:off x="7985759" y="39014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STI, clock, causal receipts / retirement</a:t>
            </a:r>
          </a:p>
        </p:txBody>
      </p:sp>
      <p:sp>
        <p:nvSpPr>
          <p:cNvPr id="25" name="TextBox 24"/>
          <p:cNvSpPr txBox="1"/>
          <p:nvPr/>
        </p:nvSpPr>
        <p:spPr>
          <a:xfrm>
            <a:off x="7985759" y="41355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cognition dependency</a:t>
            </a:r>
          </a:p>
        </p:txBody>
      </p:sp>
      <p:sp>
        <p:nvSpPr>
          <p:cNvPr id="26" name="Rounded Rectangle 25"/>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7" name="TextBox 26"/>
          <p:cNvSpPr txBox="1"/>
          <p:nvPr/>
        </p:nvSpPr>
        <p:spPr>
          <a:xfrm>
            <a:off x="670560" y="47320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Inference control C4</a:t>
            </a:r>
          </a:p>
        </p:txBody>
      </p:sp>
      <p:sp>
        <p:nvSpPr>
          <p:cNvPr id="28" name="TextBox 27"/>
          <p:cNvSpPr txBox="1"/>
          <p:nvPr/>
        </p:nvSpPr>
        <p:spPr>
          <a:xfrm>
            <a:off x="3185160" y="473202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Run one immutable workset</a:t>
            </a:r>
          </a:p>
        </p:txBody>
      </p:sp>
      <p:sp>
        <p:nvSpPr>
          <p:cNvPr id="29" name="TextBox 28"/>
          <p:cNvSpPr txBox="1"/>
          <p:nvPr/>
        </p:nvSpPr>
        <p:spPr>
          <a:xfrm>
            <a:off x="3185160" y="496610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 · readProgress · reconcile</a:t>
            </a:r>
          </a:p>
        </p:txBody>
      </p:sp>
      <p:sp>
        <p:nvSpPr>
          <p:cNvPr id="30" name="TextBox 29"/>
          <p:cNvSpPr txBox="1"/>
          <p:nvPr/>
        </p:nvSpPr>
        <p:spPr>
          <a:xfrm>
            <a:off x="7985759" y="473202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Selection, budgets, closure progress</a:t>
            </a:r>
          </a:p>
        </p:txBody>
      </p:sp>
      <p:sp>
        <p:nvSpPr>
          <p:cNvPr id="31" name="TextBox 30"/>
          <p:cNvSpPr txBox="1"/>
          <p:nvPr/>
        </p:nvSpPr>
        <p:spPr>
          <a:xfrm>
            <a:off x="7985759" y="49661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truth or attention ownership</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C4 calls C2 for admission. C2 invokes the kernel, then checks authority and commits its decision.</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architecture.md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Control responsibilities: move work, preserve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specific facts.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intents + observations · REAL M4</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Operator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PRIVATE COGNITION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exercised M3.1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Arrows point from caller to provider; the relay and every state owner commit separately.</a:t>
            </a:r>
          </a:p>
        </p:txBody>
      </p:sp>
      <p:sp>
        <p:nvSpPr>
          <p:cNvPr id="5" name="Rounded Rectangle 4"/>
          <p:cNvSpPr/>
          <p:nvPr/>
        </p:nvSpPr>
        <p:spPr>
          <a:xfrm>
            <a:off x="548640" y="1828800"/>
            <a:ext cx="2667000" cy="899160"/>
          </a:xfrm>
          <a:prstGeom prst="roundRect">
            <a:avLst>
              <a:gd name="adj" fmla="val 1101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1996439"/>
            <a:ext cx="2331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Hive plugin</a:t>
            </a:r>
          </a:p>
        </p:txBody>
      </p:sp>
      <p:sp>
        <p:nvSpPr>
          <p:cNvPr id="7" name="TextBox 6"/>
          <p:cNvSpPr txBox="1"/>
          <p:nvPr/>
        </p:nvSpPr>
        <p:spPr>
          <a:xfrm>
            <a:off x="716280" y="2355494"/>
            <a:ext cx="2331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Scenario + trusted actor</a:t>
            </a:r>
          </a:p>
        </p:txBody>
      </p:sp>
      <p:sp>
        <p:nvSpPr>
          <p:cNvPr id="8" name="Rounded Rectangle 7"/>
          <p:cNvSpPr/>
          <p:nvPr/>
        </p:nvSpPr>
        <p:spPr>
          <a:xfrm>
            <a:off x="4229100" y="1828800"/>
            <a:ext cx="33528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9" name="TextBox 8"/>
          <p:cNvSpPr txBox="1"/>
          <p:nvPr/>
        </p:nvSpPr>
        <p:spPr>
          <a:xfrm>
            <a:off x="4396740" y="1996439"/>
            <a:ext cx="30175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InferenceControl</a:t>
            </a:r>
          </a:p>
        </p:txBody>
      </p:sp>
      <p:sp>
        <p:nvSpPr>
          <p:cNvPr id="10" name="TextBox 9"/>
          <p:cNvSpPr txBox="1"/>
          <p:nvPr/>
        </p:nvSpPr>
        <p:spPr>
          <a:xfrm>
            <a:off x="4396740" y="2355494"/>
            <a:ext cx="30175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step · readProgress · reconcile</a:t>
            </a:r>
          </a:p>
        </p:txBody>
      </p:sp>
      <p:sp>
        <p:nvSpPr>
          <p:cNvPr id="11" name="Rounded Rectangle 10"/>
          <p:cNvSpPr/>
          <p:nvPr/>
        </p:nvSpPr>
        <p:spPr>
          <a:xfrm>
            <a:off x="8595360" y="1828800"/>
            <a:ext cx="30480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8763000" y="1996439"/>
            <a:ext cx="2712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3" name="TextBox 12"/>
          <p:cNvSpPr txBox="1"/>
          <p:nvPr/>
        </p:nvSpPr>
        <p:spPr>
          <a:xfrm>
            <a:off x="8763000" y="2355494"/>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select · submit/resolveFeedback</a:t>
            </a:r>
          </a:p>
        </p:txBody>
      </p:sp>
      <p:cxnSp>
        <p:nvCxnSpPr>
          <p:cNvPr id="14" name="Connector 13"/>
          <p:cNvCxnSpPr/>
          <p:nvPr/>
        </p:nvCxnSpPr>
        <p:spPr>
          <a:xfrm>
            <a:off x="3215640" y="2270760"/>
            <a:ext cx="1013460" cy="0"/>
          </a:xfrm>
          <a:prstGeom prst="line">
            <a:avLst/>
          </a:prstGeom>
          <a:ln w="15240">
            <a:solidFill>
              <a:srgbClr val="007C78"/>
            </a:solidFill>
          </a:ln>
          <a:effectLst/>
        </p:spPr>
      </p:cxnSp>
      <p:sp>
        <p:nvSpPr>
          <p:cNvPr id="15" name="Freeform 14"/>
          <p:cNvSpPr/>
          <p:nvPr/>
        </p:nvSpPr>
        <p:spPr>
          <a:xfrm>
            <a:off x="4130040" y="22326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6" name="Connector 15"/>
          <p:cNvCxnSpPr/>
          <p:nvPr/>
        </p:nvCxnSpPr>
        <p:spPr>
          <a:xfrm>
            <a:off x="7581900" y="2270760"/>
            <a:ext cx="1013460" cy="0"/>
          </a:xfrm>
          <a:prstGeom prst="line">
            <a:avLst/>
          </a:prstGeom>
          <a:ln w="15240">
            <a:solidFill>
              <a:srgbClr val="315E9C"/>
            </a:solidFill>
          </a:ln>
          <a:effectLst/>
        </p:spPr>
      </p:cxnSp>
      <p:sp>
        <p:nvSpPr>
          <p:cNvPr id="17" name="Freeform 16"/>
          <p:cNvSpPr/>
          <p:nvPr/>
        </p:nvSpPr>
        <p:spPr>
          <a:xfrm>
            <a:off x="8496300" y="22326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548640" y="3657600"/>
            <a:ext cx="22860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716280" y="3825240"/>
            <a:ext cx="1950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C1 · Episodes</a:t>
            </a:r>
          </a:p>
        </p:txBody>
      </p:sp>
      <p:sp>
        <p:nvSpPr>
          <p:cNvPr id="20" name="TextBox 19"/>
          <p:cNvSpPr txBox="1"/>
          <p:nvPr/>
        </p:nvSpPr>
        <p:spPr>
          <a:xfrm>
            <a:off x="716280" y="4116019"/>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readEvidence · pending ·</a:t>
            </a:r>
          </a:p>
        </p:txBody>
      </p:sp>
      <p:sp>
        <p:nvSpPr>
          <p:cNvPr id="21" name="TextBox 20"/>
          <p:cNvSpPr txBox="1"/>
          <p:nvPr/>
        </p:nvSpPr>
        <p:spPr>
          <a:xfrm>
            <a:off x="716280" y="4311091"/>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ack</a:t>
            </a:r>
          </a:p>
        </p:txBody>
      </p:sp>
      <p:sp>
        <p:nvSpPr>
          <p:cNvPr id="22" name="Rounded Rectangle 21"/>
          <p:cNvSpPr/>
          <p:nvPr/>
        </p:nvSpPr>
        <p:spPr>
          <a:xfrm>
            <a:off x="3383279" y="3657600"/>
            <a:ext cx="22860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3550919"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Evidence relay</a:t>
            </a:r>
          </a:p>
        </p:txBody>
      </p:sp>
      <p:sp>
        <p:nvSpPr>
          <p:cNvPr id="24" name="TextBox 23"/>
          <p:cNvSpPr txBox="1"/>
          <p:nvPr/>
        </p:nvSpPr>
        <p:spPr>
          <a:xfrm>
            <a:off x="3550919"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 → validate → ack</a:t>
            </a:r>
          </a:p>
        </p:txBody>
      </p:sp>
      <p:sp>
        <p:nvSpPr>
          <p:cNvPr id="25" name="Rounded Rectangle 24"/>
          <p:cNvSpPr/>
          <p:nvPr/>
        </p:nvSpPr>
        <p:spPr>
          <a:xfrm>
            <a:off x="6217920" y="3657600"/>
            <a:ext cx="25908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6" name="TextBox 25"/>
          <p:cNvSpPr txBox="1"/>
          <p:nvPr/>
        </p:nvSpPr>
        <p:spPr>
          <a:xfrm>
            <a:off x="6385559" y="3825240"/>
            <a:ext cx="22555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C2 · Beliefs</a:t>
            </a:r>
          </a:p>
        </p:txBody>
      </p:sp>
      <p:sp>
        <p:nvSpPr>
          <p:cNvPr id="27" name="TextBox 26"/>
          <p:cNvSpPr txBox="1"/>
          <p:nvPr/>
        </p:nvSpPr>
        <p:spPr>
          <a:xfrm>
            <a:off x="6385559" y="4164787"/>
            <a:ext cx="2255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submit/read decisions</a:t>
            </a:r>
          </a:p>
        </p:txBody>
      </p:sp>
      <p:sp>
        <p:nvSpPr>
          <p:cNvPr id="28" name="Rounded Rectangle 27"/>
          <p:cNvSpPr/>
          <p:nvPr/>
        </p:nvSpPr>
        <p:spPr>
          <a:xfrm>
            <a:off x="9357360" y="3657600"/>
            <a:ext cx="2286000" cy="914400"/>
          </a:xfrm>
          <a:prstGeom prst="roundRect">
            <a:avLst>
              <a:gd name="adj" fmla="val 10833"/>
            </a:avLst>
          </a:prstGeom>
          <a:solidFill>
            <a:srgbClr val="DCEFE8"/>
          </a:solidFill>
          <a:ln w="7620">
            <a:solidFill>
              <a:srgbClr val="007C78"/>
            </a:solidFill>
          </a:ln>
          <a:effectLst/>
        </p:spPr>
        <p:txBody>
          <a:bodyPr rtlCol="0" anchor="ctr"/>
          <a:lstStyle/>
          <a:p>
            <a:pPr algn="ctr"/>
          </a:p>
        </p:txBody>
      </p:sp>
      <p:sp>
        <p:nvSpPr>
          <p:cNvPr id="29" name="TextBox 28"/>
          <p:cNvSpPr txBox="1"/>
          <p:nvPr/>
        </p:nvSpPr>
        <p:spPr>
          <a:xfrm>
            <a:off x="9525000"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Pure PLN</a:t>
            </a:r>
          </a:p>
        </p:txBody>
      </p:sp>
      <p:sp>
        <p:nvSpPr>
          <p:cNvPr id="30" name="TextBox 29"/>
          <p:cNvSpPr txBox="1"/>
          <p:nvPr/>
        </p:nvSpPr>
        <p:spPr>
          <a:xfrm>
            <a:off x="9525000"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applyRule / revise</a:t>
            </a:r>
          </a:p>
        </p:txBody>
      </p:sp>
      <p:cxnSp>
        <p:nvCxnSpPr>
          <p:cNvPr id="31" name="Connector 30"/>
          <p:cNvCxnSpPr/>
          <p:nvPr/>
        </p:nvCxnSpPr>
        <p:spPr>
          <a:xfrm flipH="1">
            <a:off x="2834640" y="4114800"/>
            <a:ext cx="548639" cy="0"/>
          </a:xfrm>
          <a:prstGeom prst="line">
            <a:avLst/>
          </a:prstGeom>
          <a:ln w="15240">
            <a:solidFill>
              <a:srgbClr val="315E9C"/>
            </a:solidFill>
          </a:ln>
          <a:effectLst/>
        </p:spPr>
      </p:cxnSp>
      <p:sp>
        <p:nvSpPr>
          <p:cNvPr id="32" name="Freeform 31"/>
          <p:cNvSpPr/>
          <p:nvPr/>
        </p:nvSpPr>
        <p:spPr>
          <a:xfrm>
            <a:off x="2834640" y="407670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3" name="Connector 32"/>
          <p:cNvCxnSpPr/>
          <p:nvPr/>
        </p:nvCxnSpPr>
        <p:spPr>
          <a:xfrm>
            <a:off x="5669280" y="4114800"/>
            <a:ext cx="548640" cy="0"/>
          </a:xfrm>
          <a:prstGeom prst="line">
            <a:avLst/>
          </a:prstGeom>
          <a:ln w="15240">
            <a:solidFill>
              <a:srgbClr val="315E9C"/>
            </a:solidFill>
          </a:ln>
          <a:effectLst/>
        </p:spPr>
      </p:cxnSp>
      <p:sp>
        <p:nvSpPr>
          <p:cNvPr id="34" name="Freeform 33"/>
          <p:cNvSpPr/>
          <p:nvPr/>
        </p:nvSpPr>
        <p:spPr>
          <a:xfrm>
            <a:off x="6118860" y="4076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5" name="Connector 34"/>
          <p:cNvCxnSpPr/>
          <p:nvPr/>
        </p:nvCxnSpPr>
        <p:spPr>
          <a:xfrm>
            <a:off x="8808720" y="4114800"/>
            <a:ext cx="548640" cy="0"/>
          </a:xfrm>
          <a:prstGeom prst="line">
            <a:avLst/>
          </a:prstGeom>
          <a:ln w="15240">
            <a:solidFill>
              <a:srgbClr val="007C78"/>
            </a:solidFill>
          </a:ln>
          <a:effectLst/>
        </p:spPr>
      </p:cxnSp>
      <p:sp>
        <p:nvSpPr>
          <p:cNvPr id="36" name="Freeform 35"/>
          <p:cNvSpPr/>
          <p:nvPr/>
        </p:nvSpPr>
        <p:spPr>
          <a:xfrm>
            <a:off x="9258300" y="4076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37" name="Connector 36"/>
          <p:cNvCxnSpPr/>
          <p:nvPr/>
        </p:nvCxnSpPr>
        <p:spPr>
          <a:xfrm>
            <a:off x="7086600" y="2727960"/>
            <a:ext cx="0" cy="929640"/>
          </a:xfrm>
          <a:prstGeom prst="line">
            <a:avLst/>
          </a:prstGeom>
          <a:ln w="15240">
            <a:solidFill>
              <a:srgbClr val="315E9C"/>
            </a:solidFill>
          </a:ln>
          <a:effectLst/>
        </p:spPr>
      </p:cxnSp>
      <p:sp>
        <p:nvSpPr>
          <p:cNvPr id="38" name="Freeform 37"/>
          <p:cNvSpPr/>
          <p:nvPr/>
        </p:nvSpPr>
        <p:spPr>
          <a:xfrm>
            <a:off x="7048500" y="35585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39" name="TextBox 38"/>
          <p:cNvSpPr txBox="1"/>
          <p:nvPr/>
        </p:nvSpPr>
        <p:spPr>
          <a:xfrm>
            <a:off x="7414259" y="3055620"/>
            <a:ext cx="381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C4 → C2: read / submit derivation</a:t>
            </a:r>
          </a:p>
        </p:txBody>
      </p:sp>
      <p:cxnSp>
        <p:nvCxnSpPr>
          <p:cNvPr id="40" name="Connector 39"/>
          <p:cNvCxnSpPr/>
          <p:nvPr/>
        </p:nvCxnSpPr>
        <p:spPr>
          <a:xfrm>
            <a:off x="1219200" y="2727960"/>
            <a:ext cx="0" cy="480060"/>
          </a:xfrm>
          <a:prstGeom prst="line">
            <a:avLst/>
          </a:prstGeom>
          <a:ln w="15240">
            <a:solidFill>
              <a:srgbClr val="007C78"/>
            </a:solidFill>
          </a:ln>
          <a:effectLst/>
        </p:spPr>
      </p:cxnSp>
      <p:cxnSp>
        <p:nvCxnSpPr>
          <p:cNvPr id="41" name="Connector 40"/>
          <p:cNvCxnSpPr/>
          <p:nvPr/>
        </p:nvCxnSpPr>
        <p:spPr>
          <a:xfrm>
            <a:off x="1219200" y="3208020"/>
            <a:ext cx="3307080" cy="0"/>
          </a:xfrm>
          <a:prstGeom prst="line">
            <a:avLst/>
          </a:prstGeom>
          <a:ln w="15240">
            <a:solidFill>
              <a:srgbClr val="007C78"/>
            </a:solidFill>
          </a:ln>
          <a:effectLst/>
        </p:spPr>
      </p:cxnSp>
      <p:cxnSp>
        <p:nvCxnSpPr>
          <p:cNvPr id="42" name="Connector 41"/>
          <p:cNvCxnSpPr/>
          <p:nvPr/>
        </p:nvCxnSpPr>
        <p:spPr>
          <a:xfrm>
            <a:off x="4526280" y="3208020"/>
            <a:ext cx="0" cy="449580"/>
          </a:xfrm>
          <a:prstGeom prst="line">
            <a:avLst/>
          </a:prstGeom>
          <a:ln w="15240">
            <a:solidFill>
              <a:srgbClr val="007C78"/>
            </a:solidFill>
          </a:ln>
          <a:effectLst/>
        </p:spPr>
      </p:cxnSp>
      <p:sp>
        <p:nvSpPr>
          <p:cNvPr id="43" name="Freeform 42"/>
          <p:cNvSpPr/>
          <p:nvPr/>
        </p:nvSpPr>
        <p:spPr>
          <a:xfrm>
            <a:off x="4488180" y="355854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44" name="TextBox 43"/>
          <p:cNvSpPr txBox="1"/>
          <p:nvPr/>
        </p:nvSpPr>
        <p:spPr>
          <a:xfrm>
            <a:off x="1379220" y="2956560"/>
            <a:ext cx="4724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007C78"/>
                </a:solidFill>
                <a:latin typeface="DejaVu Sans"/>
              </a:rPr>
              <a:t>Scenario appends C1 events, then drains via relay</a:t>
            </a:r>
          </a:p>
        </p:txBody>
      </p:sp>
      <p:cxnSp>
        <p:nvCxnSpPr>
          <p:cNvPr id="45" name="Connector 44"/>
          <p:cNvCxnSpPr/>
          <p:nvPr/>
        </p:nvCxnSpPr>
        <p:spPr>
          <a:xfrm>
            <a:off x="7513320" y="4572000"/>
            <a:ext cx="0" cy="381000"/>
          </a:xfrm>
          <a:prstGeom prst="line">
            <a:avLst/>
          </a:prstGeom>
          <a:ln w="15240">
            <a:solidFill>
              <a:srgbClr val="315E9C"/>
            </a:solidFill>
          </a:ln>
          <a:effectLst/>
        </p:spPr>
      </p:cxnSp>
      <p:cxnSp>
        <p:nvCxnSpPr>
          <p:cNvPr id="46" name="Connector 45"/>
          <p:cNvCxnSpPr/>
          <p:nvPr/>
        </p:nvCxnSpPr>
        <p:spPr>
          <a:xfrm flipH="1">
            <a:off x="1691639" y="4953000"/>
            <a:ext cx="5821681" cy="0"/>
          </a:xfrm>
          <a:prstGeom prst="line">
            <a:avLst/>
          </a:prstGeom>
          <a:ln w="15240">
            <a:solidFill>
              <a:srgbClr val="315E9C"/>
            </a:solidFill>
          </a:ln>
          <a:effectLst/>
        </p:spPr>
      </p:cxnSp>
      <p:cxnSp>
        <p:nvCxnSpPr>
          <p:cNvPr id="47" name="Connector 46"/>
          <p:cNvCxnSpPr/>
          <p:nvPr/>
        </p:nvCxnSpPr>
        <p:spPr>
          <a:xfrm flipV="1">
            <a:off x="1691639" y="4572000"/>
            <a:ext cx="0" cy="381000"/>
          </a:xfrm>
          <a:prstGeom prst="line">
            <a:avLst/>
          </a:prstGeom>
          <a:ln w="15240">
            <a:solidFill>
              <a:srgbClr val="315E9C"/>
            </a:solidFill>
          </a:ln>
          <a:effectLst/>
        </p:spPr>
      </p:cxnSp>
      <p:sp>
        <p:nvSpPr>
          <p:cNvPr id="48" name="Freeform 47"/>
          <p:cNvSpPr/>
          <p:nvPr/>
        </p:nvSpPr>
        <p:spPr>
          <a:xfrm>
            <a:off x="1653540" y="4572000"/>
            <a:ext cx="76200" cy="99060"/>
          </a:xfrm>
          <a:custGeom>
            <a:avLst/>
            <a:gdLst/>
            <a:ahLst/>
            <a:cxnLst/>
            <a:rect l="l" t="t" r="r" b="b"/>
            <a:pathLst>
              <a:path w="10" h="13">
                <a:moveTo>
                  <a:pt x="5" y="0"/>
                </a:moveTo>
                <a:lnTo>
                  <a:pt x="0" y="13"/>
                </a:lnTo>
                <a:lnTo>
                  <a:pt x="10" y="13"/>
                </a:lnTo>
                <a:close/>
              </a:path>
            </a:pathLst>
          </a:custGeom>
          <a:solidFill>
            <a:srgbClr val="315E9C"/>
          </a:solidFill>
          <a:ln>
            <a:noFill/>
          </a:ln>
          <a:effectLst/>
        </p:spPr>
        <p:txBody>
          <a:bodyPr rtlCol="0" anchor="ctr"/>
          <a:lstStyle/>
          <a:p>
            <a:pPr algn="ctr"/>
          </a:p>
        </p:txBody>
      </p:sp>
      <p:sp>
        <p:nvSpPr>
          <p:cNvPr id="49" name="TextBox 48"/>
          <p:cNvSpPr txBox="1"/>
          <p:nvPr/>
        </p:nvSpPr>
        <p:spPr>
          <a:xfrm>
            <a:off x="3147060" y="4724400"/>
            <a:ext cx="37719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C2 → C1: readEvidence</a:t>
            </a:r>
          </a:p>
        </p:txBody>
      </p:sp>
      <p:sp>
        <p:nvSpPr>
          <p:cNvPr id="50" name="Rounded Rectangle 49"/>
          <p:cNvSpPr/>
          <p:nvPr/>
        </p:nvSpPr>
        <p:spPr>
          <a:xfrm>
            <a:off x="548640" y="5364480"/>
            <a:ext cx="7620000" cy="815340"/>
          </a:xfrm>
          <a:prstGeom prst="roundRect">
            <a:avLst>
              <a:gd name="adj" fmla="val 12149"/>
            </a:avLst>
          </a:prstGeom>
          <a:solidFill>
            <a:srgbClr val="DCEFE8"/>
          </a:solidFill>
          <a:ln w="7620">
            <a:solidFill>
              <a:srgbClr val="007C78"/>
            </a:solidFill>
          </a:ln>
          <a:effectLst/>
        </p:spPr>
        <p:txBody>
          <a:bodyPr rtlCol="0" anchor="ctr"/>
          <a:lstStyle/>
          <a:p>
            <a:pPr algn="ctr"/>
          </a:p>
        </p:txBody>
      </p:sp>
      <p:sp>
        <p:nvSpPr>
          <p:cNvPr id="51" name="TextBox 50"/>
          <p:cNvSpPr txBox="1"/>
          <p:nvPr/>
        </p:nvSpPr>
        <p:spPr>
          <a:xfrm>
            <a:off x="716280" y="5532120"/>
            <a:ext cx="7284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C1 / C2 / C4 → private AtomStorage → real DeTTa</a:t>
            </a:r>
          </a:p>
        </p:txBody>
      </p:sp>
      <p:sp>
        <p:nvSpPr>
          <p:cNvPr id="52" name="TextBox 51"/>
          <p:cNvSpPr txBox="1"/>
          <p:nvPr/>
        </p:nvSpPr>
        <p:spPr>
          <a:xfrm>
            <a:off x="716280" y="5871667"/>
            <a:ext cx="7284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Opaque bytes below the application boundary; each owner keeps its own journal.</a:t>
            </a:r>
          </a:p>
        </p:txBody>
      </p:sp>
      <p:sp>
        <p:nvSpPr>
          <p:cNvPr id="53" name="Rounded Rectangle 52"/>
          <p:cNvSpPr/>
          <p:nvPr/>
        </p:nvSpPr>
        <p:spPr>
          <a:xfrm>
            <a:off x="8595360" y="5364480"/>
            <a:ext cx="3048000" cy="815340"/>
          </a:xfrm>
          <a:prstGeom prst="roundRect">
            <a:avLst>
              <a:gd name="adj" fmla="val 12149"/>
            </a:avLst>
          </a:prstGeom>
          <a:solidFill>
            <a:srgbClr val="E7ECEB"/>
          </a:solidFill>
          <a:ln w="7620">
            <a:solidFill>
              <a:srgbClr val="315E9C"/>
            </a:solidFill>
          </a:ln>
          <a:effectLst/>
        </p:spPr>
        <p:txBody>
          <a:bodyPr rtlCol="0" anchor="ctr"/>
          <a:lstStyle/>
          <a:p>
            <a:pPr algn="ctr"/>
          </a:p>
        </p:txBody>
      </p:sp>
      <p:sp>
        <p:nvSpPr>
          <p:cNvPr id="54" name="TextBox 53"/>
          <p:cNvSpPr txBox="1"/>
          <p:nvPr/>
        </p:nvSpPr>
        <p:spPr>
          <a:xfrm>
            <a:off x="8763000" y="5532120"/>
            <a:ext cx="2712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315E9C"/>
                </a:solidFill>
                <a:latin typeface="DejaVu Sans"/>
              </a:rPr>
              <a:t>Authority + descriptors</a:t>
            </a:r>
          </a:p>
        </p:txBody>
      </p:sp>
      <p:sp>
        <p:nvSpPr>
          <p:cNvPr id="55" name="TextBox 54"/>
          <p:cNvSpPr txBox="1"/>
          <p:nvPr/>
        </p:nvSpPr>
        <p:spPr>
          <a:xfrm>
            <a:off x="8763000" y="5861913"/>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Checked at every owner port</a:t>
            </a:r>
          </a:p>
        </p:txBody>
      </p:sp>
      <p:cxnSp>
        <p:nvCxnSpPr>
          <p:cNvPr id="56" name="Connector 55"/>
          <p:cNvCxnSpPr/>
          <p:nvPr/>
        </p:nvCxnSpPr>
        <p:spPr>
          <a:xfrm>
            <a:off x="548640" y="6393180"/>
            <a:ext cx="11094720" cy="0"/>
          </a:xfrm>
          <a:prstGeom prst="line">
            <a:avLst/>
          </a:prstGeom>
          <a:ln w="7620">
            <a:solidFill>
              <a:srgbClr val="C9D2D4"/>
            </a:solidFill>
          </a:ln>
          <a:effectLst/>
        </p:spPr>
      </p:cxnSp>
      <p:sp>
        <p:nvSpPr>
          <p:cNvPr id="57" name="TextBox 5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cognition.py · ports.py · evidence_relay.py</a:t>
            </a:r>
          </a:p>
        </p:txBody>
      </p:sp>
      <p:sp>
        <p:nvSpPr>
          <p:cNvPr id="58" name="TextBox 5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SHARED APPLICATION PORTS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preserved M1.2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 exercised calls. Every provider effect crosses an existing validated interface.</a:t>
            </a:r>
          </a:p>
        </p:txBody>
      </p:sp>
      <p:sp>
        <p:nvSpPr>
          <p:cNvPr id="5" name="Rounded Rectangle 4"/>
          <p:cNvSpPr/>
          <p:nvPr/>
        </p:nvSpPr>
        <p:spPr>
          <a:xfrm>
            <a:off x="548640" y="1874520"/>
            <a:ext cx="2514600"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42159"/>
            <a:ext cx="2179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a:t>
            </a:r>
          </a:p>
        </p:txBody>
      </p:sp>
      <p:sp>
        <p:nvSpPr>
          <p:cNvPr id="7" name="TextBox 6"/>
          <p:cNvSpPr txBox="1"/>
          <p:nvPr/>
        </p:nvSpPr>
        <p:spPr>
          <a:xfrm>
            <a:off x="716280" y="2391460"/>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POST /programs/…/act</a:t>
            </a:r>
          </a:p>
        </p:txBody>
      </p:sp>
      <p:sp>
        <p:nvSpPr>
          <p:cNvPr id="8" name="TextBox 7"/>
          <p:cNvSpPr txBox="1"/>
          <p:nvPr/>
        </p:nvSpPr>
        <p:spPr>
          <a:xfrm>
            <a:off x="716280" y="2596286"/>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Trusted actor + command</a:t>
            </a:r>
          </a:p>
        </p:txBody>
      </p:sp>
      <p:sp>
        <p:nvSpPr>
          <p:cNvPr id="9" name="Rounded Rectangle 8"/>
          <p:cNvSpPr/>
          <p:nvPr/>
        </p:nvSpPr>
        <p:spPr>
          <a:xfrm>
            <a:off x="4076700" y="1874520"/>
            <a:ext cx="3276600" cy="990600"/>
          </a:xfrm>
          <a:prstGeom prst="roundRect">
            <a:avLst>
              <a:gd name="adj" fmla="val 10000"/>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244340" y="2042159"/>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Fusion inspect plugin</a:t>
            </a:r>
          </a:p>
        </p:txBody>
      </p:sp>
      <p:sp>
        <p:nvSpPr>
          <p:cNvPr id="11" name="TextBox 10"/>
          <p:cNvSpPr txBox="1"/>
          <p:nvPr/>
        </p:nvSpPr>
        <p:spPr>
          <a:xfrm>
            <a:off x="4244340" y="23914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Owns caller receipts</a:t>
            </a:r>
          </a:p>
        </p:txBody>
      </p:sp>
      <p:sp>
        <p:nvSpPr>
          <p:cNvPr id="12" name="TextBox 11"/>
          <p:cNvSpPr txBox="1"/>
          <p:nvPr/>
        </p:nvSpPr>
        <p:spPr>
          <a:xfrm>
            <a:off x="4244340" y="2596286"/>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Uses selected stdio binding</a:t>
            </a:r>
          </a:p>
        </p:txBody>
      </p:sp>
      <p:sp>
        <p:nvSpPr>
          <p:cNvPr id="13" name="Rounded Rectangle 12"/>
          <p:cNvSpPr/>
          <p:nvPr/>
        </p:nvSpPr>
        <p:spPr>
          <a:xfrm>
            <a:off x="8229600" y="1874520"/>
            <a:ext cx="3413760" cy="990600"/>
          </a:xfrm>
          <a:prstGeom prst="roundRect">
            <a:avLst>
              <a:gd name="adj" fmla="val 10000"/>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397240" y="2042159"/>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 + resolver</a:t>
            </a:r>
          </a:p>
        </p:txBody>
      </p:sp>
      <p:sp>
        <p:nvSpPr>
          <p:cNvPr id="15" name="TextBox 14"/>
          <p:cNvSpPr txBox="1"/>
          <p:nvPr/>
        </p:nvSpPr>
        <p:spPr>
          <a:xfrm>
            <a:off x="8397240" y="239146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describe → select</a:t>
            </a:r>
          </a:p>
        </p:txBody>
      </p:sp>
      <p:sp>
        <p:nvSpPr>
          <p:cNvPr id="16" name="TextBox 15"/>
          <p:cNvSpPr txBox="1"/>
          <p:nvPr/>
        </p:nvSpPr>
        <p:spPr>
          <a:xfrm>
            <a:off x="8397240" y="259628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Pin full descriptor tokens</a:t>
            </a:r>
          </a:p>
        </p:txBody>
      </p:sp>
      <p:cxnSp>
        <p:nvCxnSpPr>
          <p:cNvPr id="17" name="Connector 16"/>
          <p:cNvCxnSpPr/>
          <p:nvPr/>
        </p:nvCxnSpPr>
        <p:spPr>
          <a:xfrm>
            <a:off x="3063240" y="2377440"/>
            <a:ext cx="1013460" cy="0"/>
          </a:xfrm>
          <a:prstGeom prst="line">
            <a:avLst/>
          </a:prstGeom>
          <a:ln w="15240">
            <a:solidFill>
              <a:srgbClr val="007C78"/>
            </a:solidFill>
          </a:ln>
          <a:effectLst/>
        </p:spPr>
      </p:cxnSp>
      <p:sp>
        <p:nvSpPr>
          <p:cNvPr id="18" name="Freeform 17"/>
          <p:cNvSpPr/>
          <p:nvPr/>
        </p:nvSpPr>
        <p:spPr>
          <a:xfrm>
            <a:off x="397764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353300" y="2377440"/>
            <a:ext cx="876300" cy="0"/>
          </a:xfrm>
          <a:prstGeom prst="line">
            <a:avLst/>
          </a:prstGeom>
          <a:ln w="15240">
            <a:solidFill>
              <a:srgbClr val="315E9C"/>
            </a:solidFill>
          </a:ln>
          <a:effectLst/>
        </p:spPr>
      </p:cxnSp>
      <p:sp>
        <p:nvSpPr>
          <p:cNvPr id="20" name="Freeform 19"/>
          <p:cNvSpPr/>
          <p:nvPr/>
        </p:nvSpPr>
        <p:spPr>
          <a:xfrm>
            <a:off x="813054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076700" y="3467100"/>
            <a:ext cx="32766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4244340" y="3634740"/>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Validated binding + policy</a:t>
            </a:r>
          </a:p>
        </p:txBody>
      </p:sp>
      <p:sp>
        <p:nvSpPr>
          <p:cNvPr id="23" name="TextBox 22"/>
          <p:cNvSpPr txBox="1"/>
          <p:nvPr/>
        </p:nvSpPr>
        <p:spPr>
          <a:xfrm>
            <a:off x="4244340" y="3954779"/>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Wire/profile checks · live authority</a:t>
            </a:r>
          </a:p>
        </p:txBody>
      </p:sp>
      <p:cxnSp>
        <p:nvCxnSpPr>
          <p:cNvPr id="24" name="Connector 23"/>
          <p:cNvCxnSpPr/>
          <p:nvPr/>
        </p:nvCxnSpPr>
        <p:spPr>
          <a:xfrm>
            <a:off x="5715000" y="2865120"/>
            <a:ext cx="0" cy="601980"/>
          </a:xfrm>
          <a:prstGeom prst="line">
            <a:avLst/>
          </a:prstGeom>
          <a:ln w="15240">
            <a:solidFill>
              <a:srgbClr val="315E9C"/>
            </a:solidFill>
          </a:ln>
          <a:effectLst/>
        </p:spPr>
      </p:cxnSp>
      <p:sp>
        <p:nvSpPr>
          <p:cNvPr id="25" name="Freeform 24"/>
          <p:cNvSpPr/>
          <p:nvPr/>
        </p:nvSpPr>
        <p:spPr>
          <a:xfrm>
            <a:off x="567690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Rounded Rectangle 25"/>
          <p:cNvSpPr/>
          <p:nvPr/>
        </p:nvSpPr>
        <p:spPr>
          <a:xfrm>
            <a:off x="548640" y="3467100"/>
            <a:ext cx="25146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27" name="TextBox 26"/>
          <p:cNvSpPr txBox="1"/>
          <p:nvPr/>
        </p:nvSpPr>
        <p:spPr>
          <a:xfrm>
            <a:off x="716280" y="3634740"/>
            <a:ext cx="2179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28" name="TextBox 27"/>
          <p:cNvSpPr txBox="1"/>
          <p:nvPr/>
        </p:nvSpPr>
        <p:spPr>
          <a:xfrm>
            <a:off x="716280" y="3993794"/>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submit · status · result</a:t>
            </a:r>
          </a:p>
        </p:txBody>
      </p:sp>
      <p:sp>
        <p:nvSpPr>
          <p:cNvPr id="29" name="Rounded Rectangle 28"/>
          <p:cNvSpPr/>
          <p:nvPr/>
        </p:nvSpPr>
        <p:spPr>
          <a:xfrm>
            <a:off x="8229600" y="3467100"/>
            <a:ext cx="341376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8397240" y="3634740"/>
            <a:ext cx="3078479"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AtomStorage</a:t>
            </a:r>
          </a:p>
        </p:txBody>
      </p:sp>
      <p:sp>
        <p:nvSpPr>
          <p:cNvPr id="31" name="TextBox 30"/>
          <p:cNvSpPr txBox="1"/>
          <p:nvPr/>
        </p:nvSpPr>
        <p:spPr>
          <a:xfrm>
            <a:off x="8397240" y="3993794"/>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create · get · getMany · availability</a:t>
            </a:r>
          </a:p>
        </p:txBody>
      </p:sp>
      <p:cxnSp>
        <p:nvCxnSpPr>
          <p:cNvPr id="32" name="Connector 31"/>
          <p:cNvCxnSpPr/>
          <p:nvPr/>
        </p:nvCxnSpPr>
        <p:spPr>
          <a:xfrm flipH="1">
            <a:off x="3063240" y="3916679"/>
            <a:ext cx="1013460" cy="0"/>
          </a:xfrm>
          <a:prstGeom prst="line">
            <a:avLst/>
          </a:prstGeom>
          <a:ln w="15240">
            <a:solidFill>
              <a:srgbClr val="315E9C"/>
            </a:solidFill>
          </a:ln>
          <a:effectLst/>
        </p:spPr>
      </p:cxnSp>
      <p:sp>
        <p:nvSpPr>
          <p:cNvPr id="33" name="Freeform 32"/>
          <p:cNvSpPr/>
          <p:nvPr/>
        </p:nvSpPr>
        <p:spPr>
          <a:xfrm>
            <a:off x="3063240" y="387858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353300" y="3916679"/>
            <a:ext cx="876300" cy="0"/>
          </a:xfrm>
          <a:prstGeom prst="line">
            <a:avLst/>
          </a:prstGeom>
          <a:ln w="15240">
            <a:solidFill>
              <a:srgbClr val="315E9C"/>
            </a:solidFill>
          </a:ln>
          <a:effectLst/>
        </p:spPr>
      </p:cxnSp>
      <p:sp>
        <p:nvSpPr>
          <p:cNvPr id="35" name="Freeform 34"/>
          <p:cNvSpPr/>
          <p:nvPr/>
        </p:nvSpPr>
        <p:spPr>
          <a:xfrm>
            <a:off x="8130540" y="38785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6" name="Connector 35"/>
          <p:cNvCxnSpPr/>
          <p:nvPr/>
        </p:nvCxnSpPr>
        <p:spPr>
          <a:xfrm flipV="1">
            <a:off x="1805939" y="3154679"/>
            <a:ext cx="0" cy="312421"/>
          </a:xfrm>
          <a:prstGeom prst="line">
            <a:avLst/>
          </a:prstGeom>
          <a:ln w="15240">
            <a:solidFill>
              <a:srgbClr val="315E9C"/>
            </a:solidFill>
          </a:ln>
          <a:effectLst/>
        </p:spPr>
      </p:cxnSp>
      <p:cxnSp>
        <p:nvCxnSpPr>
          <p:cNvPr id="37" name="Connector 36"/>
          <p:cNvCxnSpPr/>
          <p:nvPr/>
        </p:nvCxnSpPr>
        <p:spPr>
          <a:xfrm>
            <a:off x="1805939" y="3154679"/>
            <a:ext cx="8130541" cy="0"/>
          </a:xfrm>
          <a:prstGeom prst="line">
            <a:avLst/>
          </a:prstGeom>
          <a:ln w="15240">
            <a:solidFill>
              <a:srgbClr val="315E9C"/>
            </a:solidFill>
          </a:ln>
          <a:effectLst/>
        </p:spPr>
      </p:cxnSp>
      <p:cxnSp>
        <p:nvCxnSpPr>
          <p:cNvPr id="38" name="Connector 37"/>
          <p:cNvCxnSpPr/>
          <p:nvPr/>
        </p:nvCxnSpPr>
        <p:spPr>
          <a:xfrm>
            <a:off x="9936480" y="3154679"/>
            <a:ext cx="0" cy="312421"/>
          </a:xfrm>
          <a:prstGeom prst="line">
            <a:avLst/>
          </a:prstGeom>
          <a:ln w="15240">
            <a:solidFill>
              <a:srgbClr val="315E9C"/>
            </a:solidFill>
          </a:ln>
          <a:effectLst/>
        </p:spPr>
      </p:cxnSp>
      <p:sp>
        <p:nvSpPr>
          <p:cNvPr id="39" name="Freeform 38"/>
          <p:cNvSpPr/>
          <p:nvPr/>
        </p:nvSpPr>
        <p:spPr>
          <a:xfrm>
            <a:off x="989838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0" name="TextBox 39"/>
          <p:cNvSpPr txBox="1"/>
          <p:nvPr/>
        </p:nvSpPr>
        <p:spPr>
          <a:xfrm>
            <a:off x="6096000" y="29413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Submit → get(input) · worker → get / create</a:t>
            </a:r>
          </a:p>
        </p:txBody>
      </p:sp>
      <p:sp>
        <p:nvSpPr>
          <p:cNvPr id="41" name="Rounded Rectangle 40"/>
          <p:cNvSpPr/>
          <p:nvPr/>
        </p:nvSpPr>
        <p:spPr>
          <a:xfrm>
            <a:off x="4076700" y="5158740"/>
            <a:ext cx="3276600" cy="800100"/>
          </a:xfrm>
          <a:prstGeom prst="roundRect">
            <a:avLst>
              <a:gd name="adj" fmla="val 12380"/>
            </a:avLst>
          </a:prstGeom>
          <a:solidFill>
            <a:srgbClr val="FFFFFF"/>
          </a:solidFill>
          <a:ln w="7620">
            <a:solidFill>
              <a:srgbClr val="315E9C"/>
            </a:solidFill>
          </a:ln>
          <a:effectLst/>
        </p:spPr>
        <p:txBody>
          <a:bodyPr rtlCol="0" anchor="ctr"/>
          <a:lstStyle/>
          <a:p>
            <a:pPr algn="ctr"/>
          </a:p>
        </p:txBody>
      </p:sp>
      <p:sp>
        <p:nvSpPr>
          <p:cNvPr id="42" name="TextBox 41"/>
          <p:cNvSpPr txBox="1"/>
          <p:nvPr/>
        </p:nvSpPr>
        <p:spPr>
          <a:xfrm>
            <a:off x="4244340" y="5326380"/>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Messaging</a:t>
            </a:r>
          </a:p>
        </p:txBody>
      </p:sp>
      <p:sp>
        <p:nvSpPr>
          <p:cNvPr id="43" name="TextBox 42"/>
          <p:cNvSpPr txBox="1"/>
          <p:nvPr/>
        </p:nvSpPr>
        <p:spPr>
          <a:xfrm>
            <a:off x="4244340" y="5675680"/>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send · poll · ack</a:t>
            </a:r>
          </a:p>
        </p:txBody>
      </p:sp>
      <p:cxnSp>
        <p:nvCxnSpPr>
          <p:cNvPr id="44" name="Connector 43"/>
          <p:cNvCxnSpPr/>
          <p:nvPr/>
        </p:nvCxnSpPr>
        <p:spPr>
          <a:xfrm>
            <a:off x="5715000" y="4381500"/>
            <a:ext cx="0" cy="777240"/>
          </a:xfrm>
          <a:prstGeom prst="line">
            <a:avLst/>
          </a:prstGeom>
          <a:ln w="15240">
            <a:solidFill>
              <a:srgbClr val="315E9C"/>
            </a:solidFill>
          </a:ln>
          <a:effectLst/>
        </p:spPr>
      </p:cxnSp>
      <p:sp>
        <p:nvSpPr>
          <p:cNvPr id="45" name="Freeform 44"/>
          <p:cNvSpPr/>
          <p:nvPr/>
        </p:nvSpPr>
        <p:spPr>
          <a:xfrm>
            <a:off x="5676900" y="505968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6" name="Connector 45"/>
          <p:cNvCxnSpPr/>
          <p:nvPr/>
        </p:nvCxnSpPr>
        <p:spPr>
          <a:xfrm>
            <a:off x="1805939" y="4381500"/>
            <a:ext cx="0" cy="1173480"/>
          </a:xfrm>
          <a:prstGeom prst="line">
            <a:avLst/>
          </a:prstGeom>
          <a:ln w="15240">
            <a:solidFill>
              <a:srgbClr val="315E9C"/>
            </a:solidFill>
          </a:ln>
          <a:effectLst/>
        </p:spPr>
      </p:cxnSp>
      <p:cxnSp>
        <p:nvCxnSpPr>
          <p:cNvPr id="47" name="Connector 46"/>
          <p:cNvCxnSpPr/>
          <p:nvPr/>
        </p:nvCxnSpPr>
        <p:spPr>
          <a:xfrm>
            <a:off x="1805939" y="5554980"/>
            <a:ext cx="2270761" cy="0"/>
          </a:xfrm>
          <a:prstGeom prst="line">
            <a:avLst/>
          </a:prstGeom>
          <a:ln w="15240">
            <a:solidFill>
              <a:srgbClr val="315E9C"/>
            </a:solidFill>
          </a:ln>
          <a:effectLst/>
        </p:spPr>
      </p:cxnSp>
      <p:sp>
        <p:nvSpPr>
          <p:cNvPr id="48" name="Freeform 47"/>
          <p:cNvSpPr/>
          <p:nvPr/>
        </p:nvSpPr>
        <p:spPr>
          <a:xfrm>
            <a:off x="3977640" y="55168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9" name="TextBox 48"/>
          <p:cNvSpPr txBox="1"/>
          <p:nvPr/>
        </p:nvSpPr>
        <p:spPr>
          <a:xfrm>
            <a:off x="2148840" y="4770120"/>
            <a:ext cx="3276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315E9C"/>
                </a:solidFill>
                <a:latin typeface="DejaVu Sans"/>
              </a:rPr>
              <a:t>Outbox → CompletionDelivery.accept</a:t>
            </a:r>
          </a:p>
        </p:txBody>
      </p:sp>
      <p:cxnSp>
        <p:nvCxnSpPr>
          <p:cNvPr id="50" name="Connector 49"/>
          <p:cNvCxnSpPr/>
          <p:nvPr/>
        </p:nvCxnSpPr>
        <p:spPr>
          <a:xfrm>
            <a:off x="7353300" y="5554980"/>
            <a:ext cx="419100" cy="0"/>
          </a:xfrm>
          <a:prstGeom prst="line">
            <a:avLst/>
          </a:prstGeom>
          <a:ln w="15240">
            <a:solidFill>
              <a:srgbClr val="315E9C"/>
            </a:solidFill>
          </a:ln>
          <a:effectLst/>
        </p:spPr>
      </p:cxnSp>
      <p:cxnSp>
        <p:nvCxnSpPr>
          <p:cNvPr id="51" name="Connector 50"/>
          <p:cNvCxnSpPr/>
          <p:nvPr/>
        </p:nvCxnSpPr>
        <p:spPr>
          <a:xfrm flipV="1">
            <a:off x="7772400" y="4191000"/>
            <a:ext cx="0" cy="1363980"/>
          </a:xfrm>
          <a:prstGeom prst="line">
            <a:avLst/>
          </a:prstGeom>
          <a:ln w="15240">
            <a:solidFill>
              <a:srgbClr val="315E9C"/>
            </a:solidFill>
          </a:ln>
          <a:effectLst/>
        </p:spPr>
      </p:cxnSp>
      <p:cxnSp>
        <p:nvCxnSpPr>
          <p:cNvPr id="52" name="Connector 51"/>
          <p:cNvCxnSpPr/>
          <p:nvPr/>
        </p:nvCxnSpPr>
        <p:spPr>
          <a:xfrm>
            <a:off x="7772400" y="4191000"/>
            <a:ext cx="457200" cy="0"/>
          </a:xfrm>
          <a:prstGeom prst="line">
            <a:avLst/>
          </a:prstGeom>
          <a:ln w="15240">
            <a:solidFill>
              <a:srgbClr val="315E9C"/>
            </a:solidFill>
          </a:ln>
          <a:effectLst/>
        </p:spPr>
      </p:cxnSp>
      <p:sp>
        <p:nvSpPr>
          <p:cNvPr id="53" name="Freeform 52"/>
          <p:cNvSpPr/>
          <p:nvPr/>
        </p:nvSpPr>
        <p:spPr>
          <a:xfrm>
            <a:off x="8130540" y="4152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54" name="TextBox 53"/>
          <p:cNvSpPr txBox="1"/>
          <p:nvPr/>
        </p:nvSpPr>
        <p:spPr>
          <a:xfrm>
            <a:off x="6111240" y="4770120"/>
            <a:ext cx="1600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send → get(ref)</a:t>
            </a:r>
          </a:p>
        </p:txBody>
      </p:sp>
      <p:sp>
        <p:nvSpPr>
          <p:cNvPr id="55" name="Rounded Rectangle 54"/>
          <p:cNvSpPr/>
          <p:nvPr/>
        </p:nvSpPr>
        <p:spPr>
          <a:xfrm>
            <a:off x="8229600" y="5158740"/>
            <a:ext cx="34137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56" name="TextBox 55"/>
          <p:cNvSpPr txBox="1"/>
          <p:nvPr/>
        </p:nvSpPr>
        <p:spPr>
          <a:xfrm>
            <a:off x="8397240" y="5326380"/>
            <a:ext cx="30784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DeTTa DA / FileStorage</a:t>
            </a:r>
          </a:p>
        </p:txBody>
      </p:sp>
      <p:sp>
        <p:nvSpPr>
          <p:cNvPr id="57" name="TextBox 56"/>
          <p:cNvSpPr txBox="1"/>
          <p:nvPr/>
        </p:nvSpPr>
        <p:spPr>
          <a:xfrm>
            <a:off x="8397240" y="5665927"/>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Opaque put · get · availability</a:t>
            </a:r>
          </a:p>
        </p:txBody>
      </p:sp>
      <p:cxnSp>
        <p:nvCxnSpPr>
          <p:cNvPr id="58" name="Connector 57"/>
          <p:cNvCxnSpPr/>
          <p:nvPr/>
        </p:nvCxnSpPr>
        <p:spPr>
          <a:xfrm>
            <a:off x="9936480" y="4381500"/>
            <a:ext cx="0" cy="777240"/>
          </a:xfrm>
          <a:prstGeom prst="line">
            <a:avLst/>
          </a:prstGeom>
          <a:ln w="15240">
            <a:solidFill>
              <a:srgbClr val="007C78"/>
            </a:solidFill>
          </a:ln>
          <a:effectLst/>
        </p:spPr>
      </p:cxnSp>
      <p:sp>
        <p:nvSpPr>
          <p:cNvPr id="59" name="Freeform 58"/>
          <p:cNvSpPr/>
          <p:nvPr/>
        </p:nvSpPr>
        <p:spPr>
          <a:xfrm>
            <a:off x="989838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60" name="TextBox 59"/>
          <p:cNvSpPr txBox="1"/>
          <p:nvPr/>
        </p:nvSpPr>
        <p:spPr>
          <a:xfrm>
            <a:off x="662940" y="6065520"/>
            <a:ext cx="10363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M4 adds a separate commitment caller after acceptance; this original inspect path stays unchanged.</a:t>
            </a:r>
          </a:p>
        </p:txBody>
      </p:sp>
      <p:cxnSp>
        <p:nvCxnSpPr>
          <p:cNvPr id="61" name="Connector 60"/>
          <p:cNvCxnSpPr/>
          <p:nvPr/>
        </p:nvCxnSpPr>
        <p:spPr>
          <a:xfrm>
            <a:off x="548640" y="6393180"/>
            <a:ext cx="11094720" cy="0"/>
          </a:xfrm>
          <a:prstGeom prst="line">
            <a:avLst/>
          </a:prstGeom>
          <a:ln w="7620">
            <a:solidFill>
              <a:srgbClr val="C9D2D4"/>
            </a:solidFill>
          </a:ln>
          <a:effectLst/>
        </p:spPr>
      </p:cxnSp>
      <p:sp>
        <p:nvSpPr>
          <p:cNvPr id="62" name="TextBox 6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program.py · ports.py · execution.py</a:t>
            </a:r>
          </a:p>
        </p:txBody>
      </p:sp>
      <p:sp>
        <p:nvSpPr>
          <p:cNvPr id="63" name="TextBox 6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M4 SHARED WORKFLOW</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Function dependencies: an approved result reaches finality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native sibling consumes the completed inspect result; private cognition has no chain dependency.</a:t>
            </a:r>
          </a:p>
        </p:txBody>
      </p:sp>
      <p:sp>
        <p:nvSpPr>
          <p:cNvPr id="5" name="Rounded Rectangle 4"/>
          <p:cNvSpPr/>
          <p:nvPr/>
        </p:nvSpPr>
        <p:spPr>
          <a:xfrm>
            <a:off x="548640" y="1859280"/>
            <a:ext cx="3200400" cy="1036319"/>
          </a:xfrm>
          <a:prstGeom prst="roundRect">
            <a:avLst>
              <a:gd name="adj" fmla="val 9558"/>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2692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Hive dispatch</a:t>
            </a:r>
          </a:p>
        </p:txBody>
      </p:sp>
      <p:sp>
        <p:nvSpPr>
          <p:cNvPr id="7" name="TextBox 6"/>
          <p:cNvSpPr txBox="1"/>
          <p:nvPr/>
        </p:nvSpPr>
        <p:spPr>
          <a:xfrm>
            <a:off x="716280" y="2385974"/>
            <a:ext cx="2865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Authenticated</a:t>
            </a:r>
          </a:p>
        </p:txBody>
      </p:sp>
      <p:sp>
        <p:nvSpPr>
          <p:cNvPr id="8" name="TextBox 7"/>
          <p:cNvSpPr txBox="1"/>
          <p:nvPr/>
        </p:nvSpPr>
        <p:spPr>
          <a:xfrm>
            <a:off x="716280" y="2610307"/>
            <a:ext cx="2865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original_command</a:t>
            </a:r>
          </a:p>
        </p:txBody>
      </p:sp>
      <p:sp>
        <p:nvSpPr>
          <p:cNvPr id="9" name="Rounded Rectangle 8"/>
          <p:cNvSpPr/>
          <p:nvPr/>
        </p:nvSpPr>
        <p:spPr>
          <a:xfrm>
            <a:off x="4480560" y="1859280"/>
            <a:ext cx="3200400" cy="1036319"/>
          </a:xfrm>
          <a:prstGeom prst="roundRect">
            <a:avLst>
              <a:gd name="adj" fmla="val 9558"/>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648200" y="202692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fusion-commitment</a:t>
            </a:r>
          </a:p>
        </p:txBody>
      </p:sp>
      <p:sp>
        <p:nvSpPr>
          <p:cNvPr id="11" name="TextBox 10"/>
          <p:cNvSpPr txBox="1"/>
          <p:nvPr/>
        </p:nvSpPr>
        <p:spPr>
          <a:xfrm>
            <a:off x="4648200" y="2385974"/>
            <a:ext cx="2865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commit /</a:t>
            </a:r>
          </a:p>
        </p:txBody>
      </p:sp>
      <p:sp>
        <p:nvSpPr>
          <p:cNvPr id="12" name="TextBox 11"/>
          <p:cNvSpPr txBox="1"/>
          <p:nvPr/>
        </p:nvSpPr>
        <p:spPr>
          <a:xfrm>
            <a:off x="4648200" y="2600553"/>
            <a:ext cx="2865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observe(original_command)</a:t>
            </a:r>
          </a:p>
        </p:txBody>
      </p:sp>
      <p:sp>
        <p:nvSpPr>
          <p:cNvPr id="13" name="Rounded Rectangle 12"/>
          <p:cNvSpPr/>
          <p:nvPr/>
        </p:nvSpPr>
        <p:spPr>
          <a:xfrm>
            <a:off x="8412480" y="1859280"/>
            <a:ext cx="3230879" cy="1036319"/>
          </a:xfrm>
          <a:prstGeom prst="roundRect">
            <a:avLst>
              <a:gd name="adj" fmla="val 9558"/>
            </a:avLst>
          </a:prstGeom>
          <a:solidFill>
            <a:srgbClr val="E4EBF5"/>
          </a:solidFill>
          <a:ln w="7620">
            <a:solidFill>
              <a:srgbClr val="315E9C"/>
            </a:solidFill>
          </a:ln>
          <a:effectLst/>
        </p:spPr>
        <p:txBody>
          <a:bodyPr rtlCol="0" anchor="ctr"/>
          <a:lstStyle/>
          <a:p>
            <a:pPr algn="ctr"/>
          </a:p>
        </p:txBody>
      </p:sp>
      <p:sp>
        <p:nvSpPr>
          <p:cNvPr id="14" name="TextBox 13"/>
          <p:cNvSpPr txBox="1"/>
          <p:nvPr/>
        </p:nvSpPr>
        <p:spPr>
          <a:xfrm>
            <a:off x="8580120" y="2026920"/>
            <a:ext cx="28956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Operator policy</a:t>
            </a:r>
          </a:p>
        </p:txBody>
      </p:sp>
      <p:sp>
        <p:nvSpPr>
          <p:cNvPr id="15" name="TextBox 14"/>
          <p:cNvSpPr txBox="1"/>
          <p:nvPr/>
        </p:nvSpPr>
        <p:spPr>
          <a:xfrm>
            <a:off x="8580120" y="2385974"/>
            <a:ext cx="2895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result + actor + chain +</a:t>
            </a:r>
          </a:p>
        </p:txBody>
      </p:sp>
      <p:sp>
        <p:nvSpPr>
          <p:cNvPr id="16" name="TextBox 15"/>
          <p:cNvSpPr txBox="1"/>
          <p:nvPr/>
        </p:nvSpPr>
        <p:spPr>
          <a:xfrm>
            <a:off x="8580120" y="2610307"/>
            <a:ext cx="2895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signer</a:t>
            </a:r>
          </a:p>
        </p:txBody>
      </p:sp>
      <p:cxnSp>
        <p:nvCxnSpPr>
          <p:cNvPr id="17" name="Connector 16"/>
          <p:cNvCxnSpPr/>
          <p:nvPr/>
        </p:nvCxnSpPr>
        <p:spPr>
          <a:xfrm>
            <a:off x="3749040" y="2377440"/>
            <a:ext cx="731520" cy="0"/>
          </a:xfrm>
          <a:prstGeom prst="line">
            <a:avLst/>
          </a:prstGeom>
          <a:ln w="15240">
            <a:solidFill>
              <a:srgbClr val="007C78"/>
            </a:solidFill>
          </a:ln>
          <a:effectLst/>
        </p:spPr>
      </p:cxnSp>
      <p:sp>
        <p:nvSpPr>
          <p:cNvPr id="18" name="Freeform 17"/>
          <p:cNvSpPr/>
          <p:nvPr/>
        </p:nvSpPr>
        <p:spPr>
          <a:xfrm>
            <a:off x="438150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680959" y="2377440"/>
            <a:ext cx="731521" cy="0"/>
          </a:xfrm>
          <a:prstGeom prst="line">
            <a:avLst/>
          </a:prstGeom>
          <a:ln w="15240">
            <a:solidFill>
              <a:srgbClr val="315E9C"/>
            </a:solidFill>
          </a:ln>
          <a:effectLst/>
        </p:spPr>
      </p:cxnSp>
      <p:sp>
        <p:nvSpPr>
          <p:cNvPr id="20" name="Freeform 19"/>
          <p:cNvSpPr/>
          <p:nvPr/>
        </p:nvSpPr>
        <p:spPr>
          <a:xfrm>
            <a:off x="831342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548640" y="3276600"/>
            <a:ext cx="3200400" cy="861060"/>
          </a:xfrm>
          <a:prstGeom prst="roundRect">
            <a:avLst>
              <a:gd name="adj" fmla="val 11504"/>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716280" y="3444240"/>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Completed-result accessor</a:t>
            </a:r>
          </a:p>
        </p:txBody>
      </p:sp>
      <p:sp>
        <p:nvSpPr>
          <p:cNvPr id="23" name="TextBox 22"/>
          <p:cNvSpPr txBox="1"/>
          <p:nvPr/>
        </p:nvSpPr>
        <p:spPr>
          <a:xfrm>
            <a:off x="716280" y="3754526"/>
            <a:ext cx="28651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Read inspect acceptance + ack</a:t>
            </a:r>
          </a:p>
        </p:txBody>
      </p:sp>
      <p:sp>
        <p:nvSpPr>
          <p:cNvPr id="24" name="Rounded Rectangle 23"/>
          <p:cNvSpPr/>
          <p:nvPr/>
        </p:nvSpPr>
        <p:spPr>
          <a:xfrm>
            <a:off x="548640" y="4396740"/>
            <a:ext cx="3200400" cy="861060"/>
          </a:xfrm>
          <a:prstGeom prst="roundRect">
            <a:avLst>
              <a:gd name="adj" fmla="val 11504"/>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716280" y="456438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AtomStorage → DeTTa</a:t>
            </a:r>
          </a:p>
        </p:txBody>
      </p:sp>
      <p:sp>
        <p:nvSpPr>
          <p:cNvPr id="26" name="TextBox 25"/>
          <p:cNvSpPr txBox="1"/>
          <p:nvPr/>
        </p:nvSpPr>
        <p:spPr>
          <a:xfrm>
            <a:off x="716280" y="4923434"/>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Re-read exact shared bytes</a:t>
            </a:r>
          </a:p>
        </p:txBody>
      </p:sp>
      <p:sp>
        <p:nvSpPr>
          <p:cNvPr id="27" name="Rounded Rectangle 26"/>
          <p:cNvSpPr/>
          <p:nvPr/>
        </p:nvSpPr>
        <p:spPr>
          <a:xfrm>
            <a:off x="4480560" y="3832860"/>
            <a:ext cx="3200400" cy="1066800"/>
          </a:xfrm>
          <a:prstGeom prst="roundRect">
            <a:avLst>
              <a:gd name="adj" fmla="val 9285"/>
            </a:avLst>
          </a:prstGeom>
          <a:solidFill>
            <a:srgbClr val="E4EBF5"/>
          </a:solidFill>
          <a:ln w="7620">
            <a:solidFill>
              <a:srgbClr val="315E9C"/>
            </a:solidFill>
          </a:ln>
          <a:effectLst/>
        </p:spPr>
        <p:txBody>
          <a:bodyPr rtlCol="0" anchor="ctr"/>
          <a:lstStyle/>
          <a:p>
            <a:pPr algn="ctr"/>
          </a:p>
        </p:txBody>
      </p:sp>
      <p:sp>
        <p:nvSpPr>
          <p:cNvPr id="28" name="TextBox 27"/>
          <p:cNvSpPr txBox="1"/>
          <p:nvPr/>
        </p:nvSpPr>
        <p:spPr>
          <a:xfrm>
            <a:off x="4648200" y="400050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ConsensusFinality</a:t>
            </a:r>
          </a:p>
        </p:txBody>
      </p:sp>
      <p:sp>
        <p:nvSpPr>
          <p:cNvPr id="29" name="TextBox 28"/>
          <p:cNvSpPr txBox="1"/>
          <p:nvPr/>
        </p:nvSpPr>
        <p:spPr>
          <a:xfrm>
            <a:off x="4648200" y="4359554"/>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 · observe</a:t>
            </a:r>
          </a:p>
        </p:txBody>
      </p:sp>
      <p:sp>
        <p:nvSpPr>
          <p:cNvPr id="30" name="TextBox 29"/>
          <p:cNvSpPr txBox="1"/>
          <p:nvPr/>
        </p:nvSpPr>
        <p:spPr>
          <a:xfrm>
            <a:off x="4648200" y="4593640"/>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Logical intent + signed journal</a:t>
            </a:r>
          </a:p>
        </p:txBody>
      </p:sp>
      <p:sp>
        <p:nvSpPr>
          <p:cNvPr id="31" name="Rounded Rectangle 30"/>
          <p:cNvSpPr/>
          <p:nvPr/>
        </p:nvSpPr>
        <p:spPr>
          <a:xfrm>
            <a:off x="8412480" y="3832860"/>
            <a:ext cx="3230879" cy="1066800"/>
          </a:xfrm>
          <a:prstGeom prst="roundRect">
            <a:avLst>
              <a:gd name="adj" fmla="val 9285"/>
            </a:avLst>
          </a:prstGeom>
          <a:solidFill>
            <a:srgbClr val="DCEFE8"/>
          </a:solidFill>
          <a:ln w="7620">
            <a:solidFill>
              <a:srgbClr val="007C78"/>
            </a:solidFill>
          </a:ln>
          <a:effectLst/>
        </p:spPr>
        <p:txBody>
          <a:bodyPr rtlCol="0" anchor="ctr"/>
          <a:lstStyle/>
          <a:p>
            <a:pPr algn="ctr"/>
          </a:p>
        </p:txBody>
      </p:sp>
      <p:sp>
        <p:nvSpPr>
          <p:cNvPr id="32" name="TextBox 31"/>
          <p:cNvSpPr txBox="1"/>
          <p:nvPr/>
        </p:nvSpPr>
        <p:spPr>
          <a:xfrm>
            <a:off x="8580120" y="4000500"/>
            <a:ext cx="28956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Real local F1R3node</a:t>
            </a:r>
          </a:p>
        </p:txBody>
      </p:sp>
      <p:sp>
        <p:nvSpPr>
          <p:cNvPr id="33" name="TextBox 32"/>
          <p:cNvSpPr txBox="1"/>
          <p:nvPr/>
        </p:nvSpPr>
        <p:spPr>
          <a:xfrm>
            <a:off x="8580120" y="4359554"/>
            <a:ext cx="28956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Fixed tuple → inclusion post-state</a:t>
            </a:r>
          </a:p>
        </p:txBody>
      </p:sp>
      <p:sp>
        <p:nvSpPr>
          <p:cNvPr id="34" name="TextBox 33"/>
          <p:cNvSpPr txBox="1"/>
          <p:nvPr/>
        </p:nvSpPr>
        <p:spPr>
          <a:xfrm>
            <a:off x="8580120" y="4574133"/>
            <a:ext cx="28956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Matching deploy-effect finality</a:t>
            </a:r>
          </a:p>
        </p:txBody>
      </p:sp>
      <p:cxnSp>
        <p:nvCxnSpPr>
          <p:cNvPr id="35" name="Connector 34"/>
          <p:cNvCxnSpPr/>
          <p:nvPr/>
        </p:nvCxnSpPr>
        <p:spPr>
          <a:xfrm>
            <a:off x="6080759" y="2895600"/>
            <a:ext cx="0" cy="937260"/>
          </a:xfrm>
          <a:prstGeom prst="line">
            <a:avLst/>
          </a:prstGeom>
          <a:ln w="15240">
            <a:solidFill>
              <a:srgbClr val="315E9C"/>
            </a:solidFill>
          </a:ln>
          <a:effectLst/>
        </p:spPr>
      </p:cxnSp>
      <p:sp>
        <p:nvSpPr>
          <p:cNvPr id="36" name="Freeform 35"/>
          <p:cNvSpPr/>
          <p:nvPr/>
        </p:nvSpPr>
        <p:spPr>
          <a:xfrm>
            <a:off x="6042660" y="373380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37" name="Connector 36"/>
          <p:cNvCxnSpPr/>
          <p:nvPr/>
        </p:nvCxnSpPr>
        <p:spPr>
          <a:xfrm>
            <a:off x="4953000" y="2895600"/>
            <a:ext cx="0" cy="342900"/>
          </a:xfrm>
          <a:prstGeom prst="line">
            <a:avLst/>
          </a:prstGeom>
          <a:ln w="15240">
            <a:solidFill>
              <a:srgbClr val="315E9C"/>
            </a:solidFill>
          </a:ln>
          <a:effectLst/>
        </p:spPr>
      </p:cxnSp>
      <p:cxnSp>
        <p:nvCxnSpPr>
          <p:cNvPr id="38" name="Connector 37"/>
          <p:cNvCxnSpPr/>
          <p:nvPr/>
        </p:nvCxnSpPr>
        <p:spPr>
          <a:xfrm flipH="1">
            <a:off x="4076700" y="3238500"/>
            <a:ext cx="876300" cy="0"/>
          </a:xfrm>
          <a:prstGeom prst="line">
            <a:avLst/>
          </a:prstGeom>
          <a:ln w="15240">
            <a:solidFill>
              <a:srgbClr val="315E9C"/>
            </a:solidFill>
          </a:ln>
          <a:effectLst/>
        </p:spPr>
      </p:cxnSp>
      <p:cxnSp>
        <p:nvCxnSpPr>
          <p:cNvPr id="39" name="Connector 38"/>
          <p:cNvCxnSpPr/>
          <p:nvPr/>
        </p:nvCxnSpPr>
        <p:spPr>
          <a:xfrm>
            <a:off x="4076700" y="3238500"/>
            <a:ext cx="0" cy="464819"/>
          </a:xfrm>
          <a:prstGeom prst="line">
            <a:avLst/>
          </a:prstGeom>
          <a:ln w="15240">
            <a:solidFill>
              <a:srgbClr val="315E9C"/>
            </a:solidFill>
          </a:ln>
          <a:effectLst/>
        </p:spPr>
      </p:cxnSp>
      <p:cxnSp>
        <p:nvCxnSpPr>
          <p:cNvPr id="40" name="Connector 39"/>
          <p:cNvCxnSpPr/>
          <p:nvPr/>
        </p:nvCxnSpPr>
        <p:spPr>
          <a:xfrm flipH="1">
            <a:off x="3749040" y="3703319"/>
            <a:ext cx="327660" cy="0"/>
          </a:xfrm>
          <a:prstGeom prst="line">
            <a:avLst/>
          </a:prstGeom>
          <a:ln w="15240">
            <a:solidFill>
              <a:srgbClr val="315E9C"/>
            </a:solidFill>
          </a:ln>
          <a:effectLst/>
        </p:spPr>
      </p:cxnSp>
      <p:sp>
        <p:nvSpPr>
          <p:cNvPr id="41" name="Freeform 40"/>
          <p:cNvSpPr/>
          <p:nvPr/>
        </p:nvSpPr>
        <p:spPr>
          <a:xfrm>
            <a:off x="3749040" y="366522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42" name="Connector 41"/>
          <p:cNvCxnSpPr/>
          <p:nvPr/>
        </p:nvCxnSpPr>
        <p:spPr>
          <a:xfrm>
            <a:off x="5410200" y="2895600"/>
            <a:ext cx="0" cy="624840"/>
          </a:xfrm>
          <a:prstGeom prst="line">
            <a:avLst/>
          </a:prstGeom>
          <a:ln w="15240">
            <a:solidFill>
              <a:srgbClr val="007C78"/>
            </a:solidFill>
          </a:ln>
          <a:effectLst/>
        </p:spPr>
      </p:cxnSp>
      <p:cxnSp>
        <p:nvCxnSpPr>
          <p:cNvPr id="43" name="Connector 42"/>
          <p:cNvCxnSpPr/>
          <p:nvPr/>
        </p:nvCxnSpPr>
        <p:spPr>
          <a:xfrm flipH="1">
            <a:off x="4191000" y="3520440"/>
            <a:ext cx="1219200" cy="0"/>
          </a:xfrm>
          <a:prstGeom prst="line">
            <a:avLst/>
          </a:prstGeom>
          <a:ln w="15240">
            <a:solidFill>
              <a:srgbClr val="007C78"/>
            </a:solidFill>
          </a:ln>
          <a:effectLst/>
        </p:spPr>
      </p:cxnSp>
      <p:cxnSp>
        <p:nvCxnSpPr>
          <p:cNvPr id="44" name="Connector 43"/>
          <p:cNvCxnSpPr/>
          <p:nvPr/>
        </p:nvCxnSpPr>
        <p:spPr>
          <a:xfrm>
            <a:off x="4191000" y="3520440"/>
            <a:ext cx="0" cy="1303020"/>
          </a:xfrm>
          <a:prstGeom prst="line">
            <a:avLst/>
          </a:prstGeom>
          <a:ln w="15240">
            <a:solidFill>
              <a:srgbClr val="007C78"/>
            </a:solidFill>
          </a:ln>
          <a:effectLst/>
        </p:spPr>
      </p:cxnSp>
      <p:cxnSp>
        <p:nvCxnSpPr>
          <p:cNvPr id="45" name="Connector 44"/>
          <p:cNvCxnSpPr/>
          <p:nvPr/>
        </p:nvCxnSpPr>
        <p:spPr>
          <a:xfrm flipH="1">
            <a:off x="3749040" y="4823460"/>
            <a:ext cx="441960" cy="0"/>
          </a:xfrm>
          <a:prstGeom prst="line">
            <a:avLst/>
          </a:prstGeom>
          <a:ln w="15240">
            <a:solidFill>
              <a:srgbClr val="007C78"/>
            </a:solidFill>
          </a:ln>
          <a:effectLst/>
        </p:spPr>
      </p:cxnSp>
      <p:sp>
        <p:nvSpPr>
          <p:cNvPr id="46" name="Freeform 45"/>
          <p:cNvSpPr/>
          <p:nvPr/>
        </p:nvSpPr>
        <p:spPr>
          <a:xfrm>
            <a:off x="3749040" y="478536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7" name="TextBox 46"/>
          <p:cNvSpPr txBox="1"/>
          <p:nvPr/>
        </p:nvSpPr>
        <p:spPr>
          <a:xfrm>
            <a:off x="6225540" y="32461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Typed session + explicit descriptor/profile</a:t>
            </a:r>
          </a:p>
        </p:txBody>
      </p:sp>
      <p:cxnSp>
        <p:nvCxnSpPr>
          <p:cNvPr id="48" name="Connector 47"/>
          <p:cNvCxnSpPr/>
          <p:nvPr/>
        </p:nvCxnSpPr>
        <p:spPr>
          <a:xfrm>
            <a:off x="7680959" y="4366260"/>
            <a:ext cx="731521" cy="0"/>
          </a:xfrm>
          <a:prstGeom prst="line">
            <a:avLst/>
          </a:prstGeom>
          <a:ln w="15240">
            <a:solidFill>
              <a:srgbClr val="007C78"/>
            </a:solidFill>
          </a:ln>
          <a:effectLst/>
        </p:spPr>
      </p:cxnSp>
      <p:sp>
        <p:nvSpPr>
          <p:cNvPr id="49" name="Freeform 48"/>
          <p:cNvSpPr/>
          <p:nvPr/>
        </p:nvSpPr>
        <p:spPr>
          <a:xfrm>
            <a:off x="8313420" y="43281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50" name="Rounded Rectangle 49"/>
          <p:cNvSpPr/>
          <p:nvPr/>
        </p:nvSpPr>
        <p:spPr>
          <a:xfrm>
            <a:off x="548640" y="5455920"/>
            <a:ext cx="11094720" cy="800100"/>
          </a:xfrm>
          <a:prstGeom prst="roundRect">
            <a:avLst>
              <a:gd name="adj" fmla="val 12380"/>
            </a:avLst>
          </a:prstGeom>
          <a:solidFill>
            <a:srgbClr val="E7ECEB"/>
          </a:solidFill>
          <a:ln w="7620">
            <a:solidFill>
              <a:srgbClr val="315E9C"/>
            </a:solidFill>
          </a:ln>
          <a:effectLst/>
        </p:spPr>
        <p:txBody>
          <a:bodyPr rtlCol="0" anchor="ctr"/>
          <a:lstStyle/>
          <a:p>
            <a:pPr algn="ctr"/>
          </a:p>
        </p:txBody>
      </p:sp>
      <p:sp>
        <p:nvSpPr>
          <p:cNvPr id="51" name="TextBox 50"/>
          <p:cNvSpPr txBox="1"/>
          <p:nvPr/>
        </p:nvSpPr>
        <p:spPr>
          <a:xfrm>
            <a:off x="716280" y="5623560"/>
            <a:ext cx="107594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Each owner commits separately</a:t>
            </a:r>
          </a:p>
        </p:txBody>
      </p:sp>
      <p:sp>
        <p:nvSpPr>
          <p:cNvPr id="52" name="TextBox 51"/>
          <p:cNvSpPr txBox="1"/>
          <p:nvPr/>
        </p:nvSpPr>
        <p:spPr>
          <a:xfrm>
            <a:off x="716280" y="5982614"/>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DA · job/outbox · messaging · inspect acceptance/ack · signed intent/observation · native progress</a:t>
            </a:r>
          </a:p>
        </p:txBody>
      </p:sp>
      <p:cxnSp>
        <p:nvCxnSpPr>
          <p:cNvPr id="53" name="Connector 52"/>
          <p:cNvCxnSpPr/>
          <p:nvPr/>
        </p:nvCxnSpPr>
        <p:spPr>
          <a:xfrm>
            <a:off x="548640" y="6393180"/>
            <a:ext cx="11094720" cy="0"/>
          </a:xfrm>
          <a:prstGeom prst="line">
            <a:avLst/>
          </a:prstGeom>
          <a:ln w="7620">
            <a:solidFill>
              <a:srgbClr val="C9D2D4"/>
            </a:solidFill>
          </a:ln>
          <a:effectLst/>
        </p:spPr>
      </p:cxnSp>
      <p:sp>
        <p:nvSpPr>
          <p:cNvPr id="54" name="TextBox 5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hive/commitment · completed.py · f1r3_m4.py</a:t>
            </a:r>
          </a:p>
        </p:txBody>
      </p:sp>
      <p:sp>
        <p:nvSpPr>
          <p:cNvPr id="55" name="TextBox 5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BOUNDARY · APPLICATION-NEUTRAL PERSISTENCE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remains application-neutral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external adapter translates application references into generic coordinates and opaque bytes.</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Application contracts</a:t>
            </a:r>
          </a:p>
        </p:txBody>
      </p:sp>
      <p:sp>
        <p:nvSpPr>
          <p:cNvPr id="7" name="TextBox 6"/>
          <p:cNvSpPr txBox="1"/>
          <p:nvPr/>
        </p:nvSpPr>
        <p:spPr>
          <a:xfrm>
            <a:off x="716280" y="2464308"/>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Scope · references · replay</a:t>
            </a:r>
          </a:p>
        </p:txBody>
      </p:sp>
      <p:sp>
        <p:nvSpPr>
          <p:cNvPr id="8" name="TextBox 7"/>
          <p:cNvSpPr txBox="1"/>
          <p:nvPr/>
        </p:nvSpPr>
        <p:spPr>
          <a:xfrm>
            <a:off x="716280" y="2717901"/>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identity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External adapter</a:t>
            </a:r>
          </a:p>
        </p:txBody>
      </p:sp>
      <p:sp>
        <p:nvSpPr>
          <p:cNvPr id="11" name="TextBox 10"/>
          <p:cNvSpPr txBox="1"/>
          <p:nvPr/>
        </p:nvSpPr>
        <p:spPr>
          <a:xfrm>
            <a:off x="4884420" y="2464308"/>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Opaque payload + generic</a:t>
            </a:r>
          </a:p>
        </p:txBody>
      </p:sp>
      <p:sp>
        <p:nvSpPr>
          <p:cNvPr id="12" name="TextBox 11"/>
          <p:cNvSpPr txBox="1"/>
          <p:nvPr/>
        </p:nvSpPr>
        <p:spPr>
          <a:xfrm>
            <a:off x="4884420" y="2717901"/>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DeTTa core</a:t>
            </a:r>
          </a:p>
        </p:txBody>
      </p:sp>
      <p:sp>
        <p:nvSpPr>
          <p:cNvPr id="15" name="TextBox 14"/>
          <p:cNvSpPr txBox="1"/>
          <p:nvPr/>
        </p:nvSpPr>
        <p:spPr>
          <a:xfrm>
            <a:off x="8709660" y="2464308"/>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Cached payload + two shares</a:t>
            </a:r>
          </a:p>
        </p:txBody>
      </p:sp>
      <p:sp>
        <p:nvSpPr>
          <p:cNvPr id="42" name="TextBox 41"/>
          <p:cNvSpPr txBox="1"/>
          <p:nvPr/>
        </p:nvSpPr>
        <p:spPr>
          <a:xfrm>
            <a:off x="8244839" y="4606747"/>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removed: exact bytes recovered. A</a:t>
            </a:r>
          </a:p>
        </p:txBody>
      </p:sp>
      <p:sp>
        <p:nvSpPr>
          <p:cNvPr id="43" name="TextBox 42"/>
          <p:cNvSpPr txBox="1"/>
          <p:nvPr/>
        </p:nvSpPr>
        <p:spPr>
          <a:xfrm>
            <a:off x="8244839" y="4840833"/>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third missing share is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DA core does not interpret Hive identities, truth values, attention balances or job state.</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adapters/detta/src/main.rs · test_contract.py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PROVIDER REPLACEMENT</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Two independent substitutions, one design principle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Select semantics and capabilities explicitly; keep callers independent of provider internals.</a:t>
            </a:r>
          </a:p>
        </p:txBody>
      </p:sp>
      <p:sp>
        <p:nvSpPr>
          <p:cNvPr id="5" name="Rounded Rectangle 4"/>
          <p:cNvSpPr/>
          <p:nvPr/>
        </p:nvSpPr>
        <p:spPr>
          <a:xfrm>
            <a:off x="548640" y="1920239"/>
            <a:ext cx="5364480" cy="2667000"/>
          </a:xfrm>
          <a:prstGeom prst="roundRect">
            <a:avLst>
              <a:gd name="adj" fmla="val 3714"/>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87880"/>
            <a:ext cx="50292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AtomStorage · preserved M1/M2</a:t>
            </a:r>
          </a:p>
        </p:txBody>
      </p:sp>
      <p:sp>
        <p:nvSpPr>
          <p:cNvPr id="7" name="TextBox 6"/>
          <p:cNvSpPr txBox="1"/>
          <p:nvPr/>
        </p:nvSpPr>
        <p:spPr>
          <a:xfrm>
            <a:off x="716280" y="249570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Real local DeTTa or an independent</a:t>
            </a:r>
          </a:p>
        </p:txBody>
      </p:sp>
      <p:sp>
        <p:nvSpPr>
          <p:cNvPr id="8" name="TextBox 7"/>
          <p:cNvSpPr txBox="1"/>
          <p:nvPr/>
        </p:nvSpPr>
        <p:spPr>
          <a:xfrm>
            <a:off x="716280" y="2778556"/>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atomic-file fixture.</a:t>
            </a:r>
          </a:p>
        </p:txBody>
      </p:sp>
      <p:sp>
        <p:nvSpPr>
          <p:cNvPr id="9" name="TextBox 8"/>
          <p:cNvSpPr txBox="1"/>
          <p:nvPr/>
        </p:nvSpPr>
        <p:spPr>
          <a:xfrm>
            <a:off x="716280" y="3061411"/>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34426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In-process and private stdio bindings pass</a:t>
            </a:r>
          </a:p>
        </p:txBody>
      </p:sp>
      <p:sp>
        <p:nvSpPr>
          <p:cNvPr id="11" name="TextBox 10"/>
          <p:cNvSpPr txBox="1"/>
          <p:nvPr/>
        </p:nvSpPr>
        <p:spPr>
          <a:xfrm>
            <a:off x="716280" y="362711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 same workflow.</a:t>
            </a:r>
          </a:p>
        </p:txBody>
      </p:sp>
      <p:sp>
        <p:nvSpPr>
          <p:cNvPr id="12" name="Rounded Rectangle 11"/>
          <p:cNvSpPr/>
          <p:nvPr/>
        </p:nvSpPr>
        <p:spPr>
          <a:xfrm>
            <a:off x="6096000" y="1920239"/>
            <a:ext cx="5547360" cy="2667000"/>
          </a:xfrm>
          <a:prstGeom prst="roundRect">
            <a:avLst>
              <a:gd name="adj" fmla="val 3714"/>
            </a:avLst>
          </a:prstGeom>
          <a:solidFill>
            <a:srgbClr val="E4EBF5"/>
          </a:solidFill>
          <a:ln w="7620">
            <a:solidFill>
              <a:srgbClr val="315E9C"/>
            </a:solidFill>
          </a:ln>
          <a:effectLst/>
        </p:spPr>
        <p:txBody>
          <a:bodyPr rtlCol="0" anchor="ctr"/>
          <a:lstStyle/>
          <a:p>
            <a:pPr algn="ctr"/>
          </a:p>
        </p:txBody>
      </p:sp>
      <p:sp>
        <p:nvSpPr>
          <p:cNvPr id="13" name="TextBox 12"/>
          <p:cNvSpPr txBox="1"/>
          <p:nvPr/>
        </p:nvSpPr>
        <p:spPr>
          <a:xfrm>
            <a:off x="6263640" y="2087880"/>
            <a:ext cx="52120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Attention · new in M3</a:t>
            </a:r>
          </a:p>
        </p:txBody>
      </p:sp>
      <p:sp>
        <p:nvSpPr>
          <p:cNvPr id="14" name="TextBox 13"/>
          <p:cNvSpPr txBox="1"/>
          <p:nvPr/>
        </p:nvSpPr>
        <p:spPr>
          <a:xfrm>
            <a:off x="6263640" y="2495702"/>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SQLite owner or an independent atomic-file</a:t>
            </a:r>
          </a:p>
        </p:txBody>
      </p:sp>
      <p:sp>
        <p:nvSpPr>
          <p:cNvPr id="15" name="TextBox 14"/>
          <p:cNvSpPr txBox="1"/>
          <p:nvPr/>
        </p:nvSpPr>
        <p:spPr>
          <a:xfrm>
            <a:off x="6263640" y="2778556"/>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fixture.</a:t>
            </a:r>
          </a:p>
        </p:txBody>
      </p:sp>
      <p:sp>
        <p:nvSpPr>
          <p:cNvPr id="16" name="TextBox 15"/>
          <p:cNvSpPr txBox="1"/>
          <p:nvPr/>
        </p:nvSpPr>
        <p:spPr>
          <a:xfrm>
            <a:off x="6263640" y="3061411"/>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7" name="TextBox 16"/>
          <p:cNvSpPr txBox="1"/>
          <p:nvPr/>
        </p:nvSpPr>
        <p:spPr>
          <a:xfrm>
            <a:off x="6263640" y="3344265"/>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Same STI policy, tasks and budgets;</a:t>
            </a:r>
          </a:p>
        </p:txBody>
      </p:sp>
      <p:sp>
        <p:nvSpPr>
          <p:cNvPr id="18" name="TextBox 17"/>
          <p:cNvSpPr txBox="1"/>
          <p:nvPr/>
        </p:nvSpPr>
        <p:spPr>
          <a:xfrm>
            <a:off x="6263640" y="3627119"/>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unchanged consumer produces matching</a:t>
            </a:r>
          </a:p>
        </p:txBody>
      </p:sp>
      <p:sp>
        <p:nvSpPr>
          <p:cNvPr id="19" name="TextBox 18"/>
          <p:cNvSpPr txBox="1"/>
          <p:nvPr/>
        </p:nvSpPr>
        <p:spPr>
          <a:xfrm>
            <a:off x="6263640" y="3909974"/>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outcomes.</a:t>
            </a:r>
          </a:p>
        </p:txBody>
      </p:sp>
      <p:sp>
        <p:nvSpPr>
          <p:cNvPr id="20" name="TextBox 19"/>
          <p:cNvSpPr txBox="1"/>
          <p:nvPr/>
        </p:nvSpPr>
        <p:spPr>
          <a:xfrm>
            <a:off x="579120" y="494538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shared owner transitions, inheritance or private-table access in the attention</a:t>
            </a:r>
          </a:p>
        </p:txBody>
      </p:sp>
      <p:sp>
        <p:nvSpPr>
          <p:cNvPr id="21" name="TextBox 20"/>
          <p:cNvSpPr txBox="1"/>
          <p:nvPr/>
        </p:nvSpPr>
        <p:spPr>
          <a:xfrm>
            <a:off x="579120" y="5228234"/>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replacement.</a:t>
            </a:r>
          </a:p>
        </p:txBody>
      </p:sp>
      <p:sp>
        <p:nvSpPr>
          <p:cNvPr id="22" name="Rounded Rectangle 2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3" name="TextBox 22"/>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These are fresh-store replacements. Existing accepted state is not migrated.</a:t>
            </a:r>
          </a:p>
        </p:txBody>
      </p:sp>
      <p:cxnSp>
        <p:nvCxnSpPr>
          <p:cNvPr id="24" name="Connector 23"/>
          <p:cNvCxnSpPr/>
          <p:nvPr/>
        </p:nvCxnSpPr>
        <p:spPr>
          <a:xfrm>
            <a:off x="548640" y="6393180"/>
            <a:ext cx="11094720" cy="0"/>
          </a:xfrm>
          <a:prstGeom prst="line">
            <a:avLst/>
          </a:prstGeom>
          <a:ln w="7620">
            <a:solidFill>
              <a:srgbClr val="C9D2D4"/>
            </a:solidFill>
          </a:ln>
          <a:effectLst/>
        </p:spPr>
      </p:cxnSp>
      <p:sp>
        <p:nvSpPr>
          <p:cNvPr id="25" name="TextBox 2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m11-swap-demo.json · m3/final/comparison.json</a:t>
            </a:r>
          </a:p>
        </p:txBody>
      </p:sp>
      <p:sp>
        <p:nvSpPr>
          <p:cNvPr id="26" name="TextBox 2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PRIVACY AND AUTHORIZATION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Private state has explicit owners and placement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trusted Hive actor maps to an operator-configured private scope and credential.</a:t>
            </a:r>
          </a:p>
        </p:txBody>
      </p:sp>
      <p:sp>
        <p:nvSpPr>
          <p:cNvPr id="5" name="Rounded Rectangle 4"/>
          <p:cNvSpPr/>
          <p:nvPr/>
        </p:nvSpPr>
        <p:spPr>
          <a:xfrm>
            <a:off x="548640" y="1851659"/>
            <a:ext cx="7162800" cy="3710940"/>
          </a:xfrm>
          <a:prstGeom prst="roundRect">
            <a:avLst>
              <a:gd name="adj" fmla="val 2874"/>
            </a:avLst>
          </a:prstGeom>
          <a:solidFill>
            <a:srgbClr val="E4EBF5"/>
          </a:solidFill>
          <a:ln>
            <a:noFill/>
          </a:ln>
          <a:effectLst/>
        </p:spPr>
        <p:txBody>
          <a:bodyPr rtlCol="0" anchor="ctr"/>
          <a:lstStyle/>
          <a:p>
            <a:pPr algn="ctr"/>
          </a:p>
        </p:txBody>
      </p:sp>
      <p:sp>
        <p:nvSpPr>
          <p:cNvPr id="6" name="TextBox 5"/>
          <p:cNvSpPr txBox="1"/>
          <p:nvPr/>
        </p:nvSpPr>
        <p:spPr>
          <a:xfrm>
            <a:off x="746760" y="2042159"/>
            <a:ext cx="6781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PRIVATE LOCAL COMPOSITION</a:t>
            </a:r>
          </a:p>
        </p:txBody>
      </p:sp>
      <p:sp>
        <p:nvSpPr>
          <p:cNvPr id="7" name="Rounded Rectangle 6"/>
          <p:cNvSpPr/>
          <p:nvPr/>
        </p:nvSpPr>
        <p:spPr>
          <a:xfrm>
            <a:off x="74676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91440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C1 · Episodes</a:t>
            </a:r>
          </a:p>
        </p:txBody>
      </p:sp>
      <p:sp>
        <p:nvSpPr>
          <p:cNvPr id="9" name="TextBox 8"/>
          <p:cNvSpPr txBox="1"/>
          <p:nvPr/>
        </p:nvSpPr>
        <p:spPr>
          <a:xfrm>
            <a:off x="91440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History + delivery intents</a:t>
            </a:r>
          </a:p>
        </p:txBody>
      </p:sp>
      <p:sp>
        <p:nvSpPr>
          <p:cNvPr id="10" name="Rounded Rectangle 9"/>
          <p:cNvSpPr/>
          <p:nvPr/>
        </p:nvSpPr>
        <p:spPr>
          <a:xfrm>
            <a:off x="422910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439674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C2 · Beliefs</a:t>
            </a:r>
          </a:p>
        </p:txBody>
      </p:sp>
      <p:sp>
        <p:nvSpPr>
          <p:cNvPr id="12" name="TextBox 11"/>
          <p:cNvSpPr txBox="1"/>
          <p:nvPr/>
        </p:nvSpPr>
        <p:spPr>
          <a:xfrm>
            <a:off x="439674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Supports + exact attempts</a:t>
            </a:r>
          </a:p>
        </p:txBody>
      </p:sp>
      <p:sp>
        <p:nvSpPr>
          <p:cNvPr id="13" name="Rounded Rectangle 12"/>
          <p:cNvSpPr/>
          <p:nvPr/>
        </p:nvSpPr>
        <p:spPr>
          <a:xfrm>
            <a:off x="74676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91440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5" name="TextBox 14"/>
          <p:cNvSpPr txBox="1"/>
          <p:nvPr/>
        </p:nvSpPr>
        <p:spPr>
          <a:xfrm>
            <a:off x="91440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 + clock + causal replay</a:t>
            </a:r>
          </a:p>
        </p:txBody>
      </p:sp>
      <p:sp>
        <p:nvSpPr>
          <p:cNvPr id="16" name="Rounded Rectangle 15"/>
          <p:cNvSpPr/>
          <p:nvPr/>
        </p:nvSpPr>
        <p:spPr>
          <a:xfrm>
            <a:off x="422910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7" name="TextBox 16"/>
          <p:cNvSpPr txBox="1"/>
          <p:nvPr/>
        </p:nvSpPr>
        <p:spPr>
          <a:xfrm>
            <a:off x="439674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Controller</a:t>
            </a:r>
          </a:p>
        </p:txBody>
      </p:sp>
      <p:sp>
        <p:nvSpPr>
          <p:cNvPr id="18" name="TextBox 17"/>
          <p:cNvSpPr txBox="1"/>
          <p:nvPr/>
        </p:nvSpPr>
        <p:spPr>
          <a:xfrm>
            <a:off x="439674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Budgets + progress +</a:t>
            </a:r>
          </a:p>
        </p:txBody>
      </p:sp>
      <p:sp>
        <p:nvSpPr>
          <p:cNvPr id="19" name="TextBox 18"/>
          <p:cNvSpPr txBox="1"/>
          <p:nvPr/>
        </p:nvSpPr>
        <p:spPr>
          <a:xfrm>
            <a:off x="4396740" y="470245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feedback</a:t>
            </a:r>
          </a:p>
        </p:txBody>
      </p:sp>
      <p:sp>
        <p:nvSpPr>
          <p:cNvPr id="20" name="Rounded Rectangle 19"/>
          <p:cNvSpPr/>
          <p:nvPr/>
        </p:nvSpPr>
        <p:spPr>
          <a:xfrm>
            <a:off x="8244839" y="1851659"/>
            <a:ext cx="3398519" cy="1615439"/>
          </a:xfrm>
          <a:prstGeom prst="roundRect">
            <a:avLst>
              <a:gd name="adj" fmla="val 6132"/>
            </a:avLst>
          </a:prstGeom>
          <a:solidFill>
            <a:srgbClr val="DCEFE8"/>
          </a:solidFill>
          <a:ln w="7620">
            <a:solidFill>
              <a:srgbClr val="007C78"/>
            </a:solidFill>
          </a:ln>
          <a:effectLst/>
        </p:spPr>
        <p:txBody>
          <a:bodyPr rtlCol="0" anchor="ctr"/>
          <a:lstStyle/>
          <a:p>
            <a:pPr algn="ctr"/>
          </a:p>
        </p:txBody>
      </p:sp>
      <p:sp>
        <p:nvSpPr>
          <p:cNvPr id="21" name="TextBox 20"/>
          <p:cNvSpPr txBox="1"/>
          <p:nvPr/>
        </p:nvSpPr>
        <p:spPr>
          <a:xfrm>
            <a:off x="8412480" y="2019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Public Hive receipt</a:t>
            </a:r>
          </a:p>
        </p:txBody>
      </p:sp>
      <p:sp>
        <p:nvSpPr>
          <p:cNvPr id="22" name="TextBox 21"/>
          <p:cNvSpPr txBox="1"/>
          <p:nvPr/>
        </p:nvSpPr>
        <p:spPr>
          <a:xfrm>
            <a:off x="8412480" y="2407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counters, status</a:t>
            </a:r>
          </a:p>
        </p:txBody>
      </p:sp>
      <p:sp>
        <p:nvSpPr>
          <p:cNvPr id="23" name="TextBox 22"/>
          <p:cNvSpPr txBox="1"/>
          <p:nvPr/>
        </p:nvSpPr>
        <p:spPr>
          <a:xfrm>
            <a:off x="8412480" y="26807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public command receipt</a:t>
            </a:r>
          </a:p>
        </p:txBody>
      </p:sp>
      <p:sp>
        <p:nvSpPr>
          <p:cNvPr id="24" name="TextBox 23"/>
          <p:cNvSpPr txBox="1"/>
          <p:nvPr/>
        </p:nvSpPr>
        <p:spPr>
          <a:xfrm>
            <a:off x="8412480" y="2953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ID.</a:t>
            </a:r>
          </a:p>
        </p:txBody>
      </p:sp>
      <p:sp>
        <p:nvSpPr>
          <p:cNvPr id="25" name="Rounded Rectangle 24"/>
          <p:cNvSpPr/>
          <p:nvPr/>
        </p:nvSpPr>
        <p:spPr>
          <a:xfrm>
            <a:off x="8244839" y="3756660"/>
            <a:ext cx="3398519" cy="1805939"/>
          </a:xfrm>
          <a:prstGeom prst="roundRect">
            <a:avLst>
              <a:gd name="adj" fmla="val 5485"/>
            </a:avLst>
          </a:prstGeom>
          <a:solidFill>
            <a:srgbClr val="F3E7CE"/>
          </a:solidFill>
          <a:ln w="7620">
            <a:solidFill>
              <a:srgbClr val="A86A15"/>
            </a:solidFill>
          </a:ln>
          <a:effectLst/>
        </p:spPr>
        <p:txBody>
          <a:bodyPr rtlCol="0" anchor="ctr"/>
          <a:lstStyle/>
          <a:p>
            <a:pPr algn="ctr"/>
          </a:p>
        </p:txBody>
      </p:sp>
      <p:sp>
        <p:nvSpPr>
          <p:cNvPr id="26" name="TextBox 25"/>
          <p:cNvSpPr txBox="1"/>
          <p:nvPr/>
        </p:nvSpPr>
        <p:spPr>
          <a:xfrm>
            <a:off x="8412480" y="3924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Private trace</a:t>
            </a:r>
          </a:p>
        </p:txBody>
      </p:sp>
      <p:sp>
        <p:nvSpPr>
          <p:cNvPr id="27" name="TextBox 26"/>
          <p:cNvSpPr txBox="1"/>
          <p:nvPr/>
        </p:nvSpPr>
        <p:spPr>
          <a:xfrm>
            <a:off x="8412480" y="4312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Task/support hashes,</a:t>
            </a:r>
          </a:p>
        </p:txBody>
      </p:sp>
      <p:sp>
        <p:nvSpPr>
          <p:cNvPr id="28" name="TextBox 27"/>
          <p:cNvSpPr txBox="1"/>
          <p:nvPr/>
        </p:nvSpPr>
        <p:spPr>
          <a:xfrm>
            <a:off x="8412480" y="45857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premises, lineage, attention</a:t>
            </a:r>
          </a:p>
        </p:txBody>
      </p:sp>
      <p:sp>
        <p:nvSpPr>
          <p:cNvPr id="29" name="TextBox 28"/>
          <p:cNvSpPr txBox="1"/>
          <p:nvPr/>
        </p:nvSpPr>
        <p:spPr>
          <a:xfrm>
            <a:off x="8412480" y="4858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payloads stay private.</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Shared M1 wire and DA contracts stay unchanged; every owner rechecks current authorization.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cognition.py · inference_program/program.py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CONTRACT DECISIONS BEFORE BEHAVIOR</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Executable contracts make the inference step finite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supported task is explicit, immutable and grounded before the controller starts.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185160" y="1790700"/>
            <a:ext cx="4518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IS FIXED</a:t>
            </a:r>
          </a:p>
        </p:txBody>
      </p:sp>
      <p:sp>
        <p:nvSpPr>
          <p:cNvPr id="7" name="TextBox 6"/>
          <p:cNvSpPr txBox="1"/>
          <p:nvPr/>
        </p:nvSpPr>
        <p:spPr>
          <a:xfrm>
            <a:off x="7947659" y="1790700"/>
            <a:ext cx="3573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MATTERS</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Context + task</a:t>
            </a:r>
          </a:p>
        </p:txBody>
      </p:sp>
      <p:sp>
        <p:nvSpPr>
          <p:cNvPr id="10" name="TextBox 9"/>
          <p:cNvSpPr txBox="1"/>
          <p:nvPr/>
        </p:nvSpPr>
        <p:spPr>
          <a:xfrm>
            <a:off x="3185160" y="224028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context; exact role references</a:t>
            </a:r>
          </a:p>
        </p:txBody>
      </p:sp>
      <p:sp>
        <p:nvSpPr>
          <p:cNvPr id="11" name="TextBox 10"/>
          <p:cNvSpPr txBox="1"/>
          <p:nvPr/>
        </p:nvSpPr>
        <p:spPr>
          <a:xfrm>
            <a:off x="7947659" y="224028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Labels cannot merge distinct identities</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Workset</a:t>
            </a:r>
          </a:p>
        </p:txBody>
      </p:sp>
      <p:sp>
        <p:nvSpPr>
          <p:cNvPr id="14" name="TextBox 13"/>
          <p:cNvSpPr txBox="1"/>
          <p:nvPr/>
        </p:nvSpPr>
        <p:spPr>
          <a:xfrm>
            <a:off x="3185160" y="293370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1–16 unique immutable tasks</a:t>
            </a:r>
          </a:p>
        </p:txBody>
      </p:sp>
      <p:sp>
        <p:nvSpPr>
          <p:cNvPr id="15" name="TextBox 14"/>
          <p:cNvSpPr txBox="1"/>
          <p:nvPr/>
        </p:nvSpPr>
        <p:spPr>
          <a:xfrm>
            <a:off x="7947659" y="293370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search or automatic task</a:t>
            </a:r>
          </a:p>
        </p:txBody>
      </p:sp>
      <p:sp>
        <p:nvSpPr>
          <p:cNvPr id="16" name="TextBox 15"/>
          <p:cNvSpPr txBox="1"/>
          <p:nvPr/>
        </p:nvSpPr>
        <p:spPr>
          <a:xfrm>
            <a:off x="7947659" y="316778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expansion</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Premise snapshot</a:t>
            </a:r>
          </a:p>
        </p:txBody>
      </p:sp>
      <p:sp>
        <p:nvSpPr>
          <p:cNvPr id="19" name="TextBox 18"/>
          <p:cNvSpPr txBox="1"/>
          <p:nvPr/>
        </p:nvSpPr>
        <p:spPr>
          <a:xfrm>
            <a:off x="3185160" y="3627119"/>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Claim / context / revision / support ID</a:t>
            </a:r>
          </a:p>
        </p:txBody>
      </p:sp>
      <p:sp>
        <p:nvSpPr>
          <p:cNvPr id="20" name="TextBox 19"/>
          <p:cNvSpPr txBox="1"/>
          <p:nvPr/>
        </p:nvSpPr>
        <p:spPr>
          <a:xfrm>
            <a:off x="7947659" y="3627119"/>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silent substitution with latest state</a:t>
            </a:r>
          </a:p>
        </p:txBody>
      </p:sp>
      <p:sp>
        <p:nvSpPr>
          <p:cNvPr id="21" name="Rounded Rectangle 20"/>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2" name="TextBox 21"/>
          <p:cNvSpPr txBox="1"/>
          <p:nvPr/>
        </p:nvSpPr>
        <p:spPr>
          <a:xfrm>
            <a:off x="670560" y="43205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Derived support</a:t>
            </a:r>
          </a:p>
        </p:txBody>
      </p:sp>
      <p:sp>
        <p:nvSpPr>
          <p:cNvPr id="23" name="TextBox 22"/>
          <p:cNvSpPr txBox="1"/>
          <p:nvPr/>
        </p:nvSpPr>
        <p:spPr>
          <a:xfrm>
            <a:off x="3185160" y="432054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Closed tag + inherited roots / ancestry</a:t>
            </a:r>
          </a:p>
        </p:txBody>
      </p:sp>
      <p:sp>
        <p:nvSpPr>
          <p:cNvPr id="24" name="TextBox 23"/>
          <p:cNvSpPr txBox="1"/>
          <p:nvPr/>
        </p:nvSpPr>
        <p:spPr>
          <a:xfrm>
            <a:off x="7947659" y="432054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fresh observation or evidence</a:t>
            </a:r>
          </a:p>
        </p:txBody>
      </p:sp>
      <p:sp>
        <p:nvSpPr>
          <p:cNvPr id="25" name="TextBox 24"/>
          <p:cNvSpPr txBox="1"/>
          <p:nvPr/>
        </p:nvSpPr>
        <p:spPr>
          <a:xfrm>
            <a:off x="7947659" y="455462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count</a:t>
            </a:r>
          </a:p>
        </p:txBody>
      </p:sp>
      <p:sp>
        <p:nvSpPr>
          <p:cNvPr id="26" name="Rounded Rectangle 25"/>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7" name="TextBox 26"/>
          <p:cNvSpPr txBox="1"/>
          <p:nvPr/>
        </p:nvSpPr>
        <p:spPr>
          <a:xfrm>
            <a:off x="670560" y="50139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 budget</a:t>
            </a:r>
          </a:p>
        </p:txBody>
      </p:sp>
      <p:sp>
        <p:nvSpPr>
          <p:cNvPr id="28" name="TextBox 27"/>
          <p:cNvSpPr txBox="1"/>
          <p:nvPr/>
        </p:nvSpPr>
        <p:spPr>
          <a:xfrm>
            <a:off x="3185160" y="501396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Candidates, attempts, generation, deadline</a:t>
            </a:r>
          </a:p>
        </p:txBody>
      </p:sp>
      <p:sp>
        <p:nvSpPr>
          <p:cNvPr id="29" name="TextBox 28"/>
          <p:cNvSpPr txBox="1"/>
          <p:nvPr/>
        </p:nvSpPr>
        <p:spPr>
          <a:xfrm>
            <a:off x="7947659" y="501396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Restart cannot silently refill the</a:t>
            </a:r>
          </a:p>
        </p:txBody>
      </p:sp>
      <p:sp>
        <p:nvSpPr>
          <p:cNvPr id="30" name="TextBox 29"/>
          <p:cNvSpPr txBox="1"/>
          <p:nvPr/>
        </p:nvSpPr>
        <p:spPr>
          <a:xfrm>
            <a:off x="7947659" y="524804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allowance</a:t>
            </a:r>
          </a:p>
        </p:txBody>
      </p:sp>
      <p:sp>
        <p:nvSpPr>
          <p:cNvPr id="31" name="Rounded Rectangle 3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2" name="TextBox 31"/>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Profile mismatch, malformed response or changed semantic intent fails explicitly.</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attention_contracts.py · cognition_contracts.py</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EPISODIC MEMORY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one occurrence, one position in the 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event atoms sit behind a stable episode identity and a committed sequence.</a:t>
            </a:r>
          </a:p>
        </p:txBody>
      </p:sp>
      <p:sp>
        <p:nvSpPr>
          <p:cNvPr id="5" name="Rounded Rectangle 4"/>
          <p:cNvSpPr/>
          <p:nvPr/>
        </p:nvSpPr>
        <p:spPr>
          <a:xfrm>
            <a:off x="548640" y="1798320"/>
            <a:ext cx="2533635" cy="304800"/>
          </a:xfrm>
          <a:prstGeom prst="roundRect">
            <a:avLst>
              <a:gd name="adj" fmla="val 17500"/>
            </a:avLst>
          </a:prstGeom>
          <a:solidFill>
            <a:srgbClr val="E4EBF5"/>
          </a:solidFill>
          <a:ln>
            <a:noFill/>
          </a:ln>
          <a:effectLst/>
        </p:spPr>
        <p:txBody>
          <a:bodyPr rtlCol="0" anchor="ctr"/>
          <a:lstStyle/>
          <a:p>
            <a:pPr algn="ctr"/>
          </a:p>
        </p:txBody>
      </p:sp>
      <p:sp>
        <p:nvSpPr>
          <p:cNvPr id="6" name="TextBox 5"/>
          <p:cNvSpPr txBox="1"/>
          <p:nvPr/>
        </p:nvSpPr>
        <p:spPr>
          <a:xfrm>
            <a:off x="655320" y="1851659"/>
            <a:ext cx="2343135"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EpisodeRef = scope + ID</a:t>
            </a:r>
          </a:p>
        </p:txBody>
      </p:sp>
      <p:sp>
        <p:nvSpPr>
          <p:cNvPr id="7" name="Rounded Rectangle 6"/>
          <p:cNvSpPr/>
          <p:nvPr/>
        </p:nvSpPr>
        <p:spPr>
          <a:xfrm>
            <a:off x="5486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7162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Report</a:t>
            </a:r>
          </a:p>
        </p:txBody>
      </p:sp>
      <p:sp>
        <p:nvSpPr>
          <p:cNvPr id="9" name="TextBox 8"/>
          <p:cNvSpPr txBox="1"/>
          <p:nvPr/>
        </p:nvSpPr>
        <p:spPr>
          <a:xfrm>
            <a:off x="7162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No numerical claim</a:t>
            </a:r>
          </a:p>
        </p:txBody>
      </p:sp>
      <p:cxnSp>
        <p:nvCxnSpPr>
          <p:cNvPr id="10" name="Connector 9"/>
          <p:cNvCxnSpPr/>
          <p:nvPr/>
        </p:nvCxnSpPr>
        <p:spPr>
          <a:xfrm>
            <a:off x="3185160" y="3147060"/>
            <a:ext cx="144780" cy="0"/>
          </a:xfrm>
          <a:prstGeom prst="line">
            <a:avLst/>
          </a:prstGeom>
          <a:ln w="15240">
            <a:solidFill>
              <a:srgbClr val="315E9C"/>
            </a:solidFill>
          </a:ln>
          <a:effectLst/>
        </p:spPr>
      </p:cxnSp>
      <p:sp>
        <p:nvSpPr>
          <p:cNvPr id="11" name="Freeform 10"/>
          <p:cNvSpPr/>
          <p:nvPr/>
        </p:nvSpPr>
        <p:spPr>
          <a:xfrm>
            <a:off x="32308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33680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3535679"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2 · Assessment</a:t>
            </a:r>
          </a:p>
        </p:txBody>
      </p:sp>
      <p:sp>
        <p:nvSpPr>
          <p:cNvPr id="14" name="TextBox 13"/>
          <p:cNvSpPr txBox="1"/>
          <p:nvPr/>
        </p:nvSpPr>
        <p:spPr>
          <a:xfrm>
            <a:off x="3535679"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Explicit strength /</a:t>
            </a:r>
          </a:p>
        </p:txBody>
      </p:sp>
      <p:sp>
        <p:nvSpPr>
          <p:cNvPr id="15" name="TextBox 14"/>
          <p:cNvSpPr txBox="1"/>
          <p:nvPr/>
        </p:nvSpPr>
        <p:spPr>
          <a:xfrm>
            <a:off x="3535679" y="3233928"/>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confidence</a:t>
            </a:r>
          </a:p>
        </p:txBody>
      </p:sp>
      <p:cxnSp>
        <p:nvCxnSpPr>
          <p:cNvPr id="16" name="Connector 15"/>
          <p:cNvCxnSpPr/>
          <p:nvPr/>
        </p:nvCxnSpPr>
        <p:spPr>
          <a:xfrm>
            <a:off x="6004559" y="3147060"/>
            <a:ext cx="144781" cy="0"/>
          </a:xfrm>
          <a:prstGeom prst="line">
            <a:avLst/>
          </a:prstGeom>
          <a:ln w="15240">
            <a:solidFill>
              <a:srgbClr val="315E9C"/>
            </a:solidFill>
          </a:ln>
          <a:effectLst/>
        </p:spPr>
      </p:cxnSp>
      <p:sp>
        <p:nvSpPr>
          <p:cNvPr id="17" name="Freeform 16"/>
          <p:cNvSpPr/>
          <p:nvPr/>
        </p:nvSpPr>
        <p:spPr>
          <a:xfrm>
            <a:off x="60502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61874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63550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3 · Copy</a:t>
            </a:r>
          </a:p>
        </p:txBody>
      </p:sp>
      <p:sp>
        <p:nvSpPr>
          <p:cNvPr id="20" name="TextBox 19"/>
          <p:cNvSpPr txBox="1"/>
          <p:nvPr/>
        </p:nvSpPr>
        <p:spPr>
          <a:xfrm>
            <a:off x="63550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Inherits original roots</a:t>
            </a:r>
          </a:p>
        </p:txBody>
      </p:sp>
      <p:cxnSp>
        <p:nvCxnSpPr>
          <p:cNvPr id="21" name="Connector 20"/>
          <p:cNvCxnSpPr/>
          <p:nvPr/>
        </p:nvCxnSpPr>
        <p:spPr>
          <a:xfrm>
            <a:off x="8823960" y="3147060"/>
            <a:ext cx="144780" cy="0"/>
          </a:xfrm>
          <a:prstGeom prst="line">
            <a:avLst/>
          </a:prstGeom>
          <a:ln w="15240">
            <a:solidFill>
              <a:srgbClr val="315E9C"/>
            </a:solidFill>
          </a:ln>
          <a:effectLst/>
        </p:spPr>
      </p:cxnSp>
      <p:sp>
        <p:nvSpPr>
          <p:cNvPr id="22" name="Freeform 21"/>
          <p:cNvSpPr/>
          <p:nvPr/>
        </p:nvSpPr>
        <p:spPr>
          <a:xfrm>
            <a:off x="88696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Rounded Rectangle 22"/>
          <p:cNvSpPr/>
          <p:nvPr/>
        </p:nvSpPr>
        <p:spPr>
          <a:xfrm>
            <a:off x="90068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91744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Contrary</a:t>
            </a:r>
          </a:p>
        </p:txBody>
      </p:sp>
      <p:sp>
        <p:nvSpPr>
          <p:cNvPr id="25" name="TextBox 24"/>
          <p:cNvSpPr txBox="1"/>
          <p:nvPr/>
        </p:nvSpPr>
        <p:spPr>
          <a:xfrm>
            <a:off x="91744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Kept in the history</a:t>
            </a:r>
          </a:p>
        </p:txBody>
      </p:sp>
      <p:sp>
        <p:nvSpPr>
          <p:cNvPr id="26" name="Rounded Rectangle 25"/>
          <p:cNvSpPr/>
          <p:nvPr/>
        </p:nvSpPr>
        <p:spPr>
          <a:xfrm>
            <a:off x="548640" y="4236720"/>
            <a:ext cx="5364480" cy="1287780"/>
          </a:xfrm>
          <a:prstGeom prst="roundRect">
            <a:avLst>
              <a:gd name="adj" fmla="val 7692"/>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716280" y="440436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Same occurrence + same body</a:t>
            </a:r>
          </a:p>
        </p:txBody>
      </p:sp>
      <p:sp>
        <p:nvSpPr>
          <p:cNvPr id="28" name="TextBox 27"/>
          <p:cNvSpPr txBox="1"/>
          <p:nvPr/>
        </p:nvSpPr>
        <p:spPr>
          <a:xfrm>
            <a:off x="716280" y="476341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Return the original receipt, even under a new</a:t>
            </a:r>
          </a:p>
        </p:txBody>
      </p:sp>
      <p:sp>
        <p:nvSpPr>
          <p:cNvPr id="29" name="TextBox 28"/>
          <p:cNvSpPr txBox="1"/>
          <p:nvPr/>
        </p:nvSpPr>
        <p:spPr>
          <a:xfrm>
            <a:off x="716280" y="501700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request key. The head does not advance.</a:t>
            </a:r>
          </a:p>
        </p:txBody>
      </p:sp>
      <p:sp>
        <p:nvSpPr>
          <p:cNvPr id="30" name="Rounded Rectangle 29"/>
          <p:cNvSpPr/>
          <p:nvPr/>
        </p:nvSpPr>
        <p:spPr>
          <a:xfrm>
            <a:off x="6096000" y="4236720"/>
            <a:ext cx="5547360" cy="1287780"/>
          </a:xfrm>
          <a:prstGeom prst="roundRect">
            <a:avLst>
              <a:gd name="adj" fmla="val 7692"/>
            </a:avLst>
          </a:prstGeom>
          <a:solidFill>
            <a:srgbClr val="F3E7CE"/>
          </a:solidFill>
          <a:ln w="7620">
            <a:solidFill>
              <a:srgbClr val="A86A15"/>
            </a:solidFill>
          </a:ln>
          <a:effectLst/>
        </p:spPr>
        <p:txBody>
          <a:bodyPr rtlCol="0" anchor="ctr"/>
          <a:lstStyle/>
          <a:p>
            <a:pPr algn="ctr"/>
          </a:p>
        </p:txBody>
      </p:sp>
      <p:sp>
        <p:nvSpPr>
          <p:cNvPr id="31" name="TextBox 30"/>
          <p:cNvSpPr txBox="1"/>
          <p:nvPr/>
        </p:nvSpPr>
        <p:spPr>
          <a:xfrm>
            <a:off x="6263640" y="4404360"/>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Same occurrence + changed meaning</a:t>
            </a:r>
          </a:p>
        </p:txBody>
      </p:sp>
      <p:sp>
        <p:nvSpPr>
          <p:cNvPr id="32" name="TextBox 31"/>
          <p:cNvSpPr txBox="1"/>
          <p:nvPr/>
        </p:nvSpPr>
        <p:spPr>
          <a:xfrm>
            <a:off x="6263640" y="4753660"/>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Conflict on body or provenance changes. Distinct</a:t>
            </a:r>
          </a:p>
        </p:txBody>
      </p:sp>
      <p:sp>
        <p:nvSpPr>
          <p:cNvPr id="33" name="TextBox 32"/>
          <p:cNvSpPr txBox="1"/>
          <p:nvPr/>
        </p:nvSpPr>
        <p:spPr>
          <a:xfrm>
            <a:off x="6263640" y="500725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real occurrences may share identical bytes.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C1 commits event + evidence intent together; AtomStorage has already committed independently.</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episodes.py · tests/test_m2.py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EVIDENCE DELIVERY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delivery closes without understanding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Completion attests durable processing. Belief support and numerical truth remain C2 responsibilities.</a:t>
            </a:r>
          </a:p>
        </p:txBody>
      </p:sp>
      <p:sp>
        <p:nvSpPr>
          <p:cNvPr id="5" name="Rounded Rectangle 4"/>
          <p:cNvSpPr/>
          <p:nvPr/>
        </p:nvSpPr>
        <p:spPr>
          <a:xfrm>
            <a:off x="54864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C1 event</a:t>
            </a:r>
          </a:p>
        </p:txBody>
      </p:sp>
      <p:sp>
        <p:nvSpPr>
          <p:cNvPr id="7" name="TextBox 6"/>
          <p:cNvSpPr txBox="1"/>
          <p:nvPr/>
        </p:nvSpPr>
        <p:spPr>
          <a:xfrm>
            <a:off x="71628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Event + delivery</a:t>
            </a:r>
          </a:p>
        </p:txBody>
      </p:sp>
      <p:sp>
        <p:nvSpPr>
          <p:cNvPr id="8" name="TextBox 7"/>
          <p:cNvSpPr txBox="1"/>
          <p:nvPr/>
        </p:nvSpPr>
        <p:spPr>
          <a:xfrm>
            <a:off x="71628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intent</a:t>
            </a:r>
          </a:p>
        </p:txBody>
      </p:sp>
      <p:cxnSp>
        <p:nvCxnSpPr>
          <p:cNvPr id="9" name="Connector 8"/>
          <p:cNvCxnSpPr/>
          <p:nvPr/>
        </p:nvCxnSpPr>
        <p:spPr>
          <a:xfrm>
            <a:off x="2682240" y="2682240"/>
            <a:ext cx="83820" cy="0"/>
          </a:xfrm>
          <a:prstGeom prst="line">
            <a:avLst/>
          </a:prstGeom>
          <a:ln w="15240">
            <a:solidFill>
              <a:srgbClr val="536775"/>
            </a:solidFill>
          </a:ln>
          <a:effectLst/>
        </p:spPr>
      </p:cxnSp>
      <p:sp>
        <p:nvSpPr>
          <p:cNvPr id="10" name="Freeform 9"/>
          <p:cNvSpPr/>
          <p:nvPr/>
        </p:nvSpPr>
        <p:spPr>
          <a:xfrm>
            <a:off x="266700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1" name="Rounded Rectangle 10"/>
          <p:cNvSpPr/>
          <p:nvPr/>
        </p:nvSpPr>
        <p:spPr>
          <a:xfrm>
            <a:off x="278892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12" name="TextBox 11"/>
          <p:cNvSpPr txBox="1"/>
          <p:nvPr/>
        </p:nvSpPr>
        <p:spPr>
          <a:xfrm>
            <a:off x="295656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C2 decision</a:t>
            </a:r>
          </a:p>
        </p:txBody>
      </p:sp>
      <p:sp>
        <p:nvSpPr>
          <p:cNvPr id="13" name="TextBox 12"/>
          <p:cNvSpPr txBox="1"/>
          <p:nvPr/>
        </p:nvSpPr>
        <p:spPr>
          <a:xfrm>
            <a:off x="295656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Full</a:t>
            </a:r>
          </a:p>
        </p:txBody>
      </p:sp>
      <p:sp>
        <p:nvSpPr>
          <p:cNvPr id="14" name="TextBox 13"/>
          <p:cNvSpPr txBox="1"/>
          <p:nvPr/>
        </p:nvSpPr>
        <p:spPr>
          <a:xfrm>
            <a:off x="295656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selected-profile</a:t>
            </a:r>
          </a:p>
        </p:txBody>
      </p:sp>
      <p:sp>
        <p:nvSpPr>
          <p:cNvPr id="15" name="TextBox 14"/>
          <p:cNvSpPr txBox="1"/>
          <p:nvPr/>
        </p:nvSpPr>
        <p:spPr>
          <a:xfrm>
            <a:off x="2956560" y="2937052"/>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cxnSp>
        <p:nvCxnSpPr>
          <p:cNvPr id="16" name="Connector 15"/>
          <p:cNvCxnSpPr/>
          <p:nvPr/>
        </p:nvCxnSpPr>
        <p:spPr>
          <a:xfrm>
            <a:off x="4922520" y="2682240"/>
            <a:ext cx="83820" cy="0"/>
          </a:xfrm>
          <a:prstGeom prst="line">
            <a:avLst/>
          </a:prstGeom>
          <a:ln w="15240">
            <a:solidFill>
              <a:srgbClr val="536775"/>
            </a:solidFill>
          </a:ln>
          <a:effectLst/>
        </p:spPr>
      </p:cxnSp>
      <p:sp>
        <p:nvSpPr>
          <p:cNvPr id="17" name="Freeform 16"/>
          <p:cNvSpPr/>
          <p:nvPr/>
        </p:nvSpPr>
        <p:spPr>
          <a:xfrm>
            <a:off x="490728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8" name="Rounded Rectangle 17"/>
          <p:cNvSpPr/>
          <p:nvPr/>
        </p:nvSpPr>
        <p:spPr>
          <a:xfrm>
            <a:off x="502920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519684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 decision</a:t>
            </a:r>
          </a:p>
        </p:txBody>
      </p:sp>
      <p:sp>
        <p:nvSpPr>
          <p:cNvPr id="20" name="TextBox 19"/>
          <p:cNvSpPr txBox="1"/>
          <p:nvPr/>
        </p:nvSpPr>
        <p:spPr>
          <a:xfrm>
            <a:off x="519684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Validate + save</a:t>
            </a:r>
          </a:p>
        </p:txBody>
      </p:sp>
      <p:sp>
        <p:nvSpPr>
          <p:cNvPr id="21" name="TextBox 20"/>
          <p:cNvSpPr txBox="1"/>
          <p:nvPr/>
        </p:nvSpPr>
        <p:spPr>
          <a:xfrm>
            <a:off x="519684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completion</a:t>
            </a:r>
          </a:p>
        </p:txBody>
      </p:sp>
      <p:cxnSp>
        <p:nvCxnSpPr>
          <p:cNvPr id="22" name="Connector 21"/>
          <p:cNvCxnSpPr/>
          <p:nvPr/>
        </p:nvCxnSpPr>
        <p:spPr>
          <a:xfrm>
            <a:off x="7162800" y="2682240"/>
            <a:ext cx="83820" cy="0"/>
          </a:xfrm>
          <a:prstGeom prst="line">
            <a:avLst/>
          </a:prstGeom>
          <a:ln w="15240">
            <a:solidFill>
              <a:srgbClr val="536775"/>
            </a:solidFill>
          </a:ln>
          <a:effectLst/>
        </p:spPr>
      </p:cxnSp>
      <p:sp>
        <p:nvSpPr>
          <p:cNvPr id="23" name="Freeform 22"/>
          <p:cNvSpPr/>
          <p:nvPr/>
        </p:nvSpPr>
        <p:spPr>
          <a:xfrm>
            <a:off x="714756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4" name="Rounded Rectangle 23"/>
          <p:cNvSpPr/>
          <p:nvPr/>
        </p:nvSpPr>
        <p:spPr>
          <a:xfrm>
            <a:off x="726948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43712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C1</a:t>
            </a:r>
          </a:p>
        </p:txBody>
      </p:sp>
      <p:sp>
        <p:nvSpPr>
          <p:cNvPr id="26" name="TextBox 25"/>
          <p:cNvSpPr txBox="1"/>
          <p:nvPr/>
        </p:nvSpPr>
        <p:spPr>
          <a:xfrm>
            <a:off x="743712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acknowledgment</a:t>
            </a:r>
          </a:p>
        </p:txBody>
      </p:sp>
      <p:sp>
        <p:nvSpPr>
          <p:cNvPr id="27" name="TextBox 26"/>
          <p:cNvSpPr txBox="1"/>
          <p:nvPr/>
        </p:nvSpPr>
        <p:spPr>
          <a:xfrm>
            <a:off x="743712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identity +</a:t>
            </a:r>
          </a:p>
        </p:txBody>
      </p:sp>
      <p:sp>
        <p:nvSpPr>
          <p:cNvPr id="28" name="TextBox 27"/>
          <p:cNvSpPr txBox="1"/>
          <p:nvPr/>
        </p:nvSpPr>
        <p:spPr>
          <a:xfrm>
            <a:off x="743712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consumer</a:t>
            </a:r>
          </a:p>
        </p:txBody>
      </p:sp>
      <p:cxnSp>
        <p:nvCxnSpPr>
          <p:cNvPr id="29" name="Connector 28"/>
          <p:cNvCxnSpPr/>
          <p:nvPr/>
        </p:nvCxnSpPr>
        <p:spPr>
          <a:xfrm>
            <a:off x="9403080" y="2682240"/>
            <a:ext cx="83820" cy="0"/>
          </a:xfrm>
          <a:prstGeom prst="line">
            <a:avLst/>
          </a:prstGeom>
          <a:ln w="15240">
            <a:solidFill>
              <a:srgbClr val="536775"/>
            </a:solidFill>
          </a:ln>
          <a:effectLst/>
        </p:spPr>
      </p:cxnSp>
      <p:sp>
        <p:nvSpPr>
          <p:cNvPr id="30" name="Freeform 29"/>
          <p:cNvSpPr/>
          <p:nvPr/>
        </p:nvSpPr>
        <p:spPr>
          <a:xfrm>
            <a:off x="938784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1" name="Rounded Rectangle 30"/>
          <p:cNvSpPr/>
          <p:nvPr/>
        </p:nvSpPr>
        <p:spPr>
          <a:xfrm>
            <a:off x="950976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967740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a:t>
            </a:r>
          </a:p>
        </p:txBody>
      </p:sp>
      <p:sp>
        <p:nvSpPr>
          <p:cNvPr id="33" name="TextBox 32"/>
          <p:cNvSpPr txBox="1"/>
          <p:nvPr/>
        </p:nvSpPr>
        <p:spPr>
          <a:xfrm>
            <a:off x="967740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acknowledgment</a:t>
            </a:r>
          </a:p>
        </p:txBody>
      </p:sp>
      <p:sp>
        <p:nvSpPr>
          <p:cNvPr id="34" name="TextBox 33"/>
          <p:cNvSpPr txBox="1"/>
          <p:nvPr/>
        </p:nvSpPr>
        <p:spPr>
          <a:xfrm>
            <a:off x="967740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Save progress;</a:t>
            </a:r>
          </a:p>
        </p:txBody>
      </p:sp>
      <p:sp>
        <p:nvSpPr>
          <p:cNvPr id="35" name="TextBox 34"/>
          <p:cNvSpPr txBox="1"/>
          <p:nvPr/>
        </p:nvSpPr>
        <p:spPr>
          <a:xfrm>
            <a:off x="967740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replies</a:t>
            </a:r>
          </a:p>
        </p:txBody>
      </p:sp>
      <p:sp>
        <p:nvSpPr>
          <p:cNvPr id="36" name="Rounded Rectangle 35"/>
          <p:cNvSpPr/>
          <p:nvPr/>
        </p:nvSpPr>
        <p:spPr>
          <a:xfrm>
            <a:off x="548640" y="3840479"/>
            <a:ext cx="5364480" cy="1699259"/>
          </a:xfrm>
          <a:prstGeom prst="roundRect">
            <a:avLst>
              <a:gd name="adj" fmla="val 5829"/>
            </a:avLst>
          </a:prstGeom>
          <a:solidFill>
            <a:srgbClr val="DCEFE8"/>
          </a:solidFill>
          <a:ln w="7620">
            <a:solidFill>
              <a:srgbClr val="007C78"/>
            </a:solidFill>
          </a:ln>
          <a:effectLst/>
        </p:spPr>
        <p:txBody>
          <a:bodyPr rtlCol="0" anchor="ctr"/>
          <a:lstStyle/>
          <a:p>
            <a:pPr algn="ctr"/>
          </a:p>
        </p:txBody>
      </p:sp>
      <p:sp>
        <p:nvSpPr>
          <p:cNvPr id="37" name="TextBox 36"/>
          <p:cNvSpPr txBox="1"/>
          <p:nvPr/>
        </p:nvSpPr>
        <p:spPr>
          <a:xfrm>
            <a:off x="716280" y="4008119"/>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33 events · one persistent episode</a:t>
            </a:r>
          </a:p>
        </p:txBody>
      </p:sp>
      <p:sp>
        <p:nvSpPr>
          <p:cNvPr id="38" name="TextBox 37"/>
          <p:cNvSpPr txBox="1"/>
          <p:nvPr/>
        </p:nvSpPr>
        <p:spPr>
          <a:xfrm>
            <a:off x="716280" y="4396435"/>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39" name="TextBox 38"/>
          <p:cNvSpPr txBox="1"/>
          <p:nvPr/>
        </p:nvSpPr>
        <p:spPr>
          <a:xfrm>
            <a:off x="716280" y="46695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40" name="TextBox 39"/>
          <p:cNvSpPr txBox="1"/>
          <p:nvPr/>
        </p:nvSpPr>
        <p:spPr>
          <a:xfrm>
            <a:off x="716280" y="49426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 → drain to 0</a:t>
            </a:r>
          </a:p>
        </p:txBody>
      </p:sp>
      <p:sp>
        <p:nvSpPr>
          <p:cNvPr id="41" name="Rounded Rectangle 40"/>
          <p:cNvSpPr/>
          <p:nvPr/>
        </p:nvSpPr>
        <p:spPr>
          <a:xfrm>
            <a:off x="6096000" y="3840479"/>
            <a:ext cx="5547360" cy="1699259"/>
          </a:xfrm>
          <a:prstGeom prst="roundRect">
            <a:avLst>
              <a:gd name="adj" fmla="val 5829"/>
            </a:avLst>
          </a:prstGeom>
          <a:solidFill>
            <a:srgbClr val="E4EBF5"/>
          </a:solidFill>
          <a:ln w="7620">
            <a:solidFill>
              <a:srgbClr val="315E9C"/>
            </a:solidFill>
          </a:ln>
          <a:effectLst/>
        </p:spPr>
        <p:txBody>
          <a:bodyPr rtlCol="0" anchor="ctr"/>
          <a:lstStyle/>
          <a:p>
            <a:pPr algn="ctr"/>
          </a:p>
        </p:txBody>
      </p:sp>
      <p:sp>
        <p:nvSpPr>
          <p:cNvPr id="42" name="TextBox 41"/>
          <p:cNvSpPr txBox="1"/>
          <p:nvPr/>
        </p:nvSpPr>
        <p:spPr>
          <a:xfrm>
            <a:off x="6263640" y="4008119"/>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Acknowledgment is model-independent</a:t>
            </a:r>
          </a:p>
        </p:txBody>
      </p:sp>
      <p:sp>
        <p:nvSpPr>
          <p:cNvPr id="43" name="TextBox 42"/>
          <p:cNvSpPr txBox="1"/>
          <p:nvPr/>
        </p:nvSpPr>
        <p:spPr>
          <a:xfrm>
            <a:off x="6263640" y="437692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trusted relay checks C2's full decision. C1</a:t>
            </a:r>
          </a:p>
        </p:txBody>
      </p:sp>
      <p:sp>
        <p:nvSpPr>
          <p:cNvPr id="44" name="TextBox 43"/>
          <p:cNvSpPr txBox="1"/>
          <p:nvPr/>
        </p:nvSpPr>
        <p:spPr>
          <a:xfrm>
            <a:off x="6263640" y="464027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checks its event, delivery, request and selected</a:t>
            </a:r>
          </a:p>
        </p:txBody>
      </p:sp>
      <p:sp>
        <p:nvSpPr>
          <p:cNvPr id="45" name="TextBox 44"/>
          <p:cNvSpPr txBox="1"/>
          <p:nvPr/>
        </p:nvSpPr>
        <p:spPr>
          <a:xfrm>
            <a:off x="6263640" y="490362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consumer; it parses no PLN snapshot.</a:t>
            </a:r>
          </a:p>
        </p:txBody>
      </p:sp>
      <p:sp>
        <p:nvSpPr>
          <p:cNvPr id="46" name="Rounded Rectangle 4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7" name="TextBox 46"/>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16 pending deliveries is still the bound. Draining frees pending capacity; episode lifetime stays 256 events.</a:t>
            </a:r>
          </a:p>
        </p:txBody>
      </p:sp>
      <p:cxnSp>
        <p:nvCxnSpPr>
          <p:cNvPr id="48" name="Connector 47"/>
          <p:cNvCxnSpPr/>
          <p:nvPr/>
        </p:nvCxnSpPr>
        <p:spPr>
          <a:xfrm>
            <a:off x="548640" y="6393180"/>
            <a:ext cx="11094720" cy="0"/>
          </a:xfrm>
          <a:prstGeom prst="line">
            <a:avLst/>
          </a:prstGeom>
          <a:ln w="7620">
            <a:solidFill>
              <a:srgbClr val="C9D2D4"/>
            </a:solidFill>
          </a:ln>
          <a:effectLst/>
        </p:spPr>
      </p:cxnSp>
      <p:sp>
        <p:nvSpPr>
          <p:cNvPr id="49" name="TextBox 4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delivery_contracts.py · evidence_relay.py · m3_1 evidence</a:t>
            </a:r>
          </a:p>
        </p:txBody>
      </p:sp>
      <p:sp>
        <p:nvSpPr>
          <p:cNvPr id="50" name="TextBox 4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BELIEF REVISION</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C2: admitting evidence and changing belief are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New observations remain visible even when they cannot change the current aggregate.</a:t>
            </a:r>
          </a:p>
        </p:txBody>
      </p:sp>
      <p:sp>
        <p:nvSpPr>
          <p:cNvPr id="5" name="Rounded Rectangle 4"/>
          <p:cNvSpPr/>
          <p:nvPr/>
        </p:nvSpPr>
        <p:spPr>
          <a:xfrm>
            <a:off x="548640" y="1920239"/>
            <a:ext cx="2895600" cy="1371600"/>
          </a:xfrm>
          <a:prstGeom prst="roundRect">
            <a:avLst>
              <a:gd name="adj" fmla="val 7222"/>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87880"/>
            <a:ext cx="2560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Evidence submission</a:t>
            </a:r>
          </a:p>
        </p:txBody>
      </p:sp>
      <p:sp>
        <p:nvSpPr>
          <p:cNvPr id="7" name="TextBox 6"/>
          <p:cNvSpPr txBox="1"/>
          <p:nvPr/>
        </p:nvSpPr>
        <p:spPr>
          <a:xfrm>
            <a:off x="716280" y="2437180"/>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C1 evidence reference or an</a:t>
            </a:r>
          </a:p>
        </p:txBody>
      </p:sp>
      <p:sp>
        <p:nvSpPr>
          <p:cNvPr id="8" name="TextBox 7"/>
          <p:cNvSpPr txBox="1"/>
          <p:nvPr/>
        </p:nvSpPr>
        <p:spPr>
          <a:xfrm>
            <a:off x="716280" y="2642006"/>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existing C2 support; exact</a:t>
            </a:r>
          </a:p>
        </p:txBody>
      </p:sp>
      <p:sp>
        <p:nvSpPr>
          <p:cNvPr id="9" name="TextBox 8"/>
          <p:cNvSpPr txBox="1"/>
          <p:nvPr/>
        </p:nvSpPr>
        <p:spPr>
          <a:xfrm>
            <a:off x="716280" y="2846832"/>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claim and context.</a:t>
            </a:r>
          </a:p>
        </p:txBody>
      </p:sp>
      <p:cxnSp>
        <p:nvCxnSpPr>
          <p:cNvPr id="10" name="Connector 9"/>
          <p:cNvCxnSpPr/>
          <p:nvPr/>
        </p:nvCxnSpPr>
        <p:spPr>
          <a:xfrm>
            <a:off x="3444240" y="2606040"/>
            <a:ext cx="777240" cy="0"/>
          </a:xfrm>
          <a:prstGeom prst="line">
            <a:avLst/>
          </a:prstGeom>
          <a:ln w="15240">
            <a:solidFill>
              <a:srgbClr val="315E9C"/>
            </a:solidFill>
          </a:ln>
          <a:effectLst/>
        </p:spPr>
      </p:cxnSp>
      <p:sp>
        <p:nvSpPr>
          <p:cNvPr id="11" name="Freeform 10"/>
          <p:cNvSpPr/>
          <p:nvPr/>
        </p:nvSpPr>
        <p:spPr>
          <a:xfrm>
            <a:off x="412242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4221480" y="1920239"/>
            <a:ext cx="3048000" cy="1371600"/>
          </a:xfrm>
          <a:prstGeom prst="roundRect">
            <a:avLst>
              <a:gd name="adj" fmla="val 722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389120" y="2087880"/>
            <a:ext cx="2712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Admission decision</a:t>
            </a:r>
          </a:p>
        </p:txBody>
      </p:sp>
      <p:sp>
        <p:nvSpPr>
          <p:cNvPr id="14" name="TextBox 13"/>
          <p:cNvSpPr txBox="1"/>
          <p:nvPr/>
        </p:nvSpPr>
        <p:spPr>
          <a:xfrm>
            <a:off x="4389120" y="245668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ADMITTED or DUPLICATE</a:t>
            </a:r>
          </a:p>
        </p:txBody>
      </p:sp>
      <p:sp>
        <p:nvSpPr>
          <p:cNvPr id="15" name="TextBox 14"/>
          <p:cNvSpPr txBox="1"/>
          <p:nvPr/>
        </p:nvSpPr>
        <p:spPr>
          <a:xfrm>
            <a:off x="4389120" y="2700528"/>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Track occurrence and</a:t>
            </a:r>
          </a:p>
        </p:txBody>
      </p:sp>
      <p:sp>
        <p:nvSpPr>
          <p:cNvPr id="16" name="TextBox 15"/>
          <p:cNvSpPr txBox="1"/>
          <p:nvPr/>
        </p:nvSpPr>
        <p:spPr>
          <a:xfrm>
            <a:off x="4389120" y="294436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provenance.</a:t>
            </a:r>
          </a:p>
        </p:txBody>
      </p:sp>
      <p:cxnSp>
        <p:nvCxnSpPr>
          <p:cNvPr id="17" name="Connector 16"/>
          <p:cNvCxnSpPr/>
          <p:nvPr/>
        </p:nvCxnSpPr>
        <p:spPr>
          <a:xfrm>
            <a:off x="7269480" y="2606040"/>
            <a:ext cx="777240" cy="0"/>
          </a:xfrm>
          <a:prstGeom prst="line">
            <a:avLst/>
          </a:prstGeom>
          <a:ln w="15240">
            <a:solidFill>
              <a:srgbClr val="315E9C"/>
            </a:solidFill>
          </a:ln>
          <a:effectLst/>
        </p:spPr>
      </p:cxnSp>
      <p:sp>
        <p:nvSpPr>
          <p:cNvPr id="18" name="Freeform 17"/>
          <p:cNvSpPr/>
          <p:nvPr/>
        </p:nvSpPr>
        <p:spPr>
          <a:xfrm>
            <a:off x="794766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9" name="Rounded Rectangle 18"/>
          <p:cNvSpPr/>
          <p:nvPr/>
        </p:nvSpPr>
        <p:spPr>
          <a:xfrm>
            <a:off x="8046720" y="1920239"/>
            <a:ext cx="3596640" cy="1371600"/>
          </a:xfrm>
          <a:prstGeom prst="roundRect">
            <a:avLst>
              <a:gd name="adj" fmla="val 7222"/>
            </a:avLst>
          </a:prstGeom>
          <a:solidFill>
            <a:srgbClr val="DCEFE8"/>
          </a:solidFill>
          <a:ln w="7620">
            <a:solidFill>
              <a:srgbClr val="007C78"/>
            </a:solidFill>
          </a:ln>
          <a:effectLst/>
        </p:spPr>
        <p:txBody>
          <a:bodyPr rtlCol="0" anchor="ctr"/>
          <a:lstStyle/>
          <a:p>
            <a:pPr algn="ctr"/>
          </a:p>
        </p:txBody>
      </p:sp>
      <p:sp>
        <p:nvSpPr>
          <p:cNvPr id="20" name="TextBox 19"/>
          <p:cNvSpPr txBox="1"/>
          <p:nvPr/>
        </p:nvSpPr>
        <p:spPr>
          <a:xfrm>
            <a:off x="8214359" y="2087880"/>
            <a:ext cx="32613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Numerical decision</a:t>
            </a:r>
          </a:p>
        </p:txBody>
      </p:sp>
      <p:sp>
        <p:nvSpPr>
          <p:cNvPr id="21" name="TextBox 20"/>
          <p:cNvSpPr txBox="1"/>
          <p:nvPr/>
        </p:nvSpPr>
        <p:spPr>
          <a:xfrm>
            <a:off x="8214359" y="245668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Initialize, revise, no change,</a:t>
            </a:r>
          </a:p>
        </p:txBody>
      </p:sp>
      <p:sp>
        <p:nvSpPr>
          <p:cNvPr id="22" name="TextBox 21"/>
          <p:cNvSpPr txBox="1"/>
          <p:nvPr/>
        </p:nvSpPr>
        <p:spPr>
          <a:xfrm>
            <a:off x="8214359" y="2700528"/>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retain alternative, or</a:t>
            </a:r>
          </a:p>
        </p:txBody>
      </p:sp>
      <p:sp>
        <p:nvSpPr>
          <p:cNvPr id="23" name="TextBox 22"/>
          <p:cNvSpPr txBox="1"/>
          <p:nvPr/>
        </p:nvSpPr>
        <p:spPr>
          <a:xfrm>
            <a:off x="8214359" y="294436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model-inapplicable.</a:t>
            </a:r>
          </a:p>
        </p:txBody>
      </p:sp>
      <p:sp>
        <p:nvSpPr>
          <p:cNvPr id="24" name="Rounded Rectangle 23"/>
          <p:cNvSpPr/>
          <p:nvPr/>
        </p:nvSpPr>
        <p:spPr>
          <a:xfrm>
            <a:off x="548640" y="3886200"/>
            <a:ext cx="5364480" cy="1607820"/>
          </a:xfrm>
          <a:prstGeom prst="roundRect">
            <a:avLst>
              <a:gd name="adj" fmla="val 6161"/>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16280" y="40538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Aggregate with exact coverage</a:t>
            </a:r>
          </a:p>
        </p:txBody>
      </p:sp>
      <p:sp>
        <p:nvSpPr>
          <p:cNvPr id="26" name="TextBox 25"/>
          <p:cNvSpPr txBox="1"/>
          <p:nvPr/>
        </p:nvSpPr>
        <p:spPr>
          <a:xfrm>
            <a:off x="716280" y="44324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Every numerical result names the contributing</a:t>
            </a:r>
          </a:p>
        </p:txBody>
      </p:sp>
      <p:sp>
        <p:nvSpPr>
          <p:cNvPr id="27" name="TextBox 26"/>
          <p:cNvSpPr txBox="1"/>
          <p:nvPr/>
        </p:nvSpPr>
        <p:spPr>
          <a:xfrm>
            <a:off x="716280" y="46957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leaves, origins, premises, formula and</a:t>
            </a:r>
          </a:p>
        </p:txBody>
      </p:sp>
      <p:sp>
        <p:nvSpPr>
          <p:cNvPr id="28" name="TextBox 27"/>
          <p:cNvSpPr txBox="1"/>
          <p:nvPr/>
        </p:nvSpPr>
        <p:spPr>
          <a:xfrm>
            <a:off x="716280" y="4959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assumption.</a:t>
            </a:r>
          </a:p>
        </p:txBody>
      </p:sp>
      <p:sp>
        <p:nvSpPr>
          <p:cNvPr id="29" name="Rounded Rectangle 28"/>
          <p:cNvSpPr/>
          <p:nvPr/>
        </p:nvSpPr>
        <p:spPr>
          <a:xfrm>
            <a:off x="6096000" y="3886200"/>
            <a:ext cx="5547360" cy="1607820"/>
          </a:xfrm>
          <a:prstGeom prst="roundRect">
            <a:avLst>
              <a:gd name="adj" fmla="val 6161"/>
            </a:avLst>
          </a:prstGeom>
          <a:solidFill>
            <a:srgbClr val="F3E7CE"/>
          </a:solidFill>
          <a:ln w="7620">
            <a:solidFill>
              <a:srgbClr val="A86A15"/>
            </a:solidFill>
          </a:ln>
          <a:effectLst/>
        </p:spPr>
        <p:txBody>
          <a:bodyPr rtlCol="0" anchor="ctr"/>
          <a:lstStyle/>
          <a:p>
            <a:pPr algn="ctr"/>
          </a:p>
        </p:txBody>
      </p:sp>
      <p:sp>
        <p:nvSpPr>
          <p:cNvPr id="30" name="TextBox 29"/>
          <p:cNvSpPr txBox="1"/>
          <p:nvPr/>
        </p:nvSpPr>
        <p:spPr>
          <a:xfrm>
            <a:off x="6263640" y="40538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Unaggregated alternatives</a:t>
            </a:r>
          </a:p>
        </p:txBody>
      </p:sp>
      <p:sp>
        <p:nvSpPr>
          <p:cNvPr id="31" name="TextBox 30"/>
          <p:cNvSpPr txBox="1"/>
          <p:nvPr/>
        </p:nvSpPr>
        <p:spPr>
          <a:xfrm>
            <a:off x="6263640" y="44226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Copied or contrary observations remain in the</a:t>
            </a:r>
          </a:p>
        </p:txBody>
      </p:sp>
      <p:sp>
        <p:nvSpPr>
          <p:cNvPr id="32" name="TextBox 31"/>
          <p:cNvSpPr txBox="1"/>
          <p:nvPr/>
        </p:nvSpPr>
        <p:spPr>
          <a:xfrm>
            <a:off x="6263640" y="46859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snapshot. Later eligible assumptions can combine</a:t>
            </a:r>
          </a:p>
        </p:txBody>
      </p:sp>
      <p:sp>
        <p:nvSpPr>
          <p:cNvPr id="33" name="TextBox 32"/>
          <p:cNvSpPr txBox="1"/>
          <p:nvPr/>
        </p:nvSpPr>
        <p:spPr>
          <a:xfrm>
            <a:off x="6263640" y="494934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existing supports.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One saved truth value is not a summary of every observation. Read its coverage and alternatives.</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beliefs.py · memory_types.py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DERIVED-SUPPORT ADMISSION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derived conclusion inherits its evidence trail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result is a new support record, while its original observations and ancestry remain the same.</a:t>
            </a:r>
          </a:p>
        </p:txBody>
      </p:sp>
      <p:sp>
        <p:nvSpPr>
          <p:cNvPr id="5" name="Rounded Rectangle 4"/>
          <p:cNvSpPr/>
          <p:nvPr/>
        </p:nvSpPr>
        <p:spPr>
          <a:xfrm>
            <a:off x="54864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a:t>
            </a:r>
          </a:p>
        </p:txBody>
      </p:sp>
      <p:sp>
        <p:nvSpPr>
          <p:cNvPr id="7" name="TextBox 6"/>
          <p:cNvSpPr txBox="1"/>
          <p:nvPr/>
        </p:nvSpPr>
        <p:spPr>
          <a:xfrm>
            <a:off x="71628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8" name="TextBox 7"/>
          <p:cNvSpPr txBox="1"/>
          <p:nvPr/>
        </p:nvSpPr>
        <p:spPr>
          <a:xfrm>
            <a:off x="71628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9" name="Connector 8"/>
          <p:cNvCxnSpPr/>
          <p:nvPr/>
        </p:nvCxnSpPr>
        <p:spPr>
          <a:xfrm>
            <a:off x="1584960" y="2926079"/>
            <a:ext cx="0" cy="342900"/>
          </a:xfrm>
          <a:prstGeom prst="line">
            <a:avLst/>
          </a:prstGeom>
          <a:ln w="15240">
            <a:solidFill>
              <a:srgbClr val="315E9C"/>
            </a:solidFill>
          </a:ln>
          <a:effectLst/>
        </p:spPr>
      </p:cxnSp>
      <p:cxnSp>
        <p:nvCxnSpPr>
          <p:cNvPr id="10" name="Connector 9"/>
          <p:cNvCxnSpPr/>
          <p:nvPr/>
        </p:nvCxnSpPr>
        <p:spPr>
          <a:xfrm>
            <a:off x="1584960" y="3268979"/>
            <a:ext cx="4511040" cy="0"/>
          </a:xfrm>
          <a:prstGeom prst="line">
            <a:avLst/>
          </a:prstGeom>
          <a:ln w="15240">
            <a:solidFill>
              <a:srgbClr val="315E9C"/>
            </a:solidFill>
          </a:ln>
          <a:effectLst/>
        </p:spPr>
      </p:cxnSp>
      <p:sp>
        <p:nvSpPr>
          <p:cNvPr id="11" name="Rounded Rectangle 10"/>
          <p:cNvSpPr/>
          <p:nvPr/>
        </p:nvSpPr>
        <p:spPr>
          <a:xfrm>
            <a:off x="280416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297180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a:t>
            </a:r>
          </a:p>
        </p:txBody>
      </p:sp>
      <p:sp>
        <p:nvSpPr>
          <p:cNvPr id="13" name="TextBox 12"/>
          <p:cNvSpPr txBox="1"/>
          <p:nvPr/>
        </p:nvSpPr>
        <p:spPr>
          <a:xfrm>
            <a:off x="297180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14" name="TextBox 13"/>
          <p:cNvSpPr txBox="1"/>
          <p:nvPr/>
        </p:nvSpPr>
        <p:spPr>
          <a:xfrm>
            <a:off x="297180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15" name="Connector 14"/>
          <p:cNvCxnSpPr/>
          <p:nvPr/>
        </p:nvCxnSpPr>
        <p:spPr>
          <a:xfrm>
            <a:off x="3840479" y="2926079"/>
            <a:ext cx="0" cy="342900"/>
          </a:xfrm>
          <a:prstGeom prst="line">
            <a:avLst/>
          </a:prstGeom>
          <a:ln w="15240">
            <a:solidFill>
              <a:srgbClr val="315E9C"/>
            </a:solidFill>
          </a:ln>
          <a:effectLst/>
        </p:spPr>
      </p:cxnSp>
      <p:cxnSp>
        <p:nvCxnSpPr>
          <p:cNvPr id="16" name="Connector 15"/>
          <p:cNvCxnSpPr/>
          <p:nvPr/>
        </p:nvCxnSpPr>
        <p:spPr>
          <a:xfrm>
            <a:off x="3840479" y="3268979"/>
            <a:ext cx="2255521" cy="0"/>
          </a:xfrm>
          <a:prstGeom prst="line">
            <a:avLst/>
          </a:prstGeom>
          <a:ln w="15240">
            <a:solidFill>
              <a:srgbClr val="315E9C"/>
            </a:solidFill>
          </a:ln>
          <a:effectLst/>
        </p:spPr>
      </p:cxnSp>
      <p:sp>
        <p:nvSpPr>
          <p:cNvPr id="17" name="Rounded Rectangle 16"/>
          <p:cNvSpPr/>
          <p:nvPr/>
        </p:nvSpPr>
        <p:spPr>
          <a:xfrm>
            <a:off x="505968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522732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R</a:t>
            </a:r>
          </a:p>
        </p:txBody>
      </p:sp>
      <p:sp>
        <p:nvSpPr>
          <p:cNvPr id="19" name="TextBox 18"/>
          <p:cNvSpPr txBox="1"/>
          <p:nvPr/>
        </p:nvSpPr>
        <p:spPr>
          <a:xfrm>
            <a:off x="522732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0" name="TextBox 19"/>
          <p:cNvSpPr txBox="1"/>
          <p:nvPr/>
        </p:nvSpPr>
        <p:spPr>
          <a:xfrm>
            <a:off x="522732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1" name="Connector 20"/>
          <p:cNvCxnSpPr/>
          <p:nvPr/>
        </p:nvCxnSpPr>
        <p:spPr>
          <a:xfrm>
            <a:off x="6096000" y="2926079"/>
            <a:ext cx="0" cy="342900"/>
          </a:xfrm>
          <a:prstGeom prst="line">
            <a:avLst/>
          </a:prstGeom>
          <a:ln w="15240">
            <a:solidFill>
              <a:srgbClr val="315E9C"/>
            </a:solidFill>
          </a:ln>
          <a:effectLst/>
        </p:spPr>
      </p:cxnSp>
      <p:cxnSp>
        <p:nvCxnSpPr>
          <p:cNvPr id="22" name="Connector 21"/>
          <p:cNvCxnSpPr/>
          <p:nvPr/>
        </p:nvCxnSpPr>
        <p:spPr>
          <a:xfrm>
            <a:off x="6096000" y="3268979"/>
            <a:ext cx="0" cy="0"/>
          </a:xfrm>
          <a:prstGeom prst="line">
            <a:avLst/>
          </a:prstGeom>
          <a:ln w="15240">
            <a:solidFill>
              <a:srgbClr val="315E9C"/>
            </a:solidFill>
          </a:ln>
          <a:effectLst/>
        </p:spPr>
      </p:cxnSp>
      <p:sp>
        <p:nvSpPr>
          <p:cNvPr id="23" name="Rounded Rectangle 22"/>
          <p:cNvSpPr/>
          <p:nvPr/>
        </p:nvSpPr>
        <p:spPr>
          <a:xfrm>
            <a:off x="731520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24" name="TextBox 23"/>
          <p:cNvSpPr txBox="1"/>
          <p:nvPr/>
        </p:nvSpPr>
        <p:spPr>
          <a:xfrm>
            <a:off x="7482839"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 ⇒ Q</a:t>
            </a:r>
          </a:p>
        </p:txBody>
      </p:sp>
      <p:sp>
        <p:nvSpPr>
          <p:cNvPr id="25" name="TextBox 24"/>
          <p:cNvSpPr txBox="1"/>
          <p:nvPr/>
        </p:nvSpPr>
        <p:spPr>
          <a:xfrm>
            <a:off x="7482839"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6" name="TextBox 25"/>
          <p:cNvSpPr txBox="1"/>
          <p:nvPr/>
        </p:nvSpPr>
        <p:spPr>
          <a:xfrm>
            <a:off x="7482839"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7" name="Connector 26"/>
          <p:cNvCxnSpPr/>
          <p:nvPr/>
        </p:nvCxnSpPr>
        <p:spPr>
          <a:xfrm>
            <a:off x="8351520" y="2926079"/>
            <a:ext cx="0" cy="342900"/>
          </a:xfrm>
          <a:prstGeom prst="line">
            <a:avLst/>
          </a:prstGeom>
          <a:ln w="15240">
            <a:solidFill>
              <a:srgbClr val="315E9C"/>
            </a:solidFill>
          </a:ln>
          <a:effectLst/>
        </p:spPr>
      </p:cxnSp>
      <p:cxnSp>
        <p:nvCxnSpPr>
          <p:cNvPr id="28" name="Connector 27"/>
          <p:cNvCxnSpPr/>
          <p:nvPr/>
        </p:nvCxnSpPr>
        <p:spPr>
          <a:xfrm flipH="1">
            <a:off x="6096000" y="3268979"/>
            <a:ext cx="2255520" cy="0"/>
          </a:xfrm>
          <a:prstGeom prst="line">
            <a:avLst/>
          </a:prstGeom>
          <a:ln w="15240">
            <a:solidFill>
              <a:srgbClr val="315E9C"/>
            </a:solidFill>
          </a:ln>
          <a:effectLst/>
        </p:spPr>
      </p:cxnSp>
      <p:sp>
        <p:nvSpPr>
          <p:cNvPr id="29" name="Rounded Rectangle 28"/>
          <p:cNvSpPr/>
          <p:nvPr/>
        </p:nvSpPr>
        <p:spPr>
          <a:xfrm>
            <a:off x="957072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30" name="TextBox 29"/>
          <p:cNvSpPr txBox="1"/>
          <p:nvPr/>
        </p:nvSpPr>
        <p:spPr>
          <a:xfrm>
            <a:off x="973836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 ⇒ R</a:t>
            </a:r>
          </a:p>
        </p:txBody>
      </p:sp>
      <p:sp>
        <p:nvSpPr>
          <p:cNvPr id="31" name="TextBox 30"/>
          <p:cNvSpPr txBox="1"/>
          <p:nvPr/>
        </p:nvSpPr>
        <p:spPr>
          <a:xfrm>
            <a:off x="973836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32" name="TextBox 31"/>
          <p:cNvSpPr txBox="1"/>
          <p:nvPr/>
        </p:nvSpPr>
        <p:spPr>
          <a:xfrm>
            <a:off x="973836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33" name="Connector 32"/>
          <p:cNvCxnSpPr/>
          <p:nvPr/>
        </p:nvCxnSpPr>
        <p:spPr>
          <a:xfrm>
            <a:off x="10607040" y="2926079"/>
            <a:ext cx="0" cy="342900"/>
          </a:xfrm>
          <a:prstGeom prst="line">
            <a:avLst/>
          </a:prstGeom>
          <a:ln w="15240">
            <a:solidFill>
              <a:srgbClr val="315E9C"/>
            </a:solidFill>
          </a:ln>
          <a:effectLst/>
        </p:spPr>
      </p:cxnSp>
      <p:cxnSp>
        <p:nvCxnSpPr>
          <p:cNvPr id="34" name="Connector 33"/>
          <p:cNvCxnSpPr/>
          <p:nvPr/>
        </p:nvCxnSpPr>
        <p:spPr>
          <a:xfrm flipH="1">
            <a:off x="6096000" y="3268979"/>
            <a:ext cx="4511040" cy="0"/>
          </a:xfrm>
          <a:prstGeom prst="line">
            <a:avLst/>
          </a:prstGeom>
          <a:ln w="15240">
            <a:solidFill>
              <a:srgbClr val="315E9C"/>
            </a:solidFill>
          </a:ln>
          <a:effectLst/>
        </p:spPr>
      </p:cxnSp>
      <p:cxnSp>
        <p:nvCxnSpPr>
          <p:cNvPr id="35" name="Connector 34"/>
          <p:cNvCxnSpPr/>
          <p:nvPr/>
        </p:nvCxnSpPr>
        <p:spPr>
          <a:xfrm>
            <a:off x="6096000" y="3268979"/>
            <a:ext cx="0" cy="457200"/>
          </a:xfrm>
          <a:prstGeom prst="line">
            <a:avLst/>
          </a:prstGeom>
          <a:ln w="15240">
            <a:solidFill>
              <a:srgbClr val="007C78"/>
            </a:solidFill>
          </a:ln>
          <a:effectLst/>
        </p:spPr>
      </p:cxnSp>
      <p:sp>
        <p:nvSpPr>
          <p:cNvPr id="36" name="Freeform 35"/>
          <p:cNvSpPr/>
          <p:nvPr/>
        </p:nvSpPr>
        <p:spPr>
          <a:xfrm>
            <a:off x="6057900" y="362712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37" name="Rounded Rectangle 36"/>
          <p:cNvSpPr/>
          <p:nvPr/>
        </p:nvSpPr>
        <p:spPr>
          <a:xfrm>
            <a:off x="3208020" y="3726179"/>
            <a:ext cx="5775960" cy="1082040"/>
          </a:xfrm>
          <a:prstGeom prst="roundRect">
            <a:avLst>
              <a:gd name="adj" fmla="val 9154"/>
            </a:avLst>
          </a:prstGeom>
          <a:solidFill>
            <a:srgbClr val="DCEFE8"/>
          </a:solidFill>
          <a:ln w="7620">
            <a:solidFill>
              <a:srgbClr val="007C78"/>
            </a:solidFill>
          </a:ln>
          <a:effectLst/>
        </p:spPr>
        <p:txBody>
          <a:bodyPr rtlCol="0" anchor="ctr"/>
          <a:lstStyle/>
          <a:p>
            <a:pPr algn="ctr"/>
          </a:p>
        </p:txBody>
      </p:sp>
      <p:sp>
        <p:nvSpPr>
          <p:cNvPr id="38" name="TextBox 37"/>
          <p:cNvSpPr txBox="1"/>
          <p:nvPr/>
        </p:nvSpPr>
        <p:spPr>
          <a:xfrm>
            <a:off x="3375660" y="3893819"/>
            <a:ext cx="54406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Derived P ⇒ R</a:t>
            </a:r>
          </a:p>
        </p:txBody>
      </p:sp>
      <p:sp>
        <p:nvSpPr>
          <p:cNvPr id="39" name="TextBox 38"/>
          <p:cNvSpPr txBox="1"/>
          <p:nvPr/>
        </p:nvSpPr>
        <p:spPr>
          <a:xfrm>
            <a:off x="3375660" y="4301642"/>
            <a:ext cx="54406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Inherited evidence roots + actual grounded ancestry</a:t>
            </a:r>
          </a:p>
        </p:txBody>
      </p:sp>
      <p:sp>
        <p:nvSpPr>
          <p:cNvPr id="40" name="TextBox 39"/>
          <p:cNvSpPr txBox="1"/>
          <p:nvPr/>
        </p:nvSpPr>
        <p:spPr>
          <a:xfrm>
            <a:off x="594360" y="51816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Unknown target: initialize inferential support. Existing truth: keep the alternative.</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new observation, root, independence assertion or evidence count is created.</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derived_beliefs.py · pln_deduction.py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KERNEL AND RUNTIME COMPATIBILITY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grounded rule reuses the actual native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replacement arithmetic and no general search loop: five explicit premises produce one proposal.</a:t>
            </a:r>
          </a:p>
        </p:txBody>
      </p:sp>
      <p:sp>
        <p:nvSpPr>
          <p:cNvPr id="5" name="Rounded Rectangle 4"/>
          <p:cNvSpPr/>
          <p:nvPr/>
        </p:nvSpPr>
        <p:spPr>
          <a:xfrm>
            <a:off x="54864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Fusion PLNKernel</a:t>
            </a:r>
          </a:p>
        </p:txBody>
      </p:sp>
      <p:sp>
        <p:nvSpPr>
          <p:cNvPr id="7" name="TextBox 6"/>
          <p:cNvSpPr txBox="1"/>
          <p:nvPr/>
        </p:nvSpPr>
        <p:spPr>
          <a:xfrm>
            <a:off x="71628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Exact bindings,</a:t>
            </a:r>
          </a:p>
        </p:txBody>
      </p:sp>
      <p:sp>
        <p:nvSpPr>
          <p:cNvPr id="8" name="TextBox 7"/>
          <p:cNvSpPr txBox="1"/>
          <p:nvPr/>
        </p:nvSpPr>
        <p:spPr>
          <a:xfrm>
            <a:off x="71628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checks and</a:t>
            </a:r>
          </a:p>
        </p:txBody>
      </p:sp>
      <p:sp>
        <p:nvSpPr>
          <p:cNvPr id="9" name="TextBox 8"/>
          <p:cNvSpPr txBox="1"/>
          <p:nvPr/>
        </p:nvSpPr>
        <p:spPr>
          <a:xfrm>
            <a:off x="716280" y="3073603"/>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remaining deadline</a:t>
            </a:r>
          </a:p>
        </p:txBody>
      </p:sp>
      <p:sp>
        <p:nvSpPr>
          <p:cNvPr id="10" name="Rounded Rectangle 9"/>
          <p:cNvSpPr/>
          <p:nvPr/>
        </p:nvSpPr>
        <p:spPr>
          <a:xfrm>
            <a:off x="4267200" y="1981200"/>
            <a:ext cx="36576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434840" y="2148840"/>
            <a:ext cx="332231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Pinned Reachability</a:t>
            </a:r>
          </a:p>
        </p:txBody>
      </p:sp>
      <p:sp>
        <p:nvSpPr>
          <p:cNvPr id="12" name="TextBox 11"/>
          <p:cNvSpPr txBox="1"/>
          <p:nvPr/>
        </p:nvSpPr>
        <p:spPr>
          <a:xfrm>
            <a:off x="4434840" y="2527401"/>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PLNAdapter.apply_rule</a:t>
            </a:r>
          </a:p>
        </p:txBody>
      </p:sp>
      <p:sp>
        <p:nvSpPr>
          <p:cNvPr id="13" name="TextBox 12"/>
          <p:cNvSpPr txBox="1"/>
          <p:nvPr/>
        </p:nvSpPr>
        <p:spPr>
          <a:xfrm>
            <a:off x="4434840" y="2800502"/>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DeductionRule + guards</a:t>
            </a:r>
          </a:p>
        </p:txBody>
      </p:sp>
      <p:sp>
        <p:nvSpPr>
          <p:cNvPr id="14" name="Rounded Rectangle 13"/>
          <p:cNvSpPr/>
          <p:nvPr/>
        </p:nvSpPr>
        <p:spPr>
          <a:xfrm>
            <a:off x="844296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5" name="TextBox 14"/>
          <p:cNvSpPr txBox="1"/>
          <p:nvPr/>
        </p:nvSpPr>
        <p:spPr>
          <a:xfrm>
            <a:off x="861060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Native PLN / PeTTa</a:t>
            </a:r>
          </a:p>
        </p:txBody>
      </p:sp>
      <p:sp>
        <p:nvSpPr>
          <p:cNvPr id="16" name="TextBox 15"/>
          <p:cNvSpPr txBox="1"/>
          <p:nvPr/>
        </p:nvSpPr>
        <p:spPr>
          <a:xfrm>
            <a:off x="861060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Truth_Deduction</a:t>
            </a:r>
          </a:p>
        </p:txBody>
      </p:sp>
      <p:sp>
        <p:nvSpPr>
          <p:cNvPr id="17" name="TextBox 16"/>
          <p:cNvSpPr txBox="1"/>
          <p:nvPr/>
        </p:nvSpPr>
        <p:spPr>
          <a:xfrm>
            <a:off x="861060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SWI 10.1.14 + Janus</a:t>
            </a:r>
          </a:p>
        </p:txBody>
      </p:sp>
      <p:cxnSp>
        <p:nvCxnSpPr>
          <p:cNvPr id="18" name="Connector 17"/>
          <p:cNvCxnSpPr/>
          <p:nvPr/>
        </p:nvCxnSpPr>
        <p:spPr>
          <a:xfrm>
            <a:off x="3749040" y="2834640"/>
            <a:ext cx="518160" cy="0"/>
          </a:xfrm>
          <a:prstGeom prst="line">
            <a:avLst/>
          </a:prstGeom>
          <a:ln w="15240">
            <a:solidFill>
              <a:srgbClr val="007C78"/>
            </a:solidFill>
          </a:ln>
          <a:effectLst/>
        </p:spPr>
      </p:cxnSp>
      <p:sp>
        <p:nvSpPr>
          <p:cNvPr id="19" name="Freeform 18"/>
          <p:cNvSpPr/>
          <p:nvPr/>
        </p:nvSpPr>
        <p:spPr>
          <a:xfrm>
            <a:off x="416814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20" name="Connector 19"/>
          <p:cNvCxnSpPr/>
          <p:nvPr/>
        </p:nvCxnSpPr>
        <p:spPr>
          <a:xfrm>
            <a:off x="7924800" y="2834640"/>
            <a:ext cx="518160" cy="0"/>
          </a:xfrm>
          <a:prstGeom prst="line">
            <a:avLst/>
          </a:prstGeom>
          <a:ln w="15240">
            <a:solidFill>
              <a:srgbClr val="007C78"/>
            </a:solidFill>
          </a:ln>
          <a:effectLst/>
        </p:spPr>
      </p:cxnSp>
      <p:sp>
        <p:nvSpPr>
          <p:cNvPr id="21" name="Freeform 20"/>
          <p:cNvSpPr/>
          <p:nvPr/>
        </p:nvSpPr>
        <p:spPr>
          <a:xfrm>
            <a:off x="834390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2" name="Rounded Rectangle 21"/>
          <p:cNvSpPr/>
          <p:nvPr/>
        </p:nvSpPr>
        <p:spPr>
          <a:xfrm>
            <a:off x="548640" y="4175760"/>
            <a:ext cx="536448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716280" y="434340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Two probability checks</a:t>
            </a:r>
          </a:p>
        </p:txBody>
      </p:sp>
      <p:sp>
        <p:nvSpPr>
          <p:cNvPr id="24" name="TextBox 23"/>
          <p:cNvSpPr txBox="1"/>
          <p:nvPr/>
        </p:nvSpPr>
        <p:spPr>
          <a:xfrm>
            <a:off x="716280" y="471220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Upstream exact Python precheck and the native</a:t>
            </a:r>
          </a:p>
        </p:txBody>
      </p:sp>
      <p:sp>
        <p:nvSpPr>
          <p:cNvPr id="25" name="TextBox 24"/>
          <p:cNvSpPr txBox="1"/>
          <p:nvPr/>
        </p:nvSpPr>
        <p:spPr>
          <a:xfrm>
            <a:off x="716280" y="497555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consistency guard both apply.</a:t>
            </a:r>
          </a:p>
        </p:txBody>
      </p:sp>
      <p:sp>
        <p:nvSpPr>
          <p:cNvPr id="26" name="Rounded Rectangle 25"/>
          <p:cNvSpPr/>
          <p:nvPr/>
        </p:nvSpPr>
        <p:spPr>
          <a:xfrm>
            <a:off x="6096000" y="4175760"/>
            <a:ext cx="554736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7" name="TextBox 26"/>
          <p:cNvSpPr txBox="1"/>
          <p:nvPr/>
        </p:nvSpPr>
        <p:spPr>
          <a:xfrm>
            <a:off x="6263640" y="434340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Separate compatibility profile</a:t>
            </a:r>
          </a:p>
        </p:txBody>
      </p:sp>
      <p:sp>
        <p:nvSpPr>
          <p:cNvPr id="28" name="TextBox 27"/>
          <p:cNvSpPr txBox="1"/>
          <p:nvPr/>
        </p:nvSpPr>
        <p:spPr>
          <a:xfrm>
            <a:off x="6263640" y="471220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Deduction has its own source/runtime allowlist;</a:t>
            </a:r>
          </a:p>
        </p:txBody>
      </p:sp>
      <p:sp>
        <p:nvSpPr>
          <p:cNvPr id="29" name="TextBox 28"/>
          <p:cNvSpPr txBox="1"/>
          <p:nvPr/>
        </p:nvSpPr>
        <p:spPr>
          <a:xfrm>
            <a:off x="6263640" y="497555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revision-only profile stays intact.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Kernel output is a proposal. C2 performs final authorization, CAS and admission.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deduction-sources.json · integration/pln/test_deduction.py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NUMERICAL EVIDENCE</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Native goldens check deduction and preserved revision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Independent expected values check pinned native formulas; no replacement math runs in the owners.</a:t>
            </a:r>
          </a:p>
        </p:txBody>
      </p:sp>
      <p:sp>
        <p:nvSpPr>
          <p:cNvPr id="5" name="Rounded Rectangle 4"/>
          <p:cNvSpPr/>
          <p:nvPr/>
        </p:nvSpPr>
        <p:spPr>
          <a:xfrm>
            <a:off x="548640" y="1889759"/>
            <a:ext cx="5364480" cy="2644140"/>
          </a:xfrm>
          <a:prstGeom prst="roundRect">
            <a:avLst>
              <a:gd name="adj" fmla="val 374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57400"/>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M3 · Grounded deduction</a:t>
            </a:r>
          </a:p>
        </p:txBody>
      </p:sp>
      <p:sp>
        <p:nvSpPr>
          <p:cNvPr id="7" name="TextBox 6"/>
          <p:cNvSpPr txBox="1"/>
          <p:nvPr/>
        </p:nvSpPr>
        <p:spPr>
          <a:xfrm>
            <a:off x="716280" y="244571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 Q, R = (0.5, 0.8)</a:t>
            </a:r>
          </a:p>
        </p:txBody>
      </p:sp>
      <p:sp>
        <p:nvSpPr>
          <p:cNvPr id="8" name="TextBox 7"/>
          <p:cNvSpPr txBox="1"/>
          <p:nvPr/>
        </p:nvSpPr>
        <p:spPr>
          <a:xfrm>
            <a:off x="716280" y="272856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P⇒Q, Q⇒R = (0.8, 0.7)</a:t>
            </a:r>
          </a:p>
        </p:txBody>
      </p:sp>
      <p:sp>
        <p:nvSpPr>
          <p:cNvPr id="9" name="TextBox 8"/>
          <p:cNvSpPr txBox="1"/>
          <p:nvPr/>
        </p:nvSpPr>
        <p:spPr>
          <a:xfrm>
            <a:off x="716280" y="301142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29427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Expected P⇒R: (0.68, 0.3136)</a:t>
            </a:r>
          </a:p>
        </p:txBody>
      </p:sp>
      <p:sp>
        <p:nvSpPr>
          <p:cNvPr id="11" name="Rounded Rectangle 10"/>
          <p:cNvSpPr/>
          <p:nvPr/>
        </p:nvSpPr>
        <p:spPr>
          <a:xfrm>
            <a:off x="6096000" y="1889759"/>
            <a:ext cx="5547360" cy="2644140"/>
          </a:xfrm>
          <a:prstGeom prst="roundRect">
            <a:avLst>
              <a:gd name="adj" fmla="val 374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6263640" y="2057400"/>
            <a:ext cx="521208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M2 · Guarded revision</a:t>
            </a:r>
          </a:p>
        </p:txBody>
      </p:sp>
      <p:sp>
        <p:nvSpPr>
          <p:cNvPr id="13" name="TextBox 12"/>
          <p:cNvSpPr txBox="1"/>
          <p:nvPr/>
        </p:nvSpPr>
        <p:spPr>
          <a:xfrm>
            <a:off x="6263640" y="24457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(0.75, 0.50) + (0.25, 0.50)</a:t>
            </a:r>
          </a:p>
        </p:txBody>
      </p:sp>
      <p:sp>
        <p:nvSpPr>
          <p:cNvPr id="14" name="TextBox 13"/>
          <p:cNvSpPr txBox="1"/>
          <p:nvPr/>
        </p:nvSpPr>
        <p:spPr>
          <a:xfrm>
            <a:off x="6263640" y="27188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(0.50, 2/3)</a:t>
            </a:r>
          </a:p>
        </p:txBody>
      </p:sp>
      <p:sp>
        <p:nvSpPr>
          <p:cNvPr id="15" name="TextBox 14"/>
          <p:cNvSpPr txBox="1"/>
          <p:nvPr/>
        </p:nvSpPr>
        <p:spPr>
          <a:xfrm>
            <a:off x="6263640" y="2991916"/>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a:r>
          </a:p>
        </p:txBody>
      </p:sp>
      <p:sp>
        <p:nvSpPr>
          <p:cNvPr id="16" name="TextBox 15"/>
          <p:cNvSpPr txBox="1"/>
          <p:nvPr/>
        </p:nvSpPr>
        <p:spPr>
          <a:xfrm>
            <a:off x="6263640" y="3265017"/>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Unequal confidence 0.50 / 0.75</a:t>
            </a:r>
          </a:p>
        </p:txBody>
      </p:sp>
      <p:sp>
        <p:nvSpPr>
          <p:cNvPr id="17" name="TextBox 16"/>
          <p:cNvSpPr txBox="1"/>
          <p:nvPr/>
        </p:nvSpPr>
        <p:spPr>
          <a:xfrm>
            <a:off x="6263640" y="3538118"/>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(0.375, 0.80)</a:t>
            </a:r>
          </a:p>
        </p:txBody>
      </p:sp>
      <p:sp>
        <p:nvSpPr>
          <p:cNvPr id="18" name="TextBox 17"/>
          <p:cNvSpPr txBox="1"/>
          <p:nvPr/>
        </p:nvSpPr>
        <p:spPr>
          <a:xfrm>
            <a:off x="594360" y="4892040"/>
            <a:ext cx="10896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102B3F"/>
                </a:solidFill>
                <a:latin typeface="DejaVu Sans Mono"/>
              </a:rPr>
              <a:t>Observed deduction: 0.6800000000000002 / 0.31360000000000005</a:t>
            </a:r>
          </a:p>
        </p:txBody>
      </p:sp>
      <p:sp>
        <p:nvSpPr>
          <p:cNvPr id="19" name="TextBox 18"/>
          <p:cNvSpPr txBox="1"/>
          <p:nvPr/>
        </p:nvSpPr>
        <p:spPr>
          <a:xfrm>
            <a:off x="594360" y="531876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102B3F"/>
                </a:solidFill>
                <a:latin typeface="DejaVu Sans"/>
              </a:rPr>
              <a:t>Absolute tolerance 1e−12; finite-domain and lineage guards remain active.</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These are model-specific heuristics, not calibrated real-world confidence or proven entailment.</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test_deduction.py · preserved test_revision.py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SHORT-TERM IMPORTANCE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 small, independent attention policy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sti-additive-linear-decay/1 · integer STI · explicit logical time · persistent causal identity</a:t>
            </a:r>
          </a:p>
        </p:txBody>
      </p:sp>
      <p:sp>
        <p:nvSpPr>
          <p:cNvPr id="5" name="Rounded Rectangle 4"/>
          <p:cNvSpPr/>
          <p:nvPr/>
        </p:nvSpPr>
        <p:spPr>
          <a:xfrm>
            <a:off x="54864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Stimulate</a:t>
            </a:r>
          </a:p>
        </p:txBody>
      </p:sp>
      <p:sp>
        <p:nvSpPr>
          <p:cNvPr id="7" name="TextBox 6"/>
          <p:cNvSpPr txBox="1"/>
          <p:nvPr/>
        </p:nvSpPr>
        <p:spPr>
          <a:xfrm>
            <a:off x="71628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Add within per-target</a:t>
            </a:r>
          </a:p>
        </p:txBody>
      </p:sp>
      <p:sp>
        <p:nvSpPr>
          <p:cNvPr id="8" name="TextBox 7"/>
          <p:cNvSpPr txBox="1"/>
          <p:nvPr/>
        </p:nvSpPr>
        <p:spPr>
          <a:xfrm>
            <a:off x="71628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saturation. Refuse the whole</a:t>
            </a:r>
          </a:p>
        </p:txBody>
      </p:sp>
      <p:sp>
        <p:nvSpPr>
          <p:cNvPr id="9" name="TextBox 8"/>
          <p:cNvSpPr txBox="1"/>
          <p:nvPr/>
        </p:nvSpPr>
        <p:spPr>
          <a:xfrm>
            <a:off x="71628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change if the context</a:t>
            </a:r>
          </a:p>
        </p:txBody>
      </p:sp>
      <p:sp>
        <p:nvSpPr>
          <p:cNvPr id="10" name="TextBox 9"/>
          <p:cNvSpPr txBox="1"/>
          <p:nvPr/>
        </p:nvSpPr>
        <p:spPr>
          <a:xfrm>
            <a:off x="71628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budget would be exceeded.</a:t>
            </a:r>
          </a:p>
        </p:txBody>
      </p:sp>
      <p:sp>
        <p:nvSpPr>
          <p:cNvPr id="11" name="Rounded Rectangle 10"/>
          <p:cNvSpPr/>
          <p:nvPr/>
        </p:nvSpPr>
        <p:spPr>
          <a:xfrm>
            <a:off x="4328160" y="1905000"/>
            <a:ext cx="3535679" cy="2522220"/>
          </a:xfrm>
          <a:prstGeom prst="roundRect">
            <a:avLst>
              <a:gd name="adj" fmla="val 3927"/>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Select</a:t>
            </a:r>
          </a:p>
        </p:txBody>
      </p:sp>
      <p:sp>
        <p:nvSpPr>
          <p:cNvPr id="13" name="TextBox 12"/>
          <p:cNvSpPr txBox="1"/>
          <p:nvPr/>
        </p:nvSpPr>
        <p:spPr>
          <a:xfrm>
            <a:off x="449580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Rank positive eligible</a:t>
            </a:r>
          </a:p>
        </p:txBody>
      </p:sp>
      <p:sp>
        <p:nvSpPr>
          <p:cNvPr id="14" name="TextBox 13"/>
          <p:cNvSpPr txBox="1"/>
          <p:nvPr/>
        </p:nvSpPr>
        <p:spPr>
          <a:xfrm>
            <a:off x="449580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targets by descending STI,</a:t>
            </a:r>
          </a:p>
        </p:txBody>
      </p:sp>
      <p:sp>
        <p:nvSpPr>
          <p:cNvPr id="15" name="TextBox 14"/>
          <p:cNvSpPr txBox="1"/>
          <p:nvPr/>
        </p:nvSpPr>
        <p:spPr>
          <a:xfrm>
            <a:off x="449580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then the full canonical</a:t>
            </a:r>
          </a:p>
        </p:txBody>
      </p:sp>
      <p:sp>
        <p:nvSpPr>
          <p:cNvPr id="16" name="TextBox 15"/>
          <p:cNvSpPr txBox="1"/>
          <p:nvPr/>
        </p:nvSpPr>
        <p:spPr>
          <a:xfrm>
            <a:off x="449580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reference. Reads do not</a:t>
            </a:r>
          </a:p>
        </p:txBody>
      </p:sp>
      <p:sp>
        <p:nvSpPr>
          <p:cNvPr id="17" name="TextBox 16"/>
          <p:cNvSpPr txBox="1"/>
          <p:nvPr/>
        </p:nvSpPr>
        <p:spPr>
          <a:xfrm>
            <a:off x="449580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decay state.</a:t>
            </a:r>
          </a:p>
        </p:txBody>
      </p:sp>
      <p:sp>
        <p:nvSpPr>
          <p:cNvPr id="18" name="Rounded Rectangle 17"/>
          <p:cNvSpPr/>
          <p:nvPr/>
        </p:nvSpPr>
        <p:spPr>
          <a:xfrm>
            <a:off x="810768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19" name="TextBox 18"/>
          <p:cNvSpPr txBox="1"/>
          <p:nvPr/>
        </p:nvSpPr>
        <p:spPr>
          <a:xfrm>
            <a:off x="827532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Advance</a:t>
            </a:r>
          </a:p>
        </p:txBody>
      </p:sp>
      <p:sp>
        <p:nvSpPr>
          <p:cNvPr id="20" name="TextBox 19"/>
          <p:cNvSpPr txBox="1"/>
          <p:nvPr/>
        </p:nvSpPr>
        <p:spPr>
          <a:xfrm>
            <a:off x="827532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Explicitly decay by logical</a:t>
            </a:r>
          </a:p>
        </p:txBody>
      </p:sp>
      <p:sp>
        <p:nvSpPr>
          <p:cNvPr id="21" name="TextBox 20"/>
          <p:cNvSpPr txBox="1"/>
          <p:nvPr/>
        </p:nvSpPr>
        <p:spPr>
          <a:xfrm>
            <a:off x="827532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steps. Stored causal</a:t>
            </a:r>
          </a:p>
        </p:txBody>
      </p:sp>
      <p:sp>
        <p:nvSpPr>
          <p:cNvPr id="22" name="TextBox 21"/>
          <p:cNvSpPr txBox="1"/>
          <p:nvPr/>
        </p:nvSpPr>
        <p:spPr>
          <a:xfrm>
            <a:off x="827532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generation survives decay,</a:t>
            </a:r>
          </a:p>
        </p:txBody>
      </p:sp>
      <p:sp>
        <p:nvSpPr>
          <p:cNvPr id="23" name="TextBox 22"/>
          <p:cNvSpPr txBox="1"/>
          <p:nvPr/>
        </p:nvSpPr>
        <p:spPr>
          <a:xfrm>
            <a:off x="827532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new ingress and new step</a:t>
            </a:r>
          </a:p>
        </p:txBody>
      </p:sp>
      <p:sp>
        <p:nvSpPr>
          <p:cNvPr id="24" name="TextBox 23"/>
          <p:cNvSpPr txBox="1"/>
          <p:nvPr/>
        </p:nvSpPr>
        <p:spPr>
          <a:xfrm>
            <a:off x="827532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IDs.</a:t>
            </a:r>
          </a:p>
        </p:txBody>
      </p:sp>
      <p:sp>
        <p:nvSpPr>
          <p:cNvPr id="25" name="TextBox 24"/>
          <p:cNvSpPr txBox="1"/>
          <p:nvPr/>
        </p:nvSpPr>
        <p:spPr>
          <a:xfrm>
            <a:off x="586740" y="478536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Default limits: 100 STI per target · 300 per context · decay 1 per logical step</a:t>
            </a:r>
          </a:p>
        </p:txBody>
      </p:sp>
      <p:sp>
        <p:nvSpPr>
          <p:cNvPr id="26" name="TextBox 25"/>
          <p:cNvSpPr txBox="1"/>
          <p:nvPr/>
        </p:nvSpPr>
        <p:spPr>
          <a:xfrm>
            <a:off x="586740" y="526542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Only authority and opaque-reference syntax are required; no Hive, storage or PLN runtime.</a:t>
            </a:r>
          </a:p>
        </p:txBody>
      </p:sp>
      <p:sp>
        <p:nvSpPr>
          <p:cNvPr id="27" name="Rounded Rectangle 2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8" name="TextBox 27"/>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This reference policy is implemented. ECAN, LTI, diffusion and new attention research are out of scope.</a:t>
            </a:r>
          </a:p>
        </p:txBody>
      </p:sp>
      <p:cxnSp>
        <p:nvCxnSpPr>
          <p:cNvPr id="29" name="Connector 28"/>
          <p:cNvCxnSpPr/>
          <p:nvPr/>
        </p:nvCxnSpPr>
        <p:spPr>
          <a:xfrm>
            <a:off x="548640" y="6393180"/>
            <a:ext cx="11094720" cy="0"/>
          </a:xfrm>
          <a:prstGeom prst="line">
            <a:avLst/>
          </a:prstGeom>
          <a:ln w="7620">
            <a:solidFill>
              <a:srgbClr val="C9D2D4"/>
            </a:solidFill>
          </a:ln>
          <a:effectLst/>
        </p:spPr>
      </p:cxnSp>
      <p:sp>
        <p:nvSpPr>
          <p:cNvPr id="30" name="TextBox 2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attention.py · fixture_attention.py</a:t>
            </a:r>
          </a:p>
        </p:txBody>
      </p:sp>
      <p:sp>
        <p:nvSpPr>
          <p:cNvPr id="31" name="TextBox 3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CONTROLLED SUBSTITUTION EXPERIMENT</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Attention replacement preserves the measured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Recorded M3 comparison: same tasks, evidence, policy and budgets; provider and preference vary.</a:t>
            </a:r>
          </a:p>
        </p:txBody>
      </p:sp>
      <p:sp>
        <p:nvSpPr>
          <p:cNvPr id="5" name="TextBox 4"/>
          <p:cNvSpPr txBox="1"/>
          <p:nvPr/>
        </p:nvSpPr>
        <p:spPr>
          <a:xfrm>
            <a:off x="6705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ATTENTION PROVIDER</a:t>
            </a:r>
          </a:p>
        </p:txBody>
      </p:sp>
      <p:sp>
        <p:nvSpPr>
          <p:cNvPr id="6" name="TextBox 5"/>
          <p:cNvSpPr txBox="1"/>
          <p:nvPr/>
        </p:nvSpPr>
        <p:spPr>
          <a:xfrm>
            <a:off x="5166360" y="1790700"/>
            <a:ext cx="1203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PREFER</a:t>
            </a:r>
          </a:p>
        </p:txBody>
      </p:sp>
      <p:sp>
        <p:nvSpPr>
          <p:cNvPr id="7" name="TextBox 6"/>
          <p:cNvSpPr txBox="1"/>
          <p:nvPr/>
        </p:nvSpPr>
        <p:spPr>
          <a:xfrm>
            <a:off x="6614159" y="1790700"/>
            <a:ext cx="23926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SELECTION ORDER</a:t>
            </a:r>
          </a:p>
        </p:txBody>
      </p:sp>
      <p:sp>
        <p:nvSpPr>
          <p:cNvPr id="8" name="TextBox 7"/>
          <p:cNvSpPr txBox="1"/>
          <p:nvPr/>
        </p:nvSpPr>
        <p:spPr>
          <a:xfrm>
            <a:off x="925068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STEP TIME</a:t>
            </a:r>
          </a:p>
        </p:txBody>
      </p:sp>
      <p:sp>
        <p:nvSpPr>
          <p:cNvPr id="9" name="Rounded Rectangle 8"/>
          <p:cNvSpPr/>
          <p:nvPr/>
        </p:nvSpPr>
        <p:spPr>
          <a:xfrm>
            <a:off x="548640" y="2110740"/>
            <a:ext cx="11094720" cy="632460"/>
          </a:xfrm>
          <a:prstGeom prst="roundRect">
            <a:avLst>
              <a:gd name="adj" fmla="val 7228"/>
            </a:avLst>
          </a:prstGeom>
          <a:solidFill>
            <a:srgbClr val="FFFFFF"/>
          </a:solidFill>
          <a:ln>
            <a:noFill/>
          </a:ln>
          <a:effectLst/>
        </p:spPr>
        <p:txBody>
          <a:bodyPr rtlCol="0" anchor="ctr"/>
          <a:lstStyle/>
          <a:p>
            <a:pPr algn="ctr"/>
          </a:p>
        </p:txBody>
      </p:sp>
      <p:sp>
        <p:nvSpPr>
          <p:cNvPr id="10" name="TextBox 9"/>
          <p:cNvSpPr txBox="1"/>
          <p:nvPr/>
        </p:nvSpPr>
        <p:spPr>
          <a:xfrm>
            <a:off x="670560" y="224028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1" name="TextBox 10"/>
          <p:cNvSpPr txBox="1"/>
          <p:nvPr/>
        </p:nvSpPr>
        <p:spPr>
          <a:xfrm>
            <a:off x="5166360" y="224028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12" name="TextBox 11"/>
          <p:cNvSpPr txBox="1"/>
          <p:nvPr/>
        </p:nvSpPr>
        <p:spPr>
          <a:xfrm>
            <a:off x="6614159" y="224028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13" name="TextBox 12"/>
          <p:cNvSpPr txBox="1"/>
          <p:nvPr/>
        </p:nvSpPr>
        <p:spPr>
          <a:xfrm>
            <a:off x="9250680" y="224028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0.744361 s</a:t>
            </a:r>
          </a:p>
        </p:txBody>
      </p:sp>
      <p:sp>
        <p:nvSpPr>
          <p:cNvPr id="14" name="Rounded Rectangle 13"/>
          <p:cNvSpPr/>
          <p:nvPr/>
        </p:nvSpPr>
        <p:spPr>
          <a:xfrm>
            <a:off x="548640" y="2781300"/>
            <a:ext cx="11094720" cy="632460"/>
          </a:xfrm>
          <a:prstGeom prst="roundRect">
            <a:avLst>
              <a:gd name="adj" fmla="val 7228"/>
            </a:avLst>
          </a:prstGeom>
          <a:solidFill>
            <a:srgbClr val="FFFFFF"/>
          </a:solidFill>
          <a:ln>
            <a:noFill/>
          </a:ln>
          <a:effectLst/>
        </p:spPr>
        <p:txBody>
          <a:bodyPr rtlCol="0" anchor="ctr"/>
          <a:lstStyle/>
          <a:p>
            <a:pPr algn="ctr"/>
          </a:p>
        </p:txBody>
      </p:sp>
      <p:sp>
        <p:nvSpPr>
          <p:cNvPr id="15" name="TextBox 14"/>
          <p:cNvSpPr txBox="1"/>
          <p:nvPr/>
        </p:nvSpPr>
        <p:spPr>
          <a:xfrm>
            <a:off x="670560" y="291084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6" name="TextBox 15"/>
          <p:cNvSpPr txBox="1"/>
          <p:nvPr/>
        </p:nvSpPr>
        <p:spPr>
          <a:xfrm>
            <a:off x="5166360" y="291084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17" name="TextBox 16"/>
          <p:cNvSpPr txBox="1"/>
          <p:nvPr/>
        </p:nvSpPr>
        <p:spPr>
          <a:xfrm>
            <a:off x="6614159" y="291084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18" name="TextBox 17"/>
          <p:cNvSpPr txBox="1"/>
          <p:nvPr/>
        </p:nvSpPr>
        <p:spPr>
          <a:xfrm>
            <a:off x="9250680" y="291084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0.677157 s</a:t>
            </a:r>
          </a:p>
        </p:txBody>
      </p:sp>
      <p:sp>
        <p:nvSpPr>
          <p:cNvPr id="19" name="Rounded Rectangle 18"/>
          <p:cNvSpPr/>
          <p:nvPr/>
        </p:nvSpPr>
        <p:spPr>
          <a:xfrm>
            <a:off x="548640" y="3451860"/>
            <a:ext cx="11094720" cy="632460"/>
          </a:xfrm>
          <a:prstGeom prst="roundRect">
            <a:avLst>
              <a:gd name="adj" fmla="val 7228"/>
            </a:avLst>
          </a:prstGeom>
          <a:solidFill>
            <a:srgbClr val="FFFFFF"/>
          </a:solidFill>
          <a:ln>
            <a:noFill/>
          </a:ln>
          <a:effectLst/>
        </p:spPr>
        <p:txBody>
          <a:bodyPr rtlCol="0" anchor="ctr"/>
          <a:lstStyle/>
          <a:p>
            <a:pPr algn="ctr"/>
          </a:p>
        </p:txBody>
      </p:sp>
      <p:sp>
        <p:nvSpPr>
          <p:cNvPr id="20" name="TextBox 19"/>
          <p:cNvSpPr txBox="1"/>
          <p:nvPr/>
        </p:nvSpPr>
        <p:spPr>
          <a:xfrm>
            <a:off x="670560" y="358140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1" name="TextBox 20"/>
          <p:cNvSpPr txBox="1"/>
          <p:nvPr/>
        </p:nvSpPr>
        <p:spPr>
          <a:xfrm>
            <a:off x="5166360" y="358140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22" name="TextBox 21"/>
          <p:cNvSpPr txBox="1"/>
          <p:nvPr/>
        </p:nvSpPr>
        <p:spPr>
          <a:xfrm>
            <a:off x="6614159" y="358140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23" name="TextBox 22"/>
          <p:cNvSpPr txBox="1"/>
          <p:nvPr/>
        </p:nvSpPr>
        <p:spPr>
          <a:xfrm>
            <a:off x="9250680" y="358140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0.726126 s</a:t>
            </a:r>
          </a:p>
        </p:txBody>
      </p:sp>
      <p:sp>
        <p:nvSpPr>
          <p:cNvPr id="24" name="Rounded Rectangle 23"/>
          <p:cNvSpPr/>
          <p:nvPr/>
        </p:nvSpPr>
        <p:spPr>
          <a:xfrm>
            <a:off x="548640" y="4122419"/>
            <a:ext cx="11094720" cy="632460"/>
          </a:xfrm>
          <a:prstGeom prst="roundRect">
            <a:avLst>
              <a:gd name="adj" fmla="val 7228"/>
            </a:avLst>
          </a:prstGeom>
          <a:solidFill>
            <a:srgbClr val="FFFFFF"/>
          </a:solidFill>
          <a:ln>
            <a:noFill/>
          </a:ln>
          <a:effectLst/>
        </p:spPr>
        <p:txBody>
          <a:bodyPr rtlCol="0" anchor="ctr"/>
          <a:lstStyle/>
          <a:p>
            <a:pPr algn="ctr"/>
          </a:p>
        </p:txBody>
      </p:sp>
      <p:sp>
        <p:nvSpPr>
          <p:cNvPr id="25" name="TextBox 24"/>
          <p:cNvSpPr txBox="1"/>
          <p:nvPr/>
        </p:nvSpPr>
        <p:spPr>
          <a:xfrm>
            <a:off x="670560" y="425196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6" name="TextBox 25"/>
          <p:cNvSpPr txBox="1"/>
          <p:nvPr/>
        </p:nvSpPr>
        <p:spPr>
          <a:xfrm>
            <a:off x="5166360" y="425196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27" name="TextBox 26"/>
          <p:cNvSpPr txBox="1"/>
          <p:nvPr/>
        </p:nvSpPr>
        <p:spPr>
          <a:xfrm>
            <a:off x="6614159" y="425196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28" name="TextBox 27"/>
          <p:cNvSpPr txBox="1"/>
          <p:nvPr/>
        </p:nvSpPr>
        <p:spPr>
          <a:xfrm>
            <a:off x="9250680" y="425196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0.641150 s</a:t>
            </a:r>
          </a:p>
        </p:txBody>
      </p:sp>
      <p:sp>
        <p:nvSpPr>
          <p:cNvPr id="29" name="Rounded Rectangle 28"/>
          <p:cNvSpPr/>
          <p:nvPr/>
        </p:nvSpPr>
        <p:spPr>
          <a:xfrm>
            <a:off x="548640" y="4914900"/>
            <a:ext cx="536448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08254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Every case</a:t>
            </a:r>
          </a:p>
        </p:txBody>
      </p:sp>
      <p:sp>
        <p:nvSpPr>
          <p:cNvPr id="31" name="TextBox 30"/>
          <p:cNvSpPr txBox="1"/>
          <p:nvPr/>
        </p:nvSpPr>
        <p:spPr>
          <a:xfrm>
            <a:off x="716280" y="539282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native call · 1 unique admission · 1 feedback credit</a:t>
            </a:r>
          </a:p>
        </p:txBody>
      </p:sp>
      <p:sp>
        <p:nvSpPr>
          <p:cNvPr id="32" name="Rounded Rectangle 31"/>
          <p:cNvSpPr/>
          <p:nvPr/>
        </p:nvSpPr>
        <p:spPr>
          <a:xfrm>
            <a:off x="6096000" y="4914900"/>
            <a:ext cx="55473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3" name="TextBox 32"/>
          <p:cNvSpPr txBox="1"/>
          <p:nvPr/>
        </p:nvSpPr>
        <p:spPr>
          <a:xfrm>
            <a:off x="6263640" y="5082540"/>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Reopen all owners</a:t>
            </a:r>
          </a:p>
        </p:txBody>
      </p:sp>
      <p:sp>
        <p:nvSpPr>
          <p:cNvPr id="34" name="TextBox 33"/>
          <p:cNvSpPr txBox="1"/>
          <p:nvPr/>
        </p:nvSpPr>
        <p:spPr>
          <a:xfrm>
            <a:off x="6263640" y="5392826"/>
            <a:ext cx="52120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Same receipt · zero additional native calls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Four local observations demonstrate substitution and selection effect; they are not a performance ranking.</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m3/final/comparison.json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BOUNDED INFERENCE CONTROL</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C4: reserve work durably before invoking the rule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work budget limits physical evaluation opportunities, even when the process dies.</a:t>
            </a:r>
          </a:p>
        </p:txBody>
      </p:sp>
      <p:sp>
        <p:nvSpPr>
          <p:cNvPr id="5" name="Rounded Rectangle 4"/>
          <p:cNvSpPr/>
          <p:nvPr/>
        </p:nvSpPr>
        <p:spPr>
          <a:xfrm>
            <a:off x="5486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Freeze</a:t>
            </a:r>
          </a:p>
        </p:txBody>
      </p:sp>
      <p:sp>
        <p:nvSpPr>
          <p:cNvPr id="7" name="TextBox 6"/>
          <p:cNvSpPr txBox="1"/>
          <p:nvPr/>
        </p:nvSpPr>
        <p:spPr>
          <a:xfrm>
            <a:off x="716280"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selection</a:t>
            </a:r>
          </a:p>
        </p:txBody>
      </p:sp>
      <p:sp>
        <p:nvSpPr>
          <p:cNvPr id="8" name="TextBox 7"/>
          <p:cNvSpPr txBox="1"/>
          <p:nvPr/>
        </p:nvSpPr>
        <p:spPr>
          <a:xfrm>
            <a:off x="716280"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Read the immutable</a:t>
            </a:r>
          </a:p>
        </p:txBody>
      </p:sp>
      <p:sp>
        <p:nvSpPr>
          <p:cNvPr id="9" name="TextBox 8"/>
          <p:cNvSpPr txBox="1"/>
          <p:nvPr/>
        </p:nvSpPr>
        <p:spPr>
          <a:xfrm>
            <a:off x="716280"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workset and exact</a:t>
            </a:r>
          </a:p>
        </p:txBody>
      </p:sp>
      <p:sp>
        <p:nvSpPr>
          <p:cNvPr id="10" name="TextBox 9"/>
          <p:cNvSpPr txBox="1"/>
          <p:nvPr/>
        </p:nvSpPr>
        <p:spPr>
          <a:xfrm>
            <a:off x="716280"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attention order.</a:t>
            </a:r>
          </a:p>
        </p:txBody>
      </p:sp>
      <p:cxnSp>
        <p:nvCxnSpPr>
          <p:cNvPr id="11" name="Connector 10"/>
          <p:cNvCxnSpPr/>
          <p:nvPr/>
        </p:nvCxnSpPr>
        <p:spPr>
          <a:xfrm>
            <a:off x="3185160" y="2933700"/>
            <a:ext cx="160019" cy="0"/>
          </a:xfrm>
          <a:prstGeom prst="line">
            <a:avLst/>
          </a:prstGeom>
          <a:ln w="15240">
            <a:solidFill>
              <a:srgbClr val="536775"/>
            </a:solidFill>
          </a:ln>
          <a:effectLst/>
        </p:spPr>
      </p:cxnSp>
      <p:sp>
        <p:nvSpPr>
          <p:cNvPr id="12" name="Freeform 11"/>
          <p:cNvSpPr/>
          <p:nvPr/>
        </p:nvSpPr>
        <p:spPr>
          <a:xfrm>
            <a:off x="32461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3" name="Rounded Rectangle 12"/>
          <p:cNvSpPr/>
          <p:nvPr/>
        </p:nvSpPr>
        <p:spPr>
          <a:xfrm>
            <a:off x="3368040" y="2019300"/>
            <a:ext cx="2636520" cy="1828800"/>
          </a:xfrm>
          <a:prstGeom prst="roundRect">
            <a:avLst>
              <a:gd name="adj" fmla="val 5416"/>
            </a:avLst>
          </a:prstGeom>
          <a:solidFill>
            <a:srgbClr val="FFFFFF"/>
          </a:solidFill>
          <a:ln w="7620">
            <a:solidFill>
              <a:srgbClr val="A86A15"/>
            </a:solidFill>
          </a:ln>
          <a:effectLst/>
        </p:spPr>
        <p:txBody>
          <a:bodyPr rtlCol="0" anchor="ctr"/>
          <a:lstStyle/>
          <a:p>
            <a:pPr algn="ctr"/>
          </a:p>
        </p:txBody>
      </p:sp>
      <p:sp>
        <p:nvSpPr>
          <p:cNvPr id="14" name="TextBox 13"/>
          <p:cNvSpPr txBox="1"/>
          <p:nvPr/>
        </p:nvSpPr>
        <p:spPr>
          <a:xfrm>
            <a:off x="3535679"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2 · Reserve</a:t>
            </a:r>
          </a:p>
        </p:txBody>
      </p:sp>
      <p:sp>
        <p:nvSpPr>
          <p:cNvPr id="15" name="TextBox 14"/>
          <p:cNvSpPr txBox="1"/>
          <p:nvPr/>
        </p:nvSpPr>
        <p:spPr>
          <a:xfrm>
            <a:off x="3535679"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attempt</a:t>
            </a:r>
          </a:p>
        </p:txBody>
      </p:sp>
      <p:sp>
        <p:nvSpPr>
          <p:cNvPr id="16" name="TextBox 15"/>
          <p:cNvSpPr txBox="1"/>
          <p:nvPr/>
        </p:nvSpPr>
        <p:spPr>
          <a:xfrm>
            <a:off x="3535679"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Commit candidate</a:t>
            </a:r>
          </a:p>
        </p:txBody>
      </p:sp>
      <p:sp>
        <p:nvSpPr>
          <p:cNvPr id="17" name="TextBox 16"/>
          <p:cNvSpPr txBox="1"/>
          <p:nvPr/>
        </p:nvSpPr>
        <p:spPr>
          <a:xfrm>
            <a:off x="3535679"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progress and a</a:t>
            </a:r>
          </a:p>
        </p:txBody>
      </p:sp>
      <p:sp>
        <p:nvSpPr>
          <p:cNvPr id="18" name="TextBox 17"/>
          <p:cNvSpPr txBox="1"/>
          <p:nvPr/>
        </p:nvSpPr>
        <p:spPr>
          <a:xfrm>
            <a:off x="3535679"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physical attempt slot.</a:t>
            </a:r>
          </a:p>
        </p:txBody>
      </p:sp>
      <p:cxnSp>
        <p:nvCxnSpPr>
          <p:cNvPr id="19" name="Connector 18"/>
          <p:cNvCxnSpPr/>
          <p:nvPr/>
        </p:nvCxnSpPr>
        <p:spPr>
          <a:xfrm>
            <a:off x="6004559" y="2933700"/>
            <a:ext cx="160021" cy="0"/>
          </a:xfrm>
          <a:prstGeom prst="line">
            <a:avLst/>
          </a:prstGeom>
          <a:ln w="15240">
            <a:solidFill>
              <a:srgbClr val="536775"/>
            </a:solidFill>
          </a:ln>
          <a:effectLst/>
        </p:spPr>
      </p:cxnSp>
      <p:sp>
        <p:nvSpPr>
          <p:cNvPr id="20" name="Freeform 19"/>
          <p:cNvSpPr/>
          <p:nvPr/>
        </p:nvSpPr>
        <p:spPr>
          <a:xfrm>
            <a:off x="60655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1" name="Rounded Rectangle 20"/>
          <p:cNvSpPr/>
          <p:nvPr/>
        </p:nvSpPr>
        <p:spPr>
          <a:xfrm>
            <a:off x="6187440" y="2019300"/>
            <a:ext cx="2636520" cy="1828800"/>
          </a:xfrm>
          <a:prstGeom prst="roundRect">
            <a:avLst>
              <a:gd name="adj" fmla="val 5416"/>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63550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3 · Ask C2</a:t>
            </a:r>
          </a:p>
        </p:txBody>
      </p:sp>
      <p:sp>
        <p:nvSpPr>
          <p:cNvPr id="23" name="TextBox 22"/>
          <p:cNvSpPr txBox="1"/>
          <p:nvPr/>
        </p:nvSpPr>
        <p:spPr>
          <a:xfrm>
            <a:off x="63550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a decision or</a:t>
            </a:r>
          </a:p>
        </p:txBody>
      </p:sp>
      <p:sp>
        <p:nvSpPr>
          <p:cNvPr id="24" name="TextBox 23"/>
          <p:cNvSpPr txBox="1"/>
          <p:nvPr/>
        </p:nvSpPr>
        <p:spPr>
          <a:xfrm>
            <a:off x="63550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dispatch the exact</a:t>
            </a:r>
          </a:p>
        </p:txBody>
      </p:sp>
      <p:sp>
        <p:nvSpPr>
          <p:cNvPr id="25" name="TextBox 24"/>
          <p:cNvSpPr txBox="1"/>
          <p:nvPr/>
        </p:nvSpPr>
        <p:spPr>
          <a:xfrm>
            <a:off x="63550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derivation attempt.</a:t>
            </a:r>
          </a:p>
        </p:txBody>
      </p:sp>
      <p:cxnSp>
        <p:nvCxnSpPr>
          <p:cNvPr id="26" name="Connector 25"/>
          <p:cNvCxnSpPr/>
          <p:nvPr/>
        </p:nvCxnSpPr>
        <p:spPr>
          <a:xfrm>
            <a:off x="8823960" y="2933700"/>
            <a:ext cx="160020" cy="0"/>
          </a:xfrm>
          <a:prstGeom prst="line">
            <a:avLst/>
          </a:prstGeom>
          <a:ln w="15240">
            <a:solidFill>
              <a:srgbClr val="536775"/>
            </a:solidFill>
          </a:ln>
          <a:effectLst/>
        </p:spPr>
      </p:cxnSp>
      <p:sp>
        <p:nvSpPr>
          <p:cNvPr id="27" name="Freeform 26"/>
          <p:cNvSpPr/>
          <p:nvPr/>
        </p:nvSpPr>
        <p:spPr>
          <a:xfrm>
            <a:off x="88849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8" name="Rounded Rectangle 27"/>
          <p:cNvSpPr/>
          <p:nvPr/>
        </p:nvSpPr>
        <p:spPr>
          <a:xfrm>
            <a:off x="90068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29" name="TextBox 28"/>
          <p:cNvSpPr txBox="1"/>
          <p:nvPr/>
        </p:nvSpPr>
        <p:spPr>
          <a:xfrm>
            <a:off x="91744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Reconcile</a:t>
            </a:r>
          </a:p>
        </p:txBody>
      </p:sp>
      <p:sp>
        <p:nvSpPr>
          <p:cNvPr id="30" name="TextBox 29"/>
          <p:cNvSpPr txBox="1"/>
          <p:nvPr/>
        </p:nvSpPr>
        <p:spPr>
          <a:xfrm>
            <a:off x="91744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decision and</a:t>
            </a:r>
          </a:p>
        </p:txBody>
      </p:sp>
      <p:sp>
        <p:nvSpPr>
          <p:cNvPr id="31" name="TextBox 30"/>
          <p:cNvSpPr txBox="1"/>
          <p:nvPr/>
        </p:nvSpPr>
        <p:spPr>
          <a:xfrm>
            <a:off x="91744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causal feedback</a:t>
            </a:r>
          </a:p>
        </p:txBody>
      </p:sp>
      <p:sp>
        <p:nvSpPr>
          <p:cNvPr id="32" name="TextBox 31"/>
          <p:cNvSpPr txBox="1"/>
          <p:nvPr/>
        </p:nvSpPr>
        <p:spPr>
          <a:xfrm>
            <a:off x="91744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acknowledgment.</a:t>
            </a:r>
          </a:p>
        </p:txBody>
      </p:sp>
      <p:sp>
        <p:nvSpPr>
          <p:cNvPr id="33" name="Rounded Rectangle 32"/>
          <p:cNvSpPr/>
          <p:nvPr/>
        </p:nvSpPr>
        <p:spPr>
          <a:xfrm>
            <a:off x="548640" y="4305300"/>
            <a:ext cx="5364480" cy="1264920"/>
          </a:xfrm>
          <a:prstGeom prst="roundRect">
            <a:avLst>
              <a:gd name="adj" fmla="val 7831"/>
            </a:avLst>
          </a:prstGeom>
          <a:solidFill>
            <a:srgbClr val="F3E7CE"/>
          </a:solidFill>
          <a:ln w="7620">
            <a:solidFill>
              <a:srgbClr val="A86A15"/>
            </a:solidFill>
          </a:ln>
          <a:effectLst/>
        </p:spPr>
        <p:txBody>
          <a:bodyPr rtlCol="0" anchor="ctr"/>
          <a:lstStyle/>
          <a:p>
            <a:pPr algn="ctr"/>
          </a:p>
        </p:txBody>
      </p:sp>
      <p:sp>
        <p:nvSpPr>
          <p:cNvPr id="34" name="TextBox 33"/>
          <p:cNvSpPr txBox="1"/>
          <p:nvPr/>
        </p:nvSpPr>
        <p:spPr>
          <a:xfrm>
            <a:off x="716280" y="44729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Budget survives restart</a:t>
            </a:r>
          </a:p>
        </p:txBody>
      </p:sp>
      <p:sp>
        <p:nvSpPr>
          <p:cNvPr id="35" name="TextBox 34"/>
          <p:cNvSpPr txBox="1"/>
          <p:nvPr/>
        </p:nvSpPr>
        <p:spPr>
          <a:xfrm>
            <a:off x="716280" y="4841747"/>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Candidate count, reserved attempts, generation</a:t>
            </a:r>
          </a:p>
        </p:txBody>
      </p:sp>
      <p:sp>
        <p:nvSpPr>
          <p:cNvPr id="36" name="TextBox 35"/>
          <p:cNvSpPr txBox="1"/>
          <p:nvPr/>
        </p:nvSpPr>
        <p:spPr>
          <a:xfrm>
            <a:off x="716280" y="5105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limit and absolute deadline are persisted.</a:t>
            </a:r>
          </a:p>
        </p:txBody>
      </p:sp>
      <p:sp>
        <p:nvSpPr>
          <p:cNvPr id="37" name="Rounded Rectangle 36"/>
          <p:cNvSpPr/>
          <p:nvPr/>
        </p:nvSpPr>
        <p:spPr>
          <a:xfrm>
            <a:off x="6096000" y="4305300"/>
            <a:ext cx="5547360" cy="1264920"/>
          </a:xfrm>
          <a:prstGeom prst="roundRect">
            <a:avLst>
              <a:gd name="adj" fmla="val 7831"/>
            </a:avLst>
          </a:prstGeom>
          <a:solidFill>
            <a:srgbClr val="E4EBF5"/>
          </a:solidFill>
          <a:ln w="7620">
            <a:solidFill>
              <a:srgbClr val="315E9C"/>
            </a:solidFill>
          </a:ln>
          <a:effectLst/>
        </p:spPr>
        <p:txBody>
          <a:bodyPr rtlCol="0" anchor="ctr"/>
          <a:lstStyle/>
          <a:p>
            <a:pPr algn="ctr"/>
          </a:p>
        </p:txBody>
      </p:sp>
      <p:sp>
        <p:nvSpPr>
          <p:cNvPr id="38" name="TextBox 37"/>
          <p:cNvSpPr txBox="1"/>
          <p:nvPr/>
        </p:nvSpPr>
        <p:spPr>
          <a:xfrm>
            <a:off x="6263640" y="44729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Selection changes next step</a:t>
            </a:r>
          </a:p>
        </p:txBody>
      </p:sp>
      <p:sp>
        <p:nvSpPr>
          <p:cNvPr id="39" name="TextBox 38"/>
          <p:cNvSpPr txBox="1"/>
          <p:nvPr/>
        </p:nvSpPr>
        <p:spPr>
          <a:xfrm>
            <a:off x="6263640" y="48417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Current selection is frozen. A unique admission</a:t>
            </a:r>
          </a:p>
        </p:txBody>
      </p:sp>
      <p:sp>
        <p:nvSpPr>
          <p:cNvPr id="40" name="TextBox 39"/>
          <p:cNvSpPr txBox="1"/>
          <p:nvPr/>
        </p:nvSpPr>
        <p:spPr>
          <a:xfrm>
            <a:off x="6263640" y="51050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records one causal feedback intent.</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refund for a lost pending attempt. A new evaluation needs another slot and attempt identity.</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inference.py · deadlines.py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BOUNDED RECONCILIATION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alone settles the feedback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C4 asks about the exact recorded intent. Attention serializes application and retirement.</a:t>
            </a:r>
          </a:p>
        </p:txBody>
      </p:sp>
      <p:sp>
        <p:nvSpPr>
          <p:cNvPr id="5" name="Rounded Rectangle 4"/>
          <p:cNvSpPr/>
          <p:nvPr/>
        </p:nvSpPr>
        <p:spPr>
          <a:xfrm>
            <a:off x="548640" y="2057400"/>
            <a:ext cx="297180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225040"/>
            <a:ext cx="26365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Exact feedback intent</a:t>
            </a:r>
          </a:p>
        </p:txBody>
      </p:sp>
      <p:sp>
        <p:nvSpPr>
          <p:cNvPr id="7" name="TextBox 6"/>
          <p:cNvSpPr txBox="1"/>
          <p:nvPr/>
        </p:nvSpPr>
        <p:spPr>
          <a:xfrm>
            <a:off x="716280" y="2574340"/>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Original clock, cause, parent,</a:t>
            </a:r>
          </a:p>
        </p:txBody>
      </p:sp>
      <p:sp>
        <p:nvSpPr>
          <p:cNvPr id="8" name="TextBox 7"/>
          <p:cNvSpPr txBox="1"/>
          <p:nvPr/>
        </p:nvSpPr>
        <p:spPr>
          <a:xfrm>
            <a:off x="716280" y="2779166"/>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generation and effect deadline</a:t>
            </a:r>
          </a:p>
        </p:txBody>
      </p:sp>
      <p:sp>
        <p:nvSpPr>
          <p:cNvPr id="9" name="Rounded Rectangle 8"/>
          <p:cNvSpPr/>
          <p:nvPr/>
        </p:nvSpPr>
        <p:spPr>
          <a:xfrm>
            <a:off x="4572000" y="2057400"/>
            <a:ext cx="257556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739640" y="2225040"/>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C3 ·</a:t>
            </a:r>
          </a:p>
        </p:txBody>
      </p:sp>
      <p:sp>
        <p:nvSpPr>
          <p:cNvPr id="11" name="TextBox 10"/>
          <p:cNvSpPr txBox="1"/>
          <p:nvPr/>
        </p:nvSpPr>
        <p:spPr>
          <a:xfrm>
            <a:off x="4739640" y="2488387"/>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resolveFeedback</a:t>
            </a:r>
          </a:p>
        </p:txBody>
      </p:sp>
      <p:sp>
        <p:nvSpPr>
          <p:cNvPr id="12" name="TextBox 11"/>
          <p:cNvSpPr txBox="1"/>
          <p:nvPr/>
        </p:nvSpPr>
        <p:spPr>
          <a:xfrm>
            <a:off x="4739640" y="2827934"/>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One owner transaction</a:t>
            </a:r>
          </a:p>
        </p:txBody>
      </p:sp>
      <p:sp>
        <p:nvSpPr>
          <p:cNvPr id="13" name="TextBox 12"/>
          <p:cNvSpPr txBox="1"/>
          <p:nvPr/>
        </p:nvSpPr>
        <p:spPr>
          <a:xfrm>
            <a:off x="4739640" y="3032760"/>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 one file-owner lock</a:t>
            </a:r>
          </a:p>
        </p:txBody>
      </p:sp>
      <p:cxnSp>
        <p:nvCxnSpPr>
          <p:cNvPr id="14" name="Connector 13"/>
          <p:cNvCxnSpPr/>
          <p:nvPr/>
        </p:nvCxnSpPr>
        <p:spPr>
          <a:xfrm>
            <a:off x="3520440" y="2682240"/>
            <a:ext cx="1051560" cy="0"/>
          </a:xfrm>
          <a:prstGeom prst="line">
            <a:avLst/>
          </a:prstGeom>
          <a:ln w="15240">
            <a:solidFill>
              <a:srgbClr val="315E9C"/>
            </a:solidFill>
          </a:ln>
          <a:effectLst/>
        </p:spPr>
      </p:cxnSp>
      <p:sp>
        <p:nvSpPr>
          <p:cNvPr id="15" name="Freeform 14"/>
          <p:cNvSpPr/>
          <p:nvPr/>
        </p:nvSpPr>
        <p:spPr>
          <a:xfrm>
            <a:off x="4472940" y="26441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6" name="Rounded Rectangle 15"/>
          <p:cNvSpPr/>
          <p:nvPr/>
        </p:nvSpPr>
        <p:spPr>
          <a:xfrm>
            <a:off x="8153400" y="1813559"/>
            <a:ext cx="3489960" cy="1089660"/>
          </a:xfrm>
          <a:prstGeom prst="roundRect">
            <a:avLst>
              <a:gd name="adj" fmla="val 9090"/>
            </a:avLst>
          </a:prstGeom>
          <a:solidFill>
            <a:srgbClr val="DCEFE8"/>
          </a:solidFill>
          <a:ln w="7620">
            <a:solidFill>
              <a:srgbClr val="007C78"/>
            </a:solidFill>
          </a:ln>
          <a:effectLst/>
        </p:spPr>
        <p:txBody>
          <a:bodyPr rtlCol="0" anchor="ctr"/>
          <a:lstStyle/>
          <a:p>
            <a:pPr algn="ctr"/>
          </a:p>
        </p:txBody>
      </p:sp>
      <p:sp>
        <p:nvSpPr>
          <p:cNvPr id="17" name="TextBox 16"/>
          <p:cNvSpPr txBox="1"/>
          <p:nvPr/>
        </p:nvSpPr>
        <p:spPr>
          <a:xfrm>
            <a:off x="8321039" y="198120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APPLIED</a:t>
            </a:r>
          </a:p>
        </p:txBody>
      </p:sp>
      <p:sp>
        <p:nvSpPr>
          <p:cNvPr id="18" name="TextBox 17"/>
          <p:cNvSpPr txBox="1"/>
          <p:nvPr/>
        </p:nvSpPr>
        <p:spPr>
          <a:xfrm>
            <a:off x="8321039" y="232074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Return original durable receipt</a:t>
            </a:r>
          </a:p>
        </p:txBody>
      </p:sp>
      <p:cxnSp>
        <p:nvCxnSpPr>
          <p:cNvPr id="19" name="Connector 18"/>
          <p:cNvCxnSpPr/>
          <p:nvPr/>
        </p:nvCxnSpPr>
        <p:spPr>
          <a:xfrm>
            <a:off x="7147559" y="2682240"/>
            <a:ext cx="472441" cy="0"/>
          </a:xfrm>
          <a:prstGeom prst="line">
            <a:avLst/>
          </a:prstGeom>
          <a:ln w="15240">
            <a:solidFill>
              <a:srgbClr val="007C78"/>
            </a:solidFill>
          </a:ln>
          <a:effectLst/>
        </p:spPr>
      </p:cxnSp>
      <p:cxnSp>
        <p:nvCxnSpPr>
          <p:cNvPr id="20" name="Connector 19"/>
          <p:cNvCxnSpPr/>
          <p:nvPr/>
        </p:nvCxnSpPr>
        <p:spPr>
          <a:xfrm flipV="1">
            <a:off x="7620000" y="2362200"/>
            <a:ext cx="0" cy="320040"/>
          </a:xfrm>
          <a:prstGeom prst="line">
            <a:avLst/>
          </a:prstGeom>
          <a:ln w="15240">
            <a:solidFill>
              <a:srgbClr val="007C78"/>
            </a:solidFill>
          </a:ln>
          <a:effectLst/>
        </p:spPr>
      </p:cxnSp>
      <p:cxnSp>
        <p:nvCxnSpPr>
          <p:cNvPr id="21" name="Connector 20"/>
          <p:cNvCxnSpPr/>
          <p:nvPr/>
        </p:nvCxnSpPr>
        <p:spPr>
          <a:xfrm>
            <a:off x="7620000" y="2362200"/>
            <a:ext cx="533400" cy="0"/>
          </a:xfrm>
          <a:prstGeom prst="line">
            <a:avLst/>
          </a:prstGeom>
          <a:ln w="15240">
            <a:solidFill>
              <a:srgbClr val="007C78"/>
            </a:solidFill>
          </a:ln>
          <a:effectLst/>
        </p:spPr>
      </p:cxnSp>
      <p:sp>
        <p:nvSpPr>
          <p:cNvPr id="22" name="Freeform 21"/>
          <p:cNvSpPr/>
          <p:nvPr/>
        </p:nvSpPr>
        <p:spPr>
          <a:xfrm>
            <a:off x="8054340" y="23241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ounded Rectangle 22"/>
          <p:cNvSpPr/>
          <p:nvPr/>
        </p:nvSpPr>
        <p:spPr>
          <a:xfrm>
            <a:off x="8153400" y="3086100"/>
            <a:ext cx="3489960" cy="1089660"/>
          </a:xfrm>
          <a:prstGeom prst="roundRect">
            <a:avLst>
              <a:gd name="adj" fmla="val 9090"/>
            </a:avLst>
          </a:prstGeom>
          <a:solidFill>
            <a:srgbClr val="F3E7CE"/>
          </a:solidFill>
          <a:ln w="7620">
            <a:solidFill>
              <a:srgbClr val="A86A15"/>
            </a:solidFill>
          </a:ln>
          <a:effectLst/>
        </p:spPr>
        <p:txBody>
          <a:bodyPr rtlCol="0" anchor="ctr"/>
          <a:lstStyle/>
          <a:p>
            <a:pPr algn="ctr"/>
          </a:p>
        </p:txBody>
      </p:sp>
      <p:sp>
        <p:nvSpPr>
          <p:cNvPr id="24" name="TextBox 23"/>
          <p:cNvSpPr txBox="1"/>
          <p:nvPr/>
        </p:nvSpPr>
        <p:spPr>
          <a:xfrm>
            <a:off x="8321039" y="325374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A86A15"/>
                </a:solidFill>
                <a:latin typeface="DejaVu Sans"/>
              </a:rPr>
              <a:t>RETIRED · NO CREDIT</a:t>
            </a:r>
          </a:p>
        </p:txBody>
      </p:sp>
      <p:sp>
        <p:nvSpPr>
          <p:cNvPr id="25" name="TextBox 24"/>
          <p:cNvSpPr txBox="1"/>
          <p:nvPr/>
        </p:nvSpPr>
        <p:spPr>
          <a:xfrm>
            <a:off x="8321039" y="359328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Expired or obsolete clock / parent</a:t>
            </a:r>
          </a:p>
        </p:txBody>
      </p:sp>
      <p:cxnSp>
        <p:nvCxnSpPr>
          <p:cNvPr id="26" name="Connector 25"/>
          <p:cNvCxnSpPr/>
          <p:nvPr/>
        </p:nvCxnSpPr>
        <p:spPr>
          <a:xfrm>
            <a:off x="7147559" y="2682240"/>
            <a:ext cx="472441" cy="0"/>
          </a:xfrm>
          <a:prstGeom prst="line">
            <a:avLst/>
          </a:prstGeom>
          <a:ln w="15240">
            <a:solidFill>
              <a:srgbClr val="A86A15"/>
            </a:solidFill>
          </a:ln>
          <a:effectLst/>
        </p:spPr>
      </p:cxnSp>
      <p:cxnSp>
        <p:nvCxnSpPr>
          <p:cNvPr id="27" name="Connector 26"/>
          <p:cNvCxnSpPr/>
          <p:nvPr/>
        </p:nvCxnSpPr>
        <p:spPr>
          <a:xfrm>
            <a:off x="7620000" y="2682240"/>
            <a:ext cx="0" cy="952500"/>
          </a:xfrm>
          <a:prstGeom prst="line">
            <a:avLst/>
          </a:prstGeom>
          <a:ln w="15240">
            <a:solidFill>
              <a:srgbClr val="A86A15"/>
            </a:solidFill>
          </a:ln>
          <a:effectLst/>
        </p:spPr>
      </p:cxnSp>
      <p:cxnSp>
        <p:nvCxnSpPr>
          <p:cNvPr id="28" name="Connector 27"/>
          <p:cNvCxnSpPr/>
          <p:nvPr/>
        </p:nvCxnSpPr>
        <p:spPr>
          <a:xfrm>
            <a:off x="7620000" y="3634740"/>
            <a:ext cx="533400" cy="0"/>
          </a:xfrm>
          <a:prstGeom prst="line">
            <a:avLst/>
          </a:prstGeom>
          <a:ln w="15240">
            <a:solidFill>
              <a:srgbClr val="A86A15"/>
            </a:solidFill>
          </a:ln>
          <a:effectLst/>
        </p:spPr>
      </p:cxnSp>
      <p:sp>
        <p:nvSpPr>
          <p:cNvPr id="29" name="Freeform 28"/>
          <p:cNvSpPr/>
          <p:nvPr/>
        </p:nvSpPr>
        <p:spPr>
          <a:xfrm>
            <a:off x="8054340" y="3596640"/>
            <a:ext cx="99060" cy="76200"/>
          </a:xfrm>
          <a:custGeom>
            <a:avLst/>
            <a:gdLst/>
            <a:ahLst/>
            <a:cxnLst/>
            <a:rect l="l" t="t" r="r" b="b"/>
            <a:pathLst>
              <a:path w="13" h="10">
                <a:moveTo>
                  <a:pt x="13" y="5"/>
                </a:moveTo>
                <a:lnTo>
                  <a:pt x="0" y="0"/>
                </a:lnTo>
                <a:lnTo>
                  <a:pt x="0" y="10"/>
                </a:lnTo>
                <a:close/>
              </a:path>
            </a:pathLst>
          </a:custGeom>
          <a:solidFill>
            <a:srgbClr val="A86A15"/>
          </a:solidFill>
          <a:ln>
            <a:noFill/>
          </a:ln>
          <a:effectLst/>
        </p:spPr>
        <p:txBody>
          <a:bodyPr rtlCol="0" anchor="ctr"/>
          <a:lstStyle/>
          <a:p>
            <a:pPr algn="ctr"/>
          </a:p>
        </p:txBody>
      </p:sp>
      <p:sp>
        <p:nvSpPr>
          <p:cNvPr id="30" name="Rounded Rectangle 29"/>
          <p:cNvSpPr/>
          <p:nvPr/>
        </p:nvSpPr>
        <p:spPr>
          <a:xfrm>
            <a:off x="8153400" y="4358640"/>
            <a:ext cx="3489960" cy="1089660"/>
          </a:xfrm>
          <a:prstGeom prst="roundRect">
            <a:avLst>
              <a:gd name="adj" fmla="val 9090"/>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8321039" y="452628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PENDING</a:t>
            </a:r>
          </a:p>
        </p:txBody>
      </p:sp>
      <p:sp>
        <p:nvSpPr>
          <p:cNvPr id="32" name="TextBox 31"/>
          <p:cNvSpPr txBox="1"/>
          <p:nvPr/>
        </p:nvSpPr>
        <p:spPr>
          <a:xfrm>
            <a:off x="8321039" y="486582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Eligible, unavailable or malformed</a:t>
            </a:r>
          </a:p>
        </p:txBody>
      </p:sp>
      <p:cxnSp>
        <p:nvCxnSpPr>
          <p:cNvPr id="33" name="Connector 32"/>
          <p:cNvCxnSpPr/>
          <p:nvPr/>
        </p:nvCxnSpPr>
        <p:spPr>
          <a:xfrm>
            <a:off x="7147559" y="2682240"/>
            <a:ext cx="472441" cy="0"/>
          </a:xfrm>
          <a:prstGeom prst="line">
            <a:avLst/>
          </a:prstGeom>
          <a:ln w="15240">
            <a:solidFill>
              <a:srgbClr val="315E9C"/>
            </a:solidFill>
          </a:ln>
          <a:effectLst/>
        </p:spPr>
      </p:cxnSp>
      <p:cxnSp>
        <p:nvCxnSpPr>
          <p:cNvPr id="34" name="Connector 33"/>
          <p:cNvCxnSpPr/>
          <p:nvPr/>
        </p:nvCxnSpPr>
        <p:spPr>
          <a:xfrm>
            <a:off x="7620000" y="2682240"/>
            <a:ext cx="0" cy="2225040"/>
          </a:xfrm>
          <a:prstGeom prst="line">
            <a:avLst/>
          </a:prstGeom>
          <a:ln w="15240">
            <a:solidFill>
              <a:srgbClr val="315E9C"/>
            </a:solidFill>
          </a:ln>
          <a:effectLst/>
        </p:spPr>
      </p:cxnSp>
      <p:cxnSp>
        <p:nvCxnSpPr>
          <p:cNvPr id="35" name="Connector 34"/>
          <p:cNvCxnSpPr/>
          <p:nvPr/>
        </p:nvCxnSpPr>
        <p:spPr>
          <a:xfrm>
            <a:off x="7620000" y="4907280"/>
            <a:ext cx="533400" cy="0"/>
          </a:xfrm>
          <a:prstGeom prst="line">
            <a:avLst/>
          </a:prstGeom>
          <a:ln w="15240">
            <a:solidFill>
              <a:srgbClr val="315E9C"/>
            </a:solidFill>
          </a:ln>
          <a:effectLst/>
        </p:spPr>
      </p:cxnSp>
      <p:sp>
        <p:nvSpPr>
          <p:cNvPr id="36" name="Freeform 35"/>
          <p:cNvSpPr/>
          <p:nvPr/>
        </p:nvSpPr>
        <p:spPr>
          <a:xfrm>
            <a:off x="8054340" y="4869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7" name="Rounded Rectangle 36"/>
          <p:cNvSpPr/>
          <p:nvPr/>
        </p:nvSpPr>
        <p:spPr>
          <a:xfrm>
            <a:off x="548640" y="3832860"/>
            <a:ext cx="6598920" cy="1615439"/>
          </a:xfrm>
          <a:prstGeom prst="roundRect">
            <a:avLst>
              <a:gd name="adj" fmla="val 6132"/>
            </a:avLst>
          </a:prstGeom>
          <a:solidFill>
            <a:srgbClr val="FFFFFF"/>
          </a:solidFill>
          <a:ln w="7620">
            <a:solidFill>
              <a:srgbClr val="007C78"/>
            </a:solidFill>
          </a:ln>
          <a:effectLst/>
        </p:spPr>
        <p:txBody>
          <a:bodyPr rtlCol="0" anchor="ctr"/>
          <a:lstStyle/>
          <a:p>
            <a:pPr algn="ctr"/>
          </a:p>
        </p:txBody>
      </p:sp>
      <p:sp>
        <p:nvSpPr>
          <p:cNvPr id="38" name="TextBox 37"/>
          <p:cNvSpPr txBox="1"/>
          <p:nvPr/>
        </p:nvSpPr>
        <p:spPr>
          <a:xfrm>
            <a:off x="716280" y="4000500"/>
            <a:ext cx="62636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C4 keeps a separate closure journal</a:t>
            </a:r>
          </a:p>
        </p:txBody>
      </p:sp>
      <p:sp>
        <p:nvSpPr>
          <p:cNvPr id="39" name="TextBox 38"/>
          <p:cNvSpPr txBox="1"/>
          <p:nvPr/>
        </p:nvSpPr>
        <p:spPr>
          <a:xfrm>
            <a:off x="716280" y="4379061"/>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1–16 resolutions per call · 128 commands per step</a:t>
            </a:r>
          </a:p>
        </p:txBody>
      </p:sp>
      <p:sp>
        <p:nvSpPr>
          <p:cNvPr id="40" name="TextBox 39"/>
          <p:cNvSpPr txBox="1"/>
          <p:nvPr/>
        </p:nvSpPr>
        <p:spPr>
          <a:xfrm>
            <a:off x="716280" y="4632655"/>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Original execution, spent budget and deadline stay fixed.</a:t>
            </a:r>
          </a:p>
        </p:txBody>
      </p:sp>
      <p:sp>
        <p:nvSpPr>
          <p:cNvPr id="41" name="TextBox 40"/>
          <p:cNvSpPr txBox="1"/>
          <p:nvPr/>
        </p:nvSpPr>
        <p:spPr>
          <a:xfrm>
            <a:off x="716280" y="4886248"/>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Reconciliation makes zero new native formula calls.</a:t>
            </a:r>
          </a:p>
        </p:txBody>
      </p:sp>
      <p:sp>
        <p:nvSpPr>
          <p:cNvPr id="42" name="Rounded Rectangle 4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3" name="TextBox 4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Applied before a lost reply → recover once. Retired first → delayed delivery cannot award credit.</a:t>
            </a:r>
          </a:p>
        </p:txBody>
      </p:sp>
      <p:cxnSp>
        <p:nvCxnSpPr>
          <p:cNvPr id="44" name="Connector 43"/>
          <p:cNvCxnSpPr/>
          <p:nvPr/>
        </p:nvCxnSpPr>
        <p:spPr>
          <a:xfrm>
            <a:off x="548640" y="6393180"/>
            <a:ext cx="11094720" cy="0"/>
          </a:xfrm>
          <a:prstGeom prst="line">
            <a:avLst/>
          </a:prstGeom>
          <a:ln w="7620">
            <a:solidFill>
              <a:srgbClr val="C9D2D4"/>
            </a:solidFill>
          </a:ln>
          <a:effectLst/>
        </p:spPr>
      </p:cxnSp>
      <p:sp>
        <p:nvSpPr>
          <p:cNvPr id="45" name="TextBox 4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attention.py · fixture_attention.py · inference.py</a:t>
            </a:r>
          </a:p>
        </p:txBody>
      </p:sp>
      <p:sp>
        <p:nvSpPr>
          <p:cNvPr id="46" name="TextBox 4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ACTUAL SIGKILL</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Five crash boundaries, independent owner commits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10 direct boundary cases + 5 actual Hive caller boundary cases in the recorded M3 run.</a:t>
            </a:r>
          </a:p>
        </p:txBody>
      </p:sp>
      <p:sp>
        <p:nvSpPr>
          <p:cNvPr id="5" name="TextBox 4"/>
          <p:cNvSpPr txBox="1"/>
          <p:nvPr/>
        </p:nvSpPr>
        <p:spPr>
          <a:xfrm>
            <a:off x="670560" y="1790700"/>
            <a:ext cx="3566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PROCESS DIES AFTER…</a:t>
            </a:r>
          </a:p>
        </p:txBody>
      </p:sp>
      <p:sp>
        <p:nvSpPr>
          <p:cNvPr id="6" name="TextBox 5"/>
          <p:cNvSpPr txBox="1"/>
          <p:nvPr/>
        </p:nvSpPr>
        <p:spPr>
          <a:xfrm>
            <a:off x="448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FACT</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RESULT</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stimulus commit</a:t>
            </a:r>
          </a:p>
        </p:txBody>
      </p:sp>
      <p:sp>
        <p:nvSpPr>
          <p:cNvPr id="10" name="TextBox 9"/>
          <p:cNvSpPr txBox="1"/>
          <p:nvPr/>
        </p:nvSpPr>
        <p:spPr>
          <a:xfrm>
            <a:off x="4480560" y="224028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C3 causal receipt</a:t>
            </a:r>
          </a:p>
        </p:txBody>
      </p:sp>
      <p:sp>
        <p:nvSpPr>
          <p:cNvPr id="11" name="TextBox 10"/>
          <p:cNvSpPr txBox="1"/>
          <p:nvPr/>
        </p:nvSpPr>
        <p:spPr>
          <a:xfrm>
            <a:off x="7680959" y="224028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does not add STI again</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C4 attempt reservation</a:t>
            </a:r>
          </a:p>
        </p:txBody>
      </p:sp>
      <p:sp>
        <p:nvSpPr>
          <p:cNvPr id="14" name="TextBox 13"/>
          <p:cNvSpPr txBox="1"/>
          <p:nvPr/>
        </p:nvSpPr>
        <p:spPr>
          <a:xfrm>
            <a:off x="4480560" y="293370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Slot already spent</a:t>
            </a:r>
          </a:p>
        </p:txBody>
      </p:sp>
      <p:sp>
        <p:nvSpPr>
          <p:cNvPr id="15" name="TextBox 14"/>
          <p:cNvSpPr txBox="1"/>
          <p:nvPr/>
        </p:nvSpPr>
        <p:spPr>
          <a:xfrm>
            <a:off x="7680959" y="293370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One-slot budget can end without a result</a:t>
            </a:r>
          </a:p>
        </p:txBody>
      </p:sp>
      <p:sp>
        <p:nvSpPr>
          <p:cNvPr id="16" name="Rounded Rectangle 15"/>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7" name="TextBox 16"/>
          <p:cNvSpPr txBox="1"/>
          <p:nvPr/>
        </p:nvSpPr>
        <p:spPr>
          <a:xfrm>
            <a:off x="670560" y="3627119"/>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Kernel return; before C2 commit</a:t>
            </a:r>
          </a:p>
        </p:txBody>
      </p:sp>
      <p:sp>
        <p:nvSpPr>
          <p:cNvPr id="18" name="TextBox 17"/>
          <p:cNvSpPr txBox="1"/>
          <p:nvPr/>
        </p:nvSpPr>
        <p:spPr>
          <a:xfrm>
            <a:off x="4480560" y="3627119"/>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 attempt; no admission</a:t>
            </a:r>
          </a:p>
        </p:txBody>
      </p:sp>
      <p:sp>
        <p:nvSpPr>
          <p:cNvPr id="19" name="TextBox 18"/>
          <p:cNvSpPr txBox="1"/>
          <p:nvPr/>
        </p:nvSpPr>
        <p:spPr>
          <a:xfrm>
            <a:off x="7680959" y="3627119"/>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Another evaluation needs another slot</a:t>
            </a:r>
          </a:p>
        </p:txBody>
      </p:sp>
      <p:sp>
        <p:nvSpPr>
          <p:cNvPr id="20" name="Rounded Rectangle 19"/>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432054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C2 belief commit</a:t>
            </a:r>
          </a:p>
        </p:txBody>
      </p:sp>
      <p:sp>
        <p:nvSpPr>
          <p:cNvPr id="22" name="TextBox 21"/>
          <p:cNvSpPr txBox="1"/>
          <p:nvPr/>
        </p:nvSpPr>
        <p:spPr>
          <a:xfrm>
            <a:off x="4480560" y="432054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Authoritative saved decision</a:t>
            </a:r>
          </a:p>
        </p:txBody>
      </p:sp>
      <p:sp>
        <p:nvSpPr>
          <p:cNvPr id="23" name="TextBox 22"/>
          <p:cNvSpPr txBox="1"/>
          <p:nvPr/>
        </p:nvSpPr>
        <p:spPr>
          <a:xfrm>
            <a:off x="7680959" y="432054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without another native call</a:t>
            </a:r>
          </a:p>
        </p:txBody>
      </p:sp>
      <p:sp>
        <p:nvSpPr>
          <p:cNvPr id="24" name="Rounded Rectangle 23"/>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5" name="TextBox 24"/>
          <p:cNvSpPr txBox="1"/>
          <p:nvPr/>
        </p:nvSpPr>
        <p:spPr>
          <a:xfrm>
            <a:off x="670560" y="501396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C3 feedback commit; before C4</a:t>
            </a:r>
          </a:p>
        </p:txBody>
      </p:sp>
      <p:sp>
        <p:nvSpPr>
          <p:cNvPr id="26" name="TextBox 25"/>
          <p:cNvSpPr txBox="1"/>
          <p:nvPr/>
        </p:nvSpPr>
        <p:spPr>
          <a:xfrm>
            <a:off x="670560" y="5248046"/>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ack</a:t>
            </a:r>
          </a:p>
        </p:txBody>
      </p:sp>
      <p:sp>
        <p:nvSpPr>
          <p:cNvPr id="27" name="TextBox 26"/>
          <p:cNvSpPr txBox="1"/>
          <p:nvPr/>
        </p:nvSpPr>
        <p:spPr>
          <a:xfrm>
            <a:off x="4480560" y="501396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Credit recorded by logical</a:t>
            </a:r>
          </a:p>
        </p:txBody>
      </p:sp>
      <p:sp>
        <p:nvSpPr>
          <p:cNvPr id="28" name="TextBox 27"/>
          <p:cNvSpPr txBox="1"/>
          <p:nvPr/>
        </p:nvSpPr>
        <p:spPr>
          <a:xfrm>
            <a:off x="4480560" y="524804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cause</a:t>
            </a:r>
          </a:p>
        </p:txBody>
      </p:sp>
      <p:sp>
        <p:nvSpPr>
          <p:cNvPr id="29" name="TextBox 28"/>
          <p:cNvSpPr txBox="1"/>
          <p:nvPr/>
        </p:nvSpPr>
        <p:spPr>
          <a:xfrm>
            <a:off x="7680959" y="501396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ack without a second credit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 evidence proves tested local process recovery, not a distributed transaction or power-loss durability.</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test_m3_recovery.py · test_m3_integration.py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BOUNDARY GUARANTEES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Authorization, replay and profiles remain live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Cached success does not bypass current authority, and compatibility is never silently widened.</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TRIGGER</a:t>
            </a:r>
          </a:p>
        </p:txBody>
      </p:sp>
      <p:sp>
        <p:nvSpPr>
          <p:cNvPr id="6" name="TextBox 5"/>
          <p:cNvSpPr txBox="1"/>
          <p:nvPr/>
        </p:nvSpPr>
        <p:spPr>
          <a:xfrm>
            <a:off x="45567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DECISION</a:t>
            </a:r>
          </a:p>
        </p:txBody>
      </p:sp>
      <p:sp>
        <p:nvSpPr>
          <p:cNvPr id="7" name="TextBox 6"/>
          <p:cNvSpPr txBox="1"/>
          <p:nvPr/>
        </p:nvSpPr>
        <p:spPr>
          <a:xfrm>
            <a:off x="8138159" y="1790700"/>
            <a:ext cx="3383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PRESERVED 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Same key, altered nested request</a:t>
            </a:r>
          </a:p>
        </p:txBody>
      </p:sp>
      <p:sp>
        <p:nvSpPr>
          <p:cNvPr id="10" name="TextBox 9"/>
          <p:cNvSpPr txBox="1"/>
          <p:nvPr/>
        </p:nvSpPr>
        <p:spPr>
          <a:xfrm>
            <a:off x="45567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CONFLICT / validation refusal</a:t>
            </a:r>
          </a:p>
        </p:txBody>
      </p:sp>
      <p:sp>
        <p:nvSpPr>
          <p:cNvPr id="11" name="TextBox 10"/>
          <p:cNvSpPr txBox="1"/>
          <p:nvPr/>
        </p:nvSpPr>
        <p:spPr>
          <a:xfrm>
            <a:off x="8138159" y="224028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semantic intent</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Permission revoked before replay</a:t>
            </a:r>
          </a:p>
        </p:txBody>
      </p:sp>
      <p:sp>
        <p:nvSpPr>
          <p:cNvPr id="14" name="TextBox 13"/>
          <p:cNvSpPr txBox="1"/>
          <p:nvPr/>
        </p:nvSpPr>
        <p:spPr>
          <a:xfrm>
            <a:off x="4556760" y="29337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DENIED</a:t>
            </a:r>
          </a:p>
        </p:txBody>
      </p:sp>
      <p:sp>
        <p:nvSpPr>
          <p:cNvPr id="15" name="TextBox 14"/>
          <p:cNvSpPr txBox="1"/>
          <p:nvPr/>
        </p:nvSpPr>
        <p:spPr>
          <a:xfrm>
            <a:off x="8138159" y="293370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authority even for cached</a:t>
            </a:r>
          </a:p>
        </p:txBody>
      </p:sp>
      <p:sp>
        <p:nvSpPr>
          <p:cNvPr id="16" name="TextBox 15"/>
          <p:cNvSpPr txBox="1"/>
          <p:nvPr/>
        </p:nvSpPr>
        <p:spPr>
          <a:xfrm>
            <a:off x="8138159" y="316778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receipts</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Authority / CAS changes during</a:t>
            </a:r>
          </a:p>
        </p:txBody>
      </p:sp>
      <p:sp>
        <p:nvSpPr>
          <p:cNvPr id="19" name="TextBox 18"/>
          <p:cNvSpPr txBox="1"/>
          <p:nvPr/>
        </p:nvSpPr>
        <p:spPr>
          <a:xfrm>
            <a:off x="670560" y="386120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math</a:t>
            </a:r>
          </a:p>
        </p:txBody>
      </p:sp>
      <p:sp>
        <p:nvSpPr>
          <p:cNvPr id="20" name="TextBox 19"/>
          <p:cNvSpPr txBox="1"/>
          <p:nvPr/>
        </p:nvSpPr>
        <p:spPr>
          <a:xfrm>
            <a:off x="4556760" y="36271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Refuse final admission</a:t>
            </a:r>
          </a:p>
        </p:txBody>
      </p:sp>
      <p:sp>
        <p:nvSpPr>
          <p:cNvPr id="21" name="TextBox 20"/>
          <p:cNvSpPr txBox="1"/>
          <p:nvPr/>
        </p:nvSpPr>
        <p:spPr>
          <a:xfrm>
            <a:off x="8138159" y="3627119"/>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C2 rechecks before its own commit</a:t>
            </a:r>
          </a:p>
        </p:txBody>
      </p:sp>
      <p:sp>
        <p:nvSpPr>
          <p:cNvPr id="22" name="Rounded Rectangle 21"/>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3" name="TextBox 22"/>
          <p:cNvSpPr txBox="1"/>
          <p:nvPr/>
        </p:nvSpPr>
        <p:spPr>
          <a:xfrm>
            <a:off x="670560" y="432054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Runtime or response binding</a:t>
            </a:r>
          </a:p>
        </p:txBody>
      </p:sp>
      <p:sp>
        <p:nvSpPr>
          <p:cNvPr id="24" name="TextBox 23"/>
          <p:cNvSpPr txBox="1"/>
          <p:nvPr/>
        </p:nvSpPr>
        <p:spPr>
          <a:xfrm>
            <a:off x="670560" y="455462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changes</a:t>
            </a:r>
          </a:p>
        </p:txBody>
      </p:sp>
      <p:sp>
        <p:nvSpPr>
          <p:cNvPr id="25" name="TextBox 24"/>
          <p:cNvSpPr txBox="1"/>
          <p:nvPr/>
        </p:nvSpPr>
        <p:spPr>
          <a:xfrm>
            <a:off x="4556760" y="43205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Explicit compatibility failure</a:t>
            </a:r>
          </a:p>
        </p:txBody>
      </p:sp>
      <p:sp>
        <p:nvSpPr>
          <p:cNvPr id="26" name="TextBox 25"/>
          <p:cNvSpPr txBox="1"/>
          <p:nvPr/>
        </p:nvSpPr>
        <p:spPr>
          <a:xfrm>
            <a:off x="8138159" y="432054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weaker fallback or invented</a:t>
            </a:r>
          </a:p>
        </p:txBody>
      </p:sp>
      <p:sp>
        <p:nvSpPr>
          <p:cNvPr id="27" name="TextBox 26"/>
          <p:cNvSpPr txBox="1"/>
          <p:nvPr/>
        </p:nvSpPr>
        <p:spPr>
          <a:xfrm>
            <a:off x="8138159" y="455462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sp>
        <p:nvSpPr>
          <p:cNvPr id="28" name="Rounded Rectangle 27"/>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9" name="TextBox 28"/>
          <p:cNvSpPr txBox="1"/>
          <p:nvPr/>
        </p:nvSpPr>
        <p:spPr>
          <a:xfrm>
            <a:off x="670560" y="501396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Clock advances before feedback</a:t>
            </a:r>
          </a:p>
        </p:txBody>
      </p:sp>
      <p:sp>
        <p:nvSpPr>
          <p:cNvPr id="30" name="TextBox 29"/>
          <p:cNvSpPr txBox="1"/>
          <p:nvPr/>
        </p:nvSpPr>
        <p:spPr>
          <a:xfrm>
            <a:off x="4556760" y="50139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Retire without credit via owner</a:t>
            </a:r>
          </a:p>
        </p:txBody>
      </p:sp>
      <p:sp>
        <p:nvSpPr>
          <p:cNvPr id="31" name="TextBox 30"/>
          <p:cNvSpPr txBox="1"/>
          <p:nvPr/>
        </p:nvSpPr>
        <p:spPr>
          <a:xfrm>
            <a:off x="8138159" y="501396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clock, parent and</a:t>
            </a:r>
          </a:p>
        </p:txBody>
      </p:sp>
      <p:sp>
        <p:nvSpPr>
          <p:cNvPr id="32" name="TextBox 31"/>
          <p:cNvSpPr txBox="1"/>
          <p:nvPr/>
        </p:nvSpPr>
        <p:spPr>
          <a:xfrm>
            <a:off x="8138159" y="524804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generation retained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Attention ingress and feedback have distinct trusted bindings; selection never grants authority.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cognition.py · derived_beliefs.py · tests/test_m3.py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NATIVE INTEGRATION</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real Hive action reaches the entire private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authenticated Programs runtime → fusion-inference / infer-generated.</a:t>
            </a:r>
          </a:p>
        </p:txBody>
      </p:sp>
      <p:sp>
        <p:nvSpPr>
          <p:cNvPr id="5" name="Rounded Rectangle 4"/>
          <p:cNvSpPr/>
          <p:nvPr/>
        </p:nvSpPr>
        <p:spPr>
          <a:xfrm>
            <a:off x="548640" y="1790700"/>
            <a:ext cx="11094720" cy="647700"/>
          </a:xfrm>
          <a:prstGeom prst="roundRect">
            <a:avLst>
              <a:gd name="adj" fmla="val 14117"/>
            </a:avLst>
          </a:prstGeom>
          <a:solidFill>
            <a:srgbClr val="0B2233"/>
          </a:solidFill>
          <a:ln>
            <a:noFill/>
          </a:ln>
          <a:effectLst/>
        </p:spPr>
        <p:txBody>
          <a:bodyPr rtlCol="0" anchor="ctr"/>
          <a:lstStyle/>
          <a:p>
            <a:pPr algn="ctr"/>
          </a:p>
        </p:txBody>
      </p:sp>
      <p:sp>
        <p:nvSpPr>
          <p:cNvPr id="6" name="TextBox 5"/>
          <p:cNvSpPr txBox="1"/>
          <p:nvPr/>
        </p:nvSpPr>
        <p:spPr>
          <a:xfrm>
            <a:off x="762000" y="1973580"/>
            <a:ext cx="105918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0">
                <a:solidFill>
                  <a:srgbClr val="FFFFFF"/>
                </a:solidFill>
                <a:latin typeface="DejaVu Sans Mono"/>
              </a:rPr>
              <a:t>POST /api/programs/fusion-inference/act</a:t>
            </a:r>
          </a:p>
        </p:txBody>
      </p:sp>
      <p:sp>
        <p:nvSpPr>
          <p:cNvPr id="7" name="Rounded Rectangle 6"/>
          <p:cNvSpPr/>
          <p:nvPr/>
        </p:nvSpPr>
        <p:spPr>
          <a:xfrm>
            <a:off x="54864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8" name="TextBox 7"/>
          <p:cNvSpPr txBox="1"/>
          <p:nvPr/>
        </p:nvSpPr>
        <p:spPr>
          <a:xfrm>
            <a:off x="63246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Hive</a:t>
            </a:r>
          </a:p>
        </p:txBody>
      </p:sp>
      <p:cxnSp>
        <p:nvCxnSpPr>
          <p:cNvPr id="9" name="Connector 8"/>
          <p:cNvCxnSpPr/>
          <p:nvPr/>
        </p:nvCxnSpPr>
        <p:spPr>
          <a:xfrm>
            <a:off x="1310640" y="3291840"/>
            <a:ext cx="0" cy="2232660"/>
          </a:xfrm>
          <a:prstGeom prst="line">
            <a:avLst/>
          </a:prstGeom>
          <a:ln w="15240">
            <a:solidFill>
              <a:srgbClr val="C9D2D4"/>
            </a:solidFill>
            <a:prstDash val="dash"/>
          </a:ln>
          <a:effectLst/>
        </p:spPr>
      </p:cxnSp>
      <p:sp>
        <p:nvSpPr>
          <p:cNvPr id="10" name="Rounded Rectangle 9"/>
          <p:cNvSpPr/>
          <p:nvPr/>
        </p:nvSpPr>
        <p:spPr>
          <a:xfrm>
            <a:off x="373380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1" name="TextBox 10"/>
          <p:cNvSpPr txBox="1"/>
          <p:nvPr/>
        </p:nvSpPr>
        <p:spPr>
          <a:xfrm>
            <a:off x="3817619"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Scenario + relay</a:t>
            </a:r>
          </a:p>
        </p:txBody>
      </p:sp>
      <p:cxnSp>
        <p:nvCxnSpPr>
          <p:cNvPr id="12" name="Connector 11"/>
          <p:cNvCxnSpPr/>
          <p:nvPr/>
        </p:nvCxnSpPr>
        <p:spPr>
          <a:xfrm>
            <a:off x="4495800" y="3291840"/>
            <a:ext cx="0" cy="2232660"/>
          </a:xfrm>
          <a:prstGeom prst="line">
            <a:avLst/>
          </a:prstGeom>
          <a:ln w="15240">
            <a:solidFill>
              <a:srgbClr val="C9D2D4"/>
            </a:solidFill>
            <a:prstDash val="dash"/>
          </a:ln>
          <a:effectLst/>
        </p:spPr>
      </p:cxnSp>
      <p:sp>
        <p:nvSpPr>
          <p:cNvPr id="13" name="Rounded Rectangle 12"/>
          <p:cNvSpPr/>
          <p:nvPr/>
        </p:nvSpPr>
        <p:spPr>
          <a:xfrm>
            <a:off x="6918959"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4" name="TextBox 13"/>
          <p:cNvSpPr txBox="1"/>
          <p:nvPr/>
        </p:nvSpPr>
        <p:spPr>
          <a:xfrm>
            <a:off x="700278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C4 / C3 / C2</a:t>
            </a:r>
          </a:p>
        </p:txBody>
      </p:sp>
      <p:cxnSp>
        <p:nvCxnSpPr>
          <p:cNvPr id="15" name="Connector 14"/>
          <p:cNvCxnSpPr/>
          <p:nvPr/>
        </p:nvCxnSpPr>
        <p:spPr>
          <a:xfrm>
            <a:off x="7680959" y="3291840"/>
            <a:ext cx="0" cy="2232660"/>
          </a:xfrm>
          <a:prstGeom prst="line">
            <a:avLst/>
          </a:prstGeom>
          <a:ln w="15240">
            <a:solidFill>
              <a:srgbClr val="C9D2D4"/>
            </a:solidFill>
            <a:prstDash val="dash"/>
          </a:ln>
          <a:effectLst/>
        </p:spPr>
      </p:cxnSp>
      <p:sp>
        <p:nvSpPr>
          <p:cNvPr id="16" name="Rounded Rectangle 15"/>
          <p:cNvSpPr/>
          <p:nvPr/>
        </p:nvSpPr>
        <p:spPr>
          <a:xfrm>
            <a:off x="1010412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7" name="TextBox 16"/>
          <p:cNvSpPr txBox="1"/>
          <p:nvPr/>
        </p:nvSpPr>
        <p:spPr>
          <a:xfrm>
            <a:off x="1018794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PLN</a:t>
            </a:r>
          </a:p>
        </p:txBody>
      </p:sp>
      <p:cxnSp>
        <p:nvCxnSpPr>
          <p:cNvPr id="18" name="Connector 17"/>
          <p:cNvCxnSpPr/>
          <p:nvPr/>
        </p:nvCxnSpPr>
        <p:spPr>
          <a:xfrm>
            <a:off x="10866120" y="3291840"/>
            <a:ext cx="0" cy="2232660"/>
          </a:xfrm>
          <a:prstGeom prst="line">
            <a:avLst/>
          </a:prstGeom>
          <a:ln w="15240">
            <a:solidFill>
              <a:srgbClr val="C9D2D4"/>
            </a:solidFill>
            <a:prstDash val="dash"/>
          </a:ln>
          <a:effectLst/>
        </p:spPr>
      </p:cxnSp>
      <p:sp>
        <p:nvSpPr>
          <p:cNvPr id="19" name="Rectangle 18"/>
          <p:cNvSpPr/>
          <p:nvPr/>
        </p:nvSpPr>
        <p:spPr>
          <a:xfrm>
            <a:off x="1341120" y="3337560"/>
            <a:ext cx="3663315" cy="205740"/>
          </a:xfrm>
          <a:prstGeom prst="rect">
            <a:avLst/>
          </a:prstGeom>
          <a:solidFill>
            <a:srgbClr val="F4F2EB"/>
          </a:solidFill>
          <a:ln>
            <a:noFill/>
          </a:ln>
          <a:effectLst/>
        </p:spPr>
        <p:txBody>
          <a:bodyPr rtlCol="0" anchor="ctr"/>
          <a:lstStyle/>
          <a:p>
            <a:pPr algn="ctr"/>
          </a:p>
        </p:txBody>
      </p:sp>
      <p:sp>
        <p:nvSpPr>
          <p:cNvPr id="20" name="TextBox 19"/>
          <p:cNvSpPr txBox="1"/>
          <p:nvPr/>
        </p:nvSpPr>
        <p:spPr>
          <a:xfrm>
            <a:off x="1371600" y="333756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Trusted actor; generated seed + preference</a:t>
            </a:r>
          </a:p>
        </p:txBody>
      </p:sp>
      <p:cxnSp>
        <p:nvCxnSpPr>
          <p:cNvPr id="21" name="Connector 20"/>
          <p:cNvCxnSpPr/>
          <p:nvPr/>
        </p:nvCxnSpPr>
        <p:spPr>
          <a:xfrm>
            <a:off x="1310640" y="3558540"/>
            <a:ext cx="3185160" cy="0"/>
          </a:xfrm>
          <a:prstGeom prst="line">
            <a:avLst/>
          </a:prstGeom>
          <a:ln w="15240">
            <a:solidFill>
              <a:srgbClr val="007C78"/>
            </a:solidFill>
          </a:ln>
          <a:effectLst/>
        </p:spPr>
      </p:cxnSp>
      <p:sp>
        <p:nvSpPr>
          <p:cNvPr id="22" name="Freeform 21"/>
          <p:cNvSpPr/>
          <p:nvPr/>
        </p:nvSpPr>
        <p:spPr>
          <a:xfrm>
            <a:off x="4396740" y="35204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ectangle 22"/>
          <p:cNvSpPr/>
          <p:nvPr/>
        </p:nvSpPr>
        <p:spPr>
          <a:xfrm>
            <a:off x="4526280" y="3779519"/>
            <a:ext cx="3390140" cy="205740"/>
          </a:xfrm>
          <a:prstGeom prst="rect">
            <a:avLst/>
          </a:prstGeom>
          <a:solidFill>
            <a:srgbClr val="F4F2EB"/>
          </a:solidFill>
          <a:ln>
            <a:noFill/>
          </a:ln>
          <a:effectLst/>
        </p:spPr>
        <p:txBody>
          <a:bodyPr rtlCol="0" anchor="ctr"/>
          <a:lstStyle/>
          <a:p>
            <a:pPr algn="ctr"/>
          </a:p>
        </p:txBody>
      </p:sp>
      <p:sp>
        <p:nvSpPr>
          <p:cNvPr id="24" name="TextBox 23"/>
          <p:cNvSpPr txBox="1"/>
          <p:nvPr/>
        </p:nvSpPr>
        <p:spPr>
          <a:xfrm>
            <a:off x="4556760" y="3779519"/>
            <a:ext cx="7010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C1 → relay → C2; two tasks, one attempt</a:t>
            </a:r>
          </a:p>
        </p:txBody>
      </p:sp>
      <p:cxnSp>
        <p:nvCxnSpPr>
          <p:cNvPr id="25" name="Connector 24"/>
          <p:cNvCxnSpPr/>
          <p:nvPr/>
        </p:nvCxnSpPr>
        <p:spPr>
          <a:xfrm>
            <a:off x="4495800" y="4000500"/>
            <a:ext cx="3185159" cy="0"/>
          </a:xfrm>
          <a:prstGeom prst="line">
            <a:avLst/>
          </a:prstGeom>
          <a:ln w="15240">
            <a:solidFill>
              <a:srgbClr val="007C78"/>
            </a:solidFill>
          </a:ln>
          <a:effectLst/>
        </p:spPr>
      </p:cxnSp>
      <p:sp>
        <p:nvSpPr>
          <p:cNvPr id="26" name="Freeform 25"/>
          <p:cNvSpPr/>
          <p:nvPr/>
        </p:nvSpPr>
        <p:spPr>
          <a:xfrm>
            <a:off x="7581900" y="39624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7" name="Rectangle 26"/>
          <p:cNvSpPr/>
          <p:nvPr/>
        </p:nvSpPr>
        <p:spPr>
          <a:xfrm>
            <a:off x="5631180" y="4221480"/>
            <a:ext cx="3339985" cy="205740"/>
          </a:xfrm>
          <a:prstGeom prst="rect">
            <a:avLst/>
          </a:prstGeom>
          <a:solidFill>
            <a:srgbClr val="F4F2EB"/>
          </a:solidFill>
          <a:ln>
            <a:noFill/>
          </a:ln>
          <a:effectLst/>
        </p:spPr>
        <p:txBody>
          <a:bodyPr rtlCol="0" anchor="ctr"/>
          <a:lstStyle/>
          <a:p>
            <a:pPr algn="ctr"/>
          </a:p>
        </p:txBody>
      </p:sp>
      <p:sp>
        <p:nvSpPr>
          <p:cNvPr id="28" name="TextBox 27"/>
          <p:cNvSpPr txBox="1"/>
          <p:nvPr/>
        </p:nvSpPr>
        <p:spPr>
          <a:xfrm>
            <a:off x="5661660" y="422148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Reserve → C2 → actual Truth_Deduction</a:t>
            </a:r>
          </a:p>
        </p:txBody>
      </p:sp>
      <p:cxnSp>
        <p:nvCxnSpPr>
          <p:cNvPr id="29" name="Connector 28"/>
          <p:cNvCxnSpPr/>
          <p:nvPr/>
        </p:nvCxnSpPr>
        <p:spPr>
          <a:xfrm>
            <a:off x="7680959" y="4442460"/>
            <a:ext cx="3185161" cy="0"/>
          </a:xfrm>
          <a:prstGeom prst="line">
            <a:avLst/>
          </a:prstGeom>
          <a:ln w="15240">
            <a:solidFill>
              <a:srgbClr val="007C78"/>
            </a:solidFill>
          </a:ln>
          <a:effectLst/>
        </p:spPr>
      </p:cxnSp>
      <p:sp>
        <p:nvSpPr>
          <p:cNvPr id="30" name="Freeform 29"/>
          <p:cNvSpPr/>
          <p:nvPr/>
        </p:nvSpPr>
        <p:spPr>
          <a:xfrm>
            <a:off x="10767060" y="44043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1" name="Rectangle 30"/>
          <p:cNvSpPr/>
          <p:nvPr/>
        </p:nvSpPr>
        <p:spPr>
          <a:xfrm>
            <a:off x="5631180" y="4663440"/>
            <a:ext cx="3678867" cy="205740"/>
          </a:xfrm>
          <a:prstGeom prst="rect">
            <a:avLst/>
          </a:prstGeom>
          <a:solidFill>
            <a:srgbClr val="F4F2EB"/>
          </a:solidFill>
          <a:ln>
            <a:noFill/>
          </a:ln>
          <a:effectLst/>
        </p:spPr>
        <p:txBody>
          <a:bodyPr rtlCol="0" anchor="ctr"/>
          <a:lstStyle/>
          <a:p>
            <a:pPr algn="ctr"/>
          </a:p>
        </p:txBody>
      </p:sp>
      <p:sp>
        <p:nvSpPr>
          <p:cNvPr id="32" name="TextBox 31"/>
          <p:cNvSpPr txBox="1"/>
          <p:nvPr/>
        </p:nvSpPr>
        <p:spPr>
          <a:xfrm>
            <a:off x="5661660" y="466344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Proposal → admission → one feedback credit</a:t>
            </a:r>
          </a:p>
        </p:txBody>
      </p:sp>
      <p:cxnSp>
        <p:nvCxnSpPr>
          <p:cNvPr id="33" name="Connector 32"/>
          <p:cNvCxnSpPr/>
          <p:nvPr/>
        </p:nvCxnSpPr>
        <p:spPr>
          <a:xfrm flipH="1">
            <a:off x="7680959" y="4884420"/>
            <a:ext cx="3185161" cy="0"/>
          </a:xfrm>
          <a:prstGeom prst="line">
            <a:avLst/>
          </a:prstGeom>
          <a:ln w="15240">
            <a:solidFill>
              <a:srgbClr val="007C78"/>
            </a:solidFill>
          </a:ln>
          <a:effectLst/>
        </p:spPr>
      </p:cxnSp>
      <p:sp>
        <p:nvSpPr>
          <p:cNvPr id="34" name="Freeform 33"/>
          <p:cNvSpPr/>
          <p:nvPr/>
        </p:nvSpPr>
        <p:spPr>
          <a:xfrm>
            <a:off x="7680960" y="48463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5" name="Rectangle 34"/>
          <p:cNvSpPr/>
          <p:nvPr/>
        </p:nvSpPr>
        <p:spPr>
          <a:xfrm>
            <a:off x="1341120" y="5196840"/>
            <a:ext cx="3347724" cy="205740"/>
          </a:xfrm>
          <a:prstGeom prst="rect">
            <a:avLst/>
          </a:prstGeom>
          <a:solidFill>
            <a:srgbClr val="F4F2EB"/>
          </a:solidFill>
          <a:ln>
            <a:noFill/>
          </a:ln>
          <a:effectLst/>
        </p:spPr>
        <p:txBody>
          <a:bodyPr rtlCol="0" anchor="ctr"/>
          <a:lstStyle/>
          <a:p>
            <a:pPr algn="ctr"/>
          </a:p>
        </p:txBody>
      </p:sp>
      <p:sp>
        <p:nvSpPr>
          <p:cNvPr id="36" name="TextBox 35"/>
          <p:cNvSpPr txBox="1"/>
          <p:nvPr/>
        </p:nvSpPr>
        <p:spPr>
          <a:xfrm>
            <a:off x="1371600" y="519684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Record result; return counters + receipt</a:t>
            </a:r>
          </a:p>
        </p:txBody>
      </p:sp>
      <p:cxnSp>
        <p:nvCxnSpPr>
          <p:cNvPr id="37" name="Connector 36"/>
          <p:cNvCxnSpPr/>
          <p:nvPr/>
        </p:nvCxnSpPr>
        <p:spPr>
          <a:xfrm flipH="1">
            <a:off x="1310640" y="5417820"/>
            <a:ext cx="3185160" cy="0"/>
          </a:xfrm>
          <a:prstGeom prst="line">
            <a:avLst/>
          </a:prstGeom>
          <a:ln w="15240">
            <a:solidFill>
              <a:srgbClr val="007C78"/>
            </a:solidFill>
          </a:ln>
          <a:effectLst/>
        </p:spPr>
      </p:cxnSp>
      <p:sp>
        <p:nvSpPr>
          <p:cNvPr id="38" name="Freeform 37"/>
          <p:cNvSpPr/>
          <p:nvPr/>
        </p:nvSpPr>
        <p:spPr>
          <a:xfrm>
            <a:off x="1310640" y="53797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9" name="Rounded Rectangle 3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0" name="TextBox 3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private episode: 10 generated observations + action + result. Public receipt contains no private trace.</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inference_program/program.py · test_m3_integration.py</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M3.1 ACTUAL CALLER PROGRESS</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Native Hive exposes execution and closure separately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infer-generated → restart → reconcile-generated(original_command, limit)</a:t>
            </a:r>
          </a:p>
        </p:txBody>
      </p:sp>
      <p:sp>
        <p:nvSpPr>
          <p:cNvPr id="5" name="Rounded Rectangle 4"/>
          <p:cNvSpPr/>
          <p:nvPr/>
        </p:nvSpPr>
        <p:spPr>
          <a:xfrm>
            <a:off x="548640" y="1905000"/>
            <a:ext cx="5364480" cy="1836420"/>
          </a:xfrm>
          <a:prstGeom prst="roundRect">
            <a:avLst>
              <a:gd name="adj" fmla="val 5394"/>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Original execution · immutable</a:t>
            </a:r>
          </a:p>
        </p:txBody>
      </p:sp>
      <p:sp>
        <p:nvSpPr>
          <p:cNvPr id="7" name="TextBox 6"/>
          <p:cNvSpPr txBox="1"/>
          <p:nvPr/>
        </p:nvSpPr>
        <p:spPr>
          <a:xfrm>
            <a:off x="71628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examined candidate</a:t>
            </a:r>
          </a:p>
        </p:txBody>
      </p:sp>
      <p:sp>
        <p:nvSpPr>
          <p:cNvPr id="8" name="TextBox 7"/>
          <p:cNvSpPr txBox="1"/>
          <p:nvPr/>
        </p:nvSpPr>
        <p:spPr>
          <a:xfrm>
            <a:off x="71628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reserved / completed attempt</a:t>
            </a:r>
          </a:p>
        </p:txBody>
      </p:sp>
      <p:sp>
        <p:nvSpPr>
          <p:cNvPr id="9" name="TextBox 8"/>
          <p:cNvSpPr txBox="1"/>
          <p:nvPr/>
        </p:nvSpPr>
        <p:spPr>
          <a:xfrm>
            <a:off x="71628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unique admission · zero feedback applied</a:t>
            </a:r>
          </a:p>
        </p:txBody>
      </p:sp>
      <p:sp>
        <p:nvSpPr>
          <p:cNvPr id="10" name="Rounded Rectangle 9"/>
          <p:cNvSpPr/>
          <p:nvPr/>
        </p:nvSpPr>
        <p:spPr>
          <a:xfrm>
            <a:off x="6278880" y="1905000"/>
            <a:ext cx="5364480" cy="1836420"/>
          </a:xfrm>
          <a:prstGeom prst="roundRect">
            <a:avLst>
              <a:gd name="adj" fmla="val 5394"/>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Later closure · versioned</a:t>
            </a:r>
          </a:p>
        </p:txBody>
      </p:sp>
      <p:sp>
        <p:nvSpPr>
          <p:cNvPr id="12" name="TextBox 11"/>
          <p:cNvSpPr txBox="1"/>
          <p:nvPr/>
        </p:nvSpPr>
        <p:spPr>
          <a:xfrm>
            <a:off x="644652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Same original result and counters</a:t>
            </a:r>
          </a:p>
        </p:txBody>
      </p:sp>
      <p:sp>
        <p:nvSpPr>
          <p:cNvPr id="13" name="TextBox 12"/>
          <p:cNvSpPr txBox="1"/>
          <p:nvPr/>
        </p:nvSpPr>
        <p:spPr>
          <a:xfrm>
            <a:off x="644652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Evidence backlog and feedback outcomes</a:t>
            </a:r>
          </a:p>
        </p:txBody>
      </p:sp>
      <p:sp>
        <p:nvSpPr>
          <p:cNvPr id="14" name="TextBox 13"/>
          <p:cNvSpPr txBox="1"/>
          <p:nvPr/>
        </p:nvSpPr>
        <p:spPr>
          <a:xfrm>
            <a:off x="644652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Stale feedback retired without credit</a:t>
            </a:r>
          </a:p>
        </p:txBody>
      </p:sp>
      <p:cxnSp>
        <p:nvCxnSpPr>
          <p:cNvPr id="15" name="Connector 14"/>
          <p:cNvCxnSpPr/>
          <p:nvPr/>
        </p:nvCxnSpPr>
        <p:spPr>
          <a:xfrm>
            <a:off x="5913120" y="2819400"/>
            <a:ext cx="365760" cy="0"/>
          </a:xfrm>
          <a:prstGeom prst="line">
            <a:avLst/>
          </a:prstGeom>
          <a:ln w="15240">
            <a:solidFill>
              <a:srgbClr val="007C78"/>
            </a:solidFill>
          </a:ln>
          <a:effectLst/>
        </p:spPr>
      </p:cxnSp>
      <p:sp>
        <p:nvSpPr>
          <p:cNvPr id="16" name="Freeform 15"/>
          <p:cNvSpPr/>
          <p:nvPr/>
        </p:nvSpPr>
        <p:spPr>
          <a:xfrm>
            <a:off x="6179820" y="27813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7" name="Rounded Rectangle 16"/>
          <p:cNvSpPr/>
          <p:nvPr/>
        </p:nvSpPr>
        <p:spPr>
          <a:xfrm>
            <a:off x="548640" y="4076700"/>
            <a:ext cx="5364480" cy="1508760"/>
          </a:xfrm>
          <a:prstGeom prst="roundRect">
            <a:avLst>
              <a:gd name="adj" fmla="val 6565"/>
            </a:avLst>
          </a:prstGeom>
          <a:solidFill>
            <a:srgbClr val="FFFFFF"/>
          </a:solidFill>
          <a:ln w="7620">
            <a:solidFill>
              <a:srgbClr val="007C78"/>
            </a:solidFill>
          </a:ln>
          <a:effectLst/>
        </p:spPr>
        <p:txBody>
          <a:bodyPr rtlCol="0" anchor="ctr"/>
          <a:lstStyle/>
          <a:p>
            <a:pPr algn="ctr"/>
          </a:p>
        </p:txBody>
      </p:sp>
      <p:sp>
        <p:nvSpPr>
          <p:cNvPr id="18" name="TextBox 17"/>
          <p:cNvSpPr txBox="1"/>
          <p:nvPr/>
        </p:nvSpPr>
        <p:spPr>
          <a:xfrm>
            <a:off x="71628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Lost reply after feedback applied</a:t>
            </a:r>
          </a:p>
        </p:txBody>
      </p:sp>
      <p:sp>
        <p:nvSpPr>
          <p:cNvPr id="19" name="TextBox 18"/>
          <p:cNvSpPr txBox="1"/>
          <p:nvPr/>
        </p:nvSpPr>
        <p:spPr>
          <a:xfrm>
            <a:off x="71628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the original receipt after expiry or</a:t>
            </a:r>
          </a:p>
        </p:txBody>
      </p:sp>
      <p:sp>
        <p:nvSpPr>
          <p:cNvPr id="20" name="TextBox 19"/>
          <p:cNvSpPr txBox="1"/>
          <p:nvPr/>
        </p:nvSpPr>
        <p:spPr>
          <a:xfrm>
            <a:off x="71628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decay, even when current STI has reached zero.</a:t>
            </a:r>
          </a:p>
        </p:txBody>
      </p:sp>
      <p:sp>
        <p:nvSpPr>
          <p:cNvPr id="21" name="Rounded Rectangle 20"/>
          <p:cNvSpPr/>
          <p:nvPr/>
        </p:nvSpPr>
        <p:spPr>
          <a:xfrm>
            <a:off x="6278880" y="4076700"/>
            <a:ext cx="5364480" cy="1508760"/>
          </a:xfrm>
          <a:prstGeom prst="roundRect">
            <a:avLst>
              <a:gd name="adj" fmla="val 6565"/>
            </a:avLst>
          </a:prstGeom>
          <a:solidFill>
            <a:srgbClr val="F3E7CE"/>
          </a:solidFill>
          <a:ln w="7620">
            <a:solidFill>
              <a:srgbClr val="A86A15"/>
            </a:solidFill>
          </a:ln>
          <a:effectLst/>
        </p:spPr>
        <p:txBody>
          <a:bodyPr rtlCol="0" anchor="ctr"/>
          <a:lstStyle/>
          <a:p>
            <a:pPr algn="ctr"/>
          </a:p>
        </p:txBody>
      </p:sp>
      <p:sp>
        <p:nvSpPr>
          <p:cNvPr id="22" name="TextBox 21"/>
          <p:cNvSpPr txBox="1"/>
          <p:nvPr/>
        </p:nvSpPr>
        <p:spPr>
          <a:xfrm>
            <a:off x="644652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Expired before execution</a:t>
            </a:r>
          </a:p>
        </p:txBody>
      </p:sp>
      <p:sp>
        <p:nvSpPr>
          <p:cNvPr id="23" name="TextBox 22"/>
          <p:cNvSpPr txBox="1"/>
          <p:nvPr/>
        </p:nvSpPr>
        <p:spPr>
          <a:xfrm>
            <a:off x="644652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Hive can finish the action with zero admissions</a:t>
            </a:r>
          </a:p>
        </p:txBody>
      </p:sp>
      <p:sp>
        <p:nvSpPr>
          <p:cNvPr id="24" name="TextBox 23"/>
          <p:cNvSpPr txBox="1"/>
          <p:nvPr/>
        </p:nvSpPr>
        <p:spPr>
          <a:xfrm>
            <a:off x="644652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zero reservations. Those counts stay</a:t>
            </a:r>
          </a:p>
        </p:txBody>
      </p:sp>
      <p:sp>
        <p:nvSpPr>
          <p:cNvPr id="25" name="TextBox 24"/>
          <p:cNvSpPr txBox="1"/>
          <p:nvPr/>
        </p:nvSpPr>
        <p:spPr>
          <a:xfrm>
            <a:off x="6446520" y="513008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explicit.</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Public done / committed means the action returned. Detail reports execution, evidence and feedback closure.</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inference_program/program.py · test_m3_1_integration.py</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DEMONSTRATED BEHAVIOR</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The same one-attempt budget makes attention visible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Two eligible tasks have exact premises. Initial STI selects which one can consume the attempt.</a:t>
            </a:r>
          </a:p>
        </p:txBody>
      </p:sp>
      <p:sp>
        <p:nvSpPr>
          <p:cNvPr id="5" name="Rounded Rectangle 4"/>
          <p:cNvSpPr/>
          <p:nvPr/>
        </p:nvSpPr>
        <p:spPr>
          <a:xfrm>
            <a:off x="54864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6" name="TextBox 5"/>
          <p:cNvSpPr txBox="1"/>
          <p:nvPr/>
        </p:nvSpPr>
        <p:spPr>
          <a:xfrm>
            <a:off x="74676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A</a:t>
            </a:r>
          </a:p>
        </p:txBody>
      </p:sp>
      <p:sp>
        <p:nvSpPr>
          <p:cNvPr id="7" name="TextBox 6"/>
          <p:cNvSpPr txBox="1"/>
          <p:nvPr/>
        </p:nvSpPr>
        <p:spPr>
          <a:xfrm>
            <a:off x="77724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8" name="Rounded Rectangle 7"/>
          <p:cNvSpPr/>
          <p:nvPr/>
        </p:nvSpPr>
        <p:spPr>
          <a:xfrm>
            <a:off x="1386840" y="2781300"/>
            <a:ext cx="3200400" cy="426720"/>
          </a:xfrm>
          <a:prstGeom prst="roundRect">
            <a:avLst>
              <a:gd name="adj" fmla="val 12500"/>
            </a:avLst>
          </a:prstGeom>
          <a:solidFill>
            <a:srgbClr val="E4EBF5"/>
          </a:solidFill>
          <a:ln>
            <a:noFill/>
          </a:ln>
          <a:effectLst/>
        </p:spPr>
        <p:txBody>
          <a:bodyPr rtlCol="0" anchor="ctr"/>
          <a:lstStyle/>
          <a:p>
            <a:pPr algn="ctr"/>
          </a:p>
        </p:txBody>
      </p:sp>
      <p:sp>
        <p:nvSpPr>
          <p:cNvPr id="9" name="TextBox 8"/>
          <p:cNvSpPr txBox="1"/>
          <p:nvPr/>
        </p:nvSpPr>
        <p:spPr>
          <a:xfrm>
            <a:off x="1493520"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20</a:t>
            </a:r>
          </a:p>
        </p:txBody>
      </p:sp>
      <p:sp>
        <p:nvSpPr>
          <p:cNvPr id="10" name="TextBox 9"/>
          <p:cNvSpPr txBox="1"/>
          <p:nvPr/>
        </p:nvSpPr>
        <p:spPr>
          <a:xfrm>
            <a:off x="77724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11" name="Rounded Rectangle 10"/>
          <p:cNvSpPr/>
          <p:nvPr/>
        </p:nvSpPr>
        <p:spPr>
          <a:xfrm>
            <a:off x="1386840" y="3451860"/>
            <a:ext cx="1600200" cy="426720"/>
          </a:xfrm>
          <a:prstGeom prst="roundRect">
            <a:avLst>
              <a:gd name="adj" fmla="val 12500"/>
            </a:avLst>
          </a:prstGeom>
          <a:solidFill>
            <a:srgbClr val="DCEFE8"/>
          </a:solidFill>
          <a:ln>
            <a:noFill/>
          </a:ln>
          <a:effectLst/>
        </p:spPr>
        <p:txBody>
          <a:bodyPr rtlCol="0" anchor="ctr"/>
          <a:lstStyle/>
          <a:p>
            <a:pPr algn="ctr"/>
          </a:p>
        </p:txBody>
      </p:sp>
      <p:sp>
        <p:nvSpPr>
          <p:cNvPr id="12" name="TextBox 11"/>
          <p:cNvSpPr txBox="1"/>
          <p:nvPr/>
        </p:nvSpPr>
        <p:spPr>
          <a:xfrm>
            <a:off x="1493520"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10</a:t>
            </a:r>
          </a:p>
        </p:txBody>
      </p:sp>
      <p:sp>
        <p:nvSpPr>
          <p:cNvPr id="13" name="TextBox 12"/>
          <p:cNvSpPr txBox="1"/>
          <p:nvPr/>
        </p:nvSpPr>
        <p:spPr>
          <a:xfrm>
            <a:off x="76200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A</a:t>
            </a:r>
          </a:p>
        </p:txBody>
      </p:sp>
      <p:sp>
        <p:nvSpPr>
          <p:cNvPr id="14" name="Rounded Rectangle 13"/>
          <p:cNvSpPr/>
          <p:nvPr/>
        </p:nvSpPr>
        <p:spPr>
          <a:xfrm>
            <a:off x="627888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15" name="TextBox 14"/>
          <p:cNvSpPr txBox="1"/>
          <p:nvPr/>
        </p:nvSpPr>
        <p:spPr>
          <a:xfrm>
            <a:off x="647700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B</a:t>
            </a:r>
          </a:p>
        </p:txBody>
      </p:sp>
      <p:sp>
        <p:nvSpPr>
          <p:cNvPr id="16" name="TextBox 15"/>
          <p:cNvSpPr txBox="1"/>
          <p:nvPr/>
        </p:nvSpPr>
        <p:spPr>
          <a:xfrm>
            <a:off x="650748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17" name="Rounded Rectangle 16"/>
          <p:cNvSpPr/>
          <p:nvPr/>
        </p:nvSpPr>
        <p:spPr>
          <a:xfrm>
            <a:off x="7117080" y="2781300"/>
            <a:ext cx="1600200" cy="426720"/>
          </a:xfrm>
          <a:prstGeom prst="roundRect">
            <a:avLst>
              <a:gd name="adj" fmla="val 12500"/>
            </a:avLst>
          </a:prstGeom>
          <a:solidFill>
            <a:srgbClr val="E4EBF5"/>
          </a:solidFill>
          <a:ln>
            <a:noFill/>
          </a:ln>
          <a:effectLst/>
        </p:spPr>
        <p:txBody>
          <a:bodyPr rtlCol="0" anchor="ctr"/>
          <a:lstStyle/>
          <a:p>
            <a:pPr algn="ctr"/>
          </a:p>
        </p:txBody>
      </p:sp>
      <p:sp>
        <p:nvSpPr>
          <p:cNvPr id="18" name="TextBox 17"/>
          <p:cNvSpPr txBox="1"/>
          <p:nvPr/>
        </p:nvSpPr>
        <p:spPr>
          <a:xfrm>
            <a:off x="7223759"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10</a:t>
            </a:r>
          </a:p>
        </p:txBody>
      </p:sp>
      <p:sp>
        <p:nvSpPr>
          <p:cNvPr id="19" name="TextBox 18"/>
          <p:cNvSpPr txBox="1"/>
          <p:nvPr/>
        </p:nvSpPr>
        <p:spPr>
          <a:xfrm>
            <a:off x="650748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20" name="Rounded Rectangle 19"/>
          <p:cNvSpPr/>
          <p:nvPr/>
        </p:nvSpPr>
        <p:spPr>
          <a:xfrm>
            <a:off x="7117080" y="3451860"/>
            <a:ext cx="3200400" cy="426720"/>
          </a:xfrm>
          <a:prstGeom prst="roundRect">
            <a:avLst>
              <a:gd name="adj" fmla="val 12500"/>
            </a:avLst>
          </a:prstGeom>
          <a:solidFill>
            <a:srgbClr val="DCEFE8"/>
          </a:solidFill>
          <a:ln>
            <a:noFill/>
          </a:ln>
          <a:effectLst/>
        </p:spPr>
        <p:txBody>
          <a:bodyPr rtlCol="0" anchor="ctr"/>
          <a:lstStyle/>
          <a:p>
            <a:pPr algn="ctr"/>
          </a:p>
        </p:txBody>
      </p:sp>
      <p:sp>
        <p:nvSpPr>
          <p:cNvPr id="21" name="TextBox 20"/>
          <p:cNvSpPr txBox="1"/>
          <p:nvPr/>
        </p:nvSpPr>
        <p:spPr>
          <a:xfrm>
            <a:off x="7223759"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20</a:t>
            </a:r>
          </a:p>
        </p:txBody>
      </p:sp>
      <p:sp>
        <p:nvSpPr>
          <p:cNvPr id="22" name="TextBox 21"/>
          <p:cNvSpPr txBox="1"/>
          <p:nvPr/>
        </p:nvSpPr>
        <p:spPr>
          <a:xfrm>
            <a:off x="649224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B</a:t>
            </a:r>
          </a:p>
        </p:txBody>
      </p:sp>
      <p:sp>
        <p:nvSpPr>
          <p:cNvPr id="23" name="TextBox 22"/>
          <p:cNvSpPr txBox="1"/>
          <p:nvPr/>
        </p:nvSpPr>
        <p:spPr>
          <a:xfrm>
            <a:off x="594360" y="514350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Both attention providers preserve this effect; replay adds no native call and no second credit.</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changes scheduling. It does not alter premise truth values or manufacture independent evidence.</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m3/final/comparison.json · native Hive scenario</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MEASURED NATIVE WORKFLOW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artifact connects Hive, DA and the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approved result is the exact result retrieved, committed and independently read back.</a:t>
            </a:r>
          </a:p>
        </p:txBody>
      </p:sp>
      <p:sp>
        <p:nvSpPr>
          <p:cNvPr id="5" name="Rounded Rectangle 4"/>
          <p:cNvSpPr/>
          <p:nvPr/>
        </p:nvSpPr>
        <p:spPr>
          <a:xfrm>
            <a:off x="548640" y="1920239"/>
            <a:ext cx="3535679" cy="1577339"/>
          </a:xfrm>
          <a:prstGeom prst="roundRect">
            <a:avLst>
              <a:gd name="adj" fmla="val 6280"/>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53-byte input</a:t>
            </a:r>
          </a:p>
        </p:txBody>
      </p:sp>
      <p:sp>
        <p:nvSpPr>
          <p:cNvPr id="7" name="TextBox 6"/>
          <p:cNvSpPr txBox="1"/>
          <p:nvPr/>
        </p:nvSpPr>
        <p:spPr>
          <a:xfrm>
            <a:off x="716280" y="249570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Generated and explicitly</a:t>
            </a:r>
          </a:p>
        </p:txBody>
      </p:sp>
      <p:sp>
        <p:nvSpPr>
          <p:cNvPr id="8" name="TextBox 7"/>
          <p:cNvSpPr txBox="1"/>
          <p:nvPr/>
        </p:nvSpPr>
        <p:spPr>
          <a:xfrm>
            <a:off x="716280" y="275904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shareable</a:t>
            </a:r>
          </a:p>
        </p:txBody>
      </p:sp>
      <p:sp>
        <p:nvSpPr>
          <p:cNvPr id="9" name="TextBox 8"/>
          <p:cNvSpPr txBox="1"/>
          <p:nvPr/>
        </p:nvSpPr>
        <p:spPr>
          <a:xfrm>
            <a:off x="716280" y="302239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Real native fusion-inspect</a:t>
            </a:r>
          </a:p>
        </p:txBody>
      </p:sp>
      <p:cxnSp>
        <p:nvCxnSpPr>
          <p:cNvPr id="10" name="Connector 9"/>
          <p:cNvCxnSpPr/>
          <p:nvPr/>
        </p:nvCxnSpPr>
        <p:spPr>
          <a:xfrm>
            <a:off x="4084319" y="2697480"/>
            <a:ext cx="213361" cy="0"/>
          </a:xfrm>
          <a:prstGeom prst="line">
            <a:avLst/>
          </a:prstGeom>
          <a:ln w="15240">
            <a:solidFill>
              <a:srgbClr val="007C78"/>
            </a:solidFill>
          </a:ln>
          <a:effectLst/>
        </p:spPr>
      </p:cxnSp>
      <p:sp>
        <p:nvSpPr>
          <p:cNvPr id="11" name="Freeform 10"/>
          <p:cNvSpPr/>
          <p:nvPr/>
        </p:nvSpPr>
        <p:spPr>
          <a:xfrm>
            <a:off x="4198620" y="26593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2" name="Rounded Rectangle 11"/>
          <p:cNvSpPr/>
          <p:nvPr/>
        </p:nvSpPr>
        <p:spPr>
          <a:xfrm>
            <a:off x="4328160" y="1920239"/>
            <a:ext cx="3535679" cy="1577339"/>
          </a:xfrm>
          <a:prstGeom prst="roundRect">
            <a:avLst>
              <a:gd name="adj" fmla="val 6280"/>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49580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143-byte result</a:t>
            </a:r>
          </a:p>
        </p:txBody>
      </p:sp>
      <p:sp>
        <p:nvSpPr>
          <p:cNvPr id="14" name="TextBox 13"/>
          <p:cNvSpPr txBox="1"/>
          <p:nvPr/>
        </p:nvSpPr>
        <p:spPr>
          <a:xfrm>
            <a:off x="4495800" y="249570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Real worker + real DeTTa</a:t>
            </a:r>
          </a:p>
        </p:txBody>
      </p:sp>
      <p:sp>
        <p:nvSpPr>
          <p:cNvPr id="15" name="TextBox 14"/>
          <p:cNvSpPr txBox="1"/>
          <p:nvPr/>
        </p:nvSpPr>
        <p:spPr>
          <a:xfrm>
            <a:off x="4495800" y="275904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Caller accepts and</a:t>
            </a:r>
          </a:p>
        </p:txBody>
      </p:sp>
      <p:sp>
        <p:nvSpPr>
          <p:cNvPr id="16" name="TextBox 15"/>
          <p:cNvSpPr txBox="1"/>
          <p:nvPr/>
        </p:nvSpPr>
        <p:spPr>
          <a:xfrm>
            <a:off x="4495800" y="302239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acknowledges</a:t>
            </a:r>
          </a:p>
        </p:txBody>
      </p:sp>
      <p:cxnSp>
        <p:nvCxnSpPr>
          <p:cNvPr id="17" name="Connector 16"/>
          <p:cNvCxnSpPr/>
          <p:nvPr/>
        </p:nvCxnSpPr>
        <p:spPr>
          <a:xfrm>
            <a:off x="7863839" y="2697480"/>
            <a:ext cx="213361" cy="0"/>
          </a:xfrm>
          <a:prstGeom prst="line">
            <a:avLst/>
          </a:prstGeom>
          <a:ln w="15240">
            <a:solidFill>
              <a:srgbClr val="007C78"/>
            </a:solidFill>
          </a:ln>
          <a:effectLst/>
        </p:spPr>
      </p:cxnSp>
      <p:sp>
        <p:nvSpPr>
          <p:cNvPr id="18" name="Freeform 17"/>
          <p:cNvSpPr/>
          <p:nvPr/>
        </p:nvSpPr>
        <p:spPr>
          <a:xfrm>
            <a:off x="7978140" y="26593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9" name="Rounded Rectangle 18"/>
          <p:cNvSpPr/>
          <p:nvPr/>
        </p:nvSpPr>
        <p:spPr>
          <a:xfrm>
            <a:off x="8107680" y="1920239"/>
            <a:ext cx="3535679" cy="1577339"/>
          </a:xfrm>
          <a:prstGeom prst="roundRect">
            <a:avLst>
              <a:gd name="adj" fmla="val 6280"/>
            </a:avLst>
          </a:prstGeom>
          <a:solidFill>
            <a:srgbClr val="FFFFFF"/>
          </a:solidFill>
          <a:ln w="7620">
            <a:solidFill>
              <a:srgbClr val="007C78"/>
            </a:solidFill>
          </a:ln>
          <a:effectLst/>
        </p:spPr>
        <p:txBody>
          <a:bodyPr rtlCol="0" anchor="ctr"/>
          <a:lstStyle/>
          <a:p>
            <a:pPr algn="ctr"/>
          </a:p>
        </p:txBody>
      </p:sp>
      <p:sp>
        <p:nvSpPr>
          <p:cNvPr id="20" name="TextBox 19"/>
          <p:cNvSpPr txBox="1"/>
          <p:nvPr/>
        </p:nvSpPr>
        <p:spPr>
          <a:xfrm>
            <a:off x="827532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One commitment</a:t>
            </a:r>
          </a:p>
        </p:txBody>
      </p:sp>
      <p:sp>
        <p:nvSpPr>
          <p:cNvPr id="21" name="TextBox 20"/>
          <p:cNvSpPr txBox="1"/>
          <p:nvPr/>
        </p:nvSpPr>
        <p:spPr>
          <a:xfrm>
            <a:off x="8275320" y="2495702"/>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Approved digest in real</a:t>
            </a:r>
          </a:p>
        </p:txBody>
      </p:sp>
      <p:sp>
        <p:nvSpPr>
          <p:cNvPr id="22" name="TextBox 21"/>
          <p:cNvSpPr txBox="1"/>
          <p:nvPr/>
        </p:nvSpPr>
        <p:spPr>
          <a:xfrm>
            <a:off x="8275320" y="2749295"/>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post-state</a:t>
            </a:r>
          </a:p>
        </p:txBody>
      </p:sp>
      <p:sp>
        <p:nvSpPr>
          <p:cNvPr id="23" name="TextBox 22"/>
          <p:cNvSpPr txBox="1"/>
          <p:nvPr/>
        </p:nvSpPr>
        <p:spPr>
          <a:xfrm>
            <a:off x="8275320" y="3002889"/>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Matching finalized deploy effect</a:t>
            </a:r>
          </a:p>
        </p:txBody>
      </p:sp>
      <p:sp>
        <p:nvSpPr>
          <p:cNvPr id="24" name="Rounded Rectangle 23"/>
          <p:cNvSpPr/>
          <p:nvPr/>
        </p:nvSpPr>
        <p:spPr>
          <a:xfrm>
            <a:off x="548640" y="3794760"/>
            <a:ext cx="11094720" cy="990600"/>
          </a:xfrm>
          <a:prstGeom prst="roundRect">
            <a:avLst>
              <a:gd name="adj" fmla="val 9230"/>
            </a:avLst>
          </a:prstGeom>
          <a:solidFill>
            <a:srgbClr val="0B2233"/>
          </a:solidFill>
          <a:ln>
            <a:noFill/>
          </a:ln>
          <a:effectLst/>
        </p:spPr>
        <p:txBody>
          <a:bodyPr rtlCol="0" anchor="ctr"/>
          <a:lstStyle/>
          <a:p>
            <a:pPr algn="ctr"/>
          </a:p>
        </p:txBody>
      </p:sp>
      <p:sp>
        <p:nvSpPr>
          <p:cNvPr id="25" name="TextBox 24"/>
          <p:cNvSpPr txBox="1"/>
          <p:nvPr/>
        </p:nvSpPr>
        <p:spPr>
          <a:xfrm>
            <a:off x="754380" y="3947160"/>
            <a:ext cx="10363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AC0CC"/>
                </a:solidFill>
                <a:latin typeface="DejaVu Sans"/>
              </a:rPr>
              <a:t>APPROVED RESULT SHA-256 · SAME VALUE AT EVERY STAGE</a:t>
            </a:r>
          </a:p>
        </p:txBody>
      </p:sp>
      <p:sp>
        <p:nvSpPr>
          <p:cNvPr id="26" name="TextBox 25"/>
          <p:cNvSpPr txBox="1"/>
          <p:nvPr/>
        </p:nvSpPr>
        <p:spPr>
          <a:xfrm>
            <a:off x="754380" y="4297680"/>
            <a:ext cx="10363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cd2f727689b41e243ee78207d058d00b8be64932abbfd86a02851dfcbac400bb</a:t>
            </a:r>
          </a:p>
        </p:txBody>
      </p:sp>
      <p:sp>
        <p:nvSpPr>
          <p:cNvPr id="27" name="Rounded Rectangle 26"/>
          <p:cNvSpPr/>
          <p:nvPr/>
        </p:nvSpPr>
        <p:spPr>
          <a:xfrm>
            <a:off x="548640" y="4899660"/>
            <a:ext cx="5364480" cy="792480"/>
          </a:xfrm>
          <a:prstGeom prst="roundRect">
            <a:avLst>
              <a:gd name="adj" fmla="val 12500"/>
            </a:avLst>
          </a:prstGeom>
          <a:solidFill>
            <a:srgbClr val="E4EBF5"/>
          </a:solidFill>
          <a:ln w="7620">
            <a:solidFill>
              <a:srgbClr val="315E9C"/>
            </a:solidFill>
          </a:ln>
          <a:effectLst/>
        </p:spPr>
        <p:txBody>
          <a:bodyPr rtlCol="0" anchor="ctr"/>
          <a:lstStyle/>
          <a:p>
            <a:pPr algn="ctr"/>
          </a:p>
        </p:txBody>
      </p:sp>
      <p:sp>
        <p:nvSpPr>
          <p:cNvPr id="28" name="TextBox 27"/>
          <p:cNvSpPr txBox="1"/>
          <p:nvPr/>
        </p:nvSpPr>
        <p:spPr>
          <a:xfrm>
            <a:off x="716280" y="506730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Counts remain stable</a:t>
            </a:r>
          </a:p>
        </p:txBody>
      </p:sp>
      <p:sp>
        <p:nvSpPr>
          <p:cNvPr id="29" name="TextBox 28"/>
          <p:cNvSpPr txBox="1"/>
          <p:nvPr/>
        </p:nvSpPr>
        <p:spPr>
          <a:xfrm>
            <a:off x="716280" y="537758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job · 1 outbox · 2 messages · 2 shared atoms</a:t>
            </a:r>
          </a:p>
        </p:txBody>
      </p:sp>
      <p:sp>
        <p:nvSpPr>
          <p:cNvPr id="30" name="Rounded Rectangle 29"/>
          <p:cNvSpPr/>
          <p:nvPr/>
        </p:nvSpPr>
        <p:spPr>
          <a:xfrm>
            <a:off x="6278880" y="4899660"/>
            <a:ext cx="5364480" cy="792480"/>
          </a:xfrm>
          <a:prstGeom prst="roundRect">
            <a:avLst>
              <a:gd name="adj" fmla="val 12500"/>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6446520" y="506730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First finalized-effect observation</a:t>
            </a:r>
          </a:p>
        </p:txBody>
      </p:sp>
      <p:sp>
        <p:nvSpPr>
          <p:cNvPr id="32" name="TextBox 31"/>
          <p:cNvSpPr txBox="1"/>
          <p:nvPr/>
        </p:nvSpPr>
        <p:spPr>
          <a:xfrm>
            <a:off x="6446520" y="537758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4.066 s · one native observe call · 675 phlo</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These are local observations from one run, including proposal/observation overhead; no throughput claim.</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evidence/m4/final/same-artifact.json · readback.json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CURRENT AUTHORITY + EXACT INTENT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Approval freezes the result and its destination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public action accepts only original_command. Trusted composition supplies all sensitive choices.</a:t>
            </a:r>
          </a:p>
        </p:txBody>
      </p:sp>
      <p:sp>
        <p:nvSpPr>
          <p:cNvPr id="5" name="Rounded Rectangle 4"/>
          <p:cNvSpPr/>
          <p:nvPr/>
        </p:nvSpPr>
        <p:spPr>
          <a:xfrm>
            <a:off x="548640" y="1897380"/>
            <a:ext cx="5364480" cy="1661159"/>
          </a:xfrm>
          <a:prstGeom prst="roundRect">
            <a:avLst>
              <a:gd name="adj" fmla="val 596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6502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Exact result</a:t>
            </a:r>
          </a:p>
        </p:txBody>
      </p:sp>
      <p:sp>
        <p:nvSpPr>
          <p:cNvPr id="7" name="TextBox 6"/>
          <p:cNvSpPr txBox="1"/>
          <p:nvPr/>
        </p:nvSpPr>
        <p:spPr>
          <a:xfrm>
            <a:off x="716280" y="2463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command + seed + shared scope</a:t>
            </a:r>
          </a:p>
        </p:txBody>
      </p:sp>
      <p:sp>
        <p:nvSpPr>
          <p:cNvPr id="8" name="TextBox 7"/>
          <p:cNvSpPr txBox="1"/>
          <p:nvPr/>
        </p:nvSpPr>
        <p:spPr>
          <a:xfrm>
            <a:off x="716280" y="2736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Accepted result reference and digest</a:t>
            </a:r>
          </a:p>
        </p:txBody>
      </p:sp>
      <p:sp>
        <p:nvSpPr>
          <p:cNvPr id="9" name="Rounded Rectangle 8"/>
          <p:cNvSpPr/>
          <p:nvPr/>
        </p:nvSpPr>
        <p:spPr>
          <a:xfrm>
            <a:off x="6278880" y="1897380"/>
            <a:ext cx="5364480" cy="1661159"/>
          </a:xfrm>
          <a:prstGeom prst="roundRect">
            <a:avLst>
              <a:gd name="adj" fmla="val 5963"/>
            </a:avLst>
          </a:prstGeom>
          <a:solidFill>
            <a:srgbClr val="FFFFFF"/>
          </a:solidFill>
          <a:ln w="7620">
            <a:solidFill>
              <a:srgbClr val="315E9C"/>
            </a:solidFill>
          </a:ln>
          <a:effectLst/>
        </p:spPr>
        <p:txBody>
          <a:bodyPr rtlCol="0" anchor="ctr"/>
          <a:lstStyle/>
          <a:p>
            <a:pPr algn="ctr"/>
          </a:p>
        </p:txBody>
      </p:sp>
      <p:sp>
        <p:nvSpPr>
          <p:cNvPr id="10" name="TextBox 9"/>
          <p:cNvSpPr txBox="1"/>
          <p:nvPr/>
        </p:nvSpPr>
        <p:spPr>
          <a:xfrm>
            <a:off x="6446520" y="206502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Exact authority</a:t>
            </a:r>
          </a:p>
        </p:txBody>
      </p:sp>
      <p:sp>
        <p:nvSpPr>
          <p:cNvPr id="11" name="TextBox 10"/>
          <p:cNvSpPr txBox="1"/>
          <p:nvPr/>
        </p:nvSpPr>
        <p:spPr>
          <a:xfrm>
            <a:off x="6446520" y="2463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Authenticated actor + swarm + expiry</a:t>
            </a:r>
          </a:p>
        </p:txBody>
      </p:sp>
      <p:sp>
        <p:nvSpPr>
          <p:cNvPr id="12" name="TextBox 11"/>
          <p:cNvSpPr txBox="1"/>
          <p:nvPr/>
        </p:nvSpPr>
        <p:spPr>
          <a:xfrm>
            <a:off x="6446520" y="2736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Live checks on new calls, replay and send</a:t>
            </a:r>
          </a:p>
        </p:txBody>
      </p:sp>
      <p:sp>
        <p:nvSpPr>
          <p:cNvPr id="13" name="Rounded Rectangle 12"/>
          <p:cNvSpPr/>
          <p:nvPr/>
        </p:nvSpPr>
        <p:spPr>
          <a:xfrm>
            <a:off x="548640" y="3802379"/>
            <a:ext cx="5364480" cy="1661159"/>
          </a:xfrm>
          <a:prstGeom prst="roundRect">
            <a:avLst>
              <a:gd name="adj" fmla="val 5963"/>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716280" y="3970019"/>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Exact destination</a:t>
            </a:r>
          </a:p>
        </p:txBody>
      </p:sp>
      <p:sp>
        <p:nvSpPr>
          <p:cNvPr id="15" name="TextBox 14"/>
          <p:cNvSpPr txBox="1"/>
          <p:nvPr/>
        </p:nvSpPr>
        <p:spPr>
          <a:xfrm>
            <a:off x="716280" y="4368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 network + shard + genesis</a:t>
            </a:r>
          </a:p>
        </p:txBody>
      </p:sp>
      <p:sp>
        <p:nvSpPr>
          <p:cNvPr id="16" name="TextBox 15"/>
          <p:cNvSpPr txBox="1"/>
          <p:nvPr/>
        </p:nvSpPr>
        <p:spPr>
          <a:xfrm>
            <a:off x="716280" y="4641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Registered signer and protobuf identity</a:t>
            </a:r>
          </a:p>
        </p:txBody>
      </p:sp>
      <p:sp>
        <p:nvSpPr>
          <p:cNvPr id="17" name="Rounded Rectangle 16"/>
          <p:cNvSpPr/>
          <p:nvPr/>
        </p:nvSpPr>
        <p:spPr>
          <a:xfrm>
            <a:off x="6278880" y="3802379"/>
            <a:ext cx="5364480" cy="1661159"/>
          </a:xfrm>
          <a:prstGeom prst="roundRect">
            <a:avLst>
              <a:gd name="adj" fmla="val 5963"/>
            </a:avLst>
          </a:prstGeom>
          <a:solidFill>
            <a:srgbClr val="FFFFFF"/>
          </a:solidFill>
          <a:ln w="7620">
            <a:solidFill>
              <a:srgbClr val="A86A15"/>
            </a:solidFill>
          </a:ln>
          <a:effectLst/>
        </p:spPr>
        <p:txBody>
          <a:bodyPr rtlCol="0" anchor="ctr"/>
          <a:lstStyle/>
          <a:p>
            <a:pPr algn="ctr"/>
          </a:p>
        </p:txBody>
      </p:sp>
      <p:sp>
        <p:nvSpPr>
          <p:cNvPr id="18" name="TextBox 17"/>
          <p:cNvSpPr txBox="1"/>
          <p:nvPr/>
        </p:nvSpPr>
        <p:spPr>
          <a:xfrm>
            <a:off x="6446520" y="3970019"/>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Exact operation</a:t>
            </a:r>
          </a:p>
        </p:txBody>
      </p:sp>
      <p:sp>
        <p:nvSpPr>
          <p:cNvPr id="19" name="TextBox 18"/>
          <p:cNvSpPr txBox="1"/>
          <p:nvPr/>
        </p:nvSpPr>
        <p:spPr>
          <a:xfrm>
            <a:off x="6446520" y="4368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Fixed tuple and gas limits</a:t>
            </a:r>
          </a:p>
        </p:txBody>
      </p:sp>
      <p:sp>
        <p:nvSpPr>
          <p:cNvPr id="20" name="TextBox 19"/>
          <p:cNvSpPr txBox="1"/>
          <p:nvPr/>
        </p:nvSpPr>
        <p:spPr>
          <a:xfrm>
            <a:off x="6446520" y="4641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Canonical copies detach mutable inputs</a:t>
            </a:r>
          </a:p>
        </p:txBody>
      </p:sp>
      <p:sp>
        <p:nvSpPr>
          <p:cNvPr id="21" name="Rounded Rectangle 2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2" name="TextBox 21"/>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 caller-supplied code, digest, endpoint, signer or approval; revocation also blocks cached replies.</a:t>
            </a:r>
          </a:p>
        </p:txBody>
      </p:sp>
      <p:cxnSp>
        <p:nvCxnSpPr>
          <p:cNvPr id="23" name="Connector 22"/>
          <p:cNvCxnSpPr/>
          <p:nvPr/>
        </p:nvCxnSpPr>
        <p:spPr>
          <a:xfrm>
            <a:off x="548640" y="6393180"/>
            <a:ext cx="11094720" cy="0"/>
          </a:xfrm>
          <a:prstGeom prst="line">
            <a:avLst/>
          </a:prstGeom>
          <a:ln w="7620">
            <a:solidFill>
              <a:srgbClr val="C9D2D4"/>
            </a:solidFill>
          </a:ln>
          <a:effectLst/>
        </p:spPr>
      </p:cxnSp>
      <p:sp>
        <p:nvSpPr>
          <p:cNvPr id="24" name="TextBox 2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f1r3_m4.py · hive/commitment/program.py</a:t>
            </a:r>
          </a:p>
        </p:txBody>
      </p:sp>
      <p:sp>
        <p:nvSpPr>
          <p:cNvPr id="25" name="TextBox 2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SOURCE-VERIFIED READBACK</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Finality is tied to the actual stored effect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Submission, inclusion and verified finalized effect are different observations.</a:t>
            </a:r>
          </a:p>
        </p:txBody>
      </p:sp>
      <p:sp>
        <p:nvSpPr>
          <p:cNvPr id="5" name="Rounded Rectangle 4"/>
          <p:cNvSpPr/>
          <p:nvPr/>
        </p:nvSpPr>
        <p:spPr>
          <a:xfrm>
            <a:off x="548640" y="1920239"/>
            <a:ext cx="3535679" cy="1927859"/>
          </a:xfrm>
          <a:prstGeom prst="roundRect">
            <a:avLst>
              <a:gd name="adj" fmla="val 5138"/>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1 · Submission</a:t>
            </a:r>
          </a:p>
        </p:txBody>
      </p:sp>
      <p:sp>
        <p:nvSpPr>
          <p:cNvPr id="7" name="TextBox 6"/>
          <p:cNvSpPr txBox="1"/>
          <p:nvPr/>
        </p:nvSpPr>
        <p:spPr>
          <a:xfrm>
            <a:off x="71628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node accepts the saved</a:t>
            </a:r>
          </a:p>
        </p:txBody>
      </p:sp>
      <p:sp>
        <p:nvSpPr>
          <p:cNvPr id="8" name="TextBox 7"/>
          <p:cNvSpPr txBox="1"/>
          <p:nvPr/>
        </p:nvSpPr>
        <p:spPr>
          <a:xfrm>
            <a:off x="71628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signed deploy. The effect is</a:t>
            </a:r>
          </a:p>
        </p:txBody>
      </p:sp>
      <p:sp>
        <p:nvSpPr>
          <p:cNvPr id="9" name="TextBox 8"/>
          <p:cNvSpPr txBox="1"/>
          <p:nvPr/>
        </p:nvSpPr>
        <p:spPr>
          <a:xfrm>
            <a:off x="71628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still pending.</a:t>
            </a:r>
          </a:p>
        </p:txBody>
      </p:sp>
      <p:cxnSp>
        <p:nvCxnSpPr>
          <p:cNvPr id="10" name="Connector 9"/>
          <p:cNvCxnSpPr/>
          <p:nvPr/>
        </p:nvCxnSpPr>
        <p:spPr>
          <a:xfrm>
            <a:off x="4084319" y="2895600"/>
            <a:ext cx="213361" cy="0"/>
          </a:xfrm>
          <a:prstGeom prst="line">
            <a:avLst/>
          </a:prstGeom>
          <a:ln w="15240">
            <a:solidFill>
              <a:srgbClr val="536775"/>
            </a:solidFill>
          </a:ln>
          <a:effectLst/>
        </p:spPr>
      </p:cxnSp>
      <p:sp>
        <p:nvSpPr>
          <p:cNvPr id="11" name="Freeform 10"/>
          <p:cNvSpPr/>
          <p:nvPr/>
        </p:nvSpPr>
        <p:spPr>
          <a:xfrm>
            <a:off x="4198620" y="28575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2" name="Rounded Rectangle 11"/>
          <p:cNvSpPr/>
          <p:nvPr/>
        </p:nvSpPr>
        <p:spPr>
          <a:xfrm>
            <a:off x="4328160" y="1920239"/>
            <a:ext cx="3535679" cy="1927859"/>
          </a:xfrm>
          <a:prstGeom prst="roundRect">
            <a:avLst>
              <a:gd name="adj" fmla="val 5138"/>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49580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2 · Inclusion</a:t>
            </a:r>
          </a:p>
        </p:txBody>
      </p:sp>
      <p:sp>
        <p:nvSpPr>
          <p:cNvPr id="14" name="TextBox 13"/>
          <p:cNvSpPr txBox="1"/>
          <p:nvPr/>
        </p:nvSpPr>
        <p:spPr>
          <a:xfrm>
            <a:off x="449580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exact deploy appears in</a:t>
            </a:r>
          </a:p>
        </p:txBody>
      </p:sp>
      <p:sp>
        <p:nvSpPr>
          <p:cNvPr id="15" name="TextBox 14"/>
          <p:cNvSpPr txBox="1"/>
          <p:nvPr/>
        </p:nvSpPr>
        <p:spPr>
          <a:xfrm>
            <a:off x="449580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 block with successful</a:t>
            </a:r>
          </a:p>
        </p:txBody>
      </p:sp>
      <p:sp>
        <p:nvSpPr>
          <p:cNvPr id="16" name="TextBox 15"/>
          <p:cNvSpPr txBox="1"/>
          <p:nvPr/>
        </p:nvSpPr>
        <p:spPr>
          <a:xfrm>
            <a:off x="449580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execution and cost.</a:t>
            </a:r>
          </a:p>
        </p:txBody>
      </p:sp>
      <p:cxnSp>
        <p:nvCxnSpPr>
          <p:cNvPr id="17" name="Connector 16"/>
          <p:cNvCxnSpPr/>
          <p:nvPr/>
        </p:nvCxnSpPr>
        <p:spPr>
          <a:xfrm>
            <a:off x="7863839" y="2895600"/>
            <a:ext cx="213361" cy="0"/>
          </a:xfrm>
          <a:prstGeom prst="line">
            <a:avLst/>
          </a:prstGeom>
          <a:ln w="15240">
            <a:solidFill>
              <a:srgbClr val="536775"/>
            </a:solidFill>
          </a:ln>
          <a:effectLst/>
        </p:spPr>
      </p:cxnSp>
      <p:sp>
        <p:nvSpPr>
          <p:cNvPr id="18" name="Freeform 17"/>
          <p:cNvSpPr/>
          <p:nvPr/>
        </p:nvSpPr>
        <p:spPr>
          <a:xfrm>
            <a:off x="7978140" y="28575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9" name="Rounded Rectangle 18"/>
          <p:cNvSpPr/>
          <p:nvPr/>
        </p:nvSpPr>
        <p:spPr>
          <a:xfrm>
            <a:off x="8107680" y="1920239"/>
            <a:ext cx="3535679" cy="1927859"/>
          </a:xfrm>
          <a:prstGeom prst="roundRect">
            <a:avLst>
              <a:gd name="adj" fmla="val 5138"/>
            </a:avLst>
          </a:prstGeom>
          <a:solidFill>
            <a:srgbClr val="FFFFFF"/>
          </a:solidFill>
          <a:ln w="7620">
            <a:solidFill>
              <a:srgbClr val="007C78"/>
            </a:solidFill>
          </a:ln>
          <a:effectLst/>
        </p:spPr>
        <p:txBody>
          <a:bodyPr rtlCol="0" anchor="ctr"/>
          <a:lstStyle/>
          <a:p>
            <a:pPr algn="ctr"/>
          </a:p>
        </p:txBody>
      </p:sp>
      <p:sp>
        <p:nvSpPr>
          <p:cNvPr id="20" name="TextBox 19"/>
          <p:cNvSpPr txBox="1"/>
          <p:nvPr/>
        </p:nvSpPr>
        <p:spPr>
          <a:xfrm>
            <a:off x="827532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3 · Verified effect</a:t>
            </a:r>
          </a:p>
        </p:txBody>
      </p:sp>
      <p:sp>
        <p:nvSpPr>
          <p:cNvPr id="21" name="TextBox 20"/>
          <p:cNvSpPr txBox="1"/>
          <p:nvPr/>
        </p:nvSpPr>
        <p:spPr>
          <a:xfrm>
            <a:off x="827532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Read the exact tuple in that</a:t>
            </a:r>
          </a:p>
        </p:txBody>
      </p:sp>
      <p:sp>
        <p:nvSpPr>
          <p:cNvPr id="22" name="TextBox 21"/>
          <p:cNvSpPr txBox="1"/>
          <p:nvPr/>
        </p:nvSpPr>
        <p:spPr>
          <a:xfrm>
            <a:off x="827532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block’s post-state; match the</a:t>
            </a:r>
          </a:p>
        </p:txBody>
      </p:sp>
      <p:sp>
        <p:nvSpPr>
          <p:cNvPr id="23" name="TextBox 22"/>
          <p:cNvSpPr txBox="1"/>
          <p:nvPr/>
        </p:nvSpPr>
        <p:spPr>
          <a:xfrm>
            <a:off x="827532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deploy’s finalized effect.</a:t>
            </a:r>
          </a:p>
        </p:txBody>
      </p:sp>
      <p:sp>
        <p:nvSpPr>
          <p:cNvPr id="24" name="Rounded Rectangle 23"/>
          <p:cNvSpPr/>
          <p:nvPr/>
        </p:nvSpPr>
        <p:spPr>
          <a:xfrm>
            <a:off x="548640" y="4191000"/>
            <a:ext cx="5364480" cy="1348740"/>
          </a:xfrm>
          <a:prstGeom prst="roundRect">
            <a:avLst>
              <a:gd name="adj" fmla="val 7344"/>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716280" y="43586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Fixed on-chain value</a:t>
            </a:r>
          </a:p>
        </p:txBody>
      </p:sp>
      <p:sp>
        <p:nvSpPr>
          <p:cNvPr id="26" name="TextBox 25"/>
          <p:cNvSpPr txBox="1"/>
          <p:nvPr/>
        </p:nvSpPr>
        <p:spPr>
          <a:xfrm>
            <a:off x="716280" y="4727447"/>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(namespace, generated operation ID,</a:t>
            </a:r>
          </a:p>
        </p:txBody>
      </p:sp>
      <p:sp>
        <p:nvSpPr>
          <p:cNvPr id="27" name="TextBox 26"/>
          <p:cNvSpPr txBox="1"/>
          <p:nvPr/>
        </p:nvSpPr>
        <p:spPr>
          <a:xfrm>
            <a:off x="716280" y="500054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approved result digest)</a:t>
            </a:r>
          </a:p>
        </p:txBody>
      </p:sp>
      <p:sp>
        <p:nvSpPr>
          <p:cNvPr id="28" name="Rounded Rectangle 27"/>
          <p:cNvSpPr/>
          <p:nvPr/>
        </p:nvSpPr>
        <p:spPr>
          <a:xfrm>
            <a:off x="6278880" y="4191000"/>
            <a:ext cx="5364480" cy="1348740"/>
          </a:xfrm>
          <a:prstGeom prst="roundRect">
            <a:avLst>
              <a:gd name="adj" fmla="val 7344"/>
            </a:avLst>
          </a:prstGeom>
          <a:solidFill>
            <a:srgbClr val="E4EBF5"/>
          </a:solidFill>
          <a:ln w="7620">
            <a:solidFill>
              <a:srgbClr val="315E9C"/>
            </a:solidFill>
          </a:ln>
          <a:effectLst/>
        </p:spPr>
        <p:txBody>
          <a:bodyPr rtlCol="0" anchor="ctr"/>
          <a:lstStyle/>
          <a:p>
            <a:pPr algn="ctr"/>
          </a:p>
        </p:txBody>
      </p:sp>
      <p:sp>
        <p:nvSpPr>
          <p:cNvPr id="29" name="TextBox 28"/>
          <p:cNvSpPr txBox="1"/>
          <p:nvPr/>
        </p:nvSpPr>
        <p:spPr>
          <a:xfrm>
            <a:off x="6446520" y="43586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Independent verification</a:t>
            </a:r>
          </a:p>
        </p:txBody>
      </p:sp>
      <p:sp>
        <p:nvSpPr>
          <p:cNvPr id="30" name="TextBox 29"/>
          <p:cNvSpPr txBox="1"/>
          <p:nvPr/>
        </p:nvSpPr>
        <p:spPr>
          <a:xfrm>
            <a:off x="6446520" y="4727447"/>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Same digest + deploy + block + post-state</a:t>
            </a:r>
          </a:p>
        </p:txBody>
      </p:sp>
      <p:sp>
        <p:nvSpPr>
          <p:cNvPr id="31" name="TextBox 30"/>
          <p:cNvSpPr txBox="1"/>
          <p:nvPr/>
        </p:nvSpPr>
        <p:spPr>
          <a:xfrm>
            <a:off x="6446520" y="500054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after node restart; no caller journal or signer.</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adapter verifies node-observed evidence. The chain does not certify off-chain PLN reasoning.</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F1R3node 9ec1096 · f1r3-generated-post-state/2</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FOUR NATIVE SIGKILL BOUNDARIES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lost reply reuses the same signed request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 the logical plan before signing, then persist the complete signed deploy before HTTP submission.</a:t>
            </a:r>
          </a:p>
        </p:txBody>
      </p:sp>
      <p:sp>
        <p:nvSpPr>
          <p:cNvPr id="5" name="TextBox 4"/>
          <p:cNvSpPr txBox="1"/>
          <p:nvPr/>
        </p:nvSpPr>
        <p:spPr>
          <a:xfrm>
            <a:off x="670560" y="1790700"/>
            <a:ext cx="3413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KILL BOUNDARY</a:t>
            </a:r>
          </a:p>
        </p:txBody>
      </p:sp>
      <p:sp>
        <p:nvSpPr>
          <p:cNvPr id="6" name="TextBox 5"/>
          <p:cNvSpPr txBox="1"/>
          <p:nvPr/>
        </p:nvSpPr>
        <p:spPr>
          <a:xfrm>
            <a:off x="4328160" y="1790700"/>
            <a:ext cx="3185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AUTHORITATIVE DURABLE FACT</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RECOVERY</a:t>
            </a:r>
          </a:p>
        </p:txBody>
      </p:sp>
      <p:sp>
        <p:nvSpPr>
          <p:cNvPr id="8" name="Rounded Rectangle 7"/>
          <p:cNvSpPr/>
          <p:nvPr/>
        </p:nvSpPr>
        <p:spPr>
          <a:xfrm>
            <a:off x="548640" y="2110740"/>
            <a:ext cx="11094720" cy="784860"/>
          </a:xfrm>
          <a:prstGeom prst="roundRect">
            <a:avLst>
              <a:gd name="adj" fmla="val 5825"/>
            </a:avLst>
          </a:prstGeom>
          <a:solidFill>
            <a:srgbClr val="FFFFFF"/>
          </a:solidFill>
          <a:ln>
            <a:noFill/>
          </a:ln>
          <a:effectLst/>
        </p:spPr>
        <p:txBody>
          <a:bodyPr rtlCol="0" anchor="ctr"/>
          <a:lstStyle/>
          <a:p>
            <a:pPr algn="ctr"/>
          </a:p>
        </p:txBody>
      </p:sp>
      <p:sp>
        <p:nvSpPr>
          <p:cNvPr id="9" name="TextBox 8"/>
          <p:cNvSpPr txBox="1"/>
          <p:nvPr/>
        </p:nvSpPr>
        <p:spPr>
          <a:xfrm>
            <a:off x="670560" y="224028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result acceptance</a:t>
            </a:r>
          </a:p>
        </p:txBody>
      </p:sp>
      <p:sp>
        <p:nvSpPr>
          <p:cNvPr id="10" name="TextBox 9"/>
          <p:cNvSpPr txBox="1"/>
          <p:nvPr/>
        </p:nvSpPr>
        <p:spPr>
          <a:xfrm>
            <a:off x="4328160" y="224028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Caller acceptance; completion</a:t>
            </a:r>
          </a:p>
        </p:txBody>
      </p:sp>
      <p:sp>
        <p:nvSpPr>
          <p:cNvPr id="11" name="TextBox 10"/>
          <p:cNvSpPr txBox="1"/>
          <p:nvPr/>
        </p:nvSpPr>
        <p:spPr>
          <a:xfrm>
            <a:off x="4328160" y="2474366"/>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may need ack</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Acknowledge same result, then approve</a:t>
            </a:r>
          </a:p>
        </p:txBody>
      </p:sp>
      <p:sp>
        <p:nvSpPr>
          <p:cNvPr id="13" name="Rounded Rectangle 12"/>
          <p:cNvSpPr/>
          <p:nvPr/>
        </p:nvSpPr>
        <p:spPr>
          <a:xfrm>
            <a:off x="548640" y="2933700"/>
            <a:ext cx="11094720" cy="784860"/>
          </a:xfrm>
          <a:prstGeom prst="roundRect">
            <a:avLst>
              <a:gd name="adj" fmla="val 5825"/>
            </a:avLst>
          </a:prstGeom>
          <a:solidFill>
            <a:srgbClr val="FFFFFF"/>
          </a:solidFill>
          <a:ln>
            <a:noFill/>
          </a:ln>
          <a:effectLst/>
        </p:spPr>
        <p:txBody>
          <a:bodyPr rtlCol="0" anchor="ctr"/>
          <a:lstStyle/>
          <a:p>
            <a:pPr algn="ctr"/>
          </a:p>
        </p:txBody>
      </p:sp>
      <p:sp>
        <p:nvSpPr>
          <p:cNvPr id="14" name="TextBox 13"/>
          <p:cNvSpPr txBox="1"/>
          <p:nvPr/>
        </p:nvSpPr>
        <p:spPr>
          <a:xfrm>
            <a:off x="670560" y="306324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signed-intent commit</a:t>
            </a:r>
          </a:p>
        </p:txBody>
      </p:sp>
      <p:sp>
        <p:nvSpPr>
          <p:cNvPr id="15" name="TextBox 14"/>
          <p:cNvSpPr txBox="1"/>
          <p:nvPr/>
        </p:nvSpPr>
        <p:spPr>
          <a:xfrm>
            <a:off x="4328160" y="306324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signed bytes and timestamp</a:t>
            </a:r>
          </a:p>
        </p:txBody>
      </p:sp>
      <p:sp>
        <p:nvSpPr>
          <p:cNvPr id="16" name="TextBox 15"/>
          <p:cNvSpPr txBox="1"/>
          <p:nvPr/>
        </p:nvSpPr>
        <p:spPr>
          <a:xfrm>
            <a:off x="7757159" y="30632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with signing key unavailable</a:t>
            </a:r>
          </a:p>
        </p:txBody>
      </p:sp>
      <p:sp>
        <p:nvSpPr>
          <p:cNvPr id="17" name="Rounded Rectangle 16"/>
          <p:cNvSpPr/>
          <p:nvPr/>
        </p:nvSpPr>
        <p:spPr>
          <a:xfrm>
            <a:off x="548640" y="3756660"/>
            <a:ext cx="11094720" cy="784860"/>
          </a:xfrm>
          <a:prstGeom prst="roundRect">
            <a:avLst>
              <a:gd name="adj" fmla="val 5825"/>
            </a:avLst>
          </a:prstGeom>
          <a:solidFill>
            <a:srgbClr val="FFFFFF"/>
          </a:solidFill>
          <a:ln>
            <a:noFill/>
          </a:ln>
          <a:effectLst/>
        </p:spPr>
        <p:txBody>
          <a:bodyPr rtlCol="0" anchor="ctr"/>
          <a:lstStyle/>
          <a:p>
            <a:pPr algn="ctr"/>
          </a:p>
        </p:txBody>
      </p:sp>
      <p:sp>
        <p:nvSpPr>
          <p:cNvPr id="18" name="TextBox 17"/>
          <p:cNvSpPr txBox="1"/>
          <p:nvPr/>
        </p:nvSpPr>
        <p:spPr>
          <a:xfrm>
            <a:off x="670560" y="388620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node send, before receipt</a:t>
            </a:r>
          </a:p>
        </p:txBody>
      </p:sp>
      <p:sp>
        <p:nvSpPr>
          <p:cNvPr id="19" name="TextBox 18"/>
          <p:cNvSpPr txBox="1"/>
          <p:nvPr/>
        </p:nvSpPr>
        <p:spPr>
          <a:xfrm>
            <a:off x="4328160" y="388620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signed deploy identity</a:t>
            </a:r>
          </a:p>
        </p:txBody>
      </p:sp>
      <p:sp>
        <p:nvSpPr>
          <p:cNvPr id="20" name="TextBox 19"/>
          <p:cNvSpPr txBox="1"/>
          <p:nvPr/>
        </p:nvSpPr>
        <p:spPr>
          <a:xfrm>
            <a:off x="7757159" y="38862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Retry after real finality; same request</a:t>
            </a:r>
          </a:p>
        </p:txBody>
      </p:sp>
      <p:sp>
        <p:nvSpPr>
          <p:cNvPr id="21" name="Rounded Rectangle 20"/>
          <p:cNvSpPr/>
          <p:nvPr/>
        </p:nvSpPr>
        <p:spPr>
          <a:xfrm>
            <a:off x="548640" y="4579620"/>
            <a:ext cx="11094720" cy="784860"/>
          </a:xfrm>
          <a:prstGeom prst="roundRect">
            <a:avLst>
              <a:gd name="adj" fmla="val 5825"/>
            </a:avLst>
          </a:prstGeom>
          <a:solidFill>
            <a:srgbClr val="FFFFFF"/>
          </a:solidFill>
          <a:ln>
            <a:noFill/>
          </a:ln>
          <a:effectLst/>
        </p:spPr>
        <p:txBody>
          <a:bodyPr rtlCol="0" anchor="ctr"/>
          <a:lstStyle/>
          <a:p>
            <a:pPr algn="ctr"/>
          </a:p>
        </p:txBody>
      </p:sp>
      <p:sp>
        <p:nvSpPr>
          <p:cNvPr id="22" name="TextBox 21"/>
          <p:cNvSpPr txBox="1"/>
          <p:nvPr/>
        </p:nvSpPr>
        <p:spPr>
          <a:xfrm>
            <a:off x="670560" y="470916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effect, before progress</a:t>
            </a:r>
          </a:p>
        </p:txBody>
      </p:sp>
      <p:sp>
        <p:nvSpPr>
          <p:cNvPr id="23" name="TextBox 22"/>
          <p:cNvSpPr txBox="1"/>
          <p:nvPr/>
        </p:nvSpPr>
        <p:spPr>
          <a:xfrm>
            <a:off x="4328160" y="470916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Chain observation committed</a:t>
            </a:r>
          </a:p>
        </p:txBody>
      </p:sp>
      <p:sp>
        <p:nvSpPr>
          <p:cNvPr id="24" name="TextBox 23"/>
          <p:cNvSpPr txBox="1"/>
          <p:nvPr/>
        </p:nvSpPr>
        <p:spPr>
          <a:xfrm>
            <a:off x="4328160" y="4943246"/>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separately</a:t>
            </a:r>
          </a:p>
        </p:txBody>
      </p:sp>
      <p:sp>
        <p:nvSpPr>
          <p:cNvPr id="25" name="TextBox 24"/>
          <p:cNvSpPr txBox="1"/>
          <p:nvPr/>
        </p:nvSpPr>
        <p:spPr>
          <a:xfrm>
            <a:off x="7757159" y="47091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caller recovers that observation</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Node outage preserves the off-chain result. Restart the same genesis/data and read the same finalized effect.</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evidence/m4/final/recovery-*.json</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REPRODUCIBLE SOURCE + SAFE ISOLATION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The real chain ran in a disposable isolated network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Clean pinned F1R3node source; no public connection, upstream patch or consensus rewrite.</a:t>
            </a:r>
          </a:p>
        </p:txBody>
      </p:sp>
      <p:sp>
        <p:nvSpPr>
          <p:cNvPr id="5" name="Rounded Rectangle 4"/>
          <p:cNvSpPr/>
          <p:nvPr/>
        </p:nvSpPr>
        <p:spPr>
          <a:xfrm>
            <a:off x="548640" y="1851659"/>
            <a:ext cx="7010400" cy="3718560"/>
          </a:xfrm>
          <a:prstGeom prst="roundRect">
            <a:avLst>
              <a:gd name="adj" fmla="val 2868"/>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54380" y="2049780"/>
            <a:ext cx="65989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UNPRIVILEGED NETWORK NAMESPACE · LOOPBACK ONLY</a:t>
            </a:r>
          </a:p>
        </p:txBody>
      </p:sp>
      <p:sp>
        <p:nvSpPr>
          <p:cNvPr id="7" name="Rounded Rectangle 6"/>
          <p:cNvSpPr/>
          <p:nvPr/>
        </p:nvSpPr>
        <p:spPr>
          <a:xfrm>
            <a:off x="800100" y="2567940"/>
            <a:ext cx="2941320" cy="1333500"/>
          </a:xfrm>
          <a:prstGeom prst="roundRect">
            <a:avLst>
              <a:gd name="adj" fmla="val 7428"/>
            </a:avLst>
          </a:prstGeom>
          <a:solidFill>
            <a:srgbClr val="FFFFFF"/>
          </a:solidFill>
          <a:ln w="7620">
            <a:solidFill>
              <a:srgbClr val="007C78"/>
            </a:solidFill>
          </a:ln>
          <a:effectLst/>
        </p:spPr>
        <p:txBody>
          <a:bodyPr rtlCol="0" anchor="ctr"/>
          <a:lstStyle/>
          <a:p>
            <a:pPr algn="ctr"/>
          </a:p>
        </p:txBody>
      </p:sp>
      <p:sp>
        <p:nvSpPr>
          <p:cNvPr id="8" name="TextBox 7"/>
          <p:cNvSpPr txBox="1"/>
          <p:nvPr/>
        </p:nvSpPr>
        <p:spPr>
          <a:xfrm>
            <a:off x="967740" y="2735580"/>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Generated test</a:t>
            </a:r>
          </a:p>
        </p:txBody>
      </p:sp>
      <p:sp>
        <p:nvSpPr>
          <p:cNvPr id="9" name="TextBox 8"/>
          <p:cNvSpPr txBox="1"/>
          <p:nvPr/>
        </p:nvSpPr>
        <p:spPr>
          <a:xfrm>
            <a:off x="967740" y="3028187"/>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genesis</a:t>
            </a:r>
          </a:p>
        </p:txBody>
      </p:sp>
      <p:sp>
        <p:nvSpPr>
          <p:cNvPr id="10" name="TextBox 9"/>
          <p:cNvSpPr txBox="1"/>
          <p:nvPr/>
        </p:nvSpPr>
        <p:spPr>
          <a:xfrm>
            <a:off x="967740" y="3396996"/>
            <a:ext cx="26060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One validator</a:t>
            </a:r>
          </a:p>
        </p:txBody>
      </p:sp>
      <p:sp>
        <p:nvSpPr>
          <p:cNvPr id="11" name="TextBox 10"/>
          <p:cNvSpPr txBox="1"/>
          <p:nvPr/>
        </p:nvSpPr>
        <p:spPr>
          <a:xfrm>
            <a:off x="967740" y="3601821"/>
            <a:ext cx="26060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Generated stake, wallet and key</a:t>
            </a:r>
          </a:p>
        </p:txBody>
      </p:sp>
      <p:sp>
        <p:nvSpPr>
          <p:cNvPr id="12" name="Rounded Rectangle 11"/>
          <p:cNvSpPr/>
          <p:nvPr/>
        </p:nvSpPr>
        <p:spPr>
          <a:xfrm>
            <a:off x="4366260" y="2567940"/>
            <a:ext cx="2941320" cy="1333500"/>
          </a:xfrm>
          <a:prstGeom prst="roundRect">
            <a:avLst>
              <a:gd name="adj" fmla="val 7428"/>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533900" y="2735580"/>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Real F1R3node</a:t>
            </a:r>
          </a:p>
        </p:txBody>
      </p:sp>
      <p:sp>
        <p:nvSpPr>
          <p:cNvPr id="14" name="TextBox 13"/>
          <p:cNvSpPr txBox="1"/>
          <p:nvPr/>
        </p:nvSpPr>
        <p:spPr>
          <a:xfrm>
            <a:off x="4533900" y="3104387"/>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9ec1096e1077…</a:t>
            </a:r>
          </a:p>
        </p:txBody>
      </p:sp>
      <p:sp>
        <p:nvSpPr>
          <p:cNvPr id="15" name="TextBox 14"/>
          <p:cNvSpPr txBox="1"/>
          <p:nvPr/>
        </p:nvSpPr>
        <p:spPr>
          <a:xfrm>
            <a:off x="4533900" y="3348228"/>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Fresh source and local</a:t>
            </a:r>
          </a:p>
        </p:txBody>
      </p:sp>
      <p:sp>
        <p:nvSpPr>
          <p:cNvPr id="16" name="TextBox 15"/>
          <p:cNvSpPr txBox="1"/>
          <p:nvPr/>
        </p:nvSpPr>
        <p:spPr>
          <a:xfrm>
            <a:off x="4533900" y="3592067"/>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build</a:t>
            </a:r>
          </a:p>
        </p:txBody>
      </p:sp>
      <p:cxnSp>
        <p:nvCxnSpPr>
          <p:cNvPr id="17" name="Connector 16"/>
          <p:cNvCxnSpPr/>
          <p:nvPr/>
        </p:nvCxnSpPr>
        <p:spPr>
          <a:xfrm>
            <a:off x="3741419" y="3223260"/>
            <a:ext cx="624841" cy="0"/>
          </a:xfrm>
          <a:prstGeom prst="line">
            <a:avLst/>
          </a:prstGeom>
          <a:ln w="15240">
            <a:solidFill>
              <a:srgbClr val="007C78"/>
            </a:solidFill>
          </a:ln>
          <a:effectLst/>
        </p:spPr>
      </p:cxnSp>
      <p:sp>
        <p:nvSpPr>
          <p:cNvPr id="18" name="Freeform 17"/>
          <p:cNvSpPr/>
          <p:nvPr/>
        </p:nvSpPr>
        <p:spPr>
          <a:xfrm>
            <a:off x="4267200" y="31851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9" name="Rounded Rectangle 18"/>
          <p:cNvSpPr/>
          <p:nvPr/>
        </p:nvSpPr>
        <p:spPr>
          <a:xfrm>
            <a:off x="800100" y="4267200"/>
            <a:ext cx="6507480" cy="1021079"/>
          </a:xfrm>
          <a:prstGeom prst="roundRect">
            <a:avLst>
              <a:gd name="adj" fmla="val 9701"/>
            </a:avLst>
          </a:prstGeom>
          <a:solidFill>
            <a:srgbClr val="E4EBF5"/>
          </a:solidFill>
          <a:ln w="7620">
            <a:solidFill>
              <a:srgbClr val="315E9C"/>
            </a:solidFill>
          </a:ln>
          <a:effectLst/>
        </p:spPr>
        <p:txBody>
          <a:bodyPr rtlCol="0" anchor="ctr"/>
          <a:lstStyle/>
          <a:p>
            <a:pPr algn="ctr"/>
          </a:p>
        </p:txBody>
      </p:sp>
      <p:sp>
        <p:nvSpPr>
          <p:cNvPr id="20" name="TextBox 19"/>
          <p:cNvSpPr txBox="1"/>
          <p:nvPr/>
        </p:nvSpPr>
        <p:spPr>
          <a:xfrm>
            <a:off x="967740" y="4434840"/>
            <a:ext cx="6172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Observed sockets stay inside</a:t>
            </a:r>
          </a:p>
        </p:txBody>
      </p:sp>
      <p:sp>
        <p:nvSpPr>
          <p:cNvPr id="21" name="TextBox 20"/>
          <p:cNvSpPr txBox="1"/>
          <p:nvPr/>
        </p:nvSpPr>
        <p:spPr>
          <a:xfrm>
            <a:off x="967740" y="4793894"/>
            <a:ext cx="6172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P2P and gRPC wildcard listeners exist only in the namespace; no route to</a:t>
            </a:r>
          </a:p>
        </p:txBody>
      </p:sp>
      <p:sp>
        <p:nvSpPr>
          <p:cNvPr id="22" name="TextBox 21"/>
          <p:cNvSpPr txBox="1"/>
          <p:nvPr/>
        </p:nvSpPr>
        <p:spPr>
          <a:xfrm>
            <a:off x="967740" y="5008473"/>
            <a:ext cx="6172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an external network.</a:t>
            </a:r>
          </a:p>
        </p:txBody>
      </p:sp>
      <p:sp>
        <p:nvSpPr>
          <p:cNvPr id="23" name="Rounded Rectangle 22"/>
          <p:cNvSpPr/>
          <p:nvPr/>
        </p:nvSpPr>
        <p:spPr>
          <a:xfrm>
            <a:off x="8107680" y="1851659"/>
            <a:ext cx="3535679" cy="1706880"/>
          </a:xfrm>
          <a:prstGeom prst="roundRect">
            <a:avLst>
              <a:gd name="adj" fmla="val 5803"/>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8275320" y="201930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From the host</a:t>
            </a:r>
          </a:p>
        </p:txBody>
      </p:sp>
      <p:sp>
        <p:nvSpPr>
          <p:cNvPr id="25" name="TextBox 24"/>
          <p:cNvSpPr txBox="1"/>
          <p:nvPr/>
        </p:nvSpPr>
        <p:spPr>
          <a:xfrm>
            <a:off x="8275320" y="240761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All six probed ports refused</a:t>
            </a:r>
          </a:p>
        </p:txBody>
      </p:sp>
      <p:sp>
        <p:nvSpPr>
          <p:cNvPr id="26" name="TextBox 25"/>
          <p:cNvSpPr txBox="1"/>
          <p:nvPr/>
        </p:nvSpPr>
        <p:spPr>
          <a:xfrm>
            <a:off x="8275320" y="269046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connections while the node</a:t>
            </a:r>
          </a:p>
        </p:txBody>
      </p:sp>
      <p:sp>
        <p:nvSpPr>
          <p:cNvPr id="27" name="TextBox 26"/>
          <p:cNvSpPr txBox="1"/>
          <p:nvPr/>
        </p:nvSpPr>
        <p:spPr>
          <a:xfrm>
            <a:off x="8275320" y="2973323"/>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was ready.</a:t>
            </a:r>
          </a:p>
        </p:txBody>
      </p:sp>
      <p:sp>
        <p:nvSpPr>
          <p:cNvPr id="28" name="Rounded Rectangle 27"/>
          <p:cNvSpPr/>
          <p:nvPr/>
        </p:nvSpPr>
        <p:spPr>
          <a:xfrm>
            <a:off x="8107680" y="3863340"/>
            <a:ext cx="3535679" cy="1706880"/>
          </a:xfrm>
          <a:prstGeom prst="roundRect">
            <a:avLst>
              <a:gd name="adj" fmla="val 5803"/>
            </a:avLst>
          </a:prstGeom>
          <a:solidFill>
            <a:srgbClr val="F3E7CE"/>
          </a:solidFill>
          <a:ln w="7620">
            <a:solidFill>
              <a:srgbClr val="A86A15"/>
            </a:solidFill>
          </a:ln>
          <a:effectLst/>
        </p:spPr>
        <p:txBody>
          <a:bodyPr rtlCol="0" anchor="ctr"/>
          <a:lstStyle/>
          <a:p>
            <a:pPr algn="ctr"/>
          </a:p>
        </p:txBody>
      </p:sp>
      <p:sp>
        <p:nvSpPr>
          <p:cNvPr id="29" name="TextBox 28"/>
          <p:cNvSpPr txBox="1"/>
          <p:nvPr/>
        </p:nvSpPr>
        <p:spPr>
          <a:xfrm>
            <a:off x="8275320" y="4030979"/>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From the namespace</a:t>
            </a:r>
          </a:p>
        </p:txBody>
      </p:sp>
      <p:sp>
        <p:nvSpPr>
          <p:cNvPr id="30" name="TextBox 29"/>
          <p:cNvSpPr txBox="1"/>
          <p:nvPr/>
        </p:nvSpPr>
        <p:spPr>
          <a:xfrm>
            <a:off x="8275320" y="441929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External connection failed:</a:t>
            </a:r>
          </a:p>
        </p:txBody>
      </p:sp>
      <p:sp>
        <p:nvSpPr>
          <p:cNvPr id="31" name="TextBox 30"/>
          <p:cNvSpPr txBox="1"/>
          <p:nvPr/>
        </p:nvSpPr>
        <p:spPr>
          <a:xfrm>
            <a:off x="8275320" y="470214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ENETUNREACH. Host firewall</a:t>
            </a:r>
          </a:p>
        </p:txBody>
      </p:sp>
      <p:sp>
        <p:nvSpPr>
          <p:cNvPr id="32" name="TextBox 31"/>
          <p:cNvSpPr txBox="1"/>
          <p:nvPr/>
        </p:nvSpPr>
        <p:spPr>
          <a:xfrm>
            <a:off x="8275320" y="4985004"/>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unchanged.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Single-validator evidence establishes this local integration; multi-validator safety remains unrun.</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evidence/m4/build/chain.json · final/isolation.json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EVIDENCE CLASSIFICATION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Real providers and fixtures remain visibly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real runtime can execute generated inputs. Each claim carries its own evidence label.</a:t>
            </a:r>
          </a:p>
        </p:txBody>
      </p:sp>
      <p:sp>
        <p:nvSpPr>
          <p:cNvPr id="5" name="TextBox 4"/>
          <p:cNvSpPr txBox="1"/>
          <p:nvPr/>
        </p:nvSpPr>
        <p:spPr>
          <a:xfrm>
            <a:off x="670560" y="1790700"/>
            <a:ext cx="2118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6" name="TextBox 5"/>
          <p:cNvSpPr txBox="1"/>
          <p:nvPr/>
        </p:nvSpPr>
        <p:spPr>
          <a:xfrm>
            <a:off x="3032760" y="1790700"/>
            <a:ext cx="470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EXERCISED COMPONENTS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THE RESULT SUPPORTS</a:t>
            </a:r>
          </a:p>
        </p:txBody>
      </p:sp>
      <p:sp>
        <p:nvSpPr>
          <p:cNvPr id="8" name="Rounded Rectangle 7"/>
          <p:cNvSpPr/>
          <p:nvPr/>
        </p:nvSpPr>
        <p:spPr>
          <a:xfrm>
            <a:off x="548640" y="2110740"/>
            <a:ext cx="11094720" cy="845819"/>
          </a:xfrm>
          <a:prstGeom prst="roundRect">
            <a:avLst>
              <a:gd name="adj" fmla="val 5405"/>
            </a:avLst>
          </a:prstGeom>
          <a:solidFill>
            <a:srgbClr val="FFFFFF"/>
          </a:solidFill>
          <a:ln>
            <a:noFill/>
          </a:ln>
          <a:effectLst/>
        </p:spPr>
        <p:txBody>
          <a:bodyPr rtlCol="0" anchor="ctr"/>
          <a:lstStyle/>
          <a:p>
            <a:pPr algn="ctr"/>
          </a:p>
        </p:txBody>
      </p:sp>
      <p:sp>
        <p:nvSpPr>
          <p:cNvPr id="9" name="TextBox 8"/>
          <p:cNvSpPr txBox="1"/>
          <p:nvPr/>
        </p:nvSpPr>
        <p:spPr>
          <a:xfrm>
            <a:off x="670560" y="224028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 PROVIDERS</a:t>
            </a:r>
          </a:p>
        </p:txBody>
      </p:sp>
      <p:sp>
        <p:nvSpPr>
          <p:cNvPr id="10" name="TextBox 9"/>
          <p:cNvSpPr txBox="1"/>
          <p:nvPr/>
        </p:nvSpPr>
        <p:spPr>
          <a:xfrm>
            <a:off x="3032760" y="224028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Hive / Supervisor / PeTTa · DeTTa</a:t>
            </a:r>
          </a:p>
        </p:txBody>
      </p:sp>
      <p:sp>
        <p:nvSpPr>
          <p:cNvPr id="11" name="TextBox 10"/>
          <p:cNvSpPr txBox="1"/>
          <p:nvPr/>
        </p:nvSpPr>
        <p:spPr>
          <a:xfrm>
            <a:off x="3032760" y="247436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Pinned PLN · SQLite STI · isolated F1R3node</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runtime, durable owner state,</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chain effect and restart/readback</a:t>
            </a:r>
          </a:p>
        </p:txBody>
      </p:sp>
      <p:sp>
        <p:nvSpPr>
          <p:cNvPr id="14" name="Rounded Rectangle 13"/>
          <p:cNvSpPr/>
          <p:nvPr/>
        </p:nvSpPr>
        <p:spPr>
          <a:xfrm>
            <a:off x="548640" y="2994660"/>
            <a:ext cx="11094720" cy="845819"/>
          </a:xfrm>
          <a:prstGeom prst="roundRect">
            <a:avLst>
              <a:gd name="adj" fmla="val 5405"/>
            </a:avLst>
          </a:prstGeom>
          <a:solidFill>
            <a:srgbClr val="FFFFFF"/>
          </a:solidFill>
          <a:ln>
            <a:noFill/>
          </a:ln>
          <a:effectLst/>
        </p:spPr>
        <p:txBody>
          <a:bodyPr rtlCol="0" anchor="ctr"/>
          <a:lstStyle/>
          <a:p>
            <a:pPr algn="ctr"/>
          </a:p>
        </p:txBody>
      </p:sp>
      <p:sp>
        <p:nvSpPr>
          <p:cNvPr id="15" name="TextBox 14"/>
          <p:cNvSpPr txBox="1"/>
          <p:nvPr/>
        </p:nvSpPr>
        <p:spPr>
          <a:xfrm>
            <a:off x="670560" y="312420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FIXTURES</a:t>
            </a:r>
          </a:p>
        </p:txBody>
      </p:sp>
      <p:sp>
        <p:nvSpPr>
          <p:cNvPr id="16" name="TextBox 15"/>
          <p:cNvSpPr txBox="1"/>
          <p:nvPr/>
        </p:nvSpPr>
        <p:spPr>
          <a:xfrm>
            <a:off x="3032760" y="312420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Generated input, policy, grants, genesis and key</a:t>
            </a:r>
          </a:p>
        </p:txBody>
      </p:sp>
      <p:sp>
        <p:nvSpPr>
          <p:cNvPr id="17" name="TextBox 16"/>
          <p:cNvSpPr txBox="1"/>
          <p:nvPr/>
        </p:nvSpPr>
        <p:spPr>
          <a:xfrm>
            <a:off x="3032760" y="335828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Reference-message counterparty; atomic-file</a:t>
            </a:r>
          </a:p>
        </p:txBody>
      </p:sp>
      <p:sp>
        <p:nvSpPr>
          <p:cNvPr id="18" name="TextBox 17"/>
          <p:cNvSpPr txBox="1"/>
          <p:nvPr/>
        </p:nvSpPr>
        <p:spPr>
          <a:xfrm>
            <a:off x="3032760" y="3592372"/>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attention</a:t>
            </a:r>
          </a:p>
        </p:txBody>
      </p:sp>
      <p:sp>
        <p:nvSpPr>
          <p:cNvPr id="19" name="TextBox 18"/>
          <p:cNvSpPr txBox="1"/>
          <p:nvPr/>
        </p:nvSpPr>
        <p:spPr>
          <a:xfrm>
            <a:off x="7985759" y="312420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Controlled inputs, replacement</a:t>
            </a:r>
          </a:p>
        </p:txBody>
      </p:sp>
      <p:sp>
        <p:nvSpPr>
          <p:cNvPr id="20" name="TextBox 19"/>
          <p:cNvSpPr txBox="1"/>
          <p:nvPr/>
        </p:nvSpPr>
        <p:spPr>
          <a:xfrm>
            <a:off x="7985759" y="335828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and deliberate fault/refusal cases</a:t>
            </a:r>
          </a:p>
        </p:txBody>
      </p:sp>
      <p:sp>
        <p:nvSpPr>
          <p:cNvPr id="21" name="Rounded Rectangle 20"/>
          <p:cNvSpPr/>
          <p:nvPr/>
        </p:nvSpPr>
        <p:spPr>
          <a:xfrm>
            <a:off x="548640" y="3878579"/>
            <a:ext cx="11094720" cy="845819"/>
          </a:xfrm>
          <a:prstGeom prst="roundRect">
            <a:avLst>
              <a:gd name="adj" fmla="val 5405"/>
            </a:avLst>
          </a:prstGeom>
          <a:solidFill>
            <a:srgbClr val="FFFFFF"/>
          </a:solidFill>
          <a:ln>
            <a:noFill/>
          </a:ln>
          <a:effectLst/>
        </p:spPr>
        <p:txBody>
          <a:bodyPr rtlCol="0" anchor="ctr"/>
          <a:lstStyle/>
          <a:p>
            <a:pPr algn="ctr"/>
          </a:p>
        </p:txBody>
      </p:sp>
      <p:sp>
        <p:nvSpPr>
          <p:cNvPr id="22" name="TextBox 21"/>
          <p:cNvSpPr txBox="1"/>
          <p:nvPr/>
        </p:nvSpPr>
        <p:spPr>
          <a:xfrm>
            <a:off x="670560" y="4008119"/>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BLOCKED</a:t>
            </a:r>
          </a:p>
        </p:txBody>
      </p:sp>
      <p:sp>
        <p:nvSpPr>
          <p:cNvPr id="23" name="TextBox 22"/>
          <p:cNvSpPr txBox="1"/>
          <p:nvPr/>
        </p:nvSpPr>
        <p:spPr>
          <a:xfrm>
            <a:off x="3032760" y="4008119"/>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None for required M4 prerequisites</a:t>
            </a:r>
          </a:p>
        </p:txBody>
      </p:sp>
      <p:sp>
        <p:nvSpPr>
          <p:cNvPr id="24" name="TextBox 23"/>
          <p:cNvSpPr txBox="1"/>
          <p:nvPr/>
        </p:nvSpPr>
        <p:spPr>
          <a:xfrm>
            <a:off x="3032760" y="424220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historical dirty M1 chain source unavailable</a:t>
            </a:r>
          </a:p>
        </p:txBody>
      </p:sp>
      <p:sp>
        <p:nvSpPr>
          <p:cNvPr id="25" name="TextBox 24"/>
          <p:cNvSpPr txBox="1"/>
          <p:nvPr/>
        </p:nvSpPr>
        <p:spPr>
          <a:xfrm>
            <a:off x="7985759" y="4008119"/>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M4 uses a separately validated</a:t>
            </a:r>
          </a:p>
        </p:txBody>
      </p:sp>
      <p:sp>
        <p:nvSpPr>
          <p:cNvPr id="26" name="TextBox 25"/>
          <p:cNvSpPr txBox="1"/>
          <p:nvPr/>
        </p:nvSpPr>
        <p:spPr>
          <a:xfrm>
            <a:off x="7985759" y="42422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clean source baseline</a:t>
            </a:r>
          </a:p>
        </p:txBody>
      </p:sp>
      <p:sp>
        <p:nvSpPr>
          <p:cNvPr id="27" name="Rounded Rectangle 26"/>
          <p:cNvSpPr/>
          <p:nvPr/>
        </p:nvSpPr>
        <p:spPr>
          <a:xfrm>
            <a:off x="548640" y="4762500"/>
            <a:ext cx="11094720" cy="845819"/>
          </a:xfrm>
          <a:prstGeom prst="roundRect">
            <a:avLst>
              <a:gd name="adj" fmla="val 5405"/>
            </a:avLst>
          </a:prstGeom>
          <a:solidFill>
            <a:srgbClr val="FFFFFF"/>
          </a:solidFill>
          <a:ln>
            <a:noFill/>
          </a:ln>
          <a:effectLst/>
        </p:spPr>
        <p:txBody>
          <a:bodyPr rtlCol="0" anchor="ctr"/>
          <a:lstStyle/>
          <a:p>
            <a:pPr algn="ctr"/>
          </a:p>
        </p:txBody>
      </p:sp>
      <p:sp>
        <p:nvSpPr>
          <p:cNvPr id="28" name="TextBox 27"/>
          <p:cNvSpPr txBox="1"/>
          <p:nvPr/>
        </p:nvSpPr>
        <p:spPr>
          <a:xfrm>
            <a:off x="670560" y="489204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NOT_RUN</a:t>
            </a:r>
          </a:p>
        </p:txBody>
      </p:sp>
      <p:sp>
        <p:nvSpPr>
          <p:cNvPr id="29" name="TextBox 28"/>
          <p:cNvSpPr txBox="1"/>
          <p:nvPr/>
        </p:nvSpPr>
        <p:spPr>
          <a:xfrm>
            <a:off x="3032760" y="489204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Multi-validator safety, power loss, distributed</a:t>
            </a:r>
          </a:p>
        </p:txBody>
      </p:sp>
      <p:sp>
        <p:nvSpPr>
          <p:cNvPr id="30" name="TextBox 29"/>
          <p:cNvSpPr txBox="1"/>
          <p:nvPr/>
        </p:nvSpPr>
        <p:spPr>
          <a:xfrm>
            <a:off x="3032760" y="512612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failover,</a:t>
            </a:r>
          </a:p>
        </p:txBody>
      </p:sp>
      <p:sp>
        <p:nvSpPr>
          <p:cNvPr id="31" name="TextBox 30"/>
          <p:cNvSpPr txBox="1"/>
          <p:nvPr/>
        </p:nvSpPr>
        <p:spPr>
          <a:xfrm>
            <a:off x="3032760" y="5360212"/>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empty global caches, migration, production</a:t>
            </a:r>
          </a:p>
        </p:txBody>
      </p:sp>
      <p:sp>
        <p:nvSpPr>
          <p:cNvPr id="32" name="TextBox 31"/>
          <p:cNvSpPr txBox="1"/>
          <p:nvPr/>
        </p:nvSpPr>
        <p:spPr>
          <a:xfrm>
            <a:off x="3032760" y="5594299"/>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economics</a:t>
            </a:r>
          </a:p>
        </p:txBody>
      </p:sp>
      <p:sp>
        <p:nvSpPr>
          <p:cNvPr id="33" name="TextBox 32"/>
          <p:cNvSpPr txBox="1"/>
          <p:nvPr/>
        </p:nvSpPr>
        <p:spPr>
          <a:xfrm>
            <a:off x="7985759" y="48920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claims beyond the supported</a:t>
            </a:r>
          </a:p>
        </p:txBody>
      </p:sp>
      <p:sp>
        <p:nvSpPr>
          <p:cNvPr id="34" name="TextBox 33"/>
          <p:cNvSpPr txBox="1"/>
          <p:nvPr/>
        </p:nvSpPr>
        <p:spPr>
          <a:xfrm>
            <a:off x="7985759" y="51261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local generated workflow</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evidence/m4/manifest.json · final/verification.json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M4 FINAL VERIFICATION</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Executed tests preserve cognition and verify real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Repeated subsets overlap. These counts must not be added into a unique test total.</a:t>
            </a:r>
          </a:p>
        </p:txBody>
      </p:sp>
      <p:sp>
        <p:nvSpPr>
          <p:cNvPr id="5" name="TextBox 4"/>
          <p:cNvSpPr txBox="1"/>
          <p:nvPr/>
        </p:nvSpPr>
        <p:spPr>
          <a:xfrm>
            <a:off x="670560" y="1790700"/>
            <a:ext cx="3870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COMMAND / LAYER</a:t>
            </a:r>
          </a:p>
        </p:txBody>
      </p:sp>
      <p:sp>
        <p:nvSpPr>
          <p:cNvPr id="6" name="TextBox 5"/>
          <p:cNvSpPr txBox="1"/>
          <p:nvPr/>
        </p:nvSpPr>
        <p:spPr>
          <a:xfrm>
            <a:off x="4785360" y="1790700"/>
            <a:ext cx="18897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CASES</a:t>
            </a:r>
          </a:p>
        </p:txBody>
      </p:sp>
      <p:sp>
        <p:nvSpPr>
          <p:cNvPr id="7" name="TextBox 6"/>
          <p:cNvSpPr txBox="1"/>
          <p:nvPr/>
        </p:nvSpPr>
        <p:spPr>
          <a:xfrm>
            <a:off x="6918959" y="1790700"/>
            <a:ext cx="4602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EVIDENCE TYPE</a:t>
            </a:r>
          </a:p>
        </p:txBody>
      </p:sp>
      <p:sp>
        <p:nvSpPr>
          <p:cNvPr id="8" name="Rounded Rectangle 7"/>
          <p:cNvSpPr/>
          <p:nvPr/>
        </p:nvSpPr>
        <p:spPr>
          <a:xfrm>
            <a:off x="548640" y="2110740"/>
            <a:ext cx="11094720" cy="563880"/>
          </a:xfrm>
          <a:prstGeom prst="roundRect">
            <a:avLst>
              <a:gd name="adj" fmla="val 8108"/>
            </a:avLst>
          </a:prstGeom>
          <a:solidFill>
            <a:srgbClr val="FFFFFF"/>
          </a:solidFill>
          <a:ln>
            <a:noFill/>
          </a:ln>
          <a:effectLst/>
        </p:spPr>
        <p:txBody>
          <a:bodyPr rtlCol="0" anchor="ctr"/>
          <a:lstStyle/>
          <a:p>
            <a:pPr algn="ctr"/>
          </a:p>
        </p:txBody>
      </p:sp>
      <p:sp>
        <p:nvSpPr>
          <p:cNvPr id="9" name="TextBox 8"/>
          <p:cNvSpPr txBox="1"/>
          <p:nvPr/>
        </p:nvSpPr>
        <p:spPr>
          <a:xfrm>
            <a:off x="670560" y="224028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Preserved M1–M3.1 regression</a:t>
            </a:r>
          </a:p>
        </p:txBody>
      </p:sp>
      <p:sp>
        <p:nvSpPr>
          <p:cNvPr id="10" name="TextBox 9"/>
          <p:cNvSpPr txBox="1"/>
          <p:nvPr/>
        </p:nvSpPr>
        <p:spPr>
          <a:xfrm>
            <a:off x="4785360" y="224028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138 aggregate</a:t>
            </a:r>
          </a:p>
        </p:txBody>
      </p:sp>
      <p:sp>
        <p:nvSpPr>
          <p:cNvPr id="11" name="TextBox 10"/>
          <p:cNvSpPr txBox="1"/>
          <p:nvPr/>
        </p:nvSpPr>
        <p:spPr>
          <a:xfrm>
            <a:off x="6918959" y="224028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Includes the 11 M4 fixtures; all native suites rerun</a:t>
            </a:r>
          </a:p>
        </p:txBody>
      </p:sp>
      <p:sp>
        <p:nvSpPr>
          <p:cNvPr id="12" name="Rounded Rectangle 11"/>
          <p:cNvSpPr/>
          <p:nvPr/>
        </p:nvSpPr>
        <p:spPr>
          <a:xfrm>
            <a:off x="548640" y="2712720"/>
            <a:ext cx="11094720" cy="563880"/>
          </a:xfrm>
          <a:prstGeom prst="roundRect">
            <a:avLst>
              <a:gd name="adj" fmla="val 8108"/>
            </a:avLst>
          </a:prstGeom>
          <a:solidFill>
            <a:srgbClr val="FFFFFF"/>
          </a:solidFill>
          <a:ln>
            <a:noFill/>
          </a:ln>
          <a:effectLst/>
        </p:spPr>
        <p:txBody>
          <a:bodyPr rtlCol="0" anchor="ctr"/>
          <a:lstStyle/>
          <a:p>
            <a:pPr algn="ctr"/>
          </a:p>
        </p:txBody>
      </p:sp>
      <p:sp>
        <p:nvSpPr>
          <p:cNvPr id="13" name="TextBox 12"/>
          <p:cNvSpPr txBox="1"/>
          <p:nvPr/>
        </p:nvSpPr>
        <p:spPr>
          <a:xfrm>
            <a:off x="670560" y="284226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Focused commitment fixtures</a:t>
            </a:r>
          </a:p>
        </p:txBody>
      </p:sp>
      <p:sp>
        <p:nvSpPr>
          <p:cNvPr id="14" name="TextBox 13"/>
          <p:cNvSpPr txBox="1"/>
          <p:nvPr/>
        </p:nvSpPr>
        <p:spPr>
          <a:xfrm>
            <a:off x="4785360" y="284226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a:t>
            </a:r>
          </a:p>
        </p:txBody>
      </p:sp>
      <p:sp>
        <p:nvSpPr>
          <p:cNvPr id="15" name="TextBox 14"/>
          <p:cNvSpPr txBox="1"/>
          <p:nvPr/>
        </p:nvSpPr>
        <p:spPr>
          <a:xfrm>
            <a:off x="6918959" y="284226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Approval, replay, malformed effects and mutable</a:t>
            </a:r>
          </a:p>
        </p:txBody>
      </p:sp>
      <p:sp>
        <p:nvSpPr>
          <p:cNvPr id="16" name="TextBox 15"/>
          <p:cNvSpPr txBox="1"/>
          <p:nvPr/>
        </p:nvSpPr>
        <p:spPr>
          <a:xfrm>
            <a:off x="6918959" y="306659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aliases</a:t>
            </a:r>
          </a:p>
        </p:txBody>
      </p:sp>
      <p:sp>
        <p:nvSpPr>
          <p:cNvPr id="17" name="Rounded Rectangle 16"/>
          <p:cNvSpPr/>
          <p:nvPr/>
        </p:nvSpPr>
        <p:spPr>
          <a:xfrm>
            <a:off x="548640" y="3314700"/>
            <a:ext cx="11094720" cy="563880"/>
          </a:xfrm>
          <a:prstGeom prst="roundRect">
            <a:avLst>
              <a:gd name="adj" fmla="val 8108"/>
            </a:avLst>
          </a:prstGeom>
          <a:solidFill>
            <a:srgbClr val="FFFFFF"/>
          </a:solidFill>
          <a:ln>
            <a:noFill/>
          </a:ln>
          <a:effectLst/>
        </p:spPr>
        <p:txBody>
          <a:bodyPr rtlCol="0" anchor="ctr"/>
          <a:lstStyle/>
          <a:p>
            <a:pPr algn="ctr"/>
          </a:p>
        </p:txBody>
      </p:sp>
      <p:sp>
        <p:nvSpPr>
          <p:cNvPr id="18" name="TextBox 17"/>
          <p:cNvSpPr txBox="1"/>
          <p:nvPr/>
        </p:nvSpPr>
        <p:spPr>
          <a:xfrm>
            <a:off x="670560" y="344424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Actual native Hive + real chain</a:t>
            </a:r>
          </a:p>
        </p:txBody>
      </p:sp>
      <p:sp>
        <p:nvSpPr>
          <p:cNvPr id="19" name="TextBox 18"/>
          <p:cNvSpPr txBox="1"/>
          <p:nvPr/>
        </p:nvSpPr>
        <p:spPr>
          <a:xfrm>
            <a:off x="4785360" y="344424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6</a:t>
            </a:r>
          </a:p>
        </p:txBody>
      </p:sp>
      <p:sp>
        <p:nvSpPr>
          <p:cNvPr id="20" name="TextBox 19"/>
          <p:cNvSpPr txBox="1"/>
          <p:nvPr/>
        </p:nvSpPr>
        <p:spPr>
          <a:xfrm>
            <a:off x="6918959" y="344424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All passed; four explicit native SIGKILL boundaries</a:t>
            </a:r>
          </a:p>
        </p:txBody>
      </p:sp>
      <p:sp>
        <p:nvSpPr>
          <p:cNvPr id="21" name="Rounded Rectangle 20"/>
          <p:cNvSpPr/>
          <p:nvPr/>
        </p:nvSpPr>
        <p:spPr>
          <a:xfrm>
            <a:off x="548640" y="3916679"/>
            <a:ext cx="11094720" cy="563880"/>
          </a:xfrm>
          <a:prstGeom prst="roundRect">
            <a:avLst>
              <a:gd name="adj" fmla="val 8108"/>
            </a:avLst>
          </a:prstGeom>
          <a:solidFill>
            <a:srgbClr val="FFFFFF"/>
          </a:solidFill>
          <a:ln>
            <a:noFill/>
          </a:ln>
          <a:effectLst/>
        </p:spPr>
        <p:txBody>
          <a:bodyPr rtlCol="0" anchor="ctr"/>
          <a:lstStyle/>
          <a:p>
            <a:pPr algn="ctr"/>
          </a:p>
        </p:txBody>
      </p:sp>
      <p:sp>
        <p:nvSpPr>
          <p:cNvPr id="22" name="TextBox 21"/>
          <p:cNvSpPr txBox="1"/>
          <p:nvPr/>
        </p:nvSpPr>
        <p:spPr>
          <a:xfrm>
            <a:off x="670560" y="4046219"/>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Node outage / restart + readback</a:t>
            </a:r>
          </a:p>
        </p:txBody>
      </p:sp>
      <p:sp>
        <p:nvSpPr>
          <p:cNvPr id="23" name="TextBox 22"/>
          <p:cNvSpPr txBox="1"/>
          <p:nvPr/>
        </p:nvSpPr>
        <p:spPr>
          <a:xfrm>
            <a:off x="4785360" y="4046219"/>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 native suite</a:t>
            </a:r>
          </a:p>
        </p:txBody>
      </p:sp>
      <p:sp>
        <p:nvSpPr>
          <p:cNvPr id="24" name="TextBox 23"/>
          <p:cNvSpPr txBox="1"/>
          <p:nvPr/>
        </p:nvSpPr>
        <p:spPr>
          <a:xfrm>
            <a:off x="6918959" y="4046219"/>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data/genesis; separate reader; privacy +</a:t>
            </a:r>
          </a:p>
        </p:txBody>
      </p:sp>
      <p:sp>
        <p:nvSpPr>
          <p:cNvPr id="25" name="TextBox 24"/>
          <p:cNvSpPr txBox="1"/>
          <p:nvPr/>
        </p:nvSpPr>
        <p:spPr>
          <a:xfrm>
            <a:off x="6918959" y="427055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authority</a:t>
            </a:r>
          </a:p>
        </p:txBody>
      </p:sp>
      <p:sp>
        <p:nvSpPr>
          <p:cNvPr id="26" name="Rounded Rectangle 25"/>
          <p:cNvSpPr/>
          <p:nvPr/>
        </p:nvSpPr>
        <p:spPr>
          <a:xfrm>
            <a:off x="548640" y="4518660"/>
            <a:ext cx="11094720" cy="563880"/>
          </a:xfrm>
          <a:prstGeom prst="roundRect">
            <a:avLst>
              <a:gd name="adj" fmla="val 8108"/>
            </a:avLst>
          </a:prstGeom>
          <a:solidFill>
            <a:srgbClr val="FFFFFF"/>
          </a:solidFill>
          <a:ln>
            <a:noFill/>
          </a:ln>
          <a:effectLst/>
        </p:spPr>
        <p:txBody>
          <a:bodyPr rtlCol="0" anchor="ctr"/>
          <a:lstStyle/>
          <a:p>
            <a:pPr algn="ctr"/>
          </a:p>
        </p:txBody>
      </p:sp>
      <p:sp>
        <p:nvSpPr>
          <p:cNvPr id="27" name="TextBox 26"/>
          <p:cNvSpPr txBox="1"/>
          <p:nvPr/>
        </p:nvSpPr>
        <p:spPr>
          <a:xfrm>
            <a:off x="670560" y="464820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M3.1 regression retained</a:t>
            </a:r>
          </a:p>
        </p:txBody>
      </p:sp>
      <p:sp>
        <p:nvSpPr>
          <p:cNvPr id="28" name="TextBox 27"/>
          <p:cNvSpPr txBox="1"/>
          <p:nvPr/>
        </p:nvSpPr>
        <p:spPr>
          <a:xfrm>
            <a:off x="4785360" y="464820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9 / 5 / 3 / 7</a:t>
            </a:r>
          </a:p>
        </p:txBody>
      </p:sp>
      <p:sp>
        <p:nvSpPr>
          <p:cNvPr id="29" name="TextBox 28"/>
          <p:cNvSpPr txBox="1"/>
          <p:nvPr/>
        </p:nvSpPr>
        <p:spPr>
          <a:xfrm>
            <a:off x="6918959" y="464820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Fixtures / provider / recovery / Hive; 16 + 4 kills</a:t>
            </a:r>
          </a:p>
        </p:txBody>
      </p:sp>
      <p:sp>
        <p:nvSpPr>
          <p:cNvPr id="30" name="Rounded Rectangle 29"/>
          <p:cNvSpPr/>
          <p:nvPr/>
        </p:nvSpPr>
        <p:spPr>
          <a:xfrm>
            <a:off x="548640" y="5120640"/>
            <a:ext cx="11094720" cy="563880"/>
          </a:xfrm>
          <a:prstGeom prst="roundRect">
            <a:avLst>
              <a:gd name="adj" fmla="val 8108"/>
            </a:avLst>
          </a:prstGeom>
          <a:solidFill>
            <a:srgbClr val="FFFFFF"/>
          </a:solidFill>
          <a:ln>
            <a:noFill/>
          </a:ln>
          <a:effectLst/>
        </p:spPr>
        <p:txBody>
          <a:bodyPr rtlCol="0" anchor="ctr"/>
          <a:lstStyle/>
          <a:p>
            <a:pPr algn="ctr"/>
          </a:p>
        </p:txBody>
      </p:sp>
      <p:sp>
        <p:nvSpPr>
          <p:cNvPr id="31" name="TextBox 30"/>
          <p:cNvSpPr txBox="1"/>
          <p:nvPr/>
        </p:nvSpPr>
        <p:spPr>
          <a:xfrm>
            <a:off x="670560" y="525018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Both attention providers</a:t>
            </a:r>
          </a:p>
        </p:txBody>
      </p:sp>
      <p:sp>
        <p:nvSpPr>
          <p:cNvPr id="32" name="TextBox 31"/>
          <p:cNvSpPr txBox="1"/>
          <p:nvPr/>
        </p:nvSpPr>
        <p:spPr>
          <a:xfrm>
            <a:off x="4785360" y="525018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Preserved</a:t>
            </a:r>
          </a:p>
        </p:txBody>
      </p:sp>
      <p:sp>
        <p:nvSpPr>
          <p:cNvPr id="33" name="TextBox 32"/>
          <p:cNvSpPr txBox="1"/>
          <p:nvPr/>
        </p:nvSpPr>
        <p:spPr>
          <a:xfrm>
            <a:off x="6918959" y="525018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Old-profile compatibility and independent</a:t>
            </a:r>
          </a:p>
        </p:txBody>
      </p:sp>
      <p:sp>
        <p:nvSpPr>
          <p:cNvPr id="34" name="TextBox 33"/>
          <p:cNvSpPr txBox="1"/>
          <p:nvPr/>
        </p:nvSpPr>
        <p:spPr>
          <a:xfrm>
            <a:off x="6918959" y="547451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replacement</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Final source: 55ed540. Missing prerequisites: 0 · executed failures: 0 · observation timeouts: 0.</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evidence/m4/final/verification.json · regression-summaries.json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GATE-BY-GATE RESULTS · 1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M4 gates: native result to verified chain effect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10 required gates passed. CHAIN is required and real in this milestone.</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89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09160" y="1790700"/>
            <a:ext cx="68122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647700"/>
          </a:xfrm>
          <a:prstGeom prst="roundRect">
            <a:avLst>
              <a:gd name="adj" fmla="val 7058"/>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BASELINE</a:t>
            </a:r>
          </a:p>
        </p:txBody>
      </p:sp>
      <p:sp>
        <p:nvSpPr>
          <p:cNvPr id="10" name="TextBox 9"/>
          <p:cNvSpPr txBox="1"/>
          <p:nvPr/>
        </p:nvSpPr>
        <p:spPr>
          <a:xfrm>
            <a:off x="3566160" y="22402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1" name="TextBox 10"/>
          <p:cNvSpPr txBox="1"/>
          <p:nvPr/>
        </p:nvSpPr>
        <p:spPr>
          <a:xfrm>
            <a:off x="4709160" y="22402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Full M1–M3.1 regression; both attention providers and old profiles</a:t>
            </a:r>
          </a:p>
        </p:txBody>
      </p:sp>
      <p:sp>
        <p:nvSpPr>
          <p:cNvPr id="12" name="Rounded Rectangle 11"/>
          <p:cNvSpPr/>
          <p:nvPr/>
        </p:nvSpPr>
        <p:spPr>
          <a:xfrm>
            <a:off x="548640" y="2796540"/>
            <a:ext cx="11094720" cy="647700"/>
          </a:xfrm>
          <a:prstGeom prst="roundRect">
            <a:avLst>
              <a:gd name="adj" fmla="val 7058"/>
            </a:avLst>
          </a:prstGeom>
          <a:solidFill>
            <a:srgbClr val="FFFFFF"/>
          </a:solidFill>
          <a:ln>
            <a:noFill/>
          </a:ln>
          <a:effectLst/>
        </p:spPr>
        <p:txBody>
          <a:bodyPr rtlCol="0" anchor="ctr"/>
          <a:lstStyle/>
          <a:p>
            <a:pPr algn="ctr"/>
          </a:p>
        </p:txBody>
      </p:sp>
      <p:sp>
        <p:nvSpPr>
          <p:cNvPr id="13" name="TextBox 12"/>
          <p:cNvSpPr txBox="1"/>
          <p:nvPr/>
        </p:nvSpPr>
        <p:spPr>
          <a:xfrm>
            <a:off x="670560" y="29260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CHAIN_SOURCE_BUILD</a:t>
            </a:r>
          </a:p>
        </p:txBody>
      </p:sp>
      <p:sp>
        <p:nvSpPr>
          <p:cNvPr id="14" name="TextBox 13"/>
          <p:cNvSpPr txBox="1"/>
          <p:nvPr/>
        </p:nvSpPr>
        <p:spPr>
          <a:xfrm>
            <a:off x="3566160" y="29260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5" name="TextBox 14"/>
          <p:cNvSpPr txBox="1"/>
          <p:nvPr/>
        </p:nvSpPr>
        <p:spPr>
          <a:xfrm>
            <a:off x="4709160" y="29260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Clean pinned build; loopback-only namespace; live socket probes</a:t>
            </a:r>
          </a:p>
        </p:txBody>
      </p:sp>
      <p:sp>
        <p:nvSpPr>
          <p:cNvPr id="16" name="Rounded Rectangle 15"/>
          <p:cNvSpPr/>
          <p:nvPr/>
        </p:nvSpPr>
        <p:spPr>
          <a:xfrm>
            <a:off x="548640" y="3482340"/>
            <a:ext cx="11094720" cy="647700"/>
          </a:xfrm>
          <a:prstGeom prst="roundRect">
            <a:avLst>
              <a:gd name="adj" fmla="val 7058"/>
            </a:avLst>
          </a:prstGeom>
          <a:solidFill>
            <a:srgbClr val="FFFFFF"/>
          </a:solidFill>
          <a:ln>
            <a:noFill/>
          </a:ln>
          <a:effectLst/>
        </p:spPr>
        <p:txBody>
          <a:bodyPr rtlCol="0" anchor="ctr"/>
          <a:lstStyle/>
          <a:p>
            <a:pPr algn="ctr"/>
          </a:p>
        </p:txBody>
      </p:sp>
      <p:sp>
        <p:nvSpPr>
          <p:cNvPr id="17" name="TextBox 16"/>
          <p:cNvSpPr txBox="1"/>
          <p:nvPr/>
        </p:nvSpPr>
        <p:spPr>
          <a:xfrm>
            <a:off x="670560" y="36118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NATIVE_HIVE_DA</a:t>
            </a:r>
          </a:p>
        </p:txBody>
      </p:sp>
      <p:sp>
        <p:nvSpPr>
          <p:cNvPr id="18" name="TextBox 17"/>
          <p:cNvSpPr txBox="1"/>
          <p:nvPr/>
        </p:nvSpPr>
        <p:spPr>
          <a:xfrm>
            <a:off x="3566160" y="36118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9" name="TextBox 18"/>
          <p:cNvSpPr txBox="1"/>
          <p:nvPr/>
        </p:nvSpPr>
        <p:spPr>
          <a:xfrm>
            <a:off x="4709160" y="36118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inspect dispatch + real DeTTa + labelled fixture counterparty</a:t>
            </a:r>
          </a:p>
        </p:txBody>
      </p:sp>
      <p:sp>
        <p:nvSpPr>
          <p:cNvPr id="20" name="Rounded Rectangle 19"/>
          <p:cNvSpPr/>
          <p:nvPr/>
        </p:nvSpPr>
        <p:spPr>
          <a:xfrm>
            <a:off x="548640" y="4168140"/>
            <a:ext cx="11094720" cy="647700"/>
          </a:xfrm>
          <a:prstGeom prst="roundRect">
            <a:avLst>
              <a:gd name="adj" fmla="val 7058"/>
            </a:avLst>
          </a:prstGeom>
          <a:solidFill>
            <a:srgbClr val="FFFFFF"/>
          </a:solidFill>
          <a:ln>
            <a:noFill/>
          </a:ln>
          <a:effectLst/>
        </p:spPr>
        <p:txBody>
          <a:bodyPr rtlCol="0" anchor="ctr"/>
          <a:lstStyle/>
          <a:p>
            <a:pPr algn="ctr"/>
          </a:p>
        </p:txBody>
      </p:sp>
      <p:sp>
        <p:nvSpPr>
          <p:cNvPr id="21" name="TextBox 20"/>
          <p:cNvSpPr txBox="1"/>
          <p:nvPr/>
        </p:nvSpPr>
        <p:spPr>
          <a:xfrm>
            <a:off x="670560" y="42976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APPROVAL_BINDING</a:t>
            </a:r>
          </a:p>
        </p:txBody>
      </p:sp>
      <p:sp>
        <p:nvSpPr>
          <p:cNvPr id="22" name="TextBox 21"/>
          <p:cNvSpPr txBox="1"/>
          <p:nvPr/>
        </p:nvSpPr>
        <p:spPr>
          <a:xfrm>
            <a:off x="3566160" y="42976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3" name="TextBox 22"/>
          <p:cNvSpPr txBox="1"/>
          <p:nvPr/>
        </p:nvSpPr>
        <p:spPr>
          <a:xfrm>
            <a:off x="4709160" y="42976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result/chain/profile; current authority and refusal cases</a:t>
            </a:r>
          </a:p>
        </p:txBody>
      </p:sp>
      <p:sp>
        <p:nvSpPr>
          <p:cNvPr id="24" name="Rounded Rectangle 23"/>
          <p:cNvSpPr/>
          <p:nvPr/>
        </p:nvSpPr>
        <p:spPr>
          <a:xfrm>
            <a:off x="548640" y="4853940"/>
            <a:ext cx="11094720" cy="647700"/>
          </a:xfrm>
          <a:prstGeom prst="roundRect">
            <a:avLst>
              <a:gd name="adj" fmla="val 7058"/>
            </a:avLst>
          </a:prstGeom>
          <a:solidFill>
            <a:srgbClr val="FFFFFF"/>
          </a:solidFill>
          <a:ln>
            <a:noFill/>
          </a:ln>
          <a:effectLst/>
        </p:spPr>
        <p:txBody>
          <a:bodyPr rtlCol="0" anchor="ctr"/>
          <a:lstStyle/>
          <a:p>
            <a:pPr algn="ctr"/>
          </a:p>
        </p:txBody>
      </p:sp>
      <p:sp>
        <p:nvSpPr>
          <p:cNvPr id="25" name="TextBox 24"/>
          <p:cNvSpPr txBox="1"/>
          <p:nvPr/>
        </p:nvSpPr>
        <p:spPr>
          <a:xfrm>
            <a:off x="670560" y="49834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REAL_CHAIN_EFFECT</a:t>
            </a:r>
          </a:p>
        </p:txBody>
      </p:sp>
      <p:sp>
        <p:nvSpPr>
          <p:cNvPr id="26" name="TextBox 25"/>
          <p:cNvSpPr txBox="1"/>
          <p:nvPr/>
        </p:nvSpPr>
        <p:spPr>
          <a:xfrm>
            <a:off x="3566160" y="49834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7" name="TextBox 26"/>
          <p:cNvSpPr txBox="1"/>
          <p:nvPr/>
        </p:nvSpPr>
        <p:spPr>
          <a:xfrm>
            <a:off x="4709160" y="49834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inclusion post-state tuple + matching finalized deploy effect</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missing prerequisite, final executed failure or positive observation timeout is hidden in PASS.</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evidence/m4/manifest.json</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GATE-BY-GATE RESULTS · 2 OF 2</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M4 gates: recovery, privacy and independent readback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10 required gates passed. CHAIN is required and real in this milestone.</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89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09160" y="1790700"/>
            <a:ext cx="68122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647700"/>
          </a:xfrm>
          <a:prstGeom prst="roundRect">
            <a:avLst>
              <a:gd name="adj" fmla="val 7058"/>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RECOVERY</a:t>
            </a:r>
          </a:p>
        </p:txBody>
      </p:sp>
      <p:sp>
        <p:nvSpPr>
          <p:cNvPr id="10" name="TextBox 9"/>
          <p:cNvSpPr txBox="1"/>
          <p:nvPr/>
        </p:nvSpPr>
        <p:spPr>
          <a:xfrm>
            <a:off x="3566160" y="22402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1" name="TextBox 10"/>
          <p:cNvSpPr txBox="1"/>
          <p:nvPr/>
        </p:nvSpPr>
        <p:spPr>
          <a:xfrm>
            <a:off x="4709160" y="22402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Four caller/adapter kill boundaries; real node outage and restart</a:t>
            </a:r>
          </a:p>
        </p:txBody>
      </p:sp>
      <p:sp>
        <p:nvSpPr>
          <p:cNvPr id="12" name="Rounded Rectangle 11"/>
          <p:cNvSpPr/>
          <p:nvPr/>
        </p:nvSpPr>
        <p:spPr>
          <a:xfrm>
            <a:off x="548640" y="2796540"/>
            <a:ext cx="11094720" cy="647700"/>
          </a:xfrm>
          <a:prstGeom prst="roundRect">
            <a:avLst>
              <a:gd name="adj" fmla="val 7058"/>
            </a:avLst>
          </a:prstGeom>
          <a:solidFill>
            <a:srgbClr val="FFFFFF"/>
          </a:solidFill>
          <a:ln>
            <a:noFill/>
          </a:ln>
          <a:effectLst/>
        </p:spPr>
        <p:txBody>
          <a:bodyPr rtlCol="0" anchor="ctr"/>
          <a:lstStyle/>
          <a:p>
            <a:pPr algn="ctr"/>
          </a:p>
        </p:txBody>
      </p:sp>
      <p:sp>
        <p:nvSpPr>
          <p:cNvPr id="13" name="TextBox 12"/>
          <p:cNvSpPr txBox="1"/>
          <p:nvPr/>
        </p:nvSpPr>
        <p:spPr>
          <a:xfrm>
            <a:off x="670560" y="29260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PRIVACY_ISOLATION</a:t>
            </a:r>
          </a:p>
        </p:txBody>
      </p:sp>
      <p:sp>
        <p:nvSpPr>
          <p:cNvPr id="14" name="TextBox 13"/>
          <p:cNvSpPr txBox="1"/>
          <p:nvPr/>
        </p:nvSpPr>
        <p:spPr>
          <a:xfrm>
            <a:off x="3566160" y="29260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5" name="TextBox 14"/>
          <p:cNvSpPr txBox="1"/>
          <p:nvPr/>
        </p:nvSpPr>
        <p:spPr>
          <a:xfrm>
            <a:off x="4709160" y="29260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canaries and identifying derivatives absent; live isolation</a:t>
            </a:r>
          </a:p>
        </p:txBody>
      </p:sp>
      <p:sp>
        <p:nvSpPr>
          <p:cNvPr id="16" name="Rounded Rectangle 15"/>
          <p:cNvSpPr/>
          <p:nvPr/>
        </p:nvSpPr>
        <p:spPr>
          <a:xfrm>
            <a:off x="548640" y="3482340"/>
            <a:ext cx="11094720" cy="647700"/>
          </a:xfrm>
          <a:prstGeom prst="roundRect">
            <a:avLst>
              <a:gd name="adj" fmla="val 7058"/>
            </a:avLst>
          </a:prstGeom>
          <a:solidFill>
            <a:srgbClr val="FFFFFF"/>
          </a:solidFill>
          <a:ln>
            <a:noFill/>
          </a:ln>
          <a:effectLst/>
        </p:spPr>
        <p:txBody>
          <a:bodyPr rtlCol="0" anchor="ctr"/>
          <a:lstStyle/>
          <a:p>
            <a:pPr algn="ctr"/>
          </a:p>
        </p:txBody>
      </p:sp>
      <p:sp>
        <p:nvSpPr>
          <p:cNvPr id="17" name="TextBox 16"/>
          <p:cNvSpPr txBox="1"/>
          <p:nvPr/>
        </p:nvSpPr>
        <p:spPr>
          <a:xfrm>
            <a:off x="670560" y="36118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REPRO_READBACK</a:t>
            </a:r>
          </a:p>
        </p:txBody>
      </p:sp>
      <p:sp>
        <p:nvSpPr>
          <p:cNvPr id="18" name="TextBox 17"/>
          <p:cNvSpPr txBox="1"/>
          <p:nvPr/>
        </p:nvSpPr>
        <p:spPr>
          <a:xfrm>
            <a:off x="3566160" y="36118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9" name="TextBox 18"/>
          <p:cNvSpPr txBox="1"/>
          <p:nvPr/>
        </p:nvSpPr>
        <p:spPr>
          <a:xfrm>
            <a:off x="4709160" y="36118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Fresh pinned builds + independent reader checking the same artifact</a:t>
            </a:r>
          </a:p>
        </p:txBody>
      </p:sp>
      <p:sp>
        <p:nvSpPr>
          <p:cNvPr id="20" name="Rounded Rectangle 19"/>
          <p:cNvSpPr/>
          <p:nvPr/>
        </p:nvSpPr>
        <p:spPr>
          <a:xfrm>
            <a:off x="548640" y="4168140"/>
            <a:ext cx="11094720" cy="647700"/>
          </a:xfrm>
          <a:prstGeom prst="roundRect">
            <a:avLst>
              <a:gd name="adj" fmla="val 7058"/>
            </a:avLst>
          </a:prstGeom>
          <a:solidFill>
            <a:srgbClr val="FFFFFF"/>
          </a:solidFill>
          <a:ln>
            <a:noFill/>
          </a:ln>
          <a:effectLst/>
        </p:spPr>
        <p:txBody>
          <a:bodyPr rtlCol="0" anchor="ctr"/>
          <a:lstStyle/>
          <a:p>
            <a:pPr algn="ctr"/>
          </a:p>
        </p:txBody>
      </p:sp>
      <p:sp>
        <p:nvSpPr>
          <p:cNvPr id="21" name="TextBox 20"/>
          <p:cNvSpPr txBox="1"/>
          <p:nvPr/>
        </p:nvSpPr>
        <p:spPr>
          <a:xfrm>
            <a:off x="670560" y="42976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DEMO_HANDOFF</a:t>
            </a:r>
          </a:p>
        </p:txBody>
      </p:sp>
      <p:sp>
        <p:nvSpPr>
          <p:cNvPr id="22" name="TextBox 21"/>
          <p:cNvSpPr txBox="1"/>
          <p:nvPr/>
        </p:nvSpPr>
        <p:spPr>
          <a:xfrm>
            <a:off x="3566160" y="42976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3" name="TextBox 22"/>
          <p:cNvSpPr txBox="1"/>
          <p:nvPr/>
        </p:nvSpPr>
        <p:spPr>
          <a:xfrm>
            <a:off x="4709160" y="42976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receipts/progress, runnable commands and sanitized trace</a:t>
            </a:r>
          </a:p>
        </p:txBody>
      </p:sp>
      <p:sp>
        <p:nvSpPr>
          <p:cNvPr id="24" name="Rounded Rectangle 23"/>
          <p:cNvSpPr/>
          <p:nvPr/>
        </p:nvSpPr>
        <p:spPr>
          <a:xfrm>
            <a:off x="548640" y="4853940"/>
            <a:ext cx="11094720" cy="647700"/>
          </a:xfrm>
          <a:prstGeom prst="roundRect">
            <a:avLst>
              <a:gd name="adj" fmla="val 7058"/>
            </a:avLst>
          </a:prstGeom>
          <a:solidFill>
            <a:srgbClr val="FFFFFF"/>
          </a:solidFill>
          <a:ln>
            <a:noFill/>
          </a:ln>
          <a:effectLst/>
        </p:spPr>
        <p:txBody>
          <a:bodyPr rtlCol="0" anchor="ctr"/>
          <a:lstStyle/>
          <a:p>
            <a:pPr algn="ctr"/>
          </a:p>
        </p:txBody>
      </p:sp>
      <p:sp>
        <p:nvSpPr>
          <p:cNvPr id="25" name="TextBox 24"/>
          <p:cNvSpPr txBox="1"/>
          <p:nvPr/>
        </p:nvSpPr>
        <p:spPr>
          <a:xfrm>
            <a:off x="670560" y="49834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SCOPE</a:t>
            </a:r>
          </a:p>
        </p:txBody>
      </p:sp>
      <p:sp>
        <p:nvSpPr>
          <p:cNvPr id="26" name="TextBox 25"/>
          <p:cNvSpPr txBox="1"/>
          <p:nvPr/>
        </p:nvSpPr>
        <p:spPr>
          <a:xfrm>
            <a:off x="3566160" y="49834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7" name="TextBox 26"/>
          <p:cNvSpPr txBox="1"/>
          <p:nvPr/>
        </p:nvSpPr>
        <p:spPr>
          <a:xfrm>
            <a:off x="4709160" y="49834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DA, cognition, math, ports and inspect plugin preserved</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missing prerequisite, final executed failure or positive observation timeout is hidden in PASS.</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evidence/m4/manifest.json</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SOURCE AND EXECUTION LEDGER</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Reproducibility connects source, build and observed result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evidence-only descendant records a clean implementation tested at the same start/end revision.</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LAYER</a:t>
            </a:r>
          </a:p>
        </p:txBody>
      </p:sp>
      <p:sp>
        <p:nvSpPr>
          <p:cNvPr id="6" name="TextBox 5"/>
          <p:cNvSpPr txBox="1"/>
          <p:nvPr/>
        </p:nvSpPr>
        <p:spPr>
          <a:xfrm>
            <a:off x="333756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STATE</a:t>
            </a:r>
          </a:p>
        </p:txBody>
      </p:sp>
      <p:sp>
        <p:nvSpPr>
          <p:cNvPr id="7" name="TextBox 6"/>
          <p:cNvSpPr txBox="1"/>
          <p:nvPr/>
        </p:nvSpPr>
        <p:spPr>
          <a:xfrm>
            <a:off x="7299959" y="1790700"/>
            <a:ext cx="4221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Requested / actual</a:t>
            </a:r>
          </a:p>
        </p:txBody>
      </p:sp>
      <p:sp>
        <p:nvSpPr>
          <p:cNvPr id="10" name="TextBox 9"/>
          <p:cNvSpPr txBox="1"/>
          <p:nvPr/>
        </p:nvSpPr>
        <p:spPr>
          <a:xfrm>
            <a:off x="670560" y="247436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start</a:t>
            </a:r>
          </a:p>
        </p:txBody>
      </p:sp>
      <p:sp>
        <p:nvSpPr>
          <p:cNvPr id="11" name="TextBox 10"/>
          <p:cNvSpPr txBox="1"/>
          <p:nvPr/>
        </p:nvSpPr>
        <p:spPr>
          <a:xfrm>
            <a:off x="3337560" y="224028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985d2f3 → 8491c49</a:t>
            </a:r>
          </a:p>
        </p:txBody>
      </p:sp>
      <p:sp>
        <p:nvSpPr>
          <p:cNvPr id="12" name="TextBox 11"/>
          <p:cNvSpPr txBox="1"/>
          <p:nvPr/>
        </p:nvSpPr>
        <p:spPr>
          <a:xfrm>
            <a:off x="7299959" y="224028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Presentation-only descendant before M4</a:t>
            </a:r>
          </a:p>
        </p:txBody>
      </p:sp>
      <p:sp>
        <p:nvSpPr>
          <p:cNvPr id="13" name="TextBox 12"/>
          <p:cNvSpPr txBox="1"/>
          <p:nvPr/>
        </p:nvSpPr>
        <p:spPr>
          <a:xfrm>
            <a:off x="7299959" y="247436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changes</a:t>
            </a:r>
          </a:p>
        </p:txBody>
      </p:sp>
      <p:sp>
        <p:nvSpPr>
          <p:cNvPr id="14" name="Rounded Rectangle 13"/>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5" name="TextBox 14"/>
          <p:cNvSpPr txBox="1"/>
          <p:nvPr/>
        </p:nvSpPr>
        <p:spPr>
          <a:xfrm>
            <a:off x="670560" y="293370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Clean tested</a:t>
            </a:r>
          </a:p>
        </p:txBody>
      </p:sp>
      <p:sp>
        <p:nvSpPr>
          <p:cNvPr id="16" name="TextBox 15"/>
          <p:cNvSpPr txBox="1"/>
          <p:nvPr/>
        </p:nvSpPr>
        <p:spPr>
          <a:xfrm>
            <a:off x="670560" y="316778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implementation</a:t>
            </a:r>
          </a:p>
        </p:txBody>
      </p:sp>
      <p:sp>
        <p:nvSpPr>
          <p:cNvPr id="17" name="TextBox 16"/>
          <p:cNvSpPr txBox="1"/>
          <p:nvPr/>
        </p:nvSpPr>
        <p:spPr>
          <a:xfrm>
            <a:off x="3337560" y="293370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55ed5402391a</a:t>
            </a:r>
          </a:p>
        </p:txBody>
      </p:sp>
      <p:sp>
        <p:nvSpPr>
          <p:cNvPr id="18" name="TextBox 17"/>
          <p:cNvSpPr txBox="1"/>
          <p:nvPr/>
        </p:nvSpPr>
        <p:spPr>
          <a:xfrm>
            <a:off x="7299959" y="293370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Detached checkout; start/end runtime hashes</a:t>
            </a:r>
          </a:p>
        </p:txBody>
      </p:sp>
      <p:sp>
        <p:nvSpPr>
          <p:cNvPr id="19" name="TextBox 18"/>
          <p:cNvSpPr txBox="1"/>
          <p:nvPr/>
        </p:nvSpPr>
        <p:spPr>
          <a:xfrm>
            <a:off x="7299959" y="316778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match</a:t>
            </a:r>
          </a:p>
        </p:txBody>
      </p:sp>
      <p:sp>
        <p:nvSpPr>
          <p:cNvPr id="20" name="Rounded Rectangle 19"/>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3627119"/>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Evidence snapshot</a:t>
            </a:r>
          </a:p>
        </p:txBody>
      </p:sp>
      <p:sp>
        <p:nvSpPr>
          <p:cNvPr id="22" name="TextBox 21"/>
          <p:cNvSpPr txBox="1"/>
          <p:nvPr/>
        </p:nvSpPr>
        <p:spPr>
          <a:xfrm>
            <a:off x="3337560" y="3627119"/>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05b1c52cfa6c</a:t>
            </a:r>
          </a:p>
        </p:txBody>
      </p:sp>
      <p:sp>
        <p:nvSpPr>
          <p:cNvPr id="23" name="TextBox 22"/>
          <p:cNvSpPr txBox="1"/>
          <p:nvPr/>
        </p:nvSpPr>
        <p:spPr>
          <a:xfrm>
            <a:off x="7299959" y="3627119"/>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Records final evidence; no later runtime/test</a:t>
            </a:r>
          </a:p>
        </p:txBody>
      </p:sp>
      <p:sp>
        <p:nvSpPr>
          <p:cNvPr id="24" name="TextBox 23"/>
          <p:cNvSpPr txBox="1"/>
          <p:nvPr/>
        </p:nvSpPr>
        <p:spPr>
          <a:xfrm>
            <a:off x="7299959" y="386120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edits</a:t>
            </a:r>
          </a:p>
        </p:txBody>
      </p:sp>
      <p:sp>
        <p:nvSpPr>
          <p:cNvPr id="25" name="Rounded Rectangle 24"/>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6" name="TextBox 25"/>
          <p:cNvSpPr txBox="1"/>
          <p:nvPr/>
        </p:nvSpPr>
        <p:spPr>
          <a:xfrm>
            <a:off x="670560" y="432054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F1R3node source</a:t>
            </a:r>
          </a:p>
        </p:txBody>
      </p:sp>
      <p:sp>
        <p:nvSpPr>
          <p:cNvPr id="27" name="TextBox 26"/>
          <p:cNvSpPr txBox="1"/>
          <p:nvPr/>
        </p:nvSpPr>
        <p:spPr>
          <a:xfrm>
            <a:off x="3337560" y="432054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9ec1096e1077 · clean baseline</a:t>
            </a:r>
          </a:p>
        </p:txBody>
      </p:sp>
      <p:sp>
        <p:nvSpPr>
          <p:cNvPr id="28" name="TextBox 27"/>
          <p:cNvSpPr txBox="1"/>
          <p:nvPr/>
        </p:nvSpPr>
        <p:spPr>
          <a:xfrm>
            <a:off x="7299959" y="432054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Fresh build; historical dirty workspace unused</a:t>
            </a:r>
          </a:p>
        </p:txBody>
      </p:sp>
      <p:sp>
        <p:nvSpPr>
          <p:cNvPr id="29" name="Rounded Rectangle 28"/>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30" name="TextBox 29"/>
          <p:cNvSpPr txBox="1"/>
          <p:nvPr/>
        </p:nvSpPr>
        <p:spPr>
          <a:xfrm>
            <a:off x="670560" y="501396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Native stack</a:t>
            </a:r>
          </a:p>
        </p:txBody>
      </p:sp>
      <p:sp>
        <p:nvSpPr>
          <p:cNvPr id="31" name="TextBox 30"/>
          <p:cNvSpPr txBox="1"/>
          <p:nvPr/>
        </p:nvSpPr>
        <p:spPr>
          <a:xfrm>
            <a:off x="3337560" y="501396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Hive 34b0fb3 · DeTTa 272888f</a:t>
            </a:r>
          </a:p>
        </p:txBody>
      </p:sp>
      <p:sp>
        <p:nvSpPr>
          <p:cNvPr id="32" name="TextBox 31"/>
          <p:cNvSpPr txBox="1"/>
          <p:nvPr/>
        </p:nvSpPr>
        <p:spPr>
          <a:xfrm>
            <a:off x="3337560" y="5248046"/>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PLN 4405956 · SWI 10.1.14</a:t>
            </a:r>
          </a:p>
        </p:txBody>
      </p:sp>
      <p:sp>
        <p:nvSpPr>
          <p:cNvPr id="33" name="TextBox 32"/>
          <p:cNvSpPr txBox="1"/>
          <p:nvPr/>
        </p:nvSpPr>
        <p:spPr>
          <a:xfrm>
            <a:off x="7299959" y="501396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Fresh provider builds; pinned guard code</a:t>
            </a:r>
          </a:p>
        </p:txBody>
      </p:sp>
      <p:sp>
        <p:nvSpPr>
          <p:cNvPr id="34" name="TextBox 33"/>
          <p:cNvSpPr txBox="1"/>
          <p:nvPr/>
        </p:nvSpPr>
        <p:spPr>
          <a:xfrm>
            <a:off x="7299959" y="524804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unchanged</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Warm download caches and cached upstream Rust regression binaries are explicit; no provider binary was copied.</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evidence/m4/build · manifest.json · final/verification.json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GUARANTEES AND STOPPING POINT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limitations are part of the contract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successful local commitment preserves the existing private cognition and closure limits.</a:t>
            </a:r>
          </a:p>
        </p:txBody>
      </p:sp>
      <p:sp>
        <p:nvSpPr>
          <p:cNvPr id="5" name="Rounded Rectangle 4"/>
          <p:cNvSpPr/>
          <p:nvPr/>
        </p:nvSpPr>
        <p:spPr>
          <a:xfrm>
            <a:off x="548640" y="1905000"/>
            <a:ext cx="5364480" cy="1668780"/>
          </a:xfrm>
          <a:prstGeom prst="roundRect">
            <a:avLst>
              <a:gd name="adj" fmla="val 5936"/>
            </a:avLst>
          </a:prstGeom>
          <a:solidFill>
            <a:srgbClr val="E4EBF5"/>
          </a:solidFill>
          <a:ln w="7620">
            <a:solidFill>
              <a:srgbClr val="007C78"/>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One shareable workflow</a:t>
            </a:r>
          </a:p>
        </p:txBody>
      </p:sp>
      <p:sp>
        <p:nvSpPr>
          <p:cNvPr id="7" name="TextBox 6"/>
          <p:cNvSpPr txBox="1"/>
          <p:nvPr/>
        </p:nvSpPr>
        <p:spPr>
          <a:xfrm>
            <a:off x="71628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inspect result only. Private</a:t>
            </a:r>
          </a:p>
        </p:txBody>
      </p:sp>
      <p:sp>
        <p:nvSpPr>
          <p:cNvPr id="8" name="TextBox 7"/>
          <p:cNvSpPr txBox="1"/>
          <p:nvPr/>
        </p:nvSpPr>
        <p:spPr>
          <a:xfrm>
            <a:off x="71628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episodes, beliefs, provenance and identifying</a:t>
            </a:r>
          </a:p>
        </p:txBody>
      </p:sp>
      <p:sp>
        <p:nvSpPr>
          <p:cNvPr id="9" name="TextBox 8"/>
          <p:cNvSpPr txBox="1"/>
          <p:nvPr/>
        </p:nvSpPr>
        <p:spPr>
          <a:xfrm>
            <a:off x="71628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hashes stay private.</a:t>
            </a:r>
          </a:p>
        </p:txBody>
      </p:sp>
      <p:sp>
        <p:nvSpPr>
          <p:cNvPr id="10" name="Rounded Rectangle 9"/>
          <p:cNvSpPr/>
          <p:nvPr/>
        </p:nvSpPr>
        <p:spPr>
          <a:xfrm>
            <a:off x="627888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One real local validator</a:t>
            </a:r>
          </a:p>
        </p:txBody>
      </p:sp>
      <p:sp>
        <p:nvSpPr>
          <p:cNvPr id="12" name="TextBox 11"/>
          <p:cNvSpPr txBox="1"/>
          <p:nvPr/>
        </p:nvSpPr>
        <p:spPr>
          <a:xfrm>
            <a:off x="644652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Node-observed effect and finality. No</a:t>
            </a:r>
          </a:p>
        </p:txBody>
      </p:sp>
      <p:sp>
        <p:nvSpPr>
          <p:cNvPr id="13" name="TextBox 12"/>
          <p:cNvSpPr txBox="1"/>
          <p:nvPr/>
        </p:nvSpPr>
        <p:spPr>
          <a:xfrm>
            <a:off x="644652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decentralized safety, trustless attestation or</a:t>
            </a:r>
          </a:p>
        </p:txBody>
      </p:sp>
      <p:sp>
        <p:nvSpPr>
          <p:cNvPr id="14" name="TextBox 13"/>
          <p:cNvSpPr txBox="1"/>
          <p:nvPr/>
        </p:nvSpPr>
        <p:spPr>
          <a:xfrm>
            <a:off x="644652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reasoning certification.</a:t>
            </a:r>
          </a:p>
        </p:txBody>
      </p:sp>
      <p:sp>
        <p:nvSpPr>
          <p:cNvPr id="15" name="Rounded Rectangle 14"/>
          <p:cNvSpPr/>
          <p:nvPr/>
        </p:nvSpPr>
        <p:spPr>
          <a:xfrm>
            <a:off x="54864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16" name="TextBox 15"/>
          <p:cNvSpPr txBox="1"/>
          <p:nvPr/>
        </p:nvSpPr>
        <p:spPr>
          <a:xfrm>
            <a:off x="71628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Fresh profiles and intact files</a:t>
            </a:r>
          </a:p>
        </p:txBody>
      </p:sp>
      <p:sp>
        <p:nvSpPr>
          <p:cNvPr id="17" name="TextBox 16"/>
          <p:cNvSpPr txBox="1"/>
          <p:nvPr/>
        </p:nvSpPr>
        <p:spPr>
          <a:xfrm>
            <a:off x="71628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 journal migration. Recovery is same-host</a:t>
            </a:r>
          </a:p>
        </p:txBody>
      </p:sp>
      <p:sp>
        <p:nvSpPr>
          <p:cNvPr id="18" name="TextBox 17"/>
          <p:cNvSpPr txBox="1"/>
          <p:nvPr/>
        </p:nvSpPr>
        <p:spPr>
          <a:xfrm>
            <a:off x="71628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process restart; power loss and distributed</a:t>
            </a:r>
          </a:p>
        </p:txBody>
      </p:sp>
      <p:sp>
        <p:nvSpPr>
          <p:cNvPr id="19" name="TextBox 18"/>
          <p:cNvSpPr txBox="1"/>
          <p:nvPr/>
        </p:nvSpPr>
        <p:spPr>
          <a:xfrm>
            <a:off x="71628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failover unrun.</a:t>
            </a:r>
          </a:p>
        </p:txBody>
      </p:sp>
      <p:sp>
        <p:nvSpPr>
          <p:cNvPr id="20" name="Rounded Rectangle 19"/>
          <p:cNvSpPr/>
          <p:nvPr/>
        </p:nvSpPr>
        <p:spPr>
          <a:xfrm>
            <a:off x="627888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21" name="TextBox 20"/>
          <p:cNvSpPr txBox="1"/>
          <p:nvPr/>
        </p:nvSpPr>
        <p:spPr>
          <a:xfrm>
            <a:off x="644652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Bounded progress stays explicit</a:t>
            </a:r>
          </a:p>
        </p:txBody>
      </p:sp>
      <p:sp>
        <p:nvSpPr>
          <p:cNvPr id="22" name="TextBox 21"/>
          <p:cNvSpPr txBox="1"/>
          <p:nvPr/>
        </p:nvSpPr>
        <p:spPr>
          <a:xfrm>
            <a:off x="644652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Old inference budgets stay spent; closure can</a:t>
            </a:r>
          </a:p>
        </p:txBody>
      </p:sp>
      <p:sp>
        <p:nvSpPr>
          <p:cNvPr id="23" name="TextBox 22"/>
          <p:cNvSpPr txBox="1"/>
          <p:nvPr/>
        </p:nvSpPr>
        <p:spPr>
          <a:xfrm>
            <a:off x="644652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 pending. Chain observation is</a:t>
            </a:r>
          </a:p>
        </p:txBody>
      </p:sp>
      <p:sp>
        <p:nvSpPr>
          <p:cNvPr id="24" name="TextBox 23"/>
          <p:cNvSpPr txBox="1"/>
          <p:nvPr/>
        </p:nvSpPr>
        <p:spPr>
          <a:xfrm>
            <a:off x="644652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call-driven and finite.</a:t>
            </a:r>
          </a:p>
        </p:txBody>
      </p:sp>
      <p:sp>
        <p:nvSpPr>
          <p:cNvPr id="25" name="Rounded Rectangle 24"/>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26" name="TextBox 2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Stopped at M4: no new cognition, scheduler, ECAN, LTI, search, migration or public-network attachment.</a:t>
            </a:r>
          </a:p>
        </p:txBody>
      </p:sp>
      <p:cxnSp>
        <p:nvCxnSpPr>
          <p:cNvPr id="27" name="Connector 26"/>
          <p:cNvCxnSpPr/>
          <p:nvPr/>
        </p:nvCxnSpPr>
        <p:spPr>
          <a:xfrm>
            <a:off x="548640" y="6393180"/>
            <a:ext cx="11094720" cy="0"/>
          </a:xfrm>
          <a:prstGeom prst="line">
            <a:avLst/>
          </a:prstGeom>
          <a:ln w="7620">
            <a:solidFill>
              <a:srgbClr val="C9D2D4"/>
            </a:solidFill>
          </a:ln>
          <a:effectLst/>
        </p:spPr>
      </p:cxnSp>
      <p:sp>
        <p:nvSpPr>
          <p:cNvPr id="28" name="TextBox 2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m4-evidence.md · m3_1-evidence.md</a:t>
            </a:r>
          </a:p>
        </p:txBody>
      </p:sp>
      <p:sp>
        <p:nvSpPr>
          <p:cNvPr id="29" name="TextBox 2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06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4874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Keep the evidence.</a:t>
            </a:r>
          </a:p>
        </p:txBody>
      </p:sp>
      <p:sp>
        <p:nvSpPr>
          <p:cNvPr id="5" name="TextBox 4"/>
          <p:cNvSpPr txBox="1"/>
          <p:nvPr/>
        </p:nvSpPr>
        <p:spPr>
          <a:xfrm>
            <a:off x="548640" y="197967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Preserve the budget.</a:t>
            </a:r>
          </a:p>
        </p:txBody>
      </p:sp>
      <p:sp>
        <p:nvSpPr>
          <p:cNvPr id="6" name="TextBox 5"/>
          <p:cNvSpPr txBox="1"/>
          <p:nvPr/>
        </p:nvSpPr>
        <p:spPr>
          <a:xfrm>
            <a:off x="548640" y="261061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Verify the commitment.</a:t>
            </a:r>
          </a:p>
        </p:txBody>
      </p:sp>
      <p:sp>
        <p:nvSpPr>
          <p:cNvPr id="7" name="TextBox 6"/>
          <p:cNvSpPr txBox="1"/>
          <p:nvPr/>
        </p:nvSpPr>
        <p:spPr>
          <a:xfrm>
            <a:off x="586740" y="3870960"/>
            <a:ext cx="10439400" cy="349758"/>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AAC0CC"/>
                </a:solidFill>
                <a:latin typeface="DejaVu Sans"/>
              </a:rPr>
              <a:t>Real Hive → real DeTTa → approved result → real local chain</a:t>
            </a:r>
          </a:p>
        </p:txBody>
      </p:sp>
      <p:sp>
        <p:nvSpPr>
          <p:cNvPr id="8" name="TextBox 7"/>
          <p:cNvSpPr txBox="1"/>
          <p:nvPr/>
        </p:nvSpPr>
        <p:spPr>
          <a:xfrm>
            <a:off x="586740" y="4220718"/>
            <a:ext cx="10439400" cy="349758"/>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AAC0CC"/>
                </a:solidFill>
                <a:latin typeface="DejaVu Sans"/>
              </a:rPr>
              <a:t>with independent commits, restart and matching readback.</a:t>
            </a:r>
          </a:p>
        </p:txBody>
      </p:sp>
      <p:sp>
        <p:nvSpPr>
          <p:cNvPr id="9" name="Rounded Rectangle 8"/>
          <p:cNvSpPr/>
          <p:nvPr/>
        </p:nvSpPr>
        <p:spPr>
          <a:xfrm>
            <a:off x="579120" y="5417820"/>
            <a:ext cx="4629544" cy="304800"/>
          </a:xfrm>
          <a:prstGeom prst="roundRect">
            <a:avLst>
              <a:gd name="adj" fmla="val 17500"/>
            </a:avLst>
          </a:prstGeom>
          <a:solidFill>
            <a:srgbClr val="DCEFE8"/>
          </a:solidFill>
          <a:ln>
            <a:noFill/>
          </a:ln>
          <a:effectLst/>
        </p:spPr>
        <p:txBody>
          <a:bodyPr rtlCol="0" anchor="ctr"/>
          <a:lstStyle/>
          <a:p>
            <a:pPr algn="ctr"/>
          </a:p>
        </p:txBody>
      </p:sp>
      <p:sp>
        <p:nvSpPr>
          <p:cNvPr id="10" name="TextBox 9"/>
          <p:cNvSpPr txBox="1"/>
          <p:nvPr/>
        </p:nvSpPr>
        <p:spPr>
          <a:xfrm>
            <a:off x="685800" y="5471160"/>
            <a:ext cx="4439044"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M4 COMPLETE · ALL 10 REQUIRED GATES PASS</a:t>
            </a:r>
          </a:p>
        </p:txBody>
      </p:sp>
      <p:cxnSp>
        <p:nvCxnSpPr>
          <p:cNvPr id="11" name="Connector 10"/>
          <p:cNvCxnSpPr/>
          <p:nvPr/>
        </p:nvCxnSpPr>
        <p:spPr>
          <a:xfrm>
            <a:off x="548640" y="6393180"/>
            <a:ext cx="11094720" cy="0"/>
          </a:xfrm>
          <a:prstGeom prst="line">
            <a:avLst/>
          </a:prstGeom>
          <a:ln w="7620">
            <a:solidFill>
              <a:srgbClr val="536775"/>
            </a:solidFill>
          </a:ln>
          <a:effectLst/>
        </p:spPr>
      </p:cxnSp>
      <p:sp>
        <p:nvSpPr>
          <p:cNvPr id="12" name="TextBox 1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M4 / M4 tested 55ed540 · evidence 05b1c52</a:t>
            </a:r>
          </a:p>
        </p:txBody>
      </p:sp>
      <p:sp>
        <p:nvSpPr>
          <p:cNvPr id="13" name="TextBox 1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Implementation map: responsibilities stay local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Follow interfaces and owner journals before following concrete provider classes.</a:t>
            </a:r>
          </a:p>
        </p:txBody>
      </p:sp>
      <p:sp>
        <p:nvSpPr>
          <p:cNvPr id="5" name="TextBox 4"/>
          <p:cNvSpPr txBox="1"/>
          <p:nvPr/>
        </p:nvSpPr>
        <p:spPr>
          <a:xfrm>
            <a:off x="670560" y="1790700"/>
            <a:ext cx="2194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6" name="TextBox 5"/>
          <p:cNvSpPr txBox="1"/>
          <p:nvPr/>
        </p:nvSpPr>
        <p:spPr>
          <a:xfrm>
            <a:off x="3108960" y="1790700"/>
            <a:ext cx="4861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FILES / SURFACE</a:t>
            </a:r>
          </a:p>
        </p:txBody>
      </p:sp>
      <p:sp>
        <p:nvSpPr>
          <p:cNvPr id="7" name="TextBox 6"/>
          <p:cNvSpPr txBox="1"/>
          <p:nvPr/>
        </p:nvSpPr>
        <p:spPr>
          <a:xfrm>
            <a:off x="8214359" y="1790700"/>
            <a:ext cx="3307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relay / original C2</a:t>
            </a:r>
          </a:p>
        </p:txBody>
      </p:sp>
      <p:sp>
        <p:nvSpPr>
          <p:cNvPr id="10" name="TextBox 9"/>
          <p:cNvSpPr txBox="1"/>
          <p:nvPr/>
        </p:nvSpPr>
        <p:spPr>
          <a:xfrm>
            <a:off x="3108960" y="22402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episodes.py · evidence_relay.py · delivery_contracts.py</a:t>
            </a:r>
          </a:p>
        </p:txBody>
      </p:sp>
      <p:sp>
        <p:nvSpPr>
          <p:cNvPr id="11" name="TextBox 10"/>
          <p:cNvSpPr txBox="1"/>
          <p:nvPr/>
        </p:nvSpPr>
        <p:spPr>
          <a:xfrm>
            <a:off x="8214359" y="22402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History; delivery + trusted</a:t>
            </a:r>
          </a:p>
        </p:txBody>
      </p:sp>
      <p:sp>
        <p:nvSpPr>
          <p:cNvPr id="12" name="TextBox 11"/>
          <p:cNvSpPr txBox="1"/>
          <p:nvPr/>
        </p:nvSpPr>
        <p:spPr>
          <a:xfrm>
            <a:off x="8214359" y="24646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admission</a:t>
            </a:r>
          </a:p>
        </p:txBody>
      </p:sp>
      <p:sp>
        <p:nvSpPr>
          <p:cNvPr id="15" name="TextBox 14"/>
          <p:cNvSpPr txBox="1"/>
          <p:nvPr/>
        </p:nvSpPr>
        <p:spPr>
          <a:xfrm>
            <a:off x="3108960" y="285750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derived_beliefs.py · cognition_contracts.py</a:t>
            </a:r>
          </a:p>
        </p:txBody>
      </p:sp>
      <p:sp>
        <p:nvSpPr>
          <p:cNvPr id="16" name="TextBox 15"/>
          <p:cNvSpPr txBox="1"/>
          <p:nvPr/>
        </p:nvSpPr>
        <p:spPr>
          <a:xfrm>
            <a:off x="8214359" y="285750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derived-beliefs.sqlite · local v3</a:t>
            </a:r>
          </a:p>
        </p:txBody>
      </p:sp>
      <p:sp>
        <p:nvSpPr>
          <p:cNvPr id="17" name="Rounded Rectangle 16"/>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8" name="TextBox 17"/>
          <p:cNvSpPr txBox="1"/>
          <p:nvPr/>
        </p:nvSpPr>
        <p:spPr>
          <a:xfrm>
            <a:off x="670560" y="3474719"/>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attention</a:t>
            </a:r>
          </a:p>
        </p:txBody>
      </p:sp>
      <p:sp>
        <p:nvSpPr>
          <p:cNvPr id="19" name="TextBox 18"/>
          <p:cNvSpPr txBox="1"/>
          <p:nvPr/>
        </p:nvSpPr>
        <p:spPr>
          <a:xfrm>
            <a:off x="3108960" y="3474719"/>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attention.py · adapters/fixture_attention.py</a:t>
            </a:r>
          </a:p>
        </p:txBody>
      </p:sp>
      <p:sp>
        <p:nvSpPr>
          <p:cNvPr id="20" name="TextBox 19"/>
          <p:cNvSpPr txBox="1"/>
          <p:nvPr/>
        </p:nvSpPr>
        <p:spPr>
          <a:xfrm>
            <a:off x="8214359" y="3474719"/>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SQLite or independent atomic-file</a:t>
            </a:r>
          </a:p>
        </p:txBody>
      </p:sp>
      <p:sp>
        <p:nvSpPr>
          <p:cNvPr id="21" name="TextBox 20"/>
          <p:cNvSpPr txBox="1"/>
          <p:nvPr/>
        </p:nvSpPr>
        <p:spPr>
          <a:xfrm>
            <a:off x="8214359" y="369905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state</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Pure PLN providers</a:t>
            </a:r>
          </a:p>
        </p:txBody>
      </p:sp>
      <p:sp>
        <p:nvSpPr>
          <p:cNvPr id="24" name="TextBox 23"/>
          <p:cNvSpPr txBox="1"/>
          <p:nvPr/>
        </p:nvSpPr>
        <p:spPr>
          <a:xfrm>
            <a:off x="3108960" y="409194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adapters/pln_deduction.py · pln_revision.py</a:t>
            </a:r>
          </a:p>
        </p:txBody>
      </p:sp>
      <p:sp>
        <p:nvSpPr>
          <p:cNvPr id="25" name="TextBox 24"/>
          <p:cNvSpPr txBox="1"/>
          <p:nvPr/>
        </p:nvSpPr>
        <p:spPr>
          <a:xfrm>
            <a:off x="8214359" y="409194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domain state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controller</a:t>
            </a:r>
          </a:p>
        </p:txBody>
      </p:sp>
      <p:sp>
        <p:nvSpPr>
          <p:cNvPr id="28" name="TextBox 27"/>
          <p:cNvSpPr txBox="1"/>
          <p:nvPr/>
        </p:nvSpPr>
        <p:spPr>
          <a:xfrm>
            <a:off x="3108960" y="470916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inference.py · deadlines.py</a:t>
            </a:r>
          </a:p>
        </p:txBody>
      </p:sp>
      <p:sp>
        <p:nvSpPr>
          <p:cNvPr id="29" name="TextBox 28"/>
          <p:cNvSpPr txBox="1"/>
          <p:nvPr/>
        </p:nvSpPr>
        <p:spPr>
          <a:xfrm>
            <a:off x="8214359" y="470916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Budgets / execution + separate</a:t>
            </a:r>
          </a:p>
        </p:txBody>
      </p:sp>
      <p:sp>
        <p:nvSpPr>
          <p:cNvPr id="30" name="TextBox 29"/>
          <p:cNvSpPr txBox="1"/>
          <p:nvPr/>
        </p:nvSpPr>
        <p:spPr>
          <a:xfrm>
            <a:off x="8214359" y="493349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closure journal</a:t>
            </a:r>
          </a:p>
        </p:txBody>
      </p:sp>
      <p:sp>
        <p:nvSpPr>
          <p:cNvPr id="31" name="Rounded Rectangle 30"/>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2" name="TextBox 31"/>
          <p:cNvSpPr txBox="1"/>
          <p:nvPr/>
        </p:nvSpPr>
        <p:spPr>
          <a:xfrm>
            <a:off x="670560" y="53263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Composition / native</a:t>
            </a:r>
          </a:p>
        </p:txBody>
      </p:sp>
      <p:sp>
        <p:nvSpPr>
          <p:cNvPr id="33" name="TextBox 32"/>
          <p:cNvSpPr txBox="1"/>
          <p:nvPr/>
        </p:nvSpPr>
        <p:spPr>
          <a:xfrm>
            <a:off x="670560" y="5550712"/>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34" name="TextBox 33"/>
          <p:cNvSpPr txBox="1"/>
          <p:nvPr/>
        </p:nvSpPr>
        <p:spPr>
          <a:xfrm>
            <a:off x="3108960" y="53263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cognition.py · hive/inference_program/</a:t>
            </a:r>
          </a:p>
        </p:txBody>
      </p:sp>
      <p:sp>
        <p:nvSpPr>
          <p:cNvPr id="35" name="TextBox 34"/>
          <p:cNvSpPr txBox="1"/>
          <p:nvPr/>
        </p:nvSpPr>
        <p:spPr>
          <a:xfrm>
            <a:off x="8214359" y="53263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provider bindings; caller</a:t>
            </a:r>
          </a:p>
        </p:txBody>
      </p:sp>
      <p:sp>
        <p:nvSpPr>
          <p:cNvPr id="36" name="TextBox 35"/>
          <p:cNvSpPr txBox="1"/>
          <p:nvPr/>
        </p:nvSpPr>
        <p:spPr>
          <a:xfrm>
            <a:off x="8214359" y="55507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receipt</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architecture.md · ports.py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Exact sources identify the verified native stack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Full revisions are printed here; source files and built binary hashes remain in the committed evidence.</a:t>
            </a:r>
          </a:p>
        </p:txBody>
      </p:sp>
      <p:sp>
        <p:nvSpPr>
          <p:cNvPr id="5" name="Rounded Rectangle 4"/>
          <p:cNvSpPr/>
          <p:nvPr/>
        </p:nvSpPr>
        <p:spPr>
          <a:xfrm>
            <a:off x="548640" y="1744980"/>
            <a:ext cx="11094720" cy="403859"/>
          </a:xfrm>
          <a:prstGeom prst="roundRect">
            <a:avLst>
              <a:gd name="adj" fmla="val 11320"/>
            </a:avLst>
          </a:prstGeom>
          <a:solidFill>
            <a:srgbClr val="FFFFFF"/>
          </a:solidFill>
          <a:ln>
            <a:noFill/>
          </a:ln>
          <a:effectLst/>
        </p:spPr>
        <p:txBody>
          <a:bodyPr rtlCol="0" anchor="ctr"/>
          <a:lstStyle/>
          <a:p>
            <a:pPr algn="ctr"/>
          </a:p>
        </p:txBody>
      </p:sp>
      <p:sp>
        <p:nvSpPr>
          <p:cNvPr id="6" name="TextBox 5"/>
          <p:cNvSpPr txBox="1"/>
          <p:nvPr/>
        </p:nvSpPr>
        <p:spPr>
          <a:xfrm>
            <a:off x="678180" y="185165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Fusion · tested</a:t>
            </a:r>
          </a:p>
        </p:txBody>
      </p:sp>
      <p:sp>
        <p:nvSpPr>
          <p:cNvPr id="7" name="TextBox 6"/>
          <p:cNvSpPr txBox="1"/>
          <p:nvPr/>
        </p:nvSpPr>
        <p:spPr>
          <a:xfrm>
            <a:off x="3390900" y="185165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55ed5402391ab6ed14f8ab20e1eea4c85d8be955</a:t>
            </a:r>
          </a:p>
        </p:txBody>
      </p:sp>
      <p:sp>
        <p:nvSpPr>
          <p:cNvPr id="8" name="Rounded Rectangle 7"/>
          <p:cNvSpPr/>
          <p:nvPr/>
        </p:nvSpPr>
        <p:spPr>
          <a:xfrm>
            <a:off x="548640" y="2186940"/>
            <a:ext cx="11094720" cy="403859"/>
          </a:xfrm>
          <a:prstGeom prst="roundRect">
            <a:avLst>
              <a:gd name="adj" fmla="val 11320"/>
            </a:avLst>
          </a:prstGeom>
          <a:solidFill>
            <a:srgbClr val="FFFFFF"/>
          </a:solidFill>
          <a:ln>
            <a:noFill/>
          </a:ln>
          <a:effectLst/>
        </p:spPr>
        <p:txBody>
          <a:bodyPr rtlCol="0" anchor="ctr"/>
          <a:lstStyle/>
          <a:p>
            <a:pPr algn="ctr"/>
          </a:p>
        </p:txBody>
      </p:sp>
      <p:sp>
        <p:nvSpPr>
          <p:cNvPr id="9" name="TextBox 8"/>
          <p:cNvSpPr txBox="1"/>
          <p:nvPr/>
        </p:nvSpPr>
        <p:spPr>
          <a:xfrm>
            <a:off x="678180" y="22936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 schematics</a:t>
            </a:r>
          </a:p>
        </p:txBody>
      </p:sp>
      <p:sp>
        <p:nvSpPr>
          <p:cNvPr id="10" name="TextBox 9"/>
          <p:cNvSpPr txBox="1"/>
          <p:nvPr/>
        </p:nvSpPr>
        <p:spPr>
          <a:xfrm>
            <a:off x="3390900" y="22936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4af00db4e395375484dd48d0b9068a59afcf01f8</a:t>
            </a:r>
          </a:p>
        </p:txBody>
      </p:sp>
      <p:sp>
        <p:nvSpPr>
          <p:cNvPr id="11" name="Rounded Rectangle 10"/>
          <p:cNvSpPr/>
          <p:nvPr/>
        </p:nvSpPr>
        <p:spPr>
          <a:xfrm>
            <a:off x="548640" y="2628900"/>
            <a:ext cx="11094720" cy="403859"/>
          </a:xfrm>
          <a:prstGeom prst="roundRect">
            <a:avLst>
              <a:gd name="adj" fmla="val 11320"/>
            </a:avLst>
          </a:prstGeom>
          <a:solidFill>
            <a:srgbClr val="FFFFFF"/>
          </a:solidFill>
          <a:ln>
            <a:noFill/>
          </a:ln>
          <a:effectLst/>
        </p:spPr>
        <p:txBody>
          <a:bodyPr rtlCol="0" anchor="ctr"/>
          <a:lstStyle/>
          <a:p>
            <a:pPr algn="ctr"/>
          </a:p>
        </p:txBody>
      </p:sp>
      <p:sp>
        <p:nvSpPr>
          <p:cNvPr id="12" name="TextBox 11"/>
          <p:cNvSpPr txBox="1"/>
          <p:nvPr/>
        </p:nvSpPr>
        <p:spPr>
          <a:xfrm>
            <a:off x="678180" y="273558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a:t>
            </a:r>
          </a:p>
        </p:txBody>
      </p:sp>
      <p:sp>
        <p:nvSpPr>
          <p:cNvPr id="13" name="TextBox 12"/>
          <p:cNvSpPr txBox="1"/>
          <p:nvPr/>
        </p:nvSpPr>
        <p:spPr>
          <a:xfrm>
            <a:off x="3390900" y="273558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34b0fb32ab3806e5609fc89bb7535518a35e1aea</a:t>
            </a:r>
          </a:p>
        </p:txBody>
      </p:sp>
      <p:sp>
        <p:nvSpPr>
          <p:cNvPr id="14" name="Rounded Rectangle 13"/>
          <p:cNvSpPr/>
          <p:nvPr/>
        </p:nvSpPr>
        <p:spPr>
          <a:xfrm>
            <a:off x="548640" y="3070860"/>
            <a:ext cx="11094720" cy="403859"/>
          </a:xfrm>
          <a:prstGeom prst="roundRect">
            <a:avLst>
              <a:gd name="adj" fmla="val 11320"/>
            </a:avLst>
          </a:prstGeom>
          <a:solidFill>
            <a:srgbClr val="FFFFFF"/>
          </a:solidFill>
          <a:ln>
            <a:noFill/>
          </a:ln>
          <a:effectLst/>
        </p:spPr>
        <p:txBody>
          <a:bodyPr rtlCol="0" anchor="ctr"/>
          <a:lstStyle/>
          <a:p>
            <a:pPr algn="ctr"/>
          </a:p>
        </p:txBody>
      </p:sp>
      <p:sp>
        <p:nvSpPr>
          <p:cNvPr id="15" name="TextBox 14"/>
          <p:cNvSpPr txBox="1"/>
          <p:nvPr/>
        </p:nvSpPr>
        <p:spPr>
          <a:xfrm>
            <a:off x="678180" y="31775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DeTTa</a:t>
            </a:r>
          </a:p>
        </p:txBody>
      </p:sp>
      <p:sp>
        <p:nvSpPr>
          <p:cNvPr id="16" name="TextBox 15"/>
          <p:cNvSpPr txBox="1"/>
          <p:nvPr/>
        </p:nvSpPr>
        <p:spPr>
          <a:xfrm>
            <a:off x="3390900" y="31775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272888f264dd2dde18b574cabb53c266b0dac2ec</a:t>
            </a:r>
          </a:p>
        </p:txBody>
      </p:sp>
      <p:sp>
        <p:nvSpPr>
          <p:cNvPr id="17" name="Rounded Rectangle 16"/>
          <p:cNvSpPr/>
          <p:nvPr/>
        </p:nvSpPr>
        <p:spPr>
          <a:xfrm>
            <a:off x="548640" y="3512819"/>
            <a:ext cx="11094720" cy="403859"/>
          </a:xfrm>
          <a:prstGeom prst="roundRect">
            <a:avLst>
              <a:gd name="adj" fmla="val 11320"/>
            </a:avLst>
          </a:prstGeom>
          <a:solidFill>
            <a:srgbClr val="FFFFFF"/>
          </a:solidFill>
          <a:ln>
            <a:noFill/>
          </a:ln>
          <a:effectLst/>
        </p:spPr>
        <p:txBody>
          <a:bodyPr rtlCol="0" anchor="ctr"/>
          <a:lstStyle/>
          <a:p>
            <a:pPr algn="ctr"/>
          </a:p>
        </p:txBody>
      </p:sp>
      <p:sp>
        <p:nvSpPr>
          <p:cNvPr id="18" name="TextBox 17"/>
          <p:cNvSpPr txBox="1"/>
          <p:nvPr/>
        </p:nvSpPr>
        <p:spPr>
          <a:xfrm>
            <a:off x="678180" y="361950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Reachability</a:t>
            </a:r>
          </a:p>
        </p:txBody>
      </p:sp>
      <p:sp>
        <p:nvSpPr>
          <p:cNvPr id="19" name="TextBox 18"/>
          <p:cNvSpPr txBox="1"/>
          <p:nvPr/>
        </p:nvSpPr>
        <p:spPr>
          <a:xfrm>
            <a:off x="3390900" y="361950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dd56f3f053ed90239de5377021a7d3b3fbf424ac</a:t>
            </a:r>
          </a:p>
        </p:txBody>
      </p:sp>
      <p:sp>
        <p:nvSpPr>
          <p:cNvPr id="20" name="Rounded Rectangle 19"/>
          <p:cNvSpPr/>
          <p:nvPr/>
        </p:nvSpPr>
        <p:spPr>
          <a:xfrm>
            <a:off x="548640" y="3954779"/>
            <a:ext cx="11094720" cy="403859"/>
          </a:xfrm>
          <a:prstGeom prst="roundRect">
            <a:avLst>
              <a:gd name="adj" fmla="val 11320"/>
            </a:avLst>
          </a:prstGeom>
          <a:solidFill>
            <a:srgbClr val="FFFFFF"/>
          </a:solidFill>
          <a:ln>
            <a:noFill/>
          </a:ln>
          <a:effectLst/>
        </p:spPr>
        <p:txBody>
          <a:bodyPr rtlCol="0" anchor="ctr"/>
          <a:lstStyle/>
          <a:p>
            <a:pPr algn="ctr"/>
          </a:p>
        </p:txBody>
      </p:sp>
      <p:sp>
        <p:nvSpPr>
          <p:cNvPr id="21" name="TextBox 20"/>
          <p:cNvSpPr txBox="1"/>
          <p:nvPr/>
        </p:nvSpPr>
        <p:spPr>
          <a:xfrm>
            <a:off x="678180" y="406146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a:t>
            </a:r>
          </a:p>
        </p:txBody>
      </p:sp>
      <p:sp>
        <p:nvSpPr>
          <p:cNvPr id="22" name="TextBox 21"/>
          <p:cNvSpPr txBox="1"/>
          <p:nvPr/>
        </p:nvSpPr>
        <p:spPr>
          <a:xfrm>
            <a:off x="3390900" y="406146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4405956947c4b53c7ff01bd565aa3b114bc970a1</a:t>
            </a:r>
          </a:p>
        </p:txBody>
      </p:sp>
      <p:sp>
        <p:nvSpPr>
          <p:cNvPr id="23" name="Rounded Rectangle 22"/>
          <p:cNvSpPr/>
          <p:nvPr/>
        </p:nvSpPr>
        <p:spPr>
          <a:xfrm>
            <a:off x="548640" y="4396740"/>
            <a:ext cx="11094720" cy="403859"/>
          </a:xfrm>
          <a:prstGeom prst="roundRect">
            <a:avLst>
              <a:gd name="adj" fmla="val 11320"/>
            </a:avLst>
          </a:prstGeom>
          <a:solidFill>
            <a:srgbClr val="FFFFFF"/>
          </a:solidFill>
          <a:ln>
            <a:noFill/>
          </a:ln>
          <a:effectLst/>
        </p:spPr>
        <p:txBody>
          <a:bodyPr rtlCol="0" anchor="ctr"/>
          <a:lstStyle/>
          <a:p>
            <a:pPr algn="ctr"/>
          </a:p>
        </p:txBody>
      </p:sp>
      <p:sp>
        <p:nvSpPr>
          <p:cNvPr id="24" name="TextBox 23"/>
          <p:cNvSpPr txBox="1"/>
          <p:nvPr/>
        </p:nvSpPr>
        <p:spPr>
          <a:xfrm>
            <a:off x="678180" y="45034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PeTTa</a:t>
            </a:r>
          </a:p>
        </p:txBody>
      </p:sp>
      <p:sp>
        <p:nvSpPr>
          <p:cNvPr id="25" name="TextBox 24"/>
          <p:cNvSpPr txBox="1"/>
          <p:nvPr/>
        </p:nvSpPr>
        <p:spPr>
          <a:xfrm>
            <a:off x="3390900" y="45034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ae66fa8e41dcd5539d614706bd4e5cfb34f9608d</a:t>
            </a:r>
          </a:p>
        </p:txBody>
      </p:sp>
      <p:sp>
        <p:nvSpPr>
          <p:cNvPr id="26" name="Rounded Rectangle 25"/>
          <p:cNvSpPr/>
          <p:nvPr/>
        </p:nvSpPr>
        <p:spPr>
          <a:xfrm>
            <a:off x="548640" y="4838700"/>
            <a:ext cx="11094720" cy="403859"/>
          </a:xfrm>
          <a:prstGeom prst="roundRect">
            <a:avLst>
              <a:gd name="adj" fmla="val 11320"/>
            </a:avLst>
          </a:prstGeom>
          <a:solidFill>
            <a:srgbClr val="FFFFFF"/>
          </a:solidFill>
          <a:ln>
            <a:noFill/>
          </a:ln>
          <a:effectLst/>
        </p:spPr>
        <p:txBody>
          <a:bodyPr rtlCol="0" anchor="ctr"/>
          <a:lstStyle/>
          <a:p>
            <a:pPr algn="ctr"/>
          </a:p>
        </p:txBody>
      </p:sp>
      <p:sp>
        <p:nvSpPr>
          <p:cNvPr id="27" name="TextBox 26"/>
          <p:cNvSpPr txBox="1"/>
          <p:nvPr/>
        </p:nvSpPr>
        <p:spPr>
          <a:xfrm>
            <a:off x="678180" y="494538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SWI 10.1.14</a:t>
            </a:r>
          </a:p>
        </p:txBody>
      </p:sp>
      <p:sp>
        <p:nvSpPr>
          <p:cNvPr id="28" name="TextBox 27"/>
          <p:cNvSpPr txBox="1"/>
          <p:nvPr/>
        </p:nvSpPr>
        <p:spPr>
          <a:xfrm>
            <a:off x="3390900" y="494538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69775434c8226897626b226aefcc8266499f1e2e</a:t>
            </a:r>
          </a:p>
        </p:txBody>
      </p:sp>
      <p:sp>
        <p:nvSpPr>
          <p:cNvPr id="29" name="Rounded Rectangle 28"/>
          <p:cNvSpPr/>
          <p:nvPr/>
        </p:nvSpPr>
        <p:spPr>
          <a:xfrm>
            <a:off x="548640" y="5280660"/>
            <a:ext cx="11094720" cy="403859"/>
          </a:xfrm>
          <a:prstGeom prst="roundRect">
            <a:avLst>
              <a:gd name="adj" fmla="val 11320"/>
            </a:avLst>
          </a:prstGeom>
          <a:solidFill>
            <a:srgbClr val="FFFFFF"/>
          </a:solidFill>
          <a:ln>
            <a:noFill/>
          </a:ln>
          <a:effectLst/>
        </p:spPr>
        <p:txBody>
          <a:bodyPr rtlCol="0" anchor="ctr"/>
          <a:lstStyle/>
          <a:p>
            <a:pPr algn="ctr"/>
          </a:p>
        </p:txBody>
      </p:sp>
      <p:sp>
        <p:nvSpPr>
          <p:cNvPr id="30" name="TextBox 29"/>
          <p:cNvSpPr txBox="1"/>
          <p:nvPr/>
        </p:nvSpPr>
        <p:spPr>
          <a:xfrm>
            <a:off x="678180" y="53873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F1R3node</a:t>
            </a:r>
          </a:p>
        </p:txBody>
      </p:sp>
      <p:sp>
        <p:nvSpPr>
          <p:cNvPr id="31" name="TextBox 30"/>
          <p:cNvSpPr txBox="1"/>
          <p:nvPr/>
        </p:nvSpPr>
        <p:spPr>
          <a:xfrm>
            <a:off x="3390900" y="53873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9ec1096e10774926ea8e72f0823482f0bf9213e1</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metta-attention inspected at 3e1c8147; not used as the bounded STI provider.</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evidence/m4/final/verification.json · source_pins</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CONTRACT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Profiles and bounds make compatibility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fusion-delivery-closure/1 selects fresh C1 / C3 / C4 journals; C2 and the math stay unchanged.</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PORT / PROFILE</a:t>
            </a:r>
          </a:p>
        </p:txBody>
      </p:sp>
      <p:sp>
        <p:nvSpPr>
          <p:cNvPr id="6" name="TextBox 5"/>
          <p:cNvSpPr txBox="1"/>
          <p:nvPr/>
        </p:nvSpPr>
        <p:spPr>
          <a:xfrm>
            <a:off x="3185160" y="1790700"/>
            <a:ext cx="4404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EXPLICIT SELECTION</a:t>
            </a:r>
          </a:p>
        </p:txBody>
      </p:sp>
      <p:sp>
        <p:nvSpPr>
          <p:cNvPr id="7" name="TextBox 6"/>
          <p:cNvSpPr txBox="1"/>
          <p:nvPr/>
        </p:nvSpPr>
        <p:spPr>
          <a:xfrm>
            <a:off x="7833359"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KEY BOUND</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local 3.0.0</a:t>
            </a:r>
          </a:p>
        </p:txBody>
      </p:sp>
      <p:sp>
        <p:nvSpPr>
          <p:cNvPr id="10" name="TextBox 9"/>
          <p:cNvSpPr txBox="1"/>
          <p:nvPr/>
        </p:nvSpPr>
        <p:spPr>
          <a:xfrm>
            <a:off x="3185160" y="22402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episode-delivery-completion/1</a:t>
            </a:r>
          </a:p>
        </p:txBody>
      </p:sp>
      <p:sp>
        <p:nvSpPr>
          <p:cNvPr id="11" name="TextBox 10"/>
          <p:cNvSpPr txBox="1"/>
          <p:nvPr/>
        </p:nvSpPr>
        <p:spPr>
          <a:xfrm>
            <a:off x="7833359"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16 pending; 256 events; trusted</a:t>
            </a:r>
          </a:p>
        </p:txBody>
      </p:sp>
      <p:sp>
        <p:nvSpPr>
          <p:cNvPr id="12" name="TextBox 11"/>
          <p:cNvSpPr txBox="1"/>
          <p:nvPr/>
        </p:nvSpPr>
        <p:spPr>
          <a:xfrm>
            <a:off x="7833359" y="246461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 only</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 local</a:t>
            </a:r>
          </a:p>
        </p:txBody>
      </p:sp>
      <p:sp>
        <p:nvSpPr>
          <p:cNvPr id="15" name="TextBox 14"/>
          <p:cNvSpPr txBox="1"/>
          <p:nvPr/>
        </p:nvSpPr>
        <p:spPr>
          <a:xfrm>
            <a:off x="670560" y="308183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3.0.0</a:t>
            </a:r>
          </a:p>
        </p:txBody>
      </p:sp>
      <p:sp>
        <p:nvSpPr>
          <p:cNvPr id="16" name="TextBox 15"/>
          <p:cNvSpPr txBox="1"/>
          <p:nvPr/>
        </p:nvSpPr>
        <p:spPr>
          <a:xfrm>
            <a:off x="3185160" y="285750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pln-derived-private/1 · unchanged</a:t>
            </a:r>
          </a:p>
        </p:txBody>
      </p:sp>
      <p:sp>
        <p:nvSpPr>
          <p:cNvPr id="17" name="TextBox 16"/>
          <p:cNvSpPr txBox="1"/>
          <p:nvPr/>
        </p:nvSpPr>
        <p:spPr>
          <a:xfrm>
            <a:off x="7833359" y="28575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Historical premises and inherited support</a:t>
            </a:r>
          </a:p>
        </p:txBody>
      </p:sp>
      <p:sp>
        <p:nvSpPr>
          <p:cNvPr id="18" name="TextBox 17"/>
          <p:cNvSpPr txBox="1"/>
          <p:nvPr/>
        </p:nvSpPr>
        <p:spPr>
          <a:xfrm>
            <a:off x="7833359" y="308183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roots</a:t>
            </a:r>
          </a:p>
        </p:txBody>
      </p:sp>
      <p:sp>
        <p:nvSpPr>
          <p:cNvPr id="19" name="Rounded Rectangle 18"/>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20" name="TextBox 19"/>
          <p:cNvSpPr txBox="1"/>
          <p:nvPr/>
        </p:nvSpPr>
        <p:spPr>
          <a:xfrm>
            <a:off x="670560" y="3474719"/>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 local 2.1.0</a:t>
            </a:r>
          </a:p>
        </p:txBody>
      </p:sp>
      <p:sp>
        <p:nvSpPr>
          <p:cNvPr id="21" name="TextBox 20"/>
          <p:cNvSpPr txBox="1"/>
          <p:nvPr/>
        </p:nvSpPr>
        <p:spPr>
          <a:xfrm>
            <a:off x="3185160" y="3474719"/>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sti-additive-linear-decay-closure/1</a:t>
            </a:r>
          </a:p>
        </p:txBody>
      </p:sp>
      <p:sp>
        <p:nvSpPr>
          <p:cNvPr id="22" name="TextBox 21"/>
          <p:cNvSpPr txBox="1"/>
          <p:nvPr/>
        </p:nvSpPr>
        <p:spPr>
          <a:xfrm>
            <a:off x="7833359" y="3474719"/>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Existing STI, cause and command</a:t>
            </a:r>
          </a:p>
        </p:txBody>
      </p:sp>
      <p:sp>
        <p:nvSpPr>
          <p:cNvPr id="23" name="TextBox 22"/>
          <p:cNvSpPr txBox="1"/>
          <p:nvPr/>
        </p:nvSpPr>
        <p:spPr>
          <a:xfrm>
            <a:off x="7833359" y="36990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capacities</a:t>
            </a:r>
          </a:p>
        </p:txBody>
      </p:sp>
      <p:sp>
        <p:nvSpPr>
          <p:cNvPr id="24" name="Rounded Rectangle 23"/>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5" name="TextBox 24"/>
          <p:cNvSpPr txBox="1"/>
          <p:nvPr/>
        </p:nvSpPr>
        <p:spPr>
          <a:xfrm>
            <a:off x="670560" y="40919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 local 2.1.0</a:t>
            </a:r>
          </a:p>
        </p:txBody>
      </p:sp>
      <p:sp>
        <p:nvSpPr>
          <p:cNvPr id="26" name="TextBox 25"/>
          <p:cNvSpPr txBox="1"/>
          <p:nvPr/>
        </p:nvSpPr>
        <p:spPr>
          <a:xfrm>
            <a:off x="3185160" y="409194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bounded-grounded-closure/1</a:t>
            </a:r>
          </a:p>
        </p:txBody>
      </p:sp>
      <p:sp>
        <p:nvSpPr>
          <p:cNvPr id="27" name="TextBox 26"/>
          <p:cNvSpPr txBox="1"/>
          <p:nvPr/>
        </p:nvSpPr>
        <p:spPr>
          <a:xfrm>
            <a:off x="7833359" y="40919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1–16 resolutions/call; 128</a:t>
            </a:r>
          </a:p>
        </p:txBody>
      </p:sp>
      <p:sp>
        <p:nvSpPr>
          <p:cNvPr id="28" name="TextBox 27"/>
          <p:cNvSpPr txBox="1"/>
          <p:nvPr/>
        </p:nvSpPr>
        <p:spPr>
          <a:xfrm>
            <a:off x="7833359" y="431627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commands/step</a:t>
            </a:r>
          </a:p>
        </p:txBody>
      </p:sp>
      <p:sp>
        <p:nvSpPr>
          <p:cNvPr id="29" name="Rounded Rectangle 28"/>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30" name="TextBox 29"/>
          <p:cNvSpPr txBox="1"/>
          <p:nvPr/>
        </p:nvSpPr>
        <p:spPr>
          <a:xfrm>
            <a:off x="670560" y="47091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 · local</a:t>
            </a:r>
          </a:p>
        </p:txBody>
      </p:sp>
      <p:sp>
        <p:nvSpPr>
          <p:cNvPr id="31" name="TextBox 30"/>
          <p:cNvSpPr txBox="1"/>
          <p:nvPr/>
        </p:nvSpPr>
        <p:spPr>
          <a:xfrm>
            <a:off x="670560" y="493349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2.0.0</a:t>
            </a:r>
          </a:p>
        </p:txBody>
      </p:sp>
      <p:sp>
        <p:nvSpPr>
          <p:cNvPr id="32" name="TextBox 31"/>
          <p:cNvSpPr txBox="1"/>
          <p:nvPr/>
        </p:nvSpPr>
        <p:spPr>
          <a:xfrm>
            <a:off x="3185160" y="470916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grounded-five-premise-deduction/1</a:t>
            </a:r>
          </a:p>
        </p:txBody>
      </p:sp>
      <p:sp>
        <p:nvSpPr>
          <p:cNvPr id="33" name="TextBox 32"/>
          <p:cNvSpPr txBox="1"/>
          <p:nvPr/>
        </p:nvSpPr>
        <p:spPr>
          <a:xfrm>
            <a:off x="7833359" y="47091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unchanged native rule; five exact</a:t>
            </a:r>
          </a:p>
        </p:txBody>
      </p:sp>
      <p:sp>
        <p:nvSpPr>
          <p:cNvPr id="34" name="TextBox 33"/>
          <p:cNvSpPr txBox="1"/>
          <p:nvPr/>
        </p:nvSpPr>
        <p:spPr>
          <a:xfrm>
            <a:off x="7833359" y="493349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premises</a:t>
            </a:r>
          </a:p>
        </p:txBody>
      </p:sp>
      <p:sp>
        <p:nvSpPr>
          <p:cNvPr id="35" name="Rounded Rectangle 34"/>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6" name="TextBox 35"/>
          <p:cNvSpPr txBox="1"/>
          <p:nvPr/>
        </p:nvSpPr>
        <p:spPr>
          <a:xfrm>
            <a:off x="670560" y="53263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Historical M1 / M2 / M3</a:t>
            </a:r>
          </a:p>
        </p:txBody>
      </p:sp>
      <p:sp>
        <p:nvSpPr>
          <p:cNvPr id="37" name="TextBox 36"/>
          <p:cNvSpPr txBox="1"/>
          <p:nvPr/>
        </p:nvSpPr>
        <p:spPr>
          <a:xfrm>
            <a:off x="3185160" y="53263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descriptors remain selectable</a:t>
            </a:r>
          </a:p>
        </p:txBody>
      </p:sp>
      <p:sp>
        <p:nvSpPr>
          <p:cNvPr id="38" name="TextBox 37"/>
          <p:cNvSpPr txBox="1"/>
          <p:nvPr/>
        </p:nvSpPr>
        <p:spPr>
          <a:xfrm>
            <a:off x="7833359" y="53263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silent upgrade; no live state migration</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contracts.md · cognition.py</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EXISTING-STATE COMPATIBILITY</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New profiles close the seam; old stores stay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M3 findings were reproduced before edits. M3.1 is an opt-in contract extension.</a:t>
            </a:r>
          </a:p>
        </p:txBody>
      </p:sp>
      <p:sp>
        <p:nvSpPr>
          <p:cNvPr id="5" name="Rounded Rectangle 4"/>
          <p:cNvSpPr/>
          <p:nvPr/>
        </p:nvSpPr>
        <p:spPr>
          <a:xfrm>
            <a:off x="548640" y="1981200"/>
            <a:ext cx="5364480" cy="2362200"/>
          </a:xfrm>
          <a:prstGeom prst="roundRect">
            <a:avLst>
              <a:gd name="adj" fmla="val 4193"/>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Historical M3 profile</a:t>
            </a:r>
          </a:p>
        </p:txBody>
      </p:sp>
      <p:sp>
        <p:nvSpPr>
          <p:cNvPr id="7" name="TextBox 6"/>
          <p:cNvSpPr txBox="1"/>
          <p:nvPr/>
        </p:nvSpPr>
        <p:spPr>
          <a:xfrm>
            <a:off x="71628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C1 expects a closed v2 acknowledgment.</a:t>
            </a:r>
          </a:p>
        </p:txBody>
      </p:sp>
      <p:sp>
        <p:nvSpPr>
          <p:cNvPr id="8" name="TextBox 7"/>
          <p:cNvSpPr txBox="1"/>
          <p:nvPr/>
        </p:nvSpPr>
        <p:spPr>
          <a:xfrm>
            <a:off x="71628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C2 emits a v3 decision.</a:t>
            </a:r>
          </a:p>
        </p:txBody>
      </p:sp>
      <p:sp>
        <p:nvSpPr>
          <p:cNvPr id="9" name="TextBox 8"/>
          <p:cNvSpPr txBox="1"/>
          <p:nvPr/>
        </p:nvSpPr>
        <p:spPr>
          <a:xfrm>
            <a:off x="71628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Delivery remains pending; stale feedback</a:t>
            </a:r>
          </a:p>
        </p:txBody>
      </p:sp>
      <p:sp>
        <p:nvSpPr>
          <p:cNvPr id="10" name="TextBox 9"/>
          <p:cNvSpPr txBox="1"/>
          <p:nvPr/>
        </p:nvSpPr>
        <p:spPr>
          <a:xfrm>
            <a:off x="71628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can remain CONFLICT.</a:t>
            </a:r>
          </a:p>
        </p:txBody>
      </p:sp>
      <p:sp>
        <p:nvSpPr>
          <p:cNvPr id="11" name="Rounded Rectangle 10"/>
          <p:cNvSpPr/>
          <p:nvPr/>
        </p:nvSpPr>
        <p:spPr>
          <a:xfrm>
            <a:off x="6278880" y="1981200"/>
            <a:ext cx="5364480" cy="2362200"/>
          </a:xfrm>
          <a:prstGeom prst="roundRect">
            <a:avLst>
              <a:gd name="adj" fmla="val 4193"/>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644652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Fresh M3.1 profile</a:t>
            </a:r>
          </a:p>
        </p:txBody>
      </p:sp>
      <p:sp>
        <p:nvSpPr>
          <p:cNvPr id="13" name="TextBox 12"/>
          <p:cNvSpPr txBox="1"/>
          <p:nvPr/>
        </p:nvSpPr>
        <p:spPr>
          <a:xfrm>
            <a:off x="644652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Relay validates C2; C1 gets narrow</a:t>
            </a:r>
          </a:p>
        </p:txBody>
      </p:sp>
      <p:sp>
        <p:nvSpPr>
          <p:cNvPr id="14" name="TextBox 13"/>
          <p:cNvSpPr txBox="1"/>
          <p:nvPr/>
        </p:nvSpPr>
        <p:spPr>
          <a:xfrm>
            <a:off x="644652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completion.</a:t>
            </a:r>
          </a:p>
        </p:txBody>
      </p:sp>
      <p:sp>
        <p:nvSpPr>
          <p:cNvPr id="15" name="TextBox 14"/>
          <p:cNvSpPr txBox="1"/>
          <p:nvPr/>
        </p:nvSpPr>
        <p:spPr>
          <a:xfrm>
            <a:off x="644652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Attention resolves original feedback.</a:t>
            </a:r>
          </a:p>
        </p:txBody>
      </p:sp>
      <p:sp>
        <p:nvSpPr>
          <p:cNvPr id="16" name="TextBox 15"/>
          <p:cNvSpPr txBox="1"/>
          <p:nvPr/>
        </p:nvSpPr>
        <p:spPr>
          <a:xfrm>
            <a:off x="644652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C4 tracks closure separately from execution.</a:t>
            </a:r>
          </a:p>
        </p:txBody>
      </p:sp>
      <p:sp>
        <p:nvSpPr>
          <p:cNvPr id="17" name="Rounded Rectangle 16"/>
          <p:cNvSpPr/>
          <p:nvPr/>
        </p:nvSpPr>
        <p:spPr>
          <a:xfrm>
            <a:off x="548640" y="4693920"/>
            <a:ext cx="11094720" cy="891540"/>
          </a:xfrm>
          <a:prstGeom prst="roundRect">
            <a:avLst>
              <a:gd name="adj" fmla="val 11111"/>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716280" y="4861560"/>
            <a:ext cx="107594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Populated old stores → new selection: UNSUPPORTED_PROFILE</a:t>
            </a:r>
          </a:p>
        </p:txBody>
      </p:sp>
      <p:sp>
        <p:nvSpPr>
          <p:cNvPr id="19" name="TextBox 18"/>
          <p:cNvSpPr txBox="1"/>
          <p:nvPr/>
        </p:nvSpPr>
        <p:spPr>
          <a:xfrm>
            <a:off x="716280" y="5220614"/>
            <a:ext cx="107594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Disposable copies reject without modification and still replay under the original profile. User stores are untouched.</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No automatic conversion, repair of pre-existing pending work, invented acknowledgment or weakened validation.</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m3_1/baseline/gaps.json · test_m3_1_compat.py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PRESERVED M1.2 SEQUENCE</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native operation crosses the existing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caller stores intent; each provider commits only its own state.</a:t>
            </a:r>
          </a:p>
        </p:txBody>
      </p:sp>
      <p:sp>
        <p:nvSpPr>
          <p:cNvPr id="5" name="Rounded Rectangle 4"/>
          <p:cNvSpPr/>
          <p:nvPr/>
        </p:nvSpPr>
        <p:spPr>
          <a:xfrm>
            <a:off x="495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6" name="TextBox 5"/>
          <p:cNvSpPr txBox="1"/>
          <p:nvPr/>
        </p:nvSpPr>
        <p:spPr>
          <a:xfrm>
            <a:off x="579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Real Hive</a:t>
            </a:r>
          </a:p>
        </p:txBody>
      </p:sp>
      <p:cxnSp>
        <p:nvCxnSpPr>
          <p:cNvPr id="7" name="Connector 6"/>
          <p:cNvCxnSpPr/>
          <p:nvPr/>
        </p:nvCxnSpPr>
        <p:spPr>
          <a:xfrm>
            <a:off x="1181100" y="2301240"/>
            <a:ext cx="0" cy="3489960"/>
          </a:xfrm>
          <a:prstGeom prst="line">
            <a:avLst/>
          </a:prstGeom>
          <a:ln w="15240">
            <a:solidFill>
              <a:srgbClr val="C9D2D4"/>
            </a:solidFill>
            <a:prstDash val="dash"/>
          </a:ln>
          <a:effectLst/>
        </p:spPr>
      </p:cxnSp>
      <p:sp>
        <p:nvSpPr>
          <p:cNvPr id="8" name="Rounded Rectangle 7"/>
          <p:cNvSpPr/>
          <p:nvPr/>
        </p:nvSpPr>
        <p:spPr>
          <a:xfrm>
            <a:off x="2971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9" name="TextBox 8"/>
          <p:cNvSpPr txBox="1"/>
          <p:nvPr/>
        </p:nvSpPr>
        <p:spPr>
          <a:xfrm>
            <a:off x="3055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Caller receipt</a:t>
            </a:r>
          </a:p>
        </p:txBody>
      </p:sp>
      <p:cxnSp>
        <p:nvCxnSpPr>
          <p:cNvPr id="10" name="Connector 9"/>
          <p:cNvCxnSpPr/>
          <p:nvPr/>
        </p:nvCxnSpPr>
        <p:spPr>
          <a:xfrm>
            <a:off x="3657600" y="2301240"/>
            <a:ext cx="0" cy="3489960"/>
          </a:xfrm>
          <a:prstGeom prst="line">
            <a:avLst/>
          </a:prstGeom>
          <a:ln w="15240">
            <a:solidFill>
              <a:srgbClr val="C9D2D4"/>
            </a:solidFill>
            <a:prstDash val="dash"/>
          </a:ln>
          <a:effectLst/>
        </p:spPr>
      </p:cxnSp>
      <p:sp>
        <p:nvSpPr>
          <p:cNvPr id="11" name="Rounded Rectangle 10"/>
          <p:cNvSpPr/>
          <p:nvPr/>
        </p:nvSpPr>
        <p:spPr>
          <a:xfrm>
            <a:off x="5448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12" name="TextBox 11"/>
          <p:cNvSpPr txBox="1"/>
          <p:nvPr/>
        </p:nvSpPr>
        <p:spPr>
          <a:xfrm>
            <a:off x="5532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AtomStorage</a:t>
            </a:r>
          </a:p>
        </p:txBody>
      </p:sp>
      <p:cxnSp>
        <p:nvCxnSpPr>
          <p:cNvPr id="13" name="Connector 12"/>
          <p:cNvCxnSpPr/>
          <p:nvPr/>
        </p:nvCxnSpPr>
        <p:spPr>
          <a:xfrm>
            <a:off x="6134100" y="2301240"/>
            <a:ext cx="0" cy="3489960"/>
          </a:xfrm>
          <a:prstGeom prst="line">
            <a:avLst/>
          </a:prstGeom>
          <a:ln w="15240">
            <a:solidFill>
              <a:srgbClr val="C9D2D4"/>
            </a:solidFill>
            <a:prstDash val="dash"/>
          </a:ln>
          <a:effectLst/>
        </p:spPr>
      </p:cxnSp>
      <p:sp>
        <p:nvSpPr>
          <p:cNvPr id="14" name="Rounded Rectangle 13"/>
          <p:cNvSpPr/>
          <p:nvPr/>
        </p:nvSpPr>
        <p:spPr>
          <a:xfrm>
            <a:off x="7924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5" name="TextBox 14"/>
          <p:cNvSpPr txBox="1"/>
          <p:nvPr/>
        </p:nvSpPr>
        <p:spPr>
          <a:xfrm>
            <a:off x="8008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Execution</a:t>
            </a:r>
          </a:p>
        </p:txBody>
      </p:sp>
      <p:cxnSp>
        <p:nvCxnSpPr>
          <p:cNvPr id="16" name="Connector 15"/>
          <p:cNvCxnSpPr/>
          <p:nvPr/>
        </p:nvCxnSpPr>
        <p:spPr>
          <a:xfrm>
            <a:off x="8610600" y="2301240"/>
            <a:ext cx="0" cy="3489960"/>
          </a:xfrm>
          <a:prstGeom prst="line">
            <a:avLst/>
          </a:prstGeom>
          <a:ln w="15240">
            <a:solidFill>
              <a:srgbClr val="C9D2D4"/>
            </a:solidFill>
            <a:prstDash val="dash"/>
          </a:ln>
          <a:effectLst/>
        </p:spPr>
      </p:cxnSp>
      <p:sp>
        <p:nvSpPr>
          <p:cNvPr id="17" name="Rounded Rectangle 16"/>
          <p:cNvSpPr/>
          <p:nvPr/>
        </p:nvSpPr>
        <p:spPr>
          <a:xfrm>
            <a:off x="104013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8" name="TextBox 17"/>
          <p:cNvSpPr txBox="1"/>
          <p:nvPr/>
        </p:nvSpPr>
        <p:spPr>
          <a:xfrm>
            <a:off x="10485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Messaging</a:t>
            </a:r>
          </a:p>
        </p:txBody>
      </p:sp>
      <p:cxnSp>
        <p:nvCxnSpPr>
          <p:cNvPr id="19" name="Connector 18"/>
          <p:cNvCxnSpPr/>
          <p:nvPr/>
        </p:nvCxnSpPr>
        <p:spPr>
          <a:xfrm>
            <a:off x="11087100" y="2301240"/>
            <a:ext cx="0" cy="3489960"/>
          </a:xfrm>
          <a:prstGeom prst="line">
            <a:avLst/>
          </a:prstGeom>
          <a:ln w="15240">
            <a:solidFill>
              <a:srgbClr val="C9D2D4"/>
            </a:solidFill>
            <a:prstDash val="dash"/>
          </a:ln>
          <a:effectLst/>
        </p:spPr>
      </p:cxnSp>
      <p:sp>
        <p:nvSpPr>
          <p:cNvPr id="20" name="Rectangle 19"/>
          <p:cNvSpPr/>
          <p:nvPr/>
        </p:nvSpPr>
        <p:spPr>
          <a:xfrm>
            <a:off x="1211580" y="2301240"/>
            <a:ext cx="1774686" cy="198120"/>
          </a:xfrm>
          <a:prstGeom prst="rect">
            <a:avLst/>
          </a:prstGeom>
          <a:solidFill>
            <a:srgbClr val="F4F2EB"/>
          </a:solidFill>
          <a:ln>
            <a:noFill/>
          </a:ln>
          <a:effectLst/>
        </p:spPr>
        <p:txBody>
          <a:bodyPr rtlCol="0" anchor="ctr"/>
          <a:lstStyle/>
          <a:p>
            <a:pPr algn="ctr"/>
          </a:p>
        </p:txBody>
      </p:sp>
      <p:sp>
        <p:nvSpPr>
          <p:cNvPr id="21" name="TextBox 20"/>
          <p:cNvSpPr txBox="1"/>
          <p:nvPr/>
        </p:nvSpPr>
        <p:spPr>
          <a:xfrm>
            <a:off x="1242060" y="230124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Save original intent</a:t>
            </a:r>
          </a:p>
        </p:txBody>
      </p:sp>
      <p:cxnSp>
        <p:nvCxnSpPr>
          <p:cNvPr id="22" name="Connector 21"/>
          <p:cNvCxnSpPr/>
          <p:nvPr/>
        </p:nvCxnSpPr>
        <p:spPr>
          <a:xfrm>
            <a:off x="1181100" y="2514600"/>
            <a:ext cx="2476500" cy="0"/>
          </a:xfrm>
          <a:prstGeom prst="line">
            <a:avLst/>
          </a:prstGeom>
          <a:ln w="15240">
            <a:solidFill>
              <a:srgbClr val="315E9C"/>
            </a:solidFill>
          </a:ln>
          <a:effectLst/>
        </p:spPr>
      </p:cxnSp>
      <p:sp>
        <p:nvSpPr>
          <p:cNvPr id="23" name="Freeform 22"/>
          <p:cNvSpPr/>
          <p:nvPr/>
        </p:nvSpPr>
        <p:spPr>
          <a:xfrm>
            <a:off x="3558540" y="24765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4" name="Rectangle 23"/>
          <p:cNvSpPr/>
          <p:nvPr/>
        </p:nvSpPr>
        <p:spPr>
          <a:xfrm>
            <a:off x="1211580" y="2697480"/>
            <a:ext cx="3339911" cy="198120"/>
          </a:xfrm>
          <a:prstGeom prst="rect">
            <a:avLst/>
          </a:prstGeom>
          <a:solidFill>
            <a:srgbClr val="F4F2EB"/>
          </a:solidFill>
          <a:ln>
            <a:noFill/>
          </a:ln>
          <a:effectLst/>
        </p:spPr>
        <p:txBody>
          <a:bodyPr rtlCol="0" anchor="ctr"/>
          <a:lstStyle/>
          <a:p>
            <a:pPr algn="ctr"/>
          </a:p>
        </p:txBody>
      </p:sp>
      <p:sp>
        <p:nvSpPr>
          <p:cNvPr id="25" name="TextBox 24"/>
          <p:cNvSpPr txBox="1"/>
          <p:nvPr/>
        </p:nvSpPr>
        <p:spPr>
          <a:xfrm>
            <a:off x="1242060" y="269748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create → real DeTTa persistence receipt</a:t>
            </a:r>
          </a:p>
        </p:txBody>
      </p:sp>
      <p:cxnSp>
        <p:nvCxnSpPr>
          <p:cNvPr id="26" name="Connector 25"/>
          <p:cNvCxnSpPr/>
          <p:nvPr/>
        </p:nvCxnSpPr>
        <p:spPr>
          <a:xfrm>
            <a:off x="1181100" y="2910840"/>
            <a:ext cx="4953000" cy="0"/>
          </a:xfrm>
          <a:prstGeom prst="line">
            <a:avLst/>
          </a:prstGeom>
          <a:ln w="15240">
            <a:solidFill>
              <a:srgbClr val="007C78"/>
            </a:solidFill>
          </a:ln>
          <a:effectLst/>
        </p:spPr>
      </p:cxnSp>
      <p:sp>
        <p:nvSpPr>
          <p:cNvPr id="27" name="Freeform 26"/>
          <p:cNvSpPr/>
          <p:nvPr/>
        </p:nvSpPr>
        <p:spPr>
          <a:xfrm>
            <a:off x="6035040" y="2872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8" name="Rectangle 27"/>
          <p:cNvSpPr/>
          <p:nvPr/>
        </p:nvSpPr>
        <p:spPr>
          <a:xfrm>
            <a:off x="1211580" y="3093720"/>
            <a:ext cx="3220997" cy="198120"/>
          </a:xfrm>
          <a:prstGeom prst="rect">
            <a:avLst/>
          </a:prstGeom>
          <a:solidFill>
            <a:srgbClr val="F4F2EB"/>
          </a:solidFill>
          <a:ln>
            <a:noFill/>
          </a:ln>
          <a:effectLst/>
        </p:spPr>
        <p:txBody>
          <a:bodyPr rtlCol="0" anchor="ctr"/>
          <a:lstStyle/>
          <a:p>
            <a:pPr algn="ctr"/>
          </a:p>
        </p:txBody>
      </p:sp>
      <p:sp>
        <p:nvSpPr>
          <p:cNvPr id="29" name="TextBox 28"/>
          <p:cNvSpPr txBox="1"/>
          <p:nvPr/>
        </p:nvSpPr>
        <p:spPr>
          <a:xfrm>
            <a:off x="1242060" y="309372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send reference to fixture counterparty</a:t>
            </a:r>
          </a:p>
        </p:txBody>
      </p:sp>
      <p:cxnSp>
        <p:nvCxnSpPr>
          <p:cNvPr id="30" name="Connector 29"/>
          <p:cNvCxnSpPr/>
          <p:nvPr/>
        </p:nvCxnSpPr>
        <p:spPr>
          <a:xfrm>
            <a:off x="1181100" y="3307079"/>
            <a:ext cx="9906000" cy="0"/>
          </a:xfrm>
          <a:prstGeom prst="line">
            <a:avLst/>
          </a:prstGeom>
          <a:ln w="15240">
            <a:solidFill>
              <a:srgbClr val="315E9C"/>
            </a:solidFill>
          </a:ln>
          <a:effectLst/>
        </p:spPr>
      </p:cxnSp>
      <p:sp>
        <p:nvSpPr>
          <p:cNvPr id="31" name="Freeform 30"/>
          <p:cNvSpPr/>
          <p:nvPr/>
        </p:nvSpPr>
        <p:spPr>
          <a:xfrm>
            <a:off x="10988040" y="32689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2" name="Rectangle 31"/>
          <p:cNvSpPr/>
          <p:nvPr/>
        </p:nvSpPr>
        <p:spPr>
          <a:xfrm>
            <a:off x="1211580" y="3489960"/>
            <a:ext cx="3895189" cy="198120"/>
          </a:xfrm>
          <a:prstGeom prst="rect">
            <a:avLst/>
          </a:prstGeom>
          <a:solidFill>
            <a:srgbClr val="F4F2EB"/>
          </a:solidFill>
          <a:ln>
            <a:noFill/>
          </a:ln>
          <a:effectLst/>
        </p:spPr>
        <p:txBody>
          <a:bodyPr rtlCol="0" anchor="ctr"/>
          <a:lstStyle/>
          <a:p>
            <a:pPr algn="ctr"/>
          </a:p>
        </p:txBody>
      </p:sp>
      <p:sp>
        <p:nvSpPr>
          <p:cNvPr id="33" name="TextBox 32"/>
          <p:cNvSpPr txBox="1"/>
          <p:nvPr/>
        </p:nvSpPr>
        <p:spPr>
          <a:xfrm>
            <a:off x="1242060" y="348996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submit inspect_atom → durable job acceptance</a:t>
            </a:r>
          </a:p>
        </p:txBody>
      </p:sp>
      <p:cxnSp>
        <p:nvCxnSpPr>
          <p:cNvPr id="34" name="Connector 33"/>
          <p:cNvCxnSpPr/>
          <p:nvPr/>
        </p:nvCxnSpPr>
        <p:spPr>
          <a:xfrm>
            <a:off x="1181100" y="3703319"/>
            <a:ext cx="7429500" cy="0"/>
          </a:xfrm>
          <a:prstGeom prst="line">
            <a:avLst/>
          </a:prstGeom>
          <a:ln w="15240">
            <a:solidFill>
              <a:srgbClr val="315E9C"/>
            </a:solidFill>
          </a:ln>
          <a:effectLst/>
        </p:spPr>
      </p:cxnSp>
      <p:sp>
        <p:nvSpPr>
          <p:cNvPr id="35" name="Freeform 34"/>
          <p:cNvSpPr/>
          <p:nvPr/>
        </p:nvSpPr>
        <p:spPr>
          <a:xfrm>
            <a:off x="8511540" y="36652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6" name="Rectangle 35"/>
          <p:cNvSpPr/>
          <p:nvPr/>
        </p:nvSpPr>
        <p:spPr>
          <a:xfrm>
            <a:off x="1211580" y="3886200"/>
            <a:ext cx="2233597" cy="198120"/>
          </a:xfrm>
          <a:prstGeom prst="rect">
            <a:avLst/>
          </a:prstGeom>
          <a:solidFill>
            <a:srgbClr val="F4F2EB"/>
          </a:solidFill>
          <a:ln>
            <a:noFill/>
          </a:ln>
          <a:effectLst/>
        </p:spPr>
        <p:txBody>
          <a:bodyPr rtlCol="0" anchor="ctr"/>
          <a:lstStyle/>
          <a:p>
            <a:pPr algn="ctr"/>
          </a:p>
        </p:txBody>
      </p:sp>
      <p:sp>
        <p:nvSpPr>
          <p:cNvPr id="37" name="TextBox 36"/>
          <p:cNvSpPr txBox="1"/>
          <p:nvPr/>
        </p:nvSpPr>
        <p:spPr>
          <a:xfrm>
            <a:off x="1242060" y="38862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Save pending job context</a:t>
            </a:r>
          </a:p>
        </p:txBody>
      </p:sp>
      <p:cxnSp>
        <p:nvCxnSpPr>
          <p:cNvPr id="38" name="Connector 37"/>
          <p:cNvCxnSpPr/>
          <p:nvPr/>
        </p:nvCxnSpPr>
        <p:spPr>
          <a:xfrm>
            <a:off x="1181100" y="4099560"/>
            <a:ext cx="2476500" cy="0"/>
          </a:xfrm>
          <a:prstGeom prst="line">
            <a:avLst/>
          </a:prstGeom>
          <a:ln w="15240">
            <a:solidFill>
              <a:srgbClr val="315E9C"/>
            </a:solidFill>
          </a:ln>
          <a:effectLst/>
        </p:spPr>
      </p:cxnSp>
      <p:sp>
        <p:nvSpPr>
          <p:cNvPr id="39" name="Freeform 38"/>
          <p:cNvSpPr/>
          <p:nvPr/>
        </p:nvSpPr>
        <p:spPr>
          <a:xfrm>
            <a:off x="3558540" y="4061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0" name="Rectangle 39"/>
          <p:cNvSpPr/>
          <p:nvPr/>
        </p:nvSpPr>
        <p:spPr>
          <a:xfrm>
            <a:off x="3916679" y="4282440"/>
            <a:ext cx="3432854" cy="198120"/>
          </a:xfrm>
          <a:prstGeom prst="rect">
            <a:avLst/>
          </a:prstGeom>
          <a:solidFill>
            <a:srgbClr val="F4F2EB"/>
          </a:solidFill>
          <a:ln>
            <a:noFill/>
          </a:ln>
          <a:effectLst/>
        </p:spPr>
        <p:txBody>
          <a:bodyPr rtlCol="0" anchor="ctr"/>
          <a:lstStyle/>
          <a:p>
            <a:pPr algn="ctr"/>
          </a:p>
        </p:txBody>
      </p:sp>
      <p:sp>
        <p:nvSpPr>
          <p:cNvPr id="41" name="TextBox 40"/>
          <p:cNvSpPr txBox="1"/>
          <p:nvPr/>
        </p:nvSpPr>
        <p:spPr>
          <a:xfrm>
            <a:off x="3947160" y="428244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Worker reads input; result atom commits</a:t>
            </a:r>
          </a:p>
        </p:txBody>
      </p:sp>
      <p:cxnSp>
        <p:nvCxnSpPr>
          <p:cNvPr id="42" name="Connector 41"/>
          <p:cNvCxnSpPr/>
          <p:nvPr/>
        </p:nvCxnSpPr>
        <p:spPr>
          <a:xfrm flipH="1">
            <a:off x="6134100" y="4495800"/>
            <a:ext cx="2476500" cy="0"/>
          </a:xfrm>
          <a:prstGeom prst="line">
            <a:avLst/>
          </a:prstGeom>
          <a:ln w="15240">
            <a:solidFill>
              <a:srgbClr val="007C78"/>
            </a:solidFill>
          </a:ln>
          <a:effectLst/>
        </p:spPr>
      </p:cxnSp>
      <p:sp>
        <p:nvSpPr>
          <p:cNvPr id="43" name="Freeform 42"/>
          <p:cNvSpPr/>
          <p:nvPr/>
        </p:nvSpPr>
        <p:spPr>
          <a:xfrm>
            <a:off x="6134100" y="445770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4" name="Rectangle 43"/>
          <p:cNvSpPr/>
          <p:nvPr/>
        </p:nvSpPr>
        <p:spPr>
          <a:xfrm>
            <a:off x="3916679" y="4678680"/>
            <a:ext cx="4536117" cy="198120"/>
          </a:xfrm>
          <a:prstGeom prst="rect">
            <a:avLst/>
          </a:prstGeom>
          <a:solidFill>
            <a:srgbClr val="F4F2EB"/>
          </a:solidFill>
          <a:ln>
            <a:noFill/>
          </a:ln>
          <a:effectLst/>
        </p:spPr>
        <p:txBody>
          <a:bodyPr rtlCol="0" anchor="ctr"/>
          <a:lstStyle/>
          <a:p>
            <a:pPr algn="ctr"/>
          </a:p>
        </p:txBody>
      </p:sp>
      <p:sp>
        <p:nvSpPr>
          <p:cNvPr id="45" name="TextBox 44"/>
          <p:cNvSpPr txBox="1"/>
          <p:nvPr/>
        </p:nvSpPr>
        <p:spPr>
          <a:xfrm>
            <a:off x="3947160" y="467868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Terminal + outbox commit; mailbox accepts separately</a:t>
            </a:r>
          </a:p>
        </p:txBody>
      </p:sp>
      <p:cxnSp>
        <p:nvCxnSpPr>
          <p:cNvPr id="46" name="Connector 45"/>
          <p:cNvCxnSpPr/>
          <p:nvPr/>
        </p:nvCxnSpPr>
        <p:spPr>
          <a:xfrm>
            <a:off x="8610600" y="4892040"/>
            <a:ext cx="2476500" cy="0"/>
          </a:xfrm>
          <a:prstGeom prst="line">
            <a:avLst/>
          </a:prstGeom>
          <a:ln w="15240">
            <a:solidFill>
              <a:srgbClr val="315E9C"/>
            </a:solidFill>
          </a:ln>
          <a:effectLst/>
        </p:spPr>
      </p:cxnSp>
      <p:sp>
        <p:nvSpPr>
          <p:cNvPr id="47" name="Freeform 46"/>
          <p:cNvSpPr/>
          <p:nvPr/>
        </p:nvSpPr>
        <p:spPr>
          <a:xfrm>
            <a:off x="10988040" y="4853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8" name="Rectangle 47"/>
          <p:cNvSpPr/>
          <p:nvPr/>
        </p:nvSpPr>
        <p:spPr>
          <a:xfrm>
            <a:off x="1211580" y="5295900"/>
            <a:ext cx="4108162" cy="198120"/>
          </a:xfrm>
          <a:prstGeom prst="rect">
            <a:avLst/>
          </a:prstGeom>
          <a:solidFill>
            <a:srgbClr val="F4F2EB"/>
          </a:solidFill>
          <a:ln>
            <a:noFill/>
          </a:ln>
          <a:effectLst/>
        </p:spPr>
        <p:txBody>
          <a:bodyPr rtlCol="0" anchor="ctr"/>
          <a:lstStyle/>
          <a:p>
            <a:pPr algn="ctr"/>
          </a:p>
        </p:txBody>
      </p:sp>
      <p:sp>
        <p:nvSpPr>
          <p:cNvPr id="49" name="TextBox 48"/>
          <p:cNvSpPr txBox="1"/>
          <p:nvPr/>
        </p:nvSpPr>
        <p:spPr>
          <a:xfrm>
            <a:off x="1242060" y="52959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Recover status → poll → get result → accept → ack</a:t>
            </a:r>
          </a:p>
        </p:txBody>
      </p:sp>
      <p:cxnSp>
        <p:nvCxnSpPr>
          <p:cNvPr id="50" name="Connector 49"/>
          <p:cNvCxnSpPr/>
          <p:nvPr/>
        </p:nvCxnSpPr>
        <p:spPr>
          <a:xfrm>
            <a:off x="1181100" y="5509260"/>
            <a:ext cx="9906000" cy="0"/>
          </a:xfrm>
          <a:prstGeom prst="line">
            <a:avLst/>
          </a:prstGeom>
          <a:ln w="15240">
            <a:solidFill>
              <a:srgbClr val="315E9C"/>
            </a:solidFill>
          </a:ln>
          <a:effectLst/>
        </p:spPr>
      </p:cxnSp>
      <p:sp>
        <p:nvSpPr>
          <p:cNvPr id="51" name="Freeform 50"/>
          <p:cNvSpPr/>
          <p:nvPr/>
        </p:nvSpPr>
        <p:spPr>
          <a:xfrm>
            <a:off x="10988040" y="54711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program.py · execution.py · messaging.py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F / HISTORICAL CHAIN EVIDENCE</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Historical M1: one result reached an isolated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This is the earlier protocol-peer artifact. No M1.2, M2, M3 or M3.1 Hive result was submitted.</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550919"/>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M1 recorded observation</a:t>
            </a:r>
          </a:p>
        </p:txBody>
      </p:sp>
      <p:sp>
        <p:nvSpPr>
          <p:cNvPr id="19" name="TextBox 18"/>
          <p:cNvSpPr txBox="1"/>
          <p:nvPr/>
        </p:nvSpPr>
        <p:spPr>
          <a:xfrm>
            <a:off x="571500" y="3954779"/>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height</a:t>
            </a:r>
          </a:p>
        </p:txBody>
      </p:sp>
      <p:sp>
        <p:nvSpPr>
          <p:cNvPr id="20" name="TextBox 19"/>
          <p:cNvSpPr txBox="1"/>
          <p:nvPr/>
        </p:nvSpPr>
        <p:spPr>
          <a:xfrm>
            <a:off x="3093720" y="3954779"/>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a:t>
            </a:r>
          </a:p>
        </p:txBody>
      </p:sp>
      <p:sp>
        <p:nvSpPr>
          <p:cNvPr id="21" name="TextBox 20"/>
          <p:cNvSpPr txBox="1"/>
          <p:nvPr/>
        </p:nvSpPr>
        <p:spPr>
          <a:xfrm>
            <a:off x="571500" y="430530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error</a:t>
            </a:r>
          </a:p>
        </p:txBody>
      </p:sp>
      <p:sp>
        <p:nvSpPr>
          <p:cNvPr id="22" name="TextBox 21"/>
          <p:cNvSpPr txBox="1"/>
          <p:nvPr/>
        </p:nvSpPr>
        <p:spPr>
          <a:xfrm>
            <a:off x="3093720" y="430530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false</a:t>
            </a:r>
          </a:p>
        </p:txBody>
      </p:sp>
      <p:sp>
        <p:nvSpPr>
          <p:cNvPr id="23" name="TextBox 22"/>
          <p:cNvSpPr txBox="1"/>
          <p:nvPr/>
        </p:nvSpPr>
        <p:spPr>
          <a:xfrm>
            <a:off x="571500" y="465582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Rejection count</a:t>
            </a:r>
          </a:p>
        </p:txBody>
      </p:sp>
      <p:sp>
        <p:nvSpPr>
          <p:cNvPr id="24" name="TextBox 23"/>
          <p:cNvSpPr txBox="1"/>
          <p:nvPr/>
        </p:nvSpPr>
        <p:spPr>
          <a:xfrm>
            <a:off x="3093720" y="465582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0</a:t>
            </a:r>
          </a:p>
        </p:txBody>
      </p:sp>
      <p:sp>
        <p:nvSpPr>
          <p:cNvPr id="25" name="TextBox 24"/>
          <p:cNvSpPr txBox="1"/>
          <p:nvPr/>
        </p:nvSpPr>
        <p:spPr>
          <a:xfrm>
            <a:off x="571500" y="500634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cost</a:t>
            </a:r>
          </a:p>
        </p:txBody>
      </p:sp>
      <p:sp>
        <p:nvSpPr>
          <p:cNvPr id="26" name="TextBox 25"/>
          <p:cNvSpPr txBox="1"/>
          <p:nvPr/>
        </p:nvSpPr>
        <p:spPr>
          <a:xfrm>
            <a:off x="3093720" y="500634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Historical commitment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62500"/>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local validator; direct node observations.</a:t>
            </a:r>
          </a:p>
        </p:txBody>
      </p:sp>
      <p:sp>
        <p:nvSpPr>
          <p:cNvPr id="32" name="TextBox 31"/>
          <p:cNvSpPr txBox="1"/>
          <p:nvPr/>
        </p:nvSpPr>
        <p:spPr>
          <a:xfrm>
            <a:off x="6179820" y="499658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a consensus proof or production test.</a:t>
            </a:r>
          </a:p>
        </p:txBody>
      </p:sp>
      <p:sp>
        <p:nvSpPr>
          <p:cNvPr id="33" name="Rounded Rectangle 32"/>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4" name="TextBox 33"/>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Historical M1 reproduction stays BLOCKED. M4 separately passes with a verified clean source baseline.</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evidence/chain-demo.json · M1 historical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G / COMMANDS AND PREREQUISITES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Reproduce the required real M4 gates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Use tested 55ed540 or a reviewed descendant; fresh build/evidence destinations and authorized source access.</a:t>
            </a:r>
          </a:p>
        </p:txBody>
      </p:sp>
      <p:sp>
        <p:nvSpPr>
          <p:cNvPr id="5" name="Rounded Rectangle 4"/>
          <p:cNvSpPr/>
          <p:nvPr/>
        </p:nvSpPr>
        <p:spPr>
          <a:xfrm>
            <a:off x="548640" y="1866900"/>
            <a:ext cx="11094720" cy="1424940"/>
          </a:xfrm>
          <a:prstGeom prst="roundRect">
            <a:avLst>
              <a:gd name="adj" fmla="val 6417"/>
            </a:avLst>
          </a:prstGeom>
          <a:solidFill>
            <a:srgbClr val="0B2233"/>
          </a:solidFill>
          <a:ln>
            <a:noFill/>
          </a:ln>
          <a:effectLst/>
        </p:spPr>
        <p:txBody>
          <a:bodyPr rtlCol="0" anchor="ctr"/>
          <a:lstStyle/>
          <a:p>
            <a:pPr algn="ctr"/>
          </a:p>
        </p:txBody>
      </p:sp>
      <p:sp>
        <p:nvSpPr>
          <p:cNvPr id="6" name="TextBox 5"/>
          <p:cNvSpPr txBox="1"/>
          <p:nvPr/>
        </p:nvSpPr>
        <p:spPr>
          <a:xfrm>
            <a:off x="762000" y="2034539"/>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BUILD PINNED HIVE / DETTA / PLN + CLEAN F1R3NODE</a:t>
            </a:r>
          </a:p>
        </p:txBody>
      </p:sp>
      <p:sp>
        <p:nvSpPr>
          <p:cNvPr id="7" name="TextBox 6"/>
          <p:cNvSpPr txBox="1"/>
          <p:nvPr/>
        </p:nvSpPr>
        <p:spPr>
          <a:xfrm>
            <a:off x="762000" y="239268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8" name="TextBox 7"/>
          <p:cNvSpPr txBox="1"/>
          <p:nvPr/>
        </p:nvSpPr>
        <p:spPr>
          <a:xfrm>
            <a:off x="762000" y="27584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scripts/build_m4.py &lt;FRESH_BUILD&gt;</a:t>
            </a:r>
          </a:p>
        </p:txBody>
      </p:sp>
      <p:sp>
        <p:nvSpPr>
          <p:cNvPr id="9" name="Rounded Rectangle 8"/>
          <p:cNvSpPr/>
          <p:nvPr/>
        </p:nvSpPr>
        <p:spPr>
          <a:xfrm>
            <a:off x="548640" y="3543300"/>
            <a:ext cx="11094720" cy="1424940"/>
          </a:xfrm>
          <a:prstGeom prst="roundRect">
            <a:avLst>
              <a:gd name="adj" fmla="val 6417"/>
            </a:avLst>
          </a:prstGeom>
          <a:solidFill>
            <a:srgbClr val="0B2233"/>
          </a:solidFill>
          <a:ln>
            <a:noFill/>
          </a:ln>
          <a:effectLst/>
        </p:spPr>
        <p:txBody>
          <a:bodyPr rtlCol="0" anchor="ctr"/>
          <a:lstStyle/>
          <a:p>
            <a:pPr algn="ctr"/>
          </a:p>
        </p:txBody>
      </p:sp>
      <p:sp>
        <p:nvSpPr>
          <p:cNvPr id="10" name="TextBox 9"/>
          <p:cNvSpPr txBox="1"/>
          <p:nvPr/>
        </p:nvSpPr>
        <p:spPr>
          <a:xfrm>
            <a:off x="762000" y="3710940"/>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VERIFY REGRESSIONS + NATIVE CHAIN + RECOVERY + READBACK</a:t>
            </a:r>
          </a:p>
        </p:txBody>
      </p:sp>
      <p:sp>
        <p:nvSpPr>
          <p:cNvPr id="11" name="TextBox 10"/>
          <p:cNvSpPr txBox="1"/>
          <p:nvPr/>
        </p:nvSpPr>
        <p:spPr>
          <a:xfrm>
            <a:off x="762000" y="4069079"/>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12" name="TextBox 11"/>
          <p:cNvSpPr txBox="1"/>
          <p:nvPr/>
        </p:nvSpPr>
        <p:spPr>
          <a:xfrm>
            <a:off x="762000" y="44348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scripts/verify_m4.py &lt;FRESH_BUILD&gt; --output &lt;FRESH_EVIDENCE&gt;</a:t>
            </a:r>
          </a:p>
        </p:txBody>
      </p:sp>
      <p:sp>
        <p:nvSpPr>
          <p:cNvPr id="13" name="TextBox 12"/>
          <p:cNvSpPr txBox="1"/>
          <p:nvPr/>
        </p:nvSpPr>
        <p:spPr>
          <a:xfrm>
            <a:off x="594360" y="531114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Read: manifest → same-artifact → readback → verification → regression summaries</a:t>
            </a:r>
          </a:p>
        </p:txBody>
      </p:sp>
      <p:sp>
        <p:nvSpPr>
          <p:cNvPr id="14" name="Rounded Rectangle 1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15" name="TextBox 1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Separate reader: scripts/readback_m4.py · DA get-only authority + read RPC · no caller journal or signer.</a:t>
            </a:r>
          </a:p>
        </p:txBody>
      </p:sp>
      <p:cxnSp>
        <p:nvCxnSpPr>
          <p:cNvPr id="16" name="Connector 15"/>
          <p:cNvCxnSpPr/>
          <p:nvPr/>
        </p:nvCxnSpPr>
        <p:spPr>
          <a:xfrm>
            <a:off x="548640" y="6393180"/>
            <a:ext cx="11094720" cy="0"/>
          </a:xfrm>
          <a:prstGeom prst="line">
            <a:avLst/>
          </a:prstGeom>
          <a:ln w="7620">
            <a:solidFill>
              <a:srgbClr val="C9D2D4"/>
            </a:solidFill>
          </a:ln>
          <a:effectLst/>
        </p:spPr>
      </p:cxnSp>
      <p:sp>
        <p:nvSpPr>
          <p:cNvPr id="17" name="TextBox 1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runbook.md · build_m4.py · verify_m4.py</a:t>
            </a:r>
          </a:p>
        </p:txBody>
      </p:sp>
      <p:sp>
        <p:nvSpPr>
          <p:cNvPr id="18" name="TextBox 1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H / OPERATIONAL SEMANTICS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Retry identities answer different questions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the logical cause while distinguishing transport replay from physical evaluation attempts.</a:t>
            </a:r>
          </a:p>
        </p:txBody>
      </p:sp>
      <p:sp>
        <p:nvSpPr>
          <p:cNvPr id="5" name="TextBox 4"/>
          <p:cNvSpPr txBox="1"/>
          <p:nvPr/>
        </p:nvSpPr>
        <p:spPr>
          <a:xfrm>
            <a:off x="670560" y="179070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IDENTITY / STATE</a:t>
            </a:r>
          </a:p>
        </p:txBody>
      </p:sp>
      <p:sp>
        <p:nvSpPr>
          <p:cNvPr id="6" name="TextBox 5"/>
          <p:cNvSpPr txBox="1"/>
          <p:nvPr/>
        </p:nvSpPr>
        <p:spPr>
          <a:xfrm>
            <a:off x="3528060" y="1790700"/>
            <a:ext cx="3756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528559" y="1790700"/>
            <a:ext cx="3992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ACTION</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Request / step ID</a:t>
            </a:r>
          </a:p>
        </p:txBody>
      </p:sp>
      <p:sp>
        <p:nvSpPr>
          <p:cNvPr id="10" name="TextBox 9"/>
          <p:cNvSpPr txBox="1"/>
          <p:nvPr/>
        </p:nvSpPr>
        <p:spPr>
          <a:xfrm>
            <a:off x="3528060" y="22402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immutable command intent</a:t>
            </a:r>
          </a:p>
        </p:txBody>
      </p:sp>
      <p:sp>
        <p:nvSpPr>
          <p:cNvPr id="11" name="TextBox 10"/>
          <p:cNvSpPr txBox="1"/>
          <p:nvPr/>
        </p:nvSpPr>
        <p:spPr>
          <a:xfrm>
            <a:off x="7528559" y="22402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body replays; changed body conflicts</a:t>
            </a:r>
          </a:p>
        </p:txBody>
      </p:sp>
      <p:sp>
        <p:nvSpPr>
          <p:cNvPr id="12" name="Rounded Rectangle 11"/>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3" name="TextBox 12"/>
          <p:cNvSpPr txBox="1"/>
          <p:nvPr/>
        </p:nvSpPr>
        <p:spPr>
          <a:xfrm>
            <a:off x="670560" y="285750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Logical derivation ID</a:t>
            </a:r>
          </a:p>
        </p:txBody>
      </p:sp>
      <p:sp>
        <p:nvSpPr>
          <p:cNvPr id="14" name="TextBox 13"/>
          <p:cNvSpPr txBox="1"/>
          <p:nvPr/>
        </p:nvSpPr>
        <p:spPr>
          <a:xfrm>
            <a:off x="3528060" y="285750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The same exact grounded conclusion</a:t>
            </a:r>
          </a:p>
        </p:txBody>
      </p:sp>
      <p:sp>
        <p:nvSpPr>
          <p:cNvPr id="15" name="TextBox 14"/>
          <p:cNvSpPr txBox="1"/>
          <p:nvPr/>
        </p:nvSpPr>
        <p:spPr>
          <a:xfrm>
            <a:off x="7528559" y="285750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Deduplicate admission and causal feedback</a:t>
            </a:r>
          </a:p>
        </p:txBody>
      </p:sp>
      <p:sp>
        <p:nvSpPr>
          <p:cNvPr id="16" name="Rounded Rectangle 15"/>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7" name="TextBox 16"/>
          <p:cNvSpPr txBox="1"/>
          <p:nvPr/>
        </p:nvSpPr>
        <p:spPr>
          <a:xfrm>
            <a:off x="670560" y="3474719"/>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Attempt key + reserved</a:t>
            </a:r>
          </a:p>
        </p:txBody>
      </p:sp>
      <p:sp>
        <p:nvSpPr>
          <p:cNvPr id="18" name="TextBox 17"/>
          <p:cNvSpPr txBox="1"/>
          <p:nvPr/>
        </p:nvSpPr>
        <p:spPr>
          <a:xfrm>
            <a:off x="670560" y="369905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slot</a:t>
            </a:r>
          </a:p>
        </p:txBody>
      </p:sp>
      <p:sp>
        <p:nvSpPr>
          <p:cNvPr id="19" name="TextBox 18"/>
          <p:cNvSpPr txBox="1"/>
          <p:nvPr/>
        </p:nvSpPr>
        <p:spPr>
          <a:xfrm>
            <a:off x="3528060" y="3474719"/>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physical evaluation opportunity</a:t>
            </a:r>
          </a:p>
        </p:txBody>
      </p:sp>
      <p:sp>
        <p:nvSpPr>
          <p:cNvPr id="20" name="TextBox 19"/>
          <p:cNvSpPr txBox="1"/>
          <p:nvPr/>
        </p:nvSpPr>
        <p:spPr>
          <a:xfrm>
            <a:off x="7528559" y="3474719"/>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Pending death spends slot; new key needs</a:t>
            </a:r>
          </a:p>
        </p:txBody>
      </p:sp>
      <p:sp>
        <p:nvSpPr>
          <p:cNvPr id="21" name="TextBox 20"/>
          <p:cNvSpPr txBox="1"/>
          <p:nvPr/>
        </p:nvSpPr>
        <p:spPr>
          <a:xfrm>
            <a:off x="7528559" y="369905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Committed C2 decision</a:t>
            </a:r>
          </a:p>
        </p:txBody>
      </p:sp>
      <p:sp>
        <p:nvSpPr>
          <p:cNvPr id="24" name="TextBox 23"/>
          <p:cNvSpPr txBox="1"/>
          <p:nvPr/>
        </p:nvSpPr>
        <p:spPr>
          <a:xfrm>
            <a:off x="3528060" y="409194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Saved authoritative admission outcome</a:t>
            </a:r>
          </a:p>
        </p:txBody>
      </p:sp>
      <p:sp>
        <p:nvSpPr>
          <p:cNvPr id="25" name="TextBox 24"/>
          <p:cNvSpPr txBox="1"/>
          <p:nvPr/>
        </p:nvSpPr>
        <p:spPr>
          <a:xfrm>
            <a:off x="7528559" y="409194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first; do not recalculate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causal feedback</a:t>
            </a:r>
          </a:p>
        </p:txBody>
      </p:sp>
      <p:sp>
        <p:nvSpPr>
          <p:cNvPr id="28" name="TextBox 27"/>
          <p:cNvSpPr txBox="1"/>
          <p:nvPr/>
        </p:nvSpPr>
        <p:spPr>
          <a:xfrm>
            <a:off x="670560" y="493349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receipt</a:t>
            </a:r>
          </a:p>
        </p:txBody>
      </p:sp>
      <p:sp>
        <p:nvSpPr>
          <p:cNvPr id="29" name="TextBox 28"/>
          <p:cNvSpPr txBox="1"/>
          <p:nvPr/>
        </p:nvSpPr>
        <p:spPr>
          <a:xfrm>
            <a:off x="3528060" y="470916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workflow credit for logical admission</a:t>
            </a:r>
          </a:p>
        </p:txBody>
      </p:sp>
      <p:sp>
        <p:nvSpPr>
          <p:cNvPr id="30" name="TextBox 29"/>
          <p:cNvSpPr txBox="1"/>
          <p:nvPr/>
        </p:nvSpPr>
        <p:spPr>
          <a:xfrm>
            <a:off x="7528559" y="470916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acknowledgment; do not credit</a:t>
            </a:r>
          </a:p>
        </p:txBody>
      </p:sp>
      <p:sp>
        <p:nvSpPr>
          <p:cNvPr id="31" name="TextBox 30"/>
          <p:cNvSpPr txBox="1"/>
          <p:nvPr/>
        </p:nvSpPr>
        <p:spPr>
          <a:xfrm>
            <a:off x="7528559" y="493349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twice</a:t>
            </a:r>
          </a:p>
        </p:txBody>
      </p:sp>
      <p:sp>
        <p:nvSpPr>
          <p:cNvPr id="32" name="Rounded Rectangle 31"/>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3" name="TextBox 32"/>
          <p:cNvSpPr txBox="1"/>
          <p:nvPr/>
        </p:nvSpPr>
        <p:spPr>
          <a:xfrm>
            <a:off x="670560" y="53263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Deadline / generation</a:t>
            </a:r>
          </a:p>
        </p:txBody>
      </p:sp>
      <p:sp>
        <p:nvSpPr>
          <p:cNvPr id="34" name="TextBox 33"/>
          <p:cNvSpPr txBox="1"/>
          <p:nvPr/>
        </p:nvSpPr>
        <p:spPr>
          <a:xfrm>
            <a:off x="670560" y="555071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watermark</a:t>
            </a:r>
          </a:p>
        </p:txBody>
      </p:sp>
      <p:sp>
        <p:nvSpPr>
          <p:cNvPr id="35" name="TextBox 34"/>
          <p:cNvSpPr txBox="1"/>
          <p:nvPr/>
        </p:nvSpPr>
        <p:spPr>
          <a:xfrm>
            <a:off x="3528060" y="53263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Durable limits across process restarts</a:t>
            </a:r>
          </a:p>
        </p:txBody>
      </p:sp>
      <p:sp>
        <p:nvSpPr>
          <p:cNvPr id="36" name="TextBox 35"/>
          <p:cNvSpPr txBox="1"/>
          <p:nvPr/>
        </p:nvSpPr>
        <p:spPr>
          <a:xfrm>
            <a:off x="7528559" y="53263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Do not reset, refund or implicitly retime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inference.py · derived_beliefs.py · attention.py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I / CHAIN CONTRACT + CODE LEDGER</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M4 adds one profile and two narrow native actions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ConsensusFinality signatures and legacy providers remain unchanged; fresh journals are required.</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SURFACE / OWNER</a:t>
            </a:r>
          </a:p>
        </p:txBody>
      </p:sp>
      <p:sp>
        <p:nvSpPr>
          <p:cNvPr id="6" name="TextBox 5"/>
          <p:cNvSpPr txBox="1"/>
          <p:nvPr/>
        </p:nvSpPr>
        <p:spPr>
          <a:xfrm>
            <a:off x="3337560" y="1790700"/>
            <a:ext cx="4480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 OR CODE</a:t>
            </a:r>
          </a:p>
        </p:txBody>
      </p:sp>
      <p:sp>
        <p:nvSpPr>
          <p:cNvPr id="7" name="TextBox 6"/>
          <p:cNvSpPr txBox="1"/>
          <p:nvPr/>
        </p:nvSpPr>
        <p:spPr>
          <a:xfrm>
            <a:off x="8061959" y="1790700"/>
            <a:ext cx="3459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RESPONSIBILITY</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Native commitment</a:t>
            </a:r>
          </a:p>
        </p:txBody>
      </p:sp>
      <p:sp>
        <p:nvSpPr>
          <p:cNvPr id="10" name="TextBox 9"/>
          <p:cNvSpPr txBox="1"/>
          <p:nvPr/>
        </p:nvSpPr>
        <p:spPr>
          <a:xfrm>
            <a:off x="670560" y="246461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11" name="TextBox 10"/>
          <p:cNvSpPr txBox="1"/>
          <p:nvPr/>
        </p:nvSpPr>
        <p:spPr>
          <a:xfrm>
            <a:off x="3337560" y="224028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integration/hive/commitment/</a:t>
            </a:r>
          </a:p>
        </p:txBody>
      </p:sp>
      <p:sp>
        <p:nvSpPr>
          <p:cNvPr id="12" name="TextBox 11"/>
          <p:cNvSpPr txBox="1"/>
          <p:nvPr/>
        </p:nvSpPr>
        <p:spPr>
          <a:xfrm>
            <a:off x="8061959" y="224028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command mapping; public</a:t>
            </a:r>
          </a:p>
        </p:txBody>
      </p:sp>
      <p:sp>
        <p:nvSpPr>
          <p:cNvPr id="13" name="TextBox 12"/>
          <p:cNvSpPr txBox="1"/>
          <p:nvPr/>
        </p:nvSpPr>
        <p:spPr>
          <a:xfrm>
            <a:off x="8061959" y="246461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progress</a:t>
            </a:r>
          </a:p>
        </p:txBody>
      </p:sp>
      <p:sp>
        <p:nvSpPr>
          <p:cNvPr id="14" name="Rounded Rectangle 13"/>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5" name="TextBox 14"/>
          <p:cNvSpPr txBox="1"/>
          <p:nvPr/>
        </p:nvSpPr>
        <p:spPr>
          <a:xfrm>
            <a:off x="670560" y="285750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Completed-result</a:t>
            </a:r>
          </a:p>
        </p:txBody>
      </p:sp>
      <p:sp>
        <p:nvSpPr>
          <p:cNvPr id="16" name="TextBox 15"/>
          <p:cNvSpPr txBox="1"/>
          <p:nvPr/>
        </p:nvSpPr>
        <p:spPr>
          <a:xfrm>
            <a:off x="670560" y="308183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accessor</a:t>
            </a:r>
          </a:p>
        </p:txBody>
      </p:sp>
      <p:sp>
        <p:nvSpPr>
          <p:cNvPr id="17" name="TextBox 16"/>
          <p:cNvSpPr txBox="1"/>
          <p:nvPr/>
        </p:nvSpPr>
        <p:spPr>
          <a:xfrm>
            <a:off x="3337560" y="285750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integration/hive/program/completed.py</a:t>
            </a:r>
          </a:p>
        </p:txBody>
      </p:sp>
      <p:sp>
        <p:nvSpPr>
          <p:cNvPr id="18" name="TextBox 17"/>
          <p:cNvSpPr txBox="1"/>
          <p:nvPr/>
        </p:nvSpPr>
        <p:spPr>
          <a:xfrm>
            <a:off x="8061959" y="285750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caller-owned acceptance and ack</a:t>
            </a:r>
          </a:p>
        </p:txBody>
      </p:sp>
      <p:sp>
        <p:nvSpPr>
          <p:cNvPr id="19" name="Rounded Rectangle 18"/>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20" name="TextBox 19"/>
          <p:cNvSpPr txBox="1"/>
          <p:nvPr/>
        </p:nvSpPr>
        <p:spPr>
          <a:xfrm>
            <a:off x="670560" y="3474719"/>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ConsensusFinality</a:t>
            </a:r>
          </a:p>
        </p:txBody>
      </p:sp>
      <p:sp>
        <p:nvSpPr>
          <p:cNvPr id="21" name="TextBox 20"/>
          <p:cNvSpPr txBox="1"/>
          <p:nvPr/>
        </p:nvSpPr>
        <p:spPr>
          <a:xfrm>
            <a:off x="670560" y="369905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adapter</a:t>
            </a:r>
          </a:p>
        </p:txBody>
      </p:sp>
      <p:sp>
        <p:nvSpPr>
          <p:cNvPr id="22" name="TextBox 21"/>
          <p:cNvSpPr txBox="1"/>
          <p:nvPr/>
        </p:nvSpPr>
        <p:spPr>
          <a:xfrm>
            <a:off x="3337560" y="3474719"/>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fusion/adapters/f1r3_m4.py</a:t>
            </a:r>
          </a:p>
        </p:txBody>
      </p:sp>
      <p:sp>
        <p:nvSpPr>
          <p:cNvPr id="23" name="TextBox 22"/>
          <p:cNvSpPr txBox="1"/>
          <p:nvPr/>
        </p:nvSpPr>
        <p:spPr>
          <a:xfrm>
            <a:off x="8061959" y="3474719"/>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Plan → signed intent → receipt →</a:t>
            </a:r>
          </a:p>
        </p:txBody>
      </p:sp>
      <p:sp>
        <p:nvSpPr>
          <p:cNvPr id="24" name="TextBox 23"/>
          <p:cNvSpPr txBox="1"/>
          <p:nvPr/>
        </p:nvSpPr>
        <p:spPr>
          <a:xfrm>
            <a:off x="8061959" y="369905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observations</a:t>
            </a:r>
          </a:p>
        </p:txBody>
      </p:sp>
      <p:sp>
        <p:nvSpPr>
          <p:cNvPr id="25" name="Rounded Rectangle 24"/>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6" name="TextBox 25"/>
          <p:cNvSpPr txBox="1"/>
          <p:nvPr/>
        </p:nvSpPr>
        <p:spPr>
          <a:xfrm>
            <a:off x="670560" y="409194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Signing boundary</a:t>
            </a:r>
          </a:p>
        </p:txBody>
      </p:sp>
      <p:sp>
        <p:nvSpPr>
          <p:cNvPr id="27" name="TextBox 26"/>
          <p:cNvSpPr txBox="1"/>
          <p:nvPr/>
        </p:nvSpPr>
        <p:spPr>
          <a:xfrm>
            <a:off x="3337560" y="409194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fusion/adapters/f1r3_signing.py</a:t>
            </a:r>
          </a:p>
        </p:txBody>
      </p:sp>
      <p:sp>
        <p:nvSpPr>
          <p:cNvPr id="28" name="TextBox 27"/>
          <p:cNvSpPr txBox="1"/>
          <p:nvPr/>
        </p:nvSpPr>
        <p:spPr>
          <a:xfrm>
            <a:off x="8061959" y="409194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Pinned serialization + registered local</a:t>
            </a:r>
          </a:p>
        </p:txBody>
      </p:sp>
      <p:sp>
        <p:nvSpPr>
          <p:cNvPr id="29" name="TextBox 28"/>
          <p:cNvSpPr txBox="1"/>
          <p:nvPr/>
        </p:nvSpPr>
        <p:spPr>
          <a:xfrm>
            <a:off x="8061959" y="431627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signer</a:t>
            </a:r>
          </a:p>
        </p:txBody>
      </p:sp>
      <p:sp>
        <p:nvSpPr>
          <p:cNvPr id="30" name="Rounded Rectangle 29"/>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31" name="TextBox 30"/>
          <p:cNvSpPr txBox="1"/>
          <p:nvPr/>
        </p:nvSpPr>
        <p:spPr>
          <a:xfrm>
            <a:off x="670560" y="470916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Explicit compatibility</a:t>
            </a:r>
          </a:p>
        </p:txBody>
      </p:sp>
      <p:sp>
        <p:nvSpPr>
          <p:cNvPr id="32" name="TextBox 31"/>
          <p:cNvSpPr txBox="1"/>
          <p:nvPr/>
        </p:nvSpPr>
        <p:spPr>
          <a:xfrm>
            <a:off x="3337560" y="470916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f1r3-generated-post-state/2</a:t>
            </a:r>
          </a:p>
        </p:txBody>
      </p:sp>
      <p:sp>
        <p:nvSpPr>
          <p:cNvPr id="33" name="TextBox 32"/>
          <p:cNvSpPr txBox="1"/>
          <p:nvPr/>
        </p:nvSpPr>
        <p:spPr>
          <a:xfrm>
            <a:off x="8061959" y="470916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f1r3-local · interface 1.0.0 · impl 0.4.0</a:t>
            </a:r>
          </a:p>
        </p:txBody>
      </p:sp>
      <p:sp>
        <p:nvSpPr>
          <p:cNvPr id="34" name="Rounded Rectangle 33"/>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5" name="TextBox 34"/>
          <p:cNvSpPr txBox="1"/>
          <p:nvPr/>
        </p:nvSpPr>
        <p:spPr>
          <a:xfrm>
            <a:off x="670560" y="532638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Bounded native</a:t>
            </a:r>
          </a:p>
        </p:txBody>
      </p:sp>
      <p:sp>
        <p:nvSpPr>
          <p:cNvPr id="36" name="TextBox 35"/>
          <p:cNvSpPr txBox="1"/>
          <p:nvPr/>
        </p:nvSpPr>
        <p:spPr>
          <a:xfrm>
            <a:off x="670560" y="555071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observation</a:t>
            </a:r>
          </a:p>
        </p:txBody>
      </p:sp>
      <p:sp>
        <p:nvSpPr>
          <p:cNvPr id="37" name="TextBox 36"/>
          <p:cNvSpPr txBox="1"/>
          <p:nvPr/>
        </p:nvSpPr>
        <p:spPr>
          <a:xfrm>
            <a:off x="3337560" y="532638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≤120 calls; stop starting after 180 s</a:t>
            </a:r>
          </a:p>
        </p:txBody>
      </p:sp>
      <p:sp>
        <p:nvSpPr>
          <p:cNvPr id="38" name="TextBox 37"/>
          <p:cNvSpPr txBox="1"/>
          <p:nvPr/>
        </p:nvSpPr>
        <p:spPr>
          <a:xfrm>
            <a:off x="8061959" y="532638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≤256 saved observations; explicit</a:t>
            </a:r>
          </a:p>
        </p:txBody>
      </p:sp>
      <p:sp>
        <p:nvSpPr>
          <p:cNvPr id="39" name="TextBox 38"/>
          <p:cNvSpPr txBox="1"/>
          <p:nvPr/>
        </p:nvSpPr>
        <p:spPr>
          <a:xfrm>
            <a:off x="8061959" y="555071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exhaustion</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M4 / contracts.md · ADR-013 · f1r3_m4.py</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Private cognition and verified chain commitments</dc:title>
  <dc:subject>Through M4: private cognition, delivery closure and native Hive-to-chain commitments</dc:subject>
  <dc:creator>Omega × ASI module-interface project</dc:creator>
  <cp:keywords>Omega, ASI, M4, ELI16, Hive, DeTTa, PLN, F1R3node, commitment, attention, recovery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