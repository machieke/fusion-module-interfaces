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ELI16 executive summary, then all fifteen module responsibilities and the exercised dependency maps. M1 established replaceable ports and independent commits; M1.2 connected real Hive; M2 added private memory and guarded revision; M3 adds independent short-term attention and bounded inference over an explicit workset. Suggested delivery: 40–45 minutes through slide 32; eight appendices support discussion. Evidence is the clean tested implementation 1af39794649d0ca95cd729c64868202368da1ec4 recorded by c4498ce3047f1283d3a4a3ae3d09b713e7dcf312. This deck update does not rerun integration gates or add runtime behavior.</a:t>
            </a:r>
          </a:p>
          <a:p/>
          <a:p>
            <a:r>
              <a:t>Source: M3 evidence c4498ce · tested 1af3979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ELI16 assumes a technically curious sixteen-year-old. The analogy explains responsibilities, not an additional experiment. C1 records occurrences and provenance. C2 distinguishes admission from numerical aggregation and retains disagreement. The pure providers reuse guarded Truth_Revision and one grounded Truth_Deduction rule. Their outputs remain model-specific heuristics, not proof of external truth or source independence. Derived conclusions inherit evidence roots and ancestry and add no observation or evidence count. Generated observations and operator assumptions remain fixtures, even when they travel through real runtimes.</a:t>
            </a:r>
          </a:p>
          <a:p/>
          <a:p>
            <a:r>
              <a:t>Source: M2 preserved · M3 derived admission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Short-term importance, or STI, is a simple deterministic priority score. It is separate from PLN truth values. C4 handles a fixed explicit workset; it does not invent new tasks or search the knowledge base. The measured two-task experiment changes initial attention to select the other task while keeping the one-attempt budget fixed. Attempts are durable physical evaluation opportunities. A crash after reservation spends the slot even if no result commits. Successful replay recovers recorded admission and feedback without extra native calls. These are local process-restart observations, not hard real-time or production-quality claims.</a:t>
            </a:r>
          </a:p>
          <a:p/>
          <a:p>
            <a:r>
              <a:t>Source: C3 attention · C4 bounded inference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fifteen responsibility groups remain visible. C1/C2 implement private memory and beliefs; M3 adds independent STI and bounded C4 plus a pure kernel for one grounded rule. Relations and Search remain specifications. Attention implements a bounded reference policy, not ECAN, LTI or the coupled metta-attention algorithm. RevisionMath is separate from PLNKernel.applyRule. Hive consumes these modules; a module need not be a separate process or repository. Blue means implemented local contracts, not production readiness. Authorization uses real Hive authentication followed by local test policy. Finality retains historical M1 evidence only; CHAIN is NOT_RUN in M3. Maintainer assignments remain unassigned.</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AtomStorage owns immutable scoped references and replay metadata, while DA only persists opaque payloads and generic coordinates. Relations and Search remain typed specifications. C1's local v2 operations are recordEpisode, appendEvent, readEpisode, readEvidence, pendingEvidence and trusted acknowledgeEvidence. findEpisodes is not advertised. C1 preserves committed episode-local order and admitted provenance; observed time is metadata. It can run without C2 or PLN and against an independently implemented AtomStorage fixture. Its event bytes are immutable atoms, while its episode head and delivery intents belong to C1.</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implements the bounded sti-additive-linear-decay/1 reference policy, not ECAN or the inspected metta-attention implementation. C4 owns selection and physical attempt reservations; it depends on AtomStorage, Attention, DerivedBeliefRevision and PrivateAuthority. It does not call PLNKernel directly. C2 depends on AtomStorage, C1 readEvidence, RevisionMath, PLNKernel and PrivateAuthority. The pure kernel owns no belief, agenda or attention state. M2 revision-only local v2 remains selectable; derived private C2 is a fresh local v3 profile.</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acceptance differs from delivery and acknowledgement. Execution accepts only inspect_atom and owns jobs plus its completion outbox; result atoms commit independently. The registry advertises descriptors, and the resolver matches consumer requirements. Neither grants permission. Finality records independent chain observations from historical M1; it is not a C1/C2 dependency. Native authentication supplies trusted actor context, while local Fusion policy determines current access. The preserved M2 relay is a narrow delivery cursor between C1 and C2. M3 C4 separately owns its bounded step journal; neither grants authority.</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exercised port graph, not a proposed future cognitive loop. C4 reads immutable task/workset atoms and C2 snapshots, asks Attention to select, reserves work, then submits or recovers a C2 derivation. C2 reads evidence from C1, invokes pure PLNKernel or RevisionMath and alone commits admitted support. The Hive scenario also records a private episode and seeds exact inputs; those setup edges are omitted for readability. C3 depends only on PrivateAuthority and opaque-reference syntax, not AtomStorage, C1/C2, PLN or Hive. Every owner checks live authority and descriptors; omitted authority arrows apply to all calls. The M2 relay remains supported under its original profile; M3 v3 responses do not masquerade as M2 C1 acknowledgments.</a:t>
            </a:r>
          </a:p>
          <a:p/>
          <a:p>
            <a:r>
              <a:t>Source: cognition.py · ports.py ·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real native dispatch into the thin plugin, which holds a caller-owned receipt and uses Subprocess/Peer through descriptor-bound validation. Direct storage, messaging and execution calls all cross the same authenticated boundary. Trusted composition supplies concrete owners; the plugin never constructs them or accesses their tables. Messaging.send validates the referenced bytes through caller-authorized AtomStorage.get; Execution.submit reads the input before accepting a new job. The worker calls declared AtomStorage get/create, then execution commits terminal state/outbox. CompletionDelivery.accept belongs to the mailbox owner and commits separately. Chain remains a separate, uninvoked adapter. This is a logical call map; it does not force one process per module.</a:t>
            </a:r>
          </a:p>
          <a:p/>
          <a:p>
            <a:r>
              <a:t>Source: program.py · ports.py · execution.py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unchanged DA boundary is exercised against a freshly fetched clean secured-contract-spaces revision 272888f264dd2dde18b574cabb53c266b0dac2ec. No Hive-specific schema is added to DeTTa. Application references and replay semantics belong above opaque DA. Conformance removes the cached payload and two erasure shares and verifies reconstruction; three missing shares and corruption fail explicitly. This is actual local library execution, not a validator/custody network or an indefinite-retention claim. The independent atomic-file provider is an AtomStorage contract fixture, not a second DA network. The clean-source rebaseline excludes historical dirty storage-format and custody-pruning additions and reruns applicable tests.</a:t>
            </a:r>
          </a:p>
          <a:p/>
          <a:p>
            <a:r>
              <a:t>Source: adapters/detta/src/main.rs · test_contract.py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storage matrix has two implementations times two bindings. C1 is independently exercised without cognition using hostile declared-port wrappers. M3 attention replacement uses a separately implemented atomic-file provider; only DTO validation is shared with the SQLite implementation. Four controlled native cases hold exact task/evidence identities, policy, budgets and deadline fixed while selecting the provider in composition. Separate initial-preference cases show the selection effect. Both replacements persist actual state, but the file implementations remain classified fixtures rather than real DeTTa or a production attention service. This demonstrates same-profile replacement on fresh stores, not live migration.</a:t>
            </a:r>
          </a:p>
          <a:p/>
          <a:p>
            <a:r>
              <a:t>Source: m11-swap-demo.json · m3/final/comparison.json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native plugin receives authenticated actor context and derives authority from operator configuration. Request parameters cannot select credentials, arbitrary scopes or private premise identities. Public parameters are generated seed, preference a/b and an absolute deadline. Privacy tests intercept shared bindings, populate shared stores and inspect native receipts/logs/state for canaries and private hashes. This is tested local placement under a trusted operator/host, not secrecy from administrators. Each journal has one owner and commits independently; there is no cross-owner SQL transaction.</a:t>
            </a:r>
          </a:p>
          <a:p/>
          <a:p>
            <a:r>
              <a:t>Source: cognition.py · inference_program/program.py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contracts use closed bounded DTOs and detach nested request inputs before authorization or foreign calls. A task binds P,Q,R,P⇒Q,Q⇒R to exact private references. Premise vectors record each belief's historical revision and support ID; the upstream knowledge revision of zero is only a local evaluation ID, not a global ledger. Derived support tags distinguish observation, two-local-premise revision and five-foreign-premise deduction. C2 local v3 is explicit and does not widen M2 v2. WorkBudget contains an absolute Unix-ms deadline, max_candidates, max_rule_applications and max_feedback_generation. Historical reads and recovered owner responses are validated against the exact request.</a:t>
            </a:r>
          </a:p>
          <a:p/>
          <a:p>
            <a:r>
              <a:t>Source: attention_contracts.py · cognition_contracts.py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illustrated event roles match the generated story. Each immutable event is referenced by an AtomRef; the episode head begins at zero and advances by one for accepted occurrences. A duplicate occurrence with the same semantic content returns its original receipt before a stale expected-head check, even under a new request key. Changed content or provenance for that occurrence conflicts. Distinct occurrences can have identical bytes. Payload persistence can precede episode commit and leave an orphan after death; replay recovers the same atom without inventing an acknowledged event. C1 exposes bounded reads, pending evidence and trusted acknowledgements, with no cognition dependency. No dynamic episode search or garbage collector is implemented.</a:t>
            </a:r>
          </a:p>
          <a:p/>
          <a:p>
            <a:r>
              <a:t>Source: episodes.py · tests/test_m2.py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preserved observation admission. M3 adds a separate derivation command with inherited evidence, described next. The first eligible explicit assessment initializes the aggregate. Later evidence is retained without automatic aggregation unless an exact pair assumption and guards permit revision. Unknown origins cannot initialize a justified numerical aggregate. A report without numerical assessment is model-inapplicable. The ledger retains observations, support records, immutable snapshots and exact decisions. A later authorized independence declaration may combine already admitted supports, without creating another observation. Exact successful replay returns the original historical decision even after later revisions; a new-key duplicate returns current state without adding weight. Retained-alternative is a pair outcome, so an already covered ancestor need not produce a new alternative list entry or revision. Coverage fields state the actual result.</a:t>
            </a:r>
          </a:p>
          <a:p/>
          <a:p>
            <a:r>
              <a:t>Source: beliefs.py · memory_types.py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foreign premises are not five independent observations of the output claim. local-admitted-supports/1 treats the deduction as one local support unit with its inherited evidence/root union. Logical derivation identity is independent of request/step IDs, deadlines and output CAS. A duplicate cannot gain another admission or causal feedback credit. A separately authorized independence assumption can request the unchanged guarded native revision of eligible supports. Derive → revise retains grounded ancestry; a cyclic subsequent deduction is refused. Claims remain heuristic and lineage-aware, not calibrated uncertainty or proven entailment.</a:t>
            </a:r>
          </a:p>
          <a:p/>
          <a:p>
            <a:r>
              <a:t>Source: derived_beliefs.py · pln_deduction.py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unchanged Reachability dd56f3f implementation invokes PLN 4405956 Truth_Deduction on PeTTa ae66fa8 and SWI source 6977543, version 10.1.14. The exact runtime profile is fusion-petta-swi-10.1.14-deduction/1. No PLN.Derive, PLN.Query or task search is used. The Q&gt;0.9999 branch and its assumptions remain upstream semantics and are tested. Kernel source checks and native subprocesses use the remaining absolute deadline. This pure component owns no belief, agenda or attention state. Source drift, malformed output and timeout are explicit refusals, with fault injections labelled in the native suite.</a:t>
            </a:r>
          </a:p>
          <a:p/>
          <a:p>
            <a:r>
              <a:t>Source: deduction-sources.json · integration/pln/test_deduction.py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M3 golden has five ordered premises and uses the actual native Truth_Deduction. Expected values are independent test oracles, not production mathematics. M2 revision goldens still pass in the M3 regression, including reversed unequal pairs. Native suites include actual computation plus explicitly injected malformed responses, timeouts, source-drift clones and authorization/CAS interleavings. Fifteen upstream guard-only tests use RecordingRuntime and are not counted as native numerical evaluation. Evidence_count remains null, and a derived conclusion never turns into a fresh independent observation.</a:t>
            </a:r>
          </a:p>
          <a:p/>
          <a:p>
            <a:r>
              <a:t>Source: test_deduction.py · preserved test_revision.py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policy is frozen in its identity. Bounds are 16 targets, 16 advance steps per call, eight contexts, 512 causes per context, 1024 commands per owner and feedback generation three. Capacities refuse without silent eviction of acknowledged commands. Stimulus saturation is min(amount, Smax-current); total context budget is enforced atomically. Successful replay is checked before logical clock CAS under live authorization. Causal deduplication is independent of request identity; changing a causal body conflicts. Fresh feedback follows the target's current causal parent and next generation. metta-attention 3e1c8147 was inspected but not integrated because it couples STI/LTI/VLTI, wages and shared funds. C3 has no hidden dependency on AtomStorage, C1, C2, PLN or Hive.</a:t>
            </a:r>
          </a:p>
          <a:p/>
          <a:p>
            <a:r>
              <a:t>Source: attention.py · fixture_attention.py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fresh cases use two tasks, five premises per task, ten generated observations, two episodes and twelve claim atoms. Held fixed: exact task/evidence refs, policy parameters, one-attempt/two-candidate budgets, absolute deadline and logical schedule. Separate preference cases exchange initial scores 20/10 and 10/20. Only composition chooses SQLite or the independently implemented file fixture; no consumer code changes. Every result records examined=2, reserved=1, completed=1, refused=0, unique admission=1 and feedback_applied=1, ending at rule-budget. The second candidate is counted before discovering the exhausted rule budget. Preparation takes about 11.5–11.8 seconds and is separate from the reported step time. Store sizes are 1,040,671 and 1,020,409 bytes respectively. These are one-run local measurements, not throughput or cognitive-quality evidence.</a:t>
            </a:r>
          </a:p>
          <a:p/>
          <a:p>
            <a:r>
              <a:t>Source: m3/final/comparison.json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C4 counts a candidate before resolving it, including unresolved or refused candidates. It commits reservation before dispatch and queries a prior C2 decision first during recovery. C2 persists semantic intent before evaluation, evaluates outside its commit transaction, then rechecks authority and output CAS. A killed pending attempt needs a new reserved slot/key; a committed decision is read back without evaluation. Logical derivation identity is distinct from transport request, controller step, attempt key, deadline and output CAS. Feedback is a fixed one-unit workflow signal tied to logical derivation identity, never a truth update. Absolute Unix-ms deadline survives restart; scheduling/file I/O remain cooperative, not hard real-time.</a:t>
            </a:r>
          </a:p>
          <a:p/>
          <a:p>
            <a:r>
              <a:t>Source: inference.py · deadlines.py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native recovery methods cover ten actual SIGKILL cases: stimulus commit for both attention providers; reservation and kernel-return loss under budgets one and two; belief/feedback recovery for both providers. The real Hive suite adds five actual caller kills across the same boundaries. A one-slot loss conservatively exhausts the budget; a two-slot case may recover one logical admission after another physical calculation. Thus there is no claim of exactly one physical calculation per logical derivation. Committed admission and feedback are duplicate-safe. This is intact-local-file, same-host process restart, not reboot, power loss or distributed failover.</a:t>
            </a:r>
          </a:p>
          <a:p/>
          <a:p>
            <a:r>
              <a:t>Source: test_m3_recovery.py · test_m3_integration.py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records are copied before foreign calls and authorization so a malicious boundary cannot mutate the retained command. Recovered C2 and attention responses are checked against exact owner/request identities and semantics. Current principal, scope, method and descriptor permissions apply on every invocation. The assumption permission for revision remains separate. Native proposal calculation runs outside the owner commit transaction; final authorization and expected output revision are rechecked afterward. A concurrent attention clock change can leave pending feedback with CONFLICT. The controller records this state rather than silently rewriting the logical schedule. These are local trusted-authority guarantees, not a production identity system.</a:t>
            </a:r>
          </a:p>
          <a:p/>
          <a:p>
            <a:r>
              <a:t>Source: cognition.py · derived_beliefs.py · tests/test_m3.py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pinned Hive create_app, authenticated Programs dispatch, default Supervisor and native PeTTa run in the integration. The narrow sibling plugin uses native assessment role, action infer-generated, and trusted actor mapping. ASGI TestClient, identities, observations and operator assumptions are fixtures; the runtime, DeTTa and formula execution are actual providers. The plugin owns caller intent/receipt and invokes the private scenario; it owns no belief, STI or controller state. Eight native tests cover completion, duplicate-safe admission/feedback, restart, independent attention replacement, five real caller kills, authority and privacy. The diagram summarizes the call sequence; each owner commits independently. M1 fusion-inspect and M2 fusion-episode remain supported and rerun in regression.</a:t>
            </a:r>
          </a:p>
          <a:p/>
          <a:p>
            <a:r>
              <a:t>Source: inference_program/program.py · test_m3_integration.py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depicts the explicitly configured STI scores in the controlled scenarios, not a learned score or performance estimate. The comparison exercises both preferences with both providers; the real Hive tests separately exercise actual native action and replacement. A step freezes the ranked selection. Subsequent feedback affects a later step, not the order already accepted. C4 examines two candidates but reserves and executes only one attempt, so terminal reason is rule-budget. All four comparison cases recover identical receipts after reopening owners and invoke the native formula zero additional times on successful replay. Cognitive usefulness of the chosen conclusion is not measured.</a:t>
            </a:r>
          </a:p>
          <a:p/>
          <a:p>
            <a:r>
              <a:t>Source: m3/final/comparison.json · native Hive scenario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kernel/admission includes actual formula executions plus labelled malformed-response, timeout, source-drift and authorization/CAS fault cases. The fifteen upstream guard tests use RecordingRuntime. Both attention providers persist state, but the independent file provider retains fixture classification. Real Hive uses fixture identities, generated inputs and TestClient transport; its default Supervisor and Programs runtime are actual. Optional historical chain observations remain separate and are not a new M3 chain pass. Historical SWI 10.0.1, the full Hive suite and hard real-time behavior are unrun. The fresh build uses warm download caches, not reused native objects.</a:t>
            </a:r>
          </a:p>
          <a:p/>
          <a:p>
            <a:r>
              <a:t>Source: m3/manifest.json · m3-evidence.md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 baseline includes original 51 fixtures; aggregate 118; upstream DeTTa 62+38; Hive baseline 34 and unchanged M1.2 integration 13; M2 fixtures 16, guard fixtures 8, native revision 12, recovery/privacy 6, native Hive 7 and demo. M3 adds isolated attention five, contracts seven, upstream guard fixtures fifteen, mixed native kernel/admission thirteen, direct recovery three methods/ten cases, native Hive eight and comparison four cases. Do not sum repeated subsets as unique tests. Command durations and exact source/file hashes are machine-recorded. Supplemental empty-selection and zero-native-budget checks are fixtures at the same clean SHA. No integration test was rerun merely to rebuild this presentation.</a:t>
            </a:r>
          </a:p>
          <a:p/>
          <a:p>
            <a:r>
              <a:t>Source: m3/final/verification.json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Statuses are read from the committed M3 manifest and match the final verifier. A pass applies to the gate's stated evidence, not to every possible provider or deployment. REPRO explicitly uses warm download caches but fresh build outputs. CHAIN is NOT_RUN and no required M3 prerequisite is blocked. Exact historical chain-source reproduction remains blocked by unavailable dirty inputs, a separate historical question. SCOPE excludes LTI, general search, new attention research, live migration and chain. All source, log and implementation hashes are retained for audit.</a:t>
            </a:r>
          </a:p>
          <a:p/>
          <a:p>
            <a:r>
              <a:t>Source: m3/manifest.json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Statuses are read from the committed M3 manifest and match the final verifier. A pass applies to the gate's stated evidence, not to every possible provider or deployment. REPRO explicitly uses warm download caches but fresh build outputs. CHAIN is NOT_RUN and no required M3 prerequisite is blocked. Exact historical chain-source reproduction remains blocked by unavailable dirty inputs, a separate historical question. SCOPE excludes LTI, general search, new attention research, live migration and chain. All source, log and implementation hashes are retained for audit.</a:t>
            </a:r>
          </a:p>
          <a:p/>
          <a:p>
            <a:r>
              <a:t>Source: m3/manifest.json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Requested ancestor f0cee248294a1fce42913782390e6c084025c67e; actual starting descendant 926882afb9ab9c7288bf663f96f9e1ca63dd8520; tested source 1af39794649d0ca95cd729c64868202368da1ec4; evidence-only descendant c4498ce3047f1283d3a4a3ae3d09b713e7dcf312. Build_m3.py wraps the byte-identical M2 recipe and adds the separately selected deduction configuration. All exercised upstream sources were clean at their pins. Historical M2 SWI binary identity differs from the fresh M3 build and is not silently equated. Exact hashes, versions, command arguments, durations and JUnit results are committed. Provider environment files can contain local configuration and are deliberately excluded from published evidence. This deck hashes its evidence inputs and audits the archive without modifying it.</a:t>
            </a:r>
          </a:p>
          <a:p/>
          <a:p>
            <a:r>
              <a:t>Source: m3/build.json · manifest.json · final/verification.json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M3 admission path is durable and duplicate-safe, but generated C1 delivery intents remain available and pending because M3 v3 snapshots cannot be passed as M2 v2 acknowledgment DTOs. The original M2 relay/ack tests still pass under the original profile; no fabricated acknowledgment or silent widening was introduced. An absolute deadline can finish a bounded step with pending work, and a concurrent attention clock change is not implicitly retimed. No exactly-one physical calculation, hard real-time, reboot, administrator secrecy, distributed failover, live migration, production throughput or cognitive-quality claim is made. Origin/independence assertions remain operator assumptions. Specialist maintainer ownership is unassigned.</a:t>
            </a:r>
          </a:p>
          <a:p/>
          <a:p>
            <a:r>
              <a:t>Source: m3-evidence.md · compatibility and recovery limits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executive summary. C1 remembers occurrences; C2 owns admitted beliefs and inherited evidence; the pure PLN kernel calculates; C3 ranks; C4 reserves and reconciles bounded work. The practical result is one actual native Hive inference action and a controlled independent attention replacement, preserving the M1/M2 application-neutral DA and authorization boundaries. The result is bounded local integration, not general reasoning or production deployment. All thirteen required gates pass, no supported prerequisite is blocked, and chain remains NOT_RUN. The deck and this work stop at M3.</a:t>
            </a:r>
          </a:p>
          <a:p/>
          <a:p>
            <a:r>
              <a:t>Source: M3 tested 1af3979 · evidence c4498ce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Paths are relative to fusion/ unless marked hive/, which is under integration/. ports.py declares the protocols; attention_contracts.py and cognition_contracts.py enforce the executable bounded schemas. Shared DTO validators are permitted in the independent fixture, shared owner transitions are not. C2 default M2 behavior remains via its original validators and profile; the derived owner selects fresh v3 behavior. The native plugin uses integration/m3_scenario.py and holds only caller intent and public receipt. No owner reaches into another owner's private SQL. Tests and exact source hashes are indexed in the M3 machine manifest.</a:t>
            </a:r>
          </a:p>
          <a:p/>
          <a:p>
            <a:r>
              <a:t>Source: architecture.md · ports.py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commit c4498ce3047f1283d3a4a3ae3d09b713e7dcf312. Full inspected metta-attention revision: 3e1c8147dc17299d17ab34720334fc19277cb6a9, clean. Its coupled STI/LTI/VLTI, wages and funds are not silently adopted. Runtime profile: fusion-petta-swi-10.1.14-deduction/1; rule profile: grounded-five-premise-deduction/1; truth model: trueagi-pln-stv-finite-k1/v1. PLN library SHA-256 cdfb3f18bd7b336440fc7b4409209afddf0e64c41f17dee7eefc8f02718de433. Fresh SWI binary SHA-256 2a9b28b46f54f5eb0a8e1c79bb201c50b8acbbd5c180875ea8a5bca4e8617dfc. Native Python 3.12.12, Janus 1.5.3; fixture runner Python 3.11.14. All exercised source checkouts were clean. No upstream formula or runtime implementation was patched. Historical SWI 10.0.1 remains unrun.</a:t>
            </a:r>
          </a:p>
          <a:p/>
          <a:p>
            <a:r>
              <a:t>Source: m3/final/verification.json · build.json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attention profile sti-additive-linear-decay/1: decay one, max targets sixteen, max advance sixteen, contexts eight, causes/context 512, commands/owner 1024 and feedback generation three. Kernel and C4 local interfaces are 2.0.0. Kernel runtime profile fusion-petta-swi-10.1.14-deduction/1 is separate from revision-only; M2 pln-revision-private/1 remains unchanged/default. The derived profile has three closed support forms and explicit local-admitted-supports/1 coverage. WorkBudget names candidates, physical rule opportunities, feedback generation and absolute Unix-ms deadline. Capacity exhaustion is explicit refusal, not eviction or automatic scope expansion. Interface version, algorithm profile, runtime identity, permissions and selected descriptor all matter.</a:t>
            </a:r>
          </a:p>
          <a:p/>
          <a:p>
            <a:r>
              <a:t>Source: contracts.md · cognition.py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M3 does not solve this seam with a generic event bus, migration or a false success receipt. Generated C1 intents remain available and pending; direct M3 evidence/derivation admission and replay are nevertheless durable. The dashed bracket marks an incompatible response seam, not an executed call. The original M2 path retains its own supported DTO and acknowledgment behavior. A bounded step can also finish with unacknowledged work because an attempt was lost, a deadline elapsed or the attention clock advanced before feedback. Read the precise receipt counters and pending state instead of treating completion as global convergence.</a:t>
            </a:r>
          </a:p>
          <a:p/>
          <a:p>
            <a:r>
              <a:t>Source: m3-evidence.md · C1/C2 version boundary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effects originate in the real native operation, not a renamed protocol demo. The caller first commits its original intent. AtomStorage persists generated bytes in actual DeTTa, then Messaging accepts a reference for the explicitly labelled fixture counterparty. DelegatedExecution accepts only inspect_atom under the original key and correlation. The caller records the accepted job. A separate real worker reads/persists through AtomStorage, then commits execution terminal state/outbox. Messaging accepts the completion in a separate transaction. The final arrow summarizes reconciliation: status /2 restores known correlation, poll and get verify the completion, caller acceptance commits, and a stable-key acknowledgement follows. This is not one distributed transaction.</a:t>
            </a:r>
          </a:p>
          <a:p/>
          <a:p>
            <a:r>
              <a:t>Source: program.py · execution.py · messaging.py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this historical result without promoting it into the new real-caller gate. The M1 chain JSON records pending, included with effect finality Pending, then finalized, at height 3 with no execution error, no rejection and cost 351 phlo. The committed digest belongs to the original protocol-peer result, not the generated native Hive result in M1.2. The M1 adapter used a registered approved digest, injected signer and durable signed intent against one isolated local node. That source had local changes and an untracked input. Exact historical reproduction remains blocked until those authorized bytes are supplied or a different clean revision is separately validated. No chain process or transaction was run during M1.2, M2, M3 or this presentation update. Finality does not establish indefinite off-chain availability.</a:t>
            </a:r>
          </a:p>
          <a:p/>
          <a:p>
            <a:r>
              <a:t>Source: evidence/chain-demo.json · M1 historical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Linux build prerequisites and authorized SSH access to exact Hive/DeTTa sources are documented in the runbook; public HTTPS retrieves the pinned Reachability/PLN sources. New native objects, Python/Janus venv and DeTTa Cargo target are built in a fresh directory. Download caches may be warm. build_m3.py preserves the M2 build recipe and adds the explicit deduction profile. verify_m3.py runs M2 regression, isolated M3 fixtures, upstream guards, native deduction/admission, actual process kills, real native Hive and controlled substitution. The final record was executed from clean detached /tmp/fusion-m3-verify-1af3979. Do not publish broad local environment files. Deck generation is a separate documentation operation and does not rerun these gates.</a:t>
            </a:r>
          </a:p>
          <a:p/>
          <a:p>
            <a:r>
              <a:t>Source: runbook.md · build_m3.py · verify_m3.py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derivation's logical ID excludes request/step identity, output CAS and deadline so a retry cannot manufacture new independent support. An attempt key freezes its exact semantic body and is evaluated at most once; a killed pending attempt consumes a physical reservation. Multiple physical calculations for one logical derivation remain possible under distinct reserved attempts. C2 commits its decision before C4 progress; C3 commits feedback before C4 acknowledgment. Recovery queries those owners rather than inferring success from a missing local reply. Feedback_applied counts acknowledged unique logical credits; feedback_duplicate records suppression on duplicate admission. Fixed feedback adds no truth evidence. The semantics distinguish bounded termination, successful admission and fully acknowledged work.</a:t>
            </a:r>
          </a:p>
          <a:p/>
          <a:p>
            <a:r>
              <a:t>Source: inference.py · derived_beliefs.py · attention.py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233"/>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AAC0CC"/>
                </a:solidFill>
                <a:latin typeface="DejaVu Sans"/>
              </a:rPr>
              <a:t>MODULE-INTERFACE ARCHITECTURE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FFFFFF"/>
                </a:solidFill>
                <a:latin typeface="DejaVu Sans"/>
              </a:rPr>
              <a:t/>
            </a:r>
          </a:p>
        </p:txBody>
      </p:sp>
      <p:sp>
        <p:nvSpPr>
          <p:cNvPr id="4" name="TextBox 3"/>
          <p:cNvSpPr txBox="1"/>
          <p:nvPr/>
        </p:nvSpPr>
        <p:spPr>
          <a:xfrm>
            <a:off x="548640" y="1287780"/>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Remember the evidence.</a:t>
            </a:r>
          </a:p>
        </p:txBody>
      </p:sp>
      <p:sp>
        <p:nvSpPr>
          <p:cNvPr id="5" name="TextBox 4"/>
          <p:cNvSpPr txBox="1"/>
          <p:nvPr/>
        </p:nvSpPr>
        <p:spPr>
          <a:xfrm>
            <a:off x="548640" y="1918716"/>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Choose where to focus.</a:t>
            </a:r>
          </a:p>
        </p:txBody>
      </p:sp>
      <p:sp>
        <p:nvSpPr>
          <p:cNvPr id="6" name="TextBox 5"/>
          <p:cNvSpPr txBox="1"/>
          <p:nvPr/>
        </p:nvSpPr>
        <p:spPr>
          <a:xfrm>
            <a:off x="548640" y="2549652"/>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Bound the work.</a:t>
            </a:r>
          </a:p>
        </p:txBody>
      </p:sp>
      <p:sp>
        <p:nvSpPr>
          <p:cNvPr id="7" name="TextBox 6"/>
          <p:cNvSpPr txBox="1"/>
          <p:nvPr/>
        </p:nvSpPr>
        <p:spPr>
          <a:xfrm>
            <a:off x="579120" y="3665219"/>
            <a:ext cx="9525000" cy="409651"/>
          </a:xfrm>
          <a:prstGeom prst="rect">
            <a:avLst/>
          </a:prstGeom>
          <a:noFill/>
        </p:spPr>
        <p:txBody>
          <a:bodyPr wrap="none" lIns="0" rIns="0" tIns="0" bIns="0" anchor="t" anchorCtr="0">
            <a:noAutofit/>
          </a:bodyPr>
          <a:lstStyle/>
          <a:p>
            <a:pPr algn="l">
              <a:lnSpc>
                <a:spcPct val="100000"/>
              </a:lnSpc>
              <a:spcBef>
                <a:spcPts val="0"/>
              </a:spcBef>
              <a:spcAft>
                <a:spcPts val="0"/>
              </a:spcAft>
            </a:pPr>
            <a:r>
              <a:rPr sz="2520" b="0">
                <a:solidFill>
                  <a:srgbClr val="AAC0CC"/>
                </a:solidFill>
                <a:latin typeface="DejaVu Sans"/>
              </a:rPr>
              <a:t>Omega Hive × ASI</a:t>
            </a:r>
          </a:p>
        </p:txBody>
      </p:sp>
      <p:sp>
        <p:nvSpPr>
          <p:cNvPr id="8" name="TextBox 7"/>
          <p:cNvSpPr txBox="1"/>
          <p:nvPr/>
        </p:nvSpPr>
        <p:spPr>
          <a:xfrm>
            <a:off x="579120" y="4191000"/>
            <a:ext cx="105918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0">
                <a:solidFill>
                  <a:srgbClr val="FFFFFF"/>
                </a:solidFill>
                <a:latin typeface="DejaVu Sans"/>
              </a:rPr>
              <a:t>Private memory, independent attention and guarded native inference</a:t>
            </a:r>
          </a:p>
        </p:txBody>
      </p:sp>
      <p:sp>
        <p:nvSpPr>
          <p:cNvPr id="9" name="Rounded Rectangle 8"/>
          <p:cNvSpPr/>
          <p:nvPr/>
        </p:nvSpPr>
        <p:spPr>
          <a:xfrm>
            <a:off x="579120" y="5151120"/>
            <a:ext cx="2054884" cy="289560"/>
          </a:xfrm>
          <a:prstGeom prst="roundRect">
            <a:avLst>
              <a:gd name="adj" fmla="val 18421"/>
            </a:avLst>
          </a:prstGeom>
          <a:solidFill>
            <a:srgbClr val="DCEFE8"/>
          </a:solidFill>
          <a:ln>
            <a:noFill/>
          </a:ln>
          <a:effectLst/>
        </p:spPr>
        <p:txBody>
          <a:bodyPr rtlCol="0" anchor="ctr"/>
          <a:lstStyle/>
          <a:p>
            <a:pPr algn="ctr"/>
          </a:p>
        </p:txBody>
      </p:sp>
      <p:sp>
        <p:nvSpPr>
          <p:cNvPr id="10" name="TextBox 9"/>
          <p:cNvSpPr txBox="1"/>
          <p:nvPr/>
        </p:nvSpPr>
        <p:spPr>
          <a:xfrm>
            <a:off x="685800" y="5204460"/>
            <a:ext cx="1864384"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THROUGH M3 · C1–C4</a:t>
            </a:r>
          </a:p>
        </p:txBody>
      </p:sp>
      <p:sp>
        <p:nvSpPr>
          <p:cNvPr id="11" name="Rounded Rectangle 10"/>
          <p:cNvSpPr/>
          <p:nvPr/>
        </p:nvSpPr>
        <p:spPr>
          <a:xfrm>
            <a:off x="3703319" y="5151120"/>
            <a:ext cx="2330068" cy="289560"/>
          </a:xfrm>
          <a:prstGeom prst="roundRect">
            <a:avLst>
              <a:gd name="adj" fmla="val 18421"/>
            </a:avLst>
          </a:prstGeom>
          <a:solidFill>
            <a:srgbClr val="E4EBF5"/>
          </a:solidFill>
          <a:ln>
            <a:noFill/>
          </a:ln>
          <a:effectLst/>
        </p:spPr>
        <p:txBody>
          <a:bodyPr rtlCol="0" anchor="ctr"/>
          <a:lstStyle/>
          <a:p>
            <a:pPr algn="ctr"/>
          </a:p>
        </p:txBody>
      </p:sp>
      <p:sp>
        <p:nvSpPr>
          <p:cNvPr id="12" name="TextBox 11"/>
          <p:cNvSpPr txBox="1"/>
          <p:nvPr/>
        </p:nvSpPr>
        <p:spPr>
          <a:xfrm>
            <a:off x="3810000" y="5204460"/>
            <a:ext cx="2139568"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315E9C"/>
                </a:solidFill>
                <a:latin typeface="DejaVu Sans"/>
              </a:rPr>
              <a:t>REAL HIVE · DETTA · PLN</a:t>
            </a:r>
          </a:p>
        </p:txBody>
      </p:sp>
      <p:sp>
        <p:nvSpPr>
          <p:cNvPr id="13" name="TextBox 12"/>
          <p:cNvSpPr txBox="1"/>
          <p:nvPr/>
        </p:nvSpPr>
        <p:spPr>
          <a:xfrm>
            <a:off x="579120" y="5745480"/>
            <a:ext cx="10287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AAC0CC"/>
                </a:solidFill>
                <a:latin typeface="DejaVu Sans"/>
              </a:rPr>
              <a:t>Architecture and evidence • 16 October 2026 • supported local scope</a:t>
            </a:r>
          </a:p>
        </p:txBody>
      </p:sp>
      <p:cxnSp>
        <p:nvCxnSpPr>
          <p:cNvPr id="14" name="Connector 13"/>
          <p:cNvCxnSpPr/>
          <p:nvPr/>
        </p:nvCxnSpPr>
        <p:spPr>
          <a:xfrm>
            <a:off x="548640" y="6393180"/>
            <a:ext cx="11094720" cy="0"/>
          </a:xfrm>
          <a:prstGeom prst="line">
            <a:avLst/>
          </a:prstGeom>
          <a:ln w="7620">
            <a:solidFill>
              <a:srgbClr val="536775"/>
            </a:solidFill>
          </a:ln>
          <a:effectLst/>
        </p:spPr>
      </p:cxnSp>
      <p:sp>
        <p:nvSpPr>
          <p:cNvPr id="15" name="TextBox 1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AAC0CC"/>
                </a:solidFill>
                <a:latin typeface="DejaVu Sans"/>
              </a:rPr>
              <a:t>OMEGA × ASI / THROUGH M3 / M3 evidence c4498ce · tested 1af3979</a:t>
            </a:r>
          </a:p>
        </p:txBody>
      </p:sp>
      <p:sp>
        <p:nvSpPr>
          <p:cNvPr id="16" name="TextBox 1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AAC0CC"/>
                </a:solidFill>
                <a:latin typeface="DejaVu Sans Mono"/>
              </a:rPr>
              <a:t>01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EXECUTIVE SUMMARY · 1 OF 2</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ELI16: remember, weigh evidence, do the calculation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Think of a student investigating a question with a notebook, evidence ledger and calculator.</a:t>
            </a:r>
          </a:p>
        </p:txBody>
      </p:sp>
      <p:sp>
        <p:nvSpPr>
          <p:cNvPr id="5" name="Rounded Rectangle 4"/>
          <p:cNvSpPr/>
          <p:nvPr/>
        </p:nvSpPr>
        <p:spPr>
          <a:xfrm>
            <a:off x="548640" y="1920239"/>
            <a:ext cx="3535679" cy="2895600"/>
          </a:xfrm>
          <a:prstGeom prst="roundRect">
            <a:avLst>
              <a:gd name="adj" fmla="val 3421"/>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C1 · NOTEBOOK</a:t>
            </a:r>
          </a:p>
        </p:txBody>
      </p:sp>
      <p:sp>
        <p:nvSpPr>
          <p:cNvPr id="7" name="TextBox 6"/>
          <p:cNvSpPr txBox="1"/>
          <p:nvPr/>
        </p:nvSpPr>
        <p:spPr>
          <a:xfrm>
            <a:off x="71628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Keep the original story</a:t>
            </a:r>
          </a:p>
        </p:txBody>
      </p:sp>
      <p:sp>
        <p:nvSpPr>
          <p:cNvPr id="8" name="TextBox 7"/>
          <p:cNvSpPr txBox="1"/>
          <p:nvPr/>
        </p:nvSpPr>
        <p:spPr>
          <a:xfrm>
            <a:off x="716280" y="2702661"/>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Record what happened and</a:t>
            </a:r>
          </a:p>
        </p:txBody>
      </p:sp>
      <p:sp>
        <p:nvSpPr>
          <p:cNvPr id="9" name="TextBox 8"/>
          <p:cNvSpPr txBox="1"/>
          <p:nvPr/>
        </p:nvSpPr>
        <p:spPr>
          <a:xfrm>
            <a:off x="716280" y="2966008"/>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where each report came from.</a:t>
            </a:r>
          </a:p>
        </p:txBody>
      </p:sp>
      <p:sp>
        <p:nvSpPr>
          <p:cNvPr id="10" name="TextBox 9"/>
          <p:cNvSpPr txBox="1"/>
          <p:nvPr/>
        </p:nvSpPr>
        <p:spPr>
          <a:xfrm>
            <a:off x="716280" y="322935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Keep contrary observations;</a:t>
            </a:r>
          </a:p>
        </p:txBody>
      </p:sp>
      <p:sp>
        <p:nvSpPr>
          <p:cNvPr id="11" name="TextBox 10"/>
          <p:cNvSpPr txBox="1"/>
          <p:nvPr/>
        </p:nvSpPr>
        <p:spPr>
          <a:xfrm>
            <a:off x="716280" y="349270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replay does not add another</a:t>
            </a:r>
          </a:p>
        </p:txBody>
      </p:sp>
      <p:sp>
        <p:nvSpPr>
          <p:cNvPr id="12" name="TextBox 11"/>
          <p:cNvSpPr txBox="1"/>
          <p:nvPr/>
        </p:nvSpPr>
        <p:spPr>
          <a:xfrm>
            <a:off x="716280" y="375605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event.</a:t>
            </a:r>
          </a:p>
        </p:txBody>
      </p:sp>
      <p:sp>
        <p:nvSpPr>
          <p:cNvPr id="13" name="Rounded Rectangle 12"/>
          <p:cNvSpPr/>
          <p:nvPr/>
        </p:nvSpPr>
        <p:spPr>
          <a:xfrm>
            <a:off x="4328160" y="1920239"/>
            <a:ext cx="3535679" cy="2895600"/>
          </a:xfrm>
          <a:prstGeom prst="roundRect">
            <a:avLst>
              <a:gd name="adj" fmla="val 3421"/>
            </a:avLst>
          </a:prstGeom>
          <a:solidFill>
            <a:srgbClr val="FFFFFF"/>
          </a:solidFill>
          <a:ln w="7620">
            <a:solidFill>
              <a:srgbClr val="007C78"/>
            </a:solidFill>
          </a:ln>
          <a:effectLst/>
        </p:spPr>
        <p:txBody>
          <a:bodyPr rtlCol="0" anchor="ctr"/>
          <a:lstStyle/>
          <a:p>
            <a:pPr algn="ctr"/>
          </a:p>
        </p:txBody>
      </p:sp>
      <p:sp>
        <p:nvSpPr>
          <p:cNvPr id="14" name="TextBox 13"/>
          <p:cNvSpPr txBox="1"/>
          <p:nvPr/>
        </p:nvSpPr>
        <p:spPr>
          <a:xfrm>
            <a:off x="449580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C2 · EVIDENCE LEDGER</a:t>
            </a:r>
          </a:p>
        </p:txBody>
      </p:sp>
      <p:sp>
        <p:nvSpPr>
          <p:cNvPr id="15" name="TextBox 14"/>
          <p:cNvSpPr txBox="1"/>
          <p:nvPr/>
        </p:nvSpPr>
        <p:spPr>
          <a:xfrm>
            <a:off x="449580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Know what supports a</a:t>
            </a:r>
          </a:p>
        </p:txBody>
      </p:sp>
      <p:sp>
        <p:nvSpPr>
          <p:cNvPr id="16" name="TextBox 15"/>
          <p:cNvSpPr txBox="1"/>
          <p:nvPr/>
        </p:nvSpPr>
        <p:spPr>
          <a:xfrm>
            <a:off x="449580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belief</a:t>
            </a:r>
          </a:p>
        </p:txBody>
      </p:sp>
      <p:sp>
        <p:nvSpPr>
          <p:cNvPr id="17" name="TextBox 16"/>
          <p:cNvSpPr txBox="1"/>
          <p:nvPr/>
        </p:nvSpPr>
        <p:spPr>
          <a:xfrm>
            <a:off x="449580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copy is still the same source.</a:t>
            </a:r>
          </a:p>
        </p:txBody>
      </p:sp>
      <p:sp>
        <p:nvSpPr>
          <p:cNvPr id="18" name="TextBox 17"/>
          <p:cNvSpPr txBox="1"/>
          <p:nvPr/>
        </p:nvSpPr>
        <p:spPr>
          <a:xfrm>
            <a:off x="449580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conclusion keeps its</a:t>
            </a:r>
          </a:p>
        </p:txBody>
      </p:sp>
      <p:sp>
        <p:nvSpPr>
          <p:cNvPr id="19" name="TextBox 18"/>
          <p:cNvSpPr txBox="1"/>
          <p:nvPr/>
        </p:nvSpPr>
        <p:spPr>
          <a:xfrm>
            <a:off x="449580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parents; it does not become a</a:t>
            </a:r>
          </a:p>
        </p:txBody>
      </p:sp>
      <p:sp>
        <p:nvSpPr>
          <p:cNvPr id="20" name="TextBox 19"/>
          <p:cNvSpPr txBox="1"/>
          <p:nvPr/>
        </p:nvSpPr>
        <p:spPr>
          <a:xfrm>
            <a:off x="449580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fresh observation.</a:t>
            </a:r>
          </a:p>
        </p:txBody>
      </p:sp>
      <p:sp>
        <p:nvSpPr>
          <p:cNvPr id="21" name="Rounded Rectangle 20"/>
          <p:cNvSpPr/>
          <p:nvPr/>
        </p:nvSpPr>
        <p:spPr>
          <a:xfrm>
            <a:off x="8107680" y="1920239"/>
            <a:ext cx="3535679" cy="2895600"/>
          </a:xfrm>
          <a:prstGeom prst="roundRect">
            <a:avLst>
              <a:gd name="adj" fmla="val 3421"/>
            </a:avLst>
          </a:prstGeom>
          <a:solidFill>
            <a:srgbClr val="FFFFFF"/>
          </a:solidFill>
          <a:ln w="7620">
            <a:solidFill>
              <a:srgbClr val="007C78"/>
            </a:solidFill>
          </a:ln>
          <a:effectLst/>
        </p:spPr>
        <p:txBody>
          <a:bodyPr rtlCol="0" anchor="ctr"/>
          <a:lstStyle/>
          <a:p>
            <a:pPr algn="ctr"/>
          </a:p>
        </p:txBody>
      </p:sp>
      <p:sp>
        <p:nvSpPr>
          <p:cNvPr id="22" name="TextBox 21"/>
          <p:cNvSpPr txBox="1"/>
          <p:nvPr/>
        </p:nvSpPr>
        <p:spPr>
          <a:xfrm>
            <a:off x="827532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PLN · CALCULATOR</a:t>
            </a:r>
          </a:p>
        </p:txBody>
      </p:sp>
      <p:sp>
        <p:nvSpPr>
          <p:cNvPr id="23" name="TextBox 22"/>
          <p:cNvSpPr txBox="1"/>
          <p:nvPr/>
        </p:nvSpPr>
        <p:spPr>
          <a:xfrm>
            <a:off x="827532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Apply a guarded</a:t>
            </a:r>
          </a:p>
        </p:txBody>
      </p:sp>
      <p:sp>
        <p:nvSpPr>
          <p:cNvPr id="24" name="TextBox 23"/>
          <p:cNvSpPr txBox="1"/>
          <p:nvPr/>
        </p:nvSpPr>
        <p:spPr>
          <a:xfrm>
            <a:off x="827532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formula</a:t>
            </a:r>
          </a:p>
        </p:txBody>
      </p:sp>
      <p:sp>
        <p:nvSpPr>
          <p:cNvPr id="25" name="TextBox 24"/>
          <p:cNvSpPr txBox="1"/>
          <p:nvPr/>
        </p:nvSpPr>
        <p:spPr>
          <a:xfrm>
            <a:off x="827532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Use the existing pinned</a:t>
            </a:r>
          </a:p>
        </p:txBody>
      </p:sp>
      <p:sp>
        <p:nvSpPr>
          <p:cNvPr id="26" name="TextBox 25"/>
          <p:cNvSpPr txBox="1"/>
          <p:nvPr/>
        </p:nvSpPr>
        <p:spPr>
          <a:xfrm>
            <a:off x="827532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mathematics on exact inputs.</a:t>
            </a:r>
          </a:p>
        </p:txBody>
      </p:sp>
      <p:sp>
        <p:nvSpPr>
          <p:cNvPr id="27" name="TextBox 26"/>
          <p:cNvSpPr txBox="1"/>
          <p:nvPr/>
        </p:nvSpPr>
        <p:spPr>
          <a:xfrm>
            <a:off x="827532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C2 checks and saves the</a:t>
            </a:r>
          </a:p>
        </p:txBody>
      </p:sp>
      <p:sp>
        <p:nvSpPr>
          <p:cNvPr id="28" name="TextBox 27"/>
          <p:cNvSpPr txBox="1"/>
          <p:nvPr/>
        </p:nvSpPr>
        <p:spPr>
          <a:xfrm>
            <a:off x="827532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result; the calculator owns no</a:t>
            </a:r>
          </a:p>
        </p:txBody>
      </p:sp>
      <p:sp>
        <p:nvSpPr>
          <p:cNvPr id="29" name="TextBox 28"/>
          <p:cNvSpPr txBox="1"/>
          <p:nvPr/>
        </p:nvSpPr>
        <p:spPr>
          <a:xfrm>
            <a:off x="8275320" y="405841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beliefs.</a:t>
            </a:r>
          </a:p>
        </p:txBody>
      </p:sp>
      <p:sp>
        <p:nvSpPr>
          <p:cNvPr id="30" name="Rounded Rectangle 29"/>
          <p:cNvSpPr/>
          <p:nvPr/>
        </p:nvSpPr>
        <p:spPr>
          <a:xfrm>
            <a:off x="548640" y="4953000"/>
            <a:ext cx="11094720" cy="754380"/>
          </a:xfrm>
          <a:prstGeom prst="roundRect">
            <a:avLst>
              <a:gd name="adj" fmla="val 13131"/>
            </a:avLst>
          </a:prstGeom>
          <a:solidFill>
            <a:srgbClr val="E4EBF5"/>
          </a:solidFill>
          <a:ln w="7620">
            <a:solidFill>
              <a:srgbClr val="315E9C"/>
            </a:solidFill>
          </a:ln>
          <a:effectLst/>
        </p:spPr>
        <p:txBody>
          <a:bodyPr rtlCol="0" anchor="ctr"/>
          <a:lstStyle/>
          <a:p>
            <a:pPr algn="ctr"/>
          </a:p>
        </p:txBody>
      </p:sp>
      <p:sp>
        <p:nvSpPr>
          <p:cNvPr id="31" name="TextBox 30"/>
          <p:cNvSpPr txBox="1"/>
          <p:nvPr/>
        </p:nvSpPr>
        <p:spPr>
          <a:xfrm>
            <a:off x="716280" y="5120640"/>
            <a:ext cx="107594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What this gives us</a:t>
            </a:r>
          </a:p>
        </p:txBody>
      </p:sp>
      <p:sp>
        <p:nvSpPr>
          <p:cNvPr id="32" name="TextBox 31"/>
          <p:cNvSpPr txBox="1"/>
          <p:nvPr/>
        </p:nvSpPr>
        <p:spPr>
          <a:xfrm>
            <a:off x="716280" y="5440680"/>
            <a:ext cx="107594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An inspectable trail from original observations to admitted conclusions.</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A repeated message, a new conclusion and an independent observation mean different things.</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M2 preserved · M3 derived admission</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EXECUTIVE SUMMARY · 2 OF 2</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ELI16: a priority list and a limited attempt budget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There are two prepared questions, but time for only one calculation. Which should run first?</a:t>
            </a:r>
          </a:p>
        </p:txBody>
      </p:sp>
      <p:sp>
        <p:nvSpPr>
          <p:cNvPr id="5" name="Rounded Rectangle 4"/>
          <p:cNvSpPr/>
          <p:nvPr/>
        </p:nvSpPr>
        <p:spPr>
          <a:xfrm>
            <a:off x="548640" y="1935480"/>
            <a:ext cx="3535679" cy="2072639"/>
          </a:xfrm>
          <a:prstGeom prst="roundRect">
            <a:avLst>
              <a:gd name="adj" fmla="val 4779"/>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10312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C3 · Priority list</a:t>
            </a:r>
          </a:p>
        </p:txBody>
      </p:sp>
      <p:sp>
        <p:nvSpPr>
          <p:cNvPr id="7" name="TextBox 6"/>
          <p:cNvSpPr txBox="1"/>
          <p:nvPr/>
        </p:nvSpPr>
        <p:spPr>
          <a:xfrm>
            <a:off x="716280" y="251094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Give each eligible task an</a:t>
            </a:r>
          </a:p>
        </p:txBody>
      </p:sp>
      <p:sp>
        <p:nvSpPr>
          <p:cNvPr id="8" name="TextBox 7"/>
          <p:cNvSpPr txBox="1"/>
          <p:nvPr/>
        </p:nvSpPr>
        <p:spPr>
          <a:xfrm>
            <a:off x="716280" y="279379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integer score. Rank it, decay</a:t>
            </a:r>
          </a:p>
        </p:txBody>
      </p:sp>
      <p:sp>
        <p:nvSpPr>
          <p:cNvPr id="9" name="TextBox 8"/>
          <p:cNvSpPr txBox="1"/>
          <p:nvPr/>
        </p:nvSpPr>
        <p:spPr>
          <a:xfrm>
            <a:off x="716280" y="307665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it explicitly, and remember</a:t>
            </a:r>
          </a:p>
        </p:txBody>
      </p:sp>
      <p:sp>
        <p:nvSpPr>
          <p:cNvPr id="10" name="TextBox 9"/>
          <p:cNvSpPr txBox="1"/>
          <p:nvPr/>
        </p:nvSpPr>
        <p:spPr>
          <a:xfrm>
            <a:off x="716280" y="335950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feedback once.</a:t>
            </a:r>
          </a:p>
        </p:txBody>
      </p:sp>
      <p:sp>
        <p:nvSpPr>
          <p:cNvPr id="11" name="Rounded Rectangle 10"/>
          <p:cNvSpPr/>
          <p:nvPr/>
        </p:nvSpPr>
        <p:spPr>
          <a:xfrm>
            <a:off x="4328160" y="1935480"/>
            <a:ext cx="3535679" cy="2072639"/>
          </a:xfrm>
          <a:prstGeom prst="roundRect">
            <a:avLst>
              <a:gd name="adj" fmla="val 4779"/>
            </a:avLst>
          </a:prstGeom>
          <a:solidFill>
            <a:srgbClr val="DCEFE8"/>
          </a:solidFill>
          <a:ln w="7620">
            <a:solidFill>
              <a:srgbClr val="007C78"/>
            </a:solidFill>
          </a:ln>
          <a:effectLst/>
        </p:spPr>
        <p:txBody>
          <a:bodyPr rtlCol="0" anchor="ctr"/>
          <a:lstStyle/>
          <a:p>
            <a:pPr algn="ctr"/>
          </a:p>
        </p:txBody>
      </p:sp>
      <p:sp>
        <p:nvSpPr>
          <p:cNvPr id="12" name="TextBox 11"/>
          <p:cNvSpPr txBox="1"/>
          <p:nvPr/>
        </p:nvSpPr>
        <p:spPr>
          <a:xfrm>
            <a:off x="4495800" y="210312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C4 · Work</a:t>
            </a:r>
          </a:p>
        </p:txBody>
      </p:sp>
      <p:sp>
        <p:nvSpPr>
          <p:cNvPr id="13" name="TextBox 12"/>
          <p:cNvSpPr txBox="1"/>
          <p:nvPr/>
        </p:nvSpPr>
        <p:spPr>
          <a:xfrm>
            <a:off x="4495800" y="2434742"/>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coordinator</a:t>
            </a:r>
          </a:p>
        </p:txBody>
      </p:sp>
      <p:sp>
        <p:nvSpPr>
          <p:cNvPr id="14" name="TextBox 13"/>
          <p:cNvSpPr txBox="1"/>
          <p:nvPr/>
        </p:nvSpPr>
        <p:spPr>
          <a:xfrm>
            <a:off x="4495800" y="2842564"/>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Choose from that list. Save</a:t>
            </a:r>
          </a:p>
        </p:txBody>
      </p:sp>
      <p:sp>
        <p:nvSpPr>
          <p:cNvPr id="15" name="TextBox 14"/>
          <p:cNvSpPr txBox="1"/>
          <p:nvPr/>
        </p:nvSpPr>
        <p:spPr>
          <a:xfrm>
            <a:off x="4495800" y="3115665"/>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the attempt reservation</a:t>
            </a:r>
          </a:p>
        </p:txBody>
      </p:sp>
      <p:sp>
        <p:nvSpPr>
          <p:cNvPr id="16" name="TextBox 15"/>
          <p:cNvSpPr txBox="1"/>
          <p:nvPr/>
        </p:nvSpPr>
        <p:spPr>
          <a:xfrm>
            <a:off x="4495800" y="3388766"/>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before calculation, then track</a:t>
            </a:r>
          </a:p>
        </p:txBody>
      </p:sp>
      <p:sp>
        <p:nvSpPr>
          <p:cNvPr id="17" name="TextBox 16"/>
          <p:cNvSpPr txBox="1"/>
          <p:nvPr/>
        </p:nvSpPr>
        <p:spPr>
          <a:xfrm>
            <a:off x="4495800" y="3661867"/>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admission and feedback.</a:t>
            </a:r>
          </a:p>
        </p:txBody>
      </p:sp>
      <p:sp>
        <p:nvSpPr>
          <p:cNvPr id="18" name="Rounded Rectangle 17"/>
          <p:cNvSpPr/>
          <p:nvPr/>
        </p:nvSpPr>
        <p:spPr>
          <a:xfrm>
            <a:off x="8107680" y="1935480"/>
            <a:ext cx="3535679" cy="2072639"/>
          </a:xfrm>
          <a:prstGeom prst="roundRect">
            <a:avLst>
              <a:gd name="adj" fmla="val 4779"/>
            </a:avLst>
          </a:prstGeom>
          <a:solidFill>
            <a:srgbClr val="F3E7CE"/>
          </a:solidFill>
          <a:ln w="7620">
            <a:solidFill>
              <a:srgbClr val="A86A15"/>
            </a:solidFill>
          </a:ln>
          <a:effectLst/>
        </p:spPr>
        <p:txBody>
          <a:bodyPr rtlCol="0" anchor="ctr"/>
          <a:lstStyle/>
          <a:p>
            <a:pPr algn="ctr"/>
          </a:p>
        </p:txBody>
      </p:sp>
      <p:sp>
        <p:nvSpPr>
          <p:cNvPr id="19" name="TextBox 18"/>
          <p:cNvSpPr txBox="1"/>
          <p:nvPr/>
        </p:nvSpPr>
        <p:spPr>
          <a:xfrm>
            <a:off x="8275320" y="210312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Restart · Same</a:t>
            </a:r>
          </a:p>
        </p:txBody>
      </p:sp>
      <p:sp>
        <p:nvSpPr>
          <p:cNvPr id="20" name="TextBox 19"/>
          <p:cNvSpPr txBox="1"/>
          <p:nvPr/>
        </p:nvSpPr>
        <p:spPr>
          <a:xfrm>
            <a:off x="8275320" y="2434742"/>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budget</a:t>
            </a:r>
          </a:p>
        </p:txBody>
      </p:sp>
      <p:sp>
        <p:nvSpPr>
          <p:cNvPr id="21" name="TextBox 20"/>
          <p:cNvSpPr txBox="1"/>
          <p:nvPr/>
        </p:nvSpPr>
        <p:spPr>
          <a:xfrm>
            <a:off x="8275320" y="2842564"/>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Reopening the notebook</a:t>
            </a:r>
          </a:p>
        </p:txBody>
      </p:sp>
      <p:sp>
        <p:nvSpPr>
          <p:cNvPr id="22" name="TextBox 21"/>
          <p:cNvSpPr txBox="1"/>
          <p:nvPr/>
        </p:nvSpPr>
        <p:spPr>
          <a:xfrm>
            <a:off x="8275320" y="3115665"/>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does not refill the budget.</a:t>
            </a:r>
          </a:p>
        </p:txBody>
      </p:sp>
      <p:sp>
        <p:nvSpPr>
          <p:cNvPr id="23" name="TextBox 22"/>
          <p:cNvSpPr txBox="1"/>
          <p:nvPr/>
        </p:nvSpPr>
        <p:spPr>
          <a:xfrm>
            <a:off x="8275320" y="3388766"/>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Recover a saved decision; do</a:t>
            </a:r>
          </a:p>
        </p:txBody>
      </p:sp>
      <p:sp>
        <p:nvSpPr>
          <p:cNvPr id="24" name="TextBox 23"/>
          <p:cNvSpPr txBox="1"/>
          <p:nvPr/>
        </p:nvSpPr>
        <p:spPr>
          <a:xfrm>
            <a:off x="8275320" y="3661867"/>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not credit it twice.</a:t>
            </a:r>
          </a:p>
        </p:txBody>
      </p:sp>
      <p:cxnSp>
        <p:nvCxnSpPr>
          <p:cNvPr id="25" name="Connector 24"/>
          <p:cNvCxnSpPr/>
          <p:nvPr/>
        </p:nvCxnSpPr>
        <p:spPr>
          <a:xfrm>
            <a:off x="4084319" y="2971800"/>
            <a:ext cx="243841" cy="0"/>
          </a:xfrm>
          <a:prstGeom prst="line">
            <a:avLst/>
          </a:prstGeom>
          <a:ln w="15240">
            <a:solidFill>
              <a:srgbClr val="315E9C"/>
            </a:solidFill>
          </a:ln>
          <a:effectLst/>
        </p:spPr>
      </p:cxnSp>
      <p:sp>
        <p:nvSpPr>
          <p:cNvPr id="26" name="Freeform 25"/>
          <p:cNvSpPr/>
          <p:nvPr/>
        </p:nvSpPr>
        <p:spPr>
          <a:xfrm>
            <a:off x="4229100" y="29337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27" name="Connector 26"/>
          <p:cNvCxnSpPr/>
          <p:nvPr/>
        </p:nvCxnSpPr>
        <p:spPr>
          <a:xfrm>
            <a:off x="7863839" y="2971800"/>
            <a:ext cx="243841" cy="0"/>
          </a:xfrm>
          <a:prstGeom prst="line">
            <a:avLst/>
          </a:prstGeom>
          <a:ln w="15240">
            <a:solidFill>
              <a:srgbClr val="007C78"/>
            </a:solidFill>
          </a:ln>
          <a:effectLst/>
        </p:spPr>
      </p:cxnSp>
      <p:sp>
        <p:nvSpPr>
          <p:cNvPr id="28" name="Freeform 27"/>
          <p:cNvSpPr/>
          <p:nvPr/>
        </p:nvSpPr>
        <p:spPr>
          <a:xfrm>
            <a:off x="8008620" y="29337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9" name="Rounded Rectangle 28"/>
          <p:cNvSpPr/>
          <p:nvPr/>
        </p:nvSpPr>
        <p:spPr>
          <a:xfrm>
            <a:off x="548640" y="4373880"/>
            <a:ext cx="5364480" cy="1211580"/>
          </a:xfrm>
          <a:prstGeom prst="roundRect">
            <a:avLst>
              <a:gd name="adj" fmla="val 8176"/>
            </a:avLst>
          </a:prstGeom>
          <a:solidFill>
            <a:srgbClr val="FFFFFF"/>
          </a:solidFill>
          <a:ln w="7620">
            <a:solidFill>
              <a:srgbClr val="007C78"/>
            </a:solidFill>
          </a:ln>
          <a:effectLst/>
        </p:spPr>
        <p:txBody>
          <a:bodyPr rtlCol="0" anchor="ctr"/>
          <a:lstStyle/>
          <a:p>
            <a:pPr algn="ctr"/>
          </a:p>
        </p:txBody>
      </p:sp>
      <p:sp>
        <p:nvSpPr>
          <p:cNvPr id="30" name="TextBox 29"/>
          <p:cNvSpPr txBox="1"/>
          <p:nvPr/>
        </p:nvSpPr>
        <p:spPr>
          <a:xfrm>
            <a:off x="716280" y="4541520"/>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Observed in real Hive</a:t>
            </a:r>
          </a:p>
        </p:txBody>
      </p:sp>
      <p:sp>
        <p:nvSpPr>
          <p:cNvPr id="31" name="TextBox 30"/>
          <p:cNvSpPr txBox="1"/>
          <p:nvPr/>
        </p:nvSpPr>
        <p:spPr>
          <a:xfrm>
            <a:off x="716280" y="4900574"/>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One native action, one admitted conclusion, one</a:t>
            </a:r>
          </a:p>
        </p:txBody>
      </p:sp>
      <p:sp>
        <p:nvSpPr>
          <p:cNvPr id="32" name="TextBox 31"/>
          <p:cNvSpPr txBox="1"/>
          <p:nvPr/>
        </p:nvSpPr>
        <p:spPr>
          <a:xfrm>
            <a:off x="716280" y="5154168"/>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feedback credit; restart and replay tested.</a:t>
            </a:r>
          </a:p>
        </p:txBody>
      </p:sp>
      <p:sp>
        <p:nvSpPr>
          <p:cNvPr id="33" name="Rounded Rectangle 32"/>
          <p:cNvSpPr/>
          <p:nvPr/>
        </p:nvSpPr>
        <p:spPr>
          <a:xfrm>
            <a:off x="6096000" y="4373880"/>
            <a:ext cx="5547360" cy="1211580"/>
          </a:xfrm>
          <a:prstGeom prst="roundRect">
            <a:avLst>
              <a:gd name="adj" fmla="val 8176"/>
            </a:avLst>
          </a:prstGeom>
          <a:solidFill>
            <a:srgbClr val="FFFFFF"/>
          </a:solidFill>
          <a:ln w="7620">
            <a:solidFill>
              <a:srgbClr val="A86A15"/>
            </a:solidFill>
          </a:ln>
          <a:effectLst/>
        </p:spPr>
        <p:txBody>
          <a:bodyPr rtlCol="0" anchor="ctr"/>
          <a:lstStyle/>
          <a:p>
            <a:pPr algn="ctr"/>
          </a:p>
        </p:txBody>
      </p:sp>
      <p:sp>
        <p:nvSpPr>
          <p:cNvPr id="34" name="TextBox 33"/>
          <p:cNvSpPr txBox="1"/>
          <p:nvPr/>
        </p:nvSpPr>
        <p:spPr>
          <a:xfrm>
            <a:off x="6263640" y="4541520"/>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The deliberate tradeoff</a:t>
            </a:r>
          </a:p>
        </p:txBody>
      </p:sp>
      <p:sp>
        <p:nvSpPr>
          <p:cNvPr id="35" name="TextBox 34"/>
          <p:cNvSpPr txBox="1"/>
          <p:nvPr/>
        </p:nvSpPr>
        <p:spPr>
          <a:xfrm>
            <a:off x="6263640" y="4900574"/>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 crash can spend the last attempt without</a:t>
            </a:r>
          </a:p>
        </p:txBody>
      </p:sp>
      <p:sp>
        <p:nvSpPr>
          <p:cNvPr id="36" name="TextBox 35"/>
          <p:cNvSpPr txBox="1"/>
          <p:nvPr/>
        </p:nvSpPr>
        <p:spPr>
          <a:xfrm>
            <a:off x="6263640" y="5154168"/>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producing a conclusion. The receipt says so.</a:t>
            </a:r>
          </a:p>
        </p:txBody>
      </p:sp>
      <p:sp>
        <p:nvSpPr>
          <p:cNvPr id="37" name="Rounded Rectangle 36"/>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8" name="TextBox 37"/>
          <p:cNvSpPr txBox="1"/>
          <p:nvPr/>
        </p:nvSpPr>
        <p:spPr>
          <a:xfrm>
            <a:off x="716280" y="5905500"/>
            <a:ext cx="10744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Priority is not truth. A bounded step finishing is not a promise that a conclusion was found.</a:t>
            </a:r>
          </a:p>
        </p:txBody>
      </p:sp>
      <p:cxnSp>
        <p:nvCxnSpPr>
          <p:cNvPr id="39" name="Connector 38"/>
          <p:cNvCxnSpPr/>
          <p:nvPr/>
        </p:nvCxnSpPr>
        <p:spPr>
          <a:xfrm>
            <a:off x="548640" y="6393180"/>
            <a:ext cx="11094720" cy="0"/>
          </a:xfrm>
          <a:prstGeom prst="line">
            <a:avLst/>
          </a:prstGeom>
          <a:ln w="7620">
            <a:solidFill>
              <a:srgbClr val="C9D2D4"/>
            </a:solidFill>
          </a:ln>
          <a:effectLst/>
        </p:spPr>
      </p:cxnSp>
      <p:sp>
        <p:nvSpPr>
          <p:cNvPr id="40" name="TextBox 39"/>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C3 attention · C4 bounded inference</a:t>
            </a:r>
          </a:p>
        </p:txBody>
      </p:sp>
      <p:sp>
        <p:nvSpPr>
          <p:cNvPr id="41" name="TextBox 40"/>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HELICOPTER VIEW</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Fifteen modules; four responsibility groups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module owns a responsibility. It need not be a separate process or repository.</a:t>
            </a:r>
          </a:p>
        </p:txBody>
      </p:sp>
      <p:sp>
        <p:nvSpPr>
          <p:cNvPr id="5" name="Rounded Rectangle 4"/>
          <p:cNvSpPr/>
          <p:nvPr/>
        </p:nvSpPr>
        <p:spPr>
          <a:xfrm>
            <a:off x="548640" y="1752600"/>
            <a:ext cx="2438400" cy="3771900"/>
          </a:xfrm>
          <a:prstGeom prst="roundRect">
            <a:avLst>
              <a:gd name="adj" fmla="val 4375"/>
            </a:avLst>
          </a:prstGeom>
          <a:solidFill>
            <a:srgbClr val="EBE5F3"/>
          </a:solidFill>
          <a:ln>
            <a:noFill/>
          </a:ln>
          <a:effectLst/>
        </p:spPr>
        <p:txBody>
          <a:bodyPr rtlCol="0" anchor="ctr"/>
          <a:lstStyle/>
          <a:p>
            <a:pPr algn="ctr"/>
          </a:p>
        </p:txBody>
      </p:sp>
      <p:sp>
        <p:nvSpPr>
          <p:cNvPr id="6" name="TextBox 5"/>
          <p:cNvSpPr txBox="1"/>
          <p:nvPr/>
        </p:nvSpPr>
        <p:spPr>
          <a:xfrm>
            <a:off x="685800" y="1912620"/>
            <a:ext cx="21640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CLIENT / COGNITION</a:t>
            </a:r>
          </a:p>
        </p:txBody>
      </p:sp>
      <p:sp>
        <p:nvSpPr>
          <p:cNvPr id="7" name="Rounded Rectangle 6"/>
          <p:cNvSpPr/>
          <p:nvPr/>
        </p:nvSpPr>
        <p:spPr>
          <a:xfrm>
            <a:off x="3200400" y="1752600"/>
            <a:ext cx="3048000" cy="3771900"/>
          </a:xfrm>
          <a:prstGeom prst="roundRect">
            <a:avLst>
              <a:gd name="adj" fmla="val 3500"/>
            </a:avLst>
          </a:prstGeom>
          <a:solidFill>
            <a:srgbClr val="E4EBF5"/>
          </a:solidFill>
          <a:ln>
            <a:noFill/>
          </a:ln>
          <a:effectLst/>
        </p:spPr>
        <p:txBody>
          <a:bodyPr rtlCol="0" anchor="ctr"/>
          <a:lstStyle/>
          <a:p>
            <a:pPr algn="ctr"/>
          </a:p>
        </p:txBody>
      </p:sp>
      <p:sp>
        <p:nvSpPr>
          <p:cNvPr id="8" name="TextBox 7"/>
          <p:cNvSpPr txBox="1"/>
          <p:nvPr/>
        </p:nvSpPr>
        <p:spPr>
          <a:xfrm>
            <a:off x="3337560" y="1912620"/>
            <a:ext cx="27736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APPLICATION PORTS</a:t>
            </a:r>
          </a:p>
        </p:txBody>
      </p:sp>
      <p:sp>
        <p:nvSpPr>
          <p:cNvPr id="9" name="Rounded Rectangle 8"/>
          <p:cNvSpPr/>
          <p:nvPr/>
        </p:nvSpPr>
        <p:spPr>
          <a:xfrm>
            <a:off x="6461759" y="1752600"/>
            <a:ext cx="2453640" cy="3771900"/>
          </a:xfrm>
          <a:prstGeom prst="roundRect">
            <a:avLst>
              <a:gd name="adj" fmla="val 4347"/>
            </a:avLst>
          </a:prstGeom>
          <a:solidFill>
            <a:srgbClr val="E7ECEB"/>
          </a:solidFill>
          <a:ln>
            <a:noFill/>
          </a:ln>
          <a:effectLst/>
        </p:spPr>
        <p:txBody>
          <a:bodyPr rtlCol="0" anchor="ctr"/>
          <a:lstStyle/>
          <a:p>
            <a:pPr algn="ctr"/>
          </a:p>
        </p:txBody>
      </p:sp>
      <p:sp>
        <p:nvSpPr>
          <p:cNvPr id="10" name="TextBox 9"/>
          <p:cNvSpPr txBox="1"/>
          <p:nvPr/>
        </p:nvSpPr>
        <p:spPr>
          <a:xfrm>
            <a:off x="6598920" y="1912620"/>
            <a:ext cx="217932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CONTROL &amp; POLICY</a:t>
            </a:r>
          </a:p>
        </p:txBody>
      </p:sp>
      <p:sp>
        <p:nvSpPr>
          <p:cNvPr id="11" name="Rounded Rectangle 10"/>
          <p:cNvSpPr/>
          <p:nvPr/>
        </p:nvSpPr>
        <p:spPr>
          <a:xfrm>
            <a:off x="9128760" y="1752600"/>
            <a:ext cx="2514600" cy="3771900"/>
          </a:xfrm>
          <a:prstGeom prst="roundRect">
            <a:avLst>
              <a:gd name="adj" fmla="val 4242"/>
            </a:avLst>
          </a:prstGeom>
          <a:solidFill>
            <a:srgbClr val="DCEFE8"/>
          </a:solidFill>
          <a:ln>
            <a:noFill/>
          </a:ln>
          <a:effectLst/>
        </p:spPr>
        <p:txBody>
          <a:bodyPr rtlCol="0" anchor="ctr"/>
          <a:lstStyle/>
          <a:p>
            <a:pPr algn="ctr"/>
          </a:p>
        </p:txBody>
      </p:sp>
      <p:sp>
        <p:nvSpPr>
          <p:cNvPr id="12" name="TextBox 11"/>
          <p:cNvSpPr txBox="1"/>
          <p:nvPr/>
        </p:nvSpPr>
        <p:spPr>
          <a:xfrm>
            <a:off x="9265920" y="1912620"/>
            <a:ext cx="22402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PROVIDER ADAPTERS</a:t>
            </a:r>
          </a:p>
        </p:txBody>
      </p:sp>
      <p:sp>
        <p:nvSpPr>
          <p:cNvPr id="13" name="Rounded Rectangle 12"/>
          <p:cNvSpPr/>
          <p:nvPr/>
        </p:nvSpPr>
        <p:spPr>
          <a:xfrm>
            <a:off x="685800" y="2286000"/>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853440" y="245364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Episodic memory</a:t>
            </a:r>
          </a:p>
        </p:txBody>
      </p:sp>
      <p:sp>
        <p:nvSpPr>
          <p:cNvPr id="15" name="Rounded Rectangle 14"/>
          <p:cNvSpPr/>
          <p:nvPr/>
        </p:nvSpPr>
        <p:spPr>
          <a:xfrm>
            <a:off x="685800" y="2880360"/>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16" name="TextBox 15"/>
          <p:cNvSpPr txBox="1"/>
          <p:nvPr/>
        </p:nvSpPr>
        <p:spPr>
          <a:xfrm>
            <a:off x="853440" y="304800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Belief revision</a:t>
            </a:r>
          </a:p>
        </p:txBody>
      </p:sp>
      <p:sp>
        <p:nvSpPr>
          <p:cNvPr id="17" name="Rounded Rectangle 16"/>
          <p:cNvSpPr/>
          <p:nvPr/>
        </p:nvSpPr>
        <p:spPr>
          <a:xfrm>
            <a:off x="685800" y="3474719"/>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18" name="TextBox 17"/>
          <p:cNvSpPr txBox="1"/>
          <p:nvPr/>
        </p:nvSpPr>
        <p:spPr>
          <a:xfrm>
            <a:off x="853440" y="364236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PLN · one rule</a:t>
            </a:r>
          </a:p>
        </p:txBody>
      </p:sp>
      <p:sp>
        <p:nvSpPr>
          <p:cNvPr id="19" name="Rounded Rectangle 18"/>
          <p:cNvSpPr/>
          <p:nvPr/>
        </p:nvSpPr>
        <p:spPr>
          <a:xfrm>
            <a:off x="685800" y="4069079"/>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0" name="TextBox 19"/>
          <p:cNvSpPr txBox="1"/>
          <p:nvPr/>
        </p:nvSpPr>
        <p:spPr>
          <a:xfrm>
            <a:off x="853440" y="423672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STI attention</a:t>
            </a:r>
          </a:p>
        </p:txBody>
      </p:sp>
      <p:sp>
        <p:nvSpPr>
          <p:cNvPr id="21" name="Rounded Rectangle 20"/>
          <p:cNvSpPr/>
          <p:nvPr/>
        </p:nvSpPr>
        <p:spPr>
          <a:xfrm>
            <a:off x="685800" y="4663440"/>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2" name="TextBox 21"/>
          <p:cNvSpPr txBox="1"/>
          <p:nvPr/>
        </p:nvSpPr>
        <p:spPr>
          <a:xfrm>
            <a:off x="853440" y="483108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Inference control</a:t>
            </a:r>
          </a:p>
        </p:txBody>
      </p:sp>
      <p:sp>
        <p:nvSpPr>
          <p:cNvPr id="23" name="Rounded Rectangle 22"/>
          <p:cNvSpPr/>
          <p:nvPr/>
        </p:nvSpPr>
        <p:spPr>
          <a:xfrm>
            <a:off x="3337560" y="2286000"/>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4" name="TextBox 23"/>
          <p:cNvSpPr txBox="1"/>
          <p:nvPr/>
        </p:nvSpPr>
        <p:spPr>
          <a:xfrm>
            <a:off x="3505200" y="245364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AtomStorage</a:t>
            </a:r>
          </a:p>
        </p:txBody>
      </p:sp>
      <p:sp>
        <p:nvSpPr>
          <p:cNvPr id="25" name="Rounded Rectangle 24"/>
          <p:cNvSpPr/>
          <p:nvPr/>
        </p:nvSpPr>
        <p:spPr>
          <a:xfrm>
            <a:off x="3337560" y="2880360"/>
            <a:ext cx="27736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26" name="TextBox 25"/>
          <p:cNvSpPr txBox="1"/>
          <p:nvPr/>
        </p:nvSpPr>
        <p:spPr>
          <a:xfrm>
            <a:off x="3505200" y="304800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Relations · future</a:t>
            </a:r>
          </a:p>
        </p:txBody>
      </p:sp>
      <p:sp>
        <p:nvSpPr>
          <p:cNvPr id="27" name="Rounded Rectangle 26"/>
          <p:cNvSpPr/>
          <p:nvPr/>
        </p:nvSpPr>
        <p:spPr>
          <a:xfrm>
            <a:off x="3337560" y="3474719"/>
            <a:ext cx="27736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28" name="TextBox 27"/>
          <p:cNvSpPr txBox="1"/>
          <p:nvPr/>
        </p:nvSpPr>
        <p:spPr>
          <a:xfrm>
            <a:off x="3505200" y="3642360"/>
            <a:ext cx="24384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7458A2"/>
                </a:solidFill>
                <a:latin typeface="DejaVu Sans"/>
              </a:rPr>
              <a:t>Search projection · future</a:t>
            </a:r>
          </a:p>
        </p:txBody>
      </p:sp>
      <p:sp>
        <p:nvSpPr>
          <p:cNvPr id="29" name="Rounded Rectangle 28"/>
          <p:cNvSpPr/>
          <p:nvPr/>
        </p:nvSpPr>
        <p:spPr>
          <a:xfrm>
            <a:off x="3337560" y="4069079"/>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30" name="TextBox 29"/>
          <p:cNvSpPr txBox="1"/>
          <p:nvPr/>
        </p:nvSpPr>
        <p:spPr>
          <a:xfrm>
            <a:off x="3505200" y="423672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Agent messaging</a:t>
            </a:r>
          </a:p>
        </p:txBody>
      </p:sp>
      <p:sp>
        <p:nvSpPr>
          <p:cNvPr id="31" name="Rounded Rectangle 30"/>
          <p:cNvSpPr/>
          <p:nvPr/>
        </p:nvSpPr>
        <p:spPr>
          <a:xfrm>
            <a:off x="3337560" y="4663440"/>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32" name="TextBox 31"/>
          <p:cNvSpPr txBox="1"/>
          <p:nvPr/>
        </p:nvSpPr>
        <p:spPr>
          <a:xfrm>
            <a:off x="3505200" y="483108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Delegated execution</a:t>
            </a:r>
          </a:p>
        </p:txBody>
      </p:sp>
      <p:sp>
        <p:nvSpPr>
          <p:cNvPr id="33" name="Rounded Rectangle 32"/>
          <p:cNvSpPr/>
          <p:nvPr/>
        </p:nvSpPr>
        <p:spPr>
          <a:xfrm>
            <a:off x="6598920" y="2286000"/>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4" name="TextBox 33"/>
          <p:cNvSpPr txBox="1"/>
          <p:nvPr/>
        </p:nvSpPr>
        <p:spPr>
          <a:xfrm>
            <a:off x="6766559" y="245364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Registry</a:t>
            </a:r>
          </a:p>
        </p:txBody>
      </p:sp>
      <p:sp>
        <p:nvSpPr>
          <p:cNvPr id="35" name="Rounded Rectangle 34"/>
          <p:cNvSpPr/>
          <p:nvPr/>
        </p:nvSpPr>
        <p:spPr>
          <a:xfrm>
            <a:off x="6598920" y="3108960"/>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6" name="TextBox 35"/>
          <p:cNvSpPr txBox="1"/>
          <p:nvPr/>
        </p:nvSpPr>
        <p:spPr>
          <a:xfrm>
            <a:off x="6766559" y="327660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Compatibility</a:t>
            </a:r>
          </a:p>
        </p:txBody>
      </p:sp>
      <p:sp>
        <p:nvSpPr>
          <p:cNvPr id="37" name="TextBox 36"/>
          <p:cNvSpPr txBox="1"/>
          <p:nvPr/>
        </p:nvSpPr>
        <p:spPr>
          <a:xfrm>
            <a:off x="6766559" y="3491179"/>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resolver</a:t>
            </a:r>
          </a:p>
        </p:txBody>
      </p:sp>
      <p:sp>
        <p:nvSpPr>
          <p:cNvPr id="38" name="Rounded Rectangle 37"/>
          <p:cNvSpPr/>
          <p:nvPr/>
        </p:nvSpPr>
        <p:spPr>
          <a:xfrm>
            <a:off x="6598920" y="3931919"/>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9" name="TextBox 38"/>
          <p:cNvSpPr txBox="1"/>
          <p:nvPr/>
        </p:nvSpPr>
        <p:spPr>
          <a:xfrm>
            <a:off x="6766559" y="409956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Authorization</a:t>
            </a:r>
          </a:p>
        </p:txBody>
      </p:sp>
      <p:sp>
        <p:nvSpPr>
          <p:cNvPr id="40" name="Rounded Rectangle 39"/>
          <p:cNvSpPr/>
          <p:nvPr/>
        </p:nvSpPr>
        <p:spPr>
          <a:xfrm>
            <a:off x="9265920" y="2286000"/>
            <a:ext cx="2240280" cy="1097280"/>
          </a:xfrm>
          <a:prstGeom prst="roundRect">
            <a:avLst>
              <a:gd name="adj" fmla="val 9027"/>
            </a:avLst>
          </a:prstGeom>
          <a:solidFill>
            <a:srgbClr val="FFFFFF"/>
          </a:solidFill>
          <a:ln w="7620">
            <a:solidFill>
              <a:srgbClr val="007C78"/>
            </a:solidFill>
          </a:ln>
          <a:effectLst/>
        </p:spPr>
        <p:txBody>
          <a:bodyPr rtlCol="0" anchor="ctr"/>
          <a:lstStyle/>
          <a:p>
            <a:pPr algn="ctr"/>
          </a:p>
        </p:txBody>
      </p:sp>
      <p:sp>
        <p:nvSpPr>
          <p:cNvPr id="41" name="TextBox 40"/>
          <p:cNvSpPr txBox="1"/>
          <p:nvPr/>
        </p:nvSpPr>
        <p:spPr>
          <a:xfrm>
            <a:off x="9433560" y="2453640"/>
            <a:ext cx="19050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DA storage</a:t>
            </a:r>
          </a:p>
        </p:txBody>
      </p:sp>
      <p:sp>
        <p:nvSpPr>
          <p:cNvPr id="42" name="TextBox 41"/>
          <p:cNvSpPr txBox="1"/>
          <p:nvPr/>
        </p:nvSpPr>
        <p:spPr>
          <a:xfrm>
            <a:off x="9433560" y="2793187"/>
            <a:ext cx="19050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Real local DeTTa</a:t>
            </a:r>
          </a:p>
        </p:txBody>
      </p:sp>
      <p:sp>
        <p:nvSpPr>
          <p:cNvPr id="43" name="Rounded Rectangle 42"/>
          <p:cNvSpPr/>
          <p:nvPr/>
        </p:nvSpPr>
        <p:spPr>
          <a:xfrm>
            <a:off x="9265920" y="3695700"/>
            <a:ext cx="2240280" cy="1280160"/>
          </a:xfrm>
          <a:prstGeom prst="roundRect">
            <a:avLst>
              <a:gd name="adj" fmla="val 7738"/>
            </a:avLst>
          </a:prstGeom>
          <a:solidFill>
            <a:srgbClr val="FFFFFF"/>
          </a:solidFill>
          <a:ln w="7620">
            <a:solidFill>
              <a:srgbClr val="A86A15"/>
            </a:solidFill>
          </a:ln>
          <a:effectLst/>
        </p:spPr>
        <p:txBody>
          <a:bodyPr rtlCol="0" anchor="ctr"/>
          <a:lstStyle/>
          <a:p>
            <a:pPr algn="ctr"/>
          </a:p>
        </p:txBody>
      </p:sp>
      <p:sp>
        <p:nvSpPr>
          <p:cNvPr id="44" name="TextBox 43"/>
          <p:cNvSpPr txBox="1"/>
          <p:nvPr/>
        </p:nvSpPr>
        <p:spPr>
          <a:xfrm>
            <a:off x="9433560" y="3863340"/>
            <a:ext cx="19050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A86A15"/>
                </a:solidFill>
                <a:latin typeface="DejaVu Sans"/>
              </a:rPr>
              <a:t>Consensus /</a:t>
            </a:r>
          </a:p>
        </p:txBody>
      </p:sp>
      <p:sp>
        <p:nvSpPr>
          <p:cNvPr id="45" name="TextBox 44"/>
          <p:cNvSpPr txBox="1"/>
          <p:nvPr/>
        </p:nvSpPr>
        <p:spPr>
          <a:xfrm>
            <a:off x="9433560" y="4116933"/>
            <a:ext cx="19050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A86A15"/>
                </a:solidFill>
                <a:latin typeface="DejaVu Sans"/>
              </a:rPr>
              <a:t>finality</a:t>
            </a:r>
          </a:p>
        </p:txBody>
      </p:sp>
      <p:sp>
        <p:nvSpPr>
          <p:cNvPr id="46" name="TextBox 45"/>
          <p:cNvSpPr txBox="1"/>
          <p:nvPr/>
        </p:nvSpPr>
        <p:spPr>
          <a:xfrm>
            <a:off x="9433560" y="4446727"/>
            <a:ext cx="1905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M1 historical; M3</a:t>
            </a:r>
          </a:p>
        </p:txBody>
      </p:sp>
      <p:sp>
        <p:nvSpPr>
          <p:cNvPr id="47" name="TextBox 46"/>
          <p:cNvSpPr txBox="1"/>
          <p:nvPr/>
        </p:nvSpPr>
        <p:spPr>
          <a:xfrm>
            <a:off x="9433560" y="4661306"/>
            <a:ext cx="1905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NOT_RUN</a:t>
            </a:r>
          </a:p>
        </p:txBody>
      </p:sp>
      <p:sp>
        <p:nvSpPr>
          <p:cNvPr id="48" name="TextBox 47"/>
          <p:cNvSpPr txBox="1"/>
          <p:nvPr/>
        </p:nvSpPr>
        <p:spPr>
          <a:xfrm>
            <a:off x="6598920" y="4945380"/>
            <a:ext cx="214884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Local test policy</a:t>
            </a:r>
          </a:p>
        </p:txBody>
      </p:sp>
      <p:sp>
        <p:nvSpPr>
          <p:cNvPr id="49" name="TextBox 48"/>
          <p:cNvSpPr txBox="1"/>
          <p:nvPr/>
        </p:nvSpPr>
        <p:spPr>
          <a:xfrm>
            <a:off x="6598920" y="5140452"/>
            <a:ext cx="214884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and static descriptors</a:t>
            </a:r>
          </a:p>
        </p:txBody>
      </p:sp>
      <p:sp>
        <p:nvSpPr>
          <p:cNvPr id="50" name="Rounded Rectangle 49"/>
          <p:cNvSpPr/>
          <p:nvPr/>
        </p:nvSpPr>
        <p:spPr>
          <a:xfrm>
            <a:off x="548640" y="5791200"/>
            <a:ext cx="1765250" cy="274320"/>
          </a:xfrm>
          <a:prstGeom prst="roundRect">
            <a:avLst>
              <a:gd name="adj" fmla="val 19444"/>
            </a:avLst>
          </a:prstGeom>
          <a:solidFill>
            <a:srgbClr val="EBE5F3"/>
          </a:solidFill>
          <a:ln>
            <a:noFill/>
          </a:ln>
          <a:effectLst/>
        </p:spPr>
        <p:txBody>
          <a:bodyPr rtlCol="0" anchor="ctr"/>
          <a:lstStyle/>
          <a:p>
            <a:pPr algn="ctr"/>
          </a:p>
        </p:txBody>
      </p:sp>
      <p:sp>
        <p:nvSpPr>
          <p:cNvPr id="51" name="TextBox 50"/>
          <p:cNvSpPr txBox="1"/>
          <p:nvPr/>
        </p:nvSpPr>
        <p:spPr>
          <a:xfrm>
            <a:off x="655320" y="5844540"/>
            <a:ext cx="157475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7458A2"/>
                </a:solidFill>
                <a:latin typeface="DejaVu Sans"/>
              </a:rPr>
              <a:t>SPECIFIED / FUTURE</a:t>
            </a:r>
          </a:p>
        </p:txBody>
      </p:sp>
      <p:sp>
        <p:nvSpPr>
          <p:cNvPr id="52" name="Rounded Rectangle 51"/>
          <p:cNvSpPr/>
          <p:nvPr/>
        </p:nvSpPr>
        <p:spPr>
          <a:xfrm>
            <a:off x="2781300" y="5791200"/>
            <a:ext cx="1874549" cy="274320"/>
          </a:xfrm>
          <a:prstGeom prst="roundRect">
            <a:avLst>
              <a:gd name="adj" fmla="val 19444"/>
            </a:avLst>
          </a:prstGeom>
          <a:solidFill>
            <a:srgbClr val="E4EBF5"/>
          </a:solidFill>
          <a:ln>
            <a:noFill/>
          </a:ln>
          <a:effectLst/>
        </p:spPr>
        <p:txBody>
          <a:bodyPr rtlCol="0" anchor="ctr"/>
          <a:lstStyle/>
          <a:p>
            <a:pPr algn="ctr"/>
          </a:p>
        </p:txBody>
      </p:sp>
      <p:sp>
        <p:nvSpPr>
          <p:cNvPr id="53" name="TextBox 52"/>
          <p:cNvSpPr txBox="1"/>
          <p:nvPr/>
        </p:nvSpPr>
        <p:spPr>
          <a:xfrm>
            <a:off x="2887980" y="5844540"/>
            <a:ext cx="1684049"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315E9C"/>
                </a:solidFill>
                <a:latin typeface="DejaVu Sans"/>
              </a:rPr>
              <a:t>IMPLEMENTED LOCAL</a:t>
            </a:r>
          </a:p>
        </p:txBody>
      </p:sp>
      <p:sp>
        <p:nvSpPr>
          <p:cNvPr id="54" name="Rounded Rectangle 53"/>
          <p:cNvSpPr/>
          <p:nvPr/>
        </p:nvSpPr>
        <p:spPr>
          <a:xfrm>
            <a:off x="5234940" y="5791200"/>
            <a:ext cx="1447063" cy="274320"/>
          </a:xfrm>
          <a:prstGeom prst="roundRect">
            <a:avLst>
              <a:gd name="adj" fmla="val 19444"/>
            </a:avLst>
          </a:prstGeom>
          <a:solidFill>
            <a:srgbClr val="DCEFE8"/>
          </a:solidFill>
          <a:ln>
            <a:noFill/>
          </a:ln>
          <a:effectLst/>
        </p:spPr>
        <p:txBody>
          <a:bodyPr rtlCol="0" anchor="ctr"/>
          <a:lstStyle/>
          <a:p>
            <a:pPr algn="ctr"/>
          </a:p>
        </p:txBody>
      </p:sp>
      <p:sp>
        <p:nvSpPr>
          <p:cNvPr id="55" name="TextBox 54"/>
          <p:cNvSpPr txBox="1"/>
          <p:nvPr/>
        </p:nvSpPr>
        <p:spPr>
          <a:xfrm>
            <a:off x="5341620" y="5844540"/>
            <a:ext cx="1256563"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007C78"/>
                </a:solidFill>
                <a:latin typeface="DejaVu Sans"/>
              </a:rPr>
              <a:t>REAL PROVIDER</a:t>
            </a:r>
          </a:p>
        </p:txBody>
      </p:sp>
      <p:sp>
        <p:nvSpPr>
          <p:cNvPr id="56" name="TextBox 55"/>
          <p:cNvSpPr txBox="1"/>
          <p:nvPr/>
        </p:nvSpPr>
        <p:spPr>
          <a:xfrm>
            <a:off x="7520939" y="5836920"/>
            <a:ext cx="4114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M3: one grounded rule; no ECAN or LTI</a:t>
            </a:r>
          </a:p>
        </p:txBody>
      </p:sp>
      <p:cxnSp>
        <p:nvCxnSpPr>
          <p:cNvPr id="57" name="Connector 56"/>
          <p:cNvCxnSpPr/>
          <p:nvPr/>
        </p:nvCxnSpPr>
        <p:spPr>
          <a:xfrm>
            <a:off x="548640" y="6393180"/>
            <a:ext cx="11094720" cy="0"/>
          </a:xfrm>
          <a:prstGeom prst="line">
            <a:avLst/>
          </a:prstGeom>
          <a:ln w="7620">
            <a:solidFill>
              <a:srgbClr val="C9D2D4"/>
            </a:solidFill>
          </a:ln>
          <a:effectLst/>
        </p:spPr>
      </p:cxnSp>
      <p:sp>
        <p:nvSpPr>
          <p:cNvPr id="58" name="TextBox 5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architecture.md</a:t>
            </a:r>
          </a:p>
        </p:txBody>
      </p:sp>
      <p:sp>
        <p:nvSpPr>
          <p:cNvPr id="59" name="TextBox 5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1 OF 3</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Data responsibilities: bytes → references → history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Persistence, identity, structure, discovery and provenance have different owners.</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328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757159" y="1790700"/>
            <a:ext cx="37642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STATUS</a:t>
            </a:r>
          </a:p>
        </p:txBody>
      </p:sp>
      <p:sp>
        <p:nvSpPr>
          <p:cNvPr id="8" name="Rounded Rectangle 7"/>
          <p:cNvSpPr/>
          <p:nvPr/>
        </p:nvSpPr>
        <p:spPr>
          <a:xfrm>
            <a:off x="548640" y="2110740"/>
            <a:ext cx="11094720" cy="662940"/>
          </a:xfrm>
          <a:prstGeom prst="roundRect">
            <a:avLst>
              <a:gd name="adj" fmla="val 6896"/>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DA storage</a:t>
            </a:r>
          </a:p>
        </p:txBody>
      </p:sp>
      <p:sp>
        <p:nvSpPr>
          <p:cNvPr id="10" name="TextBox 9"/>
          <p:cNvSpPr txBox="1"/>
          <p:nvPr/>
        </p:nvSpPr>
        <p:spPr>
          <a:xfrm>
            <a:off x="3185160" y="224028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Persist opaque bytes</a:t>
            </a:r>
          </a:p>
        </p:txBody>
      </p:sp>
      <p:sp>
        <p:nvSpPr>
          <p:cNvPr id="11" name="TextBox 10"/>
          <p:cNvSpPr txBox="1"/>
          <p:nvPr/>
        </p:nvSpPr>
        <p:spPr>
          <a:xfrm>
            <a:off x="3185160" y="247436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put · get · availability</a:t>
            </a:r>
          </a:p>
        </p:txBody>
      </p:sp>
      <p:sp>
        <p:nvSpPr>
          <p:cNvPr id="12" name="TextBox 11"/>
          <p:cNvSpPr txBox="1"/>
          <p:nvPr/>
        </p:nvSpPr>
        <p:spPr>
          <a:xfrm>
            <a:off x="7757159" y="224028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Payloads + shares</a:t>
            </a:r>
          </a:p>
        </p:txBody>
      </p:sp>
      <p:sp>
        <p:nvSpPr>
          <p:cNvPr id="13" name="TextBox 12"/>
          <p:cNvSpPr txBox="1"/>
          <p:nvPr/>
        </p:nvSpPr>
        <p:spPr>
          <a:xfrm>
            <a:off x="7757159" y="247436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REAL LOCAL PROVIDER</a:t>
            </a:r>
          </a:p>
        </p:txBody>
      </p:sp>
      <p:sp>
        <p:nvSpPr>
          <p:cNvPr id="14" name="Rounded Rectangle 13"/>
          <p:cNvSpPr/>
          <p:nvPr/>
        </p:nvSpPr>
        <p:spPr>
          <a:xfrm>
            <a:off x="548640" y="2811780"/>
            <a:ext cx="11094720" cy="662940"/>
          </a:xfrm>
          <a:prstGeom prst="roundRect">
            <a:avLst>
              <a:gd name="adj" fmla="val 6896"/>
            </a:avLst>
          </a:prstGeom>
          <a:solidFill>
            <a:srgbClr val="FFFFFF"/>
          </a:solidFill>
          <a:ln>
            <a:noFill/>
          </a:ln>
          <a:effectLst/>
        </p:spPr>
        <p:txBody>
          <a:bodyPr rtlCol="0" anchor="ctr"/>
          <a:lstStyle/>
          <a:p>
            <a:pPr algn="ctr"/>
          </a:p>
        </p:txBody>
      </p:sp>
      <p:sp>
        <p:nvSpPr>
          <p:cNvPr id="15" name="TextBox 14"/>
          <p:cNvSpPr txBox="1"/>
          <p:nvPr/>
        </p:nvSpPr>
        <p:spPr>
          <a:xfrm>
            <a:off x="670560" y="294132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AtomStorage</a:t>
            </a:r>
          </a:p>
        </p:txBody>
      </p:sp>
      <p:sp>
        <p:nvSpPr>
          <p:cNvPr id="16" name="TextBox 15"/>
          <p:cNvSpPr txBox="1"/>
          <p:nvPr/>
        </p:nvSpPr>
        <p:spPr>
          <a:xfrm>
            <a:off x="3185160" y="294132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Scoped immutable envelopes</a:t>
            </a:r>
          </a:p>
        </p:txBody>
      </p:sp>
      <p:sp>
        <p:nvSpPr>
          <p:cNvPr id="17" name="TextBox 16"/>
          <p:cNvSpPr txBox="1"/>
          <p:nvPr/>
        </p:nvSpPr>
        <p:spPr>
          <a:xfrm>
            <a:off x="3185160" y="317540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create · get · getMany · availability</a:t>
            </a:r>
          </a:p>
        </p:txBody>
      </p:sp>
      <p:sp>
        <p:nvSpPr>
          <p:cNvPr id="18" name="TextBox 17"/>
          <p:cNvSpPr txBox="1"/>
          <p:nvPr/>
        </p:nvSpPr>
        <p:spPr>
          <a:xfrm>
            <a:off x="7757159" y="294132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Reference + replay metadata</a:t>
            </a:r>
          </a:p>
        </p:txBody>
      </p:sp>
      <p:sp>
        <p:nvSpPr>
          <p:cNvPr id="19" name="TextBox 18"/>
          <p:cNvSpPr txBox="1"/>
          <p:nvPr/>
        </p:nvSpPr>
        <p:spPr>
          <a:xfrm>
            <a:off x="7757159" y="317540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IMPLEMENTED</a:t>
            </a:r>
          </a:p>
        </p:txBody>
      </p:sp>
      <p:sp>
        <p:nvSpPr>
          <p:cNvPr id="20" name="Rounded Rectangle 19"/>
          <p:cNvSpPr/>
          <p:nvPr/>
        </p:nvSpPr>
        <p:spPr>
          <a:xfrm>
            <a:off x="548640" y="3512819"/>
            <a:ext cx="11094720" cy="662940"/>
          </a:xfrm>
          <a:prstGeom prst="roundRect">
            <a:avLst>
              <a:gd name="adj" fmla="val 6896"/>
            </a:avLst>
          </a:prstGeom>
          <a:solidFill>
            <a:srgbClr val="FFFFFF"/>
          </a:solidFill>
          <a:ln>
            <a:noFill/>
          </a:ln>
          <a:effectLst/>
        </p:spPr>
        <p:txBody>
          <a:bodyPr rtlCol="0" anchor="ctr"/>
          <a:lstStyle/>
          <a:p>
            <a:pPr algn="ctr"/>
          </a:p>
        </p:txBody>
      </p:sp>
      <p:sp>
        <p:nvSpPr>
          <p:cNvPr id="21" name="TextBox 20"/>
          <p:cNvSpPr txBox="1"/>
          <p:nvPr/>
        </p:nvSpPr>
        <p:spPr>
          <a:xfrm>
            <a:off x="670560" y="364236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Relations</a:t>
            </a:r>
          </a:p>
        </p:txBody>
      </p:sp>
      <p:sp>
        <p:nvSpPr>
          <p:cNvPr id="22" name="TextBox 21"/>
          <p:cNvSpPr txBox="1"/>
          <p:nvPr/>
        </p:nvSpPr>
        <p:spPr>
          <a:xfrm>
            <a:off x="3185160" y="364236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Represent ordered structural roles</a:t>
            </a:r>
          </a:p>
        </p:txBody>
      </p:sp>
      <p:sp>
        <p:nvSpPr>
          <p:cNvPr id="23" name="TextBox 22"/>
          <p:cNvSpPr txBox="1"/>
          <p:nvPr/>
        </p:nvSpPr>
        <p:spPr>
          <a:xfrm>
            <a:off x="3185160" y="387644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assertRelation · getRelation</a:t>
            </a:r>
          </a:p>
        </p:txBody>
      </p:sp>
      <p:sp>
        <p:nvSpPr>
          <p:cNvPr id="24" name="TextBox 23"/>
          <p:cNvSpPr txBox="1"/>
          <p:nvPr/>
        </p:nvSpPr>
        <p:spPr>
          <a:xfrm>
            <a:off x="7757159" y="364236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Immutable relation records</a:t>
            </a:r>
          </a:p>
        </p:txBody>
      </p:sp>
      <p:sp>
        <p:nvSpPr>
          <p:cNvPr id="25" name="TextBox 24"/>
          <p:cNvSpPr txBox="1"/>
          <p:nvPr/>
        </p:nvSpPr>
        <p:spPr>
          <a:xfrm>
            <a:off x="7757159" y="387644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SPECIFIED</a:t>
            </a:r>
          </a:p>
        </p:txBody>
      </p:sp>
      <p:sp>
        <p:nvSpPr>
          <p:cNvPr id="26" name="Rounded Rectangle 25"/>
          <p:cNvSpPr/>
          <p:nvPr/>
        </p:nvSpPr>
        <p:spPr>
          <a:xfrm>
            <a:off x="548640" y="4213860"/>
            <a:ext cx="11094720" cy="662940"/>
          </a:xfrm>
          <a:prstGeom prst="roundRect">
            <a:avLst>
              <a:gd name="adj" fmla="val 6896"/>
            </a:avLst>
          </a:prstGeom>
          <a:solidFill>
            <a:srgbClr val="FFFFFF"/>
          </a:solidFill>
          <a:ln>
            <a:noFill/>
          </a:ln>
          <a:effectLst/>
        </p:spPr>
        <p:txBody>
          <a:bodyPr rtlCol="0" anchor="ctr"/>
          <a:lstStyle/>
          <a:p>
            <a:pPr algn="ctr"/>
          </a:p>
        </p:txBody>
      </p:sp>
      <p:sp>
        <p:nvSpPr>
          <p:cNvPr id="27" name="TextBox 26"/>
          <p:cNvSpPr txBox="1"/>
          <p:nvPr/>
        </p:nvSpPr>
        <p:spPr>
          <a:xfrm>
            <a:off x="670560" y="434340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Search projection</a:t>
            </a:r>
          </a:p>
        </p:txBody>
      </p:sp>
      <p:sp>
        <p:nvSpPr>
          <p:cNvPr id="28" name="TextBox 27"/>
          <p:cNvSpPr txBox="1"/>
          <p:nvPr/>
        </p:nvSpPr>
        <p:spPr>
          <a:xfrm>
            <a:off x="3185160" y="434340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Find refs at a known watermark</a:t>
            </a:r>
          </a:p>
        </p:txBody>
      </p:sp>
      <p:sp>
        <p:nvSpPr>
          <p:cNvPr id="29" name="TextBox 28"/>
          <p:cNvSpPr txBox="1"/>
          <p:nvPr/>
        </p:nvSpPr>
        <p:spPr>
          <a:xfrm>
            <a:off x="3185160" y="457748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query</a:t>
            </a:r>
          </a:p>
        </p:txBody>
      </p:sp>
      <p:sp>
        <p:nvSpPr>
          <p:cNvPr id="30" name="TextBox 29"/>
          <p:cNvSpPr txBox="1"/>
          <p:nvPr/>
        </p:nvSpPr>
        <p:spPr>
          <a:xfrm>
            <a:off x="7757159" y="434340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Rebuildable index</a:t>
            </a:r>
          </a:p>
        </p:txBody>
      </p:sp>
      <p:sp>
        <p:nvSpPr>
          <p:cNvPr id="31" name="TextBox 30"/>
          <p:cNvSpPr txBox="1"/>
          <p:nvPr/>
        </p:nvSpPr>
        <p:spPr>
          <a:xfrm>
            <a:off x="7757159" y="457748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SPECIFIED</a:t>
            </a:r>
          </a:p>
        </p:txBody>
      </p:sp>
      <p:sp>
        <p:nvSpPr>
          <p:cNvPr id="32" name="Rounded Rectangle 31"/>
          <p:cNvSpPr/>
          <p:nvPr/>
        </p:nvSpPr>
        <p:spPr>
          <a:xfrm>
            <a:off x="548640" y="4914900"/>
            <a:ext cx="11094720" cy="662940"/>
          </a:xfrm>
          <a:prstGeom prst="roundRect">
            <a:avLst>
              <a:gd name="adj" fmla="val 6896"/>
            </a:avLst>
          </a:prstGeom>
          <a:solidFill>
            <a:srgbClr val="FFFFFF"/>
          </a:solidFill>
          <a:ln>
            <a:noFill/>
          </a:ln>
          <a:effectLst/>
        </p:spPr>
        <p:txBody>
          <a:bodyPr rtlCol="0" anchor="ctr"/>
          <a:lstStyle/>
          <a:p>
            <a:pPr algn="ctr"/>
          </a:p>
        </p:txBody>
      </p:sp>
      <p:sp>
        <p:nvSpPr>
          <p:cNvPr id="33" name="TextBox 32"/>
          <p:cNvSpPr txBox="1"/>
          <p:nvPr/>
        </p:nvSpPr>
        <p:spPr>
          <a:xfrm>
            <a:off x="670560" y="504444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Episodic memory C1</a:t>
            </a:r>
          </a:p>
        </p:txBody>
      </p:sp>
      <p:sp>
        <p:nvSpPr>
          <p:cNvPr id="34" name="TextBox 33"/>
          <p:cNvSpPr txBox="1"/>
          <p:nvPr/>
        </p:nvSpPr>
        <p:spPr>
          <a:xfrm>
            <a:off x="3185160" y="504444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Record / append / read ordered events</a:t>
            </a:r>
          </a:p>
        </p:txBody>
      </p:sp>
      <p:sp>
        <p:nvSpPr>
          <p:cNvPr id="35" name="TextBox 34"/>
          <p:cNvSpPr txBox="1"/>
          <p:nvPr/>
        </p:nvSpPr>
        <p:spPr>
          <a:xfrm>
            <a:off x="3185160" y="527852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pendingEvidence · acknowledgeEvidence</a:t>
            </a:r>
          </a:p>
        </p:txBody>
      </p:sp>
      <p:sp>
        <p:nvSpPr>
          <p:cNvPr id="36" name="TextBox 35"/>
          <p:cNvSpPr txBox="1"/>
          <p:nvPr/>
        </p:nvSpPr>
        <p:spPr>
          <a:xfrm>
            <a:off x="7757159" y="504444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Private history + delivery intents</a:t>
            </a:r>
          </a:p>
        </p:txBody>
      </p:sp>
      <p:sp>
        <p:nvSpPr>
          <p:cNvPr id="37" name="TextBox 36"/>
          <p:cNvSpPr txBox="1"/>
          <p:nvPr/>
        </p:nvSpPr>
        <p:spPr>
          <a:xfrm>
            <a:off x="7757159" y="527852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IMPLEMENTED · M2</a:t>
            </a:r>
          </a:p>
        </p:txBody>
      </p:sp>
      <p:sp>
        <p:nvSpPr>
          <p:cNvPr id="38" name="Rounded Rectangle 37"/>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9" name="TextBox 38"/>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DA persists bytes. Only the application owners interpret events, claims or beliefs.</a:t>
            </a:r>
          </a:p>
        </p:txBody>
      </p:sp>
      <p:cxnSp>
        <p:nvCxnSpPr>
          <p:cNvPr id="40" name="Connector 39"/>
          <p:cNvCxnSpPr/>
          <p:nvPr/>
        </p:nvCxnSpPr>
        <p:spPr>
          <a:xfrm>
            <a:off x="548640" y="6393180"/>
            <a:ext cx="11094720" cy="0"/>
          </a:xfrm>
          <a:prstGeom prst="line">
            <a:avLst/>
          </a:prstGeom>
          <a:ln w="7620">
            <a:solidFill>
              <a:srgbClr val="C9D2D4"/>
            </a:solidFill>
          </a:ln>
          <a:effectLst/>
        </p:spPr>
      </p:cxnSp>
      <p:sp>
        <p:nvSpPr>
          <p:cNvPr id="41" name="TextBox 40"/>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architecture.md</a:t>
            </a:r>
          </a:p>
        </p:txBody>
      </p:sp>
      <p:sp>
        <p:nvSpPr>
          <p:cNvPr id="42" name="TextBox 4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2 OF 3</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Cognitive responsibilities: four separate roles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M3 adds a pure grounded kernel, independent STI and a bounded coordinator.</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556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985759" y="1790700"/>
            <a:ext cx="35356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BOUNDARY</a:t>
            </a:r>
          </a:p>
        </p:txBody>
      </p:sp>
      <p:sp>
        <p:nvSpPr>
          <p:cNvPr id="8" name="Rounded Rectangle 7"/>
          <p:cNvSpPr/>
          <p:nvPr/>
        </p:nvSpPr>
        <p:spPr>
          <a:xfrm>
            <a:off x="548640" y="2110740"/>
            <a:ext cx="11094720" cy="792480"/>
          </a:xfrm>
          <a:prstGeom prst="roundRect">
            <a:avLst>
              <a:gd name="adj" fmla="val 5769"/>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Belief revision C2</a:t>
            </a:r>
          </a:p>
        </p:txBody>
      </p:sp>
      <p:sp>
        <p:nvSpPr>
          <p:cNvPr id="10" name="TextBox 9"/>
          <p:cNvSpPr txBox="1"/>
          <p:nvPr/>
        </p:nvSpPr>
        <p:spPr>
          <a:xfrm>
            <a:off x="3185160" y="224028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submitEvidence · readBelief</a:t>
            </a:r>
          </a:p>
        </p:txBody>
      </p:sp>
      <p:sp>
        <p:nvSpPr>
          <p:cNvPr id="11" name="TextBox 10"/>
          <p:cNvSpPr txBox="1"/>
          <p:nvPr/>
        </p:nvSpPr>
        <p:spPr>
          <a:xfrm>
            <a:off x="3185160" y="2474366"/>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submitDerivation · readDerivation</a:t>
            </a:r>
          </a:p>
        </p:txBody>
      </p:sp>
      <p:sp>
        <p:nvSpPr>
          <p:cNvPr id="12" name="TextBox 11"/>
          <p:cNvSpPr txBox="1"/>
          <p:nvPr/>
        </p:nvSpPr>
        <p:spPr>
          <a:xfrm>
            <a:off x="7985759" y="224028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Supports, snapshots, attempts</a:t>
            </a:r>
          </a:p>
        </p:txBody>
      </p:sp>
      <p:sp>
        <p:nvSpPr>
          <p:cNvPr id="13" name="TextBox 12"/>
          <p:cNvSpPr txBox="1"/>
          <p:nvPr/>
        </p:nvSpPr>
        <p:spPr>
          <a:xfrm>
            <a:off x="7985759" y="247436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Only C2 commits belief changes</a:t>
            </a:r>
          </a:p>
        </p:txBody>
      </p:sp>
      <p:sp>
        <p:nvSpPr>
          <p:cNvPr id="14" name="Rounded Rectangle 13"/>
          <p:cNvSpPr/>
          <p:nvPr/>
        </p:nvSpPr>
        <p:spPr>
          <a:xfrm>
            <a:off x="548640" y="2941320"/>
            <a:ext cx="11094720" cy="792480"/>
          </a:xfrm>
          <a:prstGeom prst="roundRect">
            <a:avLst>
              <a:gd name="adj" fmla="val 5769"/>
            </a:avLst>
          </a:prstGeom>
          <a:solidFill>
            <a:srgbClr val="FFFFFF"/>
          </a:solidFill>
          <a:ln>
            <a:noFill/>
          </a:ln>
          <a:effectLst/>
        </p:spPr>
        <p:txBody>
          <a:bodyPr rtlCol="0" anchor="ctr"/>
          <a:lstStyle/>
          <a:p>
            <a:pPr algn="ctr"/>
          </a:p>
        </p:txBody>
      </p:sp>
      <p:sp>
        <p:nvSpPr>
          <p:cNvPr id="15" name="TextBox 14"/>
          <p:cNvSpPr txBox="1"/>
          <p:nvPr/>
        </p:nvSpPr>
        <p:spPr>
          <a:xfrm>
            <a:off x="670560" y="307086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PLN kernel</a:t>
            </a:r>
          </a:p>
        </p:txBody>
      </p:sp>
      <p:sp>
        <p:nvSpPr>
          <p:cNvPr id="16" name="TextBox 15"/>
          <p:cNvSpPr txBox="1"/>
          <p:nvPr/>
        </p:nvSpPr>
        <p:spPr>
          <a:xfrm>
            <a:off x="3185160" y="307086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Apply one grounded rule to exact premises</a:t>
            </a:r>
          </a:p>
        </p:txBody>
      </p:sp>
      <p:sp>
        <p:nvSpPr>
          <p:cNvPr id="17" name="TextBox 16"/>
          <p:cNvSpPr txBox="1"/>
          <p:nvPr/>
        </p:nvSpPr>
        <p:spPr>
          <a:xfrm>
            <a:off x="3185160" y="3304946"/>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profiles · applyRule</a:t>
            </a:r>
          </a:p>
        </p:txBody>
      </p:sp>
      <p:sp>
        <p:nvSpPr>
          <p:cNvPr id="18" name="TextBox 17"/>
          <p:cNvSpPr txBox="1"/>
          <p:nvPr/>
        </p:nvSpPr>
        <p:spPr>
          <a:xfrm>
            <a:off x="7985759" y="307086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mutable domain state</a:t>
            </a:r>
          </a:p>
        </p:txBody>
      </p:sp>
      <p:sp>
        <p:nvSpPr>
          <p:cNvPr id="19" name="TextBox 18"/>
          <p:cNvSpPr txBox="1"/>
          <p:nvPr/>
        </p:nvSpPr>
        <p:spPr>
          <a:xfrm>
            <a:off x="7985759" y="330494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Pure native proposal</a:t>
            </a:r>
          </a:p>
        </p:txBody>
      </p:sp>
      <p:sp>
        <p:nvSpPr>
          <p:cNvPr id="20" name="Rounded Rectangle 19"/>
          <p:cNvSpPr/>
          <p:nvPr/>
        </p:nvSpPr>
        <p:spPr>
          <a:xfrm>
            <a:off x="548640" y="3771900"/>
            <a:ext cx="11094720" cy="792480"/>
          </a:xfrm>
          <a:prstGeom prst="roundRect">
            <a:avLst>
              <a:gd name="adj" fmla="val 5769"/>
            </a:avLst>
          </a:prstGeom>
          <a:solidFill>
            <a:srgbClr val="FFFFFF"/>
          </a:solidFill>
          <a:ln>
            <a:noFill/>
          </a:ln>
          <a:effectLst/>
        </p:spPr>
        <p:txBody>
          <a:bodyPr rtlCol="0" anchor="ctr"/>
          <a:lstStyle/>
          <a:p>
            <a:pPr algn="ctr"/>
          </a:p>
        </p:txBody>
      </p:sp>
      <p:sp>
        <p:nvSpPr>
          <p:cNvPr id="21" name="TextBox 20"/>
          <p:cNvSpPr txBox="1"/>
          <p:nvPr/>
        </p:nvSpPr>
        <p:spPr>
          <a:xfrm>
            <a:off x="670560" y="390144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Attention C3</a:t>
            </a:r>
          </a:p>
        </p:txBody>
      </p:sp>
      <p:sp>
        <p:nvSpPr>
          <p:cNvPr id="22" name="TextBox 21"/>
          <p:cNvSpPr txBox="1"/>
          <p:nvPr/>
        </p:nvSpPr>
        <p:spPr>
          <a:xfrm>
            <a:off x="3185160" y="390144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submitStimulus · select · advance</a:t>
            </a:r>
          </a:p>
        </p:txBody>
      </p:sp>
      <p:sp>
        <p:nvSpPr>
          <p:cNvPr id="23" name="TextBox 22"/>
          <p:cNvSpPr txBox="1"/>
          <p:nvPr/>
        </p:nvSpPr>
        <p:spPr>
          <a:xfrm>
            <a:off x="7985759" y="390144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STI, clock, causal receipts</a:t>
            </a:r>
          </a:p>
        </p:txBody>
      </p:sp>
      <p:sp>
        <p:nvSpPr>
          <p:cNvPr id="24" name="TextBox 23"/>
          <p:cNvSpPr txBox="1"/>
          <p:nvPr/>
        </p:nvSpPr>
        <p:spPr>
          <a:xfrm>
            <a:off x="7985759" y="413552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cognition dependency</a:t>
            </a:r>
          </a:p>
        </p:txBody>
      </p:sp>
      <p:sp>
        <p:nvSpPr>
          <p:cNvPr id="25" name="Rounded Rectangle 24"/>
          <p:cNvSpPr/>
          <p:nvPr/>
        </p:nvSpPr>
        <p:spPr>
          <a:xfrm>
            <a:off x="548640" y="4602480"/>
            <a:ext cx="11094720" cy="792480"/>
          </a:xfrm>
          <a:prstGeom prst="roundRect">
            <a:avLst>
              <a:gd name="adj" fmla="val 5769"/>
            </a:avLst>
          </a:prstGeom>
          <a:solidFill>
            <a:srgbClr val="FFFFFF"/>
          </a:solidFill>
          <a:ln>
            <a:noFill/>
          </a:ln>
          <a:effectLst/>
        </p:spPr>
        <p:txBody>
          <a:bodyPr rtlCol="0" anchor="ctr"/>
          <a:lstStyle/>
          <a:p>
            <a:pPr algn="ctr"/>
          </a:p>
        </p:txBody>
      </p:sp>
      <p:sp>
        <p:nvSpPr>
          <p:cNvPr id="26" name="TextBox 25"/>
          <p:cNvSpPr txBox="1"/>
          <p:nvPr/>
        </p:nvSpPr>
        <p:spPr>
          <a:xfrm>
            <a:off x="670560" y="473202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Inference control C4</a:t>
            </a:r>
          </a:p>
        </p:txBody>
      </p:sp>
      <p:sp>
        <p:nvSpPr>
          <p:cNvPr id="27" name="TextBox 26"/>
          <p:cNvSpPr txBox="1"/>
          <p:nvPr/>
        </p:nvSpPr>
        <p:spPr>
          <a:xfrm>
            <a:off x="3185160" y="473202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Run one immutable workset</a:t>
            </a:r>
          </a:p>
        </p:txBody>
      </p:sp>
      <p:sp>
        <p:nvSpPr>
          <p:cNvPr id="28" name="TextBox 27"/>
          <p:cNvSpPr txBox="1"/>
          <p:nvPr/>
        </p:nvSpPr>
        <p:spPr>
          <a:xfrm>
            <a:off x="3185160" y="4966106"/>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step</a:t>
            </a:r>
          </a:p>
        </p:txBody>
      </p:sp>
      <p:sp>
        <p:nvSpPr>
          <p:cNvPr id="29" name="TextBox 28"/>
          <p:cNvSpPr txBox="1"/>
          <p:nvPr/>
        </p:nvSpPr>
        <p:spPr>
          <a:xfrm>
            <a:off x="7985759" y="473202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Selection, budgets, progress</a:t>
            </a:r>
          </a:p>
        </p:txBody>
      </p:sp>
      <p:sp>
        <p:nvSpPr>
          <p:cNvPr id="30" name="TextBox 29"/>
          <p:cNvSpPr txBox="1"/>
          <p:nvPr/>
        </p:nvSpPr>
        <p:spPr>
          <a:xfrm>
            <a:off x="7985759" y="496610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truth or attention ownership</a:t>
            </a:r>
          </a:p>
        </p:txBody>
      </p:sp>
      <p:sp>
        <p:nvSpPr>
          <p:cNvPr id="31" name="Rounded Rectangle 3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2" name="TextBox 31"/>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C4 calls C2 for admission. C2 invokes the kernel, then checks authority and commits its decision.</a:t>
            </a:r>
          </a:p>
        </p:txBody>
      </p:sp>
      <p:cxnSp>
        <p:nvCxnSpPr>
          <p:cNvPr id="33" name="Connector 32"/>
          <p:cNvCxnSpPr/>
          <p:nvPr/>
        </p:nvCxnSpPr>
        <p:spPr>
          <a:xfrm>
            <a:off x="548640" y="6393180"/>
            <a:ext cx="11094720" cy="0"/>
          </a:xfrm>
          <a:prstGeom prst="line">
            <a:avLst/>
          </a:prstGeom>
          <a:ln w="7620">
            <a:solidFill>
              <a:srgbClr val="C9D2D4"/>
            </a:solidFill>
          </a:ln>
          <a:effectLst/>
        </p:spPr>
      </p:cxnSp>
      <p:sp>
        <p:nvSpPr>
          <p:cNvPr id="34" name="TextBox 3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architecture.md</a:t>
            </a:r>
          </a:p>
        </p:txBody>
      </p:sp>
      <p:sp>
        <p:nvSpPr>
          <p:cNvPr id="35" name="TextBox 3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3 OF 3</a:t>
            </a:r>
          </a:p>
        </p:txBody>
      </p:sp>
      <p:sp>
        <p:nvSpPr>
          <p:cNvPr id="3" name="TextBox 2"/>
          <p:cNvSpPr txBox="1"/>
          <p:nvPr/>
        </p:nvSpPr>
        <p:spPr>
          <a:xfrm>
            <a:off x="533400" y="723900"/>
            <a:ext cx="11125200" cy="448665"/>
          </a:xfrm>
          <a:prstGeom prst="rect">
            <a:avLst/>
          </a:prstGeom>
          <a:noFill/>
        </p:spPr>
        <p:txBody>
          <a:bodyPr wrap="none" lIns="0" rIns="0" tIns="0" bIns="0" anchor="t" anchorCtr="0">
            <a:noAutofit/>
          </a:bodyPr>
          <a:lstStyle/>
          <a:p>
            <a:pPr algn="l">
              <a:lnSpc>
                <a:spcPct val="100000"/>
              </a:lnSpc>
              <a:spcBef>
                <a:spcPts val="0"/>
              </a:spcBef>
              <a:spcAft>
                <a:spcPts val="0"/>
              </a:spcAft>
            </a:pPr>
            <a:r>
              <a:rPr sz="2760" b="1">
                <a:solidFill>
                  <a:srgbClr val="102B3F"/>
                </a:solidFill>
                <a:latin typeface="DejaVu Sans"/>
              </a:rPr>
              <a:t>Control responsibilities: move work, preserve authority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remaining six modules connect owners and report specific facts.</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251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680959" y="1790700"/>
            <a:ext cx="38404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STATUS</a:t>
            </a:r>
          </a:p>
        </p:txBody>
      </p:sp>
      <p:sp>
        <p:nvSpPr>
          <p:cNvPr id="8" name="Rounded Rectangle 7"/>
          <p:cNvSpPr/>
          <p:nvPr/>
        </p:nvSpPr>
        <p:spPr>
          <a:xfrm>
            <a:off x="548640" y="2110740"/>
            <a:ext cx="11094720" cy="586740"/>
          </a:xfrm>
          <a:prstGeom prst="roundRect">
            <a:avLst>
              <a:gd name="adj" fmla="val 7792"/>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Messaging</a:t>
            </a:r>
          </a:p>
        </p:txBody>
      </p:sp>
      <p:sp>
        <p:nvSpPr>
          <p:cNvPr id="10" name="TextBox 9"/>
          <p:cNvSpPr txBox="1"/>
          <p:nvPr/>
        </p:nvSpPr>
        <p:spPr>
          <a:xfrm>
            <a:off x="3185160" y="224028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Accept, deliver, acknowledge</a:t>
            </a:r>
          </a:p>
        </p:txBody>
      </p:sp>
      <p:sp>
        <p:nvSpPr>
          <p:cNvPr id="11" name="TextBox 10"/>
          <p:cNvSpPr txBox="1"/>
          <p:nvPr/>
        </p:nvSpPr>
        <p:spPr>
          <a:xfrm>
            <a:off x="3185160" y="246461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send · poll · ack</a:t>
            </a:r>
          </a:p>
        </p:txBody>
      </p:sp>
      <p:sp>
        <p:nvSpPr>
          <p:cNvPr id="12" name="TextBox 11"/>
          <p:cNvSpPr txBox="1"/>
          <p:nvPr/>
        </p:nvSpPr>
        <p:spPr>
          <a:xfrm>
            <a:off x="7680959" y="224028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Inbox + deduplication · IMPLEMENTED</a:t>
            </a:r>
          </a:p>
        </p:txBody>
      </p:sp>
      <p:sp>
        <p:nvSpPr>
          <p:cNvPr id="13" name="Rounded Rectangle 12"/>
          <p:cNvSpPr/>
          <p:nvPr/>
        </p:nvSpPr>
        <p:spPr>
          <a:xfrm>
            <a:off x="548640" y="2735580"/>
            <a:ext cx="11094720" cy="586740"/>
          </a:xfrm>
          <a:prstGeom prst="roundRect">
            <a:avLst>
              <a:gd name="adj" fmla="val 7792"/>
            </a:avLst>
          </a:prstGeom>
          <a:solidFill>
            <a:srgbClr val="FFFFFF"/>
          </a:solidFill>
          <a:ln>
            <a:noFill/>
          </a:ln>
          <a:effectLst/>
        </p:spPr>
        <p:txBody>
          <a:bodyPr rtlCol="0" anchor="ctr"/>
          <a:lstStyle/>
          <a:p>
            <a:pPr algn="ctr"/>
          </a:p>
        </p:txBody>
      </p:sp>
      <p:sp>
        <p:nvSpPr>
          <p:cNvPr id="14" name="TextBox 13"/>
          <p:cNvSpPr txBox="1"/>
          <p:nvPr/>
        </p:nvSpPr>
        <p:spPr>
          <a:xfrm>
            <a:off x="670560" y="286512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Execution</a:t>
            </a:r>
          </a:p>
        </p:txBody>
      </p:sp>
      <p:sp>
        <p:nvSpPr>
          <p:cNvPr id="15" name="TextBox 14"/>
          <p:cNvSpPr txBox="1"/>
          <p:nvPr/>
        </p:nvSpPr>
        <p:spPr>
          <a:xfrm>
            <a:off x="3185160" y="286512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Run one named operation</a:t>
            </a:r>
          </a:p>
        </p:txBody>
      </p:sp>
      <p:sp>
        <p:nvSpPr>
          <p:cNvPr id="16" name="TextBox 15"/>
          <p:cNvSpPr txBox="1"/>
          <p:nvPr/>
        </p:nvSpPr>
        <p:spPr>
          <a:xfrm>
            <a:off x="3185160" y="308945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 status · result</a:t>
            </a:r>
          </a:p>
        </p:txBody>
      </p:sp>
      <p:sp>
        <p:nvSpPr>
          <p:cNvPr id="17" name="TextBox 16"/>
          <p:cNvSpPr txBox="1"/>
          <p:nvPr/>
        </p:nvSpPr>
        <p:spPr>
          <a:xfrm>
            <a:off x="7680959" y="286512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Jobs + completion outbox · IMPLEMENTED</a:t>
            </a:r>
          </a:p>
        </p:txBody>
      </p:sp>
      <p:sp>
        <p:nvSpPr>
          <p:cNvPr id="18" name="Rounded Rectangle 17"/>
          <p:cNvSpPr/>
          <p:nvPr/>
        </p:nvSpPr>
        <p:spPr>
          <a:xfrm>
            <a:off x="548640" y="3360419"/>
            <a:ext cx="11094720" cy="586740"/>
          </a:xfrm>
          <a:prstGeom prst="roundRect">
            <a:avLst>
              <a:gd name="adj" fmla="val 7792"/>
            </a:avLst>
          </a:prstGeom>
          <a:solidFill>
            <a:srgbClr val="FFFFFF"/>
          </a:solidFill>
          <a:ln>
            <a:noFill/>
          </a:ln>
          <a:effectLst/>
        </p:spPr>
        <p:txBody>
          <a:bodyPr rtlCol="0" anchor="ctr"/>
          <a:lstStyle/>
          <a:p>
            <a:pPr algn="ctr"/>
          </a:p>
        </p:txBody>
      </p:sp>
      <p:sp>
        <p:nvSpPr>
          <p:cNvPr id="19" name="TextBox 18"/>
          <p:cNvSpPr txBox="1"/>
          <p:nvPr/>
        </p:nvSpPr>
        <p:spPr>
          <a:xfrm>
            <a:off x="670560" y="348996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Registry</a:t>
            </a:r>
          </a:p>
        </p:txBody>
      </p:sp>
      <p:sp>
        <p:nvSpPr>
          <p:cNvPr id="20" name="TextBox 19"/>
          <p:cNvSpPr txBox="1"/>
          <p:nvPr/>
        </p:nvSpPr>
        <p:spPr>
          <a:xfrm>
            <a:off x="3185160" y="348996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Describe configured providers</a:t>
            </a:r>
          </a:p>
        </p:txBody>
      </p:sp>
      <p:sp>
        <p:nvSpPr>
          <p:cNvPr id="21" name="TextBox 20"/>
          <p:cNvSpPr txBox="1"/>
          <p:nvPr/>
        </p:nvSpPr>
        <p:spPr>
          <a:xfrm>
            <a:off x="3185160" y="371429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descriptors</a:t>
            </a:r>
          </a:p>
        </p:txBody>
      </p:sp>
      <p:sp>
        <p:nvSpPr>
          <p:cNvPr id="22" name="TextBox 21"/>
          <p:cNvSpPr txBox="1"/>
          <p:nvPr/>
        </p:nvSpPr>
        <p:spPr>
          <a:xfrm>
            <a:off x="7680959" y="348996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Static configuration · IMPLEMENTED</a:t>
            </a:r>
          </a:p>
        </p:txBody>
      </p:sp>
      <p:sp>
        <p:nvSpPr>
          <p:cNvPr id="23" name="Rounded Rectangle 22"/>
          <p:cNvSpPr/>
          <p:nvPr/>
        </p:nvSpPr>
        <p:spPr>
          <a:xfrm>
            <a:off x="548640" y="3985260"/>
            <a:ext cx="11094720" cy="586740"/>
          </a:xfrm>
          <a:prstGeom prst="roundRect">
            <a:avLst>
              <a:gd name="adj" fmla="val 7792"/>
            </a:avLst>
          </a:prstGeom>
          <a:solidFill>
            <a:srgbClr val="FFFFFF"/>
          </a:solidFill>
          <a:ln>
            <a:noFill/>
          </a:ln>
          <a:effectLst/>
        </p:spPr>
        <p:txBody>
          <a:bodyPr rtlCol="0" anchor="ctr"/>
          <a:lstStyle/>
          <a:p>
            <a:pPr algn="ctr"/>
          </a:p>
        </p:txBody>
      </p:sp>
      <p:sp>
        <p:nvSpPr>
          <p:cNvPr id="24" name="TextBox 23"/>
          <p:cNvSpPr txBox="1"/>
          <p:nvPr/>
        </p:nvSpPr>
        <p:spPr>
          <a:xfrm>
            <a:off x="670560" y="411480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Resolver</a:t>
            </a:r>
          </a:p>
        </p:txBody>
      </p:sp>
      <p:sp>
        <p:nvSpPr>
          <p:cNvPr id="25" name="TextBox 24"/>
          <p:cNvSpPr txBox="1"/>
          <p:nvPr/>
        </p:nvSpPr>
        <p:spPr>
          <a:xfrm>
            <a:off x="3185160" y="411480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Match required semantics</a:t>
            </a:r>
          </a:p>
        </p:txBody>
      </p:sp>
      <p:sp>
        <p:nvSpPr>
          <p:cNvPr id="26" name="TextBox 25"/>
          <p:cNvSpPr txBox="1"/>
          <p:nvPr/>
        </p:nvSpPr>
        <p:spPr>
          <a:xfrm>
            <a:off x="3185160" y="433913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resolve</a:t>
            </a:r>
          </a:p>
        </p:txBody>
      </p:sp>
      <p:sp>
        <p:nvSpPr>
          <p:cNvPr id="27" name="TextBox 26"/>
          <p:cNvSpPr txBox="1"/>
          <p:nvPr/>
        </p:nvSpPr>
        <p:spPr>
          <a:xfrm>
            <a:off x="7680959" y="411480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mutable state · IMPLEMENTED</a:t>
            </a:r>
          </a:p>
        </p:txBody>
      </p:sp>
      <p:sp>
        <p:nvSpPr>
          <p:cNvPr id="28" name="Rounded Rectangle 27"/>
          <p:cNvSpPr/>
          <p:nvPr/>
        </p:nvSpPr>
        <p:spPr>
          <a:xfrm>
            <a:off x="548640" y="4610100"/>
            <a:ext cx="11094720" cy="586740"/>
          </a:xfrm>
          <a:prstGeom prst="roundRect">
            <a:avLst>
              <a:gd name="adj" fmla="val 7792"/>
            </a:avLst>
          </a:prstGeom>
          <a:solidFill>
            <a:srgbClr val="FFFFFF"/>
          </a:solidFill>
          <a:ln>
            <a:noFill/>
          </a:ln>
          <a:effectLst/>
        </p:spPr>
        <p:txBody>
          <a:bodyPr rtlCol="0" anchor="ctr"/>
          <a:lstStyle/>
          <a:p>
            <a:pPr algn="ctr"/>
          </a:p>
        </p:txBody>
      </p:sp>
      <p:sp>
        <p:nvSpPr>
          <p:cNvPr id="29" name="TextBox 28"/>
          <p:cNvSpPr txBox="1"/>
          <p:nvPr/>
        </p:nvSpPr>
        <p:spPr>
          <a:xfrm>
            <a:off x="670560" y="473964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Consensus / finality</a:t>
            </a:r>
          </a:p>
        </p:txBody>
      </p:sp>
      <p:sp>
        <p:nvSpPr>
          <p:cNvPr id="30" name="TextBox 29"/>
          <p:cNvSpPr txBox="1"/>
          <p:nvPr/>
        </p:nvSpPr>
        <p:spPr>
          <a:xfrm>
            <a:off x="3185160" y="473964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approved commitment; observe</a:t>
            </a:r>
          </a:p>
        </p:txBody>
      </p:sp>
      <p:sp>
        <p:nvSpPr>
          <p:cNvPr id="31" name="TextBox 30"/>
          <p:cNvSpPr txBox="1"/>
          <p:nvPr/>
        </p:nvSpPr>
        <p:spPr>
          <a:xfrm>
            <a:off x="3185160" y="496397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 observe</a:t>
            </a:r>
          </a:p>
        </p:txBody>
      </p:sp>
      <p:sp>
        <p:nvSpPr>
          <p:cNvPr id="32" name="TextBox 31"/>
          <p:cNvSpPr txBox="1"/>
          <p:nvPr/>
        </p:nvSpPr>
        <p:spPr>
          <a:xfrm>
            <a:off x="7680959" y="473964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Signed intents · HISTORICAL M1</a:t>
            </a:r>
          </a:p>
        </p:txBody>
      </p:sp>
      <p:sp>
        <p:nvSpPr>
          <p:cNvPr id="33" name="Rounded Rectangle 32"/>
          <p:cNvSpPr/>
          <p:nvPr/>
        </p:nvSpPr>
        <p:spPr>
          <a:xfrm>
            <a:off x="548640" y="5234940"/>
            <a:ext cx="11094720" cy="586740"/>
          </a:xfrm>
          <a:prstGeom prst="roundRect">
            <a:avLst>
              <a:gd name="adj" fmla="val 7792"/>
            </a:avLst>
          </a:prstGeom>
          <a:solidFill>
            <a:srgbClr val="FFFFFF"/>
          </a:solidFill>
          <a:ln>
            <a:noFill/>
          </a:ln>
          <a:effectLst/>
        </p:spPr>
        <p:txBody>
          <a:bodyPr rtlCol="0" anchor="ctr"/>
          <a:lstStyle/>
          <a:p>
            <a:pPr algn="ctr"/>
          </a:p>
        </p:txBody>
      </p:sp>
      <p:sp>
        <p:nvSpPr>
          <p:cNvPr id="34" name="TextBox 33"/>
          <p:cNvSpPr txBox="1"/>
          <p:nvPr/>
        </p:nvSpPr>
        <p:spPr>
          <a:xfrm>
            <a:off x="670560" y="53644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Authorization</a:t>
            </a:r>
          </a:p>
        </p:txBody>
      </p:sp>
      <p:sp>
        <p:nvSpPr>
          <p:cNvPr id="35" name="TextBox 34"/>
          <p:cNvSpPr txBox="1"/>
          <p:nvPr/>
        </p:nvSpPr>
        <p:spPr>
          <a:xfrm>
            <a:off x="3185160" y="536448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Check current caller + scope + method</a:t>
            </a:r>
          </a:p>
        </p:txBody>
      </p:sp>
      <p:sp>
        <p:nvSpPr>
          <p:cNvPr id="36" name="TextBox 35"/>
          <p:cNvSpPr txBox="1"/>
          <p:nvPr/>
        </p:nvSpPr>
        <p:spPr>
          <a:xfrm>
            <a:off x="3185160" y="558881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authorize / live policy checks</a:t>
            </a:r>
          </a:p>
        </p:txBody>
      </p:sp>
      <p:sp>
        <p:nvSpPr>
          <p:cNvPr id="37" name="TextBox 36"/>
          <p:cNvSpPr txBox="1"/>
          <p:nvPr/>
        </p:nvSpPr>
        <p:spPr>
          <a:xfrm>
            <a:off x="7680959" y="536448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Operator policy · LOCAL FIXTURE</a:t>
            </a:r>
          </a:p>
        </p:txBody>
      </p:sp>
      <p:cxnSp>
        <p:nvCxnSpPr>
          <p:cNvPr id="38" name="Connector 37"/>
          <p:cNvCxnSpPr/>
          <p:nvPr/>
        </p:nvCxnSpPr>
        <p:spPr>
          <a:xfrm>
            <a:off x="548640" y="6393180"/>
            <a:ext cx="11094720" cy="0"/>
          </a:xfrm>
          <a:prstGeom prst="line">
            <a:avLst/>
          </a:prstGeom>
          <a:ln w="7620">
            <a:solidFill>
              <a:srgbClr val="C9D2D4"/>
            </a:solidFill>
          </a:ln>
          <a:effectLst/>
        </p:spPr>
      </p:cxnSp>
      <p:sp>
        <p:nvSpPr>
          <p:cNvPr id="39" name="TextBox 3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architecture.md</a:t>
            </a:r>
          </a:p>
        </p:txBody>
      </p:sp>
      <p:sp>
        <p:nvSpPr>
          <p:cNvPr id="40" name="TextBox 3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DEPENDENCY MAP · PRIVATE COGNITION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Function dependencies: the exercised M3 path</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Solid arrows point from caller to provider. Owners expose ports, never each other’s tables.</a:t>
            </a:r>
          </a:p>
        </p:txBody>
      </p:sp>
      <p:sp>
        <p:nvSpPr>
          <p:cNvPr id="5" name="Rounded Rectangle 4"/>
          <p:cNvSpPr/>
          <p:nvPr/>
        </p:nvSpPr>
        <p:spPr>
          <a:xfrm>
            <a:off x="548640" y="1828800"/>
            <a:ext cx="2667000" cy="914400"/>
          </a:xfrm>
          <a:prstGeom prst="roundRect">
            <a:avLst>
              <a:gd name="adj" fmla="val 10833"/>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1996439"/>
            <a:ext cx="23317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Native Hive plugin</a:t>
            </a:r>
          </a:p>
        </p:txBody>
      </p:sp>
      <p:sp>
        <p:nvSpPr>
          <p:cNvPr id="7" name="TextBox 6"/>
          <p:cNvSpPr txBox="1"/>
          <p:nvPr/>
        </p:nvSpPr>
        <p:spPr>
          <a:xfrm>
            <a:off x="716280" y="2287219"/>
            <a:ext cx="233172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Trusted actor → generated</a:t>
            </a:r>
          </a:p>
        </p:txBody>
      </p:sp>
      <p:sp>
        <p:nvSpPr>
          <p:cNvPr id="8" name="TextBox 7"/>
          <p:cNvSpPr txBox="1"/>
          <p:nvPr/>
        </p:nvSpPr>
        <p:spPr>
          <a:xfrm>
            <a:off x="716280" y="2482291"/>
            <a:ext cx="233172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scenario</a:t>
            </a:r>
          </a:p>
        </p:txBody>
      </p:sp>
      <p:sp>
        <p:nvSpPr>
          <p:cNvPr id="9" name="Rounded Rectangle 8"/>
          <p:cNvSpPr/>
          <p:nvPr/>
        </p:nvSpPr>
        <p:spPr>
          <a:xfrm>
            <a:off x="4229100" y="1828800"/>
            <a:ext cx="3352800" cy="914400"/>
          </a:xfrm>
          <a:prstGeom prst="roundRect">
            <a:avLst>
              <a:gd name="adj" fmla="val 10833"/>
            </a:avLst>
          </a:prstGeom>
          <a:solidFill>
            <a:srgbClr val="E4EBF5"/>
          </a:solidFill>
          <a:ln w="7620">
            <a:solidFill>
              <a:srgbClr val="315E9C"/>
            </a:solidFill>
          </a:ln>
          <a:effectLst/>
        </p:spPr>
        <p:txBody>
          <a:bodyPr rtlCol="0" anchor="ctr"/>
          <a:lstStyle/>
          <a:p>
            <a:pPr algn="ctr"/>
          </a:p>
        </p:txBody>
      </p:sp>
      <p:sp>
        <p:nvSpPr>
          <p:cNvPr id="10" name="TextBox 9"/>
          <p:cNvSpPr txBox="1"/>
          <p:nvPr/>
        </p:nvSpPr>
        <p:spPr>
          <a:xfrm>
            <a:off x="4396740" y="1996439"/>
            <a:ext cx="30175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C4 · InferenceControl</a:t>
            </a:r>
          </a:p>
        </p:txBody>
      </p:sp>
      <p:sp>
        <p:nvSpPr>
          <p:cNvPr id="11" name="TextBox 10"/>
          <p:cNvSpPr txBox="1"/>
          <p:nvPr/>
        </p:nvSpPr>
        <p:spPr>
          <a:xfrm>
            <a:off x="4396740" y="2355494"/>
            <a:ext cx="30175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step → select, reserve, reconcile</a:t>
            </a:r>
          </a:p>
        </p:txBody>
      </p:sp>
      <p:sp>
        <p:nvSpPr>
          <p:cNvPr id="12" name="Rounded Rectangle 11"/>
          <p:cNvSpPr/>
          <p:nvPr/>
        </p:nvSpPr>
        <p:spPr>
          <a:xfrm>
            <a:off x="8595360" y="1828800"/>
            <a:ext cx="3048000" cy="914400"/>
          </a:xfrm>
          <a:prstGeom prst="roundRect">
            <a:avLst>
              <a:gd name="adj" fmla="val 10833"/>
            </a:avLst>
          </a:prstGeom>
          <a:solidFill>
            <a:srgbClr val="E4EBF5"/>
          </a:solidFill>
          <a:ln w="7620">
            <a:solidFill>
              <a:srgbClr val="315E9C"/>
            </a:solidFill>
          </a:ln>
          <a:effectLst/>
        </p:spPr>
        <p:txBody>
          <a:bodyPr rtlCol="0" anchor="ctr"/>
          <a:lstStyle/>
          <a:p>
            <a:pPr algn="ctr"/>
          </a:p>
        </p:txBody>
      </p:sp>
      <p:sp>
        <p:nvSpPr>
          <p:cNvPr id="13" name="TextBox 12"/>
          <p:cNvSpPr txBox="1"/>
          <p:nvPr/>
        </p:nvSpPr>
        <p:spPr>
          <a:xfrm>
            <a:off x="8763000" y="1996439"/>
            <a:ext cx="27127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C3 · Attention</a:t>
            </a:r>
          </a:p>
        </p:txBody>
      </p:sp>
      <p:sp>
        <p:nvSpPr>
          <p:cNvPr id="14" name="TextBox 13"/>
          <p:cNvSpPr txBox="1"/>
          <p:nvPr/>
        </p:nvSpPr>
        <p:spPr>
          <a:xfrm>
            <a:off x="8763000" y="2355494"/>
            <a:ext cx="27127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select · submitStimulus</a:t>
            </a:r>
          </a:p>
        </p:txBody>
      </p:sp>
      <p:cxnSp>
        <p:nvCxnSpPr>
          <p:cNvPr id="15" name="Connector 14"/>
          <p:cNvCxnSpPr/>
          <p:nvPr/>
        </p:nvCxnSpPr>
        <p:spPr>
          <a:xfrm>
            <a:off x="3215640" y="2286000"/>
            <a:ext cx="1013460" cy="0"/>
          </a:xfrm>
          <a:prstGeom prst="line">
            <a:avLst/>
          </a:prstGeom>
          <a:ln w="15240">
            <a:solidFill>
              <a:srgbClr val="007C78"/>
            </a:solidFill>
          </a:ln>
          <a:effectLst/>
        </p:spPr>
      </p:cxnSp>
      <p:sp>
        <p:nvSpPr>
          <p:cNvPr id="16" name="Freeform 15"/>
          <p:cNvSpPr/>
          <p:nvPr/>
        </p:nvSpPr>
        <p:spPr>
          <a:xfrm>
            <a:off x="4130040" y="22479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7" name="Connector 16"/>
          <p:cNvCxnSpPr/>
          <p:nvPr/>
        </p:nvCxnSpPr>
        <p:spPr>
          <a:xfrm>
            <a:off x="7581900" y="2286000"/>
            <a:ext cx="1013460" cy="0"/>
          </a:xfrm>
          <a:prstGeom prst="line">
            <a:avLst/>
          </a:prstGeom>
          <a:ln w="15240">
            <a:solidFill>
              <a:srgbClr val="315E9C"/>
            </a:solidFill>
          </a:ln>
          <a:effectLst/>
        </p:spPr>
      </p:cxnSp>
      <p:sp>
        <p:nvSpPr>
          <p:cNvPr id="18" name="Freeform 17"/>
          <p:cNvSpPr/>
          <p:nvPr/>
        </p:nvSpPr>
        <p:spPr>
          <a:xfrm>
            <a:off x="8496300" y="22479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9" name="Rounded Rectangle 18"/>
          <p:cNvSpPr/>
          <p:nvPr/>
        </p:nvSpPr>
        <p:spPr>
          <a:xfrm>
            <a:off x="548640" y="3566160"/>
            <a:ext cx="2667000" cy="952500"/>
          </a:xfrm>
          <a:prstGeom prst="roundRect">
            <a:avLst>
              <a:gd name="adj" fmla="val 10400"/>
            </a:avLst>
          </a:prstGeom>
          <a:solidFill>
            <a:srgbClr val="FFFFFF"/>
          </a:solidFill>
          <a:ln w="7620">
            <a:solidFill>
              <a:srgbClr val="315E9C"/>
            </a:solidFill>
          </a:ln>
          <a:effectLst/>
        </p:spPr>
        <p:txBody>
          <a:bodyPr rtlCol="0" anchor="ctr"/>
          <a:lstStyle/>
          <a:p>
            <a:pPr algn="ctr"/>
          </a:p>
        </p:txBody>
      </p:sp>
      <p:sp>
        <p:nvSpPr>
          <p:cNvPr id="20" name="TextBox 19"/>
          <p:cNvSpPr txBox="1"/>
          <p:nvPr/>
        </p:nvSpPr>
        <p:spPr>
          <a:xfrm>
            <a:off x="716280" y="3733800"/>
            <a:ext cx="23317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315E9C"/>
                </a:solidFill>
                <a:latin typeface="DejaVu Sans"/>
              </a:rPr>
              <a:t>C1 · Episodes</a:t>
            </a:r>
          </a:p>
        </p:txBody>
      </p:sp>
      <p:sp>
        <p:nvSpPr>
          <p:cNvPr id="21" name="TextBox 20"/>
          <p:cNvSpPr txBox="1"/>
          <p:nvPr/>
        </p:nvSpPr>
        <p:spPr>
          <a:xfrm>
            <a:off x="716280" y="4044086"/>
            <a:ext cx="23317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readEvidence; scenario</a:t>
            </a:r>
          </a:p>
        </p:txBody>
      </p:sp>
      <p:sp>
        <p:nvSpPr>
          <p:cNvPr id="22" name="TextBox 21"/>
          <p:cNvSpPr txBox="1"/>
          <p:nvPr/>
        </p:nvSpPr>
        <p:spPr>
          <a:xfrm>
            <a:off x="716280" y="4248912"/>
            <a:ext cx="23317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appends</a:t>
            </a:r>
          </a:p>
        </p:txBody>
      </p:sp>
      <p:sp>
        <p:nvSpPr>
          <p:cNvPr id="23" name="Rounded Rectangle 22"/>
          <p:cNvSpPr/>
          <p:nvPr/>
        </p:nvSpPr>
        <p:spPr>
          <a:xfrm>
            <a:off x="4229100" y="3566160"/>
            <a:ext cx="3352800" cy="952500"/>
          </a:xfrm>
          <a:prstGeom prst="roundRect">
            <a:avLst>
              <a:gd name="adj" fmla="val 10400"/>
            </a:avLst>
          </a:prstGeom>
          <a:solidFill>
            <a:srgbClr val="E4EBF5"/>
          </a:solidFill>
          <a:ln w="7620">
            <a:solidFill>
              <a:srgbClr val="315E9C"/>
            </a:solidFill>
          </a:ln>
          <a:effectLst/>
        </p:spPr>
        <p:txBody>
          <a:bodyPr rtlCol="0" anchor="ctr"/>
          <a:lstStyle/>
          <a:p>
            <a:pPr algn="ctr"/>
          </a:p>
        </p:txBody>
      </p:sp>
      <p:sp>
        <p:nvSpPr>
          <p:cNvPr id="24" name="TextBox 23"/>
          <p:cNvSpPr txBox="1"/>
          <p:nvPr/>
        </p:nvSpPr>
        <p:spPr>
          <a:xfrm>
            <a:off x="4396740" y="3733800"/>
            <a:ext cx="30175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C2 · BeliefRevision</a:t>
            </a:r>
          </a:p>
        </p:txBody>
      </p:sp>
      <p:sp>
        <p:nvSpPr>
          <p:cNvPr id="25" name="TextBox 24"/>
          <p:cNvSpPr txBox="1"/>
          <p:nvPr/>
        </p:nvSpPr>
        <p:spPr>
          <a:xfrm>
            <a:off x="4396740" y="4083100"/>
            <a:ext cx="30175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readBelief · submit/readDerivation</a:t>
            </a:r>
          </a:p>
        </p:txBody>
      </p:sp>
      <p:sp>
        <p:nvSpPr>
          <p:cNvPr id="26" name="Rounded Rectangle 25"/>
          <p:cNvSpPr/>
          <p:nvPr/>
        </p:nvSpPr>
        <p:spPr>
          <a:xfrm>
            <a:off x="8595360" y="3566160"/>
            <a:ext cx="3048000" cy="952500"/>
          </a:xfrm>
          <a:prstGeom prst="roundRect">
            <a:avLst>
              <a:gd name="adj" fmla="val 10400"/>
            </a:avLst>
          </a:prstGeom>
          <a:solidFill>
            <a:srgbClr val="DCEFE8"/>
          </a:solidFill>
          <a:ln w="7620">
            <a:solidFill>
              <a:srgbClr val="007C78"/>
            </a:solidFill>
          </a:ln>
          <a:effectLst/>
        </p:spPr>
        <p:txBody>
          <a:bodyPr rtlCol="0" anchor="ctr"/>
          <a:lstStyle/>
          <a:p>
            <a:pPr algn="ctr"/>
          </a:p>
        </p:txBody>
      </p:sp>
      <p:sp>
        <p:nvSpPr>
          <p:cNvPr id="27" name="TextBox 26"/>
          <p:cNvSpPr txBox="1"/>
          <p:nvPr/>
        </p:nvSpPr>
        <p:spPr>
          <a:xfrm>
            <a:off x="8763000" y="3733800"/>
            <a:ext cx="27127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Pure PLN providers</a:t>
            </a:r>
          </a:p>
        </p:txBody>
      </p:sp>
      <p:sp>
        <p:nvSpPr>
          <p:cNvPr id="28" name="TextBox 27"/>
          <p:cNvSpPr txBox="1"/>
          <p:nvPr/>
        </p:nvSpPr>
        <p:spPr>
          <a:xfrm>
            <a:off x="8763000" y="4083100"/>
            <a:ext cx="27127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applyRule / revise → native PLN</a:t>
            </a:r>
          </a:p>
        </p:txBody>
      </p:sp>
      <p:cxnSp>
        <p:nvCxnSpPr>
          <p:cNvPr id="29" name="Connector 28"/>
          <p:cNvCxnSpPr/>
          <p:nvPr/>
        </p:nvCxnSpPr>
        <p:spPr>
          <a:xfrm>
            <a:off x="5905500" y="2743200"/>
            <a:ext cx="0" cy="822960"/>
          </a:xfrm>
          <a:prstGeom prst="line">
            <a:avLst/>
          </a:prstGeom>
          <a:ln w="15240">
            <a:solidFill>
              <a:srgbClr val="315E9C"/>
            </a:solidFill>
          </a:ln>
          <a:effectLst/>
        </p:spPr>
      </p:cxnSp>
      <p:sp>
        <p:nvSpPr>
          <p:cNvPr id="30" name="Freeform 29"/>
          <p:cNvSpPr/>
          <p:nvPr/>
        </p:nvSpPr>
        <p:spPr>
          <a:xfrm>
            <a:off x="5867400" y="346710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31" name="TextBox 30"/>
          <p:cNvSpPr txBox="1"/>
          <p:nvPr/>
        </p:nvSpPr>
        <p:spPr>
          <a:xfrm>
            <a:off x="6096000" y="3055620"/>
            <a:ext cx="23241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315E9C"/>
                </a:solidFill>
                <a:latin typeface="DejaVu Sans"/>
              </a:rPr>
              <a:t>Exact task + attempt</a:t>
            </a:r>
          </a:p>
        </p:txBody>
      </p:sp>
      <p:cxnSp>
        <p:nvCxnSpPr>
          <p:cNvPr id="32" name="Connector 31"/>
          <p:cNvCxnSpPr/>
          <p:nvPr/>
        </p:nvCxnSpPr>
        <p:spPr>
          <a:xfrm flipH="1">
            <a:off x="3215640" y="4038600"/>
            <a:ext cx="1013460" cy="0"/>
          </a:xfrm>
          <a:prstGeom prst="line">
            <a:avLst/>
          </a:prstGeom>
          <a:ln w="15240">
            <a:solidFill>
              <a:srgbClr val="315E9C"/>
            </a:solidFill>
          </a:ln>
          <a:effectLst/>
        </p:spPr>
      </p:cxnSp>
      <p:sp>
        <p:nvSpPr>
          <p:cNvPr id="33" name="Freeform 32"/>
          <p:cNvSpPr/>
          <p:nvPr/>
        </p:nvSpPr>
        <p:spPr>
          <a:xfrm>
            <a:off x="3215640" y="4000500"/>
            <a:ext cx="99060" cy="76200"/>
          </a:xfrm>
          <a:custGeom>
            <a:avLst/>
            <a:gdLst/>
            <a:ahLst/>
            <a:cxnLst/>
            <a:rect l="l" t="t" r="r" b="b"/>
            <a:pathLst>
              <a:path w="13" h="10">
                <a:moveTo>
                  <a:pt x="0" y="5"/>
                </a:moveTo>
                <a:lnTo>
                  <a:pt x="13" y="10"/>
                </a:lnTo>
                <a:lnTo>
                  <a:pt x="13" y="0"/>
                </a:lnTo>
                <a:close/>
              </a:path>
            </a:pathLst>
          </a:custGeom>
          <a:solidFill>
            <a:srgbClr val="315E9C"/>
          </a:solidFill>
          <a:ln>
            <a:noFill/>
          </a:ln>
          <a:effectLst/>
        </p:spPr>
        <p:txBody>
          <a:bodyPr rtlCol="0" anchor="ctr"/>
          <a:lstStyle/>
          <a:p>
            <a:pPr algn="ctr"/>
          </a:p>
        </p:txBody>
      </p:sp>
      <p:cxnSp>
        <p:nvCxnSpPr>
          <p:cNvPr id="34" name="Connector 33"/>
          <p:cNvCxnSpPr/>
          <p:nvPr/>
        </p:nvCxnSpPr>
        <p:spPr>
          <a:xfrm>
            <a:off x="7581900" y="4038600"/>
            <a:ext cx="1013460" cy="0"/>
          </a:xfrm>
          <a:prstGeom prst="line">
            <a:avLst/>
          </a:prstGeom>
          <a:ln w="15240">
            <a:solidFill>
              <a:srgbClr val="007C78"/>
            </a:solidFill>
          </a:ln>
          <a:effectLst/>
        </p:spPr>
      </p:cxnSp>
      <p:sp>
        <p:nvSpPr>
          <p:cNvPr id="35" name="Freeform 34"/>
          <p:cNvSpPr/>
          <p:nvPr/>
        </p:nvSpPr>
        <p:spPr>
          <a:xfrm>
            <a:off x="8496300" y="40005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36" name="Rounded Rectangle 35"/>
          <p:cNvSpPr/>
          <p:nvPr/>
        </p:nvSpPr>
        <p:spPr>
          <a:xfrm>
            <a:off x="548640" y="5295900"/>
            <a:ext cx="7033259" cy="876300"/>
          </a:xfrm>
          <a:prstGeom prst="roundRect">
            <a:avLst>
              <a:gd name="adj" fmla="val 11304"/>
            </a:avLst>
          </a:prstGeom>
          <a:solidFill>
            <a:srgbClr val="DCEFE8"/>
          </a:solidFill>
          <a:ln w="7620">
            <a:solidFill>
              <a:srgbClr val="007C78"/>
            </a:solidFill>
          </a:ln>
          <a:effectLst/>
        </p:spPr>
        <p:txBody>
          <a:bodyPr rtlCol="0" anchor="ctr"/>
          <a:lstStyle/>
          <a:p>
            <a:pPr algn="ctr"/>
          </a:p>
        </p:txBody>
      </p:sp>
      <p:sp>
        <p:nvSpPr>
          <p:cNvPr id="37" name="TextBox 36"/>
          <p:cNvSpPr txBox="1"/>
          <p:nvPr/>
        </p:nvSpPr>
        <p:spPr>
          <a:xfrm>
            <a:off x="716280" y="5463540"/>
            <a:ext cx="66979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Private AtomStorage → real DeTTa</a:t>
            </a:r>
          </a:p>
        </p:txBody>
      </p:sp>
      <p:sp>
        <p:nvSpPr>
          <p:cNvPr id="38" name="TextBox 37"/>
          <p:cNvSpPr txBox="1"/>
          <p:nvPr/>
        </p:nvSpPr>
        <p:spPr>
          <a:xfrm>
            <a:off x="716280" y="5832347"/>
            <a:ext cx="66979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C1 / C2 / C4 use immutable refs. DA persists opaque bytes.</a:t>
            </a:r>
          </a:p>
        </p:txBody>
      </p:sp>
      <p:cxnSp>
        <p:nvCxnSpPr>
          <p:cNvPr id="39" name="Connector 38"/>
          <p:cNvCxnSpPr/>
          <p:nvPr/>
        </p:nvCxnSpPr>
        <p:spPr>
          <a:xfrm>
            <a:off x="1882139" y="4518660"/>
            <a:ext cx="0" cy="777240"/>
          </a:xfrm>
          <a:prstGeom prst="line">
            <a:avLst/>
          </a:prstGeom>
          <a:ln w="15240">
            <a:solidFill>
              <a:srgbClr val="315E9C"/>
            </a:solidFill>
          </a:ln>
          <a:effectLst/>
        </p:spPr>
      </p:cxnSp>
      <p:sp>
        <p:nvSpPr>
          <p:cNvPr id="40" name="Freeform 39"/>
          <p:cNvSpPr/>
          <p:nvPr/>
        </p:nvSpPr>
        <p:spPr>
          <a:xfrm>
            <a:off x="1844040" y="51968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cxnSp>
        <p:nvCxnSpPr>
          <p:cNvPr id="41" name="Connector 40"/>
          <p:cNvCxnSpPr/>
          <p:nvPr/>
        </p:nvCxnSpPr>
        <p:spPr>
          <a:xfrm>
            <a:off x="5905500" y="4518660"/>
            <a:ext cx="0" cy="777240"/>
          </a:xfrm>
          <a:prstGeom prst="line">
            <a:avLst/>
          </a:prstGeom>
          <a:ln w="15240">
            <a:solidFill>
              <a:srgbClr val="315E9C"/>
            </a:solidFill>
          </a:ln>
          <a:effectLst/>
        </p:spPr>
      </p:cxnSp>
      <p:sp>
        <p:nvSpPr>
          <p:cNvPr id="42" name="Freeform 41"/>
          <p:cNvSpPr/>
          <p:nvPr/>
        </p:nvSpPr>
        <p:spPr>
          <a:xfrm>
            <a:off x="5867400" y="51968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cxnSp>
        <p:nvCxnSpPr>
          <p:cNvPr id="43" name="Connector 42"/>
          <p:cNvCxnSpPr/>
          <p:nvPr/>
        </p:nvCxnSpPr>
        <p:spPr>
          <a:xfrm flipH="1">
            <a:off x="3733800" y="2743200"/>
            <a:ext cx="838200" cy="0"/>
          </a:xfrm>
          <a:prstGeom prst="line">
            <a:avLst/>
          </a:prstGeom>
          <a:ln w="15240">
            <a:solidFill>
              <a:srgbClr val="315E9C"/>
            </a:solidFill>
          </a:ln>
          <a:effectLst/>
        </p:spPr>
      </p:cxnSp>
      <p:cxnSp>
        <p:nvCxnSpPr>
          <p:cNvPr id="44" name="Connector 43"/>
          <p:cNvCxnSpPr/>
          <p:nvPr/>
        </p:nvCxnSpPr>
        <p:spPr>
          <a:xfrm>
            <a:off x="3733800" y="2743200"/>
            <a:ext cx="0" cy="2209800"/>
          </a:xfrm>
          <a:prstGeom prst="line">
            <a:avLst/>
          </a:prstGeom>
          <a:ln w="15240">
            <a:solidFill>
              <a:srgbClr val="315E9C"/>
            </a:solidFill>
          </a:ln>
          <a:effectLst/>
        </p:spPr>
      </p:cxnSp>
      <p:cxnSp>
        <p:nvCxnSpPr>
          <p:cNvPr id="45" name="Connector 44"/>
          <p:cNvCxnSpPr/>
          <p:nvPr/>
        </p:nvCxnSpPr>
        <p:spPr>
          <a:xfrm>
            <a:off x="3733800" y="4953000"/>
            <a:ext cx="304800" cy="0"/>
          </a:xfrm>
          <a:prstGeom prst="line">
            <a:avLst/>
          </a:prstGeom>
          <a:ln w="15240">
            <a:solidFill>
              <a:srgbClr val="315E9C"/>
            </a:solidFill>
          </a:ln>
          <a:effectLst/>
        </p:spPr>
      </p:cxnSp>
      <p:cxnSp>
        <p:nvCxnSpPr>
          <p:cNvPr id="46" name="Connector 45"/>
          <p:cNvCxnSpPr/>
          <p:nvPr/>
        </p:nvCxnSpPr>
        <p:spPr>
          <a:xfrm>
            <a:off x="4038600" y="4953000"/>
            <a:ext cx="0" cy="342900"/>
          </a:xfrm>
          <a:prstGeom prst="line">
            <a:avLst/>
          </a:prstGeom>
          <a:ln w="15240">
            <a:solidFill>
              <a:srgbClr val="315E9C"/>
            </a:solidFill>
          </a:ln>
          <a:effectLst/>
        </p:spPr>
      </p:cxnSp>
      <p:sp>
        <p:nvSpPr>
          <p:cNvPr id="47" name="Freeform 46"/>
          <p:cNvSpPr/>
          <p:nvPr/>
        </p:nvSpPr>
        <p:spPr>
          <a:xfrm>
            <a:off x="4000500" y="51968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48" name="Rounded Rectangle 47"/>
          <p:cNvSpPr/>
          <p:nvPr/>
        </p:nvSpPr>
        <p:spPr>
          <a:xfrm>
            <a:off x="8595360" y="5295900"/>
            <a:ext cx="3048000" cy="876300"/>
          </a:xfrm>
          <a:prstGeom prst="roundRect">
            <a:avLst>
              <a:gd name="adj" fmla="val 11304"/>
            </a:avLst>
          </a:prstGeom>
          <a:solidFill>
            <a:srgbClr val="E7ECEB"/>
          </a:solidFill>
          <a:ln w="7620">
            <a:solidFill>
              <a:srgbClr val="315E9C"/>
            </a:solidFill>
          </a:ln>
          <a:effectLst/>
        </p:spPr>
        <p:txBody>
          <a:bodyPr rtlCol="0" anchor="ctr"/>
          <a:lstStyle/>
          <a:p>
            <a:pPr algn="ctr"/>
          </a:p>
        </p:txBody>
      </p:sp>
      <p:sp>
        <p:nvSpPr>
          <p:cNvPr id="49" name="TextBox 48"/>
          <p:cNvSpPr txBox="1"/>
          <p:nvPr/>
        </p:nvSpPr>
        <p:spPr>
          <a:xfrm>
            <a:off x="8763000" y="5463540"/>
            <a:ext cx="27127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315E9C"/>
                </a:solidFill>
                <a:latin typeface="DejaVu Sans"/>
              </a:rPr>
              <a:t>Authority + descriptors</a:t>
            </a:r>
          </a:p>
        </p:txBody>
      </p:sp>
      <p:sp>
        <p:nvSpPr>
          <p:cNvPr id="50" name="TextBox 49"/>
          <p:cNvSpPr txBox="1"/>
          <p:nvPr/>
        </p:nvSpPr>
        <p:spPr>
          <a:xfrm>
            <a:off x="8763000" y="5793333"/>
            <a:ext cx="27127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Checked by every owner</a:t>
            </a:r>
          </a:p>
        </p:txBody>
      </p:sp>
      <p:cxnSp>
        <p:nvCxnSpPr>
          <p:cNvPr id="51" name="Connector 50"/>
          <p:cNvCxnSpPr/>
          <p:nvPr/>
        </p:nvCxnSpPr>
        <p:spPr>
          <a:xfrm>
            <a:off x="548640" y="6393180"/>
            <a:ext cx="11094720" cy="0"/>
          </a:xfrm>
          <a:prstGeom prst="line">
            <a:avLst/>
          </a:prstGeom>
          <a:ln w="7620">
            <a:solidFill>
              <a:srgbClr val="C9D2D4"/>
            </a:solidFill>
          </a:ln>
          <a:effectLst/>
        </p:spPr>
      </p:cxnSp>
      <p:sp>
        <p:nvSpPr>
          <p:cNvPr id="52" name="TextBox 5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cognition.py · ports.py · architecture.md</a:t>
            </a:r>
          </a:p>
        </p:txBody>
      </p:sp>
      <p:sp>
        <p:nvSpPr>
          <p:cNvPr id="53" name="TextBox 5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DEPENDENCY MAP · SHARED APPLICATION PORTS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Function dependencies: the preserved M1.2 path</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Solid arrows = exercised calls. Every provider effect crosses an existing validated interface.</a:t>
            </a:r>
          </a:p>
        </p:txBody>
      </p:sp>
      <p:sp>
        <p:nvSpPr>
          <p:cNvPr id="5" name="Rounded Rectangle 4"/>
          <p:cNvSpPr/>
          <p:nvPr/>
        </p:nvSpPr>
        <p:spPr>
          <a:xfrm>
            <a:off x="548640" y="1874520"/>
            <a:ext cx="2514600" cy="990600"/>
          </a:xfrm>
          <a:prstGeom prst="roundRect">
            <a:avLst>
              <a:gd name="adj" fmla="val 10000"/>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42159"/>
            <a:ext cx="2179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Native Hive</a:t>
            </a:r>
          </a:p>
        </p:txBody>
      </p:sp>
      <p:sp>
        <p:nvSpPr>
          <p:cNvPr id="7" name="TextBox 6"/>
          <p:cNvSpPr txBox="1"/>
          <p:nvPr/>
        </p:nvSpPr>
        <p:spPr>
          <a:xfrm>
            <a:off x="716280" y="2391460"/>
            <a:ext cx="2179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POST /programs/…/act</a:t>
            </a:r>
          </a:p>
        </p:txBody>
      </p:sp>
      <p:sp>
        <p:nvSpPr>
          <p:cNvPr id="8" name="TextBox 7"/>
          <p:cNvSpPr txBox="1"/>
          <p:nvPr/>
        </p:nvSpPr>
        <p:spPr>
          <a:xfrm>
            <a:off x="716280" y="2596286"/>
            <a:ext cx="2179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Trusted actor + command</a:t>
            </a:r>
          </a:p>
        </p:txBody>
      </p:sp>
      <p:sp>
        <p:nvSpPr>
          <p:cNvPr id="9" name="Rounded Rectangle 8"/>
          <p:cNvSpPr/>
          <p:nvPr/>
        </p:nvSpPr>
        <p:spPr>
          <a:xfrm>
            <a:off x="4076700" y="1874520"/>
            <a:ext cx="3276600" cy="990600"/>
          </a:xfrm>
          <a:prstGeom prst="roundRect">
            <a:avLst>
              <a:gd name="adj" fmla="val 10000"/>
            </a:avLst>
          </a:prstGeom>
          <a:solidFill>
            <a:srgbClr val="E4EBF5"/>
          </a:solidFill>
          <a:ln w="7620">
            <a:solidFill>
              <a:srgbClr val="315E9C"/>
            </a:solidFill>
          </a:ln>
          <a:effectLst/>
        </p:spPr>
        <p:txBody>
          <a:bodyPr rtlCol="0" anchor="ctr"/>
          <a:lstStyle/>
          <a:p>
            <a:pPr algn="ctr"/>
          </a:p>
        </p:txBody>
      </p:sp>
      <p:sp>
        <p:nvSpPr>
          <p:cNvPr id="10" name="TextBox 9"/>
          <p:cNvSpPr txBox="1"/>
          <p:nvPr/>
        </p:nvSpPr>
        <p:spPr>
          <a:xfrm>
            <a:off x="4244340" y="2042159"/>
            <a:ext cx="2941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Fusion inspect plugin</a:t>
            </a:r>
          </a:p>
        </p:txBody>
      </p:sp>
      <p:sp>
        <p:nvSpPr>
          <p:cNvPr id="11" name="TextBox 10"/>
          <p:cNvSpPr txBox="1"/>
          <p:nvPr/>
        </p:nvSpPr>
        <p:spPr>
          <a:xfrm>
            <a:off x="4244340" y="2391460"/>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Owns caller receipts</a:t>
            </a:r>
          </a:p>
        </p:txBody>
      </p:sp>
      <p:sp>
        <p:nvSpPr>
          <p:cNvPr id="12" name="TextBox 11"/>
          <p:cNvSpPr txBox="1"/>
          <p:nvPr/>
        </p:nvSpPr>
        <p:spPr>
          <a:xfrm>
            <a:off x="4244340" y="2596286"/>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Uses selected stdio binding</a:t>
            </a:r>
          </a:p>
        </p:txBody>
      </p:sp>
      <p:sp>
        <p:nvSpPr>
          <p:cNvPr id="13" name="Rounded Rectangle 12"/>
          <p:cNvSpPr/>
          <p:nvPr/>
        </p:nvSpPr>
        <p:spPr>
          <a:xfrm>
            <a:off x="8229600" y="1874520"/>
            <a:ext cx="3413760" cy="990600"/>
          </a:xfrm>
          <a:prstGeom prst="roundRect">
            <a:avLst>
              <a:gd name="adj" fmla="val 10000"/>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8397240" y="2042159"/>
            <a:ext cx="307847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Registry + resolver</a:t>
            </a:r>
          </a:p>
        </p:txBody>
      </p:sp>
      <p:sp>
        <p:nvSpPr>
          <p:cNvPr id="15" name="TextBox 14"/>
          <p:cNvSpPr txBox="1"/>
          <p:nvPr/>
        </p:nvSpPr>
        <p:spPr>
          <a:xfrm>
            <a:off x="8397240" y="2391460"/>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describe → select</a:t>
            </a:r>
          </a:p>
        </p:txBody>
      </p:sp>
      <p:sp>
        <p:nvSpPr>
          <p:cNvPr id="16" name="TextBox 15"/>
          <p:cNvSpPr txBox="1"/>
          <p:nvPr/>
        </p:nvSpPr>
        <p:spPr>
          <a:xfrm>
            <a:off x="8397240" y="2596286"/>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Pin full descriptor tokens</a:t>
            </a:r>
          </a:p>
        </p:txBody>
      </p:sp>
      <p:cxnSp>
        <p:nvCxnSpPr>
          <p:cNvPr id="17" name="Connector 16"/>
          <p:cNvCxnSpPr/>
          <p:nvPr/>
        </p:nvCxnSpPr>
        <p:spPr>
          <a:xfrm>
            <a:off x="3063240" y="2377440"/>
            <a:ext cx="1013460" cy="0"/>
          </a:xfrm>
          <a:prstGeom prst="line">
            <a:avLst/>
          </a:prstGeom>
          <a:ln w="15240">
            <a:solidFill>
              <a:srgbClr val="007C78"/>
            </a:solidFill>
          </a:ln>
          <a:effectLst/>
        </p:spPr>
      </p:cxnSp>
      <p:sp>
        <p:nvSpPr>
          <p:cNvPr id="18" name="Freeform 17"/>
          <p:cNvSpPr/>
          <p:nvPr/>
        </p:nvSpPr>
        <p:spPr>
          <a:xfrm>
            <a:off x="3977640" y="23393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9" name="Connector 18"/>
          <p:cNvCxnSpPr/>
          <p:nvPr/>
        </p:nvCxnSpPr>
        <p:spPr>
          <a:xfrm>
            <a:off x="7353300" y="2377440"/>
            <a:ext cx="876300" cy="0"/>
          </a:xfrm>
          <a:prstGeom prst="line">
            <a:avLst/>
          </a:prstGeom>
          <a:ln w="15240">
            <a:solidFill>
              <a:srgbClr val="315E9C"/>
            </a:solidFill>
          </a:ln>
          <a:effectLst/>
        </p:spPr>
      </p:cxnSp>
      <p:sp>
        <p:nvSpPr>
          <p:cNvPr id="20" name="Freeform 19"/>
          <p:cNvSpPr/>
          <p:nvPr/>
        </p:nvSpPr>
        <p:spPr>
          <a:xfrm>
            <a:off x="8130540" y="23393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1" name="Rounded Rectangle 20"/>
          <p:cNvSpPr/>
          <p:nvPr/>
        </p:nvSpPr>
        <p:spPr>
          <a:xfrm>
            <a:off x="4076700" y="3467100"/>
            <a:ext cx="3276600" cy="914400"/>
          </a:xfrm>
          <a:prstGeom prst="roundRect">
            <a:avLst>
              <a:gd name="adj" fmla="val 10833"/>
            </a:avLst>
          </a:prstGeom>
          <a:solidFill>
            <a:srgbClr val="E4EBF5"/>
          </a:solidFill>
          <a:ln w="7620">
            <a:solidFill>
              <a:srgbClr val="315E9C"/>
            </a:solidFill>
          </a:ln>
          <a:effectLst/>
        </p:spPr>
        <p:txBody>
          <a:bodyPr rtlCol="0" anchor="ctr"/>
          <a:lstStyle/>
          <a:p>
            <a:pPr algn="ctr"/>
          </a:p>
        </p:txBody>
      </p:sp>
      <p:sp>
        <p:nvSpPr>
          <p:cNvPr id="22" name="TextBox 21"/>
          <p:cNvSpPr txBox="1"/>
          <p:nvPr/>
        </p:nvSpPr>
        <p:spPr>
          <a:xfrm>
            <a:off x="4244340" y="3634740"/>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Validated binding + policy</a:t>
            </a:r>
          </a:p>
        </p:txBody>
      </p:sp>
      <p:sp>
        <p:nvSpPr>
          <p:cNvPr id="23" name="TextBox 22"/>
          <p:cNvSpPr txBox="1"/>
          <p:nvPr/>
        </p:nvSpPr>
        <p:spPr>
          <a:xfrm>
            <a:off x="4244340" y="3954779"/>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Wire/profile checks · live authority</a:t>
            </a:r>
          </a:p>
        </p:txBody>
      </p:sp>
      <p:cxnSp>
        <p:nvCxnSpPr>
          <p:cNvPr id="24" name="Connector 23"/>
          <p:cNvCxnSpPr/>
          <p:nvPr/>
        </p:nvCxnSpPr>
        <p:spPr>
          <a:xfrm>
            <a:off x="5715000" y="2865120"/>
            <a:ext cx="0" cy="601980"/>
          </a:xfrm>
          <a:prstGeom prst="line">
            <a:avLst/>
          </a:prstGeom>
          <a:ln w="15240">
            <a:solidFill>
              <a:srgbClr val="315E9C"/>
            </a:solidFill>
          </a:ln>
          <a:effectLst/>
        </p:spPr>
      </p:cxnSp>
      <p:sp>
        <p:nvSpPr>
          <p:cNvPr id="25" name="Freeform 24"/>
          <p:cNvSpPr/>
          <p:nvPr/>
        </p:nvSpPr>
        <p:spPr>
          <a:xfrm>
            <a:off x="5676900" y="33680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26" name="Rounded Rectangle 25"/>
          <p:cNvSpPr/>
          <p:nvPr/>
        </p:nvSpPr>
        <p:spPr>
          <a:xfrm>
            <a:off x="548640" y="3467100"/>
            <a:ext cx="251460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27" name="TextBox 26"/>
          <p:cNvSpPr txBox="1"/>
          <p:nvPr/>
        </p:nvSpPr>
        <p:spPr>
          <a:xfrm>
            <a:off x="716280" y="3634740"/>
            <a:ext cx="2179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Execution</a:t>
            </a:r>
          </a:p>
        </p:txBody>
      </p:sp>
      <p:sp>
        <p:nvSpPr>
          <p:cNvPr id="28" name="TextBox 27"/>
          <p:cNvSpPr txBox="1"/>
          <p:nvPr/>
        </p:nvSpPr>
        <p:spPr>
          <a:xfrm>
            <a:off x="716280" y="3993794"/>
            <a:ext cx="21793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submit · status · result</a:t>
            </a:r>
          </a:p>
        </p:txBody>
      </p:sp>
      <p:sp>
        <p:nvSpPr>
          <p:cNvPr id="29" name="Rounded Rectangle 28"/>
          <p:cNvSpPr/>
          <p:nvPr/>
        </p:nvSpPr>
        <p:spPr>
          <a:xfrm>
            <a:off x="8229600" y="3467100"/>
            <a:ext cx="341376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30" name="TextBox 29"/>
          <p:cNvSpPr txBox="1"/>
          <p:nvPr/>
        </p:nvSpPr>
        <p:spPr>
          <a:xfrm>
            <a:off x="8397240" y="3634740"/>
            <a:ext cx="3078479"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AtomStorage</a:t>
            </a:r>
          </a:p>
        </p:txBody>
      </p:sp>
      <p:sp>
        <p:nvSpPr>
          <p:cNvPr id="31" name="TextBox 30"/>
          <p:cNvSpPr txBox="1"/>
          <p:nvPr/>
        </p:nvSpPr>
        <p:spPr>
          <a:xfrm>
            <a:off x="8397240" y="3993794"/>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create · get · getMany · availability</a:t>
            </a:r>
          </a:p>
        </p:txBody>
      </p:sp>
      <p:cxnSp>
        <p:nvCxnSpPr>
          <p:cNvPr id="32" name="Connector 31"/>
          <p:cNvCxnSpPr/>
          <p:nvPr/>
        </p:nvCxnSpPr>
        <p:spPr>
          <a:xfrm flipH="1">
            <a:off x="3063240" y="3916679"/>
            <a:ext cx="1013460" cy="0"/>
          </a:xfrm>
          <a:prstGeom prst="line">
            <a:avLst/>
          </a:prstGeom>
          <a:ln w="15240">
            <a:solidFill>
              <a:srgbClr val="315E9C"/>
            </a:solidFill>
          </a:ln>
          <a:effectLst/>
        </p:spPr>
      </p:cxnSp>
      <p:sp>
        <p:nvSpPr>
          <p:cNvPr id="33" name="Freeform 32"/>
          <p:cNvSpPr/>
          <p:nvPr/>
        </p:nvSpPr>
        <p:spPr>
          <a:xfrm>
            <a:off x="3063240" y="3878580"/>
            <a:ext cx="99060" cy="76200"/>
          </a:xfrm>
          <a:custGeom>
            <a:avLst/>
            <a:gdLst/>
            <a:ahLst/>
            <a:cxnLst/>
            <a:rect l="l" t="t" r="r" b="b"/>
            <a:pathLst>
              <a:path w="13" h="10">
                <a:moveTo>
                  <a:pt x="0" y="5"/>
                </a:moveTo>
                <a:lnTo>
                  <a:pt x="13" y="10"/>
                </a:lnTo>
                <a:lnTo>
                  <a:pt x="13" y="0"/>
                </a:lnTo>
                <a:close/>
              </a:path>
            </a:pathLst>
          </a:custGeom>
          <a:solidFill>
            <a:srgbClr val="315E9C"/>
          </a:solidFill>
          <a:ln>
            <a:noFill/>
          </a:ln>
          <a:effectLst/>
        </p:spPr>
        <p:txBody>
          <a:bodyPr rtlCol="0" anchor="ctr"/>
          <a:lstStyle/>
          <a:p>
            <a:pPr algn="ctr"/>
          </a:p>
        </p:txBody>
      </p:sp>
      <p:cxnSp>
        <p:nvCxnSpPr>
          <p:cNvPr id="34" name="Connector 33"/>
          <p:cNvCxnSpPr/>
          <p:nvPr/>
        </p:nvCxnSpPr>
        <p:spPr>
          <a:xfrm>
            <a:off x="7353300" y="3916679"/>
            <a:ext cx="876300" cy="0"/>
          </a:xfrm>
          <a:prstGeom prst="line">
            <a:avLst/>
          </a:prstGeom>
          <a:ln w="15240">
            <a:solidFill>
              <a:srgbClr val="315E9C"/>
            </a:solidFill>
          </a:ln>
          <a:effectLst/>
        </p:spPr>
      </p:cxnSp>
      <p:sp>
        <p:nvSpPr>
          <p:cNvPr id="35" name="Freeform 34"/>
          <p:cNvSpPr/>
          <p:nvPr/>
        </p:nvSpPr>
        <p:spPr>
          <a:xfrm>
            <a:off x="8130540" y="38785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36" name="Connector 35"/>
          <p:cNvCxnSpPr/>
          <p:nvPr/>
        </p:nvCxnSpPr>
        <p:spPr>
          <a:xfrm flipV="1">
            <a:off x="1805939" y="3154679"/>
            <a:ext cx="0" cy="312421"/>
          </a:xfrm>
          <a:prstGeom prst="line">
            <a:avLst/>
          </a:prstGeom>
          <a:ln w="15240">
            <a:solidFill>
              <a:srgbClr val="315E9C"/>
            </a:solidFill>
          </a:ln>
          <a:effectLst/>
        </p:spPr>
      </p:cxnSp>
      <p:cxnSp>
        <p:nvCxnSpPr>
          <p:cNvPr id="37" name="Connector 36"/>
          <p:cNvCxnSpPr/>
          <p:nvPr/>
        </p:nvCxnSpPr>
        <p:spPr>
          <a:xfrm>
            <a:off x="1805939" y="3154679"/>
            <a:ext cx="8130541" cy="0"/>
          </a:xfrm>
          <a:prstGeom prst="line">
            <a:avLst/>
          </a:prstGeom>
          <a:ln w="15240">
            <a:solidFill>
              <a:srgbClr val="315E9C"/>
            </a:solidFill>
          </a:ln>
          <a:effectLst/>
        </p:spPr>
      </p:cxnSp>
      <p:cxnSp>
        <p:nvCxnSpPr>
          <p:cNvPr id="38" name="Connector 37"/>
          <p:cNvCxnSpPr/>
          <p:nvPr/>
        </p:nvCxnSpPr>
        <p:spPr>
          <a:xfrm>
            <a:off x="9936480" y="3154679"/>
            <a:ext cx="0" cy="312421"/>
          </a:xfrm>
          <a:prstGeom prst="line">
            <a:avLst/>
          </a:prstGeom>
          <a:ln w="15240">
            <a:solidFill>
              <a:srgbClr val="315E9C"/>
            </a:solidFill>
          </a:ln>
          <a:effectLst/>
        </p:spPr>
      </p:cxnSp>
      <p:sp>
        <p:nvSpPr>
          <p:cNvPr id="39" name="Freeform 38"/>
          <p:cNvSpPr/>
          <p:nvPr/>
        </p:nvSpPr>
        <p:spPr>
          <a:xfrm>
            <a:off x="9898380" y="33680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40" name="TextBox 39"/>
          <p:cNvSpPr txBox="1"/>
          <p:nvPr/>
        </p:nvSpPr>
        <p:spPr>
          <a:xfrm>
            <a:off x="6096000" y="2941320"/>
            <a:ext cx="53340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315E9C"/>
                </a:solidFill>
                <a:latin typeface="DejaVu Sans"/>
              </a:rPr>
              <a:t>Submit → get(input) · worker → get / create</a:t>
            </a:r>
          </a:p>
        </p:txBody>
      </p:sp>
      <p:sp>
        <p:nvSpPr>
          <p:cNvPr id="41" name="Rounded Rectangle 40"/>
          <p:cNvSpPr/>
          <p:nvPr/>
        </p:nvSpPr>
        <p:spPr>
          <a:xfrm>
            <a:off x="4076700" y="5158740"/>
            <a:ext cx="3276600" cy="800100"/>
          </a:xfrm>
          <a:prstGeom prst="roundRect">
            <a:avLst>
              <a:gd name="adj" fmla="val 12380"/>
            </a:avLst>
          </a:prstGeom>
          <a:solidFill>
            <a:srgbClr val="FFFFFF"/>
          </a:solidFill>
          <a:ln w="7620">
            <a:solidFill>
              <a:srgbClr val="315E9C"/>
            </a:solidFill>
          </a:ln>
          <a:effectLst/>
        </p:spPr>
        <p:txBody>
          <a:bodyPr rtlCol="0" anchor="ctr"/>
          <a:lstStyle/>
          <a:p>
            <a:pPr algn="ctr"/>
          </a:p>
        </p:txBody>
      </p:sp>
      <p:sp>
        <p:nvSpPr>
          <p:cNvPr id="42" name="TextBox 41"/>
          <p:cNvSpPr txBox="1"/>
          <p:nvPr/>
        </p:nvSpPr>
        <p:spPr>
          <a:xfrm>
            <a:off x="4244340" y="5326380"/>
            <a:ext cx="2941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Messaging</a:t>
            </a:r>
          </a:p>
        </p:txBody>
      </p:sp>
      <p:sp>
        <p:nvSpPr>
          <p:cNvPr id="43" name="TextBox 42"/>
          <p:cNvSpPr txBox="1"/>
          <p:nvPr/>
        </p:nvSpPr>
        <p:spPr>
          <a:xfrm>
            <a:off x="4244340" y="5675680"/>
            <a:ext cx="29413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send · poll · ack</a:t>
            </a:r>
          </a:p>
        </p:txBody>
      </p:sp>
      <p:cxnSp>
        <p:nvCxnSpPr>
          <p:cNvPr id="44" name="Connector 43"/>
          <p:cNvCxnSpPr/>
          <p:nvPr/>
        </p:nvCxnSpPr>
        <p:spPr>
          <a:xfrm>
            <a:off x="5715000" y="4381500"/>
            <a:ext cx="0" cy="777240"/>
          </a:xfrm>
          <a:prstGeom prst="line">
            <a:avLst/>
          </a:prstGeom>
          <a:ln w="15240">
            <a:solidFill>
              <a:srgbClr val="315E9C"/>
            </a:solidFill>
          </a:ln>
          <a:effectLst/>
        </p:spPr>
      </p:cxnSp>
      <p:sp>
        <p:nvSpPr>
          <p:cNvPr id="45" name="Freeform 44"/>
          <p:cNvSpPr/>
          <p:nvPr/>
        </p:nvSpPr>
        <p:spPr>
          <a:xfrm>
            <a:off x="5676900" y="505968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cxnSp>
        <p:nvCxnSpPr>
          <p:cNvPr id="46" name="Connector 45"/>
          <p:cNvCxnSpPr/>
          <p:nvPr/>
        </p:nvCxnSpPr>
        <p:spPr>
          <a:xfrm>
            <a:off x="1805939" y="4381500"/>
            <a:ext cx="0" cy="1173480"/>
          </a:xfrm>
          <a:prstGeom prst="line">
            <a:avLst/>
          </a:prstGeom>
          <a:ln w="15240">
            <a:solidFill>
              <a:srgbClr val="315E9C"/>
            </a:solidFill>
          </a:ln>
          <a:effectLst/>
        </p:spPr>
      </p:cxnSp>
      <p:cxnSp>
        <p:nvCxnSpPr>
          <p:cNvPr id="47" name="Connector 46"/>
          <p:cNvCxnSpPr/>
          <p:nvPr/>
        </p:nvCxnSpPr>
        <p:spPr>
          <a:xfrm>
            <a:off x="1805939" y="5554980"/>
            <a:ext cx="2270761" cy="0"/>
          </a:xfrm>
          <a:prstGeom prst="line">
            <a:avLst/>
          </a:prstGeom>
          <a:ln w="15240">
            <a:solidFill>
              <a:srgbClr val="315E9C"/>
            </a:solidFill>
          </a:ln>
          <a:effectLst/>
        </p:spPr>
      </p:cxnSp>
      <p:sp>
        <p:nvSpPr>
          <p:cNvPr id="48" name="Freeform 47"/>
          <p:cNvSpPr/>
          <p:nvPr/>
        </p:nvSpPr>
        <p:spPr>
          <a:xfrm>
            <a:off x="3977640" y="55168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49" name="TextBox 48"/>
          <p:cNvSpPr txBox="1"/>
          <p:nvPr/>
        </p:nvSpPr>
        <p:spPr>
          <a:xfrm>
            <a:off x="2148840" y="4770120"/>
            <a:ext cx="3276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0">
                <a:solidFill>
                  <a:srgbClr val="315E9C"/>
                </a:solidFill>
                <a:latin typeface="DejaVu Sans"/>
              </a:rPr>
              <a:t>Outbox → CompletionDelivery.accept</a:t>
            </a:r>
          </a:p>
        </p:txBody>
      </p:sp>
      <p:cxnSp>
        <p:nvCxnSpPr>
          <p:cNvPr id="50" name="Connector 49"/>
          <p:cNvCxnSpPr/>
          <p:nvPr/>
        </p:nvCxnSpPr>
        <p:spPr>
          <a:xfrm>
            <a:off x="7353300" y="5554980"/>
            <a:ext cx="419100" cy="0"/>
          </a:xfrm>
          <a:prstGeom prst="line">
            <a:avLst/>
          </a:prstGeom>
          <a:ln w="15240">
            <a:solidFill>
              <a:srgbClr val="315E9C"/>
            </a:solidFill>
          </a:ln>
          <a:effectLst/>
        </p:spPr>
      </p:cxnSp>
      <p:cxnSp>
        <p:nvCxnSpPr>
          <p:cNvPr id="51" name="Connector 50"/>
          <p:cNvCxnSpPr/>
          <p:nvPr/>
        </p:nvCxnSpPr>
        <p:spPr>
          <a:xfrm flipV="1">
            <a:off x="7772400" y="4191000"/>
            <a:ext cx="0" cy="1363980"/>
          </a:xfrm>
          <a:prstGeom prst="line">
            <a:avLst/>
          </a:prstGeom>
          <a:ln w="15240">
            <a:solidFill>
              <a:srgbClr val="315E9C"/>
            </a:solidFill>
          </a:ln>
          <a:effectLst/>
        </p:spPr>
      </p:cxnSp>
      <p:cxnSp>
        <p:nvCxnSpPr>
          <p:cNvPr id="52" name="Connector 51"/>
          <p:cNvCxnSpPr/>
          <p:nvPr/>
        </p:nvCxnSpPr>
        <p:spPr>
          <a:xfrm>
            <a:off x="7772400" y="4191000"/>
            <a:ext cx="457200" cy="0"/>
          </a:xfrm>
          <a:prstGeom prst="line">
            <a:avLst/>
          </a:prstGeom>
          <a:ln w="15240">
            <a:solidFill>
              <a:srgbClr val="315E9C"/>
            </a:solidFill>
          </a:ln>
          <a:effectLst/>
        </p:spPr>
      </p:cxnSp>
      <p:sp>
        <p:nvSpPr>
          <p:cNvPr id="53" name="Freeform 52"/>
          <p:cNvSpPr/>
          <p:nvPr/>
        </p:nvSpPr>
        <p:spPr>
          <a:xfrm>
            <a:off x="8130540" y="41529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54" name="TextBox 53"/>
          <p:cNvSpPr txBox="1"/>
          <p:nvPr/>
        </p:nvSpPr>
        <p:spPr>
          <a:xfrm>
            <a:off x="6111240" y="4770120"/>
            <a:ext cx="16002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315E9C"/>
                </a:solidFill>
                <a:latin typeface="DejaVu Sans"/>
              </a:rPr>
              <a:t>send → get(ref)</a:t>
            </a:r>
          </a:p>
        </p:txBody>
      </p:sp>
      <p:sp>
        <p:nvSpPr>
          <p:cNvPr id="55" name="Rounded Rectangle 54"/>
          <p:cNvSpPr/>
          <p:nvPr/>
        </p:nvSpPr>
        <p:spPr>
          <a:xfrm>
            <a:off x="8229600" y="5158740"/>
            <a:ext cx="3413760" cy="800100"/>
          </a:xfrm>
          <a:prstGeom prst="roundRect">
            <a:avLst>
              <a:gd name="adj" fmla="val 12380"/>
            </a:avLst>
          </a:prstGeom>
          <a:solidFill>
            <a:srgbClr val="DCEFE8"/>
          </a:solidFill>
          <a:ln w="7620">
            <a:solidFill>
              <a:srgbClr val="007C78"/>
            </a:solidFill>
          </a:ln>
          <a:effectLst/>
        </p:spPr>
        <p:txBody>
          <a:bodyPr rtlCol="0" anchor="ctr"/>
          <a:lstStyle/>
          <a:p>
            <a:pPr algn="ctr"/>
          </a:p>
        </p:txBody>
      </p:sp>
      <p:sp>
        <p:nvSpPr>
          <p:cNvPr id="56" name="TextBox 55"/>
          <p:cNvSpPr txBox="1"/>
          <p:nvPr/>
        </p:nvSpPr>
        <p:spPr>
          <a:xfrm>
            <a:off x="8397240" y="5326380"/>
            <a:ext cx="3078479"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DeTTa DA / FileStorage</a:t>
            </a:r>
          </a:p>
        </p:txBody>
      </p:sp>
      <p:sp>
        <p:nvSpPr>
          <p:cNvPr id="57" name="TextBox 56"/>
          <p:cNvSpPr txBox="1"/>
          <p:nvPr/>
        </p:nvSpPr>
        <p:spPr>
          <a:xfrm>
            <a:off x="8397240" y="5665927"/>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Opaque put · get · availability</a:t>
            </a:r>
          </a:p>
        </p:txBody>
      </p:sp>
      <p:cxnSp>
        <p:nvCxnSpPr>
          <p:cNvPr id="58" name="Connector 57"/>
          <p:cNvCxnSpPr/>
          <p:nvPr/>
        </p:nvCxnSpPr>
        <p:spPr>
          <a:xfrm>
            <a:off x="9936480" y="4381500"/>
            <a:ext cx="0" cy="777240"/>
          </a:xfrm>
          <a:prstGeom prst="line">
            <a:avLst/>
          </a:prstGeom>
          <a:ln w="15240">
            <a:solidFill>
              <a:srgbClr val="007C78"/>
            </a:solidFill>
          </a:ln>
          <a:effectLst/>
        </p:spPr>
      </p:cxnSp>
      <p:sp>
        <p:nvSpPr>
          <p:cNvPr id="59" name="Freeform 58"/>
          <p:cNvSpPr/>
          <p:nvPr/>
        </p:nvSpPr>
        <p:spPr>
          <a:xfrm>
            <a:off x="9898380" y="5059680"/>
            <a:ext cx="76200" cy="99060"/>
          </a:xfrm>
          <a:custGeom>
            <a:avLst/>
            <a:gdLst/>
            <a:ahLst/>
            <a:cxnLst/>
            <a:rect l="l" t="t" r="r" b="b"/>
            <a:pathLst>
              <a:path w="10" h="13">
                <a:moveTo>
                  <a:pt x="5" y="13"/>
                </a:moveTo>
                <a:lnTo>
                  <a:pt x="10" y="0"/>
                </a:lnTo>
                <a:lnTo>
                  <a:pt x="0" y="0"/>
                </a:lnTo>
                <a:close/>
              </a:path>
            </a:pathLst>
          </a:custGeom>
          <a:solidFill>
            <a:srgbClr val="007C78"/>
          </a:solidFill>
          <a:ln>
            <a:noFill/>
          </a:ln>
          <a:effectLst/>
        </p:spPr>
        <p:txBody>
          <a:bodyPr rtlCol="0" anchor="ctr"/>
          <a:lstStyle/>
          <a:p>
            <a:pPr algn="ctr"/>
          </a:p>
        </p:txBody>
      </p:sp>
      <p:sp>
        <p:nvSpPr>
          <p:cNvPr id="60" name="TextBox 59"/>
          <p:cNvSpPr txBox="1"/>
          <p:nvPr/>
        </p:nvSpPr>
        <p:spPr>
          <a:xfrm>
            <a:off x="662940" y="6065520"/>
            <a:ext cx="103632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Optional finality uses a separate caller + approved digest + signer; M1.2 does not invoke it.</a:t>
            </a:r>
          </a:p>
        </p:txBody>
      </p:sp>
      <p:cxnSp>
        <p:nvCxnSpPr>
          <p:cNvPr id="61" name="Connector 60"/>
          <p:cNvCxnSpPr/>
          <p:nvPr/>
        </p:nvCxnSpPr>
        <p:spPr>
          <a:xfrm>
            <a:off x="548640" y="6393180"/>
            <a:ext cx="11094720" cy="0"/>
          </a:xfrm>
          <a:prstGeom prst="line">
            <a:avLst/>
          </a:prstGeom>
          <a:ln w="7620">
            <a:solidFill>
              <a:srgbClr val="C9D2D4"/>
            </a:solidFill>
          </a:ln>
          <a:effectLst/>
        </p:spPr>
      </p:cxnSp>
      <p:sp>
        <p:nvSpPr>
          <p:cNvPr id="62" name="TextBox 6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program.py · ports.py · execution.py</a:t>
            </a:r>
          </a:p>
        </p:txBody>
      </p:sp>
      <p:sp>
        <p:nvSpPr>
          <p:cNvPr id="63" name="TextBox 6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BOUNDARY · APPLICATION-NEUTRAL PERSISTENCE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The DA boundary remains application-neutral</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external adapter translates application references into generic coordinates and opaque bytes.</a:t>
            </a:r>
          </a:p>
        </p:txBody>
      </p:sp>
      <p:sp>
        <p:nvSpPr>
          <p:cNvPr id="5" name="Rounded Rectangle 4"/>
          <p:cNvSpPr/>
          <p:nvPr/>
        </p:nvSpPr>
        <p:spPr>
          <a:xfrm>
            <a:off x="548640" y="1927859"/>
            <a:ext cx="3429000" cy="1249680"/>
          </a:xfrm>
          <a:prstGeom prst="roundRect">
            <a:avLst>
              <a:gd name="adj" fmla="val 7926"/>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95500"/>
            <a:ext cx="30937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Application contracts</a:t>
            </a:r>
          </a:p>
        </p:txBody>
      </p:sp>
      <p:sp>
        <p:nvSpPr>
          <p:cNvPr id="7" name="TextBox 6"/>
          <p:cNvSpPr txBox="1"/>
          <p:nvPr/>
        </p:nvSpPr>
        <p:spPr>
          <a:xfrm>
            <a:off x="716280" y="2464308"/>
            <a:ext cx="30937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Scope · references · replay</a:t>
            </a:r>
          </a:p>
        </p:txBody>
      </p:sp>
      <p:sp>
        <p:nvSpPr>
          <p:cNvPr id="8" name="TextBox 7"/>
          <p:cNvSpPr txBox="1"/>
          <p:nvPr/>
        </p:nvSpPr>
        <p:spPr>
          <a:xfrm>
            <a:off x="716280" y="2717901"/>
            <a:ext cx="30937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identity</a:t>
            </a:r>
          </a:p>
        </p:txBody>
      </p:sp>
      <p:sp>
        <p:nvSpPr>
          <p:cNvPr id="9" name="Rounded Rectangle 8"/>
          <p:cNvSpPr/>
          <p:nvPr/>
        </p:nvSpPr>
        <p:spPr>
          <a:xfrm>
            <a:off x="4716780" y="1927859"/>
            <a:ext cx="3086100" cy="1249680"/>
          </a:xfrm>
          <a:prstGeom prst="roundRect">
            <a:avLst>
              <a:gd name="adj" fmla="val 7926"/>
            </a:avLst>
          </a:prstGeom>
          <a:solidFill>
            <a:srgbClr val="DCEFE8"/>
          </a:solidFill>
          <a:ln w="7620">
            <a:solidFill>
              <a:srgbClr val="007C78"/>
            </a:solidFill>
          </a:ln>
          <a:effectLst/>
        </p:spPr>
        <p:txBody>
          <a:bodyPr rtlCol="0" anchor="ctr"/>
          <a:lstStyle/>
          <a:p>
            <a:pPr algn="ctr"/>
          </a:p>
        </p:txBody>
      </p:sp>
      <p:sp>
        <p:nvSpPr>
          <p:cNvPr id="10" name="TextBox 9"/>
          <p:cNvSpPr txBox="1"/>
          <p:nvPr/>
        </p:nvSpPr>
        <p:spPr>
          <a:xfrm>
            <a:off x="4884420" y="2095500"/>
            <a:ext cx="27508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External adapter</a:t>
            </a:r>
          </a:p>
        </p:txBody>
      </p:sp>
      <p:sp>
        <p:nvSpPr>
          <p:cNvPr id="11" name="TextBox 10"/>
          <p:cNvSpPr txBox="1"/>
          <p:nvPr/>
        </p:nvSpPr>
        <p:spPr>
          <a:xfrm>
            <a:off x="4884420" y="2464308"/>
            <a:ext cx="27508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Opaque payload + generic</a:t>
            </a:r>
          </a:p>
        </p:txBody>
      </p:sp>
      <p:sp>
        <p:nvSpPr>
          <p:cNvPr id="12" name="TextBox 11"/>
          <p:cNvSpPr txBox="1"/>
          <p:nvPr/>
        </p:nvSpPr>
        <p:spPr>
          <a:xfrm>
            <a:off x="4884420" y="2717901"/>
            <a:ext cx="27508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coordinate</a:t>
            </a:r>
          </a:p>
        </p:txBody>
      </p:sp>
      <p:sp>
        <p:nvSpPr>
          <p:cNvPr id="13" name="Rounded Rectangle 12"/>
          <p:cNvSpPr/>
          <p:nvPr/>
        </p:nvSpPr>
        <p:spPr>
          <a:xfrm>
            <a:off x="8542020" y="1927859"/>
            <a:ext cx="3101340" cy="1249680"/>
          </a:xfrm>
          <a:prstGeom prst="roundRect">
            <a:avLst>
              <a:gd name="adj" fmla="val 7926"/>
            </a:avLst>
          </a:prstGeom>
          <a:solidFill>
            <a:srgbClr val="DCEFE8"/>
          </a:solidFill>
          <a:ln w="7620">
            <a:solidFill>
              <a:srgbClr val="007C78"/>
            </a:solidFill>
          </a:ln>
          <a:effectLst/>
        </p:spPr>
        <p:txBody>
          <a:bodyPr rtlCol="0" anchor="ctr"/>
          <a:lstStyle/>
          <a:p>
            <a:pPr algn="ctr"/>
          </a:p>
        </p:txBody>
      </p:sp>
      <p:sp>
        <p:nvSpPr>
          <p:cNvPr id="14" name="TextBox 13"/>
          <p:cNvSpPr txBox="1"/>
          <p:nvPr/>
        </p:nvSpPr>
        <p:spPr>
          <a:xfrm>
            <a:off x="8709660" y="2095500"/>
            <a:ext cx="276606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DeTTa core</a:t>
            </a:r>
          </a:p>
        </p:txBody>
      </p:sp>
      <p:sp>
        <p:nvSpPr>
          <p:cNvPr id="15" name="TextBox 14"/>
          <p:cNvSpPr txBox="1"/>
          <p:nvPr/>
        </p:nvSpPr>
        <p:spPr>
          <a:xfrm>
            <a:off x="8709660" y="2464308"/>
            <a:ext cx="276606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DA encoding + FileStorage</a:t>
            </a:r>
          </a:p>
        </p:txBody>
      </p:sp>
      <p:cxnSp>
        <p:nvCxnSpPr>
          <p:cNvPr id="16" name="Connector 15"/>
          <p:cNvCxnSpPr/>
          <p:nvPr/>
        </p:nvCxnSpPr>
        <p:spPr>
          <a:xfrm>
            <a:off x="3977640" y="2552700"/>
            <a:ext cx="739140" cy="0"/>
          </a:xfrm>
          <a:prstGeom prst="line">
            <a:avLst/>
          </a:prstGeom>
          <a:ln w="15240">
            <a:solidFill>
              <a:srgbClr val="007C78"/>
            </a:solidFill>
          </a:ln>
          <a:effectLst/>
        </p:spPr>
      </p:cxnSp>
      <p:sp>
        <p:nvSpPr>
          <p:cNvPr id="17" name="Freeform 16"/>
          <p:cNvSpPr/>
          <p:nvPr/>
        </p:nvSpPr>
        <p:spPr>
          <a:xfrm>
            <a:off x="4617720" y="25146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8" name="Connector 17"/>
          <p:cNvCxnSpPr/>
          <p:nvPr/>
        </p:nvCxnSpPr>
        <p:spPr>
          <a:xfrm>
            <a:off x="7802880" y="2552700"/>
            <a:ext cx="739140" cy="0"/>
          </a:xfrm>
          <a:prstGeom prst="line">
            <a:avLst/>
          </a:prstGeom>
          <a:ln w="15240">
            <a:solidFill>
              <a:srgbClr val="007C78"/>
            </a:solidFill>
          </a:ln>
          <a:effectLst/>
        </p:spPr>
      </p:cxnSp>
      <p:sp>
        <p:nvSpPr>
          <p:cNvPr id="19" name="Freeform 18"/>
          <p:cNvSpPr/>
          <p:nvPr/>
        </p:nvSpPr>
        <p:spPr>
          <a:xfrm>
            <a:off x="8442960" y="25146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0" name="TextBox 19"/>
          <p:cNvSpPr txBox="1"/>
          <p:nvPr/>
        </p:nvSpPr>
        <p:spPr>
          <a:xfrm>
            <a:off x="571500" y="3634740"/>
            <a:ext cx="7620000" cy="370636"/>
          </a:xfrm>
          <a:prstGeom prst="rect">
            <a:avLst/>
          </a:prstGeom>
          <a:noFill/>
        </p:spPr>
        <p:txBody>
          <a:bodyPr wrap="none" lIns="0" rIns="0" tIns="0" bIns="0" anchor="t" anchorCtr="0">
            <a:noAutofit/>
          </a:bodyPr>
          <a:lstStyle/>
          <a:p>
            <a:pPr algn="l">
              <a:lnSpc>
                <a:spcPct val="100000"/>
              </a:lnSpc>
              <a:spcBef>
                <a:spcPts val="0"/>
              </a:spcBef>
              <a:spcAft>
                <a:spcPts val="0"/>
              </a:spcAft>
            </a:pPr>
            <a:r>
              <a:rPr sz="2280" b="1">
                <a:solidFill>
                  <a:srgbClr val="102B3F"/>
                </a:solidFill>
                <a:latin typeface="DejaVu Sans"/>
              </a:rPr>
              <a:t>4 data shares + 2 parity shares</a:t>
            </a:r>
          </a:p>
        </p:txBody>
      </p:sp>
      <p:sp>
        <p:nvSpPr>
          <p:cNvPr id="21" name="Rounded Rectangle 20"/>
          <p:cNvSpPr/>
          <p:nvPr/>
        </p:nvSpPr>
        <p:spPr>
          <a:xfrm>
            <a:off x="56388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2" name="TextBox 21"/>
          <p:cNvSpPr txBox="1"/>
          <p:nvPr/>
        </p:nvSpPr>
        <p:spPr>
          <a:xfrm>
            <a:off x="80010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S1</a:t>
            </a:r>
          </a:p>
        </p:txBody>
      </p:sp>
      <p:sp>
        <p:nvSpPr>
          <p:cNvPr id="23" name="TextBox 22"/>
          <p:cNvSpPr txBox="1"/>
          <p:nvPr/>
        </p:nvSpPr>
        <p:spPr>
          <a:xfrm>
            <a:off x="68580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24" name="Rounded Rectangle 23"/>
          <p:cNvSpPr/>
          <p:nvPr/>
        </p:nvSpPr>
        <p:spPr>
          <a:xfrm>
            <a:off x="1729739"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5" name="TextBox 24"/>
          <p:cNvSpPr txBox="1"/>
          <p:nvPr/>
        </p:nvSpPr>
        <p:spPr>
          <a:xfrm>
            <a:off x="1965959"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S2</a:t>
            </a:r>
          </a:p>
        </p:txBody>
      </p:sp>
      <p:sp>
        <p:nvSpPr>
          <p:cNvPr id="26" name="TextBox 25"/>
          <p:cNvSpPr txBox="1"/>
          <p:nvPr/>
        </p:nvSpPr>
        <p:spPr>
          <a:xfrm>
            <a:off x="1851659"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27" name="Rounded Rectangle 26"/>
          <p:cNvSpPr/>
          <p:nvPr/>
        </p:nvSpPr>
        <p:spPr>
          <a:xfrm>
            <a:off x="289560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8" name="TextBox 27"/>
          <p:cNvSpPr txBox="1"/>
          <p:nvPr/>
        </p:nvSpPr>
        <p:spPr>
          <a:xfrm>
            <a:off x="313182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S3</a:t>
            </a:r>
          </a:p>
        </p:txBody>
      </p:sp>
      <p:sp>
        <p:nvSpPr>
          <p:cNvPr id="29" name="TextBox 28"/>
          <p:cNvSpPr txBox="1"/>
          <p:nvPr/>
        </p:nvSpPr>
        <p:spPr>
          <a:xfrm>
            <a:off x="301752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30" name="Rounded Rectangle 29"/>
          <p:cNvSpPr/>
          <p:nvPr/>
        </p:nvSpPr>
        <p:spPr>
          <a:xfrm>
            <a:off x="406146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31" name="TextBox 30"/>
          <p:cNvSpPr txBox="1"/>
          <p:nvPr/>
        </p:nvSpPr>
        <p:spPr>
          <a:xfrm>
            <a:off x="429768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S4</a:t>
            </a:r>
          </a:p>
        </p:txBody>
      </p:sp>
      <p:sp>
        <p:nvSpPr>
          <p:cNvPr id="32" name="TextBox 31"/>
          <p:cNvSpPr txBox="1"/>
          <p:nvPr/>
        </p:nvSpPr>
        <p:spPr>
          <a:xfrm>
            <a:off x="4183379"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33" name="Rounded Rectangle 32"/>
          <p:cNvSpPr/>
          <p:nvPr/>
        </p:nvSpPr>
        <p:spPr>
          <a:xfrm>
            <a:off x="5227320" y="4229100"/>
            <a:ext cx="952500" cy="876300"/>
          </a:xfrm>
          <a:prstGeom prst="roundRect">
            <a:avLst>
              <a:gd name="adj" fmla="val 8695"/>
            </a:avLst>
          </a:prstGeom>
          <a:solidFill>
            <a:srgbClr val="E7ECEB"/>
          </a:solidFill>
          <a:ln w="7620">
            <a:solidFill>
              <a:srgbClr val="C9D2D4"/>
            </a:solidFill>
            <a:prstDash val="dash"/>
          </a:ln>
          <a:effectLst/>
        </p:spPr>
        <p:txBody>
          <a:bodyPr rtlCol="0" anchor="ctr"/>
          <a:lstStyle/>
          <a:p>
            <a:pPr algn="ctr"/>
          </a:p>
        </p:txBody>
      </p:sp>
      <p:sp>
        <p:nvSpPr>
          <p:cNvPr id="34" name="TextBox 33"/>
          <p:cNvSpPr txBox="1"/>
          <p:nvPr/>
        </p:nvSpPr>
        <p:spPr>
          <a:xfrm>
            <a:off x="546354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536775"/>
                </a:solidFill>
                <a:latin typeface="DejaVu Sans Mono"/>
              </a:rPr>
              <a:t>S5</a:t>
            </a:r>
          </a:p>
        </p:txBody>
      </p:sp>
      <p:sp>
        <p:nvSpPr>
          <p:cNvPr id="35" name="TextBox 34"/>
          <p:cNvSpPr txBox="1"/>
          <p:nvPr/>
        </p:nvSpPr>
        <p:spPr>
          <a:xfrm>
            <a:off x="534924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removed</a:t>
            </a:r>
          </a:p>
        </p:txBody>
      </p:sp>
      <p:sp>
        <p:nvSpPr>
          <p:cNvPr id="36" name="Rounded Rectangle 35"/>
          <p:cNvSpPr/>
          <p:nvPr/>
        </p:nvSpPr>
        <p:spPr>
          <a:xfrm>
            <a:off x="6393180" y="4229100"/>
            <a:ext cx="952500" cy="876300"/>
          </a:xfrm>
          <a:prstGeom prst="roundRect">
            <a:avLst>
              <a:gd name="adj" fmla="val 8695"/>
            </a:avLst>
          </a:prstGeom>
          <a:solidFill>
            <a:srgbClr val="E7ECEB"/>
          </a:solidFill>
          <a:ln w="7620">
            <a:solidFill>
              <a:srgbClr val="C9D2D4"/>
            </a:solidFill>
            <a:prstDash val="dash"/>
          </a:ln>
          <a:effectLst/>
        </p:spPr>
        <p:txBody>
          <a:bodyPr rtlCol="0" anchor="ctr"/>
          <a:lstStyle/>
          <a:p>
            <a:pPr algn="ctr"/>
          </a:p>
        </p:txBody>
      </p:sp>
      <p:sp>
        <p:nvSpPr>
          <p:cNvPr id="37" name="TextBox 36"/>
          <p:cNvSpPr txBox="1"/>
          <p:nvPr/>
        </p:nvSpPr>
        <p:spPr>
          <a:xfrm>
            <a:off x="662940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536775"/>
                </a:solidFill>
                <a:latin typeface="DejaVu Sans Mono"/>
              </a:rPr>
              <a:t>S6</a:t>
            </a:r>
          </a:p>
        </p:txBody>
      </p:sp>
      <p:sp>
        <p:nvSpPr>
          <p:cNvPr id="38" name="TextBox 37"/>
          <p:cNvSpPr txBox="1"/>
          <p:nvPr/>
        </p:nvSpPr>
        <p:spPr>
          <a:xfrm>
            <a:off x="651510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removed</a:t>
            </a:r>
          </a:p>
        </p:txBody>
      </p:sp>
      <p:sp>
        <p:nvSpPr>
          <p:cNvPr id="39" name="Rounded Rectangle 38"/>
          <p:cNvSpPr/>
          <p:nvPr/>
        </p:nvSpPr>
        <p:spPr>
          <a:xfrm>
            <a:off x="8077200" y="3855719"/>
            <a:ext cx="3566160" cy="1485900"/>
          </a:xfrm>
          <a:prstGeom prst="roundRect">
            <a:avLst>
              <a:gd name="adj" fmla="val 6666"/>
            </a:avLst>
          </a:prstGeom>
          <a:solidFill>
            <a:srgbClr val="FFFFFF"/>
          </a:solidFill>
          <a:ln w="7620">
            <a:solidFill>
              <a:srgbClr val="007C78"/>
            </a:solidFill>
          </a:ln>
          <a:effectLst/>
        </p:spPr>
        <p:txBody>
          <a:bodyPr rtlCol="0" anchor="ctr"/>
          <a:lstStyle/>
          <a:p>
            <a:pPr algn="ctr"/>
          </a:p>
        </p:txBody>
      </p:sp>
      <p:sp>
        <p:nvSpPr>
          <p:cNvPr id="40" name="TextBox 39"/>
          <p:cNvSpPr txBox="1"/>
          <p:nvPr/>
        </p:nvSpPr>
        <p:spPr>
          <a:xfrm>
            <a:off x="8244839" y="4023360"/>
            <a:ext cx="323087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Observed reconstruction</a:t>
            </a:r>
          </a:p>
        </p:txBody>
      </p:sp>
      <p:sp>
        <p:nvSpPr>
          <p:cNvPr id="41" name="TextBox 40"/>
          <p:cNvSpPr txBox="1"/>
          <p:nvPr/>
        </p:nvSpPr>
        <p:spPr>
          <a:xfrm>
            <a:off x="8244839" y="4372660"/>
            <a:ext cx="3230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Cached payload + two shares</a:t>
            </a:r>
          </a:p>
        </p:txBody>
      </p:sp>
      <p:sp>
        <p:nvSpPr>
          <p:cNvPr id="42" name="TextBox 41"/>
          <p:cNvSpPr txBox="1"/>
          <p:nvPr/>
        </p:nvSpPr>
        <p:spPr>
          <a:xfrm>
            <a:off x="8244839" y="4606747"/>
            <a:ext cx="3230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removed: exact bytes recovered. A</a:t>
            </a:r>
          </a:p>
        </p:txBody>
      </p:sp>
      <p:sp>
        <p:nvSpPr>
          <p:cNvPr id="43" name="TextBox 42"/>
          <p:cNvSpPr txBox="1"/>
          <p:nvPr/>
        </p:nvSpPr>
        <p:spPr>
          <a:xfrm>
            <a:off x="8244839" y="4840833"/>
            <a:ext cx="3230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third missing share is unavailable.</a:t>
            </a:r>
          </a:p>
        </p:txBody>
      </p:sp>
      <p:sp>
        <p:nvSpPr>
          <p:cNvPr id="44" name="Rounded Rectangle 4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5" name="TextBox 44"/>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The DA core does not interpret Hive identities, truth values, attention balances or job state.</a:t>
            </a:r>
          </a:p>
        </p:txBody>
      </p:sp>
      <p:cxnSp>
        <p:nvCxnSpPr>
          <p:cNvPr id="46" name="Connector 45"/>
          <p:cNvCxnSpPr/>
          <p:nvPr/>
        </p:nvCxnSpPr>
        <p:spPr>
          <a:xfrm>
            <a:off x="548640" y="6393180"/>
            <a:ext cx="11094720" cy="0"/>
          </a:xfrm>
          <a:prstGeom prst="line">
            <a:avLst/>
          </a:prstGeom>
          <a:ln w="7620">
            <a:solidFill>
              <a:srgbClr val="C9D2D4"/>
            </a:solidFill>
          </a:ln>
          <a:effectLst/>
        </p:spPr>
      </p:cxnSp>
      <p:sp>
        <p:nvSpPr>
          <p:cNvPr id="47" name="TextBox 4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adapters/detta/src/main.rs · test_contract.py</a:t>
            </a:r>
          </a:p>
        </p:txBody>
      </p:sp>
      <p:sp>
        <p:nvSpPr>
          <p:cNvPr id="48" name="TextBox 4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PROVIDER REPLACEMENT</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Two independent substitutions, one design principle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Select semantics and capabilities explicitly; keep callers independent of provider internals.</a:t>
            </a:r>
          </a:p>
        </p:txBody>
      </p:sp>
      <p:sp>
        <p:nvSpPr>
          <p:cNvPr id="5" name="Rounded Rectangle 4"/>
          <p:cNvSpPr/>
          <p:nvPr/>
        </p:nvSpPr>
        <p:spPr>
          <a:xfrm>
            <a:off x="548640" y="1920239"/>
            <a:ext cx="5364480" cy="2667000"/>
          </a:xfrm>
          <a:prstGeom prst="roundRect">
            <a:avLst>
              <a:gd name="adj" fmla="val 3714"/>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87880"/>
            <a:ext cx="50292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AtomStorage · preserved M1/M2</a:t>
            </a:r>
          </a:p>
        </p:txBody>
      </p:sp>
      <p:sp>
        <p:nvSpPr>
          <p:cNvPr id="7" name="TextBox 6"/>
          <p:cNvSpPr txBox="1"/>
          <p:nvPr/>
        </p:nvSpPr>
        <p:spPr>
          <a:xfrm>
            <a:off x="716280" y="2495702"/>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Real local DeTTa or an independent</a:t>
            </a:r>
          </a:p>
        </p:txBody>
      </p:sp>
      <p:sp>
        <p:nvSpPr>
          <p:cNvPr id="8" name="TextBox 7"/>
          <p:cNvSpPr txBox="1"/>
          <p:nvPr/>
        </p:nvSpPr>
        <p:spPr>
          <a:xfrm>
            <a:off x="716280" y="2778556"/>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atomic-file fixture.</a:t>
            </a:r>
          </a:p>
        </p:txBody>
      </p:sp>
      <p:sp>
        <p:nvSpPr>
          <p:cNvPr id="9" name="TextBox 8"/>
          <p:cNvSpPr txBox="1"/>
          <p:nvPr/>
        </p:nvSpPr>
        <p:spPr>
          <a:xfrm>
            <a:off x="716280" y="3061411"/>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
            </a:r>
          </a:p>
        </p:txBody>
      </p:sp>
      <p:sp>
        <p:nvSpPr>
          <p:cNvPr id="10" name="TextBox 9"/>
          <p:cNvSpPr txBox="1"/>
          <p:nvPr/>
        </p:nvSpPr>
        <p:spPr>
          <a:xfrm>
            <a:off x="716280" y="3344265"/>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In-process and private stdio bindings pass</a:t>
            </a:r>
          </a:p>
        </p:txBody>
      </p:sp>
      <p:sp>
        <p:nvSpPr>
          <p:cNvPr id="11" name="TextBox 10"/>
          <p:cNvSpPr txBox="1"/>
          <p:nvPr/>
        </p:nvSpPr>
        <p:spPr>
          <a:xfrm>
            <a:off x="716280" y="3627119"/>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the same workflow.</a:t>
            </a:r>
          </a:p>
        </p:txBody>
      </p:sp>
      <p:sp>
        <p:nvSpPr>
          <p:cNvPr id="12" name="Rounded Rectangle 11"/>
          <p:cNvSpPr/>
          <p:nvPr/>
        </p:nvSpPr>
        <p:spPr>
          <a:xfrm>
            <a:off x="6096000" y="1920239"/>
            <a:ext cx="5547360" cy="2667000"/>
          </a:xfrm>
          <a:prstGeom prst="roundRect">
            <a:avLst>
              <a:gd name="adj" fmla="val 3714"/>
            </a:avLst>
          </a:prstGeom>
          <a:solidFill>
            <a:srgbClr val="E4EBF5"/>
          </a:solidFill>
          <a:ln w="7620">
            <a:solidFill>
              <a:srgbClr val="315E9C"/>
            </a:solidFill>
          </a:ln>
          <a:effectLst/>
        </p:spPr>
        <p:txBody>
          <a:bodyPr rtlCol="0" anchor="ctr"/>
          <a:lstStyle/>
          <a:p>
            <a:pPr algn="ctr"/>
          </a:p>
        </p:txBody>
      </p:sp>
      <p:sp>
        <p:nvSpPr>
          <p:cNvPr id="13" name="TextBox 12"/>
          <p:cNvSpPr txBox="1"/>
          <p:nvPr/>
        </p:nvSpPr>
        <p:spPr>
          <a:xfrm>
            <a:off x="6263640" y="2087880"/>
            <a:ext cx="521208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Attention · new in M3</a:t>
            </a:r>
          </a:p>
        </p:txBody>
      </p:sp>
      <p:sp>
        <p:nvSpPr>
          <p:cNvPr id="14" name="TextBox 13"/>
          <p:cNvSpPr txBox="1"/>
          <p:nvPr/>
        </p:nvSpPr>
        <p:spPr>
          <a:xfrm>
            <a:off x="6263640" y="2495702"/>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SQLite owner or an independent atomic-file</a:t>
            </a:r>
          </a:p>
        </p:txBody>
      </p:sp>
      <p:sp>
        <p:nvSpPr>
          <p:cNvPr id="15" name="TextBox 14"/>
          <p:cNvSpPr txBox="1"/>
          <p:nvPr/>
        </p:nvSpPr>
        <p:spPr>
          <a:xfrm>
            <a:off x="6263640" y="2778556"/>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fixture.</a:t>
            </a:r>
          </a:p>
        </p:txBody>
      </p:sp>
      <p:sp>
        <p:nvSpPr>
          <p:cNvPr id="16" name="TextBox 15"/>
          <p:cNvSpPr txBox="1"/>
          <p:nvPr/>
        </p:nvSpPr>
        <p:spPr>
          <a:xfrm>
            <a:off x="6263640" y="3061411"/>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
            </a:r>
          </a:p>
        </p:txBody>
      </p:sp>
      <p:sp>
        <p:nvSpPr>
          <p:cNvPr id="17" name="TextBox 16"/>
          <p:cNvSpPr txBox="1"/>
          <p:nvPr/>
        </p:nvSpPr>
        <p:spPr>
          <a:xfrm>
            <a:off x="6263640" y="3344265"/>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Same STI policy, tasks and budgets;</a:t>
            </a:r>
          </a:p>
        </p:txBody>
      </p:sp>
      <p:sp>
        <p:nvSpPr>
          <p:cNvPr id="18" name="TextBox 17"/>
          <p:cNvSpPr txBox="1"/>
          <p:nvPr/>
        </p:nvSpPr>
        <p:spPr>
          <a:xfrm>
            <a:off x="6263640" y="3627119"/>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unchanged consumer produces matching</a:t>
            </a:r>
          </a:p>
        </p:txBody>
      </p:sp>
      <p:sp>
        <p:nvSpPr>
          <p:cNvPr id="19" name="TextBox 18"/>
          <p:cNvSpPr txBox="1"/>
          <p:nvPr/>
        </p:nvSpPr>
        <p:spPr>
          <a:xfrm>
            <a:off x="6263640" y="3909974"/>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outcomes.</a:t>
            </a:r>
          </a:p>
        </p:txBody>
      </p:sp>
      <p:sp>
        <p:nvSpPr>
          <p:cNvPr id="20" name="TextBox 19"/>
          <p:cNvSpPr txBox="1"/>
          <p:nvPr/>
        </p:nvSpPr>
        <p:spPr>
          <a:xfrm>
            <a:off x="579120" y="4945380"/>
            <a:ext cx="109728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No shared owner transitions, inheritance or private-table access in the attention</a:t>
            </a:r>
          </a:p>
        </p:txBody>
      </p:sp>
      <p:sp>
        <p:nvSpPr>
          <p:cNvPr id="21" name="TextBox 20"/>
          <p:cNvSpPr txBox="1"/>
          <p:nvPr/>
        </p:nvSpPr>
        <p:spPr>
          <a:xfrm>
            <a:off x="579120" y="5228234"/>
            <a:ext cx="109728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replacement.</a:t>
            </a:r>
          </a:p>
        </p:txBody>
      </p:sp>
      <p:sp>
        <p:nvSpPr>
          <p:cNvPr id="22" name="Rounded Rectangle 2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3" name="TextBox 22"/>
          <p:cNvSpPr txBox="1"/>
          <p:nvPr/>
        </p:nvSpPr>
        <p:spPr>
          <a:xfrm>
            <a:off x="716280" y="5905500"/>
            <a:ext cx="10744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These are fresh-store replacements. Existing accepted state is not migrated.</a:t>
            </a:r>
          </a:p>
        </p:txBody>
      </p:sp>
      <p:cxnSp>
        <p:nvCxnSpPr>
          <p:cNvPr id="24" name="Connector 23"/>
          <p:cNvCxnSpPr/>
          <p:nvPr/>
        </p:nvCxnSpPr>
        <p:spPr>
          <a:xfrm>
            <a:off x="548640" y="6393180"/>
            <a:ext cx="11094720" cy="0"/>
          </a:xfrm>
          <a:prstGeom prst="line">
            <a:avLst/>
          </a:prstGeom>
          <a:ln w="7620">
            <a:solidFill>
              <a:srgbClr val="C9D2D4"/>
            </a:solidFill>
          </a:ln>
          <a:effectLst/>
        </p:spPr>
      </p:cxnSp>
      <p:sp>
        <p:nvSpPr>
          <p:cNvPr id="25" name="TextBox 2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m11-swap-demo.json · m3/final/comparison.json</a:t>
            </a:r>
          </a:p>
        </p:txBody>
      </p:sp>
      <p:sp>
        <p:nvSpPr>
          <p:cNvPr id="26" name="TextBox 2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PRIVACY AND AUTHORIZATION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Private state has explicit owners and placement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trusted Hive actor maps to an operator-configured private scope and credential.</a:t>
            </a:r>
          </a:p>
        </p:txBody>
      </p:sp>
      <p:sp>
        <p:nvSpPr>
          <p:cNvPr id="5" name="Rounded Rectangle 4"/>
          <p:cNvSpPr/>
          <p:nvPr/>
        </p:nvSpPr>
        <p:spPr>
          <a:xfrm>
            <a:off x="548640" y="1851659"/>
            <a:ext cx="7162800" cy="3710940"/>
          </a:xfrm>
          <a:prstGeom prst="roundRect">
            <a:avLst>
              <a:gd name="adj" fmla="val 2874"/>
            </a:avLst>
          </a:prstGeom>
          <a:solidFill>
            <a:srgbClr val="E4EBF5"/>
          </a:solidFill>
          <a:ln>
            <a:noFill/>
          </a:ln>
          <a:effectLst/>
        </p:spPr>
        <p:txBody>
          <a:bodyPr rtlCol="0" anchor="ctr"/>
          <a:lstStyle/>
          <a:p>
            <a:pPr algn="ctr"/>
          </a:p>
        </p:txBody>
      </p:sp>
      <p:sp>
        <p:nvSpPr>
          <p:cNvPr id="6" name="TextBox 5"/>
          <p:cNvSpPr txBox="1"/>
          <p:nvPr/>
        </p:nvSpPr>
        <p:spPr>
          <a:xfrm>
            <a:off x="746760" y="2042159"/>
            <a:ext cx="67818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PRIVATE LOCAL COMPOSITION</a:t>
            </a:r>
          </a:p>
        </p:txBody>
      </p:sp>
      <p:sp>
        <p:nvSpPr>
          <p:cNvPr id="7" name="Rounded Rectangle 6"/>
          <p:cNvSpPr/>
          <p:nvPr/>
        </p:nvSpPr>
        <p:spPr>
          <a:xfrm>
            <a:off x="746760" y="2506980"/>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8" name="TextBox 7"/>
          <p:cNvSpPr txBox="1"/>
          <p:nvPr/>
        </p:nvSpPr>
        <p:spPr>
          <a:xfrm>
            <a:off x="914400" y="267462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C1 · Episodes</a:t>
            </a:r>
          </a:p>
        </p:txBody>
      </p:sp>
      <p:sp>
        <p:nvSpPr>
          <p:cNvPr id="9" name="TextBox 8"/>
          <p:cNvSpPr txBox="1"/>
          <p:nvPr/>
        </p:nvSpPr>
        <p:spPr>
          <a:xfrm>
            <a:off x="914400" y="303367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History + delivery intents</a:t>
            </a:r>
          </a:p>
        </p:txBody>
      </p:sp>
      <p:sp>
        <p:nvSpPr>
          <p:cNvPr id="10" name="Rounded Rectangle 9"/>
          <p:cNvSpPr/>
          <p:nvPr/>
        </p:nvSpPr>
        <p:spPr>
          <a:xfrm>
            <a:off x="4229100" y="2506980"/>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11" name="TextBox 10"/>
          <p:cNvSpPr txBox="1"/>
          <p:nvPr/>
        </p:nvSpPr>
        <p:spPr>
          <a:xfrm>
            <a:off x="4396740" y="267462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C2 · Beliefs</a:t>
            </a:r>
          </a:p>
        </p:txBody>
      </p:sp>
      <p:sp>
        <p:nvSpPr>
          <p:cNvPr id="12" name="TextBox 11"/>
          <p:cNvSpPr txBox="1"/>
          <p:nvPr/>
        </p:nvSpPr>
        <p:spPr>
          <a:xfrm>
            <a:off x="4396740" y="303367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Supports + exact attempts</a:t>
            </a:r>
          </a:p>
        </p:txBody>
      </p:sp>
      <p:sp>
        <p:nvSpPr>
          <p:cNvPr id="13" name="Rounded Rectangle 12"/>
          <p:cNvSpPr/>
          <p:nvPr/>
        </p:nvSpPr>
        <p:spPr>
          <a:xfrm>
            <a:off x="746760" y="3931919"/>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914400" y="409956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C3 · Attention</a:t>
            </a:r>
          </a:p>
        </p:txBody>
      </p:sp>
      <p:sp>
        <p:nvSpPr>
          <p:cNvPr id="15" name="TextBox 14"/>
          <p:cNvSpPr txBox="1"/>
          <p:nvPr/>
        </p:nvSpPr>
        <p:spPr>
          <a:xfrm>
            <a:off x="914400" y="445861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STI + clock + causal replay</a:t>
            </a:r>
          </a:p>
        </p:txBody>
      </p:sp>
      <p:sp>
        <p:nvSpPr>
          <p:cNvPr id="16" name="Rounded Rectangle 15"/>
          <p:cNvSpPr/>
          <p:nvPr/>
        </p:nvSpPr>
        <p:spPr>
          <a:xfrm>
            <a:off x="4229100" y="3931919"/>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17" name="TextBox 16"/>
          <p:cNvSpPr txBox="1"/>
          <p:nvPr/>
        </p:nvSpPr>
        <p:spPr>
          <a:xfrm>
            <a:off x="4396740" y="409956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C4 · Controller</a:t>
            </a:r>
          </a:p>
        </p:txBody>
      </p:sp>
      <p:sp>
        <p:nvSpPr>
          <p:cNvPr id="18" name="TextBox 17"/>
          <p:cNvSpPr txBox="1"/>
          <p:nvPr/>
        </p:nvSpPr>
        <p:spPr>
          <a:xfrm>
            <a:off x="4396740" y="445861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Budgets + progress +</a:t>
            </a:r>
          </a:p>
        </p:txBody>
      </p:sp>
      <p:sp>
        <p:nvSpPr>
          <p:cNvPr id="19" name="TextBox 18"/>
          <p:cNvSpPr txBox="1"/>
          <p:nvPr/>
        </p:nvSpPr>
        <p:spPr>
          <a:xfrm>
            <a:off x="4396740" y="470245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feedback</a:t>
            </a:r>
          </a:p>
        </p:txBody>
      </p:sp>
      <p:sp>
        <p:nvSpPr>
          <p:cNvPr id="20" name="Rounded Rectangle 19"/>
          <p:cNvSpPr/>
          <p:nvPr/>
        </p:nvSpPr>
        <p:spPr>
          <a:xfrm>
            <a:off x="8244839" y="1851659"/>
            <a:ext cx="3398519" cy="1615439"/>
          </a:xfrm>
          <a:prstGeom prst="roundRect">
            <a:avLst>
              <a:gd name="adj" fmla="val 6132"/>
            </a:avLst>
          </a:prstGeom>
          <a:solidFill>
            <a:srgbClr val="DCEFE8"/>
          </a:solidFill>
          <a:ln w="7620">
            <a:solidFill>
              <a:srgbClr val="007C78"/>
            </a:solidFill>
          </a:ln>
          <a:effectLst/>
        </p:spPr>
        <p:txBody>
          <a:bodyPr rtlCol="0" anchor="ctr"/>
          <a:lstStyle/>
          <a:p>
            <a:pPr algn="ctr"/>
          </a:p>
        </p:txBody>
      </p:sp>
      <p:sp>
        <p:nvSpPr>
          <p:cNvPr id="21" name="TextBox 20"/>
          <p:cNvSpPr txBox="1"/>
          <p:nvPr/>
        </p:nvSpPr>
        <p:spPr>
          <a:xfrm>
            <a:off x="8412480" y="2019300"/>
            <a:ext cx="306324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Public Hive receipt</a:t>
            </a:r>
          </a:p>
        </p:txBody>
      </p:sp>
      <p:sp>
        <p:nvSpPr>
          <p:cNvPr id="22" name="TextBox 21"/>
          <p:cNvSpPr txBox="1"/>
          <p:nvPr/>
        </p:nvSpPr>
        <p:spPr>
          <a:xfrm>
            <a:off x="8412480" y="2407615"/>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Generated counters, status</a:t>
            </a:r>
          </a:p>
        </p:txBody>
      </p:sp>
      <p:sp>
        <p:nvSpPr>
          <p:cNvPr id="23" name="TextBox 22"/>
          <p:cNvSpPr txBox="1"/>
          <p:nvPr/>
        </p:nvSpPr>
        <p:spPr>
          <a:xfrm>
            <a:off x="8412480" y="2680715"/>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and public command receipt</a:t>
            </a:r>
          </a:p>
        </p:txBody>
      </p:sp>
      <p:sp>
        <p:nvSpPr>
          <p:cNvPr id="24" name="TextBox 23"/>
          <p:cNvSpPr txBox="1"/>
          <p:nvPr/>
        </p:nvSpPr>
        <p:spPr>
          <a:xfrm>
            <a:off x="8412480" y="2953816"/>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ID.</a:t>
            </a:r>
          </a:p>
        </p:txBody>
      </p:sp>
      <p:sp>
        <p:nvSpPr>
          <p:cNvPr id="25" name="Rounded Rectangle 24"/>
          <p:cNvSpPr/>
          <p:nvPr/>
        </p:nvSpPr>
        <p:spPr>
          <a:xfrm>
            <a:off x="8244839" y="3756660"/>
            <a:ext cx="3398519" cy="1805939"/>
          </a:xfrm>
          <a:prstGeom prst="roundRect">
            <a:avLst>
              <a:gd name="adj" fmla="val 5485"/>
            </a:avLst>
          </a:prstGeom>
          <a:solidFill>
            <a:srgbClr val="F3E7CE"/>
          </a:solidFill>
          <a:ln w="7620">
            <a:solidFill>
              <a:srgbClr val="A86A15"/>
            </a:solidFill>
          </a:ln>
          <a:effectLst/>
        </p:spPr>
        <p:txBody>
          <a:bodyPr rtlCol="0" anchor="ctr"/>
          <a:lstStyle/>
          <a:p>
            <a:pPr algn="ctr"/>
          </a:p>
        </p:txBody>
      </p:sp>
      <p:sp>
        <p:nvSpPr>
          <p:cNvPr id="26" name="TextBox 25"/>
          <p:cNvSpPr txBox="1"/>
          <p:nvPr/>
        </p:nvSpPr>
        <p:spPr>
          <a:xfrm>
            <a:off x="8412480" y="3924300"/>
            <a:ext cx="306324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A86A15"/>
                </a:solidFill>
                <a:latin typeface="DejaVu Sans"/>
              </a:rPr>
              <a:t>Private trace</a:t>
            </a:r>
          </a:p>
        </p:txBody>
      </p:sp>
      <p:sp>
        <p:nvSpPr>
          <p:cNvPr id="27" name="TextBox 26"/>
          <p:cNvSpPr txBox="1"/>
          <p:nvPr/>
        </p:nvSpPr>
        <p:spPr>
          <a:xfrm>
            <a:off x="8412480" y="4312615"/>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Task/support hashes,</a:t>
            </a:r>
          </a:p>
        </p:txBody>
      </p:sp>
      <p:sp>
        <p:nvSpPr>
          <p:cNvPr id="28" name="TextBox 27"/>
          <p:cNvSpPr txBox="1"/>
          <p:nvPr/>
        </p:nvSpPr>
        <p:spPr>
          <a:xfrm>
            <a:off x="8412480" y="4585716"/>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premises, lineage, attention</a:t>
            </a:r>
          </a:p>
        </p:txBody>
      </p:sp>
      <p:sp>
        <p:nvSpPr>
          <p:cNvPr id="29" name="TextBox 28"/>
          <p:cNvSpPr txBox="1"/>
          <p:nvPr/>
        </p:nvSpPr>
        <p:spPr>
          <a:xfrm>
            <a:off x="8412480" y="4858816"/>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and payloads stay private.</a:t>
            </a:r>
          </a:p>
        </p:txBody>
      </p:sp>
      <p:sp>
        <p:nvSpPr>
          <p:cNvPr id="30" name="Rounded Rectangle 2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1" name="TextBox 30"/>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Shared M1 wire and DA contracts stay unchanged; every owner rechecks current authorization.</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cognition.py · inference_program/program.py</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CONTRACT DECISIONS BEFORE BEHAVIOR</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Executable contracts make the inference step finite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supported task is explicit, immutable and grounded before the controller starts.</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CONTRACT</a:t>
            </a:r>
          </a:p>
        </p:txBody>
      </p:sp>
      <p:sp>
        <p:nvSpPr>
          <p:cNvPr id="6" name="TextBox 5"/>
          <p:cNvSpPr txBox="1"/>
          <p:nvPr/>
        </p:nvSpPr>
        <p:spPr>
          <a:xfrm>
            <a:off x="3185160" y="1790700"/>
            <a:ext cx="4518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WHAT IS FIXED</a:t>
            </a:r>
          </a:p>
        </p:txBody>
      </p:sp>
      <p:sp>
        <p:nvSpPr>
          <p:cNvPr id="7" name="TextBox 6"/>
          <p:cNvSpPr txBox="1"/>
          <p:nvPr/>
        </p:nvSpPr>
        <p:spPr>
          <a:xfrm>
            <a:off x="7947659" y="1790700"/>
            <a:ext cx="35737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WHY IT MATTERS</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Context + task</a:t>
            </a:r>
          </a:p>
        </p:txBody>
      </p:sp>
      <p:sp>
        <p:nvSpPr>
          <p:cNvPr id="10" name="TextBox 9"/>
          <p:cNvSpPr txBox="1"/>
          <p:nvPr/>
        </p:nvSpPr>
        <p:spPr>
          <a:xfrm>
            <a:off x="3185160" y="224028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Private context; exact role references</a:t>
            </a:r>
          </a:p>
        </p:txBody>
      </p:sp>
      <p:sp>
        <p:nvSpPr>
          <p:cNvPr id="11" name="TextBox 10"/>
          <p:cNvSpPr txBox="1"/>
          <p:nvPr/>
        </p:nvSpPr>
        <p:spPr>
          <a:xfrm>
            <a:off x="7947659" y="224028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Labels cannot merge distinct identities</a:t>
            </a:r>
          </a:p>
        </p:txBody>
      </p:sp>
      <p:sp>
        <p:nvSpPr>
          <p:cNvPr id="12" name="Rounded Rectangle 11"/>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3" name="TextBox 12"/>
          <p:cNvSpPr txBox="1"/>
          <p:nvPr/>
        </p:nvSpPr>
        <p:spPr>
          <a:xfrm>
            <a:off x="670560" y="293370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Workset</a:t>
            </a:r>
          </a:p>
        </p:txBody>
      </p:sp>
      <p:sp>
        <p:nvSpPr>
          <p:cNvPr id="14" name="TextBox 13"/>
          <p:cNvSpPr txBox="1"/>
          <p:nvPr/>
        </p:nvSpPr>
        <p:spPr>
          <a:xfrm>
            <a:off x="3185160" y="293370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1–16 unique immutable tasks</a:t>
            </a:r>
          </a:p>
        </p:txBody>
      </p:sp>
      <p:sp>
        <p:nvSpPr>
          <p:cNvPr id="15" name="TextBox 14"/>
          <p:cNvSpPr txBox="1"/>
          <p:nvPr/>
        </p:nvSpPr>
        <p:spPr>
          <a:xfrm>
            <a:off x="7947659" y="293370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search or automatic task</a:t>
            </a:r>
          </a:p>
        </p:txBody>
      </p:sp>
      <p:sp>
        <p:nvSpPr>
          <p:cNvPr id="16" name="TextBox 15"/>
          <p:cNvSpPr txBox="1"/>
          <p:nvPr/>
        </p:nvSpPr>
        <p:spPr>
          <a:xfrm>
            <a:off x="7947659" y="316778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expansion</a:t>
            </a:r>
          </a:p>
        </p:txBody>
      </p:sp>
      <p:sp>
        <p:nvSpPr>
          <p:cNvPr id="17" name="Rounded Rectangle 16"/>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18" name="TextBox 17"/>
          <p:cNvSpPr txBox="1"/>
          <p:nvPr/>
        </p:nvSpPr>
        <p:spPr>
          <a:xfrm>
            <a:off x="670560" y="3627119"/>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Premise snapshot</a:t>
            </a:r>
          </a:p>
        </p:txBody>
      </p:sp>
      <p:sp>
        <p:nvSpPr>
          <p:cNvPr id="19" name="TextBox 18"/>
          <p:cNvSpPr txBox="1"/>
          <p:nvPr/>
        </p:nvSpPr>
        <p:spPr>
          <a:xfrm>
            <a:off x="3185160" y="3627119"/>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Claim / context / revision / support ID</a:t>
            </a:r>
          </a:p>
        </p:txBody>
      </p:sp>
      <p:sp>
        <p:nvSpPr>
          <p:cNvPr id="20" name="TextBox 19"/>
          <p:cNvSpPr txBox="1"/>
          <p:nvPr/>
        </p:nvSpPr>
        <p:spPr>
          <a:xfrm>
            <a:off x="7947659" y="3627119"/>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silent substitution with latest state</a:t>
            </a:r>
          </a:p>
        </p:txBody>
      </p:sp>
      <p:sp>
        <p:nvSpPr>
          <p:cNvPr id="21" name="Rounded Rectangle 20"/>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2" name="TextBox 21"/>
          <p:cNvSpPr txBox="1"/>
          <p:nvPr/>
        </p:nvSpPr>
        <p:spPr>
          <a:xfrm>
            <a:off x="670560" y="432054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Derived support</a:t>
            </a:r>
          </a:p>
        </p:txBody>
      </p:sp>
      <p:sp>
        <p:nvSpPr>
          <p:cNvPr id="23" name="TextBox 22"/>
          <p:cNvSpPr txBox="1"/>
          <p:nvPr/>
        </p:nvSpPr>
        <p:spPr>
          <a:xfrm>
            <a:off x="3185160" y="432054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Closed tag + inherited roots / ancestry</a:t>
            </a:r>
          </a:p>
        </p:txBody>
      </p:sp>
      <p:sp>
        <p:nvSpPr>
          <p:cNvPr id="24" name="TextBox 23"/>
          <p:cNvSpPr txBox="1"/>
          <p:nvPr/>
        </p:nvSpPr>
        <p:spPr>
          <a:xfrm>
            <a:off x="7947659" y="432054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fresh observation or evidence</a:t>
            </a:r>
          </a:p>
        </p:txBody>
      </p:sp>
      <p:sp>
        <p:nvSpPr>
          <p:cNvPr id="25" name="TextBox 24"/>
          <p:cNvSpPr txBox="1"/>
          <p:nvPr/>
        </p:nvSpPr>
        <p:spPr>
          <a:xfrm>
            <a:off x="7947659" y="455462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count</a:t>
            </a:r>
          </a:p>
        </p:txBody>
      </p:sp>
      <p:sp>
        <p:nvSpPr>
          <p:cNvPr id="26" name="Rounded Rectangle 25"/>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27" name="TextBox 26"/>
          <p:cNvSpPr txBox="1"/>
          <p:nvPr/>
        </p:nvSpPr>
        <p:spPr>
          <a:xfrm>
            <a:off x="670560" y="501396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Work budget</a:t>
            </a:r>
          </a:p>
        </p:txBody>
      </p:sp>
      <p:sp>
        <p:nvSpPr>
          <p:cNvPr id="28" name="TextBox 27"/>
          <p:cNvSpPr txBox="1"/>
          <p:nvPr/>
        </p:nvSpPr>
        <p:spPr>
          <a:xfrm>
            <a:off x="3185160" y="501396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Candidates, attempts, generation, deadline</a:t>
            </a:r>
          </a:p>
        </p:txBody>
      </p:sp>
      <p:sp>
        <p:nvSpPr>
          <p:cNvPr id="29" name="TextBox 28"/>
          <p:cNvSpPr txBox="1"/>
          <p:nvPr/>
        </p:nvSpPr>
        <p:spPr>
          <a:xfrm>
            <a:off x="7947659" y="501396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Restart cannot silently refill the</a:t>
            </a:r>
          </a:p>
        </p:txBody>
      </p:sp>
      <p:sp>
        <p:nvSpPr>
          <p:cNvPr id="30" name="TextBox 29"/>
          <p:cNvSpPr txBox="1"/>
          <p:nvPr/>
        </p:nvSpPr>
        <p:spPr>
          <a:xfrm>
            <a:off x="7947659" y="524804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allowance</a:t>
            </a:r>
          </a:p>
        </p:txBody>
      </p:sp>
      <p:sp>
        <p:nvSpPr>
          <p:cNvPr id="31" name="Rounded Rectangle 3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2" name="TextBox 31"/>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Profile mismatch, malformed response or changed semantic intent fails explicitly.</a:t>
            </a:r>
          </a:p>
        </p:txBody>
      </p:sp>
      <p:cxnSp>
        <p:nvCxnSpPr>
          <p:cNvPr id="33" name="Connector 32"/>
          <p:cNvCxnSpPr/>
          <p:nvPr/>
        </p:nvCxnSpPr>
        <p:spPr>
          <a:xfrm>
            <a:off x="548640" y="6393180"/>
            <a:ext cx="11094720" cy="0"/>
          </a:xfrm>
          <a:prstGeom prst="line">
            <a:avLst/>
          </a:prstGeom>
          <a:ln w="7620">
            <a:solidFill>
              <a:srgbClr val="C9D2D4"/>
            </a:solidFill>
          </a:ln>
          <a:effectLst/>
        </p:spPr>
      </p:cxnSp>
      <p:sp>
        <p:nvSpPr>
          <p:cNvPr id="34" name="TextBox 3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attention_contracts.py · cognition_contracts.py</a:t>
            </a:r>
          </a:p>
        </p:txBody>
      </p:sp>
      <p:sp>
        <p:nvSpPr>
          <p:cNvPr id="35" name="TextBox 3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EPISODIC MEMORY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C1: one occurrence, one position in the story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Immutable event atoms sit behind a stable episode identity and a committed sequence.</a:t>
            </a:r>
          </a:p>
        </p:txBody>
      </p:sp>
      <p:sp>
        <p:nvSpPr>
          <p:cNvPr id="5" name="Rounded Rectangle 4"/>
          <p:cNvSpPr/>
          <p:nvPr/>
        </p:nvSpPr>
        <p:spPr>
          <a:xfrm>
            <a:off x="548640" y="1798320"/>
            <a:ext cx="2533635" cy="304800"/>
          </a:xfrm>
          <a:prstGeom prst="roundRect">
            <a:avLst>
              <a:gd name="adj" fmla="val 17500"/>
            </a:avLst>
          </a:prstGeom>
          <a:solidFill>
            <a:srgbClr val="E4EBF5"/>
          </a:solidFill>
          <a:ln>
            <a:noFill/>
          </a:ln>
          <a:effectLst/>
        </p:spPr>
        <p:txBody>
          <a:bodyPr rtlCol="0" anchor="ctr"/>
          <a:lstStyle/>
          <a:p>
            <a:pPr algn="ctr"/>
          </a:p>
        </p:txBody>
      </p:sp>
      <p:sp>
        <p:nvSpPr>
          <p:cNvPr id="6" name="TextBox 5"/>
          <p:cNvSpPr txBox="1"/>
          <p:nvPr/>
        </p:nvSpPr>
        <p:spPr>
          <a:xfrm>
            <a:off x="655320" y="1851659"/>
            <a:ext cx="2343135"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EpisodeRef = scope + ID</a:t>
            </a:r>
          </a:p>
        </p:txBody>
      </p:sp>
      <p:sp>
        <p:nvSpPr>
          <p:cNvPr id="7" name="Rounded Rectangle 6"/>
          <p:cNvSpPr/>
          <p:nvPr/>
        </p:nvSpPr>
        <p:spPr>
          <a:xfrm>
            <a:off x="5486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8" name="TextBox 7"/>
          <p:cNvSpPr txBox="1"/>
          <p:nvPr/>
        </p:nvSpPr>
        <p:spPr>
          <a:xfrm>
            <a:off x="716280"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1 · Report</a:t>
            </a:r>
          </a:p>
        </p:txBody>
      </p:sp>
      <p:sp>
        <p:nvSpPr>
          <p:cNvPr id="9" name="TextBox 8"/>
          <p:cNvSpPr txBox="1"/>
          <p:nvPr/>
        </p:nvSpPr>
        <p:spPr>
          <a:xfrm>
            <a:off x="716280"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No numerical claim</a:t>
            </a:r>
          </a:p>
        </p:txBody>
      </p:sp>
      <p:cxnSp>
        <p:nvCxnSpPr>
          <p:cNvPr id="10" name="Connector 9"/>
          <p:cNvCxnSpPr/>
          <p:nvPr/>
        </p:nvCxnSpPr>
        <p:spPr>
          <a:xfrm>
            <a:off x="3185160" y="3147060"/>
            <a:ext cx="144780" cy="0"/>
          </a:xfrm>
          <a:prstGeom prst="line">
            <a:avLst/>
          </a:prstGeom>
          <a:ln w="15240">
            <a:solidFill>
              <a:srgbClr val="315E9C"/>
            </a:solidFill>
          </a:ln>
          <a:effectLst/>
        </p:spPr>
      </p:cxnSp>
      <p:sp>
        <p:nvSpPr>
          <p:cNvPr id="11" name="Freeform 10"/>
          <p:cNvSpPr/>
          <p:nvPr/>
        </p:nvSpPr>
        <p:spPr>
          <a:xfrm>
            <a:off x="3230880" y="31089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2" name="Rounded Rectangle 11"/>
          <p:cNvSpPr/>
          <p:nvPr/>
        </p:nvSpPr>
        <p:spPr>
          <a:xfrm>
            <a:off x="33680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13" name="TextBox 12"/>
          <p:cNvSpPr txBox="1"/>
          <p:nvPr/>
        </p:nvSpPr>
        <p:spPr>
          <a:xfrm>
            <a:off x="3535679"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2 · Assessment</a:t>
            </a:r>
          </a:p>
        </p:txBody>
      </p:sp>
      <p:sp>
        <p:nvSpPr>
          <p:cNvPr id="14" name="TextBox 13"/>
          <p:cNvSpPr txBox="1"/>
          <p:nvPr/>
        </p:nvSpPr>
        <p:spPr>
          <a:xfrm>
            <a:off x="3535679"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Explicit strength /</a:t>
            </a:r>
          </a:p>
        </p:txBody>
      </p:sp>
      <p:sp>
        <p:nvSpPr>
          <p:cNvPr id="15" name="TextBox 14"/>
          <p:cNvSpPr txBox="1"/>
          <p:nvPr/>
        </p:nvSpPr>
        <p:spPr>
          <a:xfrm>
            <a:off x="3535679" y="3233928"/>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confidence</a:t>
            </a:r>
          </a:p>
        </p:txBody>
      </p:sp>
      <p:cxnSp>
        <p:nvCxnSpPr>
          <p:cNvPr id="16" name="Connector 15"/>
          <p:cNvCxnSpPr/>
          <p:nvPr/>
        </p:nvCxnSpPr>
        <p:spPr>
          <a:xfrm>
            <a:off x="6004559" y="3147060"/>
            <a:ext cx="144781" cy="0"/>
          </a:xfrm>
          <a:prstGeom prst="line">
            <a:avLst/>
          </a:prstGeom>
          <a:ln w="15240">
            <a:solidFill>
              <a:srgbClr val="315E9C"/>
            </a:solidFill>
          </a:ln>
          <a:effectLst/>
        </p:spPr>
      </p:cxnSp>
      <p:sp>
        <p:nvSpPr>
          <p:cNvPr id="17" name="Freeform 16"/>
          <p:cNvSpPr/>
          <p:nvPr/>
        </p:nvSpPr>
        <p:spPr>
          <a:xfrm>
            <a:off x="6050280" y="31089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8" name="Rounded Rectangle 17"/>
          <p:cNvSpPr/>
          <p:nvPr/>
        </p:nvSpPr>
        <p:spPr>
          <a:xfrm>
            <a:off x="61874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19" name="TextBox 18"/>
          <p:cNvSpPr txBox="1"/>
          <p:nvPr/>
        </p:nvSpPr>
        <p:spPr>
          <a:xfrm>
            <a:off x="6355080"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3 · Copy</a:t>
            </a:r>
          </a:p>
        </p:txBody>
      </p:sp>
      <p:sp>
        <p:nvSpPr>
          <p:cNvPr id="20" name="TextBox 19"/>
          <p:cNvSpPr txBox="1"/>
          <p:nvPr/>
        </p:nvSpPr>
        <p:spPr>
          <a:xfrm>
            <a:off x="6355080"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Inherits original roots</a:t>
            </a:r>
          </a:p>
        </p:txBody>
      </p:sp>
      <p:cxnSp>
        <p:nvCxnSpPr>
          <p:cNvPr id="21" name="Connector 20"/>
          <p:cNvCxnSpPr/>
          <p:nvPr/>
        </p:nvCxnSpPr>
        <p:spPr>
          <a:xfrm>
            <a:off x="8823960" y="3147060"/>
            <a:ext cx="144780" cy="0"/>
          </a:xfrm>
          <a:prstGeom prst="line">
            <a:avLst/>
          </a:prstGeom>
          <a:ln w="15240">
            <a:solidFill>
              <a:srgbClr val="315E9C"/>
            </a:solidFill>
          </a:ln>
          <a:effectLst/>
        </p:spPr>
      </p:cxnSp>
      <p:sp>
        <p:nvSpPr>
          <p:cNvPr id="22" name="Freeform 21"/>
          <p:cNvSpPr/>
          <p:nvPr/>
        </p:nvSpPr>
        <p:spPr>
          <a:xfrm>
            <a:off x="8869680" y="31089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3" name="Rounded Rectangle 22"/>
          <p:cNvSpPr/>
          <p:nvPr/>
        </p:nvSpPr>
        <p:spPr>
          <a:xfrm>
            <a:off x="90068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24" name="TextBox 23"/>
          <p:cNvSpPr txBox="1"/>
          <p:nvPr/>
        </p:nvSpPr>
        <p:spPr>
          <a:xfrm>
            <a:off x="9174480"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4 · Contrary</a:t>
            </a:r>
          </a:p>
        </p:txBody>
      </p:sp>
      <p:sp>
        <p:nvSpPr>
          <p:cNvPr id="25" name="TextBox 24"/>
          <p:cNvSpPr txBox="1"/>
          <p:nvPr/>
        </p:nvSpPr>
        <p:spPr>
          <a:xfrm>
            <a:off x="9174480"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Kept in the history</a:t>
            </a:r>
          </a:p>
        </p:txBody>
      </p:sp>
      <p:sp>
        <p:nvSpPr>
          <p:cNvPr id="26" name="Rounded Rectangle 25"/>
          <p:cNvSpPr/>
          <p:nvPr/>
        </p:nvSpPr>
        <p:spPr>
          <a:xfrm>
            <a:off x="548640" y="4236720"/>
            <a:ext cx="5364480" cy="1287780"/>
          </a:xfrm>
          <a:prstGeom prst="roundRect">
            <a:avLst>
              <a:gd name="adj" fmla="val 7692"/>
            </a:avLst>
          </a:prstGeom>
          <a:solidFill>
            <a:srgbClr val="DCEFE8"/>
          </a:solidFill>
          <a:ln w="7620">
            <a:solidFill>
              <a:srgbClr val="007C78"/>
            </a:solidFill>
          </a:ln>
          <a:effectLst/>
        </p:spPr>
        <p:txBody>
          <a:bodyPr rtlCol="0" anchor="ctr"/>
          <a:lstStyle/>
          <a:p>
            <a:pPr algn="ctr"/>
          </a:p>
        </p:txBody>
      </p:sp>
      <p:sp>
        <p:nvSpPr>
          <p:cNvPr id="27" name="TextBox 26"/>
          <p:cNvSpPr txBox="1"/>
          <p:nvPr/>
        </p:nvSpPr>
        <p:spPr>
          <a:xfrm>
            <a:off x="716280" y="4404360"/>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Same occurrence + same body</a:t>
            </a:r>
          </a:p>
        </p:txBody>
      </p:sp>
      <p:sp>
        <p:nvSpPr>
          <p:cNvPr id="28" name="TextBox 27"/>
          <p:cNvSpPr txBox="1"/>
          <p:nvPr/>
        </p:nvSpPr>
        <p:spPr>
          <a:xfrm>
            <a:off x="716280" y="4763414"/>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Return the original receipt, even under a new</a:t>
            </a:r>
          </a:p>
        </p:txBody>
      </p:sp>
      <p:sp>
        <p:nvSpPr>
          <p:cNvPr id="29" name="TextBox 28"/>
          <p:cNvSpPr txBox="1"/>
          <p:nvPr/>
        </p:nvSpPr>
        <p:spPr>
          <a:xfrm>
            <a:off x="716280" y="5017008"/>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request key. The head does not advance.</a:t>
            </a:r>
          </a:p>
        </p:txBody>
      </p:sp>
      <p:sp>
        <p:nvSpPr>
          <p:cNvPr id="30" name="Rounded Rectangle 29"/>
          <p:cNvSpPr/>
          <p:nvPr/>
        </p:nvSpPr>
        <p:spPr>
          <a:xfrm>
            <a:off x="6096000" y="4236720"/>
            <a:ext cx="5547360" cy="1287780"/>
          </a:xfrm>
          <a:prstGeom prst="roundRect">
            <a:avLst>
              <a:gd name="adj" fmla="val 7692"/>
            </a:avLst>
          </a:prstGeom>
          <a:solidFill>
            <a:srgbClr val="F3E7CE"/>
          </a:solidFill>
          <a:ln w="7620">
            <a:solidFill>
              <a:srgbClr val="A86A15"/>
            </a:solidFill>
          </a:ln>
          <a:effectLst/>
        </p:spPr>
        <p:txBody>
          <a:bodyPr rtlCol="0" anchor="ctr"/>
          <a:lstStyle/>
          <a:p>
            <a:pPr algn="ctr"/>
          </a:p>
        </p:txBody>
      </p:sp>
      <p:sp>
        <p:nvSpPr>
          <p:cNvPr id="31" name="TextBox 30"/>
          <p:cNvSpPr txBox="1"/>
          <p:nvPr/>
        </p:nvSpPr>
        <p:spPr>
          <a:xfrm>
            <a:off x="6263640" y="4404360"/>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A86A15"/>
                </a:solidFill>
                <a:latin typeface="DejaVu Sans"/>
              </a:rPr>
              <a:t>Same occurrence + changed meaning</a:t>
            </a:r>
          </a:p>
        </p:txBody>
      </p:sp>
      <p:sp>
        <p:nvSpPr>
          <p:cNvPr id="32" name="TextBox 31"/>
          <p:cNvSpPr txBox="1"/>
          <p:nvPr/>
        </p:nvSpPr>
        <p:spPr>
          <a:xfrm>
            <a:off x="6263640" y="4753660"/>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Conflict on body or provenance changes. Distinct</a:t>
            </a:r>
          </a:p>
        </p:txBody>
      </p:sp>
      <p:sp>
        <p:nvSpPr>
          <p:cNvPr id="33" name="TextBox 32"/>
          <p:cNvSpPr txBox="1"/>
          <p:nvPr/>
        </p:nvSpPr>
        <p:spPr>
          <a:xfrm>
            <a:off x="6263640" y="5007254"/>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real occurrences may share identical bytes.</a:t>
            </a:r>
          </a:p>
        </p:txBody>
      </p:sp>
      <p:sp>
        <p:nvSpPr>
          <p:cNvPr id="34" name="Rounded Rectangle 3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5" name="TextBox 34"/>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C1 commits event + evidence intent together; AtomStorage has already committed independently.</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episodes.py · tests/test_m2.py</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BELIEF REVISION</a:t>
            </a:r>
          </a:p>
        </p:txBody>
      </p:sp>
      <p:sp>
        <p:nvSpPr>
          <p:cNvPr id="3" name="TextBox 2"/>
          <p:cNvSpPr txBox="1"/>
          <p:nvPr/>
        </p:nvSpPr>
        <p:spPr>
          <a:xfrm>
            <a:off x="533400" y="723900"/>
            <a:ext cx="11125200" cy="438912"/>
          </a:xfrm>
          <a:prstGeom prst="rect">
            <a:avLst/>
          </a:prstGeom>
          <a:noFill/>
        </p:spPr>
        <p:txBody>
          <a:bodyPr wrap="none" lIns="0" rIns="0" tIns="0" bIns="0" anchor="t" anchorCtr="0">
            <a:noAutofit/>
          </a:bodyPr>
          <a:lstStyle/>
          <a:p>
            <a:pPr algn="l">
              <a:lnSpc>
                <a:spcPct val="100000"/>
              </a:lnSpc>
              <a:spcBef>
                <a:spcPts val="0"/>
              </a:spcBef>
              <a:spcAft>
                <a:spcPts val="0"/>
              </a:spcAft>
            </a:pPr>
            <a:r>
              <a:rPr sz="2700" b="1">
                <a:solidFill>
                  <a:srgbClr val="102B3F"/>
                </a:solidFill>
                <a:latin typeface="DejaVu Sans"/>
              </a:rPr>
              <a:t>C2: admitting evidence and changing belief are separate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New observations remain visible even when they cannot change the current aggregate.</a:t>
            </a:r>
          </a:p>
        </p:txBody>
      </p:sp>
      <p:sp>
        <p:nvSpPr>
          <p:cNvPr id="5" name="Rounded Rectangle 4"/>
          <p:cNvSpPr/>
          <p:nvPr/>
        </p:nvSpPr>
        <p:spPr>
          <a:xfrm>
            <a:off x="548640" y="1920239"/>
            <a:ext cx="2895600" cy="1371600"/>
          </a:xfrm>
          <a:prstGeom prst="roundRect">
            <a:avLst>
              <a:gd name="adj" fmla="val 7222"/>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87880"/>
            <a:ext cx="2560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Evidence submission</a:t>
            </a:r>
          </a:p>
        </p:txBody>
      </p:sp>
      <p:sp>
        <p:nvSpPr>
          <p:cNvPr id="7" name="TextBox 6"/>
          <p:cNvSpPr txBox="1"/>
          <p:nvPr/>
        </p:nvSpPr>
        <p:spPr>
          <a:xfrm>
            <a:off x="716280" y="2437180"/>
            <a:ext cx="2560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C1 evidence reference or an</a:t>
            </a:r>
          </a:p>
        </p:txBody>
      </p:sp>
      <p:sp>
        <p:nvSpPr>
          <p:cNvPr id="8" name="TextBox 7"/>
          <p:cNvSpPr txBox="1"/>
          <p:nvPr/>
        </p:nvSpPr>
        <p:spPr>
          <a:xfrm>
            <a:off x="716280" y="2642006"/>
            <a:ext cx="2560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existing C2 support; exact</a:t>
            </a:r>
          </a:p>
        </p:txBody>
      </p:sp>
      <p:sp>
        <p:nvSpPr>
          <p:cNvPr id="9" name="TextBox 8"/>
          <p:cNvSpPr txBox="1"/>
          <p:nvPr/>
        </p:nvSpPr>
        <p:spPr>
          <a:xfrm>
            <a:off x="716280" y="2846832"/>
            <a:ext cx="2560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claim and context.</a:t>
            </a:r>
          </a:p>
        </p:txBody>
      </p:sp>
      <p:cxnSp>
        <p:nvCxnSpPr>
          <p:cNvPr id="10" name="Connector 9"/>
          <p:cNvCxnSpPr/>
          <p:nvPr/>
        </p:nvCxnSpPr>
        <p:spPr>
          <a:xfrm>
            <a:off x="3444240" y="2606040"/>
            <a:ext cx="777240" cy="0"/>
          </a:xfrm>
          <a:prstGeom prst="line">
            <a:avLst/>
          </a:prstGeom>
          <a:ln w="15240">
            <a:solidFill>
              <a:srgbClr val="315E9C"/>
            </a:solidFill>
          </a:ln>
          <a:effectLst/>
        </p:spPr>
      </p:cxnSp>
      <p:sp>
        <p:nvSpPr>
          <p:cNvPr id="11" name="Freeform 10"/>
          <p:cNvSpPr/>
          <p:nvPr/>
        </p:nvSpPr>
        <p:spPr>
          <a:xfrm>
            <a:off x="4122420" y="25679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2" name="Rounded Rectangle 11"/>
          <p:cNvSpPr/>
          <p:nvPr/>
        </p:nvSpPr>
        <p:spPr>
          <a:xfrm>
            <a:off x="4221480" y="1920239"/>
            <a:ext cx="3048000" cy="1371600"/>
          </a:xfrm>
          <a:prstGeom prst="roundRect">
            <a:avLst>
              <a:gd name="adj" fmla="val 7222"/>
            </a:avLst>
          </a:prstGeom>
          <a:solidFill>
            <a:srgbClr val="FFFFFF"/>
          </a:solidFill>
          <a:ln w="7620">
            <a:solidFill>
              <a:srgbClr val="315E9C"/>
            </a:solidFill>
          </a:ln>
          <a:effectLst/>
        </p:spPr>
        <p:txBody>
          <a:bodyPr rtlCol="0" anchor="ctr"/>
          <a:lstStyle/>
          <a:p>
            <a:pPr algn="ctr"/>
          </a:p>
        </p:txBody>
      </p:sp>
      <p:sp>
        <p:nvSpPr>
          <p:cNvPr id="13" name="TextBox 12"/>
          <p:cNvSpPr txBox="1"/>
          <p:nvPr/>
        </p:nvSpPr>
        <p:spPr>
          <a:xfrm>
            <a:off x="4389120" y="2087880"/>
            <a:ext cx="27127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Admission decision</a:t>
            </a:r>
          </a:p>
        </p:txBody>
      </p:sp>
      <p:sp>
        <p:nvSpPr>
          <p:cNvPr id="14" name="TextBox 13"/>
          <p:cNvSpPr txBox="1"/>
          <p:nvPr/>
        </p:nvSpPr>
        <p:spPr>
          <a:xfrm>
            <a:off x="4389120" y="2456687"/>
            <a:ext cx="27127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ADMITTED or DUPLICATE</a:t>
            </a:r>
          </a:p>
        </p:txBody>
      </p:sp>
      <p:sp>
        <p:nvSpPr>
          <p:cNvPr id="15" name="TextBox 14"/>
          <p:cNvSpPr txBox="1"/>
          <p:nvPr/>
        </p:nvSpPr>
        <p:spPr>
          <a:xfrm>
            <a:off x="4389120" y="2700528"/>
            <a:ext cx="27127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Track occurrence and</a:t>
            </a:r>
          </a:p>
        </p:txBody>
      </p:sp>
      <p:sp>
        <p:nvSpPr>
          <p:cNvPr id="16" name="TextBox 15"/>
          <p:cNvSpPr txBox="1"/>
          <p:nvPr/>
        </p:nvSpPr>
        <p:spPr>
          <a:xfrm>
            <a:off x="4389120" y="2944367"/>
            <a:ext cx="27127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provenance.</a:t>
            </a:r>
          </a:p>
        </p:txBody>
      </p:sp>
      <p:cxnSp>
        <p:nvCxnSpPr>
          <p:cNvPr id="17" name="Connector 16"/>
          <p:cNvCxnSpPr/>
          <p:nvPr/>
        </p:nvCxnSpPr>
        <p:spPr>
          <a:xfrm>
            <a:off x="7269480" y="2606040"/>
            <a:ext cx="777240" cy="0"/>
          </a:xfrm>
          <a:prstGeom prst="line">
            <a:avLst/>
          </a:prstGeom>
          <a:ln w="15240">
            <a:solidFill>
              <a:srgbClr val="315E9C"/>
            </a:solidFill>
          </a:ln>
          <a:effectLst/>
        </p:spPr>
      </p:cxnSp>
      <p:sp>
        <p:nvSpPr>
          <p:cNvPr id="18" name="Freeform 17"/>
          <p:cNvSpPr/>
          <p:nvPr/>
        </p:nvSpPr>
        <p:spPr>
          <a:xfrm>
            <a:off x="7947660" y="25679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9" name="Rounded Rectangle 18"/>
          <p:cNvSpPr/>
          <p:nvPr/>
        </p:nvSpPr>
        <p:spPr>
          <a:xfrm>
            <a:off x="8046720" y="1920239"/>
            <a:ext cx="3596640" cy="1371600"/>
          </a:xfrm>
          <a:prstGeom prst="roundRect">
            <a:avLst>
              <a:gd name="adj" fmla="val 7222"/>
            </a:avLst>
          </a:prstGeom>
          <a:solidFill>
            <a:srgbClr val="DCEFE8"/>
          </a:solidFill>
          <a:ln w="7620">
            <a:solidFill>
              <a:srgbClr val="007C78"/>
            </a:solidFill>
          </a:ln>
          <a:effectLst/>
        </p:spPr>
        <p:txBody>
          <a:bodyPr rtlCol="0" anchor="ctr"/>
          <a:lstStyle/>
          <a:p>
            <a:pPr algn="ctr"/>
          </a:p>
        </p:txBody>
      </p:sp>
      <p:sp>
        <p:nvSpPr>
          <p:cNvPr id="20" name="TextBox 19"/>
          <p:cNvSpPr txBox="1"/>
          <p:nvPr/>
        </p:nvSpPr>
        <p:spPr>
          <a:xfrm>
            <a:off x="8214359" y="2087880"/>
            <a:ext cx="326136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Numerical decision</a:t>
            </a:r>
          </a:p>
        </p:txBody>
      </p:sp>
      <p:sp>
        <p:nvSpPr>
          <p:cNvPr id="21" name="TextBox 20"/>
          <p:cNvSpPr txBox="1"/>
          <p:nvPr/>
        </p:nvSpPr>
        <p:spPr>
          <a:xfrm>
            <a:off x="8214359" y="2456687"/>
            <a:ext cx="32613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Initialize, revise, no change,</a:t>
            </a:r>
          </a:p>
        </p:txBody>
      </p:sp>
      <p:sp>
        <p:nvSpPr>
          <p:cNvPr id="22" name="TextBox 21"/>
          <p:cNvSpPr txBox="1"/>
          <p:nvPr/>
        </p:nvSpPr>
        <p:spPr>
          <a:xfrm>
            <a:off x="8214359" y="2700528"/>
            <a:ext cx="32613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retain alternative, or</a:t>
            </a:r>
          </a:p>
        </p:txBody>
      </p:sp>
      <p:sp>
        <p:nvSpPr>
          <p:cNvPr id="23" name="TextBox 22"/>
          <p:cNvSpPr txBox="1"/>
          <p:nvPr/>
        </p:nvSpPr>
        <p:spPr>
          <a:xfrm>
            <a:off x="8214359" y="2944367"/>
            <a:ext cx="32613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model-inapplicable.</a:t>
            </a:r>
          </a:p>
        </p:txBody>
      </p:sp>
      <p:sp>
        <p:nvSpPr>
          <p:cNvPr id="24" name="Rounded Rectangle 23"/>
          <p:cNvSpPr/>
          <p:nvPr/>
        </p:nvSpPr>
        <p:spPr>
          <a:xfrm>
            <a:off x="548640" y="3886200"/>
            <a:ext cx="5364480" cy="1607820"/>
          </a:xfrm>
          <a:prstGeom prst="roundRect">
            <a:avLst>
              <a:gd name="adj" fmla="val 6161"/>
            </a:avLst>
          </a:prstGeom>
          <a:solidFill>
            <a:srgbClr val="FFFFFF"/>
          </a:solidFill>
          <a:ln w="7620">
            <a:solidFill>
              <a:srgbClr val="007C78"/>
            </a:solidFill>
          </a:ln>
          <a:effectLst/>
        </p:spPr>
        <p:txBody>
          <a:bodyPr rtlCol="0" anchor="ctr"/>
          <a:lstStyle/>
          <a:p>
            <a:pPr algn="ctr"/>
          </a:p>
        </p:txBody>
      </p:sp>
      <p:sp>
        <p:nvSpPr>
          <p:cNvPr id="25" name="TextBox 24"/>
          <p:cNvSpPr txBox="1"/>
          <p:nvPr/>
        </p:nvSpPr>
        <p:spPr>
          <a:xfrm>
            <a:off x="716280" y="4053840"/>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Aggregate with exact coverage</a:t>
            </a:r>
          </a:p>
        </p:txBody>
      </p:sp>
      <p:sp>
        <p:nvSpPr>
          <p:cNvPr id="26" name="TextBox 25"/>
          <p:cNvSpPr txBox="1"/>
          <p:nvPr/>
        </p:nvSpPr>
        <p:spPr>
          <a:xfrm>
            <a:off x="716280" y="443240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Every numerical result names the contributing</a:t>
            </a:r>
          </a:p>
        </p:txBody>
      </p:sp>
      <p:sp>
        <p:nvSpPr>
          <p:cNvPr id="27" name="TextBox 26"/>
          <p:cNvSpPr txBox="1"/>
          <p:nvPr/>
        </p:nvSpPr>
        <p:spPr>
          <a:xfrm>
            <a:off x="716280" y="469574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leaves, origins, premises, formula and</a:t>
            </a:r>
          </a:p>
        </p:txBody>
      </p:sp>
      <p:sp>
        <p:nvSpPr>
          <p:cNvPr id="28" name="TextBox 27"/>
          <p:cNvSpPr txBox="1"/>
          <p:nvPr/>
        </p:nvSpPr>
        <p:spPr>
          <a:xfrm>
            <a:off x="716280" y="4959095"/>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assumption.</a:t>
            </a:r>
          </a:p>
        </p:txBody>
      </p:sp>
      <p:sp>
        <p:nvSpPr>
          <p:cNvPr id="29" name="Rounded Rectangle 28"/>
          <p:cNvSpPr/>
          <p:nvPr/>
        </p:nvSpPr>
        <p:spPr>
          <a:xfrm>
            <a:off x="6096000" y="3886200"/>
            <a:ext cx="5547360" cy="1607820"/>
          </a:xfrm>
          <a:prstGeom prst="roundRect">
            <a:avLst>
              <a:gd name="adj" fmla="val 6161"/>
            </a:avLst>
          </a:prstGeom>
          <a:solidFill>
            <a:srgbClr val="F3E7CE"/>
          </a:solidFill>
          <a:ln w="7620">
            <a:solidFill>
              <a:srgbClr val="A86A15"/>
            </a:solidFill>
          </a:ln>
          <a:effectLst/>
        </p:spPr>
        <p:txBody>
          <a:bodyPr rtlCol="0" anchor="ctr"/>
          <a:lstStyle/>
          <a:p>
            <a:pPr algn="ctr"/>
          </a:p>
        </p:txBody>
      </p:sp>
      <p:sp>
        <p:nvSpPr>
          <p:cNvPr id="30" name="TextBox 29"/>
          <p:cNvSpPr txBox="1"/>
          <p:nvPr/>
        </p:nvSpPr>
        <p:spPr>
          <a:xfrm>
            <a:off x="6263640" y="4053840"/>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A86A15"/>
                </a:solidFill>
                <a:latin typeface="DejaVu Sans"/>
              </a:rPr>
              <a:t>Unaggregated alternatives</a:t>
            </a:r>
          </a:p>
        </p:txBody>
      </p:sp>
      <p:sp>
        <p:nvSpPr>
          <p:cNvPr id="31" name="TextBox 30"/>
          <p:cNvSpPr txBox="1"/>
          <p:nvPr/>
        </p:nvSpPr>
        <p:spPr>
          <a:xfrm>
            <a:off x="6263640" y="4422647"/>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Copied or contrary observations remain in the</a:t>
            </a:r>
          </a:p>
        </p:txBody>
      </p:sp>
      <p:sp>
        <p:nvSpPr>
          <p:cNvPr id="32" name="TextBox 31"/>
          <p:cNvSpPr txBox="1"/>
          <p:nvPr/>
        </p:nvSpPr>
        <p:spPr>
          <a:xfrm>
            <a:off x="6263640" y="468599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snapshot. Later eligible assumptions can combine</a:t>
            </a:r>
          </a:p>
        </p:txBody>
      </p:sp>
      <p:sp>
        <p:nvSpPr>
          <p:cNvPr id="33" name="TextBox 32"/>
          <p:cNvSpPr txBox="1"/>
          <p:nvPr/>
        </p:nvSpPr>
        <p:spPr>
          <a:xfrm>
            <a:off x="6263640" y="4949342"/>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existing supports.</a:t>
            </a:r>
          </a:p>
        </p:txBody>
      </p:sp>
      <p:sp>
        <p:nvSpPr>
          <p:cNvPr id="34" name="Rounded Rectangle 3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5" name="TextBox 34"/>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One saved truth value is not a summary of every observation. Read its coverage and alternatives.</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beliefs.py · memory_types.py</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DERIVED-SUPPORT ADMISSION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 derived conclusion inherits its evidence trail</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result is a new support record, while its original observations and ancestry remain the same.</a:t>
            </a:r>
          </a:p>
        </p:txBody>
      </p:sp>
      <p:sp>
        <p:nvSpPr>
          <p:cNvPr id="5" name="Rounded Rectangle 4"/>
          <p:cNvSpPr/>
          <p:nvPr/>
        </p:nvSpPr>
        <p:spPr>
          <a:xfrm>
            <a:off x="54864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P</a:t>
            </a:r>
          </a:p>
        </p:txBody>
      </p:sp>
      <p:sp>
        <p:nvSpPr>
          <p:cNvPr id="7" name="TextBox 6"/>
          <p:cNvSpPr txBox="1"/>
          <p:nvPr/>
        </p:nvSpPr>
        <p:spPr>
          <a:xfrm>
            <a:off x="71628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8" name="TextBox 7"/>
          <p:cNvSpPr txBox="1"/>
          <p:nvPr/>
        </p:nvSpPr>
        <p:spPr>
          <a:xfrm>
            <a:off x="71628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9" name="Connector 8"/>
          <p:cNvCxnSpPr/>
          <p:nvPr/>
        </p:nvCxnSpPr>
        <p:spPr>
          <a:xfrm>
            <a:off x="1584960" y="2926079"/>
            <a:ext cx="0" cy="342900"/>
          </a:xfrm>
          <a:prstGeom prst="line">
            <a:avLst/>
          </a:prstGeom>
          <a:ln w="15240">
            <a:solidFill>
              <a:srgbClr val="315E9C"/>
            </a:solidFill>
          </a:ln>
          <a:effectLst/>
        </p:spPr>
      </p:cxnSp>
      <p:cxnSp>
        <p:nvCxnSpPr>
          <p:cNvPr id="10" name="Connector 9"/>
          <p:cNvCxnSpPr/>
          <p:nvPr/>
        </p:nvCxnSpPr>
        <p:spPr>
          <a:xfrm>
            <a:off x="1584960" y="3268979"/>
            <a:ext cx="4511040" cy="0"/>
          </a:xfrm>
          <a:prstGeom prst="line">
            <a:avLst/>
          </a:prstGeom>
          <a:ln w="15240">
            <a:solidFill>
              <a:srgbClr val="315E9C"/>
            </a:solidFill>
          </a:ln>
          <a:effectLst/>
        </p:spPr>
      </p:cxnSp>
      <p:sp>
        <p:nvSpPr>
          <p:cNvPr id="11" name="Rounded Rectangle 10"/>
          <p:cNvSpPr/>
          <p:nvPr/>
        </p:nvSpPr>
        <p:spPr>
          <a:xfrm>
            <a:off x="280416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12" name="TextBox 11"/>
          <p:cNvSpPr txBox="1"/>
          <p:nvPr/>
        </p:nvSpPr>
        <p:spPr>
          <a:xfrm>
            <a:off x="297180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Q</a:t>
            </a:r>
          </a:p>
        </p:txBody>
      </p:sp>
      <p:sp>
        <p:nvSpPr>
          <p:cNvPr id="13" name="TextBox 12"/>
          <p:cNvSpPr txBox="1"/>
          <p:nvPr/>
        </p:nvSpPr>
        <p:spPr>
          <a:xfrm>
            <a:off x="297180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14" name="TextBox 13"/>
          <p:cNvSpPr txBox="1"/>
          <p:nvPr/>
        </p:nvSpPr>
        <p:spPr>
          <a:xfrm>
            <a:off x="297180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15" name="Connector 14"/>
          <p:cNvCxnSpPr/>
          <p:nvPr/>
        </p:nvCxnSpPr>
        <p:spPr>
          <a:xfrm>
            <a:off x="3840479" y="2926079"/>
            <a:ext cx="0" cy="342900"/>
          </a:xfrm>
          <a:prstGeom prst="line">
            <a:avLst/>
          </a:prstGeom>
          <a:ln w="15240">
            <a:solidFill>
              <a:srgbClr val="315E9C"/>
            </a:solidFill>
          </a:ln>
          <a:effectLst/>
        </p:spPr>
      </p:cxnSp>
      <p:cxnSp>
        <p:nvCxnSpPr>
          <p:cNvPr id="16" name="Connector 15"/>
          <p:cNvCxnSpPr/>
          <p:nvPr/>
        </p:nvCxnSpPr>
        <p:spPr>
          <a:xfrm>
            <a:off x="3840479" y="3268979"/>
            <a:ext cx="2255521" cy="0"/>
          </a:xfrm>
          <a:prstGeom prst="line">
            <a:avLst/>
          </a:prstGeom>
          <a:ln w="15240">
            <a:solidFill>
              <a:srgbClr val="315E9C"/>
            </a:solidFill>
          </a:ln>
          <a:effectLst/>
        </p:spPr>
      </p:cxnSp>
      <p:sp>
        <p:nvSpPr>
          <p:cNvPr id="17" name="Rounded Rectangle 16"/>
          <p:cNvSpPr/>
          <p:nvPr/>
        </p:nvSpPr>
        <p:spPr>
          <a:xfrm>
            <a:off x="505968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18" name="TextBox 17"/>
          <p:cNvSpPr txBox="1"/>
          <p:nvPr/>
        </p:nvSpPr>
        <p:spPr>
          <a:xfrm>
            <a:off x="522732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R</a:t>
            </a:r>
          </a:p>
        </p:txBody>
      </p:sp>
      <p:sp>
        <p:nvSpPr>
          <p:cNvPr id="19" name="TextBox 18"/>
          <p:cNvSpPr txBox="1"/>
          <p:nvPr/>
        </p:nvSpPr>
        <p:spPr>
          <a:xfrm>
            <a:off x="522732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20" name="TextBox 19"/>
          <p:cNvSpPr txBox="1"/>
          <p:nvPr/>
        </p:nvSpPr>
        <p:spPr>
          <a:xfrm>
            <a:off x="522732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21" name="Connector 20"/>
          <p:cNvCxnSpPr/>
          <p:nvPr/>
        </p:nvCxnSpPr>
        <p:spPr>
          <a:xfrm>
            <a:off x="6096000" y="2926079"/>
            <a:ext cx="0" cy="342900"/>
          </a:xfrm>
          <a:prstGeom prst="line">
            <a:avLst/>
          </a:prstGeom>
          <a:ln w="15240">
            <a:solidFill>
              <a:srgbClr val="315E9C"/>
            </a:solidFill>
          </a:ln>
          <a:effectLst/>
        </p:spPr>
      </p:cxnSp>
      <p:cxnSp>
        <p:nvCxnSpPr>
          <p:cNvPr id="22" name="Connector 21"/>
          <p:cNvCxnSpPr/>
          <p:nvPr/>
        </p:nvCxnSpPr>
        <p:spPr>
          <a:xfrm>
            <a:off x="6096000" y="3268979"/>
            <a:ext cx="0" cy="0"/>
          </a:xfrm>
          <a:prstGeom prst="line">
            <a:avLst/>
          </a:prstGeom>
          <a:ln w="15240">
            <a:solidFill>
              <a:srgbClr val="315E9C"/>
            </a:solidFill>
          </a:ln>
          <a:effectLst/>
        </p:spPr>
      </p:cxnSp>
      <p:sp>
        <p:nvSpPr>
          <p:cNvPr id="23" name="Rounded Rectangle 22"/>
          <p:cNvSpPr/>
          <p:nvPr/>
        </p:nvSpPr>
        <p:spPr>
          <a:xfrm>
            <a:off x="731520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24" name="TextBox 23"/>
          <p:cNvSpPr txBox="1"/>
          <p:nvPr/>
        </p:nvSpPr>
        <p:spPr>
          <a:xfrm>
            <a:off x="7482839"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P ⇒ Q</a:t>
            </a:r>
          </a:p>
        </p:txBody>
      </p:sp>
      <p:sp>
        <p:nvSpPr>
          <p:cNvPr id="25" name="TextBox 24"/>
          <p:cNvSpPr txBox="1"/>
          <p:nvPr/>
        </p:nvSpPr>
        <p:spPr>
          <a:xfrm>
            <a:off x="7482839"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26" name="TextBox 25"/>
          <p:cNvSpPr txBox="1"/>
          <p:nvPr/>
        </p:nvSpPr>
        <p:spPr>
          <a:xfrm>
            <a:off x="7482839"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27" name="Connector 26"/>
          <p:cNvCxnSpPr/>
          <p:nvPr/>
        </p:nvCxnSpPr>
        <p:spPr>
          <a:xfrm>
            <a:off x="8351520" y="2926079"/>
            <a:ext cx="0" cy="342900"/>
          </a:xfrm>
          <a:prstGeom prst="line">
            <a:avLst/>
          </a:prstGeom>
          <a:ln w="15240">
            <a:solidFill>
              <a:srgbClr val="315E9C"/>
            </a:solidFill>
          </a:ln>
          <a:effectLst/>
        </p:spPr>
      </p:cxnSp>
      <p:cxnSp>
        <p:nvCxnSpPr>
          <p:cNvPr id="28" name="Connector 27"/>
          <p:cNvCxnSpPr/>
          <p:nvPr/>
        </p:nvCxnSpPr>
        <p:spPr>
          <a:xfrm flipH="1">
            <a:off x="6096000" y="3268979"/>
            <a:ext cx="2255520" cy="0"/>
          </a:xfrm>
          <a:prstGeom prst="line">
            <a:avLst/>
          </a:prstGeom>
          <a:ln w="15240">
            <a:solidFill>
              <a:srgbClr val="315E9C"/>
            </a:solidFill>
          </a:ln>
          <a:effectLst/>
        </p:spPr>
      </p:cxnSp>
      <p:sp>
        <p:nvSpPr>
          <p:cNvPr id="29" name="Rounded Rectangle 28"/>
          <p:cNvSpPr/>
          <p:nvPr/>
        </p:nvSpPr>
        <p:spPr>
          <a:xfrm>
            <a:off x="957072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30" name="TextBox 29"/>
          <p:cNvSpPr txBox="1"/>
          <p:nvPr/>
        </p:nvSpPr>
        <p:spPr>
          <a:xfrm>
            <a:off x="973836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Q ⇒ R</a:t>
            </a:r>
          </a:p>
        </p:txBody>
      </p:sp>
      <p:sp>
        <p:nvSpPr>
          <p:cNvPr id="31" name="TextBox 30"/>
          <p:cNvSpPr txBox="1"/>
          <p:nvPr/>
        </p:nvSpPr>
        <p:spPr>
          <a:xfrm>
            <a:off x="973836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32" name="TextBox 31"/>
          <p:cNvSpPr txBox="1"/>
          <p:nvPr/>
        </p:nvSpPr>
        <p:spPr>
          <a:xfrm>
            <a:off x="973836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33" name="Connector 32"/>
          <p:cNvCxnSpPr/>
          <p:nvPr/>
        </p:nvCxnSpPr>
        <p:spPr>
          <a:xfrm>
            <a:off x="10607040" y="2926079"/>
            <a:ext cx="0" cy="342900"/>
          </a:xfrm>
          <a:prstGeom prst="line">
            <a:avLst/>
          </a:prstGeom>
          <a:ln w="15240">
            <a:solidFill>
              <a:srgbClr val="315E9C"/>
            </a:solidFill>
          </a:ln>
          <a:effectLst/>
        </p:spPr>
      </p:cxnSp>
      <p:cxnSp>
        <p:nvCxnSpPr>
          <p:cNvPr id="34" name="Connector 33"/>
          <p:cNvCxnSpPr/>
          <p:nvPr/>
        </p:nvCxnSpPr>
        <p:spPr>
          <a:xfrm flipH="1">
            <a:off x="6096000" y="3268979"/>
            <a:ext cx="4511040" cy="0"/>
          </a:xfrm>
          <a:prstGeom prst="line">
            <a:avLst/>
          </a:prstGeom>
          <a:ln w="15240">
            <a:solidFill>
              <a:srgbClr val="315E9C"/>
            </a:solidFill>
          </a:ln>
          <a:effectLst/>
        </p:spPr>
      </p:cxnSp>
      <p:cxnSp>
        <p:nvCxnSpPr>
          <p:cNvPr id="35" name="Connector 34"/>
          <p:cNvCxnSpPr/>
          <p:nvPr/>
        </p:nvCxnSpPr>
        <p:spPr>
          <a:xfrm>
            <a:off x="6096000" y="3268979"/>
            <a:ext cx="0" cy="457200"/>
          </a:xfrm>
          <a:prstGeom prst="line">
            <a:avLst/>
          </a:prstGeom>
          <a:ln w="15240">
            <a:solidFill>
              <a:srgbClr val="007C78"/>
            </a:solidFill>
          </a:ln>
          <a:effectLst/>
        </p:spPr>
      </p:cxnSp>
      <p:sp>
        <p:nvSpPr>
          <p:cNvPr id="36" name="Freeform 35"/>
          <p:cNvSpPr/>
          <p:nvPr/>
        </p:nvSpPr>
        <p:spPr>
          <a:xfrm>
            <a:off x="6057900" y="3627120"/>
            <a:ext cx="76200" cy="99060"/>
          </a:xfrm>
          <a:custGeom>
            <a:avLst/>
            <a:gdLst/>
            <a:ahLst/>
            <a:cxnLst/>
            <a:rect l="l" t="t" r="r" b="b"/>
            <a:pathLst>
              <a:path w="10" h="13">
                <a:moveTo>
                  <a:pt x="5" y="13"/>
                </a:moveTo>
                <a:lnTo>
                  <a:pt x="10" y="0"/>
                </a:lnTo>
                <a:lnTo>
                  <a:pt x="0" y="0"/>
                </a:lnTo>
                <a:close/>
              </a:path>
            </a:pathLst>
          </a:custGeom>
          <a:solidFill>
            <a:srgbClr val="007C78"/>
          </a:solidFill>
          <a:ln>
            <a:noFill/>
          </a:ln>
          <a:effectLst/>
        </p:spPr>
        <p:txBody>
          <a:bodyPr rtlCol="0" anchor="ctr"/>
          <a:lstStyle/>
          <a:p>
            <a:pPr algn="ctr"/>
          </a:p>
        </p:txBody>
      </p:sp>
      <p:sp>
        <p:nvSpPr>
          <p:cNvPr id="37" name="Rounded Rectangle 36"/>
          <p:cNvSpPr/>
          <p:nvPr/>
        </p:nvSpPr>
        <p:spPr>
          <a:xfrm>
            <a:off x="3208020" y="3726179"/>
            <a:ext cx="5775960" cy="1082040"/>
          </a:xfrm>
          <a:prstGeom prst="roundRect">
            <a:avLst>
              <a:gd name="adj" fmla="val 9154"/>
            </a:avLst>
          </a:prstGeom>
          <a:solidFill>
            <a:srgbClr val="DCEFE8"/>
          </a:solidFill>
          <a:ln w="7620">
            <a:solidFill>
              <a:srgbClr val="007C78"/>
            </a:solidFill>
          </a:ln>
          <a:effectLst/>
        </p:spPr>
        <p:txBody>
          <a:bodyPr rtlCol="0" anchor="ctr"/>
          <a:lstStyle/>
          <a:p>
            <a:pPr algn="ctr"/>
          </a:p>
        </p:txBody>
      </p:sp>
      <p:sp>
        <p:nvSpPr>
          <p:cNvPr id="38" name="TextBox 37"/>
          <p:cNvSpPr txBox="1"/>
          <p:nvPr/>
        </p:nvSpPr>
        <p:spPr>
          <a:xfrm>
            <a:off x="3375660" y="3893819"/>
            <a:ext cx="544068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Derived P ⇒ R</a:t>
            </a:r>
          </a:p>
        </p:txBody>
      </p:sp>
      <p:sp>
        <p:nvSpPr>
          <p:cNvPr id="39" name="TextBox 38"/>
          <p:cNvSpPr txBox="1"/>
          <p:nvPr/>
        </p:nvSpPr>
        <p:spPr>
          <a:xfrm>
            <a:off x="3375660" y="4301642"/>
            <a:ext cx="54406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Inherited evidence roots + actual grounded ancestry</a:t>
            </a:r>
          </a:p>
        </p:txBody>
      </p:sp>
      <p:sp>
        <p:nvSpPr>
          <p:cNvPr id="40" name="TextBox 39"/>
          <p:cNvSpPr txBox="1"/>
          <p:nvPr/>
        </p:nvSpPr>
        <p:spPr>
          <a:xfrm>
            <a:off x="594360" y="5181600"/>
            <a:ext cx="108966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Unknown target: initialize inferential support. Existing truth: keep the alternative.</a:t>
            </a:r>
          </a:p>
        </p:txBody>
      </p:sp>
      <p:sp>
        <p:nvSpPr>
          <p:cNvPr id="41" name="Rounded Rectangle 4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2" name="TextBox 41"/>
          <p:cNvSpPr txBox="1"/>
          <p:nvPr/>
        </p:nvSpPr>
        <p:spPr>
          <a:xfrm>
            <a:off x="716280" y="5905500"/>
            <a:ext cx="10744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No new observation, root, independence assertion or evidence count is created.</a:t>
            </a:r>
          </a:p>
        </p:txBody>
      </p:sp>
      <p:cxnSp>
        <p:nvCxnSpPr>
          <p:cNvPr id="43" name="Connector 42"/>
          <p:cNvCxnSpPr/>
          <p:nvPr/>
        </p:nvCxnSpPr>
        <p:spPr>
          <a:xfrm>
            <a:off x="548640" y="6393180"/>
            <a:ext cx="11094720" cy="0"/>
          </a:xfrm>
          <a:prstGeom prst="line">
            <a:avLst/>
          </a:prstGeom>
          <a:ln w="7620">
            <a:solidFill>
              <a:srgbClr val="C9D2D4"/>
            </a:solidFill>
          </a:ln>
          <a:effectLst/>
        </p:spPr>
      </p:cxnSp>
      <p:sp>
        <p:nvSpPr>
          <p:cNvPr id="44" name="TextBox 4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derived_beliefs.py · pln_deduction.py</a:t>
            </a:r>
          </a:p>
        </p:txBody>
      </p:sp>
      <p:sp>
        <p:nvSpPr>
          <p:cNvPr id="45" name="TextBox 4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KERNEL AND RUNTIME COMPATIBILITY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One grounded rule reuses the actual native PLN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No replacement arithmetic and no general search loop: five explicit premises produce one proposal.</a:t>
            </a:r>
          </a:p>
        </p:txBody>
      </p:sp>
      <p:sp>
        <p:nvSpPr>
          <p:cNvPr id="5" name="Rounded Rectangle 4"/>
          <p:cNvSpPr/>
          <p:nvPr/>
        </p:nvSpPr>
        <p:spPr>
          <a:xfrm>
            <a:off x="548640" y="1981200"/>
            <a:ext cx="3200400" cy="1706880"/>
          </a:xfrm>
          <a:prstGeom prst="roundRect">
            <a:avLst>
              <a:gd name="adj" fmla="val 5803"/>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148840"/>
            <a:ext cx="286512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Fusion PLNKernel</a:t>
            </a:r>
          </a:p>
        </p:txBody>
      </p:sp>
      <p:sp>
        <p:nvSpPr>
          <p:cNvPr id="7" name="TextBox 6"/>
          <p:cNvSpPr txBox="1"/>
          <p:nvPr/>
        </p:nvSpPr>
        <p:spPr>
          <a:xfrm>
            <a:off x="716280" y="2527401"/>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Exact bindings,</a:t>
            </a:r>
          </a:p>
        </p:txBody>
      </p:sp>
      <p:sp>
        <p:nvSpPr>
          <p:cNvPr id="8" name="TextBox 7"/>
          <p:cNvSpPr txBox="1"/>
          <p:nvPr/>
        </p:nvSpPr>
        <p:spPr>
          <a:xfrm>
            <a:off x="716280" y="2800502"/>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source/profile checks and</a:t>
            </a:r>
          </a:p>
        </p:txBody>
      </p:sp>
      <p:sp>
        <p:nvSpPr>
          <p:cNvPr id="9" name="TextBox 8"/>
          <p:cNvSpPr txBox="1"/>
          <p:nvPr/>
        </p:nvSpPr>
        <p:spPr>
          <a:xfrm>
            <a:off x="716280" y="3073603"/>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remaining deadline</a:t>
            </a:r>
          </a:p>
        </p:txBody>
      </p:sp>
      <p:sp>
        <p:nvSpPr>
          <p:cNvPr id="10" name="Rounded Rectangle 9"/>
          <p:cNvSpPr/>
          <p:nvPr/>
        </p:nvSpPr>
        <p:spPr>
          <a:xfrm>
            <a:off x="4267200" y="1981200"/>
            <a:ext cx="3657600" cy="1706880"/>
          </a:xfrm>
          <a:prstGeom prst="roundRect">
            <a:avLst>
              <a:gd name="adj" fmla="val 5803"/>
            </a:avLst>
          </a:prstGeom>
          <a:solidFill>
            <a:srgbClr val="DCEFE8"/>
          </a:solidFill>
          <a:ln w="7620">
            <a:solidFill>
              <a:srgbClr val="007C78"/>
            </a:solidFill>
          </a:ln>
          <a:effectLst/>
        </p:spPr>
        <p:txBody>
          <a:bodyPr rtlCol="0" anchor="ctr"/>
          <a:lstStyle/>
          <a:p>
            <a:pPr algn="ctr"/>
          </a:p>
        </p:txBody>
      </p:sp>
      <p:sp>
        <p:nvSpPr>
          <p:cNvPr id="11" name="TextBox 10"/>
          <p:cNvSpPr txBox="1"/>
          <p:nvPr/>
        </p:nvSpPr>
        <p:spPr>
          <a:xfrm>
            <a:off x="4434840" y="2148840"/>
            <a:ext cx="3322319"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Pinned Reachability</a:t>
            </a:r>
          </a:p>
        </p:txBody>
      </p:sp>
      <p:sp>
        <p:nvSpPr>
          <p:cNvPr id="12" name="TextBox 11"/>
          <p:cNvSpPr txBox="1"/>
          <p:nvPr/>
        </p:nvSpPr>
        <p:spPr>
          <a:xfrm>
            <a:off x="4434840" y="2527401"/>
            <a:ext cx="332231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PLNAdapter.apply_rule</a:t>
            </a:r>
          </a:p>
        </p:txBody>
      </p:sp>
      <p:sp>
        <p:nvSpPr>
          <p:cNvPr id="13" name="TextBox 12"/>
          <p:cNvSpPr txBox="1"/>
          <p:nvPr/>
        </p:nvSpPr>
        <p:spPr>
          <a:xfrm>
            <a:off x="4434840" y="2800502"/>
            <a:ext cx="332231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DeductionRule + guards</a:t>
            </a:r>
          </a:p>
        </p:txBody>
      </p:sp>
      <p:sp>
        <p:nvSpPr>
          <p:cNvPr id="14" name="Rounded Rectangle 13"/>
          <p:cNvSpPr/>
          <p:nvPr/>
        </p:nvSpPr>
        <p:spPr>
          <a:xfrm>
            <a:off x="8442960" y="1981200"/>
            <a:ext cx="3200400" cy="1706880"/>
          </a:xfrm>
          <a:prstGeom prst="roundRect">
            <a:avLst>
              <a:gd name="adj" fmla="val 5803"/>
            </a:avLst>
          </a:prstGeom>
          <a:solidFill>
            <a:srgbClr val="DCEFE8"/>
          </a:solidFill>
          <a:ln w="7620">
            <a:solidFill>
              <a:srgbClr val="007C78"/>
            </a:solidFill>
          </a:ln>
          <a:effectLst/>
        </p:spPr>
        <p:txBody>
          <a:bodyPr rtlCol="0" anchor="ctr"/>
          <a:lstStyle/>
          <a:p>
            <a:pPr algn="ctr"/>
          </a:p>
        </p:txBody>
      </p:sp>
      <p:sp>
        <p:nvSpPr>
          <p:cNvPr id="15" name="TextBox 14"/>
          <p:cNvSpPr txBox="1"/>
          <p:nvPr/>
        </p:nvSpPr>
        <p:spPr>
          <a:xfrm>
            <a:off x="8610600" y="2148840"/>
            <a:ext cx="286512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Native PLN / PeTTa</a:t>
            </a:r>
          </a:p>
        </p:txBody>
      </p:sp>
      <p:sp>
        <p:nvSpPr>
          <p:cNvPr id="16" name="TextBox 15"/>
          <p:cNvSpPr txBox="1"/>
          <p:nvPr/>
        </p:nvSpPr>
        <p:spPr>
          <a:xfrm>
            <a:off x="8610600" y="2527401"/>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Truth_Deduction</a:t>
            </a:r>
          </a:p>
        </p:txBody>
      </p:sp>
      <p:sp>
        <p:nvSpPr>
          <p:cNvPr id="17" name="TextBox 16"/>
          <p:cNvSpPr txBox="1"/>
          <p:nvPr/>
        </p:nvSpPr>
        <p:spPr>
          <a:xfrm>
            <a:off x="8610600" y="2800502"/>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SWI 10.1.14 + Janus</a:t>
            </a:r>
          </a:p>
        </p:txBody>
      </p:sp>
      <p:cxnSp>
        <p:nvCxnSpPr>
          <p:cNvPr id="18" name="Connector 17"/>
          <p:cNvCxnSpPr/>
          <p:nvPr/>
        </p:nvCxnSpPr>
        <p:spPr>
          <a:xfrm>
            <a:off x="3749040" y="2834640"/>
            <a:ext cx="518160" cy="0"/>
          </a:xfrm>
          <a:prstGeom prst="line">
            <a:avLst/>
          </a:prstGeom>
          <a:ln w="15240">
            <a:solidFill>
              <a:srgbClr val="007C78"/>
            </a:solidFill>
          </a:ln>
          <a:effectLst/>
        </p:spPr>
      </p:cxnSp>
      <p:sp>
        <p:nvSpPr>
          <p:cNvPr id="19" name="Freeform 18"/>
          <p:cNvSpPr/>
          <p:nvPr/>
        </p:nvSpPr>
        <p:spPr>
          <a:xfrm>
            <a:off x="4168140" y="27965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20" name="Connector 19"/>
          <p:cNvCxnSpPr/>
          <p:nvPr/>
        </p:nvCxnSpPr>
        <p:spPr>
          <a:xfrm>
            <a:off x="7924800" y="2834640"/>
            <a:ext cx="518160" cy="0"/>
          </a:xfrm>
          <a:prstGeom prst="line">
            <a:avLst/>
          </a:prstGeom>
          <a:ln w="15240">
            <a:solidFill>
              <a:srgbClr val="007C78"/>
            </a:solidFill>
          </a:ln>
          <a:effectLst/>
        </p:spPr>
      </p:cxnSp>
      <p:sp>
        <p:nvSpPr>
          <p:cNvPr id="21" name="Freeform 20"/>
          <p:cNvSpPr/>
          <p:nvPr/>
        </p:nvSpPr>
        <p:spPr>
          <a:xfrm>
            <a:off x="8343900" y="27965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2" name="Rounded Rectangle 21"/>
          <p:cNvSpPr/>
          <p:nvPr/>
        </p:nvSpPr>
        <p:spPr>
          <a:xfrm>
            <a:off x="548640" y="4175760"/>
            <a:ext cx="5364480" cy="1394460"/>
          </a:xfrm>
          <a:prstGeom prst="roundRect">
            <a:avLst>
              <a:gd name="adj" fmla="val 7103"/>
            </a:avLst>
          </a:prstGeom>
          <a:solidFill>
            <a:srgbClr val="E4EBF5"/>
          </a:solidFill>
          <a:ln w="7620">
            <a:solidFill>
              <a:srgbClr val="315E9C"/>
            </a:solidFill>
          </a:ln>
          <a:effectLst/>
        </p:spPr>
        <p:txBody>
          <a:bodyPr rtlCol="0" anchor="ctr"/>
          <a:lstStyle/>
          <a:p>
            <a:pPr algn="ctr"/>
          </a:p>
        </p:txBody>
      </p:sp>
      <p:sp>
        <p:nvSpPr>
          <p:cNvPr id="23" name="TextBox 22"/>
          <p:cNvSpPr txBox="1"/>
          <p:nvPr/>
        </p:nvSpPr>
        <p:spPr>
          <a:xfrm>
            <a:off x="716280" y="4343400"/>
            <a:ext cx="50292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Two probability checks</a:t>
            </a:r>
          </a:p>
        </p:txBody>
      </p:sp>
      <p:sp>
        <p:nvSpPr>
          <p:cNvPr id="24" name="TextBox 23"/>
          <p:cNvSpPr txBox="1"/>
          <p:nvPr/>
        </p:nvSpPr>
        <p:spPr>
          <a:xfrm>
            <a:off x="716280" y="471220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Upstream exact Python precheck and the native</a:t>
            </a:r>
          </a:p>
        </p:txBody>
      </p:sp>
      <p:sp>
        <p:nvSpPr>
          <p:cNvPr id="25" name="TextBox 24"/>
          <p:cNvSpPr txBox="1"/>
          <p:nvPr/>
        </p:nvSpPr>
        <p:spPr>
          <a:xfrm>
            <a:off x="716280" y="4975555"/>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consistency guard both apply.</a:t>
            </a:r>
          </a:p>
        </p:txBody>
      </p:sp>
      <p:sp>
        <p:nvSpPr>
          <p:cNvPr id="26" name="Rounded Rectangle 25"/>
          <p:cNvSpPr/>
          <p:nvPr/>
        </p:nvSpPr>
        <p:spPr>
          <a:xfrm>
            <a:off x="6096000" y="4175760"/>
            <a:ext cx="5547360" cy="1394460"/>
          </a:xfrm>
          <a:prstGeom prst="roundRect">
            <a:avLst>
              <a:gd name="adj" fmla="val 7103"/>
            </a:avLst>
          </a:prstGeom>
          <a:solidFill>
            <a:srgbClr val="E4EBF5"/>
          </a:solidFill>
          <a:ln w="7620">
            <a:solidFill>
              <a:srgbClr val="315E9C"/>
            </a:solidFill>
          </a:ln>
          <a:effectLst/>
        </p:spPr>
        <p:txBody>
          <a:bodyPr rtlCol="0" anchor="ctr"/>
          <a:lstStyle/>
          <a:p>
            <a:pPr algn="ctr"/>
          </a:p>
        </p:txBody>
      </p:sp>
      <p:sp>
        <p:nvSpPr>
          <p:cNvPr id="27" name="TextBox 26"/>
          <p:cNvSpPr txBox="1"/>
          <p:nvPr/>
        </p:nvSpPr>
        <p:spPr>
          <a:xfrm>
            <a:off x="6263640" y="4343400"/>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Separate compatibility profile</a:t>
            </a:r>
          </a:p>
        </p:txBody>
      </p:sp>
      <p:sp>
        <p:nvSpPr>
          <p:cNvPr id="28" name="TextBox 27"/>
          <p:cNvSpPr txBox="1"/>
          <p:nvPr/>
        </p:nvSpPr>
        <p:spPr>
          <a:xfrm>
            <a:off x="6263640" y="4712208"/>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Deduction has its own source/runtime allowlist;</a:t>
            </a:r>
          </a:p>
        </p:txBody>
      </p:sp>
      <p:sp>
        <p:nvSpPr>
          <p:cNvPr id="29" name="TextBox 28"/>
          <p:cNvSpPr txBox="1"/>
          <p:nvPr/>
        </p:nvSpPr>
        <p:spPr>
          <a:xfrm>
            <a:off x="6263640" y="497555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revision-only profile stays intact.</a:t>
            </a:r>
          </a:p>
        </p:txBody>
      </p:sp>
      <p:sp>
        <p:nvSpPr>
          <p:cNvPr id="30" name="Rounded Rectangle 2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1" name="TextBox 30"/>
          <p:cNvSpPr txBox="1"/>
          <p:nvPr/>
        </p:nvSpPr>
        <p:spPr>
          <a:xfrm>
            <a:off x="716280" y="5905500"/>
            <a:ext cx="10744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Kernel output is a proposal. C2 performs final authorization, CAS and admission.</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deduction-sources.json · integration/pln/test_deduction.py</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NUMERICAL EVIDENCE</a:t>
            </a:r>
          </a:p>
        </p:txBody>
      </p:sp>
      <p:sp>
        <p:nvSpPr>
          <p:cNvPr id="3" name="TextBox 2"/>
          <p:cNvSpPr txBox="1"/>
          <p:nvPr/>
        </p:nvSpPr>
        <p:spPr>
          <a:xfrm>
            <a:off x="533400" y="723900"/>
            <a:ext cx="11125200" cy="448665"/>
          </a:xfrm>
          <a:prstGeom prst="rect">
            <a:avLst/>
          </a:prstGeom>
          <a:noFill/>
        </p:spPr>
        <p:txBody>
          <a:bodyPr wrap="none" lIns="0" rIns="0" tIns="0" bIns="0" anchor="t" anchorCtr="0">
            <a:noAutofit/>
          </a:bodyPr>
          <a:lstStyle/>
          <a:p>
            <a:pPr algn="l">
              <a:lnSpc>
                <a:spcPct val="100000"/>
              </a:lnSpc>
              <a:spcBef>
                <a:spcPts val="0"/>
              </a:spcBef>
              <a:spcAft>
                <a:spcPts val="0"/>
              </a:spcAft>
            </a:pPr>
            <a:r>
              <a:rPr sz="2760" b="1">
                <a:solidFill>
                  <a:srgbClr val="102B3F"/>
                </a:solidFill>
                <a:latin typeface="DejaVu Sans"/>
              </a:rPr>
              <a:t>Native goldens check deduction and preserved revision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Independent expected values check pinned native formulas; no replacement math runs in the owners.</a:t>
            </a:r>
          </a:p>
        </p:txBody>
      </p:sp>
      <p:sp>
        <p:nvSpPr>
          <p:cNvPr id="5" name="Rounded Rectangle 4"/>
          <p:cNvSpPr/>
          <p:nvPr/>
        </p:nvSpPr>
        <p:spPr>
          <a:xfrm>
            <a:off x="548640" y="1889759"/>
            <a:ext cx="5364480" cy="2644140"/>
          </a:xfrm>
          <a:prstGeom prst="roundRect">
            <a:avLst>
              <a:gd name="adj" fmla="val 3746"/>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57400"/>
            <a:ext cx="5029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M3 · Grounded deduction</a:t>
            </a:r>
          </a:p>
        </p:txBody>
      </p:sp>
      <p:sp>
        <p:nvSpPr>
          <p:cNvPr id="7" name="TextBox 6"/>
          <p:cNvSpPr txBox="1"/>
          <p:nvPr/>
        </p:nvSpPr>
        <p:spPr>
          <a:xfrm>
            <a:off x="716280" y="2445715"/>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P, Q, R = (0.5, 0.8)</a:t>
            </a:r>
          </a:p>
        </p:txBody>
      </p:sp>
      <p:sp>
        <p:nvSpPr>
          <p:cNvPr id="8" name="TextBox 7"/>
          <p:cNvSpPr txBox="1"/>
          <p:nvPr/>
        </p:nvSpPr>
        <p:spPr>
          <a:xfrm>
            <a:off x="716280" y="2728569"/>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P⇒Q, Q⇒R = (0.8, 0.7)</a:t>
            </a:r>
          </a:p>
        </p:txBody>
      </p:sp>
      <p:sp>
        <p:nvSpPr>
          <p:cNvPr id="9" name="TextBox 8"/>
          <p:cNvSpPr txBox="1"/>
          <p:nvPr/>
        </p:nvSpPr>
        <p:spPr>
          <a:xfrm>
            <a:off x="716280" y="3011423"/>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
            </a:r>
          </a:p>
        </p:txBody>
      </p:sp>
      <p:sp>
        <p:nvSpPr>
          <p:cNvPr id="10" name="TextBox 9"/>
          <p:cNvSpPr txBox="1"/>
          <p:nvPr/>
        </p:nvSpPr>
        <p:spPr>
          <a:xfrm>
            <a:off x="716280" y="3294278"/>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Expected P⇒R: (0.68, 0.3136)</a:t>
            </a:r>
          </a:p>
        </p:txBody>
      </p:sp>
      <p:sp>
        <p:nvSpPr>
          <p:cNvPr id="11" name="Rounded Rectangle 10"/>
          <p:cNvSpPr/>
          <p:nvPr/>
        </p:nvSpPr>
        <p:spPr>
          <a:xfrm>
            <a:off x="6096000" y="1889759"/>
            <a:ext cx="5547360" cy="2644140"/>
          </a:xfrm>
          <a:prstGeom prst="roundRect">
            <a:avLst>
              <a:gd name="adj" fmla="val 3746"/>
            </a:avLst>
          </a:prstGeom>
          <a:solidFill>
            <a:srgbClr val="E4EBF5"/>
          </a:solidFill>
          <a:ln w="7620">
            <a:solidFill>
              <a:srgbClr val="315E9C"/>
            </a:solidFill>
          </a:ln>
          <a:effectLst/>
        </p:spPr>
        <p:txBody>
          <a:bodyPr rtlCol="0" anchor="ctr"/>
          <a:lstStyle/>
          <a:p>
            <a:pPr algn="ctr"/>
          </a:p>
        </p:txBody>
      </p:sp>
      <p:sp>
        <p:nvSpPr>
          <p:cNvPr id="12" name="TextBox 11"/>
          <p:cNvSpPr txBox="1"/>
          <p:nvPr/>
        </p:nvSpPr>
        <p:spPr>
          <a:xfrm>
            <a:off x="6263640" y="2057400"/>
            <a:ext cx="521208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M2 · Guarded revision</a:t>
            </a:r>
          </a:p>
        </p:txBody>
      </p:sp>
      <p:sp>
        <p:nvSpPr>
          <p:cNvPr id="13" name="TextBox 12"/>
          <p:cNvSpPr txBox="1"/>
          <p:nvPr/>
        </p:nvSpPr>
        <p:spPr>
          <a:xfrm>
            <a:off x="6263640" y="2445715"/>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(0.75, 0.50) + (0.25, 0.50)</a:t>
            </a:r>
          </a:p>
        </p:txBody>
      </p:sp>
      <p:sp>
        <p:nvSpPr>
          <p:cNvPr id="14" name="TextBox 13"/>
          <p:cNvSpPr txBox="1"/>
          <p:nvPr/>
        </p:nvSpPr>
        <p:spPr>
          <a:xfrm>
            <a:off x="6263640" y="2718815"/>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 (0.50, 2/3)</a:t>
            </a:r>
          </a:p>
        </p:txBody>
      </p:sp>
      <p:sp>
        <p:nvSpPr>
          <p:cNvPr id="15" name="TextBox 14"/>
          <p:cNvSpPr txBox="1"/>
          <p:nvPr/>
        </p:nvSpPr>
        <p:spPr>
          <a:xfrm>
            <a:off x="6263640" y="2991916"/>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
            </a:r>
          </a:p>
        </p:txBody>
      </p:sp>
      <p:sp>
        <p:nvSpPr>
          <p:cNvPr id="16" name="TextBox 15"/>
          <p:cNvSpPr txBox="1"/>
          <p:nvPr/>
        </p:nvSpPr>
        <p:spPr>
          <a:xfrm>
            <a:off x="6263640" y="3265017"/>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Unequal confidence 0.50 / 0.75</a:t>
            </a:r>
          </a:p>
        </p:txBody>
      </p:sp>
      <p:sp>
        <p:nvSpPr>
          <p:cNvPr id="17" name="TextBox 16"/>
          <p:cNvSpPr txBox="1"/>
          <p:nvPr/>
        </p:nvSpPr>
        <p:spPr>
          <a:xfrm>
            <a:off x="6263640" y="3538118"/>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 (0.375, 0.80)</a:t>
            </a:r>
          </a:p>
        </p:txBody>
      </p:sp>
      <p:sp>
        <p:nvSpPr>
          <p:cNvPr id="18" name="TextBox 17"/>
          <p:cNvSpPr txBox="1"/>
          <p:nvPr/>
        </p:nvSpPr>
        <p:spPr>
          <a:xfrm>
            <a:off x="594360" y="4892040"/>
            <a:ext cx="10896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102B3F"/>
                </a:solidFill>
                <a:latin typeface="DejaVu Sans Mono"/>
              </a:rPr>
              <a:t>Observed deduction: 0.6800000000000002 / 0.31360000000000005</a:t>
            </a:r>
          </a:p>
        </p:txBody>
      </p:sp>
      <p:sp>
        <p:nvSpPr>
          <p:cNvPr id="19" name="TextBox 18"/>
          <p:cNvSpPr txBox="1"/>
          <p:nvPr/>
        </p:nvSpPr>
        <p:spPr>
          <a:xfrm>
            <a:off x="594360" y="5318760"/>
            <a:ext cx="108966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102B3F"/>
                </a:solidFill>
                <a:latin typeface="DejaVu Sans"/>
              </a:rPr>
              <a:t>Absolute tolerance 1e−12; finite-domain and lineage guards remain active.</a:t>
            </a:r>
          </a:p>
        </p:txBody>
      </p:sp>
      <p:sp>
        <p:nvSpPr>
          <p:cNvPr id="20" name="Rounded Rectangle 1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1" name="TextBox 20"/>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These are model-specific heuristics, not calibrated real-world confidence or proven entailment.</a:t>
            </a:r>
          </a:p>
        </p:txBody>
      </p:sp>
      <p:cxnSp>
        <p:nvCxnSpPr>
          <p:cNvPr id="22" name="Connector 21"/>
          <p:cNvCxnSpPr/>
          <p:nvPr/>
        </p:nvCxnSpPr>
        <p:spPr>
          <a:xfrm>
            <a:off x="548640" y="6393180"/>
            <a:ext cx="11094720" cy="0"/>
          </a:xfrm>
          <a:prstGeom prst="line">
            <a:avLst/>
          </a:prstGeom>
          <a:ln w="7620">
            <a:solidFill>
              <a:srgbClr val="C9D2D4"/>
            </a:solidFill>
          </a:ln>
          <a:effectLst/>
        </p:spPr>
      </p:cxnSp>
      <p:sp>
        <p:nvSpPr>
          <p:cNvPr id="23" name="TextBox 2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test_deduction.py · preserved test_revision.py</a:t>
            </a:r>
          </a:p>
        </p:txBody>
      </p:sp>
      <p:sp>
        <p:nvSpPr>
          <p:cNvPr id="24" name="TextBox 2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SHORT-TERM IMPORTANCE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C3: a small, independent attention policy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sti-additive-linear-decay/1 · integer STI · explicit logical time · persistent causal identity</a:t>
            </a:r>
          </a:p>
        </p:txBody>
      </p:sp>
      <p:sp>
        <p:nvSpPr>
          <p:cNvPr id="5" name="Rounded Rectangle 4"/>
          <p:cNvSpPr/>
          <p:nvPr/>
        </p:nvSpPr>
        <p:spPr>
          <a:xfrm>
            <a:off x="548640" y="1905000"/>
            <a:ext cx="3535679" cy="2522220"/>
          </a:xfrm>
          <a:prstGeom prst="roundRect">
            <a:avLst>
              <a:gd name="adj" fmla="val 3927"/>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72639"/>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Stimulate</a:t>
            </a:r>
          </a:p>
        </p:txBody>
      </p:sp>
      <p:sp>
        <p:nvSpPr>
          <p:cNvPr id="7" name="TextBox 6"/>
          <p:cNvSpPr txBox="1"/>
          <p:nvPr/>
        </p:nvSpPr>
        <p:spPr>
          <a:xfrm>
            <a:off x="716280" y="248046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Add within per-target</a:t>
            </a:r>
          </a:p>
        </p:txBody>
      </p:sp>
      <p:sp>
        <p:nvSpPr>
          <p:cNvPr id="8" name="TextBox 7"/>
          <p:cNvSpPr txBox="1"/>
          <p:nvPr/>
        </p:nvSpPr>
        <p:spPr>
          <a:xfrm>
            <a:off x="716280" y="276331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saturation. Refuse the whole</a:t>
            </a:r>
          </a:p>
        </p:txBody>
      </p:sp>
      <p:sp>
        <p:nvSpPr>
          <p:cNvPr id="9" name="TextBox 8"/>
          <p:cNvSpPr txBox="1"/>
          <p:nvPr/>
        </p:nvSpPr>
        <p:spPr>
          <a:xfrm>
            <a:off x="716280" y="304617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change if the context</a:t>
            </a:r>
          </a:p>
        </p:txBody>
      </p:sp>
      <p:sp>
        <p:nvSpPr>
          <p:cNvPr id="10" name="TextBox 9"/>
          <p:cNvSpPr txBox="1"/>
          <p:nvPr/>
        </p:nvSpPr>
        <p:spPr>
          <a:xfrm>
            <a:off x="716280" y="332902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budget would be exceeded.</a:t>
            </a:r>
          </a:p>
        </p:txBody>
      </p:sp>
      <p:sp>
        <p:nvSpPr>
          <p:cNvPr id="11" name="Rounded Rectangle 10"/>
          <p:cNvSpPr/>
          <p:nvPr/>
        </p:nvSpPr>
        <p:spPr>
          <a:xfrm>
            <a:off x="4328160" y="1905000"/>
            <a:ext cx="3535679" cy="2522220"/>
          </a:xfrm>
          <a:prstGeom prst="roundRect">
            <a:avLst>
              <a:gd name="adj" fmla="val 3927"/>
            </a:avLst>
          </a:prstGeom>
          <a:solidFill>
            <a:srgbClr val="DCEFE8"/>
          </a:solidFill>
          <a:ln w="7620">
            <a:solidFill>
              <a:srgbClr val="007C78"/>
            </a:solidFill>
          </a:ln>
          <a:effectLst/>
        </p:spPr>
        <p:txBody>
          <a:bodyPr rtlCol="0" anchor="ctr"/>
          <a:lstStyle/>
          <a:p>
            <a:pPr algn="ctr"/>
          </a:p>
        </p:txBody>
      </p:sp>
      <p:sp>
        <p:nvSpPr>
          <p:cNvPr id="12" name="TextBox 11"/>
          <p:cNvSpPr txBox="1"/>
          <p:nvPr/>
        </p:nvSpPr>
        <p:spPr>
          <a:xfrm>
            <a:off x="4495800" y="2072639"/>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Select</a:t>
            </a:r>
          </a:p>
        </p:txBody>
      </p:sp>
      <p:sp>
        <p:nvSpPr>
          <p:cNvPr id="13" name="TextBox 12"/>
          <p:cNvSpPr txBox="1"/>
          <p:nvPr/>
        </p:nvSpPr>
        <p:spPr>
          <a:xfrm>
            <a:off x="4495800" y="248046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Rank positive eligible</a:t>
            </a:r>
          </a:p>
        </p:txBody>
      </p:sp>
      <p:sp>
        <p:nvSpPr>
          <p:cNvPr id="14" name="TextBox 13"/>
          <p:cNvSpPr txBox="1"/>
          <p:nvPr/>
        </p:nvSpPr>
        <p:spPr>
          <a:xfrm>
            <a:off x="4495800" y="276331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targets by descending STI,</a:t>
            </a:r>
          </a:p>
        </p:txBody>
      </p:sp>
      <p:sp>
        <p:nvSpPr>
          <p:cNvPr id="15" name="TextBox 14"/>
          <p:cNvSpPr txBox="1"/>
          <p:nvPr/>
        </p:nvSpPr>
        <p:spPr>
          <a:xfrm>
            <a:off x="4495800" y="304617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then the full canonical</a:t>
            </a:r>
          </a:p>
        </p:txBody>
      </p:sp>
      <p:sp>
        <p:nvSpPr>
          <p:cNvPr id="16" name="TextBox 15"/>
          <p:cNvSpPr txBox="1"/>
          <p:nvPr/>
        </p:nvSpPr>
        <p:spPr>
          <a:xfrm>
            <a:off x="4495800" y="332902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reference. Reads do not</a:t>
            </a:r>
          </a:p>
        </p:txBody>
      </p:sp>
      <p:sp>
        <p:nvSpPr>
          <p:cNvPr id="17" name="TextBox 16"/>
          <p:cNvSpPr txBox="1"/>
          <p:nvPr/>
        </p:nvSpPr>
        <p:spPr>
          <a:xfrm>
            <a:off x="4495800" y="361187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decay state.</a:t>
            </a:r>
          </a:p>
        </p:txBody>
      </p:sp>
      <p:sp>
        <p:nvSpPr>
          <p:cNvPr id="18" name="Rounded Rectangle 17"/>
          <p:cNvSpPr/>
          <p:nvPr/>
        </p:nvSpPr>
        <p:spPr>
          <a:xfrm>
            <a:off x="8107680" y="1905000"/>
            <a:ext cx="3535679" cy="2522220"/>
          </a:xfrm>
          <a:prstGeom prst="roundRect">
            <a:avLst>
              <a:gd name="adj" fmla="val 3927"/>
            </a:avLst>
          </a:prstGeom>
          <a:solidFill>
            <a:srgbClr val="E4EBF5"/>
          </a:solidFill>
          <a:ln w="7620">
            <a:solidFill>
              <a:srgbClr val="315E9C"/>
            </a:solidFill>
          </a:ln>
          <a:effectLst/>
        </p:spPr>
        <p:txBody>
          <a:bodyPr rtlCol="0" anchor="ctr"/>
          <a:lstStyle/>
          <a:p>
            <a:pPr algn="ctr"/>
          </a:p>
        </p:txBody>
      </p:sp>
      <p:sp>
        <p:nvSpPr>
          <p:cNvPr id="19" name="TextBox 18"/>
          <p:cNvSpPr txBox="1"/>
          <p:nvPr/>
        </p:nvSpPr>
        <p:spPr>
          <a:xfrm>
            <a:off x="8275320" y="2072639"/>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Advance</a:t>
            </a:r>
          </a:p>
        </p:txBody>
      </p:sp>
      <p:sp>
        <p:nvSpPr>
          <p:cNvPr id="20" name="TextBox 19"/>
          <p:cNvSpPr txBox="1"/>
          <p:nvPr/>
        </p:nvSpPr>
        <p:spPr>
          <a:xfrm>
            <a:off x="8275320" y="248046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Explicitly decay by logical</a:t>
            </a:r>
          </a:p>
        </p:txBody>
      </p:sp>
      <p:sp>
        <p:nvSpPr>
          <p:cNvPr id="21" name="TextBox 20"/>
          <p:cNvSpPr txBox="1"/>
          <p:nvPr/>
        </p:nvSpPr>
        <p:spPr>
          <a:xfrm>
            <a:off x="8275320" y="276331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steps. Stored causal</a:t>
            </a:r>
          </a:p>
        </p:txBody>
      </p:sp>
      <p:sp>
        <p:nvSpPr>
          <p:cNvPr id="22" name="TextBox 21"/>
          <p:cNvSpPr txBox="1"/>
          <p:nvPr/>
        </p:nvSpPr>
        <p:spPr>
          <a:xfrm>
            <a:off x="8275320" y="304617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generation survives decay,</a:t>
            </a:r>
          </a:p>
        </p:txBody>
      </p:sp>
      <p:sp>
        <p:nvSpPr>
          <p:cNvPr id="23" name="TextBox 22"/>
          <p:cNvSpPr txBox="1"/>
          <p:nvPr/>
        </p:nvSpPr>
        <p:spPr>
          <a:xfrm>
            <a:off x="8275320" y="332902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new ingress and new step</a:t>
            </a:r>
          </a:p>
        </p:txBody>
      </p:sp>
      <p:sp>
        <p:nvSpPr>
          <p:cNvPr id="24" name="TextBox 23"/>
          <p:cNvSpPr txBox="1"/>
          <p:nvPr/>
        </p:nvSpPr>
        <p:spPr>
          <a:xfrm>
            <a:off x="8275320" y="361187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IDs.</a:t>
            </a:r>
          </a:p>
        </p:txBody>
      </p:sp>
      <p:sp>
        <p:nvSpPr>
          <p:cNvPr id="25" name="TextBox 24"/>
          <p:cNvSpPr txBox="1"/>
          <p:nvPr/>
        </p:nvSpPr>
        <p:spPr>
          <a:xfrm>
            <a:off x="586740" y="4785360"/>
            <a:ext cx="109728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Default limits: 100 STI per target · 300 per context · decay 1 per logical step</a:t>
            </a:r>
          </a:p>
        </p:txBody>
      </p:sp>
      <p:sp>
        <p:nvSpPr>
          <p:cNvPr id="26" name="TextBox 25"/>
          <p:cNvSpPr txBox="1"/>
          <p:nvPr/>
        </p:nvSpPr>
        <p:spPr>
          <a:xfrm>
            <a:off x="586740" y="5265420"/>
            <a:ext cx="10972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Only authority and opaque-reference syntax are required; no Hive, storage or PLN runtime.</a:t>
            </a:r>
          </a:p>
        </p:txBody>
      </p:sp>
      <p:sp>
        <p:nvSpPr>
          <p:cNvPr id="27" name="Rounded Rectangle 26"/>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8" name="TextBox 27"/>
          <p:cNvSpPr txBox="1"/>
          <p:nvPr/>
        </p:nvSpPr>
        <p:spPr>
          <a:xfrm>
            <a:off x="716280" y="5905500"/>
            <a:ext cx="1074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This reference policy is implemented. ECAN, LTI, diffusion and new attention research are out of scope.</a:t>
            </a:r>
          </a:p>
        </p:txBody>
      </p:sp>
      <p:cxnSp>
        <p:nvCxnSpPr>
          <p:cNvPr id="29" name="Connector 28"/>
          <p:cNvCxnSpPr/>
          <p:nvPr/>
        </p:nvCxnSpPr>
        <p:spPr>
          <a:xfrm>
            <a:off x="548640" y="6393180"/>
            <a:ext cx="11094720" cy="0"/>
          </a:xfrm>
          <a:prstGeom prst="line">
            <a:avLst/>
          </a:prstGeom>
          <a:ln w="7620">
            <a:solidFill>
              <a:srgbClr val="C9D2D4"/>
            </a:solidFill>
          </a:ln>
          <a:effectLst/>
        </p:spPr>
      </p:cxnSp>
      <p:sp>
        <p:nvSpPr>
          <p:cNvPr id="30" name="TextBox 29"/>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attention.py · fixture_attention.py</a:t>
            </a:r>
          </a:p>
        </p:txBody>
      </p:sp>
      <p:sp>
        <p:nvSpPr>
          <p:cNvPr id="31" name="TextBox 30"/>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CONTROLLED SUBSTITUTION EXPERIMENT</a:t>
            </a:r>
          </a:p>
        </p:txBody>
      </p:sp>
      <p:sp>
        <p:nvSpPr>
          <p:cNvPr id="3" name="TextBox 2"/>
          <p:cNvSpPr txBox="1"/>
          <p:nvPr/>
        </p:nvSpPr>
        <p:spPr>
          <a:xfrm>
            <a:off x="533400" y="723900"/>
            <a:ext cx="11125200" cy="438912"/>
          </a:xfrm>
          <a:prstGeom prst="rect">
            <a:avLst/>
          </a:prstGeom>
          <a:noFill/>
        </p:spPr>
        <p:txBody>
          <a:bodyPr wrap="none" lIns="0" rIns="0" tIns="0" bIns="0" anchor="t" anchorCtr="0">
            <a:noAutofit/>
          </a:bodyPr>
          <a:lstStyle/>
          <a:p>
            <a:pPr algn="l">
              <a:lnSpc>
                <a:spcPct val="100000"/>
              </a:lnSpc>
              <a:spcBef>
                <a:spcPts val="0"/>
              </a:spcBef>
              <a:spcAft>
                <a:spcPts val="0"/>
              </a:spcAft>
            </a:pPr>
            <a:r>
              <a:rPr sz="2700" b="1">
                <a:solidFill>
                  <a:srgbClr val="102B3F"/>
                </a:solidFill>
                <a:latin typeface="DejaVu Sans"/>
              </a:rPr>
              <a:t>Attention replacement preserves the measured outcome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Same tasks, evidence, policy, budgets and deadline; only provider and declared preference vary.</a:t>
            </a:r>
          </a:p>
        </p:txBody>
      </p:sp>
      <p:sp>
        <p:nvSpPr>
          <p:cNvPr id="5" name="TextBox 4"/>
          <p:cNvSpPr txBox="1"/>
          <p:nvPr/>
        </p:nvSpPr>
        <p:spPr>
          <a:xfrm>
            <a:off x="670560" y="1790700"/>
            <a:ext cx="4251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ATTENTION PROVIDER</a:t>
            </a:r>
          </a:p>
        </p:txBody>
      </p:sp>
      <p:sp>
        <p:nvSpPr>
          <p:cNvPr id="6" name="TextBox 5"/>
          <p:cNvSpPr txBox="1"/>
          <p:nvPr/>
        </p:nvSpPr>
        <p:spPr>
          <a:xfrm>
            <a:off x="5166360" y="1790700"/>
            <a:ext cx="1203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PREFER</a:t>
            </a:r>
          </a:p>
        </p:txBody>
      </p:sp>
      <p:sp>
        <p:nvSpPr>
          <p:cNvPr id="7" name="TextBox 6"/>
          <p:cNvSpPr txBox="1"/>
          <p:nvPr/>
        </p:nvSpPr>
        <p:spPr>
          <a:xfrm>
            <a:off x="6614159" y="1790700"/>
            <a:ext cx="23926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SELECTION ORDER</a:t>
            </a:r>
          </a:p>
        </p:txBody>
      </p:sp>
      <p:sp>
        <p:nvSpPr>
          <p:cNvPr id="8" name="TextBox 7"/>
          <p:cNvSpPr txBox="1"/>
          <p:nvPr/>
        </p:nvSpPr>
        <p:spPr>
          <a:xfrm>
            <a:off x="925068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STEP TIME</a:t>
            </a:r>
          </a:p>
        </p:txBody>
      </p:sp>
      <p:sp>
        <p:nvSpPr>
          <p:cNvPr id="9" name="Rounded Rectangle 8"/>
          <p:cNvSpPr/>
          <p:nvPr/>
        </p:nvSpPr>
        <p:spPr>
          <a:xfrm>
            <a:off x="548640" y="2110740"/>
            <a:ext cx="11094720" cy="632460"/>
          </a:xfrm>
          <a:prstGeom prst="roundRect">
            <a:avLst>
              <a:gd name="adj" fmla="val 7228"/>
            </a:avLst>
          </a:prstGeom>
          <a:solidFill>
            <a:srgbClr val="FFFFFF"/>
          </a:solidFill>
          <a:ln>
            <a:noFill/>
          </a:ln>
          <a:effectLst/>
        </p:spPr>
        <p:txBody>
          <a:bodyPr rtlCol="0" anchor="ctr"/>
          <a:lstStyle/>
          <a:p>
            <a:pPr algn="ctr"/>
          </a:p>
        </p:txBody>
      </p:sp>
      <p:sp>
        <p:nvSpPr>
          <p:cNvPr id="10" name="TextBox 9"/>
          <p:cNvSpPr txBox="1"/>
          <p:nvPr/>
        </p:nvSpPr>
        <p:spPr>
          <a:xfrm>
            <a:off x="670560" y="224028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SQLite</a:t>
            </a:r>
          </a:p>
        </p:txBody>
      </p:sp>
      <p:sp>
        <p:nvSpPr>
          <p:cNvPr id="11" name="TextBox 10"/>
          <p:cNvSpPr txBox="1"/>
          <p:nvPr/>
        </p:nvSpPr>
        <p:spPr>
          <a:xfrm>
            <a:off x="5166360" y="224028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a:t>
            </a:r>
          </a:p>
        </p:txBody>
      </p:sp>
      <p:sp>
        <p:nvSpPr>
          <p:cNvPr id="12" name="TextBox 11"/>
          <p:cNvSpPr txBox="1"/>
          <p:nvPr/>
        </p:nvSpPr>
        <p:spPr>
          <a:xfrm>
            <a:off x="6614159" y="224028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 → a</a:t>
            </a:r>
          </a:p>
        </p:txBody>
      </p:sp>
      <p:sp>
        <p:nvSpPr>
          <p:cNvPr id="13" name="TextBox 12"/>
          <p:cNvSpPr txBox="1"/>
          <p:nvPr/>
        </p:nvSpPr>
        <p:spPr>
          <a:xfrm>
            <a:off x="9250680" y="224028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0.744361 s</a:t>
            </a:r>
          </a:p>
        </p:txBody>
      </p:sp>
      <p:sp>
        <p:nvSpPr>
          <p:cNvPr id="14" name="Rounded Rectangle 13"/>
          <p:cNvSpPr/>
          <p:nvPr/>
        </p:nvSpPr>
        <p:spPr>
          <a:xfrm>
            <a:off x="548640" y="2781300"/>
            <a:ext cx="11094720" cy="632460"/>
          </a:xfrm>
          <a:prstGeom prst="roundRect">
            <a:avLst>
              <a:gd name="adj" fmla="val 7228"/>
            </a:avLst>
          </a:prstGeom>
          <a:solidFill>
            <a:srgbClr val="FFFFFF"/>
          </a:solidFill>
          <a:ln>
            <a:noFill/>
          </a:ln>
          <a:effectLst/>
        </p:spPr>
        <p:txBody>
          <a:bodyPr rtlCol="0" anchor="ctr"/>
          <a:lstStyle/>
          <a:p>
            <a:pPr algn="ctr"/>
          </a:p>
        </p:txBody>
      </p:sp>
      <p:sp>
        <p:nvSpPr>
          <p:cNvPr id="15" name="TextBox 14"/>
          <p:cNvSpPr txBox="1"/>
          <p:nvPr/>
        </p:nvSpPr>
        <p:spPr>
          <a:xfrm>
            <a:off x="670560" y="291084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SQLite</a:t>
            </a:r>
          </a:p>
        </p:txBody>
      </p:sp>
      <p:sp>
        <p:nvSpPr>
          <p:cNvPr id="16" name="TextBox 15"/>
          <p:cNvSpPr txBox="1"/>
          <p:nvPr/>
        </p:nvSpPr>
        <p:spPr>
          <a:xfrm>
            <a:off x="5166360" y="291084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a:t>
            </a:r>
          </a:p>
        </p:txBody>
      </p:sp>
      <p:sp>
        <p:nvSpPr>
          <p:cNvPr id="17" name="TextBox 16"/>
          <p:cNvSpPr txBox="1"/>
          <p:nvPr/>
        </p:nvSpPr>
        <p:spPr>
          <a:xfrm>
            <a:off x="6614159" y="291084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 b</a:t>
            </a:r>
          </a:p>
        </p:txBody>
      </p:sp>
      <p:sp>
        <p:nvSpPr>
          <p:cNvPr id="18" name="TextBox 17"/>
          <p:cNvSpPr txBox="1"/>
          <p:nvPr/>
        </p:nvSpPr>
        <p:spPr>
          <a:xfrm>
            <a:off x="9250680" y="291084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0.677157 s</a:t>
            </a:r>
          </a:p>
        </p:txBody>
      </p:sp>
      <p:sp>
        <p:nvSpPr>
          <p:cNvPr id="19" name="Rounded Rectangle 18"/>
          <p:cNvSpPr/>
          <p:nvPr/>
        </p:nvSpPr>
        <p:spPr>
          <a:xfrm>
            <a:off x="548640" y="3451860"/>
            <a:ext cx="11094720" cy="632460"/>
          </a:xfrm>
          <a:prstGeom prst="roundRect">
            <a:avLst>
              <a:gd name="adj" fmla="val 7228"/>
            </a:avLst>
          </a:prstGeom>
          <a:solidFill>
            <a:srgbClr val="FFFFFF"/>
          </a:solidFill>
          <a:ln>
            <a:noFill/>
          </a:ln>
          <a:effectLst/>
        </p:spPr>
        <p:txBody>
          <a:bodyPr rtlCol="0" anchor="ctr"/>
          <a:lstStyle/>
          <a:p>
            <a:pPr algn="ctr"/>
          </a:p>
        </p:txBody>
      </p:sp>
      <p:sp>
        <p:nvSpPr>
          <p:cNvPr id="20" name="TextBox 19"/>
          <p:cNvSpPr txBox="1"/>
          <p:nvPr/>
        </p:nvSpPr>
        <p:spPr>
          <a:xfrm>
            <a:off x="670560" y="358140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Atomic-file fixture</a:t>
            </a:r>
          </a:p>
        </p:txBody>
      </p:sp>
      <p:sp>
        <p:nvSpPr>
          <p:cNvPr id="21" name="TextBox 20"/>
          <p:cNvSpPr txBox="1"/>
          <p:nvPr/>
        </p:nvSpPr>
        <p:spPr>
          <a:xfrm>
            <a:off x="5166360" y="358140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a:t>
            </a:r>
          </a:p>
        </p:txBody>
      </p:sp>
      <p:sp>
        <p:nvSpPr>
          <p:cNvPr id="22" name="TextBox 21"/>
          <p:cNvSpPr txBox="1"/>
          <p:nvPr/>
        </p:nvSpPr>
        <p:spPr>
          <a:xfrm>
            <a:off x="6614159" y="358140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 → a</a:t>
            </a:r>
          </a:p>
        </p:txBody>
      </p:sp>
      <p:sp>
        <p:nvSpPr>
          <p:cNvPr id="23" name="TextBox 22"/>
          <p:cNvSpPr txBox="1"/>
          <p:nvPr/>
        </p:nvSpPr>
        <p:spPr>
          <a:xfrm>
            <a:off x="9250680" y="358140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0.726126 s</a:t>
            </a:r>
          </a:p>
        </p:txBody>
      </p:sp>
      <p:sp>
        <p:nvSpPr>
          <p:cNvPr id="24" name="Rounded Rectangle 23"/>
          <p:cNvSpPr/>
          <p:nvPr/>
        </p:nvSpPr>
        <p:spPr>
          <a:xfrm>
            <a:off x="548640" y="4122419"/>
            <a:ext cx="11094720" cy="632460"/>
          </a:xfrm>
          <a:prstGeom prst="roundRect">
            <a:avLst>
              <a:gd name="adj" fmla="val 7228"/>
            </a:avLst>
          </a:prstGeom>
          <a:solidFill>
            <a:srgbClr val="FFFFFF"/>
          </a:solidFill>
          <a:ln>
            <a:noFill/>
          </a:ln>
          <a:effectLst/>
        </p:spPr>
        <p:txBody>
          <a:bodyPr rtlCol="0" anchor="ctr"/>
          <a:lstStyle/>
          <a:p>
            <a:pPr algn="ctr"/>
          </a:p>
        </p:txBody>
      </p:sp>
      <p:sp>
        <p:nvSpPr>
          <p:cNvPr id="25" name="TextBox 24"/>
          <p:cNvSpPr txBox="1"/>
          <p:nvPr/>
        </p:nvSpPr>
        <p:spPr>
          <a:xfrm>
            <a:off x="670560" y="425196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Atomic-file fixture</a:t>
            </a:r>
          </a:p>
        </p:txBody>
      </p:sp>
      <p:sp>
        <p:nvSpPr>
          <p:cNvPr id="26" name="TextBox 25"/>
          <p:cNvSpPr txBox="1"/>
          <p:nvPr/>
        </p:nvSpPr>
        <p:spPr>
          <a:xfrm>
            <a:off x="5166360" y="425196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a:t>
            </a:r>
          </a:p>
        </p:txBody>
      </p:sp>
      <p:sp>
        <p:nvSpPr>
          <p:cNvPr id="27" name="TextBox 26"/>
          <p:cNvSpPr txBox="1"/>
          <p:nvPr/>
        </p:nvSpPr>
        <p:spPr>
          <a:xfrm>
            <a:off x="6614159" y="425196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 b</a:t>
            </a:r>
          </a:p>
        </p:txBody>
      </p:sp>
      <p:sp>
        <p:nvSpPr>
          <p:cNvPr id="28" name="TextBox 27"/>
          <p:cNvSpPr txBox="1"/>
          <p:nvPr/>
        </p:nvSpPr>
        <p:spPr>
          <a:xfrm>
            <a:off x="9250680" y="425196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0.641150 s</a:t>
            </a:r>
          </a:p>
        </p:txBody>
      </p:sp>
      <p:sp>
        <p:nvSpPr>
          <p:cNvPr id="29" name="Rounded Rectangle 28"/>
          <p:cNvSpPr/>
          <p:nvPr/>
        </p:nvSpPr>
        <p:spPr>
          <a:xfrm>
            <a:off x="548640" y="4914900"/>
            <a:ext cx="5364480" cy="800100"/>
          </a:xfrm>
          <a:prstGeom prst="roundRect">
            <a:avLst>
              <a:gd name="adj" fmla="val 12380"/>
            </a:avLst>
          </a:prstGeom>
          <a:solidFill>
            <a:srgbClr val="DCEFE8"/>
          </a:solidFill>
          <a:ln w="7620">
            <a:solidFill>
              <a:srgbClr val="007C78"/>
            </a:solidFill>
          </a:ln>
          <a:effectLst/>
        </p:spPr>
        <p:txBody>
          <a:bodyPr rtlCol="0" anchor="ctr"/>
          <a:lstStyle/>
          <a:p>
            <a:pPr algn="ctr"/>
          </a:p>
        </p:txBody>
      </p:sp>
      <p:sp>
        <p:nvSpPr>
          <p:cNvPr id="30" name="TextBox 29"/>
          <p:cNvSpPr txBox="1"/>
          <p:nvPr/>
        </p:nvSpPr>
        <p:spPr>
          <a:xfrm>
            <a:off x="716280" y="5082540"/>
            <a:ext cx="5029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007C78"/>
                </a:solidFill>
                <a:latin typeface="DejaVu Sans"/>
              </a:rPr>
              <a:t>Every case</a:t>
            </a:r>
          </a:p>
        </p:txBody>
      </p:sp>
      <p:sp>
        <p:nvSpPr>
          <p:cNvPr id="31" name="TextBox 30"/>
          <p:cNvSpPr txBox="1"/>
          <p:nvPr/>
        </p:nvSpPr>
        <p:spPr>
          <a:xfrm>
            <a:off x="716280" y="5392826"/>
            <a:ext cx="5029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1 native call · 1 unique admission · 1 feedback credit</a:t>
            </a:r>
          </a:p>
        </p:txBody>
      </p:sp>
      <p:sp>
        <p:nvSpPr>
          <p:cNvPr id="32" name="Rounded Rectangle 31"/>
          <p:cNvSpPr/>
          <p:nvPr/>
        </p:nvSpPr>
        <p:spPr>
          <a:xfrm>
            <a:off x="6096000" y="4914900"/>
            <a:ext cx="5547360" cy="800100"/>
          </a:xfrm>
          <a:prstGeom prst="roundRect">
            <a:avLst>
              <a:gd name="adj" fmla="val 12380"/>
            </a:avLst>
          </a:prstGeom>
          <a:solidFill>
            <a:srgbClr val="DCEFE8"/>
          </a:solidFill>
          <a:ln w="7620">
            <a:solidFill>
              <a:srgbClr val="007C78"/>
            </a:solidFill>
          </a:ln>
          <a:effectLst/>
        </p:spPr>
        <p:txBody>
          <a:bodyPr rtlCol="0" anchor="ctr"/>
          <a:lstStyle/>
          <a:p>
            <a:pPr algn="ctr"/>
          </a:p>
        </p:txBody>
      </p:sp>
      <p:sp>
        <p:nvSpPr>
          <p:cNvPr id="33" name="TextBox 32"/>
          <p:cNvSpPr txBox="1"/>
          <p:nvPr/>
        </p:nvSpPr>
        <p:spPr>
          <a:xfrm>
            <a:off x="6263640" y="5082540"/>
            <a:ext cx="52120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007C78"/>
                </a:solidFill>
                <a:latin typeface="DejaVu Sans"/>
              </a:rPr>
              <a:t>Reopen all owners</a:t>
            </a:r>
          </a:p>
        </p:txBody>
      </p:sp>
      <p:sp>
        <p:nvSpPr>
          <p:cNvPr id="34" name="TextBox 33"/>
          <p:cNvSpPr txBox="1"/>
          <p:nvPr/>
        </p:nvSpPr>
        <p:spPr>
          <a:xfrm>
            <a:off x="6263640" y="5392826"/>
            <a:ext cx="52120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Same receipt · zero additional native calls</a:t>
            </a:r>
          </a:p>
        </p:txBody>
      </p:sp>
      <p:sp>
        <p:nvSpPr>
          <p:cNvPr id="35" name="Rounded Rectangle 34"/>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6" name="TextBox 35"/>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Four local observations demonstrate substitution and selection effect; they are not a performance ranking.</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m3/final/comparison.json</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BOUNDED INFERENCE CONTROL</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C4: reserve work durably before invoking the rule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work budget limits physical evaluation opportunities, even when the process dies.</a:t>
            </a:r>
          </a:p>
        </p:txBody>
      </p:sp>
      <p:sp>
        <p:nvSpPr>
          <p:cNvPr id="5" name="Rounded Rectangle 4"/>
          <p:cNvSpPr/>
          <p:nvPr/>
        </p:nvSpPr>
        <p:spPr>
          <a:xfrm>
            <a:off x="548640" y="2019300"/>
            <a:ext cx="2636520" cy="1828800"/>
          </a:xfrm>
          <a:prstGeom prst="roundRect">
            <a:avLst>
              <a:gd name="adj" fmla="val 5416"/>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1 · Freeze</a:t>
            </a:r>
          </a:p>
        </p:txBody>
      </p:sp>
      <p:sp>
        <p:nvSpPr>
          <p:cNvPr id="7" name="TextBox 6"/>
          <p:cNvSpPr txBox="1"/>
          <p:nvPr/>
        </p:nvSpPr>
        <p:spPr>
          <a:xfrm>
            <a:off x="716280" y="2469794"/>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selection</a:t>
            </a:r>
          </a:p>
        </p:txBody>
      </p:sp>
      <p:sp>
        <p:nvSpPr>
          <p:cNvPr id="8" name="TextBox 7"/>
          <p:cNvSpPr txBox="1"/>
          <p:nvPr/>
        </p:nvSpPr>
        <p:spPr>
          <a:xfrm>
            <a:off x="716280" y="282884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Read the immutable</a:t>
            </a:r>
          </a:p>
        </p:txBody>
      </p:sp>
      <p:sp>
        <p:nvSpPr>
          <p:cNvPr id="9" name="TextBox 8"/>
          <p:cNvSpPr txBox="1"/>
          <p:nvPr/>
        </p:nvSpPr>
        <p:spPr>
          <a:xfrm>
            <a:off x="716280" y="3092196"/>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workset and exact</a:t>
            </a:r>
          </a:p>
        </p:txBody>
      </p:sp>
      <p:sp>
        <p:nvSpPr>
          <p:cNvPr id="10" name="TextBox 9"/>
          <p:cNvSpPr txBox="1"/>
          <p:nvPr/>
        </p:nvSpPr>
        <p:spPr>
          <a:xfrm>
            <a:off x="716280" y="3355543"/>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attention order.</a:t>
            </a:r>
          </a:p>
        </p:txBody>
      </p:sp>
      <p:cxnSp>
        <p:nvCxnSpPr>
          <p:cNvPr id="11" name="Connector 10"/>
          <p:cNvCxnSpPr/>
          <p:nvPr/>
        </p:nvCxnSpPr>
        <p:spPr>
          <a:xfrm>
            <a:off x="3185160" y="2933700"/>
            <a:ext cx="160019" cy="0"/>
          </a:xfrm>
          <a:prstGeom prst="line">
            <a:avLst/>
          </a:prstGeom>
          <a:ln w="15240">
            <a:solidFill>
              <a:srgbClr val="536775"/>
            </a:solidFill>
          </a:ln>
          <a:effectLst/>
        </p:spPr>
      </p:cxnSp>
      <p:sp>
        <p:nvSpPr>
          <p:cNvPr id="12" name="Freeform 11"/>
          <p:cNvSpPr/>
          <p:nvPr/>
        </p:nvSpPr>
        <p:spPr>
          <a:xfrm>
            <a:off x="3246120" y="28956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3" name="Rounded Rectangle 12"/>
          <p:cNvSpPr/>
          <p:nvPr/>
        </p:nvSpPr>
        <p:spPr>
          <a:xfrm>
            <a:off x="3368040" y="2019300"/>
            <a:ext cx="2636520" cy="1828800"/>
          </a:xfrm>
          <a:prstGeom prst="roundRect">
            <a:avLst>
              <a:gd name="adj" fmla="val 5416"/>
            </a:avLst>
          </a:prstGeom>
          <a:solidFill>
            <a:srgbClr val="FFFFFF"/>
          </a:solidFill>
          <a:ln w="7620">
            <a:solidFill>
              <a:srgbClr val="A86A15"/>
            </a:solidFill>
          </a:ln>
          <a:effectLst/>
        </p:spPr>
        <p:txBody>
          <a:bodyPr rtlCol="0" anchor="ctr"/>
          <a:lstStyle/>
          <a:p>
            <a:pPr algn="ctr"/>
          </a:p>
        </p:txBody>
      </p:sp>
      <p:sp>
        <p:nvSpPr>
          <p:cNvPr id="14" name="TextBox 13"/>
          <p:cNvSpPr txBox="1"/>
          <p:nvPr/>
        </p:nvSpPr>
        <p:spPr>
          <a:xfrm>
            <a:off x="3535679"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2 · Reserve</a:t>
            </a:r>
          </a:p>
        </p:txBody>
      </p:sp>
      <p:sp>
        <p:nvSpPr>
          <p:cNvPr id="15" name="TextBox 14"/>
          <p:cNvSpPr txBox="1"/>
          <p:nvPr/>
        </p:nvSpPr>
        <p:spPr>
          <a:xfrm>
            <a:off x="3535679" y="2469794"/>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attempt</a:t>
            </a:r>
          </a:p>
        </p:txBody>
      </p:sp>
      <p:sp>
        <p:nvSpPr>
          <p:cNvPr id="16" name="TextBox 15"/>
          <p:cNvSpPr txBox="1"/>
          <p:nvPr/>
        </p:nvSpPr>
        <p:spPr>
          <a:xfrm>
            <a:off x="3535679" y="282884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Commit candidate</a:t>
            </a:r>
          </a:p>
        </p:txBody>
      </p:sp>
      <p:sp>
        <p:nvSpPr>
          <p:cNvPr id="17" name="TextBox 16"/>
          <p:cNvSpPr txBox="1"/>
          <p:nvPr/>
        </p:nvSpPr>
        <p:spPr>
          <a:xfrm>
            <a:off x="3535679" y="3092196"/>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progress and a</a:t>
            </a:r>
          </a:p>
        </p:txBody>
      </p:sp>
      <p:sp>
        <p:nvSpPr>
          <p:cNvPr id="18" name="TextBox 17"/>
          <p:cNvSpPr txBox="1"/>
          <p:nvPr/>
        </p:nvSpPr>
        <p:spPr>
          <a:xfrm>
            <a:off x="3535679" y="3355543"/>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physical attempt slot.</a:t>
            </a:r>
          </a:p>
        </p:txBody>
      </p:sp>
      <p:cxnSp>
        <p:nvCxnSpPr>
          <p:cNvPr id="19" name="Connector 18"/>
          <p:cNvCxnSpPr/>
          <p:nvPr/>
        </p:nvCxnSpPr>
        <p:spPr>
          <a:xfrm>
            <a:off x="6004559" y="2933700"/>
            <a:ext cx="160021" cy="0"/>
          </a:xfrm>
          <a:prstGeom prst="line">
            <a:avLst/>
          </a:prstGeom>
          <a:ln w="15240">
            <a:solidFill>
              <a:srgbClr val="536775"/>
            </a:solidFill>
          </a:ln>
          <a:effectLst/>
        </p:spPr>
      </p:cxnSp>
      <p:sp>
        <p:nvSpPr>
          <p:cNvPr id="20" name="Freeform 19"/>
          <p:cNvSpPr/>
          <p:nvPr/>
        </p:nvSpPr>
        <p:spPr>
          <a:xfrm>
            <a:off x="6065520" y="28956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21" name="Rounded Rectangle 20"/>
          <p:cNvSpPr/>
          <p:nvPr/>
        </p:nvSpPr>
        <p:spPr>
          <a:xfrm>
            <a:off x="6187440" y="2019300"/>
            <a:ext cx="2636520" cy="1828800"/>
          </a:xfrm>
          <a:prstGeom prst="roundRect">
            <a:avLst>
              <a:gd name="adj" fmla="val 5416"/>
            </a:avLst>
          </a:prstGeom>
          <a:solidFill>
            <a:srgbClr val="FFFFFF"/>
          </a:solidFill>
          <a:ln w="7620">
            <a:solidFill>
              <a:srgbClr val="007C78"/>
            </a:solidFill>
          </a:ln>
          <a:effectLst/>
        </p:spPr>
        <p:txBody>
          <a:bodyPr rtlCol="0" anchor="ctr"/>
          <a:lstStyle/>
          <a:p>
            <a:pPr algn="ctr"/>
          </a:p>
        </p:txBody>
      </p:sp>
      <p:sp>
        <p:nvSpPr>
          <p:cNvPr id="22" name="TextBox 21"/>
          <p:cNvSpPr txBox="1"/>
          <p:nvPr/>
        </p:nvSpPr>
        <p:spPr>
          <a:xfrm>
            <a:off x="6355080"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3 · Ask C2</a:t>
            </a:r>
          </a:p>
        </p:txBody>
      </p:sp>
      <p:sp>
        <p:nvSpPr>
          <p:cNvPr id="23" name="TextBox 22"/>
          <p:cNvSpPr txBox="1"/>
          <p:nvPr/>
        </p:nvSpPr>
        <p:spPr>
          <a:xfrm>
            <a:off x="6355080" y="2545994"/>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Recover a decision or</a:t>
            </a:r>
          </a:p>
        </p:txBody>
      </p:sp>
      <p:sp>
        <p:nvSpPr>
          <p:cNvPr id="24" name="TextBox 23"/>
          <p:cNvSpPr txBox="1"/>
          <p:nvPr/>
        </p:nvSpPr>
        <p:spPr>
          <a:xfrm>
            <a:off x="6355080" y="2809341"/>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dispatch the exact</a:t>
            </a:r>
          </a:p>
        </p:txBody>
      </p:sp>
      <p:sp>
        <p:nvSpPr>
          <p:cNvPr id="25" name="TextBox 24"/>
          <p:cNvSpPr txBox="1"/>
          <p:nvPr/>
        </p:nvSpPr>
        <p:spPr>
          <a:xfrm>
            <a:off x="6355080" y="307268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derivation attempt.</a:t>
            </a:r>
          </a:p>
        </p:txBody>
      </p:sp>
      <p:cxnSp>
        <p:nvCxnSpPr>
          <p:cNvPr id="26" name="Connector 25"/>
          <p:cNvCxnSpPr/>
          <p:nvPr/>
        </p:nvCxnSpPr>
        <p:spPr>
          <a:xfrm>
            <a:off x="8823960" y="2933700"/>
            <a:ext cx="160020" cy="0"/>
          </a:xfrm>
          <a:prstGeom prst="line">
            <a:avLst/>
          </a:prstGeom>
          <a:ln w="15240">
            <a:solidFill>
              <a:srgbClr val="536775"/>
            </a:solidFill>
          </a:ln>
          <a:effectLst/>
        </p:spPr>
      </p:cxnSp>
      <p:sp>
        <p:nvSpPr>
          <p:cNvPr id="27" name="Freeform 26"/>
          <p:cNvSpPr/>
          <p:nvPr/>
        </p:nvSpPr>
        <p:spPr>
          <a:xfrm>
            <a:off x="8884920" y="28956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28" name="Rounded Rectangle 27"/>
          <p:cNvSpPr/>
          <p:nvPr/>
        </p:nvSpPr>
        <p:spPr>
          <a:xfrm>
            <a:off x="9006840" y="2019300"/>
            <a:ext cx="2636520" cy="1828800"/>
          </a:xfrm>
          <a:prstGeom prst="roundRect">
            <a:avLst>
              <a:gd name="adj" fmla="val 5416"/>
            </a:avLst>
          </a:prstGeom>
          <a:solidFill>
            <a:srgbClr val="FFFFFF"/>
          </a:solidFill>
          <a:ln w="7620">
            <a:solidFill>
              <a:srgbClr val="315E9C"/>
            </a:solidFill>
          </a:ln>
          <a:effectLst/>
        </p:spPr>
        <p:txBody>
          <a:bodyPr rtlCol="0" anchor="ctr"/>
          <a:lstStyle/>
          <a:p>
            <a:pPr algn="ctr"/>
          </a:p>
        </p:txBody>
      </p:sp>
      <p:sp>
        <p:nvSpPr>
          <p:cNvPr id="29" name="TextBox 28"/>
          <p:cNvSpPr txBox="1"/>
          <p:nvPr/>
        </p:nvSpPr>
        <p:spPr>
          <a:xfrm>
            <a:off x="9174480"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4 · Reconcile</a:t>
            </a:r>
          </a:p>
        </p:txBody>
      </p:sp>
      <p:sp>
        <p:nvSpPr>
          <p:cNvPr id="30" name="TextBox 29"/>
          <p:cNvSpPr txBox="1"/>
          <p:nvPr/>
        </p:nvSpPr>
        <p:spPr>
          <a:xfrm>
            <a:off x="9174480" y="2545994"/>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Save decision and</a:t>
            </a:r>
          </a:p>
        </p:txBody>
      </p:sp>
      <p:sp>
        <p:nvSpPr>
          <p:cNvPr id="31" name="TextBox 30"/>
          <p:cNvSpPr txBox="1"/>
          <p:nvPr/>
        </p:nvSpPr>
        <p:spPr>
          <a:xfrm>
            <a:off x="9174480" y="2809341"/>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causal feedback</a:t>
            </a:r>
          </a:p>
        </p:txBody>
      </p:sp>
      <p:sp>
        <p:nvSpPr>
          <p:cNvPr id="32" name="TextBox 31"/>
          <p:cNvSpPr txBox="1"/>
          <p:nvPr/>
        </p:nvSpPr>
        <p:spPr>
          <a:xfrm>
            <a:off x="9174480" y="307268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acknowledgment.</a:t>
            </a:r>
          </a:p>
        </p:txBody>
      </p:sp>
      <p:sp>
        <p:nvSpPr>
          <p:cNvPr id="33" name="Rounded Rectangle 32"/>
          <p:cNvSpPr/>
          <p:nvPr/>
        </p:nvSpPr>
        <p:spPr>
          <a:xfrm>
            <a:off x="548640" y="4305300"/>
            <a:ext cx="5364480" cy="1264920"/>
          </a:xfrm>
          <a:prstGeom prst="roundRect">
            <a:avLst>
              <a:gd name="adj" fmla="val 7831"/>
            </a:avLst>
          </a:prstGeom>
          <a:solidFill>
            <a:srgbClr val="F3E7CE"/>
          </a:solidFill>
          <a:ln w="7620">
            <a:solidFill>
              <a:srgbClr val="A86A15"/>
            </a:solidFill>
          </a:ln>
          <a:effectLst/>
        </p:spPr>
        <p:txBody>
          <a:bodyPr rtlCol="0" anchor="ctr"/>
          <a:lstStyle/>
          <a:p>
            <a:pPr algn="ctr"/>
          </a:p>
        </p:txBody>
      </p:sp>
      <p:sp>
        <p:nvSpPr>
          <p:cNvPr id="34" name="TextBox 33"/>
          <p:cNvSpPr txBox="1"/>
          <p:nvPr/>
        </p:nvSpPr>
        <p:spPr>
          <a:xfrm>
            <a:off x="716280" y="4472940"/>
            <a:ext cx="50292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A86A15"/>
                </a:solidFill>
                <a:latin typeface="DejaVu Sans"/>
              </a:rPr>
              <a:t>Budget survives restart</a:t>
            </a:r>
          </a:p>
        </p:txBody>
      </p:sp>
      <p:sp>
        <p:nvSpPr>
          <p:cNvPr id="35" name="TextBox 34"/>
          <p:cNvSpPr txBox="1"/>
          <p:nvPr/>
        </p:nvSpPr>
        <p:spPr>
          <a:xfrm>
            <a:off x="716280" y="4841747"/>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Candidate count, reserved attempts, generation</a:t>
            </a:r>
          </a:p>
        </p:txBody>
      </p:sp>
      <p:sp>
        <p:nvSpPr>
          <p:cNvPr id="36" name="TextBox 35"/>
          <p:cNvSpPr txBox="1"/>
          <p:nvPr/>
        </p:nvSpPr>
        <p:spPr>
          <a:xfrm>
            <a:off x="716280" y="5105095"/>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limit and absolute deadline are persisted.</a:t>
            </a:r>
          </a:p>
        </p:txBody>
      </p:sp>
      <p:sp>
        <p:nvSpPr>
          <p:cNvPr id="37" name="Rounded Rectangle 36"/>
          <p:cNvSpPr/>
          <p:nvPr/>
        </p:nvSpPr>
        <p:spPr>
          <a:xfrm>
            <a:off x="6096000" y="4305300"/>
            <a:ext cx="5547360" cy="1264920"/>
          </a:xfrm>
          <a:prstGeom prst="roundRect">
            <a:avLst>
              <a:gd name="adj" fmla="val 7831"/>
            </a:avLst>
          </a:prstGeom>
          <a:solidFill>
            <a:srgbClr val="E4EBF5"/>
          </a:solidFill>
          <a:ln w="7620">
            <a:solidFill>
              <a:srgbClr val="315E9C"/>
            </a:solidFill>
          </a:ln>
          <a:effectLst/>
        </p:spPr>
        <p:txBody>
          <a:bodyPr rtlCol="0" anchor="ctr"/>
          <a:lstStyle/>
          <a:p>
            <a:pPr algn="ctr"/>
          </a:p>
        </p:txBody>
      </p:sp>
      <p:sp>
        <p:nvSpPr>
          <p:cNvPr id="38" name="TextBox 37"/>
          <p:cNvSpPr txBox="1"/>
          <p:nvPr/>
        </p:nvSpPr>
        <p:spPr>
          <a:xfrm>
            <a:off x="6263640" y="4472940"/>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Selection changes next step</a:t>
            </a:r>
          </a:p>
        </p:txBody>
      </p:sp>
      <p:sp>
        <p:nvSpPr>
          <p:cNvPr id="39" name="TextBox 38"/>
          <p:cNvSpPr txBox="1"/>
          <p:nvPr/>
        </p:nvSpPr>
        <p:spPr>
          <a:xfrm>
            <a:off x="6263640" y="4841747"/>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Current selection is frozen. A unique admission</a:t>
            </a:r>
          </a:p>
        </p:txBody>
      </p:sp>
      <p:sp>
        <p:nvSpPr>
          <p:cNvPr id="40" name="TextBox 39"/>
          <p:cNvSpPr txBox="1"/>
          <p:nvPr/>
        </p:nvSpPr>
        <p:spPr>
          <a:xfrm>
            <a:off x="6263640" y="510509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receives one unit of causal feedback.</a:t>
            </a:r>
          </a:p>
        </p:txBody>
      </p:sp>
      <p:sp>
        <p:nvSpPr>
          <p:cNvPr id="41" name="Rounded Rectangle 4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2" name="TextBox 41"/>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No refund for a lost pending attempt. A new evaluation needs another slot and attempt identity.</a:t>
            </a:r>
          </a:p>
        </p:txBody>
      </p:sp>
      <p:cxnSp>
        <p:nvCxnSpPr>
          <p:cNvPr id="43" name="Connector 42"/>
          <p:cNvCxnSpPr/>
          <p:nvPr/>
        </p:nvCxnSpPr>
        <p:spPr>
          <a:xfrm>
            <a:off x="548640" y="6393180"/>
            <a:ext cx="11094720" cy="0"/>
          </a:xfrm>
          <a:prstGeom prst="line">
            <a:avLst/>
          </a:prstGeom>
          <a:ln w="7620">
            <a:solidFill>
              <a:srgbClr val="C9D2D4"/>
            </a:solidFill>
          </a:ln>
          <a:effectLst/>
        </p:spPr>
      </p:cxnSp>
      <p:sp>
        <p:nvSpPr>
          <p:cNvPr id="44" name="TextBox 4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inference.py · deadlines.py</a:t>
            </a:r>
          </a:p>
        </p:txBody>
      </p:sp>
      <p:sp>
        <p:nvSpPr>
          <p:cNvPr id="45" name="TextBox 4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RECOVERY · ACTUAL SIGKILL</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Five crash boundaries, independent owner commits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10 direct boundary cases + 5 actual Hive caller boundary cases in the recorded M3 run.</a:t>
            </a:r>
          </a:p>
        </p:txBody>
      </p:sp>
      <p:sp>
        <p:nvSpPr>
          <p:cNvPr id="5" name="TextBox 4"/>
          <p:cNvSpPr txBox="1"/>
          <p:nvPr/>
        </p:nvSpPr>
        <p:spPr>
          <a:xfrm>
            <a:off x="670560" y="1790700"/>
            <a:ext cx="3566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PROCESS DIES AFTER…</a:t>
            </a:r>
          </a:p>
        </p:txBody>
      </p:sp>
      <p:sp>
        <p:nvSpPr>
          <p:cNvPr id="6" name="TextBox 5"/>
          <p:cNvSpPr txBox="1"/>
          <p:nvPr/>
        </p:nvSpPr>
        <p:spPr>
          <a:xfrm>
            <a:off x="4480560" y="1790700"/>
            <a:ext cx="2956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DURABLE FACT</a:t>
            </a:r>
          </a:p>
        </p:txBody>
      </p:sp>
      <p:sp>
        <p:nvSpPr>
          <p:cNvPr id="7" name="TextBox 6"/>
          <p:cNvSpPr txBox="1"/>
          <p:nvPr/>
        </p:nvSpPr>
        <p:spPr>
          <a:xfrm>
            <a:off x="7680959" y="1790700"/>
            <a:ext cx="38404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RECOVERY RESULT</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Attention stimulus commit</a:t>
            </a:r>
          </a:p>
        </p:txBody>
      </p:sp>
      <p:sp>
        <p:nvSpPr>
          <p:cNvPr id="10" name="TextBox 9"/>
          <p:cNvSpPr txBox="1"/>
          <p:nvPr/>
        </p:nvSpPr>
        <p:spPr>
          <a:xfrm>
            <a:off x="4480560" y="224028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C3 causal receipt</a:t>
            </a:r>
          </a:p>
        </p:txBody>
      </p:sp>
      <p:sp>
        <p:nvSpPr>
          <p:cNvPr id="11" name="TextBox 10"/>
          <p:cNvSpPr txBox="1"/>
          <p:nvPr/>
        </p:nvSpPr>
        <p:spPr>
          <a:xfrm>
            <a:off x="7680959" y="224028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Replay does not add STI again</a:t>
            </a:r>
          </a:p>
        </p:txBody>
      </p:sp>
      <p:sp>
        <p:nvSpPr>
          <p:cNvPr id="12" name="Rounded Rectangle 11"/>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3" name="TextBox 12"/>
          <p:cNvSpPr txBox="1"/>
          <p:nvPr/>
        </p:nvSpPr>
        <p:spPr>
          <a:xfrm>
            <a:off x="670560" y="293370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C4 attempt reservation</a:t>
            </a:r>
          </a:p>
        </p:txBody>
      </p:sp>
      <p:sp>
        <p:nvSpPr>
          <p:cNvPr id="14" name="TextBox 13"/>
          <p:cNvSpPr txBox="1"/>
          <p:nvPr/>
        </p:nvSpPr>
        <p:spPr>
          <a:xfrm>
            <a:off x="4480560" y="293370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Slot already spent</a:t>
            </a:r>
          </a:p>
        </p:txBody>
      </p:sp>
      <p:sp>
        <p:nvSpPr>
          <p:cNvPr id="15" name="TextBox 14"/>
          <p:cNvSpPr txBox="1"/>
          <p:nvPr/>
        </p:nvSpPr>
        <p:spPr>
          <a:xfrm>
            <a:off x="7680959" y="293370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One-slot budget can end without a result</a:t>
            </a:r>
          </a:p>
        </p:txBody>
      </p:sp>
      <p:sp>
        <p:nvSpPr>
          <p:cNvPr id="16" name="Rounded Rectangle 15"/>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17" name="TextBox 16"/>
          <p:cNvSpPr txBox="1"/>
          <p:nvPr/>
        </p:nvSpPr>
        <p:spPr>
          <a:xfrm>
            <a:off x="670560" y="3627119"/>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Kernel return; before C2 commit</a:t>
            </a:r>
          </a:p>
        </p:txBody>
      </p:sp>
      <p:sp>
        <p:nvSpPr>
          <p:cNvPr id="18" name="TextBox 17"/>
          <p:cNvSpPr txBox="1"/>
          <p:nvPr/>
        </p:nvSpPr>
        <p:spPr>
          <a:xfrm>
            <a:off x="4480560" y="3627119"/>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Pending attempt; no admission</a:t>
            </a:r>
          </a:p>
        </p:txBody>
      </p:sp>
      <p:sp>
        <p:nvSpPr>
          <p:cNvPr id="19" name="TextBox 18"/>
          <p:cNvSpPr txBox="1"/>
          <p:nvPr/>
        </p:nvSpPr>
        <p:spPr>
          <a:xfrm>
            <a:off x="7680959" y="3627119"/>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Another evaluation needs another slot</a:t>
            </a:r>
          </a:p>
        </p:txBody>
      </p:sp>
      <p:sp>
        <p:nvSpPr>
          <p:cNvPr id="20" name="Rounded Rectangle 19"/>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1" name="TextBox 20"/>
          <p:cNvSpPr txBox="1"/>
          <p:nvPr/>
        </p:nvSpPr>
        <p:spPr>
          <a:xfrm>
            <a:off x="670560" y="432054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C2 belief commit</a:t>
            </a:r>
          </a:p>
        </p:txBody>
      </p:sp>
      <p:sp>
        <p:nvSpPr>
          <p:cNvPr id="22" name="TextBox 21"/>
          <p:cNvSpPr txBox="1"/>
          <p:nvPr/>
        </p:nvSpPr>
        <p:spPr>
          <a:xfrm>
            <a:off x="4480560" y="432054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Authoritative saved decision</a:t>
            </a:r>
          </a:p>
        </p:txBody>
      </p:sp>
      <p:sp>
        <p:nvSpPr>
          <p:cNvPr id="23" name="TextBox 22"/>
          <p:cNvSpPr txBox="1"/>
          <p:nvPr/>
        </p:nvSpPr>
        <p:spPr>
          <a:xfrm>
            <a:off x="7680959" y="432054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Recover without another native call</a:t>
            </a:r>
          </a:p>
        </p:txBody>
      </p:sp>
      <p:sp>
        <p:nvSpPr>
          <p:cNvPr id="24" name="Rounded Rectangle 23"/>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25" name="TextBox 24"/>
          <p:cNvSpPr txBox="1"/>
          <p:nvPr/>
        </p:nvSpPr>
        <p:spPr>
          <a:xfrm>
            <a:off x="670560" y="501396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C3 feedback commit; before C4</a:t>
            </a:r>
          </a:p>
        </p:txBody>
      </p:sp>
      <p:sp>
        <p:nvSpPr>
          <p:cNvPr id="26" name="TextBox 25"/>
          <p:cNvSpPr txBox="1"/>
          <p:nvPr/>
        </p:nvSpPr>
        <p:spPr>
          <a:xfrm>
            <a:off x="670560" y="5248046"/>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ack</a:t>
            </a:r>
          </a:p>
        </p:txBody>
      </p:sp>
      <p:sp>
        <p:nvSpPr>
          <p:cNvPr id="27" name="TextBox 26"/>
          <p:cNvSpPr txBox="1"/>
          <p:nvPr/>
        </p:nvSpPr>
        <p:spPr>
          <a:xfrm>
            <a:off x="4480560" y="501396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Credit recorded by logical</a:t>
            </a:r>
          </a:p>
        </p:txBody>
      </p:sp>
      <p:sp>
        <p:nvSpPr>
          <p:cNvPr id="28" name="TextBox 27"/>
          <p:cNvSpPr txBox="1"/>
          <p:nvPr/>
        </p:nvSpPr>
        <p:spPr>
          <a:xfrm>
            <a:off x="4480560" y="5248046"/>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cause</a:t>
            </a:r>
          </a:p>
        </p:txBody>
      </p:sp>
      <p:sp>
        <p:nvSpPr>
          <p:cNvPr id="29" name="TextBox 28"/>
          <p:cNvSpPr txBox="1"/>
          <p:nvPr/>
        </p:nvSpPr>
        <p:spPr>
          <a:xfrm>
            <a:off x="7680959" y="501396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Recover ack without a second credit</a:t>
            </a:r>
          </a:p>
        </p:txBody>
      </p:sp>
      <p:sp>
        <p:nvSpPr>
          <p:cNvPr id="30" name="Rounded Rectangle 2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1" name="TextBox 30"/>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The evidence proves tested local process recovery, not a distributed transaction or power-loss durability.</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test_m3_recovery.py · test_m3_integration.py</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BOUNDARY GUARANTEES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Authorization, replay and profiles remain live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Cached success does not bypass current authority, and compatibility is never silently widened.</a:t>
            </a:r>
          </a:p>
        </p:txBody>
      </p:sp>
      <p:sp>
        <p:nvSpPr>
          <p:cNvPr id="5" name="TextBox 4"/>
          <p:cNvSpPr txBox="1"/>
          <p:nvPr/>
        </p:nvSpPr>
        <p:spPr>
          <a:xfrm>
            <a:off x="670560" y="1790700"/>
            <a:ext cx="36423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TRIGGER</a:t>
            </a:r>
          </a:p>
        </p:txBody>
      </p:sp>
      <p:sp>
        <p:nvSpPr>
          <p:cNvPr id="6" name="TextBox 5"/>
          <p:cNvSpPr txBox="1"/>
          <p:nvPr/>
        </p:nvSpPr>
        <p:spPr>
          <a:xfrm>
            <a:off x="4556760" y="1790700"/>
            <a:ext cx="3337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OBSERVED DECISION</a:t>
            </a:r>
          </a:p>
        </p:txBody>
      </p:sp>
      <p:sp>
        <p:nvSpPr>
          <p:cNvPr id="7" name="TextBox 6"/>
          <p:cNvSpPr txBox="1"/>
          <p:nvPr/>
        </p:nvSpPr>
        <p:spPr>
          <a:xfrm>
            <a:off x="8138159" y="1790700"/>
            <a:ext cx="33832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PRESERVED BOUNDARY</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Same key, altered nested request</a:t>
            </a:r>
          </a:p>
        </p:txBody>
      </p:sp>
      <p:sp>
        <p:nvSpPr>
          <p:cNvPr id="10" name="TextBox 9"/>
          <p:cNvSpPr txBox="1"/>
          <p:nvPr/>
        </p:nvSpPr>
        <p:spPr>
          <a:xfrm>
            <a:off x="4556760" y="224028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CONFLICT / validation refusal</a:t>
            </a:r>
          </a:p>
        </p:txBody>
      </p:sp>
      <p:sp>
        <p:nvSpPr>
          <p:cNvPr id="11" name="TextBox 10"/>
          <p:cNvSpPr txBox="1"/>
          <p:nvPr/>
        </p:nvSpPr>
        <p:spPr>
          <a:xfrm>
            <a:off x="8138159" y="224028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Exact immutable semantic intent</a:t>
            </a:r>
          </a:p>
        </p:txBody>
      </p:sp>
      <p:sp>
        <p:nvSpPr>
          <p:cNvPr id="12" name="Rounded Rectangle 11"/>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3" name="TextBox 12"/>
          <p:cNvSpPr txBox="1"/>
          <p:nvPr/>
        </p:nvSpPr>
        <p:spPr>
          <a:xfrm>
            <a:off x="670560" y="293370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Permission revoked before replay</a:t>
            </a:r>
          </a:p>
        </p:txBody>
      </p:sp>
      <p:sp>
        <p:nvSpPr>
          <p:cNvPr id="14" name="TextBox 13"/>
          <p:cNvSpPr txBox="1"/>
          <p:nvPr/>
        </p:nvSpPr>
        <p:spPr>
          <a:xfrm>
            <a:off x="4556760" y="293370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DENIED</a:t>
            </a:r>
          </a:p>
        </p:txBody>
      </p:sp>
      <p:sp>
        <p:nvSpPr>
          <p:cNvPr id="15" name="TextBox 14"/>
          <p:cNvSpPr txBox="1"/>
          <p:nvPr/>
        </p:nvSpPr>
        <p:spPr>
          <a:xfrm>
            <a:off x="8138159" y="293370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Live authority even for cached</a:t>
            </a:r>
          </a:p>
        </p:txBody>
      </p:sp>
      <p:sp>
        <p:nvSpPr>
          <p:cNvPr id="16" name="TextBox 15"/>
          <p:cNvSpPr txBox="1"/>
          <p:nvPr/>
        </p:nvSpPr>
        <p:spPr>
          <a:xfrm>
            <a:off x="8138159" y="3167786"/>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receipts</a:t>
            </a:r>
          </a:p>
        </p:txBody>
      </p:sp>
      <p:sp>
        <p:nvSpPr>
          <p:cNvPr id="17" name="Rounded Rectangle 16"/>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18" name="TextBox 17"/>
          <p:cNvSpPr txBox="1"/>
          <p:nvPr/>
        </p:nvSpPr>
        <p:spPr>
          <a:xfrm>
            <a:off x="670560" y="3627119"/>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Authority / CAS changes during</a:t>
            </a:r>
          </a:p>
        </p:txBody>
      </p:sp>
      <p:sp>
        <p:nvSpPr>
          <p:cNvPr id="19" name="TextBox 18"/>
          <p:cNvSpPr txBox="1"/>
          <p:nvPr/>
        </p:nvSpPr>
        <p:spPr>
          <a:xfrm>
            <a:off x="670560" y="3861206"/>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math</a:t>
            </a:r>
          </a:p>
        </p:txBody>
      </p:sp>
      <p:sp>
        <p:nvSpPr>
          <p:cNvPr id="20" name="TextBox 19"/>
          <p:cNvSpPr txBox="1"/>
          <p:nvPr/>
        </p:nvSpPr>
        <p:spPr>
          <a:xfrm>
            <a:off x="4556760" y="3627119"/>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Refuse final admission</a:t>
            </a:r>
          </a:p>
        </p:txBody>
      </p:sp>
      <p:sp>
        <p:nvSpPr>
          <p:cNvPr id="21" name="TextBox 20"/>
          <p:cNvSpPr txBox="1"/>
          <p:nvPr/>
        </p:nvSpPr>
        <p:spPr>
          <a:xfrm>
            <a:off x="8138159" y="3627119"/>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C2 rechecks before its own commit</a:t>
            </a:r>
          </a:p>
        </p:txBody>
      </p:sp>
      <p:sp>
        <p:nvSpPr>
          <p:cNvPr id="22" name="Rounded Rectangle 21"/>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3" name="TextBox 22"/>
          <p:cNvSpPr txBox="1"/>
          <p:nvPr/>
        </p:nvSpPr>
        <p:spPr>
          <a:xfrm>
            <a:off x="670560" y="432054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Runtime or response binding</a:t>
            </a:r>
          </a:p>
        </p:txBody>
      </p:sp>
      <p:sp>
        <p:nvSpPr>
          <p:cNvPr id="24" name="TextBox 23"/>
          <p:cNvSpPr txBox="1"/>
          <p:nvPr/>
        </p:nvSpPr>
        <p:spPr>
          <a:xfrm>
            <a:off x="670560" y="4554626"/>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changes</a:t>
            </a:r>
          </a:p>
        </p:txBody>
      </p:sp>
      <p:sp>
        <p:nvSpPr>
          <p:cNvPr id="25" name="TextBox 24"/>
          <p:cNvSpPr txBox="1"/>
          <p:nvPr/>
        </p:nvSpPr>
        <p:spPr>
          <a:xfrm>
            <a:off x="4556760" y="432054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Explicit compatibility failure</a:t>
            </a:r>
          </a:p>
        </p:txBody>
      </p:sp>
      <p:sp>
        <p:nvSpPr>
          <p:cNvPr id="26" name="TextBox 25"/>
          <p:cNvSpPr txBox="1"/>
          <p:nvPr/>
        </p:nvSpPr>
        <p:spPr>
          <a:xfrm>
            <a:off x="8138159" y="432054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weaker fallback or invented</a:t>
            </a:r>
          </a:p>
        </p:txBody>
      </p:sp>
      <p:sp>
        <p:nvSpPr>
          <p:cNvPr id="27" name="TextBox 26"/>
          <p:cNvSpPr txBox="1"/>
          <p:nvPr/>
        </p:nvSpPr>
        <p:spPr>
          <a:xfrm>
            <a:off x="8138159" y="4554626"/>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result</a:t>
            </a:r>
          </a:p>
        </p:txBody>
      </p:sp>
      <p:sp>
        <p:nvSpPr>
          <p:cNvPr id="28" name="Rounded Rectangle 27"/>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29" name="TextBox 28"/>
          <p:cNvSpPr txBox="1"/>
          <p:nvPr/>
        </p:nvSpPr>
        <p:spPr>
          <a:xfrm>
            <a:off x="670560" y="501396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Clock advances before feedback</a:t>
            </a:r>
          </a:p>
        </p:txBody>
      </p:sp>
      <p:sp>
        <p:nvSpPr>
          <p:cNvPr id="30" name="TextBox 29"/>
          <p:cNvSpPr txBox="1"/>
          <p:nvPr/>
        </p:nvSpPr>
        <p:spPr>
          <a:xfrm>
            <a:off x="4556760" y="501396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Pending CONFLICT</a:t>
            </a:r>
          </a:p>
        </p:txBody>
      </p:sp>
      <p:sp>
        <p:nvSpPr>
          <p:cNvPr id="31" name="TextBox 30"/>
          <p:cNvSpPr txBox="1"/>
          <p:nvPr/>
        </p:nvSpPr>
        <p:spPr>
          <a:xfrm>
            <a:off x="8138159" y="501396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implicit retiming of causal</a:t>
            </a:r>
          </a:p>
        </p:txBody>
      </p:sp>
      <p:sp>
        <p:nvSpPr>
          <p:cNvPr id="32" name="TextBox 31"/>
          <p:cNvSpPr txBox="1"/>
          <p:nvPr/>
        </p:nvSpPr>
        <p:spPr>
          <a:xfrm>
            <a:off x="8138159" y="5248046"/>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feedback</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Attention ingress and feedback have distinct trusted bindings; selection never grants authority.</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cognition.py · derived_beliefs.py · tests/test_m3.py</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NATIVE INTEGRATION</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One real Hive action reaches the entire private path</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Existing authenticated Programs runtime → fusion-inference / infer-generated.</a:t>
            </a:r>
          </a:p>
        </p:txBody>
      </p:sp>
      <p:sp>
        <p:nvSpPr>
          <p:cNvPr id="5" name="Rounded Rectangle 4"/>
          <p:cNvSpPr/>
          <p:nvPr/>
        </p:nvSpPr>
        <p:spPr>
          <a:xfrm>
            <a:off x="548640" y="1790700"/>
            <a:ext cx="11094720" cy="647700"/>
          </a:xfrm>
          <a:prstGeom prst="roundRect">
            <a:avLst>
              <a:gd name="adj" fmla="val 14117"/>
            </a:avLst>
          </a:prstGeom>
          <a:solidFill>
            <a:srgbClr val="0B2233"/>
          </a:solidFill>
          <a:ln>
            <a:noFill/>
          </a:ln>
          <a:effectLst/>
        </p:spPr>
        <p:txBody>
          <a:bodyPr rtlCol="0" anchor="ctr"/>
          <a:lstStyle/>
          <a:p>
            <a:pPr algn="ctr"/>
          </a:p>
        </p:txBody>
      </p:sp>
      <p:sp>
        <p:nvSpPr>
          <p:cNvPr id="6" name="TextBox 5"/>
          <p:cNvSpPr txBox="1"/>
          <p:nvPr/>
        </p:nvSpPr>
        <p:spPr>
          <a:xfrm>
            <a:off x="762000" y="1973580"/>
            <a:ext cx="105918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0">
                <a:solidFill>
                  <a:srgbClr val="FFFFFF"/>
                </a:solidFill>
                <a:latin typeface="DejaVu Sans Mono"/>
              </a:rPr>
              <a:t>POST /api/programs/fusion-inference/act</a:t>
            </a:r>
          </a:p>
        </p:txBody>
      </p:sp>
      <p:sp>
        <p:nvSpPr>
          <p:cNvPr id="7" name="Rounded Rectangle 6"/>
          <p:cNvSpPr/>
          <p:nvPr/>
        </p:nvSpPr>
        <p:spPr>
          <a:xfrm>
            <a:off x="548640"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8" name="TextBox 7"/>
          <p:cNvSpPr txBox="1"/>
          <p:nvPr/>
        </p:nvSpPr>
        <p:spPr>
          <a:xfrm>
            <a:off x="632460"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Native Hive</a:t>
            </a:r>
          </a:p>
        </p:txBody>
      </p:sp>
      <p:cxnSp>
        <p:nvCxnSpPr>
          <p:cNvPr id="9" name="Connector 8"/>
          <p:cNvCxnSpPr/>
          <p:nvPr/>
        </p:nvCxnSpPr>
        <p:spPr>
          <a:xfrm>
            <a:off x="1310640" y="3291840"/>
            <a:ext cx="0" cy="2232660"/>
          </a:xfrm>
          <a:prstGeom prst="line">
            <a:avLst/>
          </a:prstGeom>
          <a:ln w="15240">
            <a:solidFill>
              <a:srgbClr val="C9D2D4"/>
            </a:solidFill>
            <a:prstDash val="dash"/>
          </a:ln>
          <a:effectLst/>
        </p:spPr>
      </p:cxnSp>
      <p:sp>
        <p:nvSpPr>
          <p:cNvPr id="10" name="Rounded Rectangle 9"/>
          <p:cNvSpPr/>
          <p:nvPr/>
        </p:nvSpPr>
        <p:spPr>
          <a:xfrm>
            <a:off x="3733800"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11" name="TextBox 10"/>
          <p:cNvSpPr txBox="1"/>
          <p:nvPr/>
        </p:nvSpPr>
        <p:spPr>
          <a:xfrm>
            <a:off x="3817619"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Scenario + C1</a:t>
            </a:r>
          </a:p>
        </p:txBody>
      </p:sp>
      <p:cxnSp>
        <p:nvCxnSpPr>
          <p:cNvPr id="12" name="Connector 11"/>
          <p:cNvCxnSpPr/>
          <p:nvPr/>
        </p:nvCxnSpPr>
        <p:spPr>
          <a:xfrm>
            <a:off x="4495800" y="3291840"/>
            <a:ext cx="0" cy="2232660"/>
          </a:xfrm>
          <a:prstGeom prst="line">
            <a:avLst/>
          </a:prstGeom>
          <a:ln w="15240">
            <a:solidFill>
              <a:srgbClr val="C9D2D4"/>
            </a:solidFill>
            <a:prstDash val="dash"/>
          </a:ln>
          <a:effectLst/>
        </p:spPr>
      </p:cxnSp>
      <p:sp>
        <p:nvSpPr>
          <p:cNvPr id="13" name="Rounded Rectangle 12"/>
          <p:cNvSpPr/>
          <p:nvPr/>
        </p:nvSpPr>
        <p:spPr>
          <a:xfrm>
            <a:off x="6918959"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14" name="TextBox 13"/>
          <p:cNvSpPr txBox="1"/>
          <p:nvPr/>
        </p:nvSpPr>
        <p:spPr>
          <a:xfrm>
            <a:off x="7002780"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C4 / C3 / C2</a:t>
            </a:r>
          </a:p>
        </p:txBody>
      </p:sp>
      <p:cxnSp>
        <p:nvCxnSpPr>
          <p:cNvPr id="15" name="Connector 14"/>
          <p:cNvCxnSpPr/>
          <p:nvPr/>
        </p:nvCxnSpPr>
        <p:spPr>
          <a:xfrm>
            <a:off x="7680959" y="3291840"/>
            <a:ext cx="0" cy="2232660"/>
          </a:xfrm>
          <a:prstGeom prst="line">
            <a:avLst/>
          </a:prstGeom>
          <a:ln w="15240">
            <a:solidFill>
              <a:srgbClr val="C9D2D4"/>
            </a:solidFill>
            <a:prstDash val="dash"/>
          </a:ln>
          <a:effectLst/>
        </p:spPr>
      </p:cxnSp>
      <p:sp>
        <p:nvSpPr>
          <p:cNvPr id="16" name="Rounded Rectangle 15"/>
          <p:cNvSpPr/>
          <p:nvPr/>
        </p:nvSpPr>
        <p:spPr>
          <a:xfrm>
            <a:off x="10104120"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17" name="TextBox 16"/>
          <p:cNvSpPr txBox="1"/>
          <p:nvPr/>
        </p:nvSpPr>
        <p:spPr>
          <a:xfrm>
            <a:off x="10187940"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Native PLN</a:t>
            </a:r>
          </a:p>
        </p:txBody>
      </p:sp>
      <p:cxnSp>
        <p:nvCxnSpPr>
          <p:cNvPr id="18" name="Connector 17"/>
          <p:cNvCxnSpPr/>
          <p:nvPr/>
        </p:nvCxnSpPr>
        <p:spPr>
          <a:xfrm>
            <a:off x="10866120" y="3291840"/>
            <a:ext cx="0" cy="2232660"/>
          </a:xfrm>
          <a:prstGeom prst="line">
            <a:avLst/>
          </a:prstGeom>
          <a:ln w="15240">
            <a:solidFill>
              <a:srgbClr val="C9D2D4"/>
            </a:solidFill>
            <a:prstDash val="dash"/>
          </a:ln>
          <a:effectLst/>
        </p:spPr>
      </p:cxnSp>
      <p:sp>
        <p:nvSpPr>
          <p:cNvPr id="19" name="Rectangle 18"/>
          <p:cNvSpPr/>
          <p:nvPr/>
        </p:nvSpPr>
        <p:spPr>
          <a:xfrm>
            <a:off x="1341120" y="3337560"/>
            <a:ext cx="3663315" cy="205740"/>
          </a:xfrm>
          <a:prstGeom prst="rect">
            <a:avLst/>
          </a:prstGeom>
          <a:solidFill>
            <a:srgbClr val="F4F2EB"/>
          </a:solidFill>
          <a:ln>
            <a:noFill/>
          </a:ln>
          <a:effectLst/>
        </p:spPr>
        <p:txBody>
          <a:bodyPr rtlCol="0" anchor="ctr"/>
          <a:lstStyle/>
          <a:p>
            <a:pPr algn="ctr"/>
          </a:p>
        </p:txBody>
      </p:sp>
      <p:sp>
        <p:nvSpPr>
          <p:cNvPr id="20" name="TextBox 19"/>
          <p:cNvSpPr txBox="1"/>
          <p:nvPr/>
        </p:nvSpPr>
        <p:spPr>
          <a:xfrm>
            <a:off x="1371600" y="3337560"/>
            <a:ext cx="1019556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1 Trusted actor; generated seed + preference</a:t>
            </a:r>
          </a:p>
        </p:txBody>
      </p:sp>
      <p:cxnSp>
        <p:nvCxnSpPr>
          <p:cNvPr id="21" name="Connector 20"/>
          <p:cNvCxnSpPr/>
          <p:nvPr/>
        </p:nvCxnSpPr>
        <p:spPr>
          <a:xfrm>
            <a:off x="1310640" y="3558540"/>
            <a:ext cx="3185160" cy="0"/>
          </a:xfrm>
          <a:prstGeom prst="line">
            <a:avLst/>
          </a:prstGeom>
          <a:ln w="15240">
            <a:solidFill>
              <a:srgbClr val="007C78"/>
            </a:solidFill>
          </a:ln>
          <a:effectLst/>
        </p:spPr>
      </p:cxnSp>
      <p:sp>
        <p:nvSpPr>
          <p:cNvPr id="22" name="Freeform 21"/>
          <p:cNvSpPr/>
          <p:nvPr/>
        </p:nvSpPr>
        <p:spPr>
          <a:xfrm>
            <a:off x="4396740" y="35204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3" name="Rectangle 22"/>
          <p:cNvSpPr/>
          <p:nvPr/>
        </p:nvSpPr>
        <p:spPr>
          <a:xfrm>
            <a:off x="4526280" y="3779519"/>
            <a:ext cx="3205742" cy="205740"/>
          </a:xfrm>
          <a:prstGeom prst="rect">
            <a:avLst/>
          </a:prstGeom>
          <a:solidFill>
            <a:srgbClr val="F4F2EB"/>
          </a:solidFill>
          <a:ln>
            <a:noFill/>
          </a:ln>
          <a:effectLst/>
        </p:spPr>
        <p:txBody>
          <a:bodyPr rtlCol="0" anchor="ctr"/>
          <a:lstStyle/>
          <a:p>
            <a:pPr algn="ctr"/>
          </a:p>
        </p:txBody>
      </p:sp>
      <p:sp>
        <p:nvSpPr>
          <p:cNvPr id="24" name="TextBox 23"/>
          <p:cNvSpPr txBox="1"/>
          <p:nvPr/>
        </p:nvSpPr>
        <p:spPr>
          <a:xfrm>
            <a:off x="4556760" y="3779519"/>
            <a:ext cx="70104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2 Private inputs; two tasks, one attempt</a:t>
            </a:r>
          </a:p>
        </p:txBody>
      </p:sp>
      <p:cxnSp>
        <p:nvCxnSpPr>
          <p:cNvPr id="25" name="Connector 24"/>
          <p:cNvCxnSpPr/>
          <p:nvPr/>
        </p:nvCxnSpPr>
        <p:spPr>
          <a:xfrm>
            <a:off x="4495800" y="4000500"/>
            <a:ext cx="3185159" cy="0"/>
          </a:xfrm>
          <a:prstGeom prst="line">
            <a:avLst/>
          </a:prstGeom>
          <a:ln w="15240">
            <a:solidFill>
              <a:srgbClr val="007C78"/>
            </a:solidFill>
          </a:ln>
          <a:effectLst/>
        </p:spPr>
      </p:cxnSp>
      <p:sp>
        <p:nvSpPr>
          <p:cNvPr id="26" name="Freeform 25"/>
          <p:cNvSpPr/>
          <p:nvPr/>
        </p:nvSpPr>
        <p:spPr>
          <a:xfrm>
            <a:off x="7581900" y="39624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7" name="Rectangle 26"/>
          <p:cNvSpPr/>
          <p:nvPr/>
        </p:nvSpPr>
        <p:spPr>
          <a:xfrm>
            <a:off x="5631180" y="4221480"/>
            <a:ext cx="3339985" cy="205740"/>
          </a:xfrm>
          <a:prstGeom prst="rect">
            <a:avLst/>
          </a:prstGeom>
          <a:solidFill>
            <a:srgbClr val="F4F2EB"/>
          </a:solidFill>
          <a:ln>
            <a:noFill/>
          </a:ln>
          <a:effectLst/>
        </p:spPr>
        <p:txBody>
          <a:bodyPr rtlCol="0" anchor="ctr"/>
          <a:lstStyle/>
          <a:p>
            <a:pPr algn="ctr"/>
          </a:p>
        </p:txBody>
      </p:sp>
      <p:sp>
        <p:nvSpPr>
          <p:cNvPr id="28" name="TextBox 27"/>
          <p:cNvSpPr txBox="1"/>
          <p:nvPr/>
        </p:nvSpPr>
        <p:spPr>
          <a:xfrm>
            <a:off x="5661660" y="4221480"/>
            <a:ext cx="59055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3 Reserve → C2 → actual Truth_Deduction</a:t>
            </a:r>
          </a:p>
        </p:txBody>
      </p:sp>
      <p:cxnSp>
        <p:nvCxnSpPr>
          <p:cNvPr id="29" name="Connector 28"/>
          <p:cNvCxnSpPr/>
          <p:nvPr/>
        </p:nvCxnSpPr>
        <p:spPr>
          <a:xfrm>
            <a:off x="7680959" y="4442460"/>
            <a:ext cx="3185161" cy="0"/>
          </a:xfrm>
          <a:prstGeom prst="line">
            <a:avLst/>
          </a:prstGeom>
          <a:ln w="15240">
            <a:solidFill>
              <a:srgbClr val="007C78"/>
            </a:solidFill>
          </a:ln>
          <a:effectLst/>
        </p:spPr>
      </p:cxnSp>
      <p:sp>
        <p:nvSpPr>
          <p:cNvPr id="30" name="Freeform 29"/>
          <p:cNvSpPr/>
          <p:nvPr/>
        </p:nvSpPr>
        <p:spPr>
          <a:xfrm>
            <a:off x="10767060" y="440436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31" name="Rectangle 30"/>
          <p:cNvSpPr/>
          <p:nvPr/>
        </p:nvSpPr>
        <p:spPr>
          <a:xfrm>
            <a:off x="5631180" y="4663440"/>
            <a:ext cx="3678867" cy="205740"/>
          </a:xfrm>
          <a:prstGeom prst="rect">
            <a:avLst/>
          </a:prstGeom>
          <a:solidFill>
            <a:srgbClr val="F4F2EB"/>
          </a:solidFill>
          <a:ln>
            <a:noFill/>
          </a:ln>
          <a:effectLst/>
        </p:spPr>
        <p:txBody>
          <a:bodyPr rtlCol="0" anchor="ctr"/>
          <a:lstStyle/>
          <a:p>
            <a:pPr algn="ctr"/>
          </a:p>
        </p:txBody>
      </p:sp>
      <p:sp>
        <p:nvSpPr>
          <p:cNvPr id="32" name="TextBox 31"/>
          <p:cNvSpPr txBox="1"/>
          <p:nvPr/>
        </p:nvSpPr>
        <p:spPr>
          <a:xfrm>
            <a:off x="5661660" y="4663440"/>
            <a:ext cx="59055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4 Proposal → admission → one feedback credit</a:t>
            </a:r>
          </a:p>
        </p:txBody>
      </p:sp>
      <p:cxnSp>
        <p:nvCxnSpPr>
          <p:cNvPr id="33" name="Connector 32"/>
          <p:cNvCxnSpPr/>
          <p:nvPr/>
        </p:nvCxnSpPr>
        <p:spPr>
          <a:xfrm flipH="1">
            <a:off x="7680959" y="4884420"/>
            <a:ext cx="3185161" cy="0"/>
          </a:xfrm>
          <a:prstGeom prst="line">
            <a:avLst/>
          </a:prstGeom>
          <a:ln w="15240">
            <a:solidFill>
              <a:srgbClr val="007C78"/>
            </a:solidFill>
          </a:ln>
          <a:effectLst/>
        </p:spPr>
      </p:cxnSp>
      <p:sp>
        <p:nvSpPr>
          <p:cNvPr id="34" name="Freeform 33"/>
          <p:cNvSpPr/>
          <p:nvPr/>
        </p:nvSpPr>
        <p:spPr>
          <a:xfrm>
            <a:off x="7680960" y="484632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sp>
        <p:nvSpPr>
          <p:cNvPr id="35" name="Rectangle 34"/>
          <p:cNvSpPr/>
          <p:nvPr/>
        </p:nvSpPr>
        <p:spPr>
          <a:xfrm>
            <a:off x="1341120" y="5196840"/>
            <a:ext cx="3347724" cy="205740"/>
          </a:xfrm>
          <a:prstGeom prst="rect">
            <a:avLst/>
          </a:prstGeom>
          <a:solidFill>
            <a:srgbClr val="F4F2EB"/>
          </a:solidFill>
          <a:ln>
            <a:noFill/>
          </a:ln>
          <a:effectLst/>
        </p:spPr>
        <p:txBody>
          <a:bodyPr rtlCol="0" anchor="ctr"/>
          <a:lstStyle/>
          <a:p>
            <a:pPr algn="ctr"/>
          </a:p>
        </p:txBody>
      </p:sp>
      <p:sp>
        <p:nvSpPr>
          <p:cNvPr id="36" name="TextBox 35"/>
          <p:cNvSpPr txBox="1"/>
          <p:nvPr/>
        </p:nvSpPr>
        <p:spPr>
          <a:xfrm>
            <a:off x="1371600" y="5196840"/>
            <a:ext cx="1019556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5 Record result; return counters + receipt</a:t>
            </a:r>
          </a:p>
        </p:txBody>
      </p:sp>
      <p:cxnSp>
        <p:nvCxnSpPr>
          <p:cNvPr id="37" name="Connector 36"/>
          <p:cNvCxnSpPr/>
          <p:nvPr/>
        </p:nvCxnSpPr>
        <p:spPr>
          <a:xfrm flipH="1">
            <a:off x="1310640" y="5417820"/>
            <a:ext cx="3185160" cy="0"/>
          </a:xfrm>
          <a:prstGeom prst="line">
            <a:avLst/>
          </a:prstGeom>
          <a:ln w="15240">
            <a:solidFill>
              <a:srgbClr val="007C78"/>
            </a:solidFill>
          </a:ln>
          <a:effectLst/>
        </p:spPr>
      </p:cxnSp>
      <p:sp>
        <p:nvSpPr>
          <p:cNvPr id="38" name="Freeform 37"/>
          <p:cNvSpPr/>
          <p:nvPr/>
        </p:nvSpPr>
        <p:spPr>
          <a:xfrm>
            <a:off x="1310640" y="537972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sp>
        <p:nvSpPr>
          <p:cNvPr id="39" name="Rounded Rectangle 38"/>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0" name="TextBox 39"/>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One private episode: 10 generated observations + action + result. Public receipt contains no private trace.</a:t>
            </a:r>
          </a:p>
        </p:txBody>
      </p:sp>
      <p:cxnSp>
        <p:nvCxnSpPr>
          <p:cNvPr id="41" name="Connector 40"/>
          <p:cNvCxnSpPr/>
          <p:nvPr/>
        </p:nvCxnSpPr>
        <p:spPr>
          <a:xfrm>
            <a:off x="548640" y="6393180"/>
            <a:ext cx="11094720" cy="0"/>
          </a:xfrm>
          <a:prstGeom prst="line">
            <a:avLst/>
          </a:prstGeom>
          <a:ln w="7620">
            <a:solidFill>
              <a:srgbClr val="C9D2D4"/>
            </a:solidFill>
          </a:ln>
          <a:effectLst/>
        </p:spPr>
      </p:cxnSp>
      <p:sp>
        <p:nvSpPr>
          <p:cNvPr id="42" name="TextBox 4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inference_program/program.py · test_m3_integration.py</a:t>
            </a:r>
          </a:p>
        </p:txBody>
      </p:sp>
      <p:sp>
        <p:nvSpPr>
          <p:cNvPr id="43" name="TextBox 4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DEMONSTRATED BEHAVIOR</a:t>
            </a:r>
          </a:p>
        </p:txBody>
      </p:sp>
      <p:sp>
        <p:nvSpPr>
          <p:cNvPr id="3" name="TextBox 2"/>
          <p:cNvSpPr txBox="1"/>
          <p:nvPr/>
        </p:nvSpPr>
        <p:spPr>
          <a:xfrm>
            <a:off x="533400" y="723900"/>
            <a:ext cx="11125200" cy="458419"/>
          </a:xfrm>
          <a:prstGeom prst="rect">
            <a:avLst/>
          </a:prstGeom>
          <a:noFill/>
        </p:spPr>
        <p:txBody>
          <a:bodyPr wrap="none" lIns="0" rIns="0" tIns="0" bIns="0" anchor="t" anchorCtr="0">
            <a:noAutofit/>
          </a:bodyPr>
          <a:lstStyle/>
          <a:p>
            <a:pPr algn="l">
              <a:lnSpc>
                <a:spcPct val="100000"/>
              </a:lnSpc>
              <a:spcBef>
                <a:spcPts val="0"/>
              </a:spcBef>
              <a:spcAft>
                <a:spcPts val="0"/>
              </a:spcAft>
            </a:pPr>
            <a:r>
              <a:rPr sz="2820" b="1">
                <a:solidFill>
                  <a:srgbClr val="102B3F"/>
                </a:solidFill>
                <a:latin typeface="DejaVu Sans"/>
              </a:rPr>
              <a:t>The same one-attempt budget makes attention visible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Two eligible tasks have exact premises. Initial STI selects which one can consume the attempt.</a:t>
            </a:r>
          </a:p>
        </p:txBody>
      </p:sp>
      <p:sp>
        <p:nvSpPr>
          <p:cNvPr id="5" name="Rounded Rectangle 4"/>
          <p:cNvSpPr/>
          <p:nvPr/>
        </p:nvSpPr>
        <p:spPr>
          <a:xfrm>
            <a:off x="548640" y="1905000"/>
            <a:ext cx="5364480" cy="2872740"/>
          </a:xfrm>
          <a:prstGeom prst="roundRect">
            <a:avLst>
              <a:gd name="adj" fmla="val 3713"/>
            </a:avLst>
          </a:prstGeom>
          <a:solidFill>
            <a:srgbClr val="FFFFFF"/>
          </a:solidFill>
          <a:ln w="7620">
            <a:solidFill>
              <a:srgbClr val="C9D2D4"/>
            </a:solidFill>
          </a:ln>
          <a:effectLst/>
        </p:spPr>
        <p:txBody>
          <a:bodyPr rtlCol="0" anchor="ctr"/>
          <a:lstStyle/>
          <a:p>
            <a:pPr algn="ctr"/>
          </a:p>
        </p:txBody>
      </p:sp>
      <p:sp>
        <p:nvSpPr>
          <p:cNvPr id="6" name="TextBox 5"/>
          <p:cNvSpPr txBox="1"/>
          <p:nvPr/>
        </p:nvSpPr>
        <p:spPr>
          <a:xfrm>
            <a:off x="746760" y="2110740"/>
            <a:ext cx="49530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102B3F"/>
                </a:solidFill>
                <a:latin typeface="DejaVu Sans"/>
              </a:rPr>
              <a:t>Prefer task A</a:t>
            </a:r>
          </a:p>
        </p:txBody>
      </p:sp>
      <p:sp>
        <p:nvSpPr>
          <p:cNvPr id="7" name="TextBox 6"/>
          <p:cNvSpPr txBox="1"/>
          <p:nvPr/>
        </p:nvSpPr>
        <p:spPr>
          <a:xfrm>
            <a:off x="777240" y="2842260"/>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A</a:t>
            </a:r>
          </a:p>
        </p:txBody>
      </p:sp>
      <p:sp>
        <p:nvSpPr>
          <p:cNvPr id="8" name="Rounded Rectangle 7"/>
          <p:cNvSpPr/>
          <p:nvPr/>
        </p:nvSpPr>
        <p:spPr>
          <a:xfrm>
            <a:off x="1386840" y="2781300"/>
            <a:ext cx="3200400" cy="426720"/>
          </a:xfrm>
          <a:prstGeom prst="roundRect">
            <a:avLst>
              <a:gd name="adj" fmla="val 12500"/>
            </a:avLst>
          </a:prstGeom>
          <a:solidFill>
            <a:srgbClr val="E4EBF5"/>
          </a:solidFill>
          <a:ln>
            <a:noFill/>
          </a:ln>
          <a:effectLst/>
        </p:spPr>
        <p:txBody>
          <a:bodyPr rtlCol="0" anchor="ctr"/>
          <a:lstStyle/>
          <a:p>
            <a:pPr algn="ctr"/>
          </a:p>
        </p:txBody>
      </p:sp>
      <p:sp>
        <p:nvSpPr>
          <p:cNvPr id="9" name="TextBox 8"/>
          <p:cNvSpPr txBox="1"/>
          <p:nvPr/>
        </p:nvSpPr>
        <p:spPr>
          <a:xfrm>
            <a:off x="1493520" y="285750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20</a:t>
            </a:r>
          </a:p>
        </p:txBody>
      </p:sp>
      <p:sp>
        <p:nvSpPr>
          <p:cNvPr id="10" name="TextBox 9"/>
          <p:cNvSpPr txBox="1"/>
          <p:nvPr/>
        </p:nvSpPr>
        <p:spPr>
          <a:xfrm>
            <a:off x="777240" y="3512819"/>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B</a:t>
            </a:r>
          </a:p>
        </p:txBody>
      </p:sp>
      <p:sp>
        <p:nvSpPr>
          <p:cNvPr id="11" name="Rounded Rectangle 10"/>
          <p:cNvSpPr/>
          <p:nvPr/>
        </p:nvSpPr>
        <p:spPr>
          <a:xfrm>
            <a:off x="1386840" y="3451860"/>
            <a:ext cx="1600200" cy="426720"/>
          </a:xfrm>
          <a:prstGeom prst="roundRect">
            <a:avLst>
              <a:gd name="adj" fmla="val 12500"/>
            </a:avLst>
          </a:prstGeom>
          <a:solidFill>
            <a:srgbClr val="DCEFE8"/>
          </a:solidFill>
          <a:ln>
            <a:noFill/>
          </a:ln>
          <a:effectLst/>
        </p:spPr>
        <p:txBody>
          <a:bodyPr rtlCol="0" anchor="ctr"/>
          <a:lstStyle/>
          <a:p>
            <a:pPr algn="ctr"/>
          </a:p>
        </p:txBody>
      </p:sp>
      <p:sp>
        <p:nvSpPr>
          <p:cNvPr id="12" name="TextBox 11"/>
          <p:cNvSpPr txBox="1"/>
          <p:nvPr/>
        </p:nvSpPr>
        <p:spPr>
          <a:xfrm>
            <a:off x="1493520" y="352806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10</a:t>
            </a:r>
          </a:p>
        </p:txBody>
      </p:sp>
      <p:sp>
        <p:nvSpPr>
          <p:cNvPr id="13" name="TextBox 12"/>
          <p:cNvSpPr txBox="1"/>
          <p:nvPr/>
        </p:nvSpPr>
        <p:spPr>
          <a:xfrm>
            <a:off x="762000" y="4229100"/>
            <a:ext cx="49530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First attempt → A</a:t>
            </a:r>
          </a:p>
        </p:txBody>
      </p:sp>
      <p:sp>
        <p:nvSpPr>
          <p:cNvPr id="14" name="Rounded Rectangle 13"/>
          <p:cNvSpPr/>
          <p:nvPr/>
        </p:nvSpPr>
        <p:spPr>
          <a:xfrm>
            <a:off x="6278880" y="1905000"/>
            <a:ext cx="5364480" cy="2872740"/>
          </a:xfrm>
          <a:prstGeom prst="roundRect">
            <a:avLst>
              <a:gd name="adj" fmla="val 3713"/>
            </a:avLst>
          </a:prstGeom>
          <a:solidFill>
            <a:srgbClr val="FFFFFF"/>
          </a:solidFill>
          <a:ln w="7620">
            <a:solidFill>
              <a:srgbClr val="C9D2D4"/>
            </a:solidFill>
          </a:ln>
          <a:effectLst/>
        </p:spPr>
        <p:txBody>
          <a:bodyPr rtlCol="0" anchor="ctr"/>
          <a:lstStyle/>
          <a:p>
            <a:pPr algn="ctr"/>
          </a:p>
        </p:txBody>
      </p:sp>
      <p:sp>
        <p:nvSpPr>
          <p:cNvPr id="15" name="TextBox 14"/>
          <p:cNvSpPr txBox="1"/>
          <p:nvPr/>
        </p:nvSpPr>
        <p:spPr>
          <a:xfrm>
            <a:off x="6477000" y="2110740"/>
            <a:ext cx="49530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102B3F"/>
                </a:solidFill>
                <a:latin typeface="DejaVu Sans"/>
              </a:rPr>
              <a:t>Prefer task B</a:t>
            </a:r>
          </a:p>
        </p:txBody>
      </p:sp>
      <p:sp>
        <p:nvSpPr>
          <p:cNvPr id="16" name="TextBox 15"/>
          <p:cNvSpPr txBox="1"/>
          <p:nvPr/>
        </p:nvSpPr>
        <p:spPr>
          <a:xfrm>
            <a:off x="6507480" y="2842260"/>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A</a:t>
            </a:r>
          </a:p>
        </p:txBody>
      </p:sp>
      <p:sp>
        <p:nvSpPr>
          <p:cNvPr id="17" name="Rounded Rectangle 16"/>
          <p:cNvSpPr/>
          <p:nvPr/>
        </p:nvSpPr>
        <p:spPr>
          <a:xfrm>
            <a:off x="7117080" y="2781300"/>
            <a:ext cx="1600200" cy="426720"/>
          </a:xfrm>
          <a:prstGeom prst="roundRect">
            <a:avLst>
              <a:gd name="adj" fmla="val 12500"/>
            </a:avLst>
          </a:prstGeom>
          <a:solidFill>
            <a:srgbClr val="E4EBF5"/>
          </a:solidFill>
          <a:ln>
            <a:noFill/>
          </a:ln>
          <a:effectLst/>
        </p:spPr>
        <p:txBody>
          <a:bodyPr rtlCol="0" anchor="ctr"/>
          <a:lstStyle/>
          <a:p>
            <a:pPr algn="ctr"/>
          </a:p>
        </p:txBody>
      </p:sp>
      <p:sp>
        <p:nvSpPr>
          <p:cNvPr id="18" name="TextBox 17"/>
          <p:cNvSpPr txBox="1"/>
          <p:nvPr/>
        </p:nvSpPr>
        <p:spPr>
          <a:xfrm>
            <a:off x="7223759" y="285750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10</a:t>
            </a:r>
          </a:p>
        </p:txBody>
      </p:sp>
      <p:sp>
        <p:nvSpPr>
          <p:cNvPr id="19" name="TextBox 18"/>
          <p:cNvSpPr txBox="1"/>
          <p:nvPr/>
        </p:nvSpPr>
        <p:spPr>
          <a:xfrm>
            <a:off x="6507480" y="3512819"/>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B</a:t>
            </a:r>
          </a:p>
        </p:txBody>
      </p:sp>
      <p:sp>
        <p:nvSpPr>
          <p:cNvPr id="20" name="Rounded Rectangle 19"/>
          <p:cNvSpPr/>
          <p:nvPr/>
        </p:nvSpPr>
        <p:spPr>
          <a:xfrm>
            <a:off x="7117080" y="3451860"/>
            <a:ext cx="3200400" cy="426720"/>
          </a:xfrm>
          <a:prstGeom prst="roundRect">
            <a:avLst>
              <a:gd name="adj" fmla="val 12500"/>
            </a:avLst>
          </a:prstGeom>
          <a:solidFill>
            <a:srgbClr val="DCEFE8"/>
          </a:solidFill>
          <a:ln>
            <a:noFill/>
          </a:ln>
          <a:effectLst/>
        </p:spPr>
        <p:txBody>
          <a:bodyPr rtlCol="0" anchor="ctr"/>
          <a:lstStyle/>
          <a:p>
            <a:pPr algn="ctr"/>
          </a:p>
        </p:txBody>
      </p:sp>
      <p:sp>
        <p:nvSpPr>
          <p:cNvPr id="21" name="TextBox 20"/>
          <p:cNvSpPr txBox="1"/>
          <p:nvPr/>
        </p:nvSpPr>
        <p:spPr>
          <a:xfrm>
            <a:off x="7223759" y="352806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20</a:t>
            </a:r>
          </a:p>
        </p:txBody>
      </p:sp>
      <p:sp>
        <p:nvSpPr>
          <p:cNvPr id="22" name="TextBox 21"/>
          <p:cNvSpPr txBox="1"/>
          <p:nvPr/>
        </p:nvSpPr>
        <p:spPr>
          <a:xfrm>
            <a:off x="6492240" y="4229100"/>
            <a:ext cx="49530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First attempt → B</a:t>
            </a:r>
          </a:p>
        </p:txBody>
      </p:sp>
      <p:sp>
        <p:nvSpPr>
          <p:cNvPr id="23" name="TextBox 22"/>
          <p:cNvSpPr txBox="1"/>
          <p:nvPr/>
        </p:nvSpPr>
        <p:spPr>
          <a:xfrm>
            <a:off x="594360" y="5143500"/>
            <a:ext cx="10972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Both attention providers preserve this effect; replay adds no native call and no second credit.</a:t>
            </a:r>
          </a:p>
        </p:txBody>
      </p:sp>
      <p:sp>
        <p:nvSpPr>
          <p:cNvPr id="24" name="Rounded Rectangle 2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5" name="TextBox 24"/>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Attention changes scheduling. It does not alter premise truth values or manufacture independent evidence.</a:t>
            </a:r>
          </a:p>
        </p:txBody>
      </p:sp>
      <p:cxnSp>
        <p:nvCxnSpPr>
          <p:cNvPr id="26" name="Connector 25"/>
          <p:cNvCxnSpPr/>
          <p:nvPr/>
        </p:nvCxnSpPr>
        <p:spPr>
          <a:xfrm>
            <a:off x="548640" y="6393180"/>
            <a:ext cx="11094720" cy="0"/>
          </a:xfrm>
          <a:prstGeom prst="line">
            <a:avLst/>
          </a:prstGeom>
          <a:ln w="7620">
            <a:solidFill>
              <a:srgbClr val="C9D2D4"/>
            </a:solidFill>
          </a:ln>
          <a:effectLst/>
        </p:spPr>
      </p:cxnSp>
      <p:sp>
        <p:nvSpPr>
          <p:cNvPr id="27" name="TextBox 2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m3/final/comparison.json · native Hive scenario</a:t>
            </a:r>
          </a:p>
        </p:txBody>
      </p:sp>
      <p:sp>
        <p:nvSpPr>
          <p:cNvPr id="28" name="TextBox 2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EVIDENCE CLASSIFICATION</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Real providers and fixtures remain visibly separate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real runtime can execute generated inputs. Each claim carries its own evidence label.</a:t>
            </a:r>
          </a:p>
        </p:txBody>
      </p:sp>
      <p:sp>
        <p:nvSpPr>
          <p:cNvPr id="5" name="TextBox 4"/>
          <p:cNvSpPr txBox="1"/>
          <p:nvPr/>
        </p:nvSpPr>
        <p:spPr>
          <a:xfrm>
            <a:off x="670560" y="1790700"/>
            <a:ext cx="21183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CLASSIFICATION</a:t>
            </a:r>
          </a:p>
        </p:txBody>
      </p:sp>
      <p:sp>
        <p:nvSpPr>
          <p:cNvPr id="6" name="TextBox 5"/>
          <p:cNvSpPr txBox="1"/>
          <p:nvPr/>
        </p:nvSpPr>
        <p:spPr>
          <a:xfrm>
            <a:off x="3032760" y="1790700"/>
            <a:ext cx="4709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EXERCISED COMPONENTS</a:t>
            </a:r>
          </a:p>
        </p:txBody>
      </p:sp>
      <p:sp>
        <p:nvSpPr>
          <p:cNvPr id="7" name="TextBox 6"/>
          <p:cNvSpPr txBox="1"/>
          <p:nvPr/>
        </p:nvSpPr>
        <p:spPr>
          <a:xfrm>
            <a:off x="7985759" y="1790700"/>
            <a:ext cx="35356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WHAT THE RESULT SUPPORTS</a:t>
            </a:r>
          </a:p>
        </p:txBody>
      </p:sp>
      <p:sp>
        <p:nvSpPr>
          <p:cNvPr id="8" name="Rounded Rectangle 7"/>
          <p:cNvSpPr/>
          <p:nvPr/>
        </p:nvSpPr>
        <p:spPr>
          <a:xfrm>
            <a:off x="548640" y="2110740"/>
            <a:ext cx="11094720" cy="845819"/>
          </a:xfrm>
          <a:prstGeom prst="roundRect">
            <a:avLst>
              <a:gd name="adj" fmla="val 5405"/>
            </a:avLst>
          </a:prstGeom>
          <a:solidFill>
            <a:srgbClr val="FFFFFF"/>
          </a:solidFill>
          <a:ln>
            <a:noFill/>
          </a:ln>
          <a:effectLst/>
        </p:spPr>
        <p:txBody>
          <a:bodyPr rtlCol="0" anchor="ctr"/>
          <a:lstStyle/>
          <a:p>
            <a:pPr algn="ctr"/>
          </a:p>
        </p:txBody>
      </p:sp>
      <p:sp>
        <p:nvSpPr>
          <p:cNvPr id="9" name="TextBox 8"/>
          <p:cNvSpPr txBox="1"/>
          <p:nvPr/>
        </p:nvSpPr>
        <p:spPr>
          <a:xfrm>
            <a:off x="670560" y="2240280"/>
            <a:ext cx="2118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REAL PROVIDERS</a:t>
            </a:r>
          </a:p>
        </p:txBody>
      </p:sp>
      <p:sp>
        <p:nvSpPr>
          <p:cNvPr id="10" name="TextBox 9"/>
          <p:cNvSpPr txBox="1"/>
          <p:nvPr/>
        </p:nvSpPr>
        <p:spPr>
          <a:xfrm>
            <a:off x="3032760" y="2240280"/>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SQLite STI · local DeTTa · pinned native PLN</a:t>
            </a:r>
          </a:p>
        </p:txBody>
      </p:sp>
      <p:sp>
        <p:nvSpPr>
          <p:cNvPr id="11" name="TextBox 10"/>
          <p:cNvSpPr txBox="1"/>
          <p:nvPr/>
        </p:nvSpPr>
        <p:spPr>
          <a:xfrm>
            <a:off x="3032760" y="2474366"/>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Actual Hive Programs / Supervisor / PeTTa</a:t>
            </a:r>
          </a:p>
        </p:txBody>
      </p:sp>
      <p:sp>
        <p:nvSpPr>
          <p:cNvPr id="12" name="TextBox 11"/>
          <p:cNvSpPr txBox="1"/>
          <p:nvPr/>
        </p:nvSpPr>
        <p:spPr>
          <a:xfrm>
            <a:off x="7985759" y="224028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Native calls, owner persistence and</a:t>
            </a:r>
          </a:p>
        </p:txBody>
      </p:sp>
      <p:sp>
        <p:nvSpPr>
          <p:cNvPr id="13" name="TextBox 12"/>
          <p:cNvSpPr txBox="1"/>
          <p:nvPr/>
        </p:nvSpPr>
        <p:spPr>
          <a:xfrm>
            <a:off x="7985759" y="247436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tested runtime integration</a:t>
            </a:r>
          </a:p>
        </p:txBody>
      </p:sp>
      <p:sp>
        <p:nvSpPr>
          <p:cNvPr id="14" name="Rounded Rectangle 13"/>
          <p:cNvSpPr/>
          <p:nvPr/>
        </p:nvSpPr>
        <p:spPr>
          <a:xfrm>
            <a:off x="548640" y="2994660"/>
            <a:ext cx="11094720" cy="845819"/>
          </a:xfrm>
          <a:prstGeom prst="roundRect">
            <a:avLst>
              <a:gd name="adj" fmla="val 5405"/>
            </a:avLst>
          </a:prstGeom>
          <a:solidFill>
            <a:srgbClr val="FFFFFF"/>
          </a:solidFill>
          <a:ln>
            <a:noFill/>
          </a:ln>
          <a:effectLst/>
        </p:spPr>
        <p:txBody>
          <a:bodyPr rtlCol="0" anchor="ctr"/>
          <a:lstStyle/>
          <a:p>
            <a:pPr algn="ctr"/>
          </a:p>
        </p:txBody>
      </p:sp>
      <p:sp>
        <p:nvSpPr>
          <p:cNvPr id="15" name="TextBox 14"/>
          <p:cNvSpPr txBox="1"/>
          <p:nvPr/>
        </p:nvSpPr>
        <p:spPr>
          <a:xfrm>
            <a:off x="670560" y="3124200"/>
            <a:ext cx="2118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FIXTURES</a:t>
            </a:r>
          </a:p>
        </p:txBody>
      </p:sp>
      <p:sp>
        <p:nvSpPr>
          <p:cNvPr id="16" name="TextBox 15"/>
          <p:cNvSpPr txBox="1"/>
          <p:nvPr/>
        </p:nvSpPr>
        <p:spPr>
          <a:xfrm>
            <a:off x="3032760" y="3124200"/>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Generated tasks, observations, authority policy</a:t>
            </a:r>
          </a:p>
        </p:txBody>
      </p:sp>
      <p:sp>
        <p:nvSpPr>
          <p:cNvPr id="17" name="TextBox 16"/>
          <p:cNvSpPr txBox="1"/>
          <p:nvPr/>
        </p:nvSpPr>
        <p:spPr>
          <a:xfrm>
            <a:off x="3032760" y="3358286"/>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Independent atomic-file attention; guard/fault</a:t>
            </a:r>
          </a:p>
        </p:txBody>
      </p:sp>
      <p:sp>
        <p:nvSpPr>
          <p:cNvPr id="18" name="TextBox 17"/>
          <p:cNvSpPr txBox="1"/>
          <p:nvPr/>
        </p:nvSpPr>
        <p:spPr>
          <a:xfrm>
            <a:off x="3032760" y="3592372"/>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inputs</a:t>
            </a:r>
          </a:p>
        </p:txBody>
      </p:sp>
      <p:sp>
        <p:nvSpPr>
          <p:cNvPr id="19" name="TextBox 18"/>
          <p:cNvSpPr txBox="1"/>
          <p:nvPr/>
        </p:nvSpPr>
        <p:spPr>
          <a:xfrm>
            <a:off x="7985759" y="312420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Conformance, controlled replacement</a:t>
            </a:r>
          </a:p>
        </p:txBody>
      </p:sp>
      <p:sp>
        <p:nvSpPr>
          <p:cNvPr id="20" name="TextBox 19"/>
          <p:cNvSpPr txBox="1"/>
          <p:nvPr/>
        </p:nvSpPr>
        <p:spPr>
          <a:xfrm>
            <a:off x="7985759" y="335828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and deliberate refusal behavior</a:t>
            </a:r>
          </a:p>
        </p:txBody>
      </p:sp>
      <p:sp>
        <p:nvSpPr>
          <p:cNvPr id="21" name="Rounded Rectangle 20"/>
          <p:cNvSpPr/>
          <p:nvPr/>
        </p:nvSpPr>
        <p:spPr>
          <a:xfrm>
            <a:off x="548640" y="3878579"/>
            <a:ext cx="11094720" cy="845819"/>
          </a:xfrm>
          <a:prstGeom prst="roundRect">
            <a:avLst>
              <a:gd name="adj" fmla="val 5405"/>
            </a:avLst>
          </a:prstGeom>
          <a:solidFill>
            <a:srgbClr val="FFFFFF"/>
          </a:solidFill>
          <a:ln>
            <a:noFill/>
          </a:ln>
          <a:effectLst/>
        </p:spPr>
        <p:txBody>
          <a:bodyPr rtlCol="0" anchor="ctr"/>
          <a:lstStyle/>
          <a:p>
            <a:pPr algn="ctr"/>
          </a:p>
        </p:txBody>
      </p:sp>
      <p:sp>
        <p:nvSpPr>
          <p:cNvPr id="22" name="TextBox 21"/>
          <p:cNvSpPr txBox="1"/>
          <p:nvPr/>
        </p:nvSpPr>
        <p:spPr>
          <a:xfrm>
            <a:off x="670560" y="4008119"/>
            <a:ext cx="2118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BLOCKED</a:t>
            </a:r>
          </a:p>
        </p:txBody>
      </p:sp>
      <p:sp>
        <p:nvSpPr>
          <p:cNvPr id="23" name="TextBox 22"/>
          <p:cNvSpPr txBox="1"/>
          <p:nvPr/>
        </p:nvSpPr>
        <p:spPr>
          <a:xfrm>
            <a:off x="3032760" y="4008119"/>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None for supported M3 prerequisites</a:t>
            </a:r>
          </a:p>
        </p:txBody>
      </p:sp>
      <p:sp>
        <p:nvSpPr>
          <p:cNvPr id="24" name="TextBox 23"/>
          <p:cNvSpPr txBox="1"/>
          <p:nvPr/>
        </p:nvSpPr>
        <p:spPr>
          <a:xfrm>
            <a:off x="3032760" y="4242206"/>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Historical exact chain source unavailable</a:t>
            </a:r>
          </a:p>
        </p:txBody>
      </p:sp>
      <p:sp>
        <p:nvSpPr>
          <p:cNvPr id="25" name="TextBox 24"/>
          <p:cNvSpPr txBox="1"/>
          <p:nvPr/>
        </p:nvSpPr>
        <p:spPr>
          <a:xfrm>
            <a:off x="7985759" y="4008119"/>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missing M3 prerequisite is hidden</a:t>
            </a:r>
          </a:p>
        </p:txBody>
      </p:sp>
      <p:sp>
        <p:nvSpPr>
          <p:cNvPr id="26" name="TextBox 25"/>
          <p:cNvSpPr txBox="1"/>
          <p:nvPr/>
        </p:nvSpPr>
        <p:spPr>
          <a:xfrm>
            <a:off x="7985759" y="424220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by a fixture fallback</a:t>
            </a:r>
          </a:p>
        </p:txBody>
      </p:sp>
      <p:sp>
        <p:nvSpPr>
          <p:cNvPr id="27" name="Rounded Rectangle 26"/>
          <p:cNvSpPr/>
          <p:nvPr/>
        </p:nvSpPr>
        <p:spPr>
          <a:xfrm>
            <a:off x="548640" y="4762500"/>
            <a:ext cx="11094720" cy="845819"/>
          </a:xfrm>
          <a:prstGeom prst="roundRect">
            <a:avLst>
              <a:gd name="adj" fmla="val 5405"/>
            </a:avLst>
          </a:prstGeom>
          <a:solidFill>
            <a:srgbClr val="FFFFFF"/>
          </a:solidFill>
          <a:ln>
            <a:noFill/>
          </a:ln>
          <a:effectLst/>
        </p:spPr>
        <p:txBody>
          <a:bodyPr rtlCol="0" anchor="ctr"/>
          <a:lstStyle/>
          <a:p>
            <a:pPr algn="ctr"/>
          </a:p>
        </p:txBody>
      </p:sp>
      <p:sp>
        <p:nvSpPr>
          <p:cNvPr id="28" name="TextBox 27"/>
          <p:cNvSpPr txBox="1"/>
          <p:nvPr/>
        </p:nvSpPr>
        <p:spPr>
          <a:xfrm>
            <a:off x="670560" y="4892040"/>
            <a:ext cx="2118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NOT_RUN</a:t>
            </a:r>
          </a:p>
        </p:txBody>
      </p:sp>
      <p:sp>
        <p:nvSpPr>
          <p:cNvPr id="29" name="TextBox 28"/>
          <p:cNvSpPr txBox="1"/>
          <p:nvPr/>
        </p:nvSpPr>
        <p:spPr>
          <a:xfrm>
            <a:off x="3032760" y="4892040"/>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Chain, power loss, distributed failover,</a:t>
            </a:r>
          </a:p>
        </p:txBody>
      </p:sp>
      <p:sp>
        <p:nvSpPr>
          <p:cNvPr id="30" name="TextBox 29"/>
          <p:cNvSpPr txBox="1"/>
          <p:nvPr/>
        </p:nvSpPr>
        <p:spPr>
          <a:xfrm>
            <a:off x="3032760" y="5126126"/>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empty-cache build, production quality/throughput</a:t>
            </a:r>
          </a:p>
        </p:txBody>
      </p:sp>
      <p:sp>
        <p:nvSpPr>
          <p:cNvPr id="31" name="TextBox 30"/>
          <p:cNvSpPr txBox="1"/>
          <p:nvPr/>
        </p:nvSpPr>
        <p:spPr>
          <a:xfrm>
            <a:off x="7985759" y="489204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claim for these extensions</a:t>
            </a:r>
          </a:p>
        </p:txBody>
      </p:sp>
      <p:sp>
        <p:nvSpPr>
          <p:cNvPr id="32" name="TextBox 31"/>
          <p:cNvSpPr txBox="1"/>
          <p:nvPr/>
        </p:nvSpPr>
        <p:spPr>
          <a:xfrm>
            <a:off x="7985759" y="512612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or excluded work</a:t>
            </a:r>
          </a:p>
        </p:txBody>
      </p:sp>
      <p:cxnSp>
        <p:nvCxnSpPr>
          <p:cNvPr id="33" name="Connector 32"/>
          <p:cNvCxnSpPr/>
          <p:nvPr/>
        </p:nvCxnSpPr>
        <p:spPr>
          <a:xfrm>
            <a:off x="548640" y="6393180"/>
            <a:ext cx="11094720" cy="0"/>
          </a:xfrm>
          <a:prstGeom prst="line">
            <a:avLst/>
          </a:prstGeom>
          <a:ln w="7620">
            <a:solidFill>
              <a:srgbClr val="C9D2D4"/>
            </a:solidFill>
          </a:ln>
          <a:effectLst/>
        </p:spPr>
      </p:cxnSp>
      <p:sp>
        <p:nvSpPr>
          <p:cNvPr id="34" name="TextBox 3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m3/manifest.json · m3-evidence.md</a:t>
            </a:r>
          </a:p>
        </p:txBody>
      </p:sp>
      <p:sp>
        <p:nvSpPr>
          <p:cNvPr id="35" name="TextBox 3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RECORDED FINAL VERIFICATION</a:t>
            </a:r>
          </a:p>
        </p:txBody>
      </p:sp>
      <p:sp>
        <p:nvSpPr>
          <p:cNvPr id="3" name="TextBox 2"/>
          <p:cNvSpPr txBox="1"/>
          <p:nvPr/>
        </p:nvSpPr>
        <p:spPr>
          <a:xfrm>
            <a:off x="533400" y="723900"/>
            <a:ext cx="11125200" cy="438912"/>
          </a:xfrm>
          <a:prstGeom prst="rect">
            <a:avLst/>
          </a:prstGeom>
          <a:noFill/>
        </p:spPr>
        <p:txBody>
          <a:bodyPr wrap="none" lIns="0" rIns="0" tIns="0" bIns="0" anchor="t" anchorCtr="0">
            <a:noAutofit/>
          </a:bodyPr>
          <a:lstStyle/>
          <a:p>
            <a:pPr algn="l">
              <a:lnSpc>
                <a:spcPct val="100000"/>
              </a:lnSpc>
              <a:spcBef>
                <a:spcPts val="0"/>
              </a:spcBef>
              <a:spcAft>
                <a:spcPts val="0"/>
              </a:spcAft>
            </a:pPr>
            <a:r>
              <a:rPr sz="2700" b="1">
                <a:solidFill>
                  <a:srgbClr val="102B3F"/>
                </a:solidFill>
                <a:latin typeface="DejaVu Sans"/>
              </a:rPr>
              <a:t>Executed tests cover contracts, native calls and crashes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Counts overlap. The 51 original and 16 M2 fixture subsets are not added again to the 118-case matrix.</a:t>
            </a:r>
          </a:p>
        </p:txBody>
      </p:sp>
      <p:sp>
        <p:nvSpPr>
          <p:cNvPr id="5" name="TextBox 4"/>
          <p:cNvSpPr txBox="1"/>
          <p:nvPr/>
        </p:nvSpPr>
        <p:spPr>
          <a:xfrm>
            <a:off x="670560" y="1790700"/>
            <a:ext cx="4251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COMMAND / LAYER</a:t>
            </a:r>
          </a:p>
        </p:txBody>
      </p:sp>
      <p:sp>
        <p:nvSpPr>
          <p:cNvPr id="6" name="TextBox 5"/>
          <p:cNvSpPr txBox="1"/>
          <p:nvPr/>
        </p:nvSpPr>
        <p:spPr>
          <a:xfrm>
            <a:off x="5166360" y="1790700"/>
            <a:ext cx="173735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CASES</a:t>
            </a:r>
          </a:p>
        </p:txBody>
      </p:sp>
      <p:sp>
        <p:nvSpPr>
          <p:cNvPr id="7" name="TextBox 6"/>
          <p:cNvSpPr txBox="1"/>
          <p:nvPr/>
        </p:nvSpPr>
        <p:spPr>
          <a:xfrm>
            <a:off x="7147559" y="1790700"/>
            <a:ext cx="43738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EVIDENCE TYPE</a:t>
            </a:r>
          </a:p>
        </p:txBody>
      </p:sp>
      <p:sp>
        <p:nvSpPr>
          <p:cNvPr id="8" name="Rounded Rectangle 7"/>
          <p:cNvSpPr/>
          <p:nvPr/>
        </p:nvSpPr>
        <p:spPr>
          <a:xfrm>
            <a:off x="548640" y="2110740"/>
            <a:ext cx="11094720" cy="563880"/>
          </a:xfrm>
          <a:prstGeom prst="roundRect">
            <a:avLst>
              <a:gd name="adj" fmla="val 8108"/>
            </a:avLst>
          </a:prstGeom>
          <a:solidFill>
            <a:srgbClr val="FFFFFF"/>
          </a:solidFill>
          <a:ln>
            <a:noFill/>
          </a:ln>
          <a:effectLst/>
        </p:spPr>
        <p:txBody>
          <a:bodyPr rtlCol="0" anchor="ctr"/>
          <a:lstStyle/>
          <a:p>
            <a:pPr algn="ctr"/>
          </a:p>
        </p:txBody>
      </p:sp>
      <p:sp>
        <p:nvSpPr>
          <p:cNvPr id="9" name="TextBox 8"/>
          <p:cNvSpPr txBox="1"/>
          <p:nvPr/>
        </p:nvSpPr>
        <p:spPr>
          <a:xfrm>
            <a:off x="670560" y="224028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Preserved M1/M2 regression</a:t>
            </a:r>
          </a:p>
        </p:txBody>
      </p:sp>
      <p:sp>
        <p:nvSpPr>
          <p:cNvPr id="10" name="TextBox 9"/>
          <p:cNvSpPr txBox="1"/>
          <p:nvPr/>
        </p:nvSpPr>
        <p:spPr>
          <a:xfrm>
            <a:off x="5166360" y="2240280"/>
            <a:ext cx="17373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118 matrix</a:t>
            </a:r>
          </a:p>
        </p:txBody>
      </p:sp>
      <p:sp>
        <p:nvSpPr>
          <p:cNvPr id="11" name="TextBox 10"/>
          <p:cNvSpPr txBox="1"/>
          <p:nvPr/>
        </p:nvSpPr>
        <p:spPr>
          <a:xfrm>
            <a:off x="7147559" y="2240280"/>
            <a:ext cx="43738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90 original + 16 M2 + 12 M3; native suites also</a:t>
            </a:r>
          </a:p>
        </p:txBody>
      </p:sp>
      <p:sp>
        <p:nvSpPr>
          <p:cNvPr id="12" name="TextBox 11"/>
          <p:cNvSpPr txBox="1"/>
          <p:nvPr/>
        </p:nvSpPr>
        <p:spPr>
          <a:xfrm>
            <a:off x="7147559" y="2464612"/>
            <a:ext cx="43738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rerun</a:t>
            </a:r>
          </a:p>
        </p:txBody>
      </p:sp>
      <p:sp>
        <p:nvSpPr>
          <p:cNvPr id="13" name="Rounded Rectangle 12"/>
          <p:cNvSpPr/>
          <p:nvPr/>
        </p:nvSpPr>
        <p:spPr>
          <a:xfrm>
            <a:off x="548640" y="2712720"/>
            <a:ext cx="11094720" cy="563880"/>
          </a:xfrm>
          <a:prstGeom prst="roundRect">
            <a:avLst>
              <a:gd name="adj" fmla="val 8108"/>
            </a:avLst>
          </a:prstGeom>
          <a:solidFill>
            <a:srgbClr val="FFFFFF"/>
          </a:solidFill>
          <a:ln>
            <a:noFill/>
          </a:ln>
          <a:effectLst/>
        </p:spPr>
        <p:txBody>
          <a:bodyPr rtlCol="0" anchor="ctr"/>
          <a:lstStyle/>
          <a:p>
            <a:pPr algn="ctr"/>
          </a:p>
        </p:txBody>
      </p:sp>
      <p:sp>
        <p:nvSpPr>
          <p:cNvPr id="14" name="TextBox 13"/>
          <p:cNvSpPr txBox="1"/>
          <p:nvPr/>
        </p:nvSpPr>
        <p:spPr>
          <a:xfrm>
            <a:off x="670560" y="284226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Attention / contract / upstream guards</a:t>
            </a:r>
          </a:p>
        </p:txBody>
      </p:sp>
      <p:sp>
        <p:nvSpPr>
          <p:cNvPr id="15" name="TextBox 14"/>
          <p:cNvSpPr txBox="1"/>
          <p:nvPr/>
        </p:nvSpPr>
        <p:spPr>
          <a:xfrm>
            <a:off x="5166360" y="2842260"/>
            <a:ext cx="17373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5 / 7 / 15</a:t>
            </a:r>
          </a:p>
        </p:txBody>
      </p:sp>
      <p:sp>
        <p:nvSpPr>
          <p:cNvPr id="16" name="TextBox 15"/>
          <p:cNvSpPr txBox="1"/>
          <p:nvPr/>
        </p:nvSpPr>
        <p:spPr>
          <a:xfrm>
            <a:off x="7147559" y="2842260"/>
            <a:ext cx="43738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Fixtures; C3 standalone; RecordingRuntime</a:t>
            </a:r>
          </a:p>
        </p:txBody>
      </p:sp>
      <p:sp>
        <p:nvSpPr>
          <p:cNvPr id="17" name="TextBox 16"/>
          <p:cNvSpPr txBox="1"/>
          <p:nvPr/>
        </p:nvSpPr>
        <p:spPr>
          <a:xfrm>
            <a:off x="7147559" y="3066592"/>
            <a:ext cx="43738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guards</a:t>
            </a:r>
          </a:p>
        </p:txBody>
      </p:sp>
      <p:sp>
        <p:nvSpPr>
          <p:cNvPr id="18" name="Rounded Rectangle 17"/>
          <p:cNvSpPr/>
          <p:nvPr/>
        </p:nvSpPr>
        <p:spPr>
          <a:xfrm>
            <a:off x="548640" y="3314700"/>
            <a:ext cx="11094720" cy="563880"/>
          </a:xfrm>
          <a:prstGeom prst="roundRect">
            <a:avLst>
              <a:gd name="adj" fmla="val 8108"/>
            </a:avLst>
          </a:prstGeom>
          <a:solidFill>
            <a:srgbClr val="FFFFFF"/>
          </a:solidFill>
          <a:ln>
            <a:noFill/>
          </a:ln>
          <a:effectLst/>
        </p:spPr>
        <p:txBody>
          <a:bodyPr rtlCol="0" anchor="ctr"/>
          <a:lstStyle/>
          <a:p>
            <a:pPr algn="ctr"/>
          </a:p>
        </p:txBody>
      </p:sp>
      <p:sp>
        <p:nvSpPr>
          <p:cNvPr id="19" name="TextBox 18"/>
          <p:cNvSpPr txBox="1"/>
          <p:nvPr/>
        </p:nvSpPr>
        <p:spPr>
          <a:xfrm>
            <a:off x="670560" y="344424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Native kernel + derived admission</a:t>
            </a:r>
          </a:p>
        </p:txBody>
      </p:sp>
      <p:sp>
        <p:nvSpPr>
          <p:cNvPr id="20" name="TextBox 19"/>
          <p:cNvSpPr txBox="1"/>
          <p:nvPr/>
        </p:nvSpPr>
        <p:spPr>
          <a:xfrm>
            <a:off x="5166360" y="3444240"/>
            <a:ext cx="17373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13</a:t>
            </a:r>
          </a:p>
        </p:txBody>
      </p:sp>
      <p:sp>
        <p:nvSpPr>
          <p:cNvPr id="21" name="TextBox 20"/>
          <p:cNvSpPr txBox="1"/>
          <p:nvPr/>
        </p:nvSpPr>
        <p:spPr>
          <a:xfrm>
            <a:off x="7147559" y="3444240"/>
            <a:ext cx="43738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Real goldens plus explicitly injected faults</a:t>
            </a:r>
          </a:p>
        </p:txBody>
      </p:sp>
      <p:sp>
        <p:nvSpPr>
          <p:cNvPr id="22" name="Rounded Rectangle 21"/>
          <p:cNvSpPr/>
          <p:nvPr/>
        </p:nvSpPr>
        <p:spPr>
          <a:xfrm>
            <a:off x="548640" y="3916679"/>
            <a:ext cx="11094720" cy="563880"/>
          </a:xfrm>
          <a:prstGeom prst="roundRect">
            <a:avLst>
              <a:gd name="adj" fmla="val 8108"/>
            </a:avLst>
          </a:prstGeom>
          <a:solidFill>
            <a:srgbClr val="FFFFFF"/>
          </a:solidFill>
          <a:ln>
            <a:noFill/>
          </a:ln>
          <a:effectLst/>
        </p:spPr>
        <p:txBody>
          <a:bodyPr rtlCol="0" anchor="ctr"/>
          <a:lstStyle/>
          <a:p>
            <a:pPr algn="ctr"/>
          </a:p>
        </p:txBody>
      </p:sp>
      <p:sp>
        <p:nvSpPr>
          <p:cNvPr id="23" name="TextBox 22"/>
          <p:cNvSpPr txBox="1"/>
          <p:nvPr/>
        </p:nvSpPr>
        <p:spPr>
          <a:xfrm>
            <a:off x="670560" y="4046219"/>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Direct real process kills</a:t>
            </a:r>
          </a:p>
        </p:txBody>
      </p:sp>
      <p:sp>
        <p:nvSpPr>
          <p:cNvPr id="24" name="TextBox 23"/>
          <p:cNvSpPr txBox="1"/>
          <p:nvPr/>
        </p:nvSpPr>
        <p:spPr>
          <a:xfrm>
            <a:off x="5166360" y="4046219"/>
            <a:ext cx="17373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3 methods / 10</a:t>
            </a:r>
          </a:p>
        </p:txBody>
      </p:sp>
      <p:sp>
        <p:nvSpPr>
          <p:cNvPr id="25" name="TextBox 24"/>
          <p:cNvSpPr txBox="1"/>
          <p:nvPr/>
        </p:nvSpPr>
        <p:spPr>
          <a:xfrm>
            <a:off x="5166360" y="4270552"/>
            <a:ext cx="17373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cases</a:t>
            </a:r>
          </a:p>
        </p:txBody>
      </p:sp>
      <p:sp>
        <p:nvSpPr>
          <p:cNvPr id="26" name="TextBox 25"/>
          <p:cNvSpPr txBox="1"/>
          <p:nvPr/>
        </p:nvSpPr>
        <p:spPr>
          <a:xfrm>
            <a:off x="7147559" y="4046219"/>
            <a:ext cx="43738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SIGKILL across independent commit boundaries</a:t>
            </a:r>
          </a:p>
        </p:txBody>
      </p:sp>
      <p:sp>
        <p:nvSpPr>
          <p:cNvPr id="27" name="Rounded Rectangle 26"/>
          <p:cNvSpPr/>
          <p:nvPr/>
        </p:nvSpPr>
        <p:spPr>
          <a:xfrm>
            <a:off x="548640" y="4518660"/>
            <a:ext cx="11094720" cy="563880"/>
          </a:xfrm>
          <a:prstGeom prst="roundRect">
            <a:avLst>
              <a:gd name="adj" fmla="val 8108"/>
            </a:avLst>
          </a:prstGeom>
          <a:solidFill>
            <a:srgbClr val="FFFFFF"/>
          </a:solidFill>
          <a:ln>
            <a:noFill/>
          </a:ln>
          <a:effectLst/>
        </p:spPr>
        <p:txBody>
          <a:bodyPr rtlCol="0" anchor="ctr"/>
          <a:lstStyle/>
          <a:p>
            <a:pPr algn="ctr"/>
          </a:p>
        </p:txBody>
      </p:sp>
      <p:sp>
        <p:nvSpPr>
          <p:cNvPr id="28" name="TextBox 27"/>
          <p:cNvSpPr txBox="1"/>
          <p:nvPr/>
        </p:nvSpPr>
        <p:spPr>
          <a:xfrm>
            <a:off x="670560" y="464820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Actual native Hive</a:t>
            </a:r>
          </a:p>
        </p:txBody>
      </p:sp>
      <p:sp>
        <p:nvSpPr>
          <p:cNvPr id="29" name="TextBox 28"/>
          <p:cNvSpPr txBox="1"/>
          <p:nvPr/>
        </p:nvSpPr>
        <p:spPr>
          <a:xfrm>
            <a:off x="5166360" y="4648200"/>
            <a:ext cx="17373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8</a:t>
            </a:r>
          </a:p>
        </p:txBody>
      </p:sp>
      <p:sp>
        <p:nvSpPr>
          <p:cNvPr id="30" name="TextBox 29"/>
          <p:cNvSpPr txBox="1"/>
          <p:nvPr/>
        </p:nvSpPr>
        <p:spPr>
          <a:xfrm>
            <a:off x="7147559" y="4648200"/>
            <a:ext cx="43738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Zero failures, errors or skips; five more caller kills</a:t>
            </a:r>
          </a:p>
        </p:txBody>
      </p:sp>
      <p:sp>
        <p:nvSpPr>
          <p:cNvPr id="31" name="Rounded Rectangle 30"/>
          <p:cNvSpPr/>
          <p:nvPr/>
        </p:nvSpPr>
        <p:spPr>
          <a:xfrm>
            <a:off x="548640" y="5120640"/>
            <a:ext cx="11094720" cy="563880"/>
          </a:xfrm>
          <a:prstGeom prst="roundRect">
            <a:avLst>
              <a:gd name="adj" fmla="val 8108"/>
            </a:avLst>
          </a:prstGeom>
          <a:solidFill>
            <a:srgbClr val="FFFFFF"/>
          </a:solidFill>
          <a:ln>
            <a:noFill/>
          </a:ln>
          <a:effectLst/>
        </p:spPr>
        <p:txBody>
          <a:bodyPr rtlCol="0" anchor="ctr"/>
          <a:lstStyle/>
          <a:p>
            <a:pPr algn="ctr"/>
          </a:p>
        </p:txBody>
      </p:sp>
      <p:sp>
        <p:nvSpPr>
          <p:cNvPr id="32" name="TextBox 31"/>
          <p:cNvSpPr txBox="1"/>
          <p:nvPr/>
        </p:nvSpPr>
        <p:spPr>
          <a:xfrm>
            <a:off x="670560" y="525018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Controlled attention replacement</a:t>
            </a:r>
          </a:p>
        </p:txBody>
      </p:sp>
      <p:sp>
        <p:nvSpPr>
          <p:cNvPr id="33" name="TextBox 32"/>
          <p:cNvSpPr txBox="1"/>
          <p:nvPr/>
        </p:nvSpPr>
        <p:spPr>
          <a:xfrm>
            <a:off x="5166360" y="5250180"/>
            <a:ext cx="17373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4</a:t>
            </a:r>
          </a:p>
        </p:txBody>
      </p:sp>
      <p:sp>
        <p:nvSpPr>
          <p:cNvPr id="34" name="TextBox 33"/>
          <p:cNvSpPr txBox="1"/>
          <p:nvPr/>
        </p:nvSpPr>
        <p:spPr>
          <a:xfrm>
            <a:off x="7147559" y="5250180"/>
            <a:ext cx="43738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Fresh cases, native PLN + DeTTa, exact replay</a:t>
            </a:r>
          </a:p>
        </p:txBody>
      </p:sp>
      <p:sp>
        <p:nvSpPr>
          <p:cNvPr id="35" name="Rounded Rectangle 34"/>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6" name="TextBox 35"/>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Final execution used clean detached 1af3979. Earlier failures and an interrupted run remain separately labelled.</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m3/final/verification.json</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GATE-BY-GATE RESULTS · 1 OF 2</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M3 gates: contracts and independent cognition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 13 required gates passed for the supported local scope; no blocked M3 prerequisites.</a:t>
            </a:r>
          </a:p>
        </p:txBody>
      </p:sp>
      <p:sp>
        <p:nvSpPr>
          <p:cNvPr id="5" name="TextBox 4"/>
          <p:cNvSpPr txBox="1"/>
          <p:nvPr/>
        </p:nvSpPr>
        <p:spPr>
          <a:xfrm>
            <a:off x="670560" y="1790700"/>
            <a:ext cx="2651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GATE</a:t>
            </a:r>
          </a:p>
        </p:txBody>
      </p:sp>
      <p:sp>
        <p:nvSpPr>
          <p:cNvPr id="6" name="TextBox 5"/>
          <p:cNvSpPr txBox="1"/>
          <p:nvPr/>
        </p:nvSpPr>
        <p:spPr>
          <a:xfrm>
            <a:off x="3566160" y="1790700"/>
            <a:ext cx="11658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RESULT</a:t>
            </a:r>
          </a:p>
        </p:txBody>
      </p:sp>
      <p:sp>
        <p:nvSpPr>
          <p:cNvPr id="7" name="TextBox 6"/>
          <p:cNvSpPr txBox="1"/>
          <p:nvPr/>
        </p:nvSpPr>
        <p:spPr>
          <a:xfrm>
            <a:off x="4975860" y="1790700"/>
            <a:ext cx="65455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RECORDED EVIDENCE</a:t>
            </a:r>
          </a:p>
        </p:txBody>
      </p:sp>
      <p:sp>
        <p:nvSpPr>
          <p:cNvPr id="8" name="Rounded Rectangle 7"/>
          <p:cNvSpPr/>
          <p:nvPr/>
        </p:nvSpPr>
        <p:spPr>
          <a:xfrm>
            <a:off x="548640" y="2110740"/>
            <a:ext cx="11094720" cy="487680"/>
          </a:xfrm>
          <a:prstGeom prst="roundRect">
            <a:avLst>
              <a:gd name="adj" fmla="val 9375"/>
            </a:avLst>
          </a:prstGeom>
          <a:solidFill>
            <a:srgbClr val="FFFFFF"/>
          </a:solidFill>
          <a:ln>
            <a:noFill/>
          </a:ln>
          <a:effectLst/>
        </p:spPr>
        <p:txBody>
          <a:bodyPr rtlCol="0" anchor="ctr"/>
          <a:lstStyle/>
          <a:p>
            <a:pPr algn="ctr"/>
          </a:p>
        </p:txBody>
      </p:sp>
      <p:sp>
        <p:nvSpPr>
          <p:cNvPr id="9" name="TextBox 8"/>
          <p:cNvSpPr txBox="1"/>
          <p:nvPr/>
        </p:nvSpPr>
        <p:spPr>
          <a:xfrm>
            <a:off x="670560" y="224028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BASELINE</a:t>
            </a:r>
          </a:p>
        </p:txBody>
      </p:sp>
      <p:sp>
        <p:nvSpPr>
          <p:cNvPr id="10" name="TextBox 9"/>
          <p:cNvSpPr txBox="1"/>
          <p:nvPr/>
        </p:nvSpPr>
        <p:spPr>
          <a:xfrm>
            <a:off x="3566160" y="224028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1" name="TextBox 10"/>
          <p:cNvSpPr txBox="1"/>
          <p:nvPr/>
        </p:nvSpPr>
        <p:spPr>
          <a:xfrm>
            <a:off x="4975860" y="224028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M1/M2 behavior, sources and selected native tests</a:t>
            </a:r>
          </a:p>
        </p:txBody>
      </p:sp>
      <p:sp>
        <p:nvSpPr>
          <p:cNvPr id="12" name="Rounded Rectangle 11"/>
          <p:cNvSpPr/>
          <p:nvPr/>
        </p:nvSpPr>
        <p:spPr>
          <a:xfrm>
            <a:off x="548640" y="2636520"/>
            <a:ext cx="11094720" cy="487680"/>
          </a:xfrm>
          <a:prstGeom prst="roundRect">
            <a:avLst>
              <a:gd name="adj" fmla="val 9375"/>
            </a:avLst>
          </a:prstGeom>
          <a:solidFill>
            <a:srgbClr val="FFFFFF"/>
          </a:solidFill>
          <a:ln>
            <a:noFill/>
          </a:ln>
          <a:effectLst/>
        </p:spPr>
        <p:txBody>
          <a:bodyPr rtlCol="0" anchor="ctr"/>
          <a:lstStyle/>
          <a:p>
            <a:pPr algn="ctr"/>
          </a:p>
        </p:txBody>
      </p:sp>
      <p:sp>
        <p:nvSpPr>
          <p:cNvPr id="13" name="TextBox 12"/>
          <p:cNvSpPr txBox="1"/>
          <p:nvPr/>
        </p:nvSpPr>
        <p:spPr>
          <a:xfrm>
            <a:off x="670560" y="276606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CONTRACTS</a:t>
            </a:r>
          </a:p>
        </p:txBody>
      </p:sp>
      <p:sp>
        <p:nvSpPr>
          <p:cNvPr id="14" name="TextBox 13"/>
          <p:cNvSpPr txBox="1"/>
          <p:nvPr/>
        </p:nvSpPr>
        <p:spPr>
          <a:xfrm>
            <a:off x="3566160" y="276606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5" name="TextBox 14"/>
          <p:cNvSpPr txBox="1"/>
          <p:nvPr/>
        </p:nvSpPr>
        <p:spPr>
          <a:xfrm>
            <a:off x="4975860" y="276606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Exact immutable tasks, vectors and owner responses</a:t>
            </a:r>
          </a:p>
        </p:txBody>
      </p:sp>
      <p:sp>
        <p:nvSpPr>
          <p:cNvPr id="16" name="Rounded Rectangle 15"/>
          <p:cNvSpPr/>
          <p:nvPr/>
        </p:nvSpPr>
        <p:spPr>
          <a:xfrm>
            <a:off x="548640" y="3162300"/>
            <a:ext cx="11094720" cy="487680"/>
          </a:xfrm>
          <a:prstGeom prst="roundRect">
            <a:avLst>
              <a:gd name="adj" fmla="val 9375"/>
            </a:avLst>
          </a:prstGeom>
          <a:solidFill>
            <a:srgbClr val="FFFFFF"/>
          </a:solidFill>
          <a:ln>
            <a:noFill/>
          </a:ln>
          <a:effectLst/>
        </p:spPr>
        <p:txBody>
          <a:bodyPr rtlCol="0" anchor="ctr"/>
          <a:lstStyle/>
          <a:p>
            <a:pPr algn="ctr"/>
          </a:p>
        </p:txBody>
      </p:sp>
      <p:sp>
        <p:nvSpPr>
          <p:cNvPr id="17" name="TextBox 16"/>
          <p:cNvSpPr txBox="1"/>
          <p:nvPr/>
        </p:nvSpPr>
        <p:spPr>
          <a:xfrm>
            <a:off x="670560" y="329184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C3</a:t>
            </a:r>
          </a:p>
        </p:txBody>
      </p:sp>
      <p:sp>
        <p:nvSpPr>
          <p:cNvPr id="18" name="TextBox 17"/>
          <p:cNvSpPr txBox="1"/>
          <p:nvPr/>
        </p:nvSpPr>
        <p:spPr>
          <a:xfrm>
            <a:off x="3566160" y="329184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9" name="TextBox 18"/>
          <p:cNvSpPr txBox="1"/>
          <p:nvPr/>
        </p:nvSpPr>
        <p:spPr>
          <a:xfrm>
            <a:off x="4975860" y="329184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Persistent bounded STI and causal replay</a:t>
            </a:r>
          </a:p>
        </p:txBody>
      </p:sp>
      <p:sp>
        <p:nvSpPr>
          <p:cNvPr id="20" name="Rounded Rectangle 19"/>
          <p:cNvSpPr/>
          <p:nvPr/>
        </p:nvSpPr>
        <p:spPr>
          <a:xfrm>
            <a:off x="548640" y="3688079"/>
            <a:ext cx="11094720" cy="487680"/>
          </a:xfrm>
          <a:prstGeom prst="roundRect">
            <a:avLst>
              <a:gd name="adj" fmla="val 9375"/>
            </a:avLst>
          </a:prstGeom>
          <a:solidFill>
            <a:srgbClr val="FFFFFF"/>
          </a:solidFill>
          <a:ln>
            <a:noFill/>
          </a:ln>
          <a:effectLst/>
        </p:spPr>
        <p:txBody>
          <a:bodyPr rtlCol="0" anchor="ctr"/>
          <a:lstStyle/>
          <a:p>
            <a:pPr algn="ctr"/>
          </a:p>
        </p:txBody>
      </p:sp>
      <p:sp>
        <p:nvSpPr>
          <p:cNvPr id="21" name="TextBox 20"/>
          <p:cNvSpPr txBox="1"/>
          <p:nvPr/>
        </p:nvSpPr>
        <p:spPr>
          <a:xfrm>
            <a:off x="670560" y="3817619"/>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C3_INDEPENDENT</a:t>
            </a:r>
          </a:p>
        </p:txBody>
      </p:sp>
      <p:sp>
        <p:nvSpPr>
          <p:cNvPr id="22" name="TextBox 21"/>
          <p:cNvSpPr txBox="1"/>
          <p:nvPr/>
        </p:nvSpPr>
        <p:spPr>
          <a:xfrm>
            <a:off x="3566160" y="3817619"/>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23" name="TextBox 22"/>
          <p:cNvSpPr txBox="1"/>
          <p:nvPr/>
        </p:nvSpPr>
        <p:spPr>
          <a:xfrm>
            <a:off x="4975860" y="3817619"/>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PLN, Hive, C1/C2 or DA runtime dependency</a:t>
            </a:r>
          </a:p>
        </p:txBody>
      </p:sp>
      <p:sp>
        <p:nvSpPr>
          <p:cNvPr id="24" name="Rounded Rectangle 23"/>
          <p:cNvSpPr/>
          <p:nvPr/>
        </p:nvSpPr>
        <p:spPr>
          <a:xfrm>
            <a:off x="548640" y="4213860"/>
            <a:ext cx="11094720" cy="487680"/>
          </a:xfrm>
          <a:prstGeom prst="roundRect">
            <a:avLst>
              <a:gd name="adj" fmla="val 9375"/>
            </a:avLst>
          </a:prstGeom>
          <a:solidFill>
            <a:srgbClr val="FFFFFF"/>
          </a:solidFill>
          <a:ln>
            <a:noFill/>
          </a:ln>
          <a:effectLst/>
        </p:spPr>
        <p:txBody>
          <a:bodyPr rtlCol="0" anchor="ctr"/>
          <a:lstStyle/>
          <a:p>
            <a:pPr algn="ctr"/>
          </a:p>
        </p:txBody>
      </p:sp>
      <p:sp>
        <p:nvSpPr>
          <p:cNvPr id="25" name="TextBox 24"/>
          <p:cNvSpPr txBox="1"/>
          <p:nvPr/>
        </p:nvSpPr>
        <p:spPr>
          <a:xfrm>
            <a:off x="670560" y="434340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ATTENTION_SWAP</a:t>
            </a:r>
          </a:p>
        </p:txBody>
      </p:sp>
      <p:sp>
        <p:nvSpPr>
          <p:cNvPr id="26" name="TextBox 25"/>
          <p:cNvSpPr txBox="1"/>
          <p:nvPr/>
        </p:nvSpPr>
        <p:spPr>
          <a:xfrm>
            <a:off x="3566160" y="434340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27" name="TextBox 26"/>
          <p:cNvSpPr txBox="1"/>
          <p:nvPr/>
        </p:nvSpPr>
        <p:spPr>
          <a:xfrm>
            <a:off x="4975860" y="434340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Independent same-profile replacement; four cases</a:t>
            </a:r>
          </a:p>
        </p:txBody>
      </p:sp>
      <p:sp>
        <p:nvSpPr>
          <p:cNvPr id="28" name="Rounded Rectangle 27"/>
          <p:cNvSpPr/>
          <p:nvPr/>
        </p:nvSpPr>
        <p:spPr>
          <a:xfrm>
            <a:off x="548640" y="4739640"/>
            <a:ext cx="11094720" cy="487680"/>
          </a:xfrm>
          <a:prstGeom prst="roundRect">
            <a:avLst>
              <a:gd name="adj" fmla="val 9375"/>
            </a:avLst>
          </a:prstGeom>
          <a:solidFill>
            <a:srgbClr val="FFFFFF"/>
          </a:solidFill>
          <a:ln>
            <a:noFill/>
          </a:ln>
          <a:effectLst/>
        </p:spPr>
        <p:txBody>
          <a:bodyPr rtlCol="0" anchor="ctr"/>
          <a:lstStyle/>
          <a:p>
            <a:pPr algn="ctr"/>
          </a:p>
        </p:txBody>
      </p:sp>
      <p:sp>
        <p:nvSpPr>
          <p:cNvPr id="29" name="TextBox 28"/>
          <p:cNvSpPr txBox="1"/>
          <p:nvPr/>
        </p:nvSpPr>
        <p:spPr>
          <a:xfrm>
            <a:off x="670560" y="486918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KERNEL_NATIVE</a:t>
            </a:r>
          </a:p>
        </p:txBody>
      </p:sp>
      <p:sp>
        <p:nvSpPr>
          <p:cNvPr id="30" name="TextBox 29"/>
          <p:cNvSpPr txBox="1"/>
          <p:nvPr/>
        </p:nvSpPr>
        <p:spPr>
          <a:xfrm>
            <a:off x="3566160" y="486918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31" name="TextBox 30"/>
          <p:cNvSpPr txBox="1"/>
          <p:nvPr/>
        </p:nvSpPr>
        <p:spPr>
          <a:xfrm>
            <a:off x="4975860" y="486918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Actual guarded deduction; independent golden</a:t>
            </a:r>
          </a:p>
        </p:txBody>
      </p:sp>
      <p:sp>
        <p:nvSpPr>
          <p:cNvPr id="32" name="Rounded Rectangle 31"/>
          <p:cNvSpPr/>
          <p:nvPr/>
        </p:nvSpPr>
        <p:spPr>
          <a:xfrm>
            <a:off x="548640" y="5265420"/>
            <a:ext cx="11094720" cy="487680"/>
          </a:xfrm>
          <a:prstGeom prst="roundRect">
            <a:avLst>
              <a:gd name="adj" fmla="val 9375"/>
            </a:avLst>
          </a:prstGeom>
          <a:solidFill>
            <a:srgbClr val="FFFFFF"/>
          </a:solidFill>
          <a:ln>
            <a:noFill/>
          </a:ln>
          <a:effectLst/>
        </p:spPr>
        <p:txBody>
          <a:bodyPr rtlCol="0" anchor="ctr"/>
          <a:lstStyle/>
          <a:p>
            <a:pPr algn="ctr"/>
          </a:p>
        </p:txBody>
      </p:sp>
      <p:sp>
        <p:nvSpPr>
          <p:cNvPr id="33" name="TextBox 32"/>
          <p:cNvSpPr txBox="1"/>
          <p:nvPr/>
        </p:nvSpPr>
        <p:spPr>
          <a:xfrm>
            <a:off x="670560" y="539496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DERIVED_ADMISSION</a:t>
            </a:r>
          </a:p>
        </p:txBody>
      </p:sp>
      <p:sp>
        <p:nvSpPr>
          <p:cNvPr id="34" name="TextBox 33"/>
          <p:cNvSpPr txBox="1"/>
          <p:nvPr/>
        </p:nvSpPr>
        <p:spPr>
          <a:xfrm>
            <a:off x="3566160" y="539496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35" name="TextBox 34"/>
          <p:cNvSpPr txBox="1"/>
          <p:nvPr/>
        </p:nvSpPr>
        <p:spPr>
          <a:xfrm>
            <a:off x="4975860" y="539496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Historical premises; lineage; no fresh evidence</a:t>
            </a:r>
          </a:p>
        </p:txBody>
      </p:sp>
      <p:sp>
        <p:nvSpPr>
          <p:cNvPr id="36" name="Rounded Rectangle 35"/>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7" name="TextBox 36"/>
          <p:cNvSpPr txBox="1"/>
          <p:nvPr/>
        </p:nvSpPr>
        <p:spPr>
          <a:xfrm>
            <a:off x="716280" y="5905500"/>
            <a:ext cx="10744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Fixture, real-provider, blocked and unrun results retain separate meanings.</a:t>
            </a:r>
          </a:p>
        </p:txBody>
      </p:sp>
      <p:cxnSp>
        <p:nvCxnSpPr>
          <p:cNvPr id="38" name="Connector 37"/>
          <p:cNvCxnSpPr/>
          <p:nvPr/>
        </p:nvCxnSpPr>
        <p:spPr>
          <a:xfrm>
            <a:off x="548640" y="6393180"/>
            <a:ext cx="11094720" cy="0"/>
          </a:xfrm>
          <a:prstGeom prst="line">
            <a:avLst/>
          </a:prstGeom>
          <a:ln w="7620">
            <a:solidFill>
              <a:srgbClr val="C9D2D4"/>
            </a:solidFill>
          </a:ln>
          <a:effectLst/>
        </p:spPr>
      </p:cxnSp>
      <p:sp>
        <p:nvSpPr>
          <p:cNvPr id="39" name="TextBox 3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m3/manifest.json</a:t>
            </a:r>
          </a:p>
        </p:txBody>
      </p:sp>
      <p:sp>
        <p:nvSpPr>
          <p:cNvPr id="40" name="TextBox 3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GATE-BY-GATE RESULTS · 2 OF 2</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M3 gates: bounded operation and real integration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 13 required gates passed for the supported local scope; no blocked M3 prerequisites.</a:t>
            </a:r>
          </a:p>
        </p:txBody>
      </p:sp>
      <p:sp>
        <p:nvSpPr>
          <p:cNvPr id="5" name="TextBox 4"/>
          <p:cNvSpPr txBox="1"/>
          <p:nvPr/>
        </p:nvSpPr>
        <p:spPr>
          <a:xfrm>
            <a:off x="670560" y="1790700"/>
            <a:ext cx="2651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GATE</a:t>
            </a:r>
          </a:p>
        </p:txBody>
      </p:sp>
      <p:sp>
        <p:nvSpPr>
          <p:cNvPr id="6" name="TextBox 5"/>
          <p:cNvSpPr txBox="1"/>
          <p:nvPr/>
        </p:nvSpPr>
        <p:spPr>
          <a:xfrm>
            <a:off x="3566160" y="1790700"/>
            <a:ext cx="11658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RESULT</a:t>
            </a:r>
          </a:p>
        </p:txBody>
      </p:sp>
      <p:sp>
        <p:nvSpPr>
          <p:cNvPr id="7" name="TextBox 6"/>
          <p:cNvSpPr txBox="1"/>
          <p:nvPr/>
        </p:nvSpPr>
        <p:spPr>
          <a:xfrm>
            <a:off x="4975860" y="1790700"/>
            <a:ext cx="65455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RECORDED EVIDENCE</a:t>
            </a:r>
          </a:p>
        </p:txBody>
      </p:sp>
      <p:sp>
        <p:nvSpPr>
          <p:cNvPr id="8" name="Rounded Rectangle 7"/>
          <p:cNvSpPr/>
          <p:nvPr/>
        </p:nvSpPr>
        <p:spPr>
          <a:xfrm>
            <a:off x="548640" y="2110740"/>
            <a:ext cx="11094720" cy="487680"/>
          </a:xfrm>
          <a:prstGeom prst="roundRect">
            <a:avLst>
              <a:gd name="adj" fmla="val 9375"/>
            </a:avLst>
          </a:prstGeom>
          <a:solidFill>
            <a:srgbClr val="FFFFFF"/>
          </a:solidFill>
          <a:ln>
            <a:noFill/>
          </a:ln>
          <a:effectLst/>
        </p:spPr>
        <p:txBody>
          <a:bodyPr rtlCol="0" anchor="ctr"/>
          <a:lstStyle/>
          <a:p>
            <a:pPr algn="ctr"/>
          </a:p>
        </p:txBody>
      </p:sp>
      <p:sp>
        <p:nvSpPr>
          <p:cNvPr id="9" name="TextBox 8"/>
          <p:cNvSpPr txBox="1"/>
          <p:nvPr/>
        </p:nvSpPr>
        <p:spPr>
          <a:xfrm>
            <a:off x="670560" y="224028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C4_BOUNDED</a:t>
            </a:r>
          </a:p>
        </p:txBody>
      </p:sp>
      <p:sp>
        <p:nvSpPr>
          <p:cNvPr id="10" name="TextBox 9"/>
          <p:cNvSpPr txBox="1"/>
          <p:nvPr/>
        </p:nvSpPr>
        <p:spPr>
          <a:xfrm>
            <a:off x="3566160" y="224028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1" name="TextBox 10"/>
          <p:cNvSpPr txBox="1"/>
          <p:nvPr/>
        </p:nvSpPr>
        <p:spPr>
          <a:xfrm>
            <a:off x="4975860" y="224028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Persistent attempts, candidates, deadline and generation</a:t>
            </a:r>
          </a:p>
        </p:txBody>
      </p:sp>
      <p:sp>
        <p:nvSpPr>
          <p:cNvPr id="12" name="Rounded Rectangle 11"/>
          <p:cNvSpPr/>
          <p:nvPr/>
        </p:nvSpPr>
        <p:spPr>
          <a:xfrm>
            <a:off x="548640" y="2636520"/>
            <a:ext cx="11094720" cy="487680"/>
          </a:xfrm>
          <a:prstGeom prst="roundRect">
            <a:avLst>
              <a:gd name="adj" fmla="val 9375"/>
            </a:avLst>
          </a:prstGeom>
          <a:solidFill>
            <a:srgbClr val="FFFFFF"/>
          </a:solidFill>
          <a:ln>
            <a:noFill/>
          </a:ln>
          <a:effectLst/>
        </p:spPr>
        <p:txBody>
          <a:bodyPr rtlCol="0" anchor="ctr"/>
          <a:lstStyle/>
          <a:p>
            <a:pPr algn="ctr"/>
          </a:p>
        </p:txBody>
      </p:sp>
      <p:sp>
        <p:nvSpPr>
          <p:cNvPr id="13" name="TextBox 12"/>
          <p:cNvSpPr txBox="1"/>
          <p:nvPr/>
        </p:nvSpPr>
        <p:spPr>
          <a:xfrm>
            <a:off x="670560" y="276606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RECOVERY</a:t>
            </a:r>
          </a:p>
        </p:txBody>
      </p:sp>
      <p:sp>
        <p:nvSpPr>
          <p:cNvPr id="14" name="TextBox 13"/>
          <p:cNvSpPr txBox="1"/>
          <p:nvPr/>
        </p:nvSpPr>
        <p:spPr>
          <a:xfrm>
            <a:off x="3566160" y="276606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5" name="TextBox 14"/>
          <p:cNvSpPr txBox="1"/>
          <p:nvPr/>
        </p:nvSpPr>
        <p:spPr>
          <a:xfrm>
            <a:off x="4975860" y="276606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10 direct + 5 native Hive SIGKILL cases</a:t>
            </a:r>
          </a:p>
        </p:txBody>
      </p:sp>
      <p:sp>
        <p:nvSpPr>
          <p:cNvPr id="16" name="Rounded Rectangle 15"/>
          <p:cNvSpPr/>
          <p:nvPr/>
        </p:nvSpPr>
        <p:spPr>
          <a:xfrm>
            <a:off x="548640" y="3162300"/>
            <a:ext cx="11094720" cy="487680"/>
          </a:xfrm>
          <a:prstGeom prst="roundRect">
            <a:avLst>
              <a:gd name="adj" fmla="val 9375"/>
            </a:avLst>
          </a:prstGeom>
          <a:solidFill>
            <a:srgbClr val="FFFFFF"/>
          </a:solidFill>
          <a:ln>
            <a:noFill/>
          </a:ln>
          <a:effectLst/>
        </p:spPr>
        <p:txBody>
          <a:bodyPr rtlCol="0" anchor="ctr"/>
          <a:lstStyle/>
          <a:p>
            <a:pPr algn="ctr"/>
          </a:p>
        </p:txBody>
      </p:sp>
      <p:sp>
        <p:nvSpPr>
          <p:cNvPr id="17" name="TextBox 16"/>
          <p:cNvSpPr txBox="1"/>
          <p:nvPr/>
        </p:nvSpPr>
        <p:spPr>
          <a:xfrm>
            <a:off x="670560" y="329184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PRIVACY</a:t>
            </a:r>
          </a:p>
        </p:txBody>
      </p:sp>
      <p:sp>
        <p:nvSpPr>
          <p:cNvPr id="18" name="TextBox 17"/>
          <p:cNvSpPr txBox="1"/>
          <p:nvPr/>
        </p:nvSpPr>
        <p:spPr>
          <a:xfrm>
            <a:off x="3566160" y="329184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9" name="TextBox 18"/>
          <p:cNvSpPr txBox="1"/>
          <p:nvPr/>
        </p:nvSpPr>
        <p:spPr>
          <a:xfrm>
            <a:off x="4975860" y="329184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Private canaries absent from tested public surfaces</a:t>
            </a:r>
          </a:p>
        </p:txBody>
      </p:sp>
      <p:sp>
        <p:nvSpPr>
          <p:cNvPr id="20" name="Rounded Rectangle 19"/>
          <p:cNvSpPr/>
          <p:nvPr/>
        </p:nvSpPr>
        <p:spPr>
          <a:xfrm>
            <a:off x="548640" y="3688079"/>
            <a:ext cx="11094720" cy="487680"/>
          </a:xfrm>
          <a:prstGeom prst="roundRect">
            <a:avLst>
              <a:gd name="adj" fmla="val 9375"/>
            </a:avLst>
          </a:prstGeom>
          <a:solidFill>
            <a:srgbClr val="FFFFFF"/>
          </a:solidFill>
          <a:ln>
            <a:noFill/>
          </a:ln>
          <a:effectLst/>
        </p:spPr>
        <p:txBody>
          <a:bodyPr rtlCol="0" anchor="ctr"/>
          <a:lstStyle/>
          <a:p>
            <a:pPr algn="ctr"/>
          </a:p>
        </p:txBody>
      </p:sp>
      <p:sp>
        <p:nvSpPr>
          <p:cNvPr id="21" name="TextBox 20"/>
          <p:cNvSpPr txBox="1"/>
          <p:nvPr/>
        </p:nvSpPr>
        <p:spPr>
          <a:xfrm>
            <a:off x="670560" y="3817619"/>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HIVE_M3</a:t>
            </a:r>
          </a:p>
        </p:txBody>
      </p:sp>
      <p:sp>
        <p:nvSpPr>
          <p:cNvPr id="22" name="TextBox 21"/>
          <p:cNvSpPr txBox="1"/>
          <p:nvPr/>
        </p:nvSpPr>
        <p:spPr>
          <a:xfrm>
            <a:off x="3566160" y="3817619"/>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23" name="TextBox 22"/>
          <p:cNvSpPr txBox="1"/>
          <p:nvPr/>
        </p:nvSpPr>
        <p:spPr>
          <a:xfrm>
            <a:off x="4975860" y="3817619"/>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Eight actual authenticated native integration cases</a:t>
            </a:r>
          </a:p>
        </p:txBody>
      </p:sp>
      <p:sp>
        <p:nvSpPr>
          <p:cNvPr id="24" name="Rounded Rectangle 23"/>
          <p:cNvSpPr/>
          <p:nvPr/>
        </p:nvSpPr>
        <p:spPr>
          <a:xfrm>
            <a:off x="548640" y="4213860"/>
            <a:ext cx="11094720" cy="487680"/>
          </a:xfrm>
          <a:prstGeom prst="roundRect">
            <a:avLst>
              <a:gd name="adj" fmla="val 9375"/>
            </a:avLst>
          </a:prstGeom>
          <a:solidFill>
            <a:srgbClr val="FFFFFF"/>
          </a:solidFill>
          <a:ln>
            <a:noFill/>
          </a:ln>
          <a:effectLst/>
        </p:spPr>
        <p:txBody>
          <a:bodyPr rtlCol="0" anchor="ctr"/>
          <a:lstStyle/>
          <a:p>
            <a:pPr algn="ctr"/>
          </a:p>
        </p:txBody>
      </p:sp>
      <p:sp>
        <p:nvSpPr>
          <p:cNvPr id="25" name="TextBox 24"/>
          <p:cNvSpPr txBox="1"/>
          <p:nvPr/>
        </p:nvSpPr>
        <p:spPr>
          <a:xfrm>
            <a:off x="670560" y="434340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REPRO</a:t>
            </a:r>
          </a:p>
        </p:txBody>
      </p:sp>
      <p:sp>
        <p:nvSpPr>
          <p:cNvPr id="26" name="TextBox 25"/>
          <p:cNvSpPr txBox="1"/>
          <p:nvPr/>
        </p:nvSpPr>
        <p:spPr>
          <a:xfrm>
            <a:off x="3566160" y="434340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27" name="TextBox 26"/>
          <p:cNvSpPr txBox="1"/>
          <p:nvPr/>
        </p:nvSpPr>
        <p:spPr>
          <a:xfrm>
            <a:off x="4975860" y="434340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Fresh native objects / venv / DeTTa target</a:t>
            </a:r>
          </a:p>
        </p:txBody>
      </p:sp>
      <p:sp>
        <p:nvSpPr>
          <p:cNvPr id="28" name="Rounded Rectangle 27"/>
          <p:cNvSpPr/>
          <p:nvPr/>
        </p:nvSpPr>
        <p:spPr>
          <a:xfrm>
            <a:off x="548640" y="4739640"/>
            <a:ext cx="11094720" cy="487680"/>
          </a:xfrm>
          <a:prstGeom prst="roundRect">
            <a:avLst>
              <a:gd name="adj" fmla="val 9375"/>
            </a:avLst>
          </a:prstGeom>
          <a:solidFill>
            <a:srgbClr val="FFFFFF"/>
          </a:solidFill>
          <a:ln>
            <a:noFill/>
          </a:ln>
          <a:effectLst/>
        </p:spPr>
        <p:txBody>
          <a:bodyPr rtlCol="0" anchor="ctr"/>
          <a:lstStyle/>
          <a:p>
            <a:pPr algn="ctr"/>
          </a:p>
        </p:txBody>
      </p:sp>
      <p:sp>
        <p:nvSpPr>
          <p:cNvPr id="29" name="TextBox 28"/>
          <p:cNvSpPr txBox="1"/>
          <p:nvPr/>
        </p:nvSpPr>
        <p:spPr>
          <a:xfrm>
            <a:off x="670560" y="486918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SCOPE</a:t>
            </a:r>
          </a:p>
        </p:txBody>
      </p:sp>
      <p:sp>
        <p:nvSpPr>
          <p:cNvPr id="30" name="TextBox 29"/>
          <p:cNvSpPr txBox="1"/>
          <p:nvPr/>
        </p:nvSpPr>
        <p:spPr>
          <a:xfrm>
            <a:off x="3566160" y="486918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31" name="TextBox 30"/>
          <p:cNvSpPr txBox="1"/>
          <p:nvPr/>
        </p:nvSpPr>
        <p:spPr>
          <a:xfrm>
            <a:off x="4975860" y="486918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C3/C4 + required admission extension; one rule</a:t>
            </a:r>
          </a:p>
        </p:txBody>
      </p:sp>
      <p:sp>
        <p:nvSpPr>
          <p:cNvPr id="32" name="Rounded Rectangle 31"/>
          <p:cNvSpPr/>
          <p:nvPr/>
        </p:nvSpPr>
        <p:spPr>
          <a:xfrm>
            <a:off x="548640" y="5265420"/>
            <a:ext cx="11094720" cy="487680"/>
          </a:xfrm>
          <a:prstGeom prst="roundRect">
            <a:avLst>
              <a:gd name="adj" fmla="val 9375"/>
            </a:avLst>
          </a:prstGeom>
          <a:solidFill>
            <a:srgbClr val="FFFFFF"/>
          </a:solidFill>
          <a:ln>
            <a:noFill/>
          </a:ln>
          <a:effectLst/>
        </p:spPr>
        <p:txBody>
          <a:bodyPr rtlCol="0" anchor="ctr"/>
          <a:lstStyle/>
          <a:p>
            <a:pPr algn="ctr"/>
          </a:p>
        </p:txBody>
      </p:sp>
      <p:sp>
        <p:nvSpPr>
          <p:cNvPr id="33" name="TextBox 32"/>
          <p:cNvSpPr txBox="1"/>
          <p:nvPr/>
        </p:nvSpPr>
        <p:spPr>
          <a:xfrm>
            <a:off x="670560" y="539496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CHAIN</a:t>
            </a:r>
          </a:p>
        </p:txBody>
      </p:sp>
      <p:sp>
        <p:nvSpPr>
          <p:cNvPr id="34" name="TextBox 33"/>
          <p:cNvSpPr txBox="1"/>
          <p:nvPr/>
        </p:nvSpPr>
        <p:spPr>
          <a:xfrm>
            <a:off x="3566160" y="539496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NOT_RUN</a:t>
            </a:r>
          </a:p>
        </p:txBody>
      </p:sp>
      <p:sp>
        <p:nvSpPr>
          <p:cNvPr id="35" name="TextBox 34"/>
          <p:cNvSpPr txBox="1"/>
          <p:nvPr/>
        </p:nvSpPr>
        <p:spPr>
          <a:xfrm>
            <a:off x="4975860" y="539496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Excluded; no chain action or deployment</a:t>
            </a:r>
          </a:p>
        </p:txBody>
      </p:sp>
      <p:sp>
        <p:nvSpPr>
          <p:cNvPr id="36" name="Rounded Rectangle 35"/>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7" name="TextBox 36"/>
          <p:cNvSpPr txBox="1"/>
          <p:nvPr/>
        </p:nvSpPr>
        <p:spPr>
          <a:xfrm>
            <a:off x="716280" y="5905500"/>
            <a:ext cx="10744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Fixture, real-provider, blocked and unrun results retain separate meanings.</a:t>
            </a:r>
          </a:p>
        </p:txBody>
      </p:sp>
      <p:cxnSp>
        <p:nvCxnSpPr>
          <p:cNvPr id="38" name="Connector 37"/>
          <p:cNvCxnSpPr/>
          <p:nvPr/>
        </p:nvCxnSpPr>
        <p:spPr>
          <a:xfrm>
            <a:off x="548640" y="6393180"/>
            <a:ext cx="11094720" cy="0"/>
          </a:xfrm>
          <a:prstGeom prst="line">
            <a:avLst/>
          </a:prstGeom>
          <a:ln w="7620">
            <a:solidFill>
              <a:srgbClr val="C9D2D4"/>
            </a:solidFill>
          </a:ln>
          <a:effectLst/>
        </p:spPr>
      </p:cxnSp>
      <p:sp>
        <p:nvSpPr>
          <p:cNvPr id="39" name="TextBox 3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m3/manifest.json</a:t>
            </a:r>
          </a:p>
        </p:txBody>
      </p:sp>
      <p:sp>
        <p:nvSpPr>
          <p:cNvPr id="40" name="TextBox 3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SOURCE AND EXECUTION LEDGER</a:t>
            </a:r>
          </a:p>
        </p:txBody>
      </p:sp>
      <p:sp>
        <p:nvSpPr>
          <p:cNvPr id="3" name="TextBox 2"/>
          <p:cNvSpPr txBox="1"/>
          <p:nvPr/>
        </p:nvSpPr>
        <p:spPr>
          <a:xfrm>
            <a:off x="533400" y="723900"/>
            <a:ext cx="11125200" cy="419404"/>
          </a:xfrm>
          <a:prstGeom prst="rect">
            <a:avLst/>
          </a:prstGeom>
          <a:noFill/>
        </p:spPr>
        <p:txBody>
          <a:bodyPr wrap="none" lIns="0" rIns="0" tIns="0" bIns="0" anchor="t" anchorCtr="0">
            <a:noAutofit/>
          </a:bodyPr>
          <a:lstStyle/>
          <a:p>
            <a:pPr algn="l">
              <a:lnSpc>
                <a:spcPct val="100000"/>
              </a:lnSpc>
              <a:spcBef>
                <a:spcPts val="0"/>
              </a:spcBef>
              <a:spcAft>
                <a:spcPts val="0"/>
              </a:spcAft>
            </a:pPr>
            <a:r>
              <a:rPr sz="2580" b="1">
                <a:solidFill>
                  <a:srgbClr val="102B3F"/>
                </a:solidFill>
                <a:latin typeface="DejaVu Sans"/>
              </a:rPr>
              <a:t>Reproducibility connects source, build and observed result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Exact implementation and provider identities make the evidence inspectable.</a:t>
            </a:r>
          </a:p>
        </p:txBody>
      </p:sp>
      <p:sp>
        <p:nvSpPr>
          <p:cNvPr id="5" name="TextBox 4"/>
          <p:cNvSpPr txBox="1"/>
          <p:nvPr/>
        </p:nvSpPr>
        <p:spPr>
          <a:xfrm>
            <a:off x="670560" y="1790700"/>
            <a:ext cx="2423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LAYER</a:t>
            </a:r>
          </a:p>
        </p:txBody>
      </p:sp>
      <p:sp>
        <p:nvSpPr>
          <p:cNvPr id="6" name="TextBox 5"/>
          <p:cNvSpPr txBox="1"/>
          <p:nvPr/>
        </p:nvSpPr>
        <p:spPr>
          <a:xfrm>
            <a:off x="3337560" y="1790700"/>
            <a:ext cx="3718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RECORDED STATE</a:t>
            </a:r>
          </a:p>
        </p:txBody>
      </p:sp>
      <p:sp>
        <p:nvSpPr>
          <p:cNvPr id="7" name="TextBox 6"/>
          <p:cNvSpPr txBox="1"/>
          <p:nvPr/>
        </p:nvSpPr>
        <p:spPr>
          <a:xfrm>
            <a:off x="7299959" y="1790700"/>
            <a:ext cx="42214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BOUNDARY</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Requested / actual</a:t>
            </a:r>
          </a:p>
        </p:txBody>
      </p:sp>
      <p:sp>
        <p:nvSpPr>
          <p:cNvPr id="10" name="TextBox 9"/>
          <p:cNvSpPr txBox="1"/>
          <p:nvPr/>
        </p:nvSpPr>
        <p:spPr>
          <a:xfrm>
            <a:off x="670560" y="2474366"/>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start</a:t>
            </a:r>
          </a:p>
        </p:txBody>
      </p:sp>
      <p:sp>
        <p:nvSpPr>
          <p:cNvPr id="11" name="TextBox 10"/>
          <p:cNvSpPr txBox="1"/>
          <p:nvPr/>
        </p:nvSpPr>
        <p:spPr>
          <a:xfrm>
            <a:off x="3337560" y="2240280"/>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f0cee24 → 926882a</a:t>
            </a:r>
          </a:p>
        </p:txBody>
      </p:sp>
      <p:sp>
        <p:nvSpPr>
          <p:cNvPr id="12" name="TextBox 11"/>
          <p:cNvSpPr txBox="1"/>
          <p:nvPr/>
        </p:nvSpPr>
        <p:spPr>
          <a:xfrm>
            <a:off x="7299959" y="2240280"/>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Only presentation/docs and M3 brief</a:t>
            </a:r>
          </a:p>
        </p:txBody>
      </p:sp>
      <p:sp>
        <p:nvSpPr>
          <p:cNvPr id="13" name="TextBox 12"/>
          <p:cNvSpPr txBox="1"/>
          <p:nvPr/>
        </p:nvSpPr>
        <p:spPr>
          <a:xfrm>
            <a:off x="7299959" y="2474366"/>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intervened</a:t>
            </a:r>
          </a:p>
        </p:txBody>
      </p:sp>
      <p:sp>
        <p:nvSpPr>
          <p:cNvPr id="14" name="Rounded Rectangle 13"/>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5" name="TextBox 14"/>
          <p:cNvSpPr txBox="1"/>
          <p:nvPr/>
        </p:nvSpPr>
        <p:spPr>
          <a:xfrm>
            <a:off x="670560" y="293370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Clean tested</a:t>
            </a:r>
          </a:p>
        </p:txBody>
      </p:sp>
      <p:sp>
        <p:nvSpPr>
          <p:cNvPr id="16" name="TextBox 15"/>
          <p:cNvSpPr txBox="1"/>
          <p:nvPr/>
        </p:nvSpPr>
        <p:spPr>
          <a:xfrm>
            <a:off x="670560" y="3167786"/>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implementation</a:t>
            </a:r>
          </a:p>
        </p:txBody>
      </p:sp>
      <p:sp>
        <p:nvSpPr>
          <p:cNvPr id="17" name="TextBox 16"/>
          <p:cNvSpPr txBox="1"/>
          <p:nvPr/>
        </p:nvSpPr>
        <p:spPr>
          <a:xfrm>
            <a:off x="3337560" y="2933700"/>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1af39794649d</a:t>
            </a:r>
          </a:p>
        </p:txBody>
      </p:sp>
      <p:sp>
        <p:nvSpPr>
          <p:cNvPr id="18" name="TextBox 17"/>
          <p:cNvSpPr txBox="1"/>
          <p:nvPr/>
        </p:nvSpPr>
        <p:spPr>
          <a:xfrm>
            <a:off x="7299959" y="2933700"/>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Separate detached checkout; final verifier</a:t>
            </a:r>
          </a:p>
        </p:txBody>
      </p:sp>
      <p:sp>
        <p:nvSpPr>
          <p:cNvPr id="19" name="TextBox 18"/>
          <p:cNvSpPr txBox="1"/>
          <p:nvPr/>
        </p:nvSpPr>
        <p:spPr>
          <a:xfrm>
            <a:off x="7299959" y="3167786"/>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exit 0</a:t>
            </a:r>
          </a:p>
        </p:txBody>
      </p:sp>
      <p:sp>
        <p:nvSpPr>
          <p:cNvPr id="20" name="Rounded Rectangle 19"/>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21" name="TextBox 20"/>
          <p:cNvSpPr txBox="1"/>
          <p:nvPr/>
        </p:nvSpPr>
        <p:spPr>
          <a:xfrm>
            <a:off x="670560" y="3627119"/>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Evidence snapshot</a:t>
            </a:r>
          </a:p>
        </p:txBody>
      </p:sp>
      <p:sp>
        <p:nvSpPr>
          <p:cNvPr id="22" name="TextBox 21"/>
          <p:cNvSpPr txBox="1"/>
          <p:nvPr/>
        </p:nvSpPr>
        <p:spPr>
          <a:xfrm>
            <a:off x="3337560" y="3627119"/>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c4498ce3047f</a:t>
            </a:r>
          </a:p>
        </p:txBody>
      </p:sp>
      <p:sp>
        <p:nvSpPr>
          <p:cNvPr id="23" name="TextBox 22"/>
          <p:cNvSpPr txBox="1"/>
          <p:nvPr/>
        </p:nvSpPr>
        <p:spPr>
          <a:xfrm>
            <a:off x="7299959" y="3627119"/>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implementation/test changes after</a:t>
            </a:r>
          </a:p>
        </p:txBody>
      </p:sp>
      <p:sp>
        <p:nvSpPr>
          <p:cNvPr id="24" name="TextBox 23"/>
          <p:cNvSpPr txBox="1"/>
          <p:nvPr/>
        </p:nvSpPr>
        <p:spPr>
          <a:xfrm>
            <a:off x="7299959" y="3861206"/>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verified SHA</a:t>
            </a:r>
          </a:p>
        </p:txBody>
      </p:sp>
      <p:sp>
        <p:nvSpPr>
          <p:cNvPr id="25" name="Rounded Rectangle 24"/>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6" name="TextBox 25"/>
          <p:cNvSpPr txBox="1"/>
          <p:nvPr/>
        </p:nvSpPr>
        <p:spPr>
          <a:xfrm>
            <a:off x="670560" y="432054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Fresh provider build</a:t>
            </a:r>
          </a:p>
        </p:txBody>
      </p:sp>
      <p:sp>
        <p:nvSpPr>
          <p:cNvPr id="27" name="TextBox 26"/>
          <p:cNvSpPr txBox="1"/>
          <p:nvPr/>
        </p:nvSpPr>
        <p:spPr>
          <a:xfrm>
            <a:off x="3337560" y="4320540"/>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354.696 seconds</a:t>
            </a:r>
          </a:p>
        </p:txBody>
      </p:sp>
      <p:sp>
        <p:nvSpPr>
          <p:cNvPr id="28" name="TextBox 27"/>
          <p:cNvSpPr txBox="1"/>
          <p:nvPr/>
        </p:nvSpPr>
        <p:spPr>
          <a:xfrm>
            <a:off x="7299959" y="4320540"/>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New native objects, venv and DeTTa target</a:t>
            </a:r>
          </a:p>
        </p:txBody>
      </p:sp>
      <p:sp>
        <p:nvSpPr>
          <p:cNvPr id="29" name="Rounded Rectangle 28"/>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30" name="TextBox 29"/>
          <p:cNvSpPr txBox="1"/>
          <p:nvPr/>
        </p:nvSpPr>
        <p:spPr>
          <a:xfrm>
            <a:off x="670560" y="501396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Pinned runtime</a:t>
            </a:r>
          </a:p>
        </p:txBody>
      </p:sp>
      <p:sp>
        <p:nvSpPr>
          <p:cNvPr id="31" name="TextBox 30"/>
          <p:cNvSpPr txBox="1"/>
          <p:nvPr/>
        </p:nvSpPr>
        <p:spPr>
          <a:xfrm>
            <a:off x="3337560" y="5013960"/>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SWI 10.1.14 · Python 3.12.12 · Janus</a:t>
            </a:r>
          </a:p>
        </p:txBody>
      </p:sp>
      <p:sp>
        <p:nvSpPr>
          <p:cNvPr id="32" name="TextBox 31"/>
          <p:cNvSpPr txBox="1"/>
          <p:nvPr/>
        </p:nvSpPr>
        <p:spPr>
          <a:xfrm>
            <a:off x="3337560" y="5248046"/>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1.5.3</a:t>
            </a:r>
          </a:p>
        </p:txBody>
      </p:sp>
      <p:sp>
        <p:nvSpPr>
          <p:cNvPr id="33" name="TextBox 32"/>
          <p:cNvSpPr txBox="1"/>
          <p:nvPr/>
        </p:nvSpPr>
        <p:spPr>
          <a:xfrm>
            <a:off x="7299959" y="5013960"/>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Dedicated deduction profile; no upstream</a:t>
            </a:r>
          </a:p>
        </p:txBody>
      </p:sp>
      <p:sp>
        <p:nvSpPr>
          <p:cNvPr id="34" name="TextBox 33"/>
          <p:cNvSpPr txBox="1"/>
          <p:nvPr/>
        </p:nvSpPr>
        <p:spPr>
          <a:xfrm>
            <a:off x="7299959" y="5248046"/>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patches</a:t>
            </a:r>
          </a:p>
        </p:txBody>
      </p:sp>
      <p:sp>
        <p:nvSpPr>
          <p:cNvPr id="35" name="Rounded Rectangle 34"/>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6" name="TextBox 35"/>
          <p:cNvSpPr txBox="1"/>
          <p:nvPr/>
        </p:nvSpPr>
        <p:spPr>
          <a:xfrm>
            <a:off x="716280" y="5905500"/>
            <a:ext cx="107442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Warm download caches are explicit. The fresh binary digest identifies this build, not cross-host bit reproducibility.</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m3/build.json · manifest.json · final/verification.json</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GUARANTEES AND STOPPING POINT</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The limitations are part of the contract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Durable local progress is useful even when the receipt correctly reports unfinished work.</a:t>
            </a:r>
          </a:p>
        </p:txBody>
      </p:sp>
      <p:sp>
        <p:nvSpPr>
          <p:cNvPr id="5" name="Rounded Rectangle 4"/>
          <p:cNvSpPr/>
          <p:nvPr/>
        </p:nvSpPr>
        <p:spPr>
          <a:xfrm>
            <a:off x="548640" y="1905000"/>
            <a:ext cx="5364480" cy="1668780"/>
          </a:xfrm>
          <a:prstGeom prst="roundRect">
            <a:avLst>
              <a:gd name="adj" fmla="val 5936"/>
            </a:avLst>
          </a:prstGeom>
          <a:solidFill>
            <a:srgbClr val="F3E7CE"/>
          </a:solidFill>
          <a:ln w="7620">
            <a:solidFill>
              <a:srgbClr val="A86A15"/>
            </a:solidFill>
          </a:ln>
          <a:effectLst/>
        </p:spPr>
        <p:txBody>
          <a:bodyPr rtlCol="0" anchor="ctr"/>
          <a:lstStyle/>
          <a:p>
            <a:pPr algn="ctr"/>
          </a:p>
        </p:txBody>
      </p:sp>
      <p:sp>
        <p:nvSpPr>
          <p:cNvPr id="6" name="TextBox 5"/>
          <p:cNvSpPr txBox="1"/>
          <p:nvPr/>
        </p:nvSpPr>
        <p:spPr>
          <a:xfrm>
            <a:off x="716280" y="2072639"/>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Conservative crash budget</a:t>
            </a:r>
          </a:p>
        </p:txBody>
      </p:sp>
      <p:sp>
        <p:nvSpPr>
          <p:cNvPr id="7" name="TextBox 6"/>
          <p:cNvSpPr txBox="1"/>
          <p:nvPr/>
        </p:nvSpPr>
        <p:spPr>
          <a:xfrm>
            <a:off x="716280" y="24512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 lost pending attempt consumes its slot. A</a:t>
            </a:r>
          </a:p>
        </p:txBody>
      </p:sp>
      <p:sp>
        <p:nvSpPr>
          <p:cNvPr id="8" name="TextBox 7"/>
          <p:cNvSpPr txBox="1"/>
          <p:nvPr/>
        </p:nvSpPr>
        <p:spPr>
          <a:xfrm>
            <a:off x="716280" y="27243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completed bounded step need not have a</a:t>
            </a:r>
          </a:p>
        </p:txBody>
      </p:sp>
      <p:sp>
        <p:nvSpPr>
          <p:cNvPr id="9" name="TextBox 8"/>
          <p:cNvSpPr txBox="1"/>
          <p:nvPr/>
        </p:nvSpPr>
        <p:spPr>
          <a:xfrm>
            <a:off x="716280" y="29974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conclusion.</a:t>
            </a:r>
          </a:p>
        </p:txBody>
      </p:sp>
      <p:sp>
        <p:nvSpPr>
          <p:cNvPr id="10" name="Rounded Rectangle 9"/>
          <p:cNvSpPr/>
          <p:nvPr/>
        </p:nvSpPr>
        <p:spPr>
          <a:xfrm>
            <a:off x="6278880" y="1905000"/>
            <a:ext cx="5364480" cy="1668780"/>
          </a:xfrm>
          <a:prstGeom prst="roundRect">
            <a:avLst>
              <a:gd name="adj" fmla="val 5936"/>
            </a:avLst>
          </a:prstGeom>
          <a:solidFill>
            <a:srgbClr val="F3E7CE"/>
          </a:solidFill>
          <a:ln w="7620">
            <a:solidFill>
              <a:srgbClr val="A86A15"/>
            </a:solidFill>
          </a:ln>
          <a:effectLst/>
        </p:spPr>
        <p:txBody>
          <a:bodyPr rtlCol="0" anchor="ctr"/>
          <a:lstStyle/>
          <a:p>
            <a:pPr algn="ctr"/>
          </a:p>
        </p:txBody>
      </p:sp>
      <p:sp>
        <p:nvSpPr>
          <p:cNvPr id="11" name="TextBox 10"/>
          <p:cNvSpPr txBox="1"/>
          <p:nvPr/>
        </p:nvSpPr>
        <p:spPr>
          <a:xfrm>
            <a:off x="6446520" y="2072639"/>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Pending feedback</a:t>
            </a:r>
          </a:p>
        </p:txBody>
      </p:sp>
      <p:sp>
        <p:nvSpPr>
          <p:cNvPr id="12" name="TextBox 11"/>
          <p:cNvSpPr txBox="1"/>
          <p:nvPr/>
        </p:nvSpPr>
        <p:spPr>
          <a:xfrm>
            <a:off x="6446520" y="24512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Concurrent clock advance can leave</a:t>
            </a:r>
          </a:p>
        </p:txBody>
      </p:sp>
      <p:sp>
        <p:nvSpPr>
          <p:cNvPr id="13" name="TextBox 12"/>
          <p:cNvSpPr txBox="1"/>
          <p:nvPr/>
        </p:nvSpPr>
        <p:spPr>
          <a:xfrm>
            <a:off x="6446520" y="27243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CONFLICT. Deadline expiry can leave work</a:t>
            </a:r>
          </a:p>
        </p:txBody>
      </p:sp>
      <p:sp>
        <p:nvSpPr>
          <p:cNvPr id="14" name="TextBox 13"/>
          <p:cNvSpPr txBox="1"/>
          <p:nvPr/>
        </p:nvSpPr>
        <p:spPr>
          <a:xfrm>
            <a:off x="6446520" y="29974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unacknowledged.</a:t>
            </a:r>
          </a:p>
        </p:txBody>
      </p:sp>
      <p:sp>
        <p:nvSpPr>
          <p:cNvPr id="15" name="Rounded Rectangle 14"/>
          <p:cNvSpPr/>
          <p:nvPr/>
        </p:nvSpPr>
        <p:spPr>
          <a:xfrm>
            <a:off x="548640" y="3848100"/>
            <a:ext cx="5364480" cy="1668780"/>
          </a:xfrm>
          <a:prstGeom prst="roundRect">
            <a:avLst>
              <a:gd name="adj" fmla="val 5936"/>
            </a:avLst>
          </a:prstGeom>
          <a:solidFill>
            <a:srgbClr val="E4EBF5"/>
          </a:solidFill>
          <a:ln w="7620">
            <a:solidFill>
              <a:srgbClr val="315E9C"/>
            </a:solidFill>
          </a:ln>
          <a:effectLst/>
        </p:spPr>
        <p:txBody>
          <a:bodyPr rtlCol="0" anchor="ctr"/>
          <a:lstStyle/>
          <a:p>
            <a:pPr algn="ctr"/>
          </a:p>
        </p:txBody>
      </p:sp>
      <p:sp>
        <p:nvSpPr>
          <p:cNvPr id="16" name="TextBox 15"/>
          <p:cNvSpPr txBox="1"/>
          <p:nvPr/>
        </p:nvSpPr>
        <p:spPr>
          <a:xfrm>
            <a:off x="716280" y="4015740"/>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Explicit C1/C2 compatibility</a:t>
            </a:r>
          </a:p>
        </p:txBody>
      </p:sp>
      <p:sp>
        <p:nvSpPr>
          <p:cNvPr id="17" name="TextBox 16"/>
          <p:cNvSpPr txBox="1"/>
          <p:nvPr/>
        </p:nvSpPr>
        <p:spPr>
          <a:xfrm>
            <a:off x="716280" y="43943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M3 v3 belief snapshots do not fit M2 v2 C1</a:t>
            </a:r>
          </a:p>
        </p:txBody>
      </p:sp>
      <p:sp>
        <p:nvSpPr>
          <p:cNvPr id="18" name="TextBox 17"/>
          <p:cNvSpPr txBox="1"/>
          <p:nvPr/>
        </p:nvSpPr>
        <p:spPr>
          <a:xfrm>
            <a:off x="716280" y="46674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acknowledgments. C1 delivery intents remain</a:t>
            </a:r>
          </a:p>
        </p:txBody>
      </p:sp>
      <p:sp>
        <p:nvSpPr>
          <p:cNvPr id="19" name="TextBox 18"/>
          <p:cNvSpPr txBox="1"/>
          <p:nvPr/>
        </p:nvSpPr>
        <p:spPr>
          <a:xfrm>
            <a:off x="716280" y="49405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pending.</a:t>
            </a:r>
          </a:p>
        </p:txBody>
      </p:sp>
      <p:sp>
        <p:nvSpPr>
          <p:cNvPr id="20" name="Rounded Rectangle 19"/>
          <p:cNvSpPr/>
          <p:nvPr/>
        </p:nvSpPr>
        <p:spPr>
          <a:xfrm>
            <a:off x="6278880" y="3848100"/>
            <a:ext cx="5364480" cy="1668780"/>
          </a:xfrm>
          <a:prstGeom prst="roundRect">
            <a:avLst>
              <a:gd name="adj" fmla="val 5936"/>
            </a:avLst>
          </a:prstGeom>
          <a:solidFill>
            <a:srgbClr val="E4EBF5"/>
          </a:solidFill>
          <a:ln w="7620">
            <a:solidFill>
              <a:srgbClr val="315E9C"/>
            </a:solidFill>
          </a:ln>
          <a:effectLst/>
        </p:spPr>
        <p:txBody>
          <a:bodyPr rtlCol="0" anchor="ctr"/>
          <a:lstStyle/>
          <a:p>
            <a:pPr algn="ctr"/>
          </a:p>
        </p:txBody>
      </p:sp>
      <p:sp>
        <p:nvSpPr>
          <p:cNvPr id="21" name="TextBox 20"/>
          <p:cNvSpPr txBox="1"/>
          <p:nvPr/>
        </p:nvSpPr>
        <p:spPr>
          <a:xfrm>
            <a:off x="6446520" y="4015740"/>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Local assumptions</a:t>
            </a:r>
          </a:p>
        </p:txBody>
      </p:sp>
      <p:sp>
        <p:nvSpPr>
          <p:cNvPr id="22" name="TextBox 21"/>
          <p:cNvSpPr txBox="1"/>
          <p:nvPr/>
        </p:nvSpPr>
        <p:spPr>
          <a:xfrm>
            <a:off x="6446520" y="43943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Same-host clock, intact files and trusted</a:t>
            </a:r>
          </a:p>
        </p:txBody>
      </p:sp>
      <p:sp>
        <p:nvSpPr>
          <p:cNvPr id="23" name="TextBox 22"/>
          <p:cNvSpPr txBox="1"/>
          <p:nvPr/>
        </p:nvSpPr>
        <p:spPr>
          <a:xfrm>
            <a:off x="6446520" y="46674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operator. No hard real-time, power-loss or</a:t>
            </a:r>
          </a:p>
        </p:txBody>
      </p:sp>
      <p:sp>
        <p:nvSpPr>
          <p:cNvPr id="24" name="TextBox 23"/>
          <p:cNvSpPr txBox="1"/>
          <p:nvPr/>
        </p:nvSpPr>
        <p:spPr>
          <a:xfrm>
            <a:off x="6446520" y="49405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distributed failover claim.</a:t>
            </a:r>
          </a:p>
        </p:txBody>
      </p:sp>
      <p:sp>
        <p:nvSpPr>
          <p:cNvPr id="25" name="Rounded Rectangle 24"/>
          <p:cNvSpPr/>
          <p:nvPr/>
        </p:nvSpPr>
        <p:spPr>
          <a:xfrm>
            <a:off x="548640" y="5829300"/>
            <a:ext cx="11094720" cy="403859"/>
          </a:xfrm>
          <a:prstGeom prst="roundRect">
            <a:avLst>
              <a:gd name="adj" fmla="val 15094"/>
            </a:avLst>
          </a:prstGeom>
          <a:solidFill>
            <a:srgbClr val="EBE5F3"/>
          </a:solidFill>
          <a:ln>
            <a:noFill/>
          </a:ln>
          <a:effectLst/>
        </p:spPr>
        <p:txBody>
          <a:bodyPr rtlCol="0" anchor="ctr"/>
          <a:lstStyle/>
          <a:p>
            <a:pPr algn="ctr"/>
          </a:p>
        </p:txBody>
      </p:sp>
      <p:sp>
        <p:nvSpPr>
          <p:cNvPr id="26" name="TextBox 25"/>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7458A2"/>
                </a:solidFill>
                <a:latin typeface="DejaVu Sans"/>
              </a:rPr>
              <a:t>Stopped at M3: no LTI, general search, new attention research, live migration or chain work.</a:t>
            </a:r>
          </a:p>
        </p:txBody>
      </p:sp>
      <p:cxnSp>
        <p:nvCxnSpPr>
          <p:cNvPr id="27" name="Connector 26"/>
          <p:cNvCxnSpPr/>
          <p:nvPr/>
        </p:nvCxnSpPr>
        <p:spPr>
          <a:xfrm>
            <a:off x="548640" y="6393180"/>
            <a:ext cx="11094720" cy="0"/>
          </a:xfrm>
          <a:prstGeom prst="line">
            <a:avLst/>
          </a:prstGeom>
          <a:ln w="7620">
            <a:solidFill>
              <a:srgbClr val="C9D2D4"/>
            </a:solidFill>
          </a:ln>
          <a:effectLst/>
        </p:spPr>
      </p:cxnSp>
      <p:sp>
        <p:nvSpPr>
          <p:cNvPr id="28" name="TextBox 2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m3-evidence.md · compatibility and recovery limits</a:t>
            </a:r>
          </a:p>
        </p:txBody>
      </p:sp>
      <p:sp>
        <p:nvSpPr>
          <p:cNvPr id="29" name="TextBox 2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2233"/>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AAC0CC"/>
                </a:solidFill>
                <a:latin typeface="DejaVu Sans"/>
              </a:rPr>
              <a:t>04 / TAKEAWAY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FFFFFF"/>
                </a:solidFill>
                <a:latin typeface="DejaVu Sans"/>
              </a:rPr>
              <a:t/>
            </a:r>
          </a:p>
        </p:txBody>
      </p:sp>
      <p:sp>
        <p:nvSpPr>
          <p:cNvPr id="4" name="TextBox 3"/>
          <p:cNvSpPr txBox="1"/>
          <p:nvPr/>
        </p:nvSpPr>
        <p:spPr>
          <a:xfrm>
            <a:off x="548640" y="1348740"/>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Keep the evidence.</a:t>
            </a:r>
          </a:p>
        </p:txBody>
      </p:sp>
      <p:sp>
        <p:nvSpPr>
          <p:cNvPr id="5" name="TextBox 4"/>
          <p:cNvSpPr txBox="1"/>
          <p:nvPr/>
        </p:nvSpPr>
        <p:spPr>
          <a:xfrm>
            <a:off x="548640" y="1979676"/>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Separate the decisions.</a:t>
            </a:r>
          </a:p>
        </p:txBody>
      </p:sp>
      <p:sp>
        <p:nvSpPr>
          <p:cNvPr id="6" name="TextBox 5"/>
          <p:cNvSpPr txBox="1"/>
          <p:nvPr/>
        </p:nvSpPr>
        <p:spPr>
          <a:xfrm>
            <a:off x="548640" y="2610612"/>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Make the budget real.</a:t>
            </a:r>
          </a:p>
        </p:txBody>
      </p:sp>
      <p:sp>
        <p:nvSpPr>
          <p:cNvPr id="7" name="TextBox 6"/>
          <p:cNvSpPr txBox="1"/>
          <p:nvPr/>
        </p:nvSpPr>
        <p:spPr>
          <a:xfrm>
            <a:off x="586740" y="3870960"/>
            <a:ext cx="10439400" cy="380619"/>
          </a:xfrm>
          <a:prstGeom prst="rect">
            <a:avLst/>
          </a:prstGeom>
          <a:noFill/>
        </p:spPr>
        <p:txBody>
          <a:bodyPr wrap="none" lIns="0" rIns="0" tIns="0" bIns="0" anchor="t" anchorCtr="0">
            <a:noAutofit/>
          </a:bodyPr>
          <a:lstStyle/>
          <a:p>
            <a:pPr algn="l">
              <a:lnSpc>
                <a:spcPct val="100000"/>
              </a:lnSpc>
              <a:spcBef>
                <a:spcPts val="0"/>
              </a:spcBef>
              <a:spcAft>
                <a:spcPts val="0"/>
              </a:spcAft>
            </a:pPr>
            <a:r>
              <a:rPr sz="2220" b="0">
                <a:solidFill>
                  <a:srgbClr val="AAC0CC"/>
                </a:solidFill>
                <a:latin typeface="DejaVu Sans"/>
              </a:rPr>
              <a:t>Real Hive + native PLN + replaceable attention</a:t>
            </a:r>
          </a:p>
        </p:txBody>
      </p:sp>
      <p:sp>
        <p:nvSpPr>
          <p:cNvPr id="8" name="TextBox 7"/>
          <p:cNvSpPr txBox="1"/>
          <p:nvPr/>
        </p:nvSpPr>
        <p:spPr>
          <a:xfrm>
            <a:off x="586740" y="4251579"/>
            <a:ext cx="10439400" cy="380619"/>
          </a:xfrm>
          <a:prstGeom prst="rect">
            <a:avLst/>
          </a:prstGeom>
          <a:noFill/>
        </p:spPr>
        <p:txBody>
          <a:bodyPr wrap="none" lIns="0" rIns="0" tIns="0" bIns="0" anchor="t" anchorCtr="0">
            <a:noAutofit/>
          </a:bodyPr>
          <a:lstStyle/>
          <a:p>
            <a:pPr algn="l">
              <a:lnSpc>
                <a:spcPct val="100000"/>
              </a:lnSpc>
              <a:spcBef>
                <a:spcPts val="0"/>
              </a:spcBef>
              <a:spcAft>
                <a:spcPts val="0"/>
              </a:spcAft>
            </a:pPr>
            <a:r>
              <a:rPr sz="2220" b="0">
                <a:solidFill>
                  <a:srgbClr val="AAC0CC"/>
                </a:solidFill>
                <a:latin typeface="DejaVu Sans"/>
              </a:rPr>
              <a:t>with explicit private owners and tested recovery.</a:t>
            </a:r>
          </a:p>
        </p:txBody>
      </p:sp>
      <p:sp>
        <p:nvSpPr>
          <p:cNvPr id="9" name="Rounded Rectangle 8"/>
          <p:cNvSpPr/>
          <p:nvPr/>
        </p:nvSpPr>
        <p:spPr>
          <a:xfrm>
            <a:off x="579120" y="5417820"/>
            <a:ext cx="4227797" cy="304800"/>
          </a:xfrm>
          <a:prstGeom prst="roundRect">
            <a:avLst>
              <a:gd name="adj" fmla="val 17500"/>
            </a:avLst>
          </a:prstGeom>
          <a:solidFill>
            <a:srgbClr val="DCEFE8"/>
          </a:solidFill>
          <a:ln>
            <a:noFill/>
          </a:ln>
          <a:effectLst/>
        </p:spPr>
        <p:txBody>
          <a:bodyPr rtlCol="0" anchor="ctr"/>
          <a:lstStyle/>
          <a:p>
            <a:pPr algn="ctr"/>
          </a:p>
        </p:txBody>
      </p:sp>
      <p:sp>
        <p:nvSpPr>
          <p:cNvPr id="10" name="TextBox 9"/>
          <p:cNvSpPr txBox="1"/>
          <p:nvPr/>
        </p:nvSpPr>
        <p:spPr>
          <a:xfrm>
            <a:off x="685800" y="5471160"/>
            <a:ext cx="4037297"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M3 COMPLETE · 13 REQUIRED GATES PASS</a:t>
            </a:r>
          </a:p>
        </p:txBody>
      </p:sp>
      <p:cxnSp>
        <p:nvCxnSpPr>
          <p:cNvPr id="11" name="Connector 10"/>
          <p:cNvCxnSpPr/>
          <p:nvPr/>
        </p:nvCxnSpPr>
        <p:spPr>
          <a:xfrm>
            <a:off x="548640" y="6393180"/>
            <a:ext cx="11094720" cy="0"/>
          </a:xfrm>
          <a:prstGeom prst="line">
            <a:avLst/>
          </a:prstGeom>
          <a:ln w="7620">
            <a:solidFill>
              <a:srgbClr val="536775"/>
            </a:solidFill>
          </a:ln>
          <a:effectLst/>
        </p:spPr>
      </p:cxnSp>
      <p:sp>
        <p:nvSpPr>
          <p:cNvPr id="12" name="TextBox 1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AAC0CC"/>
                </a:solidFill>
                <a:latin typeface="DejaVu Sans"/>
              </a:rPr>
              <a:t>OMEGA × ASI / THROUGH M3 / M3 tested 1af3979 · evidence c4498ce</a:t>
            </a:r>
          </a:p>
        </p:txBody>
      </p:sp>
      <p:sp>
        <p:nvSpPr>
          <p:cNvPr id="13" name="TextBox 1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AAC0CC"/>
                </a:solidFill>
                <a:latin typeface="DejaVu Sans Mono"/>
              </a:rPr>
              <a:t>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A / CODE NAVIGATION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Implementation map: responsibilities stay local</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Follow interfaces and owner journals before following concrete provider classes.</a:t>
            </a:r>
          </a:p>
        </p:txBody>
      </p:sp>
      <p:sp>
        <p:nvSpPr>
          <p:cNvPr id="5" name="TextBox 4"/>
          <p:cNvSpPr txBox="1"/>
          <p:nvPr/>
        </p:nvSpPr>
        <p:spPr>
          <a:xfrm>
            <a:off x="670560" y="1790700"/>
            <a:ext cx="2194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RESPONSIBILITY</a:t>
            </a:r>
          </a:p>
        </p:txBody>
      </p:sp>
      <p:sp>
        <p:nvSpPr>
          <p:cNvPr id="6" name="TextBox 5"/>
          <p:cNvSpPr txBox="1"/>
          <p:nvPr/>
        </p:nvSpPr>
        <p:spPr>
          <a:xfrm>
            <a:off x="3108960" y="1790700"/>
            <a:ext cx="4861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FILES / SURFACE</a:t>
            </a:r>
          </a:p>
        </p:txBody>
      </p:sp>
      <p:sp>
        <p:nvSpPr>
          <p:cNvPr id="7" name="TextBox 6"/>
          <p:cNvSpPr txBox="1"/>
          <p:nvPr/>
        </p:nvSpPr>
        <p:spPr>
          <a:xfrm>
            <a:off x="8214359" y="1790700"/>
            <a:ext cx="33070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a:t>
            </a:r>
          </a:p>
        </p:txBody>
      </p:sp>
      <p:sp>
        <p:nvSpPr>
          <p:cNvPr id="8" name="Rounded Rectangle 7"/>
          <p:cNvSpPr/>
          <p:nvPr/>
        </p:nvSpPr>
        <p:spPr>
          <a:xfrm>
            <a:off x="548640" y="2110740"/>
            <a:ext cx="11094720" cy="579120"/>
          </a:xfrm>
          <a:prstGeom prst="roundRect">
            <a:avLst>
              <a:gd name="adj" fmla="val 7894"/>
            </a:avLst>
          </a:prstGeom>
          <a:solidFill>
            <a:srgbClr val="FFFFFF"/>
          </a:solidFill>
          <a:ln>
            <a:noFill/>
          </a:ln>
          <a:effectLst/>
        </p:spPr>
        <p:txBody>
          <a:bodyPr rtlCol="0" anchor="ctr"/>
          <a:lstStyle/>
          <a:p>
            <a:pPr algn="ctr"/>
          </a:p>
        </p:txBody>
      </p:sp>
      <p:sp>
        <p:nvSpPr>
          <p:cNvPr id="9" name="TextBox 8"/>
          <p:cNvSpPr txBox="1"/>
          <p:nvPr/>
        </p:nvSpPr>
        <p:spPr>
          <a:xfrm>
            <a:off x="670560" y="224028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C1 / original C2</a:t>
            </a:r>
          </a:p>
        </p:txBody>
      </p:sp>
      <p:sp>
        <p:nvSpPr>
          <p:cNvPr id="10" name="TextBox 9"/>
          <p:cNvSpPr txBox="1"/>
          <p:nvPr/>
        </p:nvSpPr>
        <p:spPr>
          <a:xfrm>
            <a:off x="3108960" y="224028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episodes.py · beliefs.py · evidence_relay.py</a:t>
            </a:r>
          </a:p>
        </p:txBody>
      </p:sp>
      <p:sp>
        <p:nvSpPr>
          <p:cNvPr id="11" name="TextBox 10"/>
          <p:cNvSpPr txBox="1"/>
          <p:nvPr/>
        </p:nvSpPr>
        <p:spPr>
          <a:xfrm>
            <a:off x="8214359" y="224028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Episode history; revision-only</a:t>
            </a:r>
          </a:p>
        </p:txBody>
      </p:sp>
      <p:sp>
        <p:nvSpPr>
          <p:cNvPr id="12" name="TextBox 11"/>
          <p:cNvSpPr txBox="1"/>
          <p:nvPr/>
        </p:nvSpPr>
        <p:spPr>
          <a:xfrm>
            <a:off x="8214359" y="2464612"/>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journals</a:t>
            </a:r>
          </a:p>
        </p:txBody>
      </p:sp>
      <p:sp>
        <p:nvSpPr>
          <p:cNvPr id="13" name="Rounded Rectangle 12"/>
          <p:cNvSpPr/>
          <p:nvPr/>
        </p:nvSpPr>
        <p:spPr>
          <a:xfrm>
            <a:off x="548640" y="2727960"/>
            <a:ext cx="11094720" cy="579120"/>
          </a:xfrm>
          <a:prstGeom prst="roundRect">
            <a:avLst>
              <a:gd name="adj" fmla="val 7894"/>
            </a:avLst>
          </a:prstGeom>
          <a:solidFill>
            <a:srgbClr val="FFFFFF"/>
          </a:solidFill>
          <a:ln>
            <a:noFill/>
          </a:ln>
          <a:effectLst/>
        </p:spPr>
        <p:txBody>
          <a:bodyPr rtlCol="0" anchor="ctr"/>
          <a:lstStyle/>
          <a:p>
            <a:pPr algn="ctr"/>
          </a:p>
        </p:txBody>
      </p:sp>
      <p:sp>
        <p:nvSpPr>
          <p:cNvPr id="14" name="TextBox 13"/>
          <p:cNvSpPr txBox="1"/>
          <p:nvPr/>
        </p:nvSpPr>
        <p:spPr>
          <a:xfrm>
            <a:off x="670560" y="285750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C2 derived admission</a:t>
            </a:r>
          </a:p>
        </p:txBody>
      </p:sp>
      <p:sp>
        <p:nvSpPr>
          <p:cNvPr id="15" name="TextBox 14"/>
          <p:cNvSpPr txBox="1"/>
          <p:nvPr/>
        </p:nvSpPr>
        <p:spPr>
          <a:xfrm>
            <a:off x="3108960" y="285750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derived_beliefs.py · cognition_contracts.py</a:t>
            </a:r>
          </a:p>
        </p:txBody>
      </p:sp>
      <p:sp>
        <p:nvSpPr>
          <p:cNvPr id="16" name="TextBox 15"/>
          <p:cNvSpPr txBox="1"/>
          <p:nvPr/>
        </p:nvSpPr>
        <p:spPr>
          <a:xfrm>
            <a:off x="8214359" y="285750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Fresh derived-beliefs.sqlite · local v3</a:t>
            </a:r>
          </a:p>
        </p:txBody>
      </p:sp>
      <p:sp>
        <p:nvSpPr>
          <p:cNvPr id="17" name="Rounded Rectangle 16"/>
          <p:cNvSpPr/>
          <p:nvPr/>
        </p:nvSpPr>
        <p:spPr>
          <a:xfrm>
            <a:off x="548640" y="3345179"/>
            <a:ext cx="11094720" cy="579120"/>
          </a:xfrm>
          <a:prstGeom prst="roundRect">
            <a:avLst>
              <a:gd name="adj" fmla="val 7894"/>
            </a:avLst>
          </a:prstGeom>
          <a:solidFill>
            <a:srgbClr val="FFFFFF"/>
          </a:solidFill>
          <a:ln>
            <a:noFill/>
          </a:ln>
          <a:effectLst/>
        </p:spPr>
        <p:txBody>
          <a:bodyPr rtlCol="0" anchor="ctr"/>
          <a:lstStyle/>
          <a:p>
            <a:pPr algn="ctr"/>
          </a:p>
        </p:txBody>
      </p:sp>
      <p:sp>
        <p:nvSpPr>
          <p:cNvPr id="18" name="TextBox 17"/>
          <p:cNvSpPr txBox="1"/>
          <p:nvPr/>
        </p:nvSpPr>
        <p:spPr>
          <a:xfrm>
            <a:off x="670560" y="3474719"/>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C3 attention</a:t>
            </a:r>
          </a:p>
        </p:txBody>
      </p:sp>
      <p:sp>
        <p:nvSpPr>
          <p:cNvPr id="19" name="TextBox 18"/>
          <p:cNvSpPr txBox="1"/>
          <p:nvPr/>
        </p:nvSpPr>
        <p:spPr>
          <a:xfrm>
            <a:off x="3108960" y="3474719"/>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attention.py · adapters/fixture_attention.py</a:t>
            </a:r>
          </a:p>
        </p:txBody>
      </p:sp>
      <p:sp>
        <p:nvSpPr>
          <p:cNvPr id="20" name="TextBox 19"/>
          <p:cNvSpPr txBox="1"/>
          <p:nvPr/>
        </p:nvSpPr>
        <p:spPr>
          <a:xfrm>
            <a:off x="8214359" y="3474719"/>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SQLite or independent atomic-file</a:t>
            </a:r>
          </a:p>
        </p:txBody>
      </p:sp>
      <p:sp>
        <p:nvSpPr>
          <p:cNvPr id="21" name="TextBox 20"/>
          <p:cNvSpPr txBox="1"/>
          <p:nvPr/>
        </p:nvSpPr>
        <p:spPr>
          <a:xfrm>
            <a:off x="8214359" y="3699052"/>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state</a:t>
            </a:r>
          </a:p>
        </p:txBody>
      </p:sp>
      <p:sp>
        <p:nvSpPr>
          <p:cNvPr id="22" name="Rounded Rectangle 21"/>
          <p:cNvSpPr/>
          <p:nvPr/>
        </p:nvSpPr>
        <p:spPr>
          <a:xfrm>
            <a:off x="548640" y="3962400"/>
            <a:ext cx="11094720" cy="579120"/>
          </a:xfrm>
          <a:prstGeom prst="roundRect">
            <a:avLst>
              <a:gd name="adj" fmla="val 7894"/>
            </a:avLst>
          </a:prstGeom>
          <a:solidFill>
            <a:srgbClr val="FFFFFF"/>
          </a:solidFill>
          <a:ln>
            <a:noFill/>
          </a:ln>
          <a:effectLst/>
        </p:spPr>
        <p:txBody>
          <a:bodyPr rtlCol="0" anchor="ctr"/>
          <a:lstStyle/>
          <a:p>
            <a:pPr algn="ctr"/>
          </a:p>
        </p:txBody>
      </p:sp>
      <p:sp>
        <p:nvSpPr>
          <p:cNvPr id="23" name="TextBox 22"/>
          <p:cNvSpPr txBox="1"/>
          <p:nvPr/>
        </p:nvSpPr>
        <p:spPr>
          <a:xfrm>
            <a:off x="670560" y="409194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Pure PLN providers</a:t>
            </a:r>
          </a:p>
        </p:txBody>
      </p:sp>
      <p:sp>
        <p:nvSpPr>
          <p:cNvPr id="24" name="TextBox 23"/>
          <p:cNvSpPr txBox="1"/>
          <p:nvPr/>
        </p:nvSpPr>
        <p:spPr>
          <a:xfrm>
            <a:off x="3108960" y="409194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adapters/pln_deduction.py · pln_revision.py</a:t>
            </a:r>
          </a:p>
        </p:txBody>
      </p:sp>
      <p:sp>
        <p:nvSpPr>
          <p:cNvPr id="25" name="TextBox 24"/>
          <p:cNvSpPr txBox="1"/>
          <p:nvPr/>
        </p:nvSpPr>
        <p:spPr>
          <a:xfrm>
            <a:off x="8214359" y="409194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mutable domain state</a:t>
            </a:r>
          </a:p>
        </p:txBody>
      </p:sp>
      <p:sp>
        <p:nvSpPr>
          <p:cNvPr id="26" name="Rounded Rectangle 25"/>
          <p:cNvSpPr/>
          <p:nvPr/>
        </p:nvSpPr>
        <p:spPr>
          <a:xfrm>
            <a:off x="548640" y="4579620"/>
            <a:ext cx="11094720" cy="579120"/>
          </a:xfrm>
          <a:prstGeom prst="roundRect">
            <a:avLst>
              <a:gd name="adj" fmla="val 7894"/>
            </a:avLst>
          </a:prstGeom>
          <a:solidFill>
            <a:srgbClr val="FFFFFF"/>
          </a:solidFill>
          <a:ln>
            <a:noFill/>
          </a:ln>
          <a:effectLst/>
        </p:spPr>
        <p:txBody>
          <a:bodyPr rtlCol="0" anchor="ctr"/>
          <a:lstStyle/>
          <a:p>
            <a:pPr algn="ctr"/>
          </a:p>
        </p:txBody>
      </p:sp>
      <p:sp>
        <p:nvSpPr>
          <p:cNvPr id="27" name="TextBox 26"/>
          <p:cNvSpPr txBox="1"/>
          <p:nvPr/>
        </p:nvSpPr>
        <p:spPr>
          <a:xfrm>
            <a:off x="670560" y="470916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C4 controller</a:t>
            </a:r>
          </a:p>
        </p:txBody>
      </p:sp>
      <p:sp>
        <p:nvSpPr>
          <p:cNvPr id="28" name="TextBox 27"/>
          <p:cNvSpPr txBox="1"/>
          <p:nvPr/>
        </p:nvSpPr>
        <p:spPr>
          <a:xfrm>
            <a:off x="3108960" y="470916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inference.py · deadlines.py</a:t>
            </a:r>
          </a:p>
        </p:txBody>
      </p:sp>
      <p:sp>
        <p:nvSpPr>
          <p:cNvPr id="29" name="TextBox 28"/>
          <p:cNvSpPr txBox="1"/>
          <p:nvPr/>
        </p:nvSpPr>
        <p:spPr>
          <a:xfrm>
            <a:off x="8214359" y="470916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inference.sqlite · budgets / progress</a:t>
            </a:r>
          </a:p>
        </p:txBody>
      </p:sp>
      <p:sp>
        <p:nvSpPr>
          <p:cNvPr id="30" name="Rounded Rectangle 29"/>
          <p:cNvSpPr/>
          <p:nvPr/>
        </p:nvSpPr>
        <p:spPr>
          <a:xfrm>
            <a:off x="548640" y="5196840"/>
            <a:ext cx="11094720" cy="579120"/>
          </a:xfrm>
          <a:prstGeom prst="roundRect">
            <a:avLst>
              <a:gd name="adj" fmla="val 7894"/>
            </a:avLst>
          </a:prstGeom>
          <a:solidFill>
            <a:srgbClr val="FFFFFF"/>
          </a:solidFill>
          <a:ln>
            <a:noFill/>
          </a:ln>
          <a:effectLst/>
        </p:spPr>
        <p:txBody>
          <a:bodyPr rtlCol="0" anchor="ctr"/>
          <a:lstStyle/>
          <a:p>
            <a:pPr algn="ctr"/>
          </a:p>
        </p:txBody>
      </p:sp>
      <p:sp>
        <p:nvSpPr>
          <p:cNvPr id="31" name="TextBox 30"/>
          <p:cNvSpPr txBox="1"/>
          <p:nvPr/>
        </p:nvSpPr>
        <p:spPr>
          <a:xfrm>
            <a:off x="670560" y="532638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Composition / native</a:t>
            </a:r>
          </a:p>
        </p:txBody>
      </p:sp>
      <p:sp>
        <p:nvSpPr>
          <p:cNvPr id="32" name="TextBox 31"/>
          <p:cNvSpPr txBox="1"/>
          <p:nvPr/>
        </p:nvSpPr>
        <p:spPr>
          <a:xfrm>
            <a:off x="670560" y="5550712"/>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caller</a:t>
            </a:r>
          </a:p>
        </p:txBody>
      </p:sp>
      <p:sp>
        <p:nvSpPr>
          <p:cNvPr id="33" name="TextBox 32"/>
          <p:cNvSpPr txBox="1"/>
          <p:nvPr/>
        </p:nvSpPr>
        <p:spPr>
          <a:xfrm>
            <a:off x="3108960" y="532638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cognition.py · hive/inference_program/</a:t>
            </a:r>
          </a:p>
        </p:txBody>
      </p:sp>
      <p:sp>
        <p:nvSpPr>
          <p:cNvPr id="34" name="TextBox 33"/>
          <p:cNvSpPr txBox="1"/>
          <p:nvPr/>
        </p:nvSpPr>
        <p:spPr>
          <a:xfrm>
            <a:off x="8214359" y="532638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Explicit provider bindings; caller</a:t>
            </a:r>
          </a:p>
        </p:txBody>
      </p:sp>
      <p:sp>
        <p:nvSpPr>
          <p:cNvPr id="35" name="TextBox 34"/>
          <p:cNvSpPr txBox="1"/>
          <p:nvPr/>
        </p:nvSpPr>
        <p:spPr>
          <a:xfrm>
            <a:off x="8214359" y="5550712"/>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receipt</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architecture.md · ports.py</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B / SOURCE LEDGER</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Exact sources identify the verified native stack</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Full revisions are printed here; source files and built binary hashes remain in the committed evidence.</a:t>
            </a:r>
          </a:p>
        </p:txBody>
      </p:sp>
      <p:sp>
        <p:nvSpPr>
          <p:cNvPr id="5" name="Rounded Rectangle 4"/>
          <p:cNvSpPr/>
          <p:nvPr/>
        </p:nvSpPr>
        <p:spPr>
          <a:xfrm>
            <a:off x="548640" y="1821180"/>
            <a:ext cx="11094720" cy="441959"/>
          </a:xfrm>
          <a:prstGeom prst="roundRect">
            <a:avLst>
              <a:gd name="adj" fmla="val 10344"/>
            </a:avLst>
          </a:prstGeom>
          <a:solidFill>
            <a:srgbClr val="FFFFFF"/>
          </a:solidFill>
          <a:ln>
            <a:noFill/>
          </a:ln>
          <a:effectLst/>
        </p:spPr>
        <p:txBody>
          <a:bodyPr rtlCol="0" anchor="ctr"/>
          <a:lstStyle/>
          <a:p>
            <a:pPr algn="ctr"/>
          </a:p>
        </p:txBody>
      </p:sp>
      <p:sp>
        <p:nvSpPr>
          <p:cNvPr id="6" name="TextBox 5"/>
          <p:cNvSpPr txBox="1"/>
          <p:nvPr/>
        </p:nvSpPr>
        <p:spPr>
          <a:xfrm>
            <a:off x="678180" y="1927859"/>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Fusion · tested</a:t>
            </a:r>
          </a:p>
        </p:txBody>
      </p:sp>
      <p:sp>
        <p:nvSpPr>
          <p:cNvPr id="7" name="TextBox 6"/>
          <p:cNvSpPr txBox="1"/>
          <p:nvPr/>
        </p:nvSpPr>
        <p:spPr>
          <a:xfrm>
            <a:off x="3390900" y="1927859"/>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1af39794649d0ca95cd729c64868202368da1ec4</a:t>
            </a:r>
          </a:p>
        </p:txBody>
      </p:sp>
      <p:sp>
        <p:nvSpPr>
          <p:cNvPr id="8" name="Rounded Rectangle 7"/>
          <p:cNvSpPr/>
          <p:nvPr/>
        </p:nvSpPr>
        <p:spPr>
          <a:xfrm>
            <a:off x="548640" y="2308860"/>
            <a:ext cx="11094720" cy="441959"/>
          </a:xfrm>
          <a:prstGeom prst="roundRect">
            <a:avLst>
              <a:gd name="adj" fmla="val 10344"/>
            </a:avLst>
          </a:prstGeom>
          <a:solidFill>
            <a:srgbClr val="FFFFFF"/>
          </a:solidFill>
          <a:ln>
            <a:noFill/>
          </a:ln>
          <a:effectLst/>
        </p:spPr>
        <p:txBody>
          <a:bodyPr rtlCol="0" anchor="ctr"/>
          <a:lstStyle/>
          <a:p>
            <a:pPr algn="ctr"/>
          </a:p>
        </p:txBody>
      </p:sp>
      <p:sp>
        <p:nvSpPr>
          <p:cNvPr id="9" name="TextBox 8"/>
          <p:cNvSpPr txBox="1"/>
          <p:nvPr/>
        </p:nvSpPr>
        <p:spPr>
          <a:xfrm>
            <a:off x="678180" y="241554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Hive schematics</a:t>
            </a:r>
          </a:p>
        </p:txBody>
      </p:sp>
      <p:sp>
        <p:nvSpPr>
          <p:cNvPr id="10" name="TextBox 9"/>
          <p:cNvSpPr txBox="1"/>
          <p:nvPr/>
        </p:nvSpPr>
        <p:spPr>
          <a:xfrm>
            <a:off x="3390900" y="241554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4af00db4e395375484dd48d0b9068a59afcf01f8</a:t>
            </a:r>
          </a:p>
        </p:txBody>
      </p:sp>
      <p:sp>
        <p:nvSpPr>
          <p:cNvPr id="11" name="Rounded Rectangle 10"/>
          <p:cNvSpPr/>
          <p:nvPr/>
        </p:nvSpPr>
        <p:spPr>
          <a:xfrm>
            <a:off x="548640" y="2796540"/>
            <a:ext cx="11094720" cy="441959"/>
          </a:xfrm>
          <a:prstGeom prst="roundRect">
            <a:avLst>
              <a:gd name="adj" fmla="val 10344"/>
            </a:avLst>
          </a:prstGeom>
          <a:solidFill>
            <a:srgbClr val="FFFFFF"/>
          </a:solidFill>
          <a:ln>
            <a:noFill/>
          </a:ln>
          <a:effectLst/>
        </p:spPr>
        <p:txBody>
          <a:bodyPr rtlCol="0" anchor="ctr"/>
          <a:lstStyle/>
          <a:p>
            <a:pPr algn="ctr"/>
          </a:p>
        </p:txBody>
      </p:sp>
      <p:sp>
        <p:nvSpPr>
          <p:cNvPr id="12" name="TextBox 11"/>
          <p:cNvSpPr txBox="1"/>
          <p:nvPr/>
        </p:nvSpPr>
        <p:spPr>
          <a:xfrm>
            <a:off x="678180" y="290322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Hive</a:t>
            </a:r>
          </a:p>
        </p:txBody>
      </p:sp>
      <p:sp>
        <p:nvSpPr>
          <p:cNvPr id="13" name="TextBox 12"/>
          <p:cNvSpPr txBox="1"/>
          <p:nvPr/>
        </p:nvSpPr>
        <p:spPr>
          <a:xfrm>
            <a:off x="3390900" y="290322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34b0fb32ab3806e5609fc89bb7535518a35e1aea</a:t>
            </a:r>
          </a:p>
        </p:txBody>
      </p:sp>
      <p:sp>
        <p:nvSpPr>
          <p:cNvPr id="14" name="Rounded Rectangle 13"/>
          <p:cNvSpPr/>
          <p:nvPr/>
        </p:nvSpPr>
        <p:spPr>
          <a:xfrm>
            <a:off x="548640" y="3284219"/>
            <a:ext cx="11094720" cy="441959"/>
          </a:xfrm>
          <a:prstGeom prst="roundRect">
            <a:avLst>
              <a:gd name="adj" fmla="val 10344"/>
            </a:avLst>
          </a:prstGeom>
          <a:solidFill>
            <a:srgbClr val="FFFFFF"/>
          </a:solidFill>
          <a:ln>
            <a:noFill/>
          </a:ln>
          <a:effectLst/>
        </p:spPr>
        <p:txBody>
          <a:bodyPr rtlCol="0" anchor="ctr"/>
          <a:lstStyle/>
          <a:p>
            <a:pPr algn="ctr"/>
          </a:p>
        </p:txBody>
      </p:sp>
      <p:sp>
        <p:nvSpPr>
          <p:cNvPr id="15" name="TextBox 14"/>
          <p:cNvSpPr txBox="1"/>
          <p:nvPr/>
        </p:nvSpPr>
        <p:spPr>
          <a:xfrm>
            <a:off x="678180" y="339090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DeTTa</a:t>
            </a:r>
          </a:p>
        </p:txBody>
      </p:sp>
      <p:sp>
        <p:nvSpPr>
          <p:cNvPr id="16" name="TextBox 15"/>
          <p:cNvSpPr txBox="1"/>
          <p:nvPr/>
        </p:nvSpPr>
        <p:spPr>
          <a:xfrm>
            <a:off x="3390900" y="339090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272888f264dd2dde18b574cabb53c266b0dac2ec</a:t>
            </a:r>
          </a:p>
        </p:txBody>
      </p:sp>
      <p:sp>
        <p:nvSpPr>
          <p:cNvPr id="17" name="Rounded Rectangle 16"/>
          <p:cNvSpPr/>
          <p:nvPr/>
        </p:nvSpPr>
        <p:spPr>
          <a:xfrm>
            <a:off x="548640" y="3771900"/>
            <a:ext cx="11094720" cy="441959"/>
          </a:xfrm>
          <a:prstGeom prst="roundRect">
            <a:avLst>
              <a:gd name="adj" fmla="val 10344"/>
            </a:avLst>
          </a:prstGeom>
          <a:solidFill>
            <a:srgbClr val="FFFFFF"/>
          </a:solidFill>
          <a:ln>
            <a:noFill/>
          </a:ln>
          <a:effectLst/>
        </p:spPr>
        <p:txBody>
          <a:bodyPr rtlCol="0" anchor="ctr"/>
          <a:lstStyle/>
          <a:p>
            <a:pPr algn="ctr"/>
          </a:p>
        </p:txBody>
      </p:sp>
      <p:sp>
        <p:nvSpPr>
          <p:cNvPr id="18" name="TextBox 17"/>
          <p:cNvSpPr txBox="1"/>
          <p:nvPr/>
        </p:nvSpPr>
        <p:spPr>
          <a:xfrm>
            <a:off x="678180" y="3878579"/>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Reachability</a:t>
            </a:r>
          </a:p>
        </p:txBody>
      </p:sp>
      <p:sp>
        <p:nvSpPr>
          <p:cNvPr id="19" name="TextBox 18"/>
          <p:cNvSpPr txBox="1"/>
          <p:nvPr/>
        </p:nvSpPr>
        <p:spPr>
          <a:xfrm>
            <a:off x="3390900" y="3878579"/>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dd56f3f053ed90239de5377021a7d3b3fbf424ac</a:t>
            </a:r>
          </a:p>
        </p:txBody>
      </p:sp>
      <p:sp>
        <p:nvSpPr>
          <p:cNvPr id="20" name="Rounded Rectangle 19"/>
          <p:cNvSpPr/>
          <p:nvPr/>
        </p:nvSpPr>
        <p:spPr>
          <a:xfrm>
            <a:off x="548640" y="4259580"/>
            <a:ext cx="11094720" cy="441959"/>
          </a:xfrm>
          <a:prstGeom prst="roundRect">
            <a:avLst>
              <a:gd name="adj" fmla="val 10344"/>
            </a:avLst>
          </a:prstGeom>
          <a:solidFill>
            <a:srgbClr val="FFFFFF"/>
          </a:solidFill>
          <a:ln>
            <a:noFill/>
          </a:ln>
          <a:effectLst/>
        </p:spPr>
        <p:txBody>
          <a:bodyPr rtlCol="0" anchor="ctr"/>
          <a:lstStyle/>
          <a:p>
            <a:pPr algn="ctr"/>
          </a:p>
        </p:txBody>
      </p:sp>
      <p:sp>
        <p:nvSpPr>
          <p:cNvPr id="21" name="TextBox 20"/>
          <p:cNvSpPr txBox="1"/>
          <p:nvPr/>
        </p:nvSpPr>
        <p:spPr>
          <a:xfrm>
            <a:off x="678180" y="436626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PLN</a:t>
            </a:r>
          </a:p>
        </p:txBody>
      </p:sp>
      <p:sp>
        <p:nvSpPr>
          <p:cNvPr id="22" name="TextBox 21"/>
          <p:cNvSpPr txBox="1"/>
          <p:nvPr/>
        </p:nvSpPr>
        <p:spPr>
          <a:xfrm>
            <a:off x="3390900" y="436626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4405956947c4b53c7ff01bd565aa3b114bc970a1</a:t>
            </a:r>
          </a:p>
        </p:txBody>
      </p:sp>
      <p:sp>
        <p:nvSpPr>
          <p:cNvPr id="23" name="Rounded Rectangle 22"/>
          <p:cNvSpPr/>
          <p:nvPr/>
        </p:nvSpPr>
        <p:spPr>
          <a:xfrm>
            <a:off x="548640" y="4747260"/>
            <a:ext cx="11094720" cy="441959"/>
          </a:xfrm>
          <a:prstGeom prst="roundRect">
            <a:avLst>
              <a:gd name="adj" fmla="val 10344"/>
            </a:avLst>
          </a:prstGeom>
          <a:solidFill>
            <a:srgbClr val="FFFFFF"/>
          </a:solidFill>
          <a:ln>
            <a:noFill/>
          </a:ln>
          <a:effectLst/>
        </p:spPr>
        <p:txBody>
          <a:bodyPr rtlCol="0" anchor="ctr"/>
          <a:lstStyle/>
          <a:p>
            <a:pPr algn="ctr"/>
          </a:p>
        </p:txBody>
      </p:sp>
      <p:sp>
        <p:nvSpPr>
          <p:cNvPr id="24" name="TextBox 23"/>
          <p:cNvSpPr txBox="1"/>
          <p:nvPr/>
        </p:nvSpPr>
        <p:spPr>
          <a:xfrm>
            <a:off x="678180" y="485394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PeTTa</a:t>
            </a:r>
          </a:p>
        </p:txBody>
      </p:sp>
      <p:sp>
        <p:nvSpPr>
          <p:cNvPr id="25" name="TextBox 24"/>
          <p:cNvSpPr txBox="1"/>
          <p:nvPr/>
        </p:nvSpPr>
        <p:spPr>
          <a:xfrm>
            <a:off x="3390900" y="485394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ae66fa8e41dcd5539d614706bd4e5cfb34f9608d</a:t>
            </a:r>
          </a:p>
        </p:txBody>
      </p:sp>
      <p:sp>
        <p:nvSpPr>
          <p:cNvPr id="26" name="Rounded Rectangle 25"/>
          <p:cNvSpPr/>
          <p:nvPr/>
        </p:nvSpPr>
        <p:spPr>
          <a:xfrm>
            <a:off x="548640" y="5234940"/>
            <a:ext cx="11094720" cy="441959"/>
          </a:xfrm>
          <a:prstGeom prst="roundRect">
            <a:avLst>
              <a:gd name="adj" fmla="val 10344"/>
            </a:avLst>
          </a:prstGeom>
          <a:solidFill>
            <a:srgbClr val="FFFFFF"/>
          </a:solidFill>
          <a:ln>
            <a:noFill/>
          </a:ln>
          <a:effectLst/>
        </p:spPr>
        <p:txBody>
          <a:bodyPr rtlCol="0" anchor="ctr"/>
          <a:lstStyle/>
          <a:p>
            <a:pPr algn="ctr"/>
          </a:p>
        </p:txBody>
      </p:sp>
      <p:sp>
        <p:nvSpPr>
          <p:cNvPr id="27" name="TextBox 26"/>
          <p:cNvSpPr txBox="1"/>
          <p:nvPr/>
        </p:nvSpPr>
        <p:spPr>
          <a:xfrm>
            <a:off x="678180" y="534162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SWI 10.1.14</a:t>
            </a:r>
          </a:p>
        </p:txBody>
      </p:sp>
      <p:sp>
        <p:nvSpPr>
          <p:cNvPr id="28" name="TextBox 27"/>
          <p:cNvSpPr txBox="1"/>
          <p:nvPr/>
        </p:nvSpPr>
        <p:spPr>
          <a:xfrm>
            <a:off x="3390900" y="534162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69775434c8226897626b226aefcc8266499f1e2e</a:t>
            </a:r>
          </a:p>
        </p:txBody>
      </p:sp>
      <p:sp>
        <p:nvSpPr>
          <p:cNvPr id="29" name="Rounded Rectangle 28"/>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0" name="TextBox 29"/>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metta-attention inspected at 3e1c8147; not used as the bounded STI provider.</a:t>
            </a:r>
          </a:p>
        </p:txBody>
      </p:sp>
      <p:cxnSp>
        <p:nvCxnSpPr>
          <p:cNvPr id="31" name="Connector 30"/>
          <p:cNvCxnSpPr/>
          <p:nvPr/>
        </p:nvCxnSpPr>
        <p:spPr>
          <a:xfrm>
            <a:off x="548640" y="6393180"/>
            <a:ext cx="11094720" cy="0"/>
          </a:xfrm>
          <a:prstGeom prst="line">
            <a:avLst/>
          </a:prstGeom>
          <a:ln w="7620">
            <a:solidFill>
              <a:srgbClr val="C9D2D4"/>
            </a:solidFill>
          </a:ln>
          <a:effectLst/>
        </p:spPr>
      </p:cxnSp>
      <p:sp>
        <p:nvSpPr>
          <p:cNvPr id="32" name="TextBox 3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m3/final/verification.json · build.json</a:t>
            </a:r>
          </a:p>
        </p:txBody>
      </p:sp>
      <p:sp>
        <p:nvSpPr>
          <p:cNvPr id="33" name="TextBox 3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C / CONTRACT LEDGER</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Profiles and bounds make compatibility explicit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Existing profiles remain selectable; fresh M3 owners opt into new semantics.</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PORT / PROFILE</a:t>
            </a:r>
          </a:p>
        </p:txBody>
      </p:sp>
      <p:sp>
        <p:nvSpPr>
          <p:cNvPr id="6" name="TextBox 5"/>
          <p:cNvSpPr txBox="1"/>
          <p:nvPr/>
        </p:nvSpPr>
        <p:spPr>
          <a:xfrm>
            <a:off x="3185160" y="1790700"/>
            <a:ext cx="44043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VERSION AND POLICY</a:t>
            </a:r>
          </a:p>
        </p:txBody>
      </p:sp>
      <p:sp>
        <p:nvSpPr>
          <p:cNvPr id="7" name="TextBox 6"/>
          <p:cNvSpPr txBox="1"/>
          <p:nvPr/>
        </p:nvSpPr>
        <p:spPr>
          <a:xfrm>
            <a:off x="7833359" y="1790700"/>
            <a:ext cx="36880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KEY BOUND</a:t>
            </a:r>
          </a:p>
        </p:txBody>
      </p:sp>
      <p:sp>
        <p:nvSpPr>
          <p:cNvPr id="8" name="Rounded Rectangle 7"/>
          <p:cNvSpPr/>
          <p:nvPr/>
        </p:nvSpPr>
        <p:spPr>
          <a:xfrm>
            <a:off x="548640" y="2110740"/>
            <a:ext cx="11094720" cy="579120"/>
          </a:xfrm>
          <a:prstGeom prst="roundRect">
            <a:avLst>
              <a:gd name="adj" fmla="val 7894"/>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M1 shared interfaces</a:t>
            </a:r>
          </a:p>
        </p:txBody>
      </p:sp>
      <p:sp>
        <p:nvSpPr>
          <p:cNvPr id="10" name="TextBox 9"/>
          <p:cNvSpPr txBox="1"/>
          <p:nvPr/>
        </p:nvSpPr>
        <p:spPr>
          <a:xfrm>
            <a:off x="3185160" y="224028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Wire 1.0.0 · immutable-bytes/1</a:t>
            </a:r>
          </a:p>
        </p:txBody>
      </p:sp>
      <p:sp>
        <p:nvSpPr>
          <p:cNvPr id="11" name="TextBox 10"/>
          <p:cNvSpPr txBox="1"/>
          <p:nvPr/>
        </p:nvSpPr>
        <p:spPr>
          <a:xfrm>
            <a:off x="7833359" y="224028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Existing storage / messaging / execution</a:t>
            </a:r>
          </a:p>
        </p:txBody>
      </p:sp>
      <p:sp>
        <p:nvSpPr>
          <p:cNvPr id="12" name="TextBox 11"/>
          <p:cNvSpPr txBox="1"/>
          <p:nvPr/>
        </p:nvSpPr>
        <p:spPr>
          <a:xfrm>
            <a:off x="7833359" y="246461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preserved</a:t>
            </a:r>
          </a:p>
        </p:txBody>
      </p:sp>
      <p:sp>
        <p:nvSpPr>
          <p:cNvPr id="13" name="Rounded Rectangle 12"/>
          <p:cNvSpPr/>
          <p:nvPr/>
        </p:nvSpPr>
        <p:spPr>
          <a:xfrm>
            <a:off x="548640" y="2727960"/>
            <a:ext cx="11094720" cy="579120"/>
          </a:xfrm>
          <a:prstGeom prst="roundRect">
            <a:avLst>
              <a:gd name="adj" fmla="val 7894"/>
            </a:avLst>
          </a:prstGeom>
          <a:solidFill>
            <a:srgbClr val="FFFFFF"/>
          </a:solidFill>
          <a:ln>
            <a:noFill/>
          </a:ln>
          <a:effectLst/>
        </p:spPr>
        <p:txBody>
          <a:bodyPr rtlCol="0" anchor="ctr"/>
          <a:lstStyle/>
          <a:p>
            <a:pPr algn="ctr"/>
          </a:p>
        </p:txBody>
      </p:sp>
      <p:sp>
        <p:nvSpPr>
          <p:cNvPr id="14" name="TextBox 13"/>
          <p:cNvSpPr txBox="1"/>
          <p:nvPr/>
        </p:nvSpPr>
        <p:spPr>
          <a:xfrm>
            <a:off x="670560" y="285750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C1 / original C2</a:t>
            </a:r>
          </a:p>
        </p:txBody>
      </p:sp>
      <p:sp>
        <p:nvSpPr>
          <p:cNvPr id="15" name="TextBox 14"/>
          <p:cNvSpPr txBox="1"/>
          <p:nvPr/>
        </p:nvSpPr>
        <p:spPr>
          <a:xfrm>
            <a:off x="3185160" y="285750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Local 2.0.0 · original M2 profiles</a:t>
            </a:r>
          </a:p>
        </p:txBody>
      </p:sp>
      <p:sp>
        <p:nvSpPr>
          <p:cNvPr id="16" name="TextBox 15"/>
          <p:cNvSpPr txBox="1"/>
          <p:nvPr/>
        </p:nvSpPr>
        <p:spPr>
          <a:xfrm>
            <a:off x="7833359" y="285750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Original relay / acknowledgment DTOs</a:t>
            </a:r>
          </a:p>
        </p:txBody>
      </p:sp>
      <p:sp>
        <p:nvSpPr>
          <p:cNvPr id="17" name="Rounded Rectangle 16"/>
          <p:cNvSpPr/>
          <p:nvPr/>
        </p:nvSpPr>
        <p:spPr>
          <a:xfrm>
            <a:off x="548640" y="3345179"/>
            <a:ext cx="11094720" cy="579120"/>
          </a:xfrm>
          <a:prstGeom prst="roundRect">
            <a:avLst>
              <a:gd name="adj" fmla="val 7894"/>
            </a:avLst>
          </a:prstGeom>
          <a:solidFill>
            <a:srgbClr val="FFFFFF"/>
          </a:solidFill>
          <a:ln>
            <a:noFill/>
          </a:ln>
          <a:effectLst/>
        </p:spPr>
        <p:txBody>
          <a:bodyPr rtlCol="0" anchor="ctr"/>
          <a:lstStyle/>
          <a:p>
            <a:pPr algn="ctr"/>
          </a:p>
        </p:txBody>
      </p:sp>
      <p:sp>
        <p:nvSpPr>
          <p:cNvPr id="18" name="TextBox 17"/>
          <p:cNvSpPr txBox="1"/>
          <p:nvPr/>
        </p:nvSpPr>
        <p:spPr>
          <a:xfrm>
            <a:off x="670560" y="3474719"/>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C2 derived</a:t>
            </a:r>
          </a:p>
        </p:txBody>
      </p:sp>
      <p:sp>
        <p:nvSpPr>
          <p:cNvPr id="19" name="TextBox 18"/>
          <p:cNvSpPr txBox="1"/>
          <p:nvPr/>
        </p:nvSpPr>
        <p:spPr>
          <a:xfrm>
            <a:off x="3185160" y="3474719"/>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Local 3.0.0 · pln-derived-private/1</a:t>
            </a:r>
          </a:p>
        </p:txBody>
      </p:sp>
      <p:sp>
        <p:nvSpPr>
          <p:cNvPr id="20" name="TextBox 19"/>
          <p:cNvSpPr txBox="1"/>
          <p:nvPr/>
        </p:nvSpPr>
        <p:spPr>
          <a:xfrm>
            <a:off x="7833359" y="3474719"/>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Exact history; tagged supports; fresh</a:t>
            </a:r>
          </a:p>
        </p:txBody>
      </p:sp>
      <p:sp>
        <p:nvSpPr>
          <p:cNvPr id="21" name="TextBox 20"/>
          <p:cNvSpPr txBox="1"/>
          <p:nvPr/>
        </p:nvSpPr>
        <p:spPr>
          <a:xfrm>
            <a:off x="7833359" y="369905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journal</a:t>
            </a:r>
          </a:p>
        </p:txBody>
      </p:sp>
      <p:sp>
        <p:nvSpPr>
          <p:cNvPr id="22" name="Rounded Rectangle 21"/>
          <p:cNvSpPr/>
          <p:nvPr/>
        </p:nvSpPr>
        <p:spPr>
          <a:xfrm>
            <a:off x="548640" y="3962400"/>
            <a:ext cx="11094720" cy="579120"/>
          </a:xfrm>
          <a:prstGeom prst="roundRect">
            <a:avLst>
              <a:gd name="adj" fmla="val 7894"/>
            </a:avLst>
          </a:prstGeom>
          <a:solidFill>
            <a:srgbClr val="FFFFFF"/>
          </a:solidFill>
          <a:ln>
            <a:noFill/>
          </a:ln>
          <a:effectLst/>
        </p:spPr>
        <p:txBody>
          <a:bodyPr rtlCol="0" anchor="ctr"/>
          <a:lstStyle/>
          <a:p>
            <a:pPr algn="ctr"/>
          </a:p>
        </p:txBody>
      </p:sp>
      <p:sp>
        <p:nvSpPr>
          <p:cNvPr id="23" name="TextBox 22"/>
          <p:cNvSpPr txBox="1"/>
          <p:nvPr/>
        </p:nvSpPr>
        <p:spPr>
          <a:xfrm>
            <a:off x="670560" y="409194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C3 attention</a:t>
            </a:r>
          </a:p>
        </p:txBody>
      </p:sp>
      <p:sp>
        <p:nvSpPr>
          <p:cNvPr id="24" name="TextBox 23"/>
          <p:cNvSpPr txBox="1"/>
          <p:nvPr/>
        </p:nvSpPr>
        <p:spPr>
          <a:xfrm>
            <a:off x="3185160" y="409194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Local 2.0.0 · additive / linear decay</a:t>
            </a:r>
          </a:p>
        </p:txBody>
      </p:sp>
      <p:sp>
        <p:nvSpPr>
          <p:cNvPr id="25" name="TextBox 24"/>
          <p:cNvSpPr txBox="1"/>
          <p:nvPr/>
        </p:nvSpPr>
        <p:spPr>
          <a:xfrm>
            <a:off x="7833359" y="409194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100 per target; 300 per context;</a:t>
            </a:r>
          </a:p>
        </p:txBody>
      </p:sp>
      <p:sp>
        <p:nvSpPr>
          <p:cNvPr id="26" name="TextBox 25"/>
          <p:cNvSpPr txBox="1"/>
          <p:nvPr/>
        </p:nvSpPr>
        <p:spPr>
          <a:xfrm>
            <a:off x="7833359" y="431627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generation 3</a:t>
            </a:r>
          </a:p>
        </p:txBody>
      </p:sp>
      <p:sp>
        <p:nvSpPr>
          <p:cNvPr id="27" name="Rounded Rectangle 26"/>
          <p:cNvSpPr/>
          <p:nvPr/>
        </p:nvSpPr>
        <p:spPr>
          <a:xfrm>
            <a:off x="548640" y="4579620"/>
            <a:ext cx="11094720" cy="579120"/>
          </a:xfrm>
          <a:prstGeom prst="roundRect">
            <a:avLst>
              <a:gd name="adj" fmla="val 7894"/>
            </a:avLst>
          </a:prstGeom>
          <a:solidFill>
            <a:srgbClr val="FFFFFF"/>
          </a:solidFill>
          <a:ln>
            <a:noFill/>
          </a:ln>
          <a:effectLst/>
        </p:spPr>
        <p:txBody>
          <a:bodyPr rtlCol="0" anchor="ctr"/>
          <a:lstStyle/>
          <a:p>
            <a:pPr algn="ctr"/>
          </a:p>
        </p:txBody>
      </p:sp>
      <p:sp>
        <p:nvSpPr>
          <p:cNvPr id="28" name="TextBox 27"/>
          <p:cNvSpPr txBox="1"/>
          <p:nvPr/>
        </p:nvSpPr>
        <p:spPr>
          <a:xfrm>
            <a:off x="670560" y="470916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PLN kernel</a:t>
            </a:r>
          </a:p>
        </p:txBody>
      </p:sp>
      <p:sp>
        <p:nvSpPr>
          <p:cNvPr id="29" name="TextBox 28"/>
          <p:cNvSpPr txBox="1"/>
          <p:nvPr/>
        </p:nvSpPr>
        <p:spPr>
          <a:xfrm>
            <a:off x="3185160" y="470916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grounded-five-premise-deduction/1</a:t>
            </a:r>
          </a:p>
        </p:txBody>
      </p:sp>
      <p:sp>
        <p:nvSpPr>
          <p:cNvPr id="30" name="TextBox 29"/>
          <p:cNvSpPr txBox="1"/>
          <p:nvPr/>
        </p:nvSpPr>
        <p:spPr>
          <a:xfrm>
            <a:off x="7833359" y="470916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One rule; five exact premises</a:t>
            </a:r>
          </a:p>
        </p:txBody>
      </p:sp>
      <p:sp>
        <p:nvSpPr>
          <p:cNvPr id="31" name="Rounded Rectangle 30"/>
          <p:cNvSpPr/>
          <p:nvPr/>
        </p:nvSpPr>
        <p:spPr>
          <a:xfrm>
            <a:off x="548640" y="5196840"/>
            <a:ext cx="11094720" cy="579120"/>
          </a:xfrm>
          <a:prstGeom prst="roundRect">
            <a:avLst>
              <a:gd name="adj" fmla="val 7894"/>
            </a:avLst>
          </a:prstGeom>
          <a:solidFill>
            <a:srgbClr val="FFFFFF"/>
          </a:solidFill>
          <a:ln>
            <a:noFill/>
          </a:ln>
          <a:effectLst/>
        </p:spPr>
        <p:txBody>
          <a:bodyPr rtlCol="0" anchor="ctr"/>
          <a:lstStyle/>
          <a:p>
            <a:pPr algn="ctr"/>
          </a:p>
        </p:txBody>
      </p:sp>
      <p:sp>
        <p:nvSpPr>
          <p:cNvPr id="32" name="TextBox 31"/>
          <p:cNvSpPr txBox="1"/>
          <p:nvPr/>
        </p:nvSpPr>
        <p:spPr>
          <a:xfrm>
            <a:off x="670560" y="53263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C4 controller</a:t>
            </a:r>
          </a:p>
        </p:txBody>
      </p:sp>
      <p:sp>
        <p:nvSpPr>
          <p:cNvPr id="33" name="TextBox 32"/>
          <p:cNvSpPr txBox="1"/>
          <p:nvPr/>
        </p:nvSpPr>
        <p:spPr>
          <a:xfrm>
            <a:off x="3185160" y="532638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bounded-grounded-inference/1</a:t>
            </a:r>
          </a:p>
        </p:txBody>
      </p:sp>
      <p:sp>
        <p:nvSpPr>
          <p:cNvPr id="34" name="TextBox 33"/>
          <p:cNvSpPr txBox="1"/>
          <p:nvPr/>
        </p:nvSpPr>
        <p:spPr>
          <a:xfrm>
            <a:off x="7833359" y="532638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1–16 tasks; candidate / attempt / time</a:t>
            </a:r>
          </a:p>
        </p:txBody>
      </p:sp>
      <p:sp>
        <p:nvSpPr>
          <p:cNvPr id="35" name="TextBox 34"/>
          <p:cNvSpPr txBox="1"/>
          <p:nvPr/>
        </p:nvSpPr>
        <p:spPr>
          <a:xfrm>
            <a:off x="7833359" y="555071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limits</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contracts.md · cognition.py</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D / HONEST COMPLETION SEMANTICS</a:t>
            </a:r>
          </a:p>
        </p:txBody>
      </p:sp>
      <p:sp>
        <p:nvSpPr>
          <p:cNvPr id="3" name="TextBox 2"/>
          <p:cNvSpPr txBox="1"/>
          <p:nvPr/>
        </p:nvSpPr>
        <p:spPr>
          <a:xfrm>
            <a:off x="533400" y="723900"/>
            <a:ext cx="11125200" cy="438912"/>
          </a:xfrm>
          <a:prstGeom prst="rect">
            <a:avLst/>
          </a:prstGeom>
          <a:noFill/>
        </p:spPr>
        <p:txBody>
          <a:bodyPr wrap="none" lIns="0" rIns="0" tIns="0" bIns="0" anchor="t" anchorCtr="0">
            <a:noAutofit/>
          </a:bodyPr>
          <a:lstStyle/>
          <a:p>
            <a:pPr algn="l">
              <a:lnSpc>
                <a:spcPct val="100000"/>
              </a:lnSpc>
              <a:spcBef>
                <a:spcPts val="0"/>
              </a:spcBef>
              <a:spcAft>
                <a:spcPts val="0"/>
              </a:spcAft>
            </a:pPr>
            <a:r>
              <a:rPr sz="2700" b="1">
                <a:solidFill>
                  <a:srgbClr val="102B3F"/>
                </a:solidFill>
                <a:latin typeface="DejaVu Sans"/>
              </a:rPr>
              <a:t>C1 acknowledgment compatibility remains an open seam</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durable M3 admission and an M2 evidence-delivery acknowledgment are different results.</a:t>
            </a:r>
          </a:p>
        </p:txBody>
      </p:sp>
      <p:sp>
        <p:nvSpPr>
          <p:cNvPr id="5" name="Rounded Rectangle 4"/>
          <p:cNvSpPr/>
          <p:nvPr/>
        </p:nvSpPr>
        <p:spPr>
          <a:xfrm>
            <a:off x="548640" y="2057400"/>
            <a:ext cx="3200400" cy="1562100"/>
          </a:xfrm>
          <a:prstGeom prst="roundRect">
            <a:avLst>
              <a:gd name="adj" fmla="val 6341"/>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225040"/>
            <a:ext cx="286512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C1 · Local v2</a:t>
            </a:r>
          </a:p>
        </p:txBody>
      </p:sp>
      <p:sp>
        <p:nvSpPr>
          <p:cNvPr id="7" name="TextBox 6"/>
          <p:cNvSpPr txBox="1"/>
          <p:nvPr/>
        </p:nvSpPr>
        <p:spPr>
          <a:xfrm>
            <a:off x="716280" y="2613355"/>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Keeps the generated</a:t>
            </a:r>
          </a:p>
        </p:txBody>
      </p:sp>
      <p:sp>
        <p:nvSpPr>
          <p:cNvPr id="8" name="TextBox 7"/>
          <p:cNvSpPr txBox="1"/>
          <p:nvPr/>
        </p:nvSpPr>
        <p:spPr>
          <a:xfrm>
            <a:off x="716280" y="2886455"/>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episode and its available</a:t>
            </a:r>
          </a:p>
        </p:txBody>
      </p:sp>
      <p:sp>
        <p:nvSpPr>
          <p:cNvPr id="9" name="TextBox 8"/>
          <p:cNvSpPr txBox="1"/>
          <p:nvPr/>
        </p:nvSpPr>
        <p:spPr>
          <a:xfrm>
            <a:off x="716280" y="3159556"/>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pending delivery intents.</a:t>
            </a:r>
          </a:p>
        </p:txBody>
      </p:sp>
      <p:sp>
        <p:nvSpPr>
          <p:cNvPr id="10" name="Rounded Rectangle 9"/>
          <p:cNvSpPr/>
          <p:nvPr/>
        </p:nvSpPr>
        <p:spPr>
          <a:xfrm>
            <a:off x="4488180" y="2057400"/>
            <a:ext cx="3200400" cy="1562100"/>
          </a:xfrm>
          <a:prstGeom prst="roundRect">
            <a:avLst>
              <a:gd name="adj" fmla="val 6341"/>
            </a:avLst>
          </a:prstGeom>
          <a:solidFill>
            <a:srgbClr val="DCEFE8"/>
          </a:solidFill>
          <a:ln w="7620">
            <a:solidFill>
              <a:srgbClr val="007C78"/>
            </a:solidFill>
          </a:ln>
          <a:effectLst/>
        </p:spPr>
        <p:txBody>
          <a:bodyPr rtlCol="0" anchor="ctr"/>
          <a:lstStyle/>
          <a:p>
            <a:pPr algn="ctr"/>
          </a:p>
        </p:txBody>
      </p:sp>
      <p:sp>
        <p:nvSpPr>
          <p:cNvPr id="11" name="TextBox 10"/>
          <p:cNvSpPr txBox="1"/>
          <p:nvPr/>
        </p:nvSpPr>
        <p:spPr>
          <a:xfrm>
            <a:off x="4655820" y="2225040"/>
            <a:ext cx="286512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C2 · Local v3</a:t>
            </a:r>
          </a:p>
        </p:txBody>
      </p:sp>
      <p:sp>
        <p:nvSpPr>
          <p:cNvPr id="12" name="TextBox 11"/>
          <p:cNvSpPr txBox="1"/>
          <p:nvPr/>
        </p:nvSpPr>
        <p:spPr>
          <a:xfrm>
            <a:off x="4655820" y="2613355"/>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Direct derivation</a:t>
            </a:r>
          </a:p>
        </p:txBody>
      </p:sp>
      <p:sp>
        <p:nvSpPr>
          <p:cNvPr id="13" name="TextBox 12"/>
          <p:cNvSpPr txBox="1"/>
          <p:nvPr/>
        </p:nvSpPr>
        <p:spPr>
          <a:xfrm>
            <a:off x="4655820" y="2886455"/>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admission and exact</a:t>
            </a:r>
          </a:p>
        </p:txBody>
      </p:sp>
      <p:sp>
        <p:nvSpPr>
          <p:cNvPr id="14" name="TextBox 13"/>
          <p:cNvSpPr txBox="1"/>
          <p:nvPr/>
        </p:nvSpPr>
        <p:spPr>
          <a:xfrm>
            <a:off x="4655820" y="3159556"/>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logical replay are durable.</a:t>
            </a:r>
          </a:p>
        </p:txBody>
      </p:sp>
      <p:sp>
        <p:nvSpPr>
          <p:cNvPr id="15" name="Rounded Rectangle 14"/>
          <p:cNvSpPr/>
          <p:nvPr/>
        </p:nvSpPr>
        <p:spPr>
          <a:xfrm>
            <a:off x="8427720" y="2057400"/>
            <a:ext cx="3215640" cy="1562100"/>
          </a:xfrm>
          <a:prstGeom prst="roundRect">
            <a:avLst>
              <a:gd name="adj" fmla="val 6341"/>
            </a:avLst>
          </a:prstGeom>
          <a:solidFill>
            <a:srgbClr val="E4EBF5"/>
          </a:solidFill>
          <a:ln w="7620">
            <a:solidFill>
              <a:srgbClr val="315E9C"/>
            </a:solidFill>
          </a:ln>
          <a:effectLst/>
        </p:spPr>
        <p:txBody>
          <a:bodyPr rtlCol="0" anchor="ctr"/>
          <a:lstStyle/>
          <a:p>
            <a:pPr algn="ctr"/>
          </a:p>
        </p:txBody>
      </p:sp>
      <p:sp>
        <p:nvSpPr>
          <p:cNvPr id="16" name="TextBox 15"/>
          <p:cNvSpPr txBox="1"/>
          <p:nvPr/>
        </p:nvSpPr>
        <p:spPr>
          <a:xfrm>
            <a:off x="8595360" y="2225040"/>
            <a:ext cx="288036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C4 receipt</a:t>
            </a:r>
          </a:p>
        </p:txBody>
      </p:sp>
      <p:sp>
        <p:nvSpPr>
          <p:cNvPr id="17" name="TextBox 16"/>
          <p:cNvSpPr txBox="1"/>
          <p:nvPr/>
        </p:nvSpPr>
        <p:spPr>
          <a:xfrm>
            <a:off x="8595360" y="2613355"/>
            <a:ext cx="28803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Records bounded progress,</a:t>
            </a:r>
          </a:p>
        </p:txBody>
      </p:sp>
      <p:sp>
        <p:nvSpPr>
          <p:cNvPr id="18" name="TextBox 17"/>
          <p:cNvSpPr txBox="1"/>
          <p:nvPr/>
        </p:nvSpPr>
        <p:spPr>
          <a:xfrm>
            <a:off x="8595360" y="2876702"/>
            <a:ext cx="28803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pending feedback and</a:t>
            </a:r>
          </a:p>
        </p:txBody>
      </p:sp>
      <p:sp>
        <p:nvSpPr>
          <p:cNvPr id="19" name="TextBox 18"/>
          <p:cNvSpPr txBox="1"/>
          <p:nvPr/>
        </p:nvSpPr>
        <p:spPr>
          <a:xfrm>
            <a:off x="8595360" y="3140049"/>
            <a:ext cx="28803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explicit terminal reason.</a:t>
            </a:r>
          </a:p>
        </p:txBody>
      </p:sp>
      <p:cxnSp>
        <p:nvCxnSpPr>
          <p:cNvPr id="20" name="Connector 19"/>
          <p:cNvCxnSpPr/>
          <p:nvPr/>
        </p:nvCxnSpPr>
        <p:spPr>
          <a:xfrm>
            <a:off x="6088380" y="3619500"/>
            <a:ext cx="0" cy="640080"/>
          </a:xfrm>
          <a:prstGeom prst="line">
            <a:avLst/>
          </a:prstGeom>
          <a:ln w="15240">
            <a:solidFill>
              <a:srgbClr val="A86A15"/>
            </a:solidFill>
            <a:prstDash val="dash"/>
          </a:ln>
          <a:effectLst/>
        </p:spPr>
      </p:cxnSp>
      <p:cxnSp>
        <p:nvCxnSpPr>
          <p:cNvPr id="21" name="Connector 20"/>
          <p:cNvCxnSpPr/>
          <p:nvPr/>
        </p:nvCxnSpPr>
        <p:spPr>
          <a:xfrm flipH="1">
            <a:off x="2148840" y="4259580"/>
            <a:ext cx="3939540" cy="0"/>
          </a:xfrm>
          <a:prstGeom prst="line">
            <a:avLst/>
          </a:prstGeom>
          <a:ln w="15240">
            <a:solidFill>
              <a:srgbClr val="A86A15"/>
            </a:solidFill>
            <a:prstDash val="dash"/>
          </a:ln>
          <a:effectLst/>
        </p:spPr>
      </p:cxnSp>
      <p:cxnSp>
        <p:nvCxnSpPr>
          <p:cNvPr id="22" name="Connector 21"/>
          <p:cNvCxnSpPr/>
          <p:nvPr/>
        </p:nvCxnSpPr>
        <p:spPr>
          <a:xfrm flipV="1">
            <a:off x="2148840" y="3619500"/>
            <a:ext cx="0" cy="640080"/>
          </a:xfrm>
          <a:prstGeom prst="line">
            <a:avLst/>
          </a:prstGeom>
          <a:ln w="15240">
            <a:solidFill>
              <a:srgbClr val="A86A15"/>
            </a:solidFill>
            <a:prstDash val="dash"/>
          </a:ln>
          <a:effectLst/>
        </p:spPr>
      </p:cxnSp>
      <p:sp>
        <p:nvSpPr>
          <p:cNvPr id="23" name="Rectangle 22"/>
          <p:cNvSpPr/>
          <p:nvPr/>
        </p:nvSpPr>
        <p:spPr>
          <a:xfrm>
            <a:off x="2141220" y="4091940"/>
            <a:ext cx="5715000" cy="358140"/>
          </a:xfrm>
          <a:prstGeom prst="rect">
            <a:avLst/>
          </a:prstGeom>
          <a:solidFill>
            <a:srgbClr val="F4F2EB"/>
          </a:solidFill>
          <a:ln>
            <a:noFill/>
          </a:ln>
          <a:effectLst/>
        </p:spPr>
        <p:txBody>
          <a:bodyPr rtlCol="0" anchor="ctr"/>
          <a:lstStyle/>
          <a:p>
            <a:pPr algn="ctr"/>
          </a:p>
        </p:txBody>
      </p:sp>
      <p:sp>
        <p:nvSpPr>
          <p:cNvPr id="24" name="TextBox 23"/>
          <p:cNvSpPr txBox="1"/>
          <p:nvPr/>
        </p:nvSpPr>
        <p:spPr>
          <a:xfrm>
            <a:off x="2316480" y="4160519"/>
            <a:ext cx="5410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v3 snapshot ≠ v2 acknowledgment DTO</a:t>
            </a:r>
          </a:p>
        </p:txBody>
      </p:sp>
      <p:sp>
        <p:nvSpPr>
          <p:cNvPr id="25" name="TextBox 24"/>
          <p:cNvSpPr txBox="1"/>
          <p:nvPr/>
        </p:nvSpPr>
        <p:spPr>
          <a:xfrm>
            <a:off x="594360" y="4968240"/>
            <a:ext cx="108966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102B3F"/>
                </a:solidFill>
                <a:latin typeface="DejaVu Sans"/>
              </a:rPr>
              <a:t>Original M2 relay + acknowledgment tests still pass under the original profile.</a:t>
            </a:r>
          </a:p>
        </p:txBody>
      </p:sp>
      <p:sp>
        <p:nvSpPr>
          <p:cNvPr id="26" name="Rounded Rectangle 25"/>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7" name="TextBox 26"/>
          <p:cNvSpPr txBox="1"/>
          <p:nvPr/>
        </p:nvSpPr>
        <p:spPr>
          <a:xfrm>
            <a:off x="716280" y="5905500"/>
            <a:ext cx="1074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No fabricated acknowledgment, silent profile widening or claim that every delivery intent is drained.</a:t>
            </a:r>
          </a:p>
        </p:txBody>
      </p:sp>
      <p:cxnSp>
        <p:nvCxnSpPr>
          <p:cNvPr id="28" name="Connector 27"/>
          <p:cNvCxnSpPr/>
          <p:nvPr/>
        </p:nvCxnSpPr>
        <p:spPr>
          <a:xfrm>
            <a:off x="548640" y="6393180"/>
            <a:ext cx="11094720" cy="0"/>
          </a:xfrm>
          <a:prstGeom prst="line">
            <a:avLst/>
          </a:prstGeom>
          <a:ln w="7620">
            <a:solidFill>
              <a:srgbClr val="C9D2D4"/>
            </a:solidFill>
          </a:ln>
          <a:effectLst/>
        </p:spPr>
      </p:cxnSp>
      <p:sp>
        <p:nvSpPr>
          <p:cNvPr id="29" name="TextBox 2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m3-evidence.md · C1/C2 version boundary</a:t>
            </a:r>
          </a:p>
        </p:txBody>
      </p:sp>
      <p:sp>
        <p:nvSpPr>
          <p:cNvPr id="30" name="TextBox 2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E / PRESERVED M1.2 SEQUENCE</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One native operation crosses the existing interfaces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caller stores intent; each provider commits only its own state.</a:t>
            </a:r>
          </a:p>
        </p:txBody>
      </p:sp>
      <p:sp>
        <p:nvSpPr>
          <p:cNvPr id="5" name="Rounded Rectangle 4"/>
          <p:cNvSpPr/>
          <p:nvPr/>
        </p:nvSpPr>
        <p:spPr>
          <a:xfrm>
            <a:off x="495300" y="1790700"/>
            <a:ext cx="1371600" cy="411480"/>
          </a:xfrm>
          <a:prstGeom prst="roundRect">
            <a:avLst>
              <a:gd name="adj" fmla="val 14814"/>
            </a:avLst>
          </a:prstGeom>
          <a:solidFill>
            <a:srgbClr val="DCEFE8"/>
          </a:solidFill>
          <a:ln>
            <a:noFill/>
          </a:ln>
          <a:effectLst/>
        </p:spPr>
        <p:txBody>
          <a:bodyPr rtlCol="0" anchor="ctr"/>
          <a:lstStyle/>
          <a:p>
            <a:pPr algn="ctr"/>
          </a:p>
        </p:txBody>
      </p:sp>
      <p:sp>
        <p:nvSpPr>
          <p:cNvPr id="6" name="TextBox 5"/>
          <p:cNvSpPr txBox="1"/>
          <p:nvPr/>
        </p:nvSpPr>
        <p:spPr>
          <a:xfrm>
            <a:off x="5791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Real Hive</a:t>
            </a:r>
          </a:p>
        </p:txBody>
      </p:sp>
      <p:cxnSp>
        <p:nvCxnSpPr>
          <p:cNvPr id="7" name="Connector 6"/>
          <p:cNvCxnSpPr/>
          <p:nvPr/>
        </p:nvCxnSpPr>
        <p:spPr>
          <a:xfrm>
            <a:off x="1181100" y="2301240"/>
            <a:ext cx="0" cy="3489960"/>
          </a:xfrm>
          <a:prstGeom prst="line">
            <a:avLst/>
          </a:prstGeom>
          <a:ln w="15240">
            <a:solidFill>
              <a:srgbClr val="C9D2D4"/>
            </a:solidFill>
            <a:prstDash val="dash"/>
          </a:ln>
          <a:effectLst/>
        </p:spPr>
      </p:cxnSp>
      <p:sp>
        <p:nvSpPr>
          <p:cNvPr id="8" name="Rounded Rectangle 7"/>
          <p:cNvSpPr/>
          <p:nvPr/>
        </p:nvSpPr>
        <p:spPr>
          <a:xfrm>
            <a:off x="2971800" y="1790700"/>
            <a:ext cx="1371600" cy="411480"/>
          </a:xfrm>
          <a:prstGeom prst="roundRect">
            <a:avLst>
              <a:gd name="adj" fmla="val 14814"/>
            </a:avLst>
          </a:prstGeom>
          <a:solidFill>
            <a:srgbClr val="E4EBF5"/>
          </a:solidFill>
          <a:ln>
            <a:noFill/>
          </a:ln>
          <a:effectLst/>
        </p:spPr>
        <p:txBody>
          <a:bodyPr rtlCol="0" anchor="ctr"/>
          <a:lstStyle/>
          <a:p>
            <a:pPr algn="ctr"/>
          </a:p>
        </p:txBody>
      </p:sp>
      <p:sp>
        <p:nvSpPr>
          <p:cNvPr id="9" name="TextBox 8"/>
          <p:cNvSpPr txBox="1"/>
          <p:nvPr/>
        </p:nvSpPr>
        <p:spPr>
          <a:xfrm>
            <a:off x="30556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Caller receipt</a:t>
            </a:r>
          </a:p>
        </p:txBody>
      </p:sp>
      <p:cxnSp>
        <p:nvCxnSpPr>
          <p:cNvPr id="10" name="Connector 9"/>
          <p:cNvCxnSpPr/>
          <p:nvPr/>
        </p:nvCxnSpPr>
        <p:spPr>
          <a:xfrm>
            <a:off x="3657600" y="2301240"/>
            <a:ext cx="0" cy="3489960"/>
          </a:xfrm>
          <a:prstGeom prst="line">
            <a:avLst/>
          </a:prstGeom>
          <a:ln w="15240">
            <a:solidFill>
              <a:srgbClr val="C9D2D4"/>
            </a:solidFill>
            <a:prstDash val="dash"/>
          </a:ln>
          <a:effectLst/>
        </p:spPr>
      </p:cxnSp>
      <p:sp>
        <p:nvSpPr>
          <p:cNvPr id="11" name="Rounded Rectangle 10"/>
          <p:cNvSpPr/>
          <p:nvPr/>
        </p:nvSpPr>
        <p:spPr>
          <a:xfrm>
            <a:off x="5448300" y="1790700"/>
            <a:ext cx="1371600" cy="411480"/>
          </a:xfrm>
          <a:prstGeom prst="roundRect">
            <a:avLst>
              <a:gd name="adj" fmla="val 14814"/>
            </a:avLst>
          </a:prstGeom>
          <a:solidFill>
            <a:srgbClr val="DCEFE8"/>
          </a:solidFill>
          <a:ln>
            <a:noFill/>
          </a:ln>
          <a:effectLst/>
        </p:spPr>
        <p:txBody>
          <a:bodyPr rtlCol="0" anchor="ctr"/>
          <a:lstStyle/>
          <a:p>
            <a:pPr algn="ctr"/>
          </a:p>
        </p:txBody>
      </p:sp>
      <p:sp>
        <p:nvSpPr>
          <p:cNvPr id="12" name="TextBox 11"/>
          <p:cNvSpPr txBox="1"/>
          <p:nvPr/>
        </p:nvSpPr>
        <p:spPr>
          <a:xfrm>
            <a:off x="55321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AtomStorage</a:t>
            </a:r>
          </a:p>
        </p:txBody>
      </p:sp>
      <p:cxnSp>
        <p:nvCxnSpPr>
          <p:cNvPr id="13" name="Connector 12"/>
          <p:cNvCxnSpPr/>
          <p:nvPr/>
        </p:nvCxnSpPr>
        <p:spPr>
          <a:xfrm>
            <a:off x="6134100" y="2301240"/>
            <a:ext cx="0" cy="3489960"/>
          </a:xfrm>
          <a:prstGeom prst="line">
            <a:avLst/>
          </a:prstGeom>
          <a:ln w="15240">
            <a:solidFill>
              <a:srgbClr val="C9D2D4"/>
            </a:solidFill>
            <a:prstDash val="dash"/>
          </a:ln>
          <a:effectLst/>
        </p:spPr>
      </p:cxnSp>
      <p:sp>
        <p:nvSpPr>
          <p:cNvPr id="14" name="Rounded Rectangle 13"/>
          <p:cNvSpPr/>
          <p:nvPr/>
        </p:nvSpPr>
        <p:spPr>
          <a:xfrm>
            <a:off x="7924800" y="1790700"/>
            <a:ext cx="1371600" cy="411480"/>
          </a:xfrm>
          <a:prstGeom prst="roundRect">
            <a:avLst>
              <a:gd name="adj" fmla="val 14814"/>
            </a:avLst>
          </a:prstGeom>
          <a:solidFill>
            <a:srgbClr val="E4EBF5"/>
          </a:solidFill>
          <a:ln>
            <a:noFill/>
          </a:ln>
          <a:effectLst/>
        </p:spPr>
        <p:txBody>
          <a:bodyPr rtlCol="0" anchor="ctr"/>
          <a:lstStyle/>
          <a:p>
            <a:pPr algn="ctr"/>
          </a:p>
        </p:txBody>
      </p:sp>
      <p:sp>
        <p:nvSpPr>
          <p:cNvPr id="15" name="TextBox 14"/>
          <p:cNvSpPr txBox="1"/>
          <p:nvPr/>
        </p:nvSpPr>
        <p:spPr>
          <a:xfrm>
            <a:off x="80086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Execution</a:t>
            </a:r>
          </a:p>
        </p:txBody>
      </p:sp>
      <p:cxnSp>
        <p:nvCxnSpPr>
          <p:cNvPr id="16" name="Connector 15"/>
          <p:cNvCxnSpPr/>
          <p:nvPr/>
        </p:nvCxnSpPr>
        <p:spPr>
          <a:xfrm>
            <a:off x="8610600" y="2301240"/>
            <a:ext cx="0" cy="3489960"/>
          </a:xfrm>
          <a:prstGeom prst="line">
            <a:avLst/>
          </a:prstGeom>
          <a:ln w="15240">
            <a:solidFill>
              <a:srgbClr val="C9D2D4"/>
            </a:solidFill>
            <a:prstDash val="dash"/>
          </a:ln>
          <a:effectLst/>
        </p:spPr>
      </p:cxnSp>
      <p:sp>
        <p:nvSpPr>
          <p:cNvPr id="17" name="Rounded Rectangle 16"/>
          <p:cNvSpPr/>
          <p:nvPr/>
        </p:nvSpPr>
        <p:spPr>
          <a:xfrm>
            <a:off x="10401300" y="1790700"/>
            <a:ext cx="1371600" cy="411480"/>
          </a:xfrm>
          <a:prstGeom prst="roundRect">
            <a:avLst>
              <a:gd name="adj" fmla="val 14814"/>
            </a:avLst>
          </a:prstGeom>
          <a:solidFill>
            <a:srgbClr val="E4EBF5"/>
          </a:solidFill>
          <a:ln>
            <a:noFill/>
          </a:ln>
          <a:effectLst/>
        </p:spPr>
        <p:txBody>
          <a:bodyPr rtlCol="0" anchor="ctr"/>
          <a:lstStyle/>
          <a:p>
            <a:pPr algn="ctr"/>
          </a:p>
        </p:txBody>
      </p:sp>
      <p:sp>
        <p:nvSpPr>
          <p:cNvPr id="18" name="TextBox 17"/>
          <p:cNvSpPr txBox="1"/>
          <p:nvPr/>
        </p:nvSpPr>
        <p:spPr>
          <a:xfrm>
            <a:off x="104851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Messaging</a:t>
            </a:r>
          </a:p>
        </p:txBody>
      </p:sp>
      <p:cxnSp>
        <p:nvCxnSpPr>
          <p:cNvPr id="19" name="Connector 18"/>
          <p:cNvCxnSpPr/>
          <p:nvPr/>
        </p:nvCxnSpPr>
        <p:spPr>
          <a:xfrm>
            <a:off x="11087100" y="2301240"/>
            <a:ext cx="0" cy="3489960"/>
          </a:xfrm>
          <a:prstGeom prst="line">
            <a:avLst/>
          </a:prstGeom>
          <a:ln w="15240">
            <a:solidFill>
              <a:srgbClr val="C9D2D4"/>
            </a:solidFill>
            <a:prstDash val="dash"/>
          </a:ln>
          <a:effectLst/>
        </p:spPr>
      </p:cxnSp>
      <p:sp>
        <p:nvSpPr>
          <p:cNvPr id="20" name="Rectangle 19"/>
          <p:cNvSpPr/>
          <p:nvPr/>
        </p:nvSpPr>
        <p:spPr>
          <a:xfrm>
            <a:off x="1211580" y="2301240"/>
            <a:ext cx="1774686" cy="198120"/>
          </a:xfrm>
          <a:prstGeom prst="rect">
            <a:avLst/>
          </a:prstGeom>
          <a:solidFill>
            <a:srgbClr val="F4F2EB"/>
          </a:solidFill>
          <a:ln>
            <a:noFill/>
          </a:ln>
          <a:effectLst/>
        </p:spPr>
        <p:txBody>
          <a:bodyPr rtlCol="0" anchor="ctr"/>
          <a:lstStyle/>
          <a:p>
            <a:pPr algn="ctr"/>
          </a:p>
        </p:txBody>
      </p:sp>
      <p:sp>
        <p:nvSpPr>
          <p:cNvPr id="21" name="TextBox 20"/>
          <p:cNvSpPr txBox="1"/>
          <p:nvPr/>
        </p:nvSpPr>
        <p:spPr>
          <a:xfrm>
            <a:off x="1242060" y="230124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1 Save original intent</a:t>
            </a:r>
          </a:p>
        </p:txBody>
      </p:sp>
      <p:cxnSp>
        <p:nvCxnSpPr>
          <p:cNvPr id="22" name="Connector 21"/>
          <p:cNvCxnSpPr/>
          <p:nvPr/>
        </p:nvCxnSpPr>
        <p:spPr>
          <a:xfrm>
            <a:off x="1181100" y="2514600"/>
            <a:ext cx="2476500" cy="0"/>
          </a:xfrm>
          <a:prstGeom prst="line">
            <a:avLst/>
          </a:prstGeom>
          <a:ln w="15240">
            <a:solidFill>
              <a:srgbClr val="315E9C"/>
            </a:solidFill>
          </a:ln>
          <a:effectLst/>
        </p:spPr>
      </p:cxnSp>
      <p:sp>
        <p:nvSpPr>
          <p:cNvPr id="23" name="Freeform 22"/>
          <p:cNvSpPr/>
          <p:nvPr/>
        </p:nvSpPr>
        <p:spPr>
          <a:xfrm>
            <a:off x="3558540" y="24765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4" name="Rectangle 23"/>
          <p:cNvSpPr/>
          <p:nvPr/>
        </p:nvSpPr>
        <p:spPr>
          <a:xfrm>
            <a:off x="1211580" y="2697480"/>
            <a:ext cx="3339911" cy="198120"/>
          </a:xfrm>
          <a:prstGeom prst="rect">
            <a:avLst/>
          </a:prstGeom>
          <a:solidFill>
            <a:srgbClr val="F4F2EB"/>
          </a:solidFill>
          <a:ln>
            <a:noFill/>
          </a:ln>
          <a:effectLst/>
        </p:spPr>
        <p:txBody>
          <a:bodyPr rtlCol="0" anchor="ctr"/>
          <a:lstStyle/>
          <a:p>
            <a:pPr algn="ctr"/>
          </a:p>
        </p:txBody>
      </p:sp>
      <p:sp>
        <p:nvSpPr>
          <p:cNvPr id="25" name="TextBox 24"/>
          <p:cNvSpPr txBox="1"/>
          <p:nvPr/>
        </p:nvSpPr>
        <p:spPr>
          <a:xfrm>
            <a:off x="1242060" y="269748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2 create → real DeTTa persistence receipt</a:t>
            </a:r>
          </a:p>
        </p:txBody>
      </p:sp>
      <p:cxnSp>
        <p:nvCxnSpPr>
          <p:cNvPr id="26" name="Connector 25"/>
          <p:cNvCxnSpPr/>
          <p:nvPr/>
        </p:nvCxnSpPr>
        <p:spPr>
          <a:xfrm>
            <a:off x="1181100" y="2910840"/>
            <a:ext cx="4953000" cy="0"/>
          </a:xfrm>
          <a:prstGeom prst="line">
            <a:avLst/>
          </a:prstGeom>
          <a:ln w="15240">
            <a:solidFill>
              <a:srgbClr val="007C78"/>
            </a:solidFill>
          </a:ln>
          <a:effectLst/>
        </p:spPr>
      </p:cxnSp>
      <p:sp>
        <p:nvSpPr>
          <p:cNvPr id="27" name="Freeform 26"/>
          <p:cNvSpPr/>
          <p:nvPr/>
        </p:nvSpPr>
        <p:spPr>
          <a:xfrm>
            <a:off x="6035040" y="28727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8" name="Rectangle 27"/>
          <p:cNvSpPr/>
          <p:nvPr/>
        </p:nvSpPr>
        <p:spPr>
          <a:xfrm>
            <a:off x="1211580" y="3093720"/>
            <a:ext cx="3220997" cy="198120"/>
          </a:xfrm>
          <a:prstGeom prst="rect">
            <a:avLst/>
          </a:prstGeom>
          <a:solidFill>
            <a:srgbClr val="F4F2EB"/>
          </a:solidFill>
          <a:ln>
            <a:noFill/>
          </a:ln>
          <a:effectLst/>
        </p:spPr>
        <p:txBody>
          <a:bodyPr rtlCol="0" anchor="ctr"/>
          <a:lstStyle/>
          <a:p>
            <a:pPr algn="ctr"/>
          </a:p>
        </p:txBody>
      </p:sp>
      <p:sp>
        <p:nvSpPr>
          <p:cNvPr id="29" name="TextBox 28"/>
          <p:cNvSpPr txBox="1"/>
          <p:nvPr/>
        </p:nvSpPr>
        <p:spPr>
          <a:xfrm>
            <a:off x="1242060" y="309372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3 send reference to fixture counterparty</a:t>
            </a:r>
          </a:p>
        </p:txBody>
      </p:sp>
      <p:cxnSp>
        <p:nvCxnSpPr>
          <p:cNvPr id="30" name="Connector 29"/>
          <p:cNvCxnSpPr/>
          <p:nvPr/>
        </p:nvCxnSpPr>
        <p:spPr>
          <a:xfrm>
            <a:off x="1181100" y="3307079"/>
            <a:ext cx="9906000" cy="0"/>
          </a:xfrm>
          <a:prstGeom prst="line">
            <a:avLst/>
          </a:prstGeom>
          <a:ln w="15240">
            <a:solidFill>
              <a:srgbClr val="315E9C"/>
            </a:solidFill>
          </a:ln>
          <a:effectLst/>
        </p:spPr>
      </p:cxnSp>
      <p:sp>
        <p:nvSpPr>
          <p:cNvPr id="31" name="Freeform 30"/>
          <p:cNvSpPr/>
          <p:nvPr/>
        </p:nvSpPr>
        <p:spPr>
          <a:xfrm>
            <a:off x="10988040" y="32689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2" name="Rectangle 31"/>
          <p:cNvSpPr/>
          <p:nvPr/>
        </p:nvSpPr>
        <p:spPr>
          <a:xfrm>
            <a:off x="1211580" y="3489960"/>
            <a:ext cx="3895189" cy="198120"/>
          </a:xfrm>
          <a:prstGeom prst="rect">
            <a:avLst/>
          </a:prstGeom>
          <a:solidFill>
            <a:srgbClr val="F4F2EB"/>
          </a:solidFill>
          <a:ln>
            <a:noFill/>
          </a:ln>
          <a:effectLst/>
        </p:spPr>
        <p:txBody>
          <a:bodyPr rtlCol="0" anchor="ctr"/>
          <a:lstStyle/>
          <a:p>
            <a:pPr algn="ctr"/>
          </a:p>
        </p:txBody>
      </p:sp>
      <p:sp>
        <p:nvSpPr>
          <p:cNvPr id="33" name="TextBox 32"/>
          <p:cNvSpPr txBox="1"/>
          <p:nvPr/>
        </p:nvSpPr>
        <p:spPr>
          <a:xfrm>
            <a:off x="1242060" y="348996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4 submit inspect_atom → durable job acceptance</a:t>
            </a:r>
          </a:p>
        </p:txBody>
      </p:sp>
      <p:cxnSp>
        <p:nvCxnSpPr>
          <p:cNvPr id="34" name="Connector 33"/>
          <p:cNvCxnSpPr/>
          <p:nvPr/>
        </p:nvCxnSpPr>
        <p:spPr>
          <a:xfrm>
            <a:off x="1181100" y="3703319"/>
            <a:ext cx="7429500" cy="0"/>
          </a:xfrm>
          <a:prstGeom prst="line">
            <a:avLst/>
          </a:prstGeom>
          <a:ln w="15240">
            <a:solidFill>
              <a:srgbClr val="315E9C"/>
            </a:solidFill>
          </a:ln>
          <a:effectLst/>
        </p:spPr>
      </p:cxnSp>
      <p:sp>
        <p:nvSpPr>
          <p:cNvPr id="35" name="Freeform 34"/>
          <p:cNvSpPr/>
          <p:nvPr/>
        </p:nvSpPr>
        <p:spPr>
          <a:xfrm>
            <a:off x="8511540" y="366522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6" name="Rectangle 35"/>
          <p:cNvSpPr/>
          <p:nvPr/>
        </p:nvSpPr>
        <p:spPr>
          <a:xfrm>
            <a:off x="1211580" y="3886200"/>
            <a:ext cx="2233597" cy="198120"/>
          </a:xfrm>
          <a:prstGeom prst="rect">
            <a:avLst/>
          </a:prstGeom>
          <a:solidFill>
            <a:srgbClr val="F4F2EB"/>
          </a:solidFill>
          <a:ln>
            <a:noFill/>
          </a:ln>
          <a:effectLst/>
        </p:spPr>
        <p:txBody>
          <a:bodyPr rtlCol="0" anchor="ctr"/>
          <a:lstStyle/>
          <a:p>
            <a:pPr algn="ctr"/>
          </a:p>
        </p:txBody>
      </p:sp>
      <p:sp>
        <p:nvSpPr>
          <p:cNvPr id="37" name="TextBox 36"/>
          <p:cNvSpPr txBox="1"/>
          <p:nvPr/>
        </p:nvSpPr>
        <p:spPr>
          <a:xfrm>
            <a:off x="1242060" y="388620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5 Save pending job context</a:t>
            </a:r>
          </a:p>
        </p:txBody>
      </p:sp>
      <p:cxnSp>
        <p:nvCxnSpPr>
          <p:cNvPr id="38" name="Connector 37"/>
          <p:cNvCxnSpPr/>
          <p:nvPr/>
        </p:nvCxnSpPr>
        <p:spPr>
          <a:xfrm>
            <a:off x="1181100" y="4099560"/>
            <a:ext cx="2476500" cy="0"/>
          </a:xfrm>
          <a:prstGeom prst="line">
            <a:avLst/>
          </a:prstGeom>
          <a:ln w="15240">
            <a:solidFill>
              <a:srgbClr val="315E9C"/>
            </a:solidFill>
          </a:ln>
          <a:effectLst/>
        </p:spPr>
      </p:cxnSp>
      <p:sp>
        <p:nvSpPr>
          <p:cNvPr id="39" name="Freeform 38"/>
          <p:cNvSpPr/>
          <p:nvPr/>
        </p:nvSpPr>
        <p:spPr>
          <a:xfrm>
            <a:off x="3558540" y="40614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40" name="Rectangle 39"/>
          <p:cNvSpPr/>
          <p:nvPr/>
        </p:nvSpPr>
        <p:spPr>
          <a:xfrm>
            <a:off x="3916679" y="4282440"/>
            <a:ext cx="3432854" cy="198120"/>
          </a:xfrm>
          <a:prstGeom prst="rect">
            <a:avLst/>
          </a:prstGeom>
          <a:solidFill>
            <a:srgbClr val="F4F2EB"/>
          </a:solidFill>
          <a:ln>
            <a:noFill/>
          </a:ln>
          <a:effectLst/>
        </p:spPr>
        <p:txBody>
          <a:bodyPr rtlCol="0" anchor="ctr"/>
          <a:lstStyle/>
          <a:p>
            <a:pPr algn="ctr"/>
          </a:p>
        </p:txBody>
      </p:sp>
      <p:sp>
        <p:nvSpPr>
          <p:cNvPr id="41" name="TextBox 40"/>
          <p:cNvSpPr txBox="1"/>
          <p:nvPr/>
        </p:nvSpPr>
        <p:spPr>
          <a:xfrm>
            <a:off x="3947160" y="4282440"/>
            <a:ext cx="76200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6 Worker reads input; result atom commits</a:t>
            </a:r>
          </a:p>
        </p:txBody>
      </p:sp>
      <p:cxnSp>
        <p:nvCxnSpPr>
          <p:cNvPr id="42" name="Connector 41"/>
          <p:cNvCxnSpPr/>
          <p:nvPr/>
        </p:nvCxnSpPr>
        <p:spPr>
          <a:xfrm flipH="1">
            <a:off x="6134100" y="4495800"/>
            <a:ext cx="2476500" cy="0"/>
          </a:xfrm>
          <a:prstGeom prst="line">
            <a:avLst/>
          </a:prstGeom>
          <a:ln w="15240">
            <a:solidFill>
              <a:srgbClr val="007C78"/>
            </a:solidFill>
          </a:ln>
          <a:effectLst/>
        </p:spPr>
      </p:cxnSp>
      <p:sp>
        <p:nvSpPr>
          <p:cNvPr id="43" name="Freeform 42"/>
          <p:cNvSpPr/>
          <p:nvPr/>
        </p:nvSpPr>
        <p:spPr>
          <a:xfrm>
            <a:off x="6134100" y="445770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sp>
        <p:nvSpPr>
          <p:cNvPr id="44" name="Rectangle 43"/>
          <p:cNvSpPr/>
          <p:nvPr/>
        </p:nvSpPr>
        <p:spPr>
          <a:xfrm>
            <a:off x="3916679" y="4678680"/>
            <a:ext cx="4536117" cy="198120"/>
          </a:xfrm>
          <a:prstGeom prst="rect">
            <a:avLst/>
          </a:prstGeom>
          <a:solidFill>
            <a:srgbClr val="F4F2EB"/>
          </a:solidFill>
          <a:ln>
            <a:noFill/>
          </a:ln>
          <a:effectLst/>
        </p:spPr>
        <p:txBody>
          <a:bodyPr rtlCol="0" anchor="ctr"/>
          <a:lstStyle/>
          <a:p>
            <a:pPr algn="ctr"/>
          </a:p>
        </p:txBody>
      </p:sp>
      <p:sp>
        <p:nvSpPr>
          <p:cNvPr id="45" name="TextBox 44"/>
          <p:cNvSpPr txBox="1"/>
          <p:nvPr/>
        </p:nvSpPr>
        <p:spPr>
          <a:xfrm>
            <a:off x="3947160" y="4678680"/>
            <a:ext cx="76200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7 Terminal + outbox commit; mailbox accepts separately</a:t>
            </a:r>
          </a:p>
        </p:txBody>
      </p:sp>
      <p:cxnSp>
        <p:nvCxnSpPr>
          <p:cNvPr id="46" name="Connector 45"/>
          <p:cNvCxnSpPr/>
          <p:nvPr/>
        </p:nvCxnSpPr>
        <p:spPr>
          <a:xfrm>
            <a:off x="8610600" y="4892040"/>
            <a:ext cx="2476500" cy="0"/>
          </a:xfrm>
          <a:prstGeom prst="line">
            <a:avLst/>
          </a:prstGeom>
          <a:ln w="15240">
            <a:solidFill>
              <a:srgbClr val="315E9C"/>
            </a:solidFill>
          </a:ln>
          <a:effectLst/>
        </p:spPr>
      </p:cxnSp>
      <p:sp>
        <p:nvSpPr>
          <p:cNvPr id="47" name="Freeform 46"/>
          <p:cNvSpPr/>
          <p:nvPr/>
        </p:nvSpPr>
        <p:spPr>
          <a:xfrm>
            <a:off x="10988040" y="48539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48" name="Rectangle 47"/>
          <p:cNvSpPr/>
          <p:nvPr/>
        </p:nvSpPr>
        <p:spPr>
          <a:xfrm>
            <a:off x="1211580" y="5295900"/>
            <a:ext cx="4108162" cy="198120"/>
          </a:xfrm>
          <a:prstGeom prst="rect">
            <a:avLst/>
          </a:prstGeom>
          <a:solidFill>
            <a:srgbClr val="F4F2EB"/>
          </a:solidFill>
          <a:ln>
            <a:noFill/>
          </a:ln>
          <a:effectLst/>
        </p:spPr>
        <p:txBody>
          <a:bodyPr rtlCol="0" anchor="ctr"/>
          <a:lstStyle/>
          <a:p>
            <a:pPr algn="ctr"/>
          </a:p>
        </p:txBody>
      </p:sp>
      <p:sp>
        <p:nvSpPr>
          <p:cNvPr id="49" name="TextBox 48"/>
          <p:cNvSpPr txBox="1"/>
          <p:nvPr/>
        </p:nvSpPr>
        <p:spPr>
          <a:xfrm>
            <a:off x="1242060" y="529590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8 Recover status → poll → get result → accept → ack</a:t>
            </a:r>
          </a:p>
        </p:txBody>
      </p:sp>
      <p:cxnSp>
        <p:nvCxnSpPr>
          <p:cNvPr id="50" name="Connector 49"/>
          <p:cNvCxnSpPr/>
          <p:nvPr/>
        </p:nvCxnSpPr>
        <p:spPr>
          <a:xfrm>
            <a:off x="1181100" y="5509260"/>
            <a:ext cx="9906000" cy="0"/>
          </a:xfrm>
          <a:prstGeom prst="line">
            <a:avLst/>
          </a:prstGeom>
          <a:ln w="15240">
            <a:solidFill>
              <a:srgbClr val="315E9C"/>
            </a:solidFill>
          </a:ln>
          <a:effectLst/>
        </p:spPr>
      </p:cxnSp>
      <p:sp>
        <p:nvSpPr>
          <p:cNvPr id="51" name="Freeform 50"/>
          <p:cNvSpPr/>
          <p:nvPr/>
        </p:nvSpPr>
        <p:spPr>
          <a:xfrm>
            <a:off x="10988040" y="54711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52" name="Connector 51"/>
          <p:cNvCxnSpPr/>
          <p:nvPr/>
        </p:nvCxnSpPr>
        <p:spPr>
          <a:xfrm>
            <a:off x="548640" y="6393180"/>
            <a:ext cx="11094720" cy="0"/>
          </a:xfrm>
          <a:prstGeom prst="line">
            <a:avLst/>
          </a:prstGeom>
          <a:ln w="7620">
            <a:solidFill>
              <a:srgbClr val="C9D2D4"/>
            </a:solidFill>
          </a:ln>
          <a:effectLst/>
        </p:spPr>
      </p:cxnSp>
      <p:sp>
        <p:nvSpPr>
          <p:cNvPr id="53" name="TextBox 5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program.py · execution.py · messaging.py</a:t>
            </a:r>
          </a:p>
        </p:txBody>
      </p:sp>
      <p:sp>
        <p:nvSpPr>
          <p:cNvPr id="54" name="TextBox 5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F / HISTORICAL CHAIN EVIDENCE</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Historical M1: one result reached an isolated chain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This is the earlier protocol-peer artifact. No M1.2, M2 or M3 Hive result was submitted.</a:t>
            </a:r>
          </a:p>
        </p:txBody>
      </p:sp>
      <p:sp>
        <p:nvSpPr>
          <p:cNvPr id="5" name="Rounded Rectangle 4"/>
          <p:cNvSpPr/>
          <p:nvPr/>
        </p:nvSpPr>
        <p:spPr>
          <a:xfrm>
            <a:off x="548640" y="1965959"/>
            <a:ext cx="3535679" cy="1143000"/>
          </a:xfrm>
          <a:prstGeom prst="roundRect">
            <a:avLst>
              <a:gd name="adj" fmla="val 8666"/>
            </a:avLst>
          </a:prstGeom>
          <a:solidFill>
            <a:srgbClr val="F3E7CE"/>
          </a:solidFill>
          <a:ln w="7620">
            <a:solidFill>
              <a:srgbClr val="A86A15"/>
            </a:solidFill>
          </a:ln>
          <a:effectLst/>
        </p:spPr>
        <p:txBody>
          <a:bodyPr rtlCol="0" anchor="ctr"/>
          <a:lstStyle/>
          <a:p>
            <a:pPr algn="ctr"/>
          </a:p>
        </p:txBody>
      </p:sp>
      <p:sp>
        <p:nvSpPr>
          <p:cNvPr id="6" name="TextBox 5"/>
          <p:cNvSpPr txBox="1"/>
          <p:nvPr/>
        </p:nvSpPr>
        <p:spPr>
          <a:xfrm>
            <a:off x="71628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PENDING</a:t>
            </a:r>
          </a:p>
        </p:txBody>
      </p:sp>
      <p:sp>
        <p:nvSpPr>
          <p:cNvPr id="7" name="TextBox 6"/>
          <p:cNvSpPr txBox="1"/>
          <p:nvPr/>
        </p:nvSpPr>
        <p:spPr>
          <a:xfrm>
            <a:off x="71628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Signed deploy accepted</a:t>
            </a:r>
          </a:p>
        </p:txBody>
      </p:sp>
      <p:cxnSp>
        <p:nvCxnSpPr>
          <p:cNvPr id="8" name="Connector 7"/>
          <p:cNvCxnSpPr/>
          <p:nvPr/>
        </p:nvCxnSpPr>
        <p:spPr>
          <a:xfrm>
            <a:off x="4084319" y="2537460"/>
            <a:ext cx="213361" cy="0"/>
          </a:xfrm>
          <a:prstGeom prst="line">
            <a:avLst/>
          </a:prstGeom>
          <a:ln w="15240">
            <a:solidFill>
              <a:srgbClr val="536775"/>
            </a:solidFill>
          </a:ln>
          <a:effectLst/>
        </p:spPr>
      </p:cxnSp>
      <p:sp>
        <p:nvSpPr>
          <p:cNvPr id="9" name="Freeform 8"/>
          <p:cNvSpPr/>
          <p:nvPr/>
        </p:nvSpPr>
        <p:spPr>
          <a:xfrm>
            <a:off x="4198620" y="249936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0" name="Rounded Rectangle 9"/>
          <p:cNvSpPr/>
          <p:nvPr/>
        </p:nvSpPr>
        <p:spPr>
          <a:xfrm>
            <a:off x="4328160" y="1965959"/>
            <a:ext cx="3535679" cy="1143000"/>
          </a:xfrm>
          <a:prstGeom prst="roundRect">
            <a:avLst>
              <a:gd name="adj" fmla="val 8666"/>
            </a:avLst>
          </a:prstGeom>
          <a:solidFill>
            <a:srgbClr val="F3E7CE"/>
          </a:solidFill>
          <a:ln w="7620">
            <a:solidFill>
              <a:srgbClr val="A86A15"/>
            </a:solidFill>
          </a:ln>
          <a:effectLst/>
        </p:spPr>
        <p:txBody>
          <a:bodyPr rtlCol="0" anchor="ctr"/>
          <a:lstStyle/>
          <a:p>
            <a:pPr algn="ctr"/>
          </a:p>
        </p:txBody>
      </p:sp>
      <p:sp>
        <p:nvSpPr>
          <p:cNvPr id="11" name="TextBox 10"/>
          <p:cNvSpPr txBox="1"/>
          <p:nvPr/>
        </p:nvSpPr>
        <p:spPr>
          <a:xfrm>
            <a:off x="449580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INCLUDED</a:t>
            </a:r>
          </a:p>
        </p:txBody>
      </p:sp>
      <p:sp>
        <p:nvSpPr>
          <p:cNvPr id="12" name="TextBox 11"/>
          <p:cNvSpPr txBox="1"/>
          <p:nvPr/>
        </p:nvSpPr>
        <p:spPr>
          <a:xfrm>
            <a:off x="449580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Block observed; effects pending</a:t>
            </a:r>
          </a:p>
        </p:txBody>
      </p:sp>
      <p:cxnSp>
        <p:nvCxnSpPr>
          <p:cNvPr id="13" name="Connector 12"/>
          <p:cNvCxnSpPr/>
          <p:nvPr/>
        </p:nvCxnSpPr>
        <p:spPr>
          <a:xfrm>
            <a:off x="7863839" y="2537460"/>
            <a:ext cx="213361" cy="0"/>
          </a:xfrm>
          <a:prstGeom prst="line">
            <a:avLst/>
          </a:prstGeom>
          <a:ln w="15240">
            <a:solidFill>
              <a:srgbClr val="536775"/>
            </a:solidFill>
          </a:ln>
          <a:effectLst/>
        </p:spPr>
      </p:cxnSp>
      <p:sp>
        <p:nvSpPr>
          <p:cNvPr id="14" name="Freeform 13"/>
          <p:cNvSpPr/>
          <p:nvPr/>
        </p:nvSpPr>
        <p:spPr>
          <a:xfrm>
            <a:off x="7978140" y="249936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5" name="Rounded Rectangle 14"/>
          <p:cNvSpPr/>
          <p:nvPr/>
        </p:nvSpPr>
        <p:spPr>
          <a:xfrm>
            <a:off x="8107680" y="1965959"/>
            <a:ext cx="3535679" cy="1143000"/>
          </a:xfrm>
          <a:prstGeom prst="roundRect">
            <a:avLst>
              <a:gd name="adj" fmla="val 8666"/>
            </a:avLst>
          </a:prstGeom>
          <a:solidFill>
            <a:srgbClr val="DCEFE8"/>
          </a:solidFill>
          <a:ln w="7620">
            <a:solidFill>
              <a:srgbClr val="007C78"/>
            </a:solidFill>
          </a:ln>
          <a:effectLst/>
        </p:spPr>
        <p:txBody>
          <a:bodyPr rtlCol="0" anchor="ctr"/>
          <a:lstStyle/>
          <a:p>
            <a:pPr algn="ctr"/>
          </a:p>
        </p:txBody>
      </p:sp>
      <p:sp>
        <p:nvSpPr>
          <p:cNvPr id="16" name="TextBox 15"/>
          <p:cNvSpPr txBox="1"/>
          <p:nvPr/>
        </p:nvSpPr>
        <p:spPr>
          <a:xfrm>
            <a:off x="827532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FINALIZED</a:t>
            </a:r>
          </a:p>
        </p:txBody>
      </p:sp>
      <p:sp>
        <p:nvSpPr>
          <p:cNvPr id="17" name="TextBox 16"/>
          <p:cNvSpPr txBox="1"/>
          <p:nvPr/>
        </p:nvSpPr>
        <p:spPr>
          <a:xfrm>
            <a:off x="827532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Deploy effects reported finalized</a:t>
            </a:r>
          </a:p>
        </p:txBody>
      </p:sp>
      <p:sp>
        <p:nvSpPr>
          <p:cNvPr id="18" name="TextBox 17"/>
          <p:cNvSpPr txBox="1"/>
          <p:nvPr/>
        </p:nvSpPr>
        <p:spPr>
          <a:xfrm>
            <a:off x="571500" y="3550919"/>
            <a:ext cx="53340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M1 recorded observation</a:t>
            </a:r>
          </a:p>
        </p:txBody>
      </p:sp>
      <p:sp>
        <p:nvSpPr>
          <p:cNvPr id="19" name="TextBox 18"/>
          <p:cNvSpPr txBox="1"/>
          <p:nvPr/>
        </p:nvSpPr>
        <p:spPr>
          <a:xfrm>
            <a:off x="571500" y="3954779"/>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Block height</a:t>
            </a:r>
          </a:p>
        </p:txBody>
      </p:sp>
      <p:sp>
        <p:nvSpPr>
          <p:cNvPr id="20" name="TextBox 19"/>
          <p:cNvSpPr txBox="1"/>
          <p:nvPr/>
        </p:nvSpPr>
        <p:spPr>
          <a:xfrm>
            <a:off x="3093720" y="3954779"/>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3</a:t>
            </a:r>
          </a:p>
        </p:txBody>
      </p:sp>
      <p:sp>
        <p:nvSpPr>
          <p:cNvPr id="21" name="TextBox 20"/>
          <p:cNvSpPr txBox="1"/>
          <p:nvPr/>
        </p:nvSpPr>
        <p:spPr>
          <a:xfrm>
            <a:off x="571500" y="4305300"/>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Execution error</a:t>
            </a:r>
          </a:p>
        </p:txBody>
      </p:sp>
      <p:sp>
        <p:nvSpPr>
          <p:cNvPr id="22" name="TextBox 21"/>
          <p:cNvSpPr txBox="1"/>
          <p:nvPr/>
        </p:nvSpPr>
        <p:spPr>
          <a:xfrm>
            <a:off x="3093720" y="4305300"/>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false</a:t>
            </a:r>
          </a:p>
        </p:txBody>
      </p:sp>
      <p:sp>
        <p:nvSpPr>
          <p:cNvPr id="23" name="TextBox 22"/>
          <p:cNvSpPr txBox="1"/>
          <p:nvPr/>
        </p:nvSpPr>
        <p:spPr>
          <a:xfrm>
            <a:off x="571500" y="4655820"/>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Rejection count</a:t>
            </a:r>
          </a:p>
        </p:txBody>
      </p:sp>
      <p:sp>
        <p:nvSpPr>
          <p:cNvPr id="24" name="TextBox 23"/>
          <p:cNvSpPr txBox="1"/>
          <p:nvPr/>
        </p:nvSpPr>
        <p:spPr>
          <a:xfrm>
            <a:off x="3093720" y="4655820"/>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0</a:t>
            </a:r>
          </a:p>
        </p:txBody>
      </p:sp>
      <p:sp>
        <p:nvSpPr>
          <p:cNvPr id="25" name="TextBox 24"/>
          <p:cNvSpPr txBox="1"/>
          <p:nvPr/>
        </p:nvSpPr>
        <p:spPr>
          <a:xfrm>
            <a:off x="571500" y="5006340"/>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Execution cost</a:t>
            </a:r>
          </a:p>
        </p:txBody>
      </p:sp>
      <p:sp>
        <p:nvSpPr>
          <p:cNvPr id="26" name="TextBox 25"/>
          <p:cNvSpPr txBox="1"/>
          <p:nvPr/>
        </p:nvSpPr>
        <p:spPr>
          <a:xfrm>
            <a:off x="3093720" y="5006340"/>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351 phlo</a:t>
            </a:r>
          </a:p>
        </p:txBody>
      </p:sp>
      <p:sp>
        <p:nvSpPr>
          <p:cNvPr id="27" name="Rounded Rectangle 26"/>
          <p:cNvSpPr/>
          <p:nvPr/>
        </p:nvSpPr>
        <p:spPr>
          <a:xfrm>
            <a:off x="5981700" y="3444240"/>
            <a:ext cx="5661660" cy="1943100"/>
          </a:xfrm>
          <a:prstGeom prst="roundRect">
            <a:avLst>
              <a:gd name="adj" fmla="val 5098"/>
            </a:avLst>
          </a:prstGeom>
          <a:solidFill>
            <a:srgbClr val="FFFFFF"/>
          </a:solidFill>
          <a:ln>
            <a:noFill/>
          </a:ln>
          <a:effectLst/>
        </p:spPr>
        <p:txBody>
          <a:bodyPr rtlCol="0" anchor="ctr"/>
          <a:lstStyle/>
          <a:p>
            <a:pPr algn="ctr"/>
          </a:p>
        </p:txBody>
      </p:sp>
      <p:sp>
        <p:nvSpPr>
          <p:cNvPr id="28" name="TextBox 27"/>
          <p:cNvSpPr txBox="1"/>
          <p:nvPr/>
        </p:nvSpPr>
        <p:spPr>
          <a:xfrm>
            <a:off x="6179820" y="3634740"/>
            <a:ext cx="5181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Historical commitment digest</a:t>
            </a:r>
          </a:p>
        </p:txBody>
      </p:sp>
      <p:sp>
        <p:nvSpPr>
          <p:cNvPr id="29" name="TextBox 28"/>
          <p:cNvSpPr txBox="1"/>
          <p:nvPr/>
        </p:nvSpPr>
        <p:spPr>
          <a:xfrm>
            <a:off x="6179820" y="4046219"/>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007C78"/>
                </a:solidFill>
                <a:latin typeface="DejaVu Sans Mono"/>
              </a:rPr>
              <a:t>f9236451ff785dc58315251cf864a3d1</a:t>
            </a:r>
          </a:p>
        </p:txBody>
      </p:sp>
      <p:sp>
        <p:nvSpPr>
          <p:cNvPr id="30" name="TextBox 29"/>
          <p:cNvSpPr txBox="1"/>
          <p:nvPr/>
        </p:nvSpPr>
        <p:spPr>
          <a:xfrm>
            <a:off x="6179820" y="4280306"/>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007C78"/>
                </a:solidFill>
                <a:latin typeface="DejaVu Sans Mono"/>
              </a:rPr>
              <a:t>0938412551cf45f448055061bc953ea1</a:t>
            </a:r>
          </a:p>
        </p:txBody>
      </p:sp>
      <p:sp>
        <p:nvSpPr>
          <p:cNvPr id="31" name="TextBox 30"/>
          <p:cNvSpPr txBox="1"/>
          <p:nvPr/>
        </p:nvSpPr>
        <p:spPr>
          <a:xfrm>
            <a:off x="6179820" y="4762500"/>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One local validator; direct node observations.</a:t>
            </a:r>
          </a:p>
        </p:txBody>
      </p:sp>
      <p:sp>
        <p:nvSpPr>
          <p:cNvPr id="32" name="TextBox 31"/>
          <p:cNvSpPr txBox="1"/>
          <p:nvPr/>
        </p:nvSpPr>
        <p:spPr>
          <a:xfrm>
            <a:off x="6179820" y="4996586"/>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Not a consensus proof or production test.</a:t>
            </a:r>
          </a:p>
        </p:txBody>
      </p:sp>
      <p:sp>
        <p:nvSpPr>
          <p:cNvPr id="33" name="Rounded Rectangle 32"/>
          <p:cNvSpPr/>
          <p:nvPr/>
        </p:nvSpPr>
        <p:spPr>
          <a:xfrm>
            <a:off x="548640" y="5829300"/>
            <a:ext cx="11094720" cy="403859"/>
          </a:xfrm>
          <a:prstGeom prst="roundRect">
            <a:avLst>
              <a:gd name="adj" fmla="val 15094"/>
            </a:avLst>
          </a:prstGeom>
          <a:solidFill>
            <a:srgbClr val="F3E7CE"/>
          </a:solidFill>
          <a:ln>
            <a:noFill/>
          </a:ln>
          <a:effectLst/>
        </p:spPr>
        <p:txBody>
          <a:bodyPr rtlCol="0" anchor="ctr"/>
          <a:lstStyle/>
          <a:p>
            <a:pPr algn="ctr"/>
          </a:p>
        </p:txBody>
      </p:sp>
      <p:sp>
        <p:nvSpPr>
          <p:cNvPr id="34" name="TextBox 33"/>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A86A15"/>
                </a:solidFill>
                <a:latin typeface="DejaVu Sans"/>
              </a:rPr>
              <a:t>M3 CHAIN = NOT_RUN. Historical source reproduction requires exact F1R3 changes or a separate rebaseline.</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evidence/chain-demo.json · M1 historical</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G / COMMANDS AND PREREQUISITES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Reproduce the supported M3 gates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Use the tested revision or a reviewed descendant, with source access and a fresh destination.</a:t>
            </a:r>
          </a:p>
        </p:txBody>
      </p:sp>
      <p:sp>
        <p:nvSpPr>
          <p:cNvPr id="5" name="Rounded Rectangle 4"/>
          <p:cNvSpPr/>
          <p:nvPr/>
        </p:nvSpPr>
        <p:spPr>
          <a:xfrm>
            <a:off x="548640" y="1866900"/>
            <a:ext cx="11094720" cy="1424940"/>
          </a:xfrm>
          <a:prstGeom prst="roundRect">
            <a:avLst>
              <a:gd name="adj" fmla="val 6417"/>
            </a:avLst>
          </a:prstGeom>
          <a:solidFill>
            <a:srgbClr val="0B2233"/>
          </a:solidFill>
          <a:ln>
            <a:noFill/>
          </a:ln>
          <a:effectLst/>
        </p:spPr>
        <p:txBody>
          <a:bodyPr rtlCol="0" anchor="ctr"/>
          <a:lstStyle/>
          <a:p>
            <a:pPr algn="ctr"/>
          </a:p>
        </p:txBody>
      </p:sp>
      <p:sp>
        <p:nvSpPr>
          <p:cNvPr id="6" name="TextBox 5"/>
          <p:cNvSpPr txBox="1"/>
          <p:nvPr/>
        </p:nvSpPr>
        <p:spPr>
          <a:xfrm>
            <a:off x="762000" y="2034539"/>
            <a:ext cx="10515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77DDC4"/>
                </a:solidFill>
                <a:latin typeface="DejaVu Sans"/>
              </a:rPr>
              <a:t>BUILD FRESH PINNED PROVIDERS</a:t>
            </a:r>
          </a:p>
        </p:txBody>
      </p:sp>
      <p:sp>
        <p:nvSpPr>
          <p:cNvPr id="7" name="TextBox 6"/>
          <p:cNvSpPr txBox="1"/>
          <p:nvPr/>
        </p:nvSpPr>
        <p:spPr>
          <a:xfrm>
            <a:off x="762000" y="2392680"/>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uv run --python 3.11 --locked python \</a:t>
            </a:r>
          </a:p>
        </p:txBody>
      </p:sp>
      <p:sp>
        <p:nvSpPr>
          <p:cNvPr id="8" name="TextBox 7"/>
          <p:cNvSpPr txBox="1"/>
          <p:nvPr/>
        </p:nvSpPr>
        <p:spPr>
          <a:xfrm>
            <a:off x="762000" y="2758440"/>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scripts/build_m3.py artifacts/m3-providers</a:t>
            </a:r>
          </a:p>
        </p:txBody>
      </p:sp>
      <p:sp>
        <p:nvSpPr>
          <p:cNvPr id="9" name="Rounded Rectangle 8"/>
          <p:cNvSpPr/>
          <p:nvPr/>
        </p:nvSpPr>
        <p:spPr>
          <a:xfrm>
            <a:off x="548640" y="3543300"/>
            <a:ext cx="11094720" cy="1424940"/>
          </a:xfrm>
          <a:prstGeom prst="roundRect">
            <a:avLst>
              <a:gd name="adj" fmla="val 6417"/>
            </a:avLst>
          </a:prstGeom>
          <a:solidFill>
            <a:srgbClr val="0B2233"/>
          </a:solidFill>
          <a:ln>
            <a:noFill/>
          </a:ln>
          <a:effectLst/>
        </p:spPr>
        <p:txBody>
          <a:bodyPr rtlCol="0" anchor="ctr"/>
          <a:lstStyle/>
          <a:p>
            <a:pPr algn="ctr"/>
          </a:p>
        </p:txBody>
      </p:sp>
      <p:sp>
        <p:nvSpPr>
          <p:cNvPr id="10" name="TextBox 9"/>
          <p:cNvSpPr txBox="1"/>
          <p:nvPr/>
        </p:nvSpPr>
        <p:spPr>
          <a:xfrm>
            <a:off x="762000" y="3710940"/>
            <a:ext cx="10515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77DDC4"/>
                </a:solidFill>
                <a:latin typeface="DejaVu Sans"/>
              </a:rPr>
              <a:t>VERIFY M1/M2 + C3/C4 + NATIVE HIVE + CONTROLLED SWAP</a:t>
            </a:r>
          </a:p>
        </p:txBody>
      </p:sp>
      <p:sp>
        <p:nvSpPr>
          <p:cNvPr id="11" name="TextBox 10"/>
          <p:cNvSpPr txBox="1"/>
          <p:nvPr/>
        </p:nvSpPr>
        <p:spPr>
          <a:xfrm>
            <a:off x="762000" y="4069079"/>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uv run --python 3.11 --locked python \</a:t>
            </a:r>
          </a:p>
        </p:txBody>
      </p:sp>
      <p:sp>
        <p:nvSpPr>
          <p:cNvPr id="12" name="TextBox 11"/>
          <p:cNvSpPr txBox="1"/>
          <p:nvPr/>
        </p:nvSpPr>
        <p:spPr>
          <a:xfrm>
            <a:off x="762000" y="4434840"/>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scripts/verify_m3.py artifacts/m3-providers/environment.json</a:t>
            </a:r>
          </a:p>
        </p:txBody>
      </p:sp>
      <p:sp>
        <p:nvSpPr>
          <p:cNvPr id="13" name="TextBox 12"/>
          <p:cNvSpPr txBox="1"/>
          <p:nvPr/>
        </p:nvSpPr>
        <p:spPr>
          <a:xfrm>
            <a:off x="594360" y="5311140"/>
            <a:ext cx="108966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Read: manifest.json → final/verification.json → suite logs → final/comparison.json</a:t>
            </a:r>
          </a:p>
        </p:txBody>
      </p:sp>
      <p:sp>
        <p:nvSpPr>
          <p:cNvPr id="14" name="Rounded Rectangle 1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15" name="TextBox 14"/>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Source access, fixture tests, native execution and archived evidence are separate reproducibility requirements.</a:t>
            </a:r>
          </a:p>
        </p:txBody>
      </p:sp>
      <p:cxnSp>
        <p:nvCxnSpPr>
          <p:cNvPr id="16" name="Connector 15"/>
          <p:cNvCxnSpPr/>
          <p:nvPr/>
        </p:nvCxnSpPr>
        <p:spPr>
          <a:xfrm>
            <a:off x="548640" y="6393180"/>
            <a:ext cx="11094720" cy="0"/>
          </a:xfrm>
          <a:prstGeom prst="line">
            <a:avLst/>
          </a:prstGeom>
          <a:ln w="7620">
            <a:solidFill>
              <a:srgbClr val="C9D2D4"/>
            </a:solidFill>
          </a:ln>
          <a:effectLst/>
        </p:spPr>
      </p:cxnSp>
      <p:sp>
        <p:nvSpPr>
          <p:cNvPr id="17" name="TextBox 1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runbook.md · build_m3.py · verify_m3.py</a:t>
            </a:r>
          </a:p>
        </p:txBody>
      </p:sp>
      <p:sp>
        <p:nvSpPr>
          <p:cNvPr id="18" name="TextBox 1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H / OPERATIONAL SEMANTICS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Retry identities answer different questions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Preserve the logical cause while distinguishing transport replay from physical evaluation attempts.</a:t>
            </a:r>
          </a:p>
        </p:txBody>
      </p:sp>
      <p:sp>
        <p:nvSpPr>
          <p:cNvPr id="5" name="TextBox 4"/>
          <p:cNvSpPr txBox="1"/>
          <p:nvPr/>
        </p:nvSpPr>
        <p:spPr>
          <a:xfrm>
            <a:off x="670560" y="1790700"/>
            <a:ext cx="2613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IDENTITY / STATE</a:t>
            </a:r>
          </a:p>
        </p:txBody>
      </p:sp>
      <p:sp>
        <p:nvSpPr>
          <p:cNvPr id="6" name="TextBox 5"/>
          <p:cNvSpPr txBox="1"/>
          <p:nvPr/>
        </p:nvSpPr>
        <p:spPr>
          <a:xfrm>
            <a:off x="3528060" y="1790700"/>
            <a:ext cx="3756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MEANING</a:t>
            </a:r>
          </a:p>
        </p:txBody>
      </p:sp>
      <p:sp>
        <p:nvSpPr>
          <p:cNvPr id="7" name="TextBox 6"/>
          <p:cNvSpPr txBox="1"/>
          <p:nvPr/>
        </p:nvSpPr>
        <p:spPr>
          <a:xfrm>
            <a:off x="7528559" y="1790700"/>
            <a:ext cx="39928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RECOVERY ACTION</a:t>
            </a:r>
          </a:p>
        </p:txBody>
      </p:sp>
      <p:sp>
        <p:nvSpPr>
          <p:cNvPr id="8" name="Rounded Rectangle 7"/>
          <p:cNvSpPr/>
          <p:nvPr/>
        </p:nvSpPr>
        <p:spPr>
          <a:xfrm>
            <a:off x="548640" y="2110740"/>
            <a:ext cx="11094720" cy="579120"/>
          </a:xfrm>
          <a:prstGeom prst="roundRect">
            <a:avLst>
              <a:gd name="adj" fmla="val 7894"/>
            </a:avLst>
          </a:prstGeom>
          <a:solidFill>
            <a:srgbClr val="FFFFFF"/>
          </a:solidFill>
          <a:ln>
            <a:noFill/>
          </a:ln>
          <a:effectLst/>
        </p:spPr>
        <p:txBody>
          <a:bodyPr rtlCol="0" anchor="ctr"/>
          <a:lstStyle/>
          <a:p>
            <a:pPr algn="ctr"/>
          </a:p>
        </p:txBody>
      </p:sp>
      <p:sp>
        <p:nvSpPr>
          <p:cNvPr id="9" name="TextBox 8"/>
          <p:cNvSpPr txBox="1"/>
          <p:nvPr/>
        </p:nvSpPr>
        <p:spPr>
          <a:xfrm>
            <a:off x="670560" y="224028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Request / step ID</a:t>
            </a:r>
          </a:p>
        </p:txBody>
      </p:sp>
      <p:sp>
        <p:nvSpPr>
          <p:cNvPr id="10" name="TextBox 9"/>
          <p:cNvSpPr txBox="1"/>
          <p:nvPr/>
        </p:nvSpPr>
        <p:spPr>
          <a:xfrm>
            <a:off x="3528060" y="224028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Exact immutable command intent</a:t>
            </a:r>
          </a:p>
        </p:txBody>
      </p:sp>
      <p:sp>
        <p:nvSpPr>
          <p:cNvPr id="11" name="TextBox 10"/>
          <p:cNvSpPr txBox="1"/>
          <p:nvPr/>
        </p:nvSpPr>
        <p:spPr>
          <a:xfrm>
            <a:off x="7528559" y="224028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Same body replays; changed body conflicts</a:t>
            </a:r>
          </a:p>
        </p:txBody>
      </p:sp>
      <p:sp>
        <p:nvSpPr>
          <p:cNvPr id="12" name="Rounded Rectangle 11"/>
          <p:cNvSpPr/>
          <p:nvPr/>
        </p:nvSpPr>
        <p:spPr>
          <a:xfrm>
            <a:off x="548640" y="2727960"/>
            <a:ext cx="11094720" cy="579120"/>
          </a:xfrm>
          <a:prstGeom prst="roundRect">
            <a:avLst>
              <a:gd name="adj" fmla="val 7894"/>
            </a:avLst>
          </a:prstGeom>
          <a:solidFill>
            <a:srgbClr val="FFFFFF"/>
          </a:solidFill>
          <a:ln>
            <a:noFill/>
          </a:ln>
          <a:effectLst/>
        </p:spPr>
        <p:txBody>
          <a:bodyPr rtlCol="0" anchor="ctr"/>
          <a:lstStyle/>
          <a:p>
            <a:pPr algn="ctr"/>
          </a:p>
        </p:txBody>
      </p:sp>
      <p:sp>
        <p:nvSpPr>
          <p:cNvPr id="13" name="TextBox 12"/>
          <p:cNvSpPr txBox="1"/>
          <p:nvPr/>
        </p:nvSpPr>
        <p:spPr>
          <a:xfrm>
            <a:off x="670560" y="285750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Logical derivation ID</a:t>
            </a:r>
          </a:p>
        </p:txBody>
      </p:sp>
      <p:sp>
        <p:nvSpPr>
          <p:cNvPr id="14" name="TextBox 13"/>
          <p:cNvSpPr txBox="1"/>
          <p:nvPr/>
        </p:nvSpPr>
        <p:spPr>
          <a:xfrm>
            <a:off x="3528060" y="285750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The same exact grounded conclusion</a:t>
            </a:r>
          </a:p>
        </p:txBody>
      </p:sp>
      <p:sp>
        <p:nvSpPr>
          <p:cNvPr id="15" name="TextBox 14"/>
          <p:cNvSpPr txBox="1"/>
          <p:nvPr/>
        </p:nvSpPr>
        <p:spPr>
          <a:xfrm>
            <a:off x="7528559" y="285750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Deduplicate admission and causal feedback</a:t>
            </a:r>
          </a:p>
        </p:txBody>
      </p:sp>
      <p:sp>
        <p:nvSpPr>
          <p:cNvPr id="16" name="Rounded Rectangle 15"/>
          <p:cNvSpPr/>
          <p:nvPr/>
        </p:nvSpPr>
        <p:spPr>
          <a:xfrm>
            <a:off x="548640" y="3345179"/>
            <a:ext cx="11094720" cy="579120"/>
          </a:xfrm>
          <a:prstGeom prst="roundRect">
            <a:avLst>
              <a:gd name="adj" fmla="val 7894"/>
            </a:avLst>
          </a:prstGeom>
          <a:solidFill>
            <a:srgbClr val="FFFFFF"/>
          </a:solidFill>
          <a:ln>
            <a:noFill/>
          </a:ln>
          <a:effectLst/>
        </p:spPr>
        <p:txBody>
          <a:bodyPr rtlCol="0" anchor="ctr"/>
          <a:lstStyle/>
          <a:p>
            <a:pPr algn="ctr"/>
          </a:p>
        </p:txBody>
      </p:sp>
      <p:sp>
        <p:nvSpPr>
          <p:cNvPr id="17" name="TextBox 16"/>
          <p:cNvSpPr txBox="1"/>
          <p:nvPr/>
        </p:nvSpPr>
        <p:spPr>
          <a:xfrm>
            <a:off x="670560" y="3474719"/>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Attempt key + reserved</a:t>
            </a:r>
          </a:p>
        </p:txBody>
      </p:sp>
      <p:sp>
        <p:nvSpPr>
          <p:cNvPr id="18" name="TextBox 17"/>
          <p:cNvSpPr txBox="1"/>
          <p:nvPr/>
        </p:nvSpPr>
        <p:spPr>
          <a:xfrm>
            <a:off x="670560" y="3699052"/>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slot</a:t>
            </a:r>
          </a:p>
        </p:txBody>
      </p:sp>
      <p:sp>
        <p:nvSpPr>
          <p:cNvPr id="19" name="TextBox 18"/>
          <p:cNvSpPr txBox="1"/>
          <p:nvPr/>
        </p:nvSpPr>
        <p:spPr>
          <a:xfrm>
            <a:off x="3528060" y="3474719"/>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One physical evaluation opportunity</a:t>
            </a:r>
          </a:p>
        </p:txBody>
      </p:sp>
      <p:sp>
        <p:nvSpPr>
          <p:cNvPr id="20" name="TextBox 19"/>
          <p:cNvSpPr txBox="1"/>
          <p:nvPr/>
        </p:nvSpPr>
        <p:spPr>
          <a:xfrm>
            <a:off x="7528559" y="3474719"/>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Pending death spends slot; new key needs</a:t>
            </a:r>
          </a:p>
        </p:txBody>
      </p:sp>
      <p:sp>
        <p:nvSpPr>
          <p:cNvPr id="21" name="TextBox 20"/>
          <p:cNvSpPr txBox="1"/>
          <p:nvPr/>
        </p:nvSpPr>
        <p:spPr>
          <a:xfrm>
            <a:off x="7528559" y="3699052"/>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budget</a:t>
            </a:r>
          </a:p>
        </p:txBody>
      </p:sp>
      <p:sp>
        <p:nvSpPr>
          <p:cNvPr id="22" name="Rounded Rectangle 21"/>
          <p:cNvSpPr/>
          <p:nvPr/>
        </p:nvSpPr>
        <p:spPr>
          <a:xfrm>
            <a:off x="548640" y="3962400"/>
            <a:ext cx="11094720" cy="579120"/>
          </a:xfrm>
          <a:prstGeom prst="roundRect">
            <a:avLst>
              <a:gd name="adj" fmla="val 7894"/>
            </a:avLst>
          </a:prstGeom>
          <a:solidFill>
            <a:srgbClr val="FFFFFF"/>
          </a:solidFill>
          <a:ln>
            <a:noFill/>
          </a:ln>
          <a:effectLst/>
        </p:spPr>
        <p:txBody>
          <a:bodyPr rtlCol="0" anchor="ctr"/>
          <a:lstStyle/>
          <a:p>
            <a:pPr algn="ctr"/>
          </a:p>
        </p:txBody>
      </p:sp>
      <p:sp>
        <p:nvSpPr>
          <p:cNvPr id="23" name="TextBox 22"/>
          <p:cNvSpPr txBox="1"/>
          <p:nvPr/>
        </p:nvSpPr>
        <p:spPr>
          <a:xfrm>
            <a:off x="670560" y="409194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Committed C2 decision</a:t>
            </a:r>
          </a:p>
        </p:txBody>
      </p:sp>
      <p:sp>
        <p:nvSpPr>
          <p:cNvPr id="24" name="TextBox 23"/>
          <p:cNvSpPr txBox="1"/>
          <p:nvPr/>
        </p:nvSpPr>
        <p:spPr>
          <a:xfrm>
            <a:off x="3528060" y="409194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Saved authoritative admission outcome</a:t>
            </a:r>
          </a:p>
        </p:txBody>
      </p:sp>
      <p:sp>
        <p:nvSpPr>
          <p:cNvPr id="25" name="TextBox 24"/>
          <p:cNvSpPr txBox="1"/>
          <p:nvPr/>
        </p:nvSpPr>
        <p:spPr>
          <a:xfrm>
            <a:off x="7528559" y="409194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Read first; do not recalculate</a:t>
            </a:r>
          </a:p>
        </p:txBody>
      </p:sp>
      <p:sp>
        <p:nvSpPr>
          <p:cNvPr id="26" name="Rounded Rectangle 25"/>
          <p:cNvSpPr/>
          <p:nvPr/>
        </p:nvSpPr>
        <p:spPr>
          <a:xfrm>
            <a:off x="548640" y="4579620"/>
            <a:ext cx="11094720" cy="579120"/>
          </a:xfrm>
          <a:prstGeom prst="roundRect">
            <a:avLst>
              <a:gd name="adj" fmla="val 7894"/>
            </a:avLst>
          </a:prstGeom>
          <a:solidFill>
            <a:srgbClr val="FFFFFF"/>
          </a:solidFill>
          <a:ln>
            <a:noFill/>
          </a:ln>
          <a:effectLst/>
        </p:spPr>
        <p:txBody>
          <a:bodyPr rtlCol="0" anchor="ctr"/>
          <a:lstStyle/>
          <a:p>
            <a:pPr algn="ctr"/>
          </a:p>
        </p:txBody>
      </p:sp>
      <p:sp>
        <p:nvSpPr>
          <p:cNvPr id="27" name="TextBox 26"/>
          <p:cNvSpPr txBox="1"/>
          <p:nvPr/>
        </p:nvSpPr>
        <p:spPr>
          <a:xfrm>
            <a:off x="670560" y="470916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C3 causal feedback</a:t>
            </a:r>
          </a:p>
        </p:txBody>
      </p:sp>
      <p:sp>
        <p:nvSpPr>
          <p:cNvPr id="28" name="TextBox 27"/>
          <p:cNvSpPr txBox="1"/>
          <p:nvPr/>
        </p:nvSpPr>
        <p:spPr>
          <a:xfrm>
            <a:off x="670560" y="4933492"/>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receipt</a:t>
            </a:r>
          </a:p>
        </p:txBody>
      </p:sp>
      <p:sp>
        <p:nvSpPr>
          <p:cNvPr id="29" name="TextBox 28"/>
          <p:cNvSpPr txBox="1"/>
          <p:nvPr/>
        </p:nvSpPr>
        <p:spPr>
          <a:xfrm>
            <a:off x="3528060" y="470916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One workflow credit for logical admission</a:t>
            </a:r>
          </a:p>
        </p:txBody>
      </p:sp>
      <p:sp>
        <p:nvSpPr>
          <p:cNvPr id="30" name="TextBox 29"/>
          <p:cNvSpPr txBox="1"/>
          <p:nvPr/>
        </p:nvSpPr>
        <p:spPr>
          <a:xfrm>
            <a:off x="7528559" y="470916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Recover acknowledgment; do not credit</a:t>
            </a:r>
          </a:p>
        </p:txBody>
      </p:sp>
      <p:sp>
        <p:nvSpPr>
          <p:cNvPr id="31" name="TextBox 30"/>
          <p:cNvSpPr txBox="1"/>
          <p:nvPr/>
        </p:nvSpPr>
        <p:spPr>
          <a:xfrm>
            <a:off x="7528559" y="4933492"/>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twice</a:t>
            </a:r>
          </a:p>
        </p:txBody>
      </p:sp>
      <p:sp>
        <p:nvSpPr>
          <p:cNvPr id="32" name="Rounded Rectangle 31"/>
          <p:cNvSpPr/>
          <p:nvPr/>
        </p:nvSpPr>
        <p:spPr>
          <a:xfrm>
            <a:off x="548640" y="5196840"/>
            <a:ext cx="11094720" cy="579120"/>
          </a:xfrm>
          <a:prstGeom prst="roundRect">
            <a:avLst>
              <a:gd name="adj" fmla="val 7894"/>
            </a:avLst>
          </a:prstGeom>
          <a:solidFill>
            <a:srgbClr val="FFFFFF"/>
          </a:solidFill>
          <a:ln>
            <a:noFill/>
          </a:ln>
          <a:effectLst/>
        </p:spPr>
        <p:txBody>
          <a:bodyPr rtlCol="0" anchor="ctr"/>
          <a:lstStyle/>
          <a:p>
            <a:pPr algn="ctr"/>
          </a:p>
        </p:txBody>
      </p:sp>
      <p:sp>
        <p:nvSpPr>
          <p:cNvPr id="33" name="TextBox 32"/>
          <p:cNvSpPr txBox="1"/>
          <p:nvPr/>
        </p:nvSpPr>
        <p:spPr>
          <a:xfrm>
            <a:off x="670560" y="532638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Deadline / generation</a:t>
            </a:r>
          </a:p>
        </p:txBody>
      </p:sp>
      <p:sp>
        <p:nvSpPr>
          <p:cNvPr id="34" name="TextBox 33"/>
          <p:cNvSpPr txBox="1"/>
          <p:nvPr/>
        </p:nvSpPr>
        <p:spPr>
          <a:xfrm>
            <a:off x="670560" y="5550712"/>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watermark</a:t>
            </a:r>
          </a:p>
        </p:txBody>
      </p:sp>
      <p:sp>
        <p:nvSpPr>
          <p:cNvPr id="35" name="TextBox 34"/>
          <p:cNvSpPr txBox="1"/>
          <p:nvPr/>
        </p:nvSpPr>
        <p:spPr>
          <a:xfrm>
            <a:off x="3528060" y="532638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Durable limits across process restarts</a:t>
            </a:r>
          </a:p>
        </p:txBody>
      </p:sp>
      <p:sp>
        <p:nvSpPr>
          <p:cNvPr id="36" name="TextBox 35"/>
          <p:cNvSpPr txBox="1"/>
          <p:nvPr/>
        </p:nvSpPr>
        <p:spPr>
          <a:xfrm>
            <a:off x="7528559" y="532638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Do not reset, refund or implicitly retime</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 / inference.py · derived_beliefs.py · attention.py</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Omega × ASI — Independent attention and bounded native inference</dc:title>
  <dc:subject>Through M3: private memory, independent STI, bounded native inference and real Hive recovery</dc:subject>
  <dc:creator>Omega × ASI module-interface project</dc:creator>
  <cp:keywords>Omega, ASI, M3, ELI16, Hive, DeTTa, PLN, memory, attention, bounded inference, recovery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