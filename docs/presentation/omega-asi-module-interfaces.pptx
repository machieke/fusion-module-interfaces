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ELI16 executive summary, then the helicopter view and all fifteen module responsibilities before implementation details. M1.1 proved independent storage substitution and separate owner commits. M1.2 connected the real native Hive caller. M2 adds only C1 EpisodicMemory and C2 BeliefRevision, including actual guarded native PLN revision and one real Hive episode scenario. This is a bounded engineering integration, not a general reasoning agent or production system. Suggested delivery: 35–40 minutes through slide 30; eight appendices support questions. Current evidence is the final clean d9e7577 run, recorded in unchanged-code descendant f0cee24. Rebuilding this presentation does not rerun integrations.</a:t>
            </a:r>
          </a:p>
          <a:p/>
          <a:p>
            <a:r>
              <a:t>Source: M2 evidence f0cee24 · tested d9e7577</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ELI16 means explain the idea to a technically curious sixteen-year-old without assuming distributed-systems or PLN vocabulary. The notebook is C1: what happened, in what order and with what provenance. The evidence ledger is C2: what was admitted, what contributes to the current aggregate and what remains an alternative. The calculator is the narrow RevisionMath dependency; it does not decide what to think about. The runtime is real, while the observations and independence declarations in the demonstration are generated fixtures. We killed actual processes and recovered from local files. That supports a local restart claim, not power-loss or distributed failover. Benefits are auditable history, duplicate-safe contributions and explicit provider choices.</a:t>
            </a:r>
          </a:p>
          <a:p/>
          <a:p>
            <a:r>
              <a:t>Source: m2-evidence.md ·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sensor example is an explanatory analogy, not an additional experiment. The actual generated scenario uses the same distinctions: a report without a truth value, an explicit assessment, a copy with the original roots, and a contrary assessment. Admission preserves observations even when numerical aggregation is refused. Known common origins or overlapping evidence block additional weight despite an independence declaration. The operator's assertion of independence is an assumption, not proof; undisclosed copying is not detected. A separate generated independent pair exercises actual native revision.</a:t>
            </a:r>
          </a:p>
          <a:p/>
          <a:p>
            <a:r>
              <a:t>Source: C1 provenance · C2 support coverage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fifteen responsibility groups remain the same. C1 and C2 are now implemented private local modules; Relations, Search, the general PLN kernel, ECAN and inference control remain specifications. RevisionMath is a narrow dependency inside the C2 integration, not a claim to have implemented the general PLN kernel. Hive is a consumer. Provider, process and repository boundaries are independent. Blue means implemented local contracts, not production readiness. Authorization uses real native Hive authentication followed by a development Fusion policy. Finality has historical M1 evidence only; no M2 chain action occurred. Maintainer assignments remain unassigned.</a:t>
            </a:r>
          </a:p>
          <a:p/>
          <a:p>
            <a:r>
              <a:t>Source: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AtomStorage owns immutable scoped references and replay metadata, while DA only persists opaque payloads and generic coordinates. Relations and Search remain typed specifications. C1's local v2 operations are recordEpisode, appendEvent, readEpisode, readEvidence, pendingEvidence and trusted acknowledgeEvidence. findEpisodes is not advertised. C1 preserves committed episode-local order and admitted provenance; observed time is metadata. It can run without C2 or PLN and against an independently implemented AtomStorage fixture. Its event bytes are immutable atoms, while its episode head and delivery intents belong to C1.</a:t>
            </a:r>
          </a:p>
          <a:p/>
          <a:p>
            <a:r>
              <a:t>Source: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C2 exclusively owns admitted observations/supports, immutable belief snapshots and exact semantic attempts. Its narrow RevisionMath port reuses the unchanged Reachability PLNAdapter.revise guards and the actual Truth_Revision formula. The general PLNKernel.applyRule contract remains unimplemented. Attention owns its own balances and logical time, with no hidden PLN or LLM dependency. Inference control would orchestrate bounded retrieval, selection and rules; it cannot own or mutate truth or attention behind their owners. No ECAN, inference-control or chain work is included in M2.</a:t>
            </a:r>
          </a:p>
          <a:p/>
          <a:p>
            <a:r>
              <a:t>Source: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Messaging acceptance differs from delivery and acknowledgement. Execution accepts only inspect_atom and owns jobs plus its completion outbox; result atoms commit independently. The registry advertises descriptors, and the resolver matches consumer requirements. Neither grants permission. Finality records independent chain observations from historical M1; it is not a C1/C2 dependency. Native authentication supplies trusted actor context, while local Fusion policy determines current access. The M2 relay is a narrow delivery cursor between two owners, not a sixteenth general service, event bus or inference controller.</a:t>
            </a:r>
          </a:p>
          <a:p/>
          <a:p>
            <a:r>
              <a:t>Source: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Composition alone selects concrete providers and binds authenticated private authority. The generated scenario appends to C1, drains the relay and can submit an explicit pair assumption to C2. The relay invokes C1 pendingEvidence/acknowledgeEvidence and C2 readBelief/submitEvidence, storing exact attempts in its own journal. C2 resolves C1 EvidenceRefs through readEvidence and validates immutable records/claims through AtomStorage. C1 and C2 never read each other's SQL. C2 alone calls RevisionMath. C1's dependencies exclude C2, Hive, PLN, mailbox and execution. Registry/authority checks surround each invocation and the final C2 commit; omitted side arrows keep the function diagram readable. All illustrated arrows are exercised local calls, not promises of remote placement.</a:t>
            </a:r>
          </a:p>
          <a:p/>
          <a:p>
            <a:r>
              <a:t>Source: ports.py · private.py · evidence_relay.py</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Follow the real native dispatch into the thin plugin, which holds a caller-owned receipt and uses Subprocess/Peer through descriptor-bound validation. Direct storage, messaging and execution calls all cross the same authenticated boundary. Trusted composition supplies concrete owners; the plugin never constructs them or accesses their tables. Messaging.send validates the referenced bytes through caller-authorized AtomStorage.get; Execution.submit reads the input before accepting a new job. The worker calls declared AtomStorage get/create, then execution commits terminal state/outbox. CompletionDelivery.accept belongs to the mailbox owner and commits separately. Chain remains a separate, uninvoked adapter. This is a logical call map; it does not force one process per module.</a:t>
            </a:r>
          </a:p>
          <a:p/>
          <a:p>
            <a:r>
              <a:t>Source: program.py · ports.py · execution.py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unchanged DA boundary is exercised against a freshly fetched clean secured-contract-spaces revision 272888f264dd2dde18b574cabb53c266b0dac2ec. No Hive-specific schema is added to DeTTa. Application references and replay semantics belong above opaque DA. Conformance removes the cached payload and two erasure shares and verifies reconstruction; three missing shares and corruption fail explicitly. This is actual local library execution, not a validator/custody network or an indefinite-retention claim. The independent atomic-file provider is an AtomStorage contract fixture, not a second DA network. The clean-source rebaseline excludes historical dirty storage-format and custody-pruning additions and reruns applicable tests.</a:t>
            </a:r>
          </a:p>
          <a:p/>
          <a:p>
            <a:r>
              <a:t>Source: adapters/detta/src/main.rs · test_contract.py</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recorded M1.2 substitution workflows use protocol fixture callers, two AtomStorage implementations and two bindings. The independent file fixture neither inherits AtomOwner nor uses its atom table. The final M2 regression reruns the preserved matrix. M2 separately proves C1 against the independent file provider with cognition absent and hostile declared-port wrappers. Do not label the file fixture as another real DA provider. Wire remains 1.0.0 and immutable-bytes/1 remains unchanged. C1/C2 use local interface 2.0.0, implementation 0.2.0 and explicit private profiles. Descriptor hashes bind selection consistency, not provider honesty. These are fresh-store tests, not live namespace replacement or migration.</a:t>
            </a:r>
          </a:p>
          <a:p/>
          <a:p>
            <a:r>
              <a:t>Source: m11-swap-demo.json · memory_contracts.py</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open_private resolves private descriptors and constructs separate local owners over actual DeTTa. It rejects overlap with configured shared roots. C1, C2, atoms and relay have distinct owner journals; the local composition grants one authenticated principal per private scope. Native Hive supplies actor and command context, and operator configuration maps actor/swarm to the private credential and scope. Canary tests inspect real shared stores/messages, intercepted outbound bindings, diagnostics, native responses and Hive traces. This is routing and placement isolation under a trusted host/operator, not encryption, administrator secrecy or remote privacy. Native authentication is real; the downstream Fusion policy remains the labelled local test policy.</a:t>
            </a:r>
          </a:p>
          <a:p/>
          <a:p>
            <a:r>
              <a:t>Source: private.py · episode_program/program.py</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C1 profile is episode-local-sequence/2; C2 is pln-revision-private/1. Local interface version is 2.0.0, implementation 0.2.0. No new remote cognitive wire schema or M1 mutation route was added. EpisodeRef is stable while head tracks committed sequence; observed time is metadata. Evidence distinguishes report and explicit numerical assessment. Grounded claims use exact predicate, ordered string arguments and positive polarity plus exact context. A contrary low-strength assessment of the same claim differs from a negated claim. Admission admitted/duplicate is independent of initialized/revised/no-change/retained-alternative/model-inapplicable. Every attempt binds semantic input and selection. The separate belief.revision.assume permission authorizes pair assumptions; it is not an invented public method.</a:t>
            </a:r>
          </a:p>
          <a:p/>
          <a:p>
            <a:r>
              <a:t>Source: memory_types.py · memory_contracts.py · ADR 008/009</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illustrated event roles match the generated story. Each immutable event is referenced by an AtomRef; the episode head begins at zero and advances by one for accepted occurrences. A duplicate occurrence with the same semantic content returns its original receipt before a stale expected-head check, even under a new request key. Changed content or provenance for that occurrence conflicts. Distinct occurrences can have identical bytes. Payload persistence can precede episode commit and leave an orphan after death; replay recovers the same atom without inventing an acknowledged event. C1 exposes bounded reads, pending evidence and trusted acknowledgements, with no cognition dependency. No dynamic episode search or garbage collector is implemented.</a:t>
            </a:r>
          </a:p>
          <a:p/>
          <a:p>
            <a:r>
              <a:t>Source: episodes.py · tests/test_m2.py</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first eligible explicit assessment initializes the aggregate. Later evidence is retained without automatic aggregation unless an exact pair assumption and guards permit revision. Unknown origins cannot initialize a justified numerical aggregate. A report without numerical assessment is model-inapplicable. The ledger retains observations, support records, immutable snapshots and exact decisions. A later authorized independence declaration may combine already admitted supports, without creating another observation. Exact successful replay returns the original historical decision even after later revisions; a new-key duplicate returns current state without adding weight. Retained-alternative is a pair outcome, so an already covered ancestor need not produce a new alternative list entry or revision. Coverage fields state the actual result.</a:t>
            </a:r>
          </a:p>
          <a:p/>
          <a:p>
            <a:r>
              <a:t>Source: beliefs.py · memory_types.py</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support-lineage diagram, not a general inference graph. Registered source origins are operator assumptions. Copies inherit the union of admitted provenance roots. The unchanged upstream guards require an exact independence declaration binding both supports, with matching model, claim, context and disjoint relevant lineage. Known shared origin or evidence overlap takes precedence over that declaration. Aggregation unions lineage; reintroducing an ancestor cannot increase weight. In the generated demo ancestor_outcome is retained-alternative, while the aggregate and contribution coverage remain unchanged. The model does not detect undisclosed copying or establish the truth of source registration.</a:t>
            </a:r>
          </a:p>
          <a:p/>
          <a:p>
            <a:r>
              <a:t>Source: PLNAdapter.revise · beliefs.py</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Reachability is pinned at dd56f3f053ed90239de5377021a7d3b3fbf424ac; PLN at 4405956947c4b53c7ff01bd565aa3b114bc970a1; PeTTa at ae66fa8e41dcd5539d614706bd4e5cfb34f9608d. C2 loads the unchanged PLNAdapter.revise and its truth/support guards, injecting only a revision-specific native runner. The runtime profile is fusion-petta-swi-10.1.14-revision/1, with model trueagi-pln-stv-finite-k1/v1. The upstream historical 10.0.1 checks/locks were not weakened. Source and binary drift, missing binaries, invalid outputs and timeouts are refused. This is not a general PLN rule kernel or an AdmissionService/AtomSpace projection. C2 rechecks live authority and expected revision after computation before committing.</a:t>
            </a:r>
          </a:p>
          <a:p/>
          <a:p>
            <a:r>
              <a:t>Source: pln_revision.py · integration/pln/sources.json</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independent expected-value oracles for actual Truth_Revision through native PeTTa/SWI, not replacement production arithmetic. The valid-result absolute tolerance is 1e-12. Decimal-string inputs must pass both decimal and float64 domain checks; a value that rounds confidence to one is refused, not clamped. Nonfinite values, wrong model/context/claim, zero total weight and malformed native output fail explicitly. evidence_count remains null. The golden tests include equal, unequal and swapped input order. Malformed/empty/multiple output tests are labelled injected fixtures inside the broader native-provider suite. These computations do not validate the external truth or statistical independence of observations.</a:t>
            </a:r>
          </a:p>
          <a:p/>
          <a:p>
            <a:r>
              <a:t>Source: integration/pln/test_revision.py · final/demo.json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are actual OS-process SIGKILL tests with intact persistent local files. Atom persistence, C1 append+intent, C2 snapshot+decision and C1 acknowledgement are independent commits. The relay owns a separate exact request/cursor record, never foreign SQL. C2 saves its full semantic attempt before calculation, then rechecks authority and expected revision before final commit. Formula work may repeat after a crash, but logical evidence weight is duplicate-safe. Tests also exercise a two-process CAS race, retrying the unchanged key/occurrence/head through transient contention until a genuine final conflict. None of this proves power-loss durability, distributed failover or exactly-once physical evaluation.</a:t>
            </a:r>
          </a:p>
          <a:p/>
          <a:p>
            <a:r>
              <a:t>Source: test_recovery.py · test_m2_integration.py</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Private authority validates complete descriptor selection and current principal, scope and method on every operation, including cached replay. The separate belief.revision.assume permission governs explicit pair assumptions. C2 also checks authority and expected revision after native calculation. Full acknowledgement-body fingerprints prevent substituting a different decision behind the same acknowledgement identity. Inputs are detached from caller mutation. Same-key semantic changes conflict, including expected revision and runtime selection. Genuine CAS conflicts require a new attempt identity; retryable NOT_AVAILABLE preserves the exact attempt. The relay is bounded to three CAS retries per drain and at most 32 attempts per delivery. It is not a general retry scheduler or inference controller.</a:t>
            </a:r>
          </a:p>
          <a:p/>
          <a:p>
            <a:r>
              <a:t>Source: private.py · beliefs.py · evidence_relay.py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verified schematics pin actual Hive 34b0fb32ab3806e5609fc89bb7535518a35e1aea. Native startup is python -m hive; the integration driver uses the actual create_app, default Supervisor, PeTTa and native authenticated Programs dispatch in real processes. ASGI TestClient is only the transport. The sibling fusion-episode plugin derives authority from trusted actor context and operator principal/swarm mapping; it does not expose arbitrary observations over the shared wire. The original fusion-inspect plugin and thirteen tests remain unchanged. The seven M2 cases cover completion, exact replay/restart, all four SIGKILL boundaries, live revocation and private result isolation. Generated observations and assumptions remain fixtures even when the caller and providers are real.</a:t>
            </a:r>
          </a:p>
          <a:p/>
          <a:p>
            <a:r>
              <a:t>Source: episode_program/program.py · test_m2_integration.py</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reads the committed CLI demo record, whose own classification is: generated fixture, real DeTTa and native PLN; this CLI is not the Hive gate. It is not relabelled as a native Hive trace. The real Hive test suite independently exercises the same integration/m2_scenario.py through native authentication and Programs dispatch. The story contains 4 events and 2 retained alternatives. A separate pair of 2 generated independent observations produces strength 0.5, confidence 0.6666666666666666, evidence_count null. Exact restart result equality is True. The ancestor outcome is retained-alternative; no extra observation or numerical contribution is created. No real-world source reliability is inferred from generated assessments.</a:t>
            </a:r>
          </a:p>
          <a:p/>
          <a:p>
            <a:r>
              <a:t>Source: m2/final/demo.json · test_m2_integration.py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M2 verifier explicitly compares the preserved source files against requested M1.2 evidence ancestor 4ee5cbe8b84689a5d2432530083738b263142f90. It reruns the original thirteen real native Hive tests, the selected native baseline, upstream DeTTa and the full conformance suite. ports.py grows new local protocols, while the preserved original wire schemas and bindings remain unchanged. All six built provider source trees are clean after testing, and supplied sibling sources remain unchanged. No ECAN, inference control, general PLN kernel, live migration or chain action is added.</a:t>
            </a:r>
          </a:p>
          <a:p/>
          <a:p>
            <a:r>
              <a:t>Source: source-preservation.json · final/m1_2/verification.json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flatten the system into one real/fixture label. The runtime/provider gates execute actual pinned source. The scenario data, source-origin registrations and independence declarations are generated assumptions. The independent file provider proves the AtomStorage contract but is not real DeTTa. Eight upstream guard tests use RecordingRuntime fixtures; malformed output tests inject fixtures into an otherwise native suite. The upstream Hive baseline uses its fixture process driver, while the actual integration tests use the real default Supervisor. ASGI TestClient is transport, not a fake native application. The historical chain observation remains separate, and the M2 chain gate is NOT_RUN.</a:t>
            </a:r>
          </a:p>
          <a:p/>
          <a:p>
            <a:r>
              <a:t>Source: m2/manifest.json · final/verification.json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final comprehensive run is recorded from clean detached d9e75773c34987d5791a9207190fcbf0a8c1fd7b with PYTHONPATH forced to that checkout. The 106-case matrix includes the original 90 tests plus sixteen M2 fixtures; the fifty-one original fixtures and sixteen M2 fixtures are also run separately for isolation. Do not sum those repeated runs as unique tests. DeTTa has 62 DA and 38 storage tests. The 34 selected Hive baseline tests retain their upstream process-driver fixture; thirteen unchanged M1.2 tests and seven M2 tests exercise the real caller. Twelve native revision tests include real computations and deliberately injected malformed responses. Six recovery/privacy tests use actual local providers and SIGKILL. The CLI demo also passed with exact reopen results. Failed development runs remain in the evidence archive and are not counted as passing gates.</a:t>
            </a:r>
          </a:p>
          <a:p/>
          <a:p>
            <a:r>
              <a:t>Source: m2/final/verification.json · final/m1_2/verification.json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Gate statuses are read from the committed M2 manifest, not inferred from slide content. BASELINE includes source preservation and regression. CONTRACTS includes local v2 protocol fidelity and response validation. C1 combines sequence/CAS/replay with real DeTTa persistence. C1_INDEPENDENT is a fixture conformance gate, deliberately independent of the real math provider. C2_GUARDS includes eight unchanged upstream RecordingRuntime tests, local guards and native-suite refusal cases. C2_NATIVE includes actual native formula computations plus source/runtime compatibility checks. Fixture gate success is not relabelled as native numerical execution.</a:t>
            </a:r>
          </a:p>
          <a:p/>
          <a:p>
            <a:r>
              <a:t>Source: m2/manifest.json · m2-evidence.md</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PRIVACY proves canary isolation over the tested local routes under the trusted-host threat model. RECOVERY proves process restart, not power loss or distributed failover. HIVE_M2 uses actual native dispatch and the real private provider path. REPRO uses fresh native objects, venv and DeTTa Cargo target, while Git/Python/Cargo downloads may use warm caches. SCOPE limits the change to C1/C2 and preserves named original source files. CHAIN is explicitly NOT_RUN. No required M2 prerequisite remains blocked. A different historical question—exact reproduction of the dirty M1 F1R3 source state—remains blocked by unavailable source inputs and is documented separately in the appendix.</a:t>
            </a:r>
          </a:p>
          <a:p/>
          <a:p>
            <a:r>
              <a:t>Source: m2/manifest.json · source-preservation.json</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fresh build took 337.325 seconds, including 139.055 seconds for native SWI/Janus/Hive. Its native-build record names 6452fa7 because provider construction began before the M2 commits; the native recipe/locks and compiled DeTTa adapter source were unchanged, and the recipe hash matches the committed M2 build script. Final Fusion verification separately used clean detached d9e75773c34987d5791a9207190fcbf0a8c1fd7b. Exact source hashes, built binary digest, commands, logs and provider-cleanliness checks remain recorded. All six provider trees remained clean. No native target, venv or compiled object was copied from the original workspace. Globally empty-cache builds are NOT_RUN. The binary digest identifies the selected built runtime, not cross-host bit reproducibility. This deck updates presentation artifacts only and does not rerun native gates.</a:t>
            </a:r>
          </a:p>
          <a:p/>
          <a:p>
            <a:r>
              <a:t>Source: m2/fresh-build.json · final/verification.json</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local profiles are deliberately bounded: 256 events per episode, pages/pending batches of sixteen, 32 observations per belief, at most 64 support records, and three CAS retries per drain. Owner history is retained without garbage collection or a total disk quota. Authority is a development local policy, not production identity management. Explicit model semantics and exact runtime selection are required. Native caller evidence is for the chosen Programs route and selected tests, not the full Hive suite, LLM operation or arbitrary application behavior. Future Relations/Search, ECAN, inference control and general PLN rules remain outside implemented scope. Chain and live migration are unrun. No new runtime guarantee is created by rebuilding this presentation.</a:t>
            </a:r>
          </a:p>
          <a:p/>
          <a:p>
            <a:r>
              <a:t>Source: m2-evidence.md · manifest.json</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Return to the executive summary: the notebook preserves occurrences, the evidence ledger preserves disagreement and lineage, and the pinned calculator runs only when the explicit pair qualifies. The practical result is a private local memory/revision slice exercised by a real Hive caller, with duplicate-safe evidence and recovery across independent commits. It is not yet an autonomous reasoning loop or production deployment. All required M2 gates passed; fixtures, real providers, historical blocked source reproduction and unrun extensions retain their labels. The work stops at M2.</a:t>
            </a:r>
          </a:p>
          <a:p/>
          <a:p>
            <a:r>
              <a:t>Source: M2 tested d9e7577 · evidence f0cee24</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Paths without prefixes are under fusion/. The adapter is fusion/adapters/pln_revision.py; the plugin is integration/hive/episode_program/. Source/build scripts are scripts/build_m2.py, verify_m2.py and m2_demo.py. Fixture tests live in tests/test_m2.py and tests/m2_support.py. Native and recovery tests live in integration/pln/; real Hive tests in integration/hive/test_m2_integration.py. C1 tables own episodes/events/mutations/deliveries, C2 owns snapshots/attempts, and the relay owns only exact handoff progress. Immutable payload and event bytes remain in private AtomStorage over separate local DeTTa. No upstream source is patched.</a:t>
            </a:r>
          </a:p>
          <a:p/>
          <a:p>
            <a:r>
              <a:t>Source: m2-evidence.md ·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Requested ancestor: 4ee5cbe8b84689a5d2432530083738b263142f90. Starting checkout: 6452fa725be5a688f9d5ad8f77955579df2f95ab, presentation/docs-only descendant. Final clean tested Fusion: d9e75773c34987d5791a9207190fcbf0a8c1fd7b; evidence snapshot: f0cee248294a1fce42913782390e6c084025c67e. Schematics: 4af00db4e395375484dd48d0b9068a59afcf01f8; Hive: 34b0fb32ab3806e5609fc89bb7535518a35e1aea; DeTTa: 272888f264dd2dde18b574cabb53c266b0dac2ec; Reachability: dd56f3f053ed90239de5377021a7d3b3fbf424ac; PLN: 4405956947c4b53c7ff01bd565aa3b114bc970a1; PeTTa: ae66fa8e41dcd5539d614706bd4e5cfb34f9608d; SWI source: 69775434c8226897626b226aefcc8266499f1e2e. Formula SHA-256: cdfb3f18bd7b336440fc7b4409209afddf0e64c41f17dee7eefc8f02718de433. Built SWI SHA-256: f1e29950cb5ccfe3904833db5c08409bc2a1c7c999f1e1933719a7c3e03ab20f. Runtime profile: fusion-petta-swi-10.1.14-revision/1; model: trueagi-pln-stv-finite-k1/v1. Python 3.12.12, Janus 1.5.3; fixture orchestration Python 3.11.14. Native source trees remained clean after the recorded final run. The supplied brief's content hash and fetch URL remain in the manifest.</a:t>
            </a:r>
          </a:p>
          <a:p/>
          <a:p>
            <a:r>
              <a:t>Source: final/verification.json · integration/pln/sources.json</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AtomStorage remains immutable-bytes/1 with original interface 1.0; M2 selects a separate private-local-only descriptor. C1/C2 local interface 2.0.0 is not a silent change to the existing M1 wire 1.0.0. Ingestion is explicit-generated-assessment/1, keeping generated assessment policy outside the owners. Numerical input uses finite decimal strings validated again at the float64 boundary; strength is in [0,1], confidence in [0,1), and evidence_count is null. The bounds listed are semantic contract limits. History is retained without garbage collection or a total storage quota. Live migration and generic query/search are not implemented.</a:t>
            </a:r>
          </a:p>
          <a:p/>
          <a:p>
            <a:r>
              <a:t>Source: memory_contracts.py · contracts.md</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a proposed future dependency map, not evidence of an executed cognitive loop. Inference control would use Search, Attention, C2 and a general pure PLN kernel through explicit ports. Attention owns its own budgets/balances and logical time, without a required PLN or LLM dependency. The general kernel returns proposals over immutable premises. Inference control owns only step receipts/checkpoints, not truth or attention state. Relations/Search, ECAN, general rules and inference control remain future contracts with model/policy and conformance obligations. M2's narrow RevisionMath provider is distinct from applyRule. No new work in these modules was undertaken.</a:t>
            </a:r>
          </a:p>
          <a:p/>
          <a:p>
            <a:r>
              <a:t>Source: ports.py · architecture.md</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effects originate in the real native operation, not a renamed protocol demo. The caller first commits its original intent. AtomStorage persists generated bytes in actual DeTTa, then Messaging accepts a reference for the explicitly labelled fixture counterparty. DelegatedExecution accepts only inspect_atom under the original key and correlation. The caller records the accepted job. A separate real worker reads/persists through AtomStorage, then commits execution terminal state/outbox. Messaging accepts the completion in a separate transaction. The final arrow summarizes the reconciliation expanded on the next slides: status /2 restores known correlation, poll and get verify the completion, caller acceptance commits, and a stable-key acknowledgement follows. This is not one distributed transaction.</a:t>
            </a:r>
          </a:p>
          <a:p/>
          <a:p>
            <a:r>
              <a:t>Source: program.py · execution.py · messaging.py</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Preserve this historical result without promoting it into the new real-caller gate. The M1 chain JSON records pending, included with effect finality Pending, then finalized, at height 3 with no execution error, no rejection and cost 351 phlo. The committed digest belongs to the original protocol-peer result, not the generated native Hive result in M1.2. The M1 adapter used a registered approved digest, injected signer and durable signed intent against one isolated local node. That source had local changes and an untracked input. Exact historical reproduction remains blocked until those authorized bytes are supplied or a different clean revision is separately validated. No chain process or transaction was run during M1.2, M2 or this presentation update. Finality does not establish indefinite off-chain availability.</a:t>
            </a:r>
          </a:p>
          <a:p/>
          <a:p>
            <a:r>
              <a:t>Source: evidence/chain-demo.json · M1 historical</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a fresh destination; the build refuses to overwrite existing work. Authorized SSH access to the exact Hive and DeTTa sources is required. Public HTTPS retrieves the pinned Reachability/PLN inputs. The native build uses pinned PeTTa/SWI, hashed Python dependencies and new Janus objects; DeTTa is compiled into a fresh target. Git/Python/Cargo download caches may be warm. scripts/verify_m2.py runs the preserved M1.2 verifier and then isolated M2 fixtures, eight upstream revision guard tests, native revision, recovery/privacy, native Hive and a deterministic CLI demo. The exact final evidence run used a clean detached d9e7577 checkout and recorded commands/output paths. Failed development runs remain preserved. Building the presentation is a separate operation and never reruns or overwrites these integration records.</a:t>
            </a:r>
          </a:p>
          <a:p/>
          <a:p>
            <a:r>
              <a:t>Source: runbook.md · build_m2.py · verify_m2.py</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Exact successful C2 replay returns the original decision and historical snapshot even after later revisions. New-key duplicate evidence reads current state without adding weight. The relay saves exact requests and runtime selection in its own journal; a transient provider failure never acknowledges the intent. After a genuine CAS conflict it reconciles and allocates a new semantic attempt under bounded retry limits. C1 acknowledgement is a separate commit and validates the complete decision body. The receipt is trusted local evidence, not a remote proof. The physical formula may execute more than once; only the logical admission and contribution are duplicate-safe. Retained-alternative describes the pair decision, with actual coverage and unaggregated lists controlling interpretation.</a:t>
            </a:r>
          </a:p>
          <a:p/>
          <a:p>
            <a:r>
              <a:t>Source: episodes.py · beliefs.py · evidence_relay.py</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MODULE-INTERFACE ARCHITECTURE</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
            </a:r>
          </a:p>
        </p:txBody>
      </p:sp>
      <p:sp>
        <p:nvSpPr>
          <p:cNvPr id="4" name="TextBox 3"/>
          <p:cNvSpPr txBox="1"/>
          <p:nvPr/>
        </p:nvSpPr>
        <p:spPr>
          <a:xfrm>
            <a:off x="548640" y="1287780"/>
            <a:ext cx="10515600" cy="630936"/>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Memory that remembers.</a:t>
            </a:r>
          </a:p>
        </p:txBody>
      </p:sp>
      <p:sp>
        <p:nvSpPr>
          <p:cNvPr id="5" name="TextBox 4"/>
          <p:cNvSpPr txBox="1"/>
          <p:nvPr/>
        </p:nvSpPr>
        <p:spPr>
          <a:xfrm>
            <a:off x="548640" y="1918716"/>
            <a:ext cx="10515600" cy="630936"/>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Beliefs that can change.</a:t>
            </a:r>
          </a:p>
        </p:txBody>
      </p:sp>
      <p:sp>
        <p:nvSpPr>
          <p:cNvPr id="6" name="TextBox 5"/>
          <p:cNvSpPr txBox="1"/>
          <p:nvPr/>
        </p:nvSpPr>
        <p:spPr>
          <a:xfrm>
            <a:off x="548640" y="2549652"/>
            <a:ext cx="10515600" cy="630936"/>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Boundaries that hold.</a:t>
            </a:r>
          </a:p>
        </p:txBody>
      </p:sp>
      <p:sp>
        <p:nvSpPr>
          <p:cNvPr id="7" name="TextBox 6"/>
          <p:cNvSpPr txBox="1"/>
          <p:nvPr/>
        </p:nvSpPr>
        <p:spPr>
          <a:xfrm>
            <a:off x="579120" y="3665219"/>
            <a:ext cx="9525000" cy="409651"/>
          </a:xfrm>
          <a:prstGeom prst="rect">
            <a:avLst/>
          </a:prstGeom>
          <a:noFill/>
        </p:spPr>
        <p:txBody>
          <a:bodyPr wrap="none" lIns="0" rIns="0" tIns="0" bIns="0" anchor="t" anchorCtr="0">
            <a:noAutofit/>
          </a:bodyPr>
          <a:lstStyle/>
          <a:p>
            <a:pPr algn="l">
              <a:lnSpc>
                <a:spcPct val="100000"/>
              </a:lnSpc>
              <a:spcBef>
                <a:spcPts val="0"/>
              </a:spcBef>
              <a:spcAft>
                <a:spcPts val="0"/>
              </a:spcAft>
            </a:pPr>
            <a:r>
              <a:rPr sz="2520" b="0">
                <a:solidFill>
                  <a:srgbClr val="AAC0CC"/>
                </a:solidFill>
                <a:latin typeface="DejaVu Sans"/>
              </a:rPr>
              <a:t>Omega Hive × ASI</a:t>
            </a:r>
          </a:p>
        </p:txBody>
      </p:sp>
      <p:sp>
        <p:nvSpPr>
          <p:cNvPr id="8" name="TextBox 7"/>
          <p:cNvSpPr txBox="1"/>
          <p:nvPr/>
        </p:nvSpPr>
        <p:spPr>
          <a:xfrm>
            <a:off x="579120" y="4191000"/>
            <a:ext cx="1059180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0">
                <a:solidFill>
                  <a:srgbClr val="FFFFFF"/>
                </a:solidFill>
                <a:latin typeface="DejaVu Sans"/>
              </a:rPr>
              <a:t>From replaceable modules to private memory and guarded native revision</a:t>
            </a:r>
          </a:p>
        </p:txBody>
      </p:sp>
      <p:sp>
        <p:nvSpPr>
          <p:cNvPr id="9" name="Rounded Rectangle 8"/>
          <p:cNvSpPr/>
          <p:nvPr/>
        </p:nvSpPr>
        <p:spPr>
          <a:xfrm>
            <a:off x="579120" y="5151120"/>
            <a:ext cx="2271727" cy="289560"/>
          </a:xfrm>
          <a:prstGeom prst="roundRect">
            <a:avLst>
              <a:gd name="adj" fmla="val 18421"/>
            </a:avLst>
          </a:prstGeom>
          <a:solidFill>
            <a:srgbClr val="DCEFE8"/>
          </a:solidFill>
          <a:ln>
            <a:noFill/>
          </a:ln>
          <a:effectLst/>
        </p:spPr>
        <p:txBody>
          <a:bodyPr rtlCol="0" anchor="ctr"/>
          <a:lstStyle/>
          <a:p>
            <a:pPr algn="ctr"/>
          </a:p>
        </p:txBody>
      </p:sp>
      <p:sp>
        <p:nvSpPr>
          <p:cNvPr id="10" name="TextBox 9"/>
          <p:cNvSpPr txBox="1"/>
          <p:nvPr/>
        </p:nvSpPr>
        <p:spPr>
          <a:xfrm>
            <a:off x="685800" y="5204460"/>
            <a:ext cx="2081227"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007C78"/>
                </a:solidFill>
                <a:latin typeface="DejaVu Sans"/>
              </a:rPr>
              <a:t>M2 · C1 + C2 COMPLETE</a:t>
            </a:r>
          </a:p>
        </p:txBody>
      </p:sp>
      <p:sp>
        <p:nvSpPr>
          <p:cNvPr id="11" name="Rounded Rectangle 10"/>
          <p:cNvSpPr/>
          <p:nvPr/>
        </p:nvSpPr>
        <p:spPr>
          <a:xfrm>
            <a:off x="3703319" y="5151120"/>
            <a:ext cx="2330068" cy="289560"/>
          </a:xfrm>
          <a:prstGeom prst="roundRect">
            <a:avLst>
              <a:gd name="adj" fmla="val 18421"/>
            </a:avLst>
          </a:prstGeom>
          <a:solidFill>
            <a:srgbClr val="E4EBF5"/>
          </a:solidFill>
          <a:ln>
            <a:noFill/>
          </a:ln>
          <a:effectLst/>
        </p:spPr>
        <p:txBody>
          <a:bodyPr rtlCol="0" anchor="ctr"/>
          <a:lstStyle/>
          <a:p>
            <a:pPr algn="ctr"/>
          </a:p>
        </p:txBody>
      </p:sp>
      <p:sp>
        <p:nvSpPr>
          <p:cNvPr id="12" name="TextBox 11"/>
          <p:cNvSpPr txBox="1"/>
          <p:nvPr/>
        </p:nvSpPr>
        <p:spPr>
          <a:xfrm>
            <a:off x="3810000" y="5204460"/>
            <a:ext cx="2139568"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REAL HIVE · DETTA · PLN</a:t>
            </a:r>
          </a:p>
        </p:txBody>
      </p:sp>
      <p:sp>
        <p:nvSpPr>
          <p:cNvPr id="13" name="TextBox 12"/>
          <p:cNvSpPr txBox="1"/>
          <p:nvPr/>
        </p:nvSpPr>
        <p:spPr>
          <a:xfrm>
            <a:off x="579120" y="5745480"/>
            <a:ext cx="102870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AAC0CC"/>
                </a:solidFill>
                <a:latin typeface="DejaVu Sans"/>
              </a:rPr>
              <a:t>Architecture and evidence • 16 October 2026 • supported local scope</a:t>
            </a:r>
          </a:p>
        </p:txBody>
      </p:sp>
      <p:cxnSp>
        <p:nvCxnSpPr>
          <p:cNvPr id="14" name="Connector 13"/>
          <p:cNvCxnSpPr/>
          <p:nvPr/>
        </p:nvCxnSpPr>
        <p:spPr>
          <a:xfrm>
            <a:off x="548640" y="6393180"/>
            <a:ext cx="11094720" cy="0"/>
          </a:xfrm>
          <a:prstGeom prst="line">
            <a:avLst/>
          </a:prstGeom>
          <a:ln w="7620">
            <a:solidFill>
              <a:srgbClr val="536775"/>
            </a:solidFill>
          </a:ln>
          <a:effectLst/>
        </p:spPr>
      </p:cxnSp>
      <p:sp>
        <p:nvSpPr>
          <p:cNvPr id="15" name="TextBox 1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M2 / M2 evidence f0cee24 · tested d9e7577</a:t>
            </a:r>
          </a:p>
        </p:txBody>
      </p:sp>
      <p:sp>
        <p:nvSpPr>
          <p:cNvPr id="16" name="TextBox 1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38</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EXECUTIVE SUMMARY · 1 OF 2</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ELI16: a notebook, an evidence ledger, a calculator</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 agent needs to remember what happened without treating every report as a new fact.</a:t>
            </a:r>
          </a:p>
        </p:txBody>
      </p:sp>
      <p:sp>
        <p:nvSpPr>
          <p:cNvPr id="5" name="Rounded Rectangle 4"/>
          <p:cNvSpPr/>
          <p:nvPr/>
        </p:nvSpPr>
        <p:spPr>
          <a:xfrm>
            <a:off x="548640" y="1905000"/>
            <a:ext cx="3535679" cy="2621280"/>
          </a:xfrm>
          <a:prstGeom prst="roundRect">
            <a:avLst>
              <a:gd name="adj" fmla="val 3779"/>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72639"/>
            <a:ext cx="320040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C1 · THE NOTEBOOK</a:t>
            </a:r>
          </a:p>
        </p:txBody>
      </p:sp>
      <p:sp>
        <p:nvSpPr>
          <p:cNvPr id="7" name="TextBox 6"/>
          <p:cNvSpPr txBox="1"/>
          <p:nvPr/>
        </p:nvSpPr>
        <p:spPr>
          <a:xfrm>
            <a:off x="716280" y="230886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Keep the original story</a:t>
            </a:r>
          </a:p>
        </p:txBody>
      </p:sp>
      <p:sp>
        <p:nvSpPr>
          <p:cNvPr id="8" name="TextBox 7"/>
          <p:cNvSpPr txBox="1"/>
          <p:nvPr/>
        </p:nvSpPr>
        <p:spPr>
          <a:xfrm>
            <a:off x="716280" y="2697175"/>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Record events in order,</a:t>
            </a:r>
          </a:p>
        </p:txBody>
      </p:sp>
      <p:sp>
        <p:nvSpPr>
          <p:cNvPr id="9" name="TextBox 8"/>
          <p:cNvSpPr txBox="1"/>
          <p:nvPr/>
        </p:nvSpPr>
        <p:spPr>
          <a:xfrm>
            <a:off x="716280" y="2960522"/>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including who they came from.</a:t>
            </a:r>
          </a:p>
        </p:txBody>
      </p:sp>
      <p:sp>
        <p:nvSpPr>
          <p:cNvPr id="10" name="TextBox 9"/>
          <p:cNvSpPr txBox="1"/>
          <p:nvPr/>
        </p:nvSpPr>
        <p:spPr>
          <a:xfrm>
            <a:off x="716280" y="3223869"/>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Replaying the same event</a:t>
            </a:r>
          </a:p>
        </p:txBody>
      </p:sp>
      <p:sp>
        <p:nvSpPr>
          <p:cNvPr id="11" name="TextBox 10"/>
          <p:cNvSpPr txBox="1"/>
          <p:nvPr/>
        </p:nvSpPr>
        <p:spPr>
          <a:xfrm>
            <a:off x="716280" y="3487216"/>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does not add a new entry.</a:t>
            </a:r>
          </a:p>
        </p:txBody>
      </p:sp>
      <p:sp>
        <p:nvSpPr>
          <p:cNvPr id="12" name="Rounded Rectangle 11"/>
          <p:cNvSpPr/>
          <p:nvPr/>
        </p:nvSpPr>
        <p:spPr>
          <a:xfrm>
            <a:off x="4328160" y="1905000"/>
            <a:ext cx="3535679" cy="2621280"/>
          </a:xfrm>
          <a:prstGeom prst="roundRect">
            <a:avLst>
              <a:gd name="adj" fmla="val 3779"/>
            </a:avLst>
          </a:prstGeom>
          <a:solidFill>
            <a:srgbClr val="FFFFFF"/>
          </a:solidFill>
          <a:ln w="7620">
            <a:solidFill>
              <a:srgbClr val="007C78"/>
            </a:solidFill>
          </a:ln>
          <a:effectLst/>
        </p:spPr>
        <p:txBody>
          <a:bodyPr rtlCol="0" anchor="ctr"/>
          <a:lstStyle/>
          <a:p>
            <a:pPr algn="ctr"/>
          </a:p>
        </p:txBody>
      </p:sp>
      <p:sp>
        <p:nvSpPr>
          <p:cNvPr id="13" name="TextBox 12"/>
          <p:cNvSpPr txBox="1"/>
          <p:nvPr/>
        </p:nvSpPr>
        <p:spPr>
          <a:xfrm>
            <a:off x="4495800" y="2072639"/>
            <a:ext cx="320040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C2 · THE EVIDENCE LEDGER</a:t>
            </a:r>
          </a:p>
        </p:txBody>
      </p:sp>
      <p:sp>
        <p:nvSpPr>
          <p:cNvPr id="14" name="TextBox 13"/>
          <p:cNvSpPr txBox="1"/>
          <p:nvPr/>
        </p:nvSpPr>
        <p:spPr>
          <a:xfrm>
            <a:off x="4495800" y="230886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Keep disagreement</a:t>
            </a:r>
          </a:p>
        </p:txBody>
      </p:sp>
      <p:sp>
        <p:nvSpPr>
          <p:cNvPr id="15" name="TextBox 14"/>
          <p:cNvSpPr txBox="1"/>
          <p:nvPr/>
        </p:nvSpPr>
        <p:spPr>
          <a:xfrm>
            <a:off x="4495800" y="2620975"/>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visible</a:t>
            </a:r>
          </a:p>
        </p:txBody>
      </p:sp>
      <p:sp>
        <p:nvSpPr>
          <p:cNvPr id="16" name="TextBox 15"/>
          <p:cNvSpPr txBox="1"/>
          <p:nvPr/>
        </p:nvSpPr>
        <p:spPr>
          <a:xfrm>
            <a:off x="4495800" y="3009290"/>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Track which observations</a:t>
            </a:r>
          </a:p>
        </p:txBody>
      </p:sp>
      <p:sp>
        <p:nvSpPr>
          <p:cNvPr id="17" name="TextBox 16"/>
          <p:cNvSpPr txBox="1"/>
          <p:nvPr/>
        </p:nvSpPr>
        <p:spPr>
          <a:xfrm>
            <a:off x="4495800" y="3272637"/>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support a belief. A copied</a:t>
            </a:r>
          </a:p>
        </p:txBody>
      </p:sp>
      <p:sp>
        <p:nvSpPr>
          <p:cNvPr id="18" name="TextBox 17"/>
          <p:cNvSpPr txBox="1"/>
          <p:nvPr/>
        </p:nvSpPr>
        <p:spPr>
          <a:xfrm>
            <a:off x="4495800" y="3535984"/>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report does not become</a:t>
            </a:r>
          </a:p>
        </p:txBody>
      </p:sp>
      <p:sp>
        <p:nvSpPr>
          <p:cNvPr id="19" name="TextBox 18"/>
          <p:cNvSpPr txBox="1"/>
          <p:nvPr/>
        </p:nvSpPr>
        <p:spPr>
          <a:xfrm>
            <a:off x="4495800" y="3799332"/>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independent evidence.</a:t>
            </a:r>
          </a:p>
        </p:txBody>
      </p:sp>
      <p:sp>
        <p:nvSpPr>
          <p:cNvPr id="20" name="Rounded Rectangle 19"/>
          <p:cNvSpPr/>
          <p:nvPr/>
        </p:nvSpPr>
        <p:spPr>
          <a:xfrm>
            <a:off x="8107680" y="1905000"/>
            <a:ext cx="3535679" cy="2621280"/>
          </a:xfrm>
          <a:prstGeom prst="roundRect">
            <a:avLst>
              <a:gd name="adj" fmla="val 3779"/>
            </a:avLst>
          </a:prstGeom>
          <a:solidFill>
            <a:srgbClr val="FFFFFF"/>
          </a:solidFill>
          <a:ln w="7620">
            <a:solidFill>
              <a:srgbClr val="007C78"/>
            </a:solidFill>
          </a:ln>
          <a:effectLst/>
        </p:spPr>
        <p:txBody>
          <a:bodyPr rtlCol="0" anchor="ctr"/>
          <a:lstStyle/>
          <a:p>
            <a:pPr algn="ctr"/>
          </a:p>
        </p:txBody>
      </p:sp>
      <p:sp>
        <p:nvSpPr>
          <p:cNvPr id="21" name="TextBox 20"/>
          <p:cNvSpPr txBox="1"/>
          <p:nvPr/>
        </p:nvSpPr>
        <p:spPr>
          <a:xfrm>
            <a:off x="8275320" y="2072639"/>
            <a:ext cx="320040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007C78"/>
                </a:solidFill>
                <a:latin typeface="DejaVu Sans"/>
              </a:rPr>
              <a:t>PINNED PLN · THE CALCULATOR</a:t>
            </a:r>
          </a:p>
        </p:txBody>
      </p:sp>
      <p:sp>
        <p:nvSpPr>
          <p:cNvPr id="22" name="TextBox 21"/>
          <p:cNvSpPr txBox="1"/>
          <p:nvPr/>
        </p:nvSpPr>
        <p:spPr>
          <a:xfrm>
            <a:off x="8275320" y="230886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Update only when</a:t>
            </a:r>
          </a:p>
        </p:txBody>
      </p:sp>
      <p:sp>
        <p:nvSpPr>
          <p:cNvPr id="23" name="TextBox 22"/>
          <p:cNvSpPr txBox="1"/>
          <p:nvPr/>
        </p:nvSpPr>
        <p:spPr>
          <a:xfrm>
            <a:off x="8275320" y="2620975"/>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justified</a:t>
            </a:r>
          </a:p>
        </p:txBody>
      </p:sp>
      <p:sp>
        <p:nvSpPr>
          <p:cNvPr id="24" name="TextBox 23"/>
          <p:cNvSpPr txBox="1"/>
          <p:nvPr/>
        </p:nvSpPr>
        <p:spPr>
          <a:xfrm>
            <a:off x="8275320" y="3009290"/>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Use the existing formula for an</a:t>
            </a:r>
          </a:p>
        </p:txBody>
      </p:sp>
      <p:sp>
        <p:nvSpPr>
          <p:cNvPr id="25" name="TextBox 24"/>
          <p:cNvSpPr txBox="1"/>
          <p:nvPr/>
        </p:nvSpPr>
        <p:spPr>
          <a:xfrm>
            <a:off x="8275320" y="3272637"/>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explicitly allowed pair. Save</a:t>
            </a:r>
          </a:p>
        </p:txBody>
      </p:sp>
      <p:sp>
        <p:nvSpPr>
          <p:cNvPr id="26" name="TextBox 25"/>
          <p:cNvSpPr txBox="1"/>
          <p:nvPr/>
        </p:nvSpPr>
        <p:spPr>
          <a:xfrm>
            <a:off x="8275320" y="3535984"/>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the decision and the evidence</a:t>
            </a:r>
          </a:p>
        </p:txBody>
      </p:sp>
      <p:sp>
        <p:nvSpPr>
          <p:cNvPr id="27" name="TextBox 26"/>
          <p:cNvSpPr txBox="1"/>
          <p:nvPr/>
        </p:nvSpPr>
        <p:spPr>
          <a:xfrm>
            <a:off x="8275320" y="3799332"/>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behind it.</a:t>
            </a:r>
          </a:p>
        </p:txBody>
      </p:sp>
      <p:sp>
        <p:nvSpPr>
          <p:cNvPr id="28" name="Rounded Rectangle 27"/>
          <p:cNvSpPr/>
          <p:nvPr/>
        </p:nvSpPr>
        <p:spPr>
          <a:xfrm>
            <a:off x="548640" y="4648200"/>
            <a:ext cx="5364480" cy="1059180"/>
          </a:xfrm>
          <a:prstGeom prst="roundRect">
            <a:avLst>
              <a:gd name="adj" fmla="val 9352"/>
            </a:avLst>
          </a:prstGeom>
          <a:solidFill>
            <a:srgbClr val="E4EBF5"/>
          </a:solidFill>
          <a:ln w="7620">
            <a:solidFill>
              <a:srgbClr val="315E9C"/>
            </a:solidFill>
          </a:ln>
          <a:effectLst/>
        </p:spPr>
        <p:txBody>
          <a:bodyPr rtlCol="0" anchor="ctr"/>
          <a:lstStyle/>
          <a:p>
            <a:pPr algn="ctr"/>
          </a:p>
        </p:txBody>
      </p:sp>
      <p:sp>
        <p:nvSpPr>
          <p:cNvPr id="29" name="TextBox 28"/>
          <p:cNvSpPr txBox="1"/>
          <p:nvPr/>
        </p:nvSpPr>
        <p:spPr>
          <a:xfrm>
            <a:off x="716280" y="4815840"/>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What works</a:t>
            </a:r>
          </a:p>
        </p:txBody>
      </p:sp>
      <p:sp>
        <p:nvSpPr>
          <p:cNvPr id="30" name="TextBox 29"/>
          <p:cNvSpPr txBox="1"/>
          <p:nvPr/>
        </p:nvSpPr>
        <p:spPr>
          <a:xfrm>
            <a:off x="716280" y="5155387"/>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Hive + local storage + native revision survive</a:t>
            </a:r>
          </a:p>
        </p:txBody>
      </p:sp>
      <p:sp>
        <p:nvSpPr>
          <p:cNvPr id="31" name="TextBox 30"/>
          <p:cNvSpPr txBox="1"/>
          <p:nvPr/>
        </p:nvSpPr>
        <p:spPr>
          <a:xfrm>
            <a:off x="716280" y="5379720"/>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tested process restarts.</a:t>
            </a:r>
          </a:p>
        </p:txBody>
      </p:sp>
      <p:sp>
        <p:nvSpPr>
          <p:cNvPr id="32" name="Rounded Rectangle 31"/>
          <p:cNvSpPr/>
          <p:nvPr/>
        </p:nvSpPr>
        <p:spPr>
          <a:xfrm>
            <a:off x="6096000" y="4648200"/>
            <a:ext cx="5547360" cy="1059180"/>
          </a:xfrm>
          <a:prstGeom prst="roundRect">
            <a:avLst>
              <a:gd name="adj" fmla="val 9352"/>
            </a:avLst>
          </a:prstGeom>
          <a:solidFill>
            <a:srgbClr val="F3E7CE"/>
          </a:solidFill>
          <a:ln w="7620">
            <a:solidFill>
              <a:srgbClr val="A86A15"/>
            </a:solidFill>
          </a:ln>
          <a:effectLst/>
        </p:spPr>
        <p:txBody>
          <a:bodyPr rtlCol="0" anchor="ctr"/>
          <a:lstStyle/>
          <a:p>
            <a:pPr algn="ctr"/>
          </a:p>
        </p:txBody>
      </p:sp>
      <p:sp>
        <p:nvSpPr>
          <p:cNvPr id="33" name="TextBox 32"/>
          <p:cNvSpPr txBox="1"/>
          <p:nvPr/>
        </p:nvSpPr>
        <p:spPr>
          <a:xfrm>
            <a:off x="6263640" y="4815840"/>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A86A15"/>
                </a:solidFill>
                <a:latin typeface="DejaVu Sans"/>
              </a:rPr>
              <a:t>What this does not prove</a:t>
            </a:r>
          </a:p>
        </p:txBody>
      </p:sp>
      <p:sp>
        <p:nvSpPr>
          <p:cNvPr id="34" name="TextBox 33"/>
          <p:cNvSpPr txBox="1"/>
          <p:nvPr/>
        </p:nvSpPr>
        <p:spPr>
          <a:xfrm>
            <a:off x="6263640" y="5155387"/>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That reports are true, sources are independent, or the</a:t>
            </a:r>
          </a:p>
        </p:txBody>
      </p:sp>
      <p:sp>
        <p:nvSpPr>
          <p:cNvPr id="35" name="TextBox 34"/>
          <p:cNvSpPr txBox="1"/>
          <p:nvPr/>
        </p:nvSpPr>
        <p:spPr>
          <a:xfrm>
            <a:off x="6263640" y="5379720"/>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system is production-ready.</a:t>
            </a:r>
          </a:p>
        </p:txBody>
      </p:sp>
      <p:sp>
        <p:nvSpPr>
          <p:cNvPr id="36" name="Rounded Rectangle 3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7" name="TextBox 36"/>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Why it matters: we can inspect, retry and replace parts without silently changing their meaning.</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m2-evidence.md · architecture.md</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38</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EXECUTIVE SUMMARY · 2 OF 2</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ELI16: a copied report is not a new source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Imagine deciding whether a sensor reading is reliable. Keep the source trail, not just the message count.</a:t>
            </a:r>
          </a:p>
        </p:txBody>
      </p:sp>
      <p:sp>
        <p:nvSpPr>
          <p:cNvPr id="5" name="Rounded Rectangle 4"/>
          <p:cNvSpPr/>
          <p:nvPr/>
        </p:nvSpPr>
        <p:spPr>
          <a:xfrm>
            <a:off x="548640" y="1981200"/>
            <a:ext cx="3124200" cy="1165860"/>
          </a:xfrm>
          <a:prstGeom prst="roundRect">
            <a:avLst>
              <a:gd name="adj" fmla="val 8496"/>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2148840"/>
            <a:ext cx="278892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Original report</a:t>
            </a:r>
          </a:p>
        </p:txBody>
      </p:sp>
      <p:sp>
        <p:nvSpPr>
          <p:cNvPr id="7" name="TextBox 6"/>
          <p:cNvSpPr txBox="1"/>
          <p:nvPr/>
        </p:nvSpPr>
        <p:spPr>
          <a:xfrm>
            <a:off x="716280" y="2537155"/>
            <a:ext cx="27889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One observation from</a:t>
            </a:r>
          </a:p>
        </p:txBody>
      </p:sp>
      <p:sp>
        <p:nvSpPr>
          <p:cNvPr id="8" name="TextBox 7"/>
          <p:cNvSpPr txBox="1"/>
          <p:nvPr/>
        </p:nvSpPr>
        <p:spPr>
          <a:xfrm>
            <a:off x="716280" y="2800502"/>
            <a:ext cx="27889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source A.</a:t>
            </a:r>
          </a:p>
        </p:txBody>
      </p:sp>
      <p:sp>
        <p:nvSpPr>
          <p:cNvPr id="9" name="Rounded Rectangle 8"/>
          <p:cNvSpPr/>
          <p:nvPr/>
        </p:nvSpPr>
        <p:spPr>
          <a:xfrm>
            <a:off x="4511040" y="1981200"/>
            <a:ext cx="3124200" cy="1165860"/>
          </a:xfrm>
          <a:prstGeom prst="roundRect">
            <a:avLst>
              <a:gd name="adj" fmla="val 8496"/>
            </a:avLst>
          </a:prstGeom>
          <a:solidFill>
            <a:srgbClr val="E4EBF5"/>
          </a:solidFill>
          <a:ln w="7620">
            <a:solidFill>
              <a:srgbClr val="315E9C"/>
            </a:solidFill>
          </a:ln>
          <a:effectLst/>
        </p:spPr>
        <p:txBody>
          <a:bodyPr rtlCol="0" anchor="ctr"/>
          <a:lstStyle/>
          <a:p>
            <a:pPr algn="ctr"/>
          </a:p>
        </p:txBody>
      </p:sp>
      <p:sp>
        <p:nvSpPr>
          <p:cNvPr id="10" name="TextBox 9"/>
          <p:cNvSpPr txBox="1"/>
          <p:nvPr/>
        </p:nvSpPr>
        <p:spPr>
          <a:xfrm>
            <a:off x="4678680" y="2148840"/>
            <a:ext cx="278892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Copied report</a:t>
            </a:r>
          </a:p>
        </p:txBody>
      </p:sp>
      <p:sp>
        <p:nvSpPr>
          <p:cNvPr id="11" name="TextBox 10"/>
          <p:cNvSpPr txBox="1"/>
          <p:nvPr/>
        </p:nvSpPr>
        <p:spPr>
          <a:xfrm>
            <a:off x="4678680" y="2537155"/>
            <a:ext cx="27889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 second message still</a:t>
            </a:r>
          </a:p>
        </p:txBody>
      </p:sp>
      <p:sp>
        <p:nvSpPr>
          <p:cNvPr id="12" name="TextBox 11"/>
          <p:cNvSpPr txBox="1"/>
          <p:nvPr/>
        </p:nvSpPr>
        <p:spPr>
          <a:xfrm>
            <a:off x="4678680" y="2800502"/>
            <a:ext cx="27889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traces to A.</a:t>
            </a:r>
          </a:p>
        </p:txBody>
      </p:sp>
      <p:sp>
        <p:nvSpPr>
          <p:cNvPr id="13" name="Rounded Rectangle 12"/>
          <p:cNvSpPr/>
          <p:nvPr/>
        </p:nvSpPr>
        <p:spPr>
          <a:xfrm>
            <a:off x="8473440" y="1981200"/>
            <a:ext cx="3169920" cy="1165860"/>
          </a:xfrm>
          <a:prstGeom prst="roundRect">
            <a:avLst>
              <a:gd name="adj" fmla="val 8496"/>
            </a:avLst>
          </a:prstGeom>
          <a:solidFill>
            <a:srgbClr val="F3E7CE"/>
          </a:solidFill>
          <a:ln w="7620">
            <a:solidFill>
              <a:srgbClr val="A86A15"/>
            </a:solidFill>
          </a:ln>
          <a:effectLst/>
        </p:spPr>
        <p:txBody>
          <a:bodyPr rtlCol="0" anchor="ctr"/>
          <a:lstStyle/>
          <a:p>
            <a:pPr algn="ctr"/>
          </a:p>
        </p:txBody>
      </p:sp>
      <p:sp>
        <p:nvSpPr>
          <p:cNvPr id="14" name="TextBox 13"/>
          <p:cNvSpPr txBox="1"/>
          <p:nvPr/>
        </p:nvSpPr>
        <p:spPr>
          <a:xfrm>
            <a:off x="8641080" y="2148840"/>
            <a:ext cx="283464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A86A15"/>
                </a:solidFill>
                <a:latin typeface="DejaVu Sans"/>
              </a:rPr>
              <a:t>Contrary observation</a:t>
            </a:r>
          </a:p>
        </p:txBody>
      </p:sp>
      <p:sp>
        <p:nvSpPr>
          <p:cNvPr id="15" name="TextBox 14"/>
          <p:cNvSpPr txBox="1"/>
          <p:nvPr/>
        </p:nvSpPr>
        <p:spPr>
          <a:xfrm>
            <a:off x="8641080" y="2517647"/>
            <a:ext cx="28346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Source B can disagree;</a:t>
            </a:r>
          </a:p>
        </p:txBody>
      </p:sp>
      <p:sp>
        <p:nvSpPr>
          <p:cNvPr id="16" name="TextBox 15"/>
          <p:cNvSpPr txBox="1"/>
          <p:nvPr/>
        </p:nvSpPr>
        <p:spPr>
          <a:xfrm>
            <a:off x="8641080" y="2780995"/>
            <a:ext cx="28346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retain it.</a:t>
            </a:r>
          </a:p>
        </p:txBody>
      </p:sp>
      <p:cxnSp>
        <p:nvCxnSpPr>
          <p:cNvPr id="17" name="Connector 16"/>
          <p:cNvCxnSpPr/>
          <p:nvPr/>
        </p:nvCxnSpPr>
        <p:spPr>
          <a:xfrm>
            <a:off x="3672840" y="2567940"/>
            <a:ext cx="838200" cy="0"/>
          </a:xfrm>
          <a:prstGeom prst="line">
            <a:avLst/>
          </a:prstGeom>
          <a:ln w="15240">
            <a:solidFill>
              <a:srgbClr val="315E9C"/>
            </a:solidFill>
          </a:ln>
          <a:effectLst/>
        </p:spPr>
      </p:cxnSp>
      <p:sp>
        <p:nvSpPr>
          <p:cNvPr id="18" name="Freeform 17"/>
          <p:cNvSpPr/>
          <p:nvPr/>
        </p:nvSpPr>
        <p:spPr>
          <a:xfrm>
            <a:off x="4411980" y="25298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TextBox 18"/>
          <p:cNvSpPr txBox="1"/>
          <p:nvPr/>
        </p:nvSpPr>
        <p:spPr>
          <a:xfrm>
            <a:off x="3810000" y="2240280"/>
            <a:ext cx="685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315E9C"/>
                </a:solidFill>
                <a:latin typeface="DejaVu Sans"/>
              </a:rPr>
              <a:t>copy</a:t>
            </a:r>
          </a:p>
        </p:txBody>
      </p:sp>
      <p:cxnSp>
        <p:nvCxnSpPr>
          <p:cNvPr id="20" name="Connector 19"/>
          <p:cNvCxnSpPr/>
          <p:nvPr/>
        </p:nvCxnSpPr>
        <p:spPr>
          <a:xfrm>
            <a:off x="2110740" y="3147060"/>
            <a:ext cx="0" cy="495300"/>
          </a:xfrm>
          <a:prstGeom prst="line">
            <a:avLst/>
          </a:prstGeom>
          <a:ln w="15240">
            <a:solidFill>
              <a:srgbClr val="315E9C"/>
            </a:solidFill>
          </a:ln>
          <a:effectLst/>
        </p:spPr>
      </p:cxnSp>
      <p:cxnSp>
        <p:nvCxnSpPr>
          <p:cNvPr id="21" name="Connector 20"/>
          <p:cNvCxnSpPr/>
          <p:nvPr/>
        </p:nvCxnSpPr>
        <p:spPr>
          <a:xfrm>
            <a:off x="2110740" y="3642360"/>
            <a:ext cx="3962400" cy="0"/>
          </a:xfrm>
          <a:prstGeom prst="line">
            <a:avLst/>
          </a:prstGeom>
          <a:ln w="15240">
            <a:solidFill>
              <a:srgbClr val="315E9C"/>
            </a:solidFill>
          </a:ln>
          <a:effectLst/>
        </p:spPr>
      </p:cxnSp>
      <p:cxnSp>
        <p:nvCxnSpPr>
          <p:cNvPr id="22" name="Connector 21"/>
          <p:cNvCxnSpPr/>
          <p:nvPr/>
        </p:nvCxnSpPr>
        <p:spPr>
          <a:xfrm flipV="1">
            <a:off x="6073140" y="3147060"/>
            <a:ext cx="0" cy="495300"/>
          </a:xfrm>
          <a:prstGeom prst="line">
            <a:avLst/>
          </a:prstGeom>
          <a:ln w="15240">
            <a:solidFill>
              <a:srgbClr val="315E9C"/>
            </a:solidFill>
          </a:ln>
          <a:effectLst/>
        </p:spPr>
      </p:cxnSp>
      <p:sp>
        <p:nvSpPr>
          <p:cNvPr id="23" name="TextBox 22"/>
          <p:cNvSpPr txBox="1"/>
          <p:nvPr/>
        </p:nvSpPr>
        <p:spPr>
          <a:xfrm>
            <a:off x="2346960" y="3756660"/>
            <a:ext cx="4953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315E9C"/>
                </a:solidFill>
                <a:latin typeface="DejaVu Sans"/>
              </a:rPr>
              <a:t>Same origin → no extra numerical weight</a:t>
            </a:r>
          </a:p>
        </p:txBody>
      </p:sp>
      <p:sp>
        <p:nvSpPr>
          <p:cNvPr id="24" name="Rounded Rectangle 23"/>
          <p:cNvSpPr/>
          <p:nvPr/>
        </p:nvSpPr>
        <p:spPr>
          <a:xfrm>
            <a:off x="548640" y="4450080"/>
            <a:ext cx="5257800" cy="1120140"/>
          </a:xfrm>
          <a:prstGeom prst="roundRect">
            <a:avLst>
              <a:gd name="adj" fmla="val 8843"/>
            </a:avLst>
          </a:prstGeom>
          <a:solidFill>
            <a:srgbClr val="DCEFE8"/>
          </a:solidFill>
          <a:ln w="7620">
            <a:solidFill>
              <a:srgbClr val="007C78"/>
            </a:solidFill>
          </a:ln>
          <a:effectLst/>
        </p:spPr>
        <p:txBody>
          <a:bodyPr rtlCol="0" anchor="ctr"/>
          <a:lstStyle/>
          <a:p>
            <a:pPr algn="ctr"/>
          </a:p>
        </p:txBody>
      </p:sp>
      <p:sp>
        <p:nvSpPr>
          <p:cNvPr id="25" name="TextBox 24"/>
          <p:cNvSpPr txBox="1"/>
          <p:nvPr/>
        </p:nvSpPr>
        <p:spPr>
          <a:xfrm>
            <a:off x="716280" y="4617720"/>
            <a:ext cx="492252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Store all three observations</a:t>
            </a:r>
          </a:p>
        </p:txBody>
      </p:sp>
      <p:sp>
        <p:nvSpPr>
          <p:cNvPr id="26" name="TextBox 25"/>
          <p:cNvSpPr txBox="1"/>
          <p:nvPr/>
        </p:nvSpPr>
        <p:spPr>
          <a:xfrm>
            <a:off x="716280" y="5006035"/>
            <a:ext cx="49225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Remembering a report does not mean believing it.</a:t>
            </a:r>
          </a:p>
        </p:txBody>
      </p:sp>
      <p:sp>
        <p:nvSpPr>
          <p:cNvPr id="27" name="Rounded Rectangle 26"/>
          <p:cNvSpPr/>
          <p:nvPr/>
        </p:nvSpPr>
        <p:spPr>
          <a:xfrm>
            <a:off x="6172200" y="4450080"/>
            <a:ext cx="5471160" cy="1120140"/>
          </a:xfrm>
          <a:prstGeom prst="roundRect">
            <a:avLst>
              <a:gd name="adj" fmla="val 8843"/>
            </a:avLst>
          </a:prstGeom>
          <a:solidFill>
            <a:srgbClr val="DCEFE8"/>
          </a:solidFill>
          <a:ln w="7620">
            <a:solidFill>
              <a:srgbClr val="007C78"/>
            </a:solidFill>
          </a:ln>
          <a:effectLst/>
        </p:spPr>
        <p:txBody>
          <a:bodyPr rtlCol="0" anchor="ctr"/>
          <a:lstStyle/>
          <a:p>
            <a:pPr algn="ctr"/>
          </a:p>
        </p:txBody>
      </p:sp>
      <p:sp>
        <p:nvSpPr>
          <p:cNvPr id="28" name="TextBox 27"/>
          <p:cNvSpPr txBox="1"/>
          <p:nvPr/>
        </p:nvSpPr>
        <p:spPr>
          <a:xfrm>
            <a:off x="6339840" y="4617720"/>
            <a:ext cx="513588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Combine only an eligible pair</a:t>
            </a:r>
          </a:p>
        </p:txBody>
      </p:sp>
      <p:sp>
        <p:nvSpPr>
          <p:cNvPr id="29" name="TextBox 28"/>
          <p:cNvSpPr txBox="1"/>
          <p:nvPr/>
        </p:nvSpPr>
        <p:spPr>
          <a:xfrm>
            <a:off x="6339840" y="4986528"/>
            <a:ext cx="51358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independence assumption + lineage guards</a:t>
            </a:r>
          </a:p>
        </p:txBody>
      </p:sp>
      <p:sp>
        <p:nvSpPr>
          <p:cNvPr id="30" name="TextBox 29"/>
          <p:cNvSpPr txBox="1"/>
          <p:nvPr/>
        </p:nvSpPr>
        <p:spPr>
          <a:xfrm>
            <a:off x="6339840" y="5230368"/>
            <a:ext cx="51358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 native formula.</a:t>
            </a:r>
          </a:p>
        </p:txBody>
      </p:sp>
      <p:sp>
        <p:nvSpPr>
          <p:cNvPr id="31" name="Rounded Rectangle 3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2" name="TextBox 31"/>
          <p:cNvSpPr txBox="1"/>
          <p:nvPr/>
        </p:nvSpPr>
        <p:spPr>
          <a:xfrm>
            <a:off x="716280" y="5905500"/>
            <a:ext cx="10744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A retry is not a new event. A copy is not a new source. A disagreement is not erased.</a:t>
            </a:r>
          </a:p>
        </p:txBody>
      </p:sp>
      <p:cxnSp>
        <p:nvCxnSpPr>
          <p:cNvPr id="33" name="Connector 32"/>
          <p:cNvCxnSpPr/>
          <p:nvPr/>
        </p:nvCxnSpPr>
        <p:spPr>
          <a:xfrm>
            <a:off x="548640" y="6393180"/>
            <a:ext cx="11094720" cy="0"/>
          </a:xfrm>
          <a:prstGeom prst="line">
            <a:avLst/>
          </a:prstGeom>
          <a:ln w="7620">
            <a:solidFill>
              <a:srgbClr val="C9D2D4"/>
            </a:solidFill>
          </a:ln>
          <a:effectLst/>
        </p:spPr>
      </p:cxnSp>
      <p:sp>
        <p:nvSpPr>
          <p:cNvPr id="34" name="TextBox 3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C1 provenance · C2 support coverage</a:t>
            </a:r>
          </a:p>
        </p:txBody>
      </p:sp>
      <p:sp>
        <p:nvSpPr>
          <p:cNvPr id="35" name="TextBox 3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38</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Fifteen modules; four responsibility groups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module owns a responsibility. It need not be a separate process or repository.</a:t>
            </a:r>
          </a:p>
        </p:txBody>
      </p:sp>
      <p:sp>
        <p:nvSpPr>
          <p:cNvPr id="5" name="Rounded Rectangle 4"/>
          <p:cNvSpPr/>
          <p:nvPr/>
        </p:nvSpPr>
        <p:spPr>
          <a:xfrm>
            <a:off x="548640" y="1752600"/>
            <a:ext cx="2438400" cy="3771900"/>
          </a:xfrm>
          <a:prstGeom prst="roundRect">
            <a:avLst>
              <a:gd name="adj" fmla="val 4375"/>
            </a:avLst>
          </a:prstGeom>
          <a:solidFill>
            <a:srgbClr val="EBE5F3"/>
          </a:solidFill>
          <a:ln>
            <a:noFill/>
          </a:ln>
          <a:effectLst/>
        </p:spPr>
        <p:txBody>
          <a:bodyPr rtlCol="0" anchor="ctr"/>
          <a:lstStyle/>
          <a:p>
            <a:pPr algn="ctr"/>
          </a:p>
        </p:txBody>
      </p:sp>
      <p:sp>
        <p:nvSpPr>
          <p:cNvPr id="6" name="TextBox 5"/>
          <p:cNvSpPr txBox="1"/>
          <p:nvPr/>
        </p:nvSpPr>
        <p:spPr>
          <a:xfrm>
            <a:off x="685800" y="1912620"/>
            <a:ext cx="216408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102B3F"/>
                </a:solidFill>
                <a:latin typeface="DejaVu Sans"/>
              </a:rPr>
              <a:t>CLIENT / COGNITION</a:t>
            </a:r>
          </a:p>
        </p:txBody>
      </p:sp>
      <p:sp>
        <p:nvSpPr>
          <p:cNvPr id="7" name="Rounded Rectangle 6"/>
          <p:cNvSpPr/>
          <p:nvPr/>
        </p:nvSpPr>
        <p:spPr>
          <a:xfrm>
            <a:off x="3200400" y="1752600"/>
            <a:ext cx="3048000" cy="3771900"/>
          </a:xfrm>
          <a:prstGeom prst="roundRect">
            <a:avLst>
              <a:gd name="adj" fmla="val 3500"/>
            </a:avLst>
          </a:prstGeom>
          <a:solidFill>
            <a:srgbClr val="E4EBF5"/>
          </a:solidFill>
          <a:ln>
            <a:noFill/>
          </a:ln>
          <a:effectLst/>
        </p:spPr>
        <p:txBody>
          <a:bodyPr rtlCol="0" anchor="ctr"/>
          <a:lstStyle/>
          <a:p>
            <a:pPr algn="ctr"/>
          </a:p>
        </p:txBody>
      </p:sp>
      <p:sp>
        <p:nvSpPr>
          <p:cNvPr id="8" name="TextBox 7"/>
          <p:cNvSpPr txBox="1"/>
          <p:nvPr/>
        </p:nvSpPr>
        <p:spPr>
          <a:xfrm>
            <a:off x="3337560" y="1912620"/>
            <a:ext cx="277368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102B3F"/>
                </a:solidFill>
                <a:latin typeface="DejaVu Sans"/>
              </a:rPr>
              <a:t>APPLICATION PORTS</a:t>
            </a:r>
          </a:p>
        </p:txBody>
      </p:sp>
      <p:sp>
        <p:nvSpPr>
          <p:cNvPr id="9" name="Rounded Rectangle 8"/>
          <p:cNvSpPr/>
          <p:nvPr/>
        </p:nvSpPr>
        <p:spPr>
          <a:xfrm>
            <a:off x="6461759" y="1752600"/>
            <a:ext cx="2453640" cy="3771900"/>
          </a:xfrm>
          <a:prstGeom prst="roundRect">
            <a:avLst>
              <a:gd name="adj" fmla="val 4347"/>
            </a:avLst>
          </a:prstGeom>
          <a:solidFill>
            <a:srgbClr val="E7ECEB"/>
          </a:solidFill>
          <a:ln>
            <a:noFill/>
          </a:ln>
          <a:effectLst/>
        </p:spPr>
        <p:txBody>
          <a:bodyPr rtlCol="0" anchor="ctr"/>
          <a:lstStyle/>
          <a:p>
            <a:pPr algn="ctr"/>
          </a:p>
        </p:txBody>
      </p:sp>
      <p:sp>
        <p:nvSpPr>
          <p:cNvPr id="10" name="TextBox 9"/>
          <p:cNvSpPr txBox="1"/>
          <p:nvPr/>
        </p:nvSpPr>
        <p:spPr>
          <a:xfrm>
            <a:off x="6598920" y="1912620"/>
            <a:ext cx="217932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102B3F"/>
                </a:solidFill>
                <a:latin typeface="DejaVu Sans"/>
              </a:rPr>
              <a:t>CONTROL &amp; POLICY</a:t>
            </a:r>
          </a:p>
        </p:txBody>
      </p:sp>
      <p:sp>
        <p:nvSpPr>
          <p:cNvPr id="11" name="Rounded Rectangle 10"/>
          <p:cNvSpPr/>
          <p:nvPr/>
        </p:nvSpPr>
        <p:spPr>
          <a:xfrm>
            <a:off x="9128760" y="1752600"/>
            <a:ext cx="2514600" cy="3771900"/>
          </a:xfrm>
          <a:prstGeom prst="roundRect">
            <a:avLst>
              <a:gd name="adj" fmla="val 4242"/>
            </a:avLst>
          </a:prstGeom>
          <a:solidFill>
            <a:srgbClr val="DCEFE8"/>
          </a:solidFill>
          <a:ln>
            <a:noFill/>
          </a:ln>
          <a:effectLst/>
        </p:spPr>
        <p:txBody>
          <a:bodyPr rtlCol="0" anchor="ctr"/>
          <a:lstStyle/>
          <a:p>
            <a:pPr algn="ctr"/>
          </a:p>
        </p:txBody>
      </p:sp>
      <p:sp>
        <p:nvSpPr>
          <p:cNvPr id="12" name="TextBox 11"/>
          <p:cNvSpPr txBox="1"/>
          <p:nvPr/>
        </p:nvSpPr>
        <p:spPr>
          <a:xfrm>
            <a:off x="9265920" y="1912620"/>
            <a:ext cx="224028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102B3F"/>
                </a:solidFill>
                <a:latin typeface="DejaVu Sans"/>
              </a:rPr>
              <a:t>PROVIDER ADAPTERS</a:t>
            </a:r>
          </a:p>
        </p:txBody>
      </p:sp>
      <p:sp>
        <p:nvSpPr>
          <p:cNvPr id="13" name="Rounded Rectangle 12"/>
          <p:cNvSpPr/>
          <p:nvPr/>
        </p:nvSpPr>
        <p:spPr>
          <a:xfrm>
            <a:off x="685800" y="2286000"/>
            <a:ext cx="2164080" cy="472439"/>
          </a:xfrm>
          <a:prstGeom prst="roundRect">
            <a:avLst>
              <a:gd name="adj" fmla="val 20967"/>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853440" y="2453640"/>
            <a:ext cx="1828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Episodic memory</a:t>
            </a:r>
          </a:p>
        </p:txBody>
      </p:sp>
      <p:sp>
        <p:nvSpPr>
          <p:cNvPr id="15" name="Rounded Rectangle 14"/>
          <p:cNvSpPr/>
          <p:nvPr/>
        </p:nvSpPr>
        <p:spPr>
          <a:xfrm>
            <a:off x="685800" y="2880360"/>
            <a:ext cx="2164080" cy="472439"/>
          </a:xfrm>
          <a:prstGeom prst="roundRect">
            <a:avLst>
              <a:gd name="adj" fmla="val 20967"/>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853440" y="3048000"/>
            <a:ext cx="1828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Belief revision</a:t>
            </a:r>
          </a:p>
        </p:txBody>
      </p:sp>
      <p:sp>
        <p:nvSpPr>
          <p:cNvPr id="17" name="Rounded Rectangle 16"/>
          <p:cNvSpPr/>
          <p:nvPr/>
        </p:nvSpPr>
        <p:spPr>
          <a:xfrm>
            <a:off x="685800" y="3474719"/>
            <a:ext cx="2164080" cy="472439"/>
          </a:xfrm>
          <a:prstGeom prst="roundRect">
            <a:avLst>
              <a:gd name="adj" fmla="val 20967"/>
            </a:avLst>
          </a:prstGeom>
          <a:solidFill>
            <a:srgbClr val="FFFFFF"/>
          </a:solidFill>
          <a:ln w="7620">
            <a:solidFill>
              <a:srgbClr val="7458A2"/>
            </a:solidFill>
            <a:prstDash val="dash"/>
          </a:ln>
          <a:effectLst/>
        </p:spPr>
        <p:txBody>
          <a:bodyPr rtlCol="0" anchor="ctr"/>
          <a:lstStyle/>
          <a:p>
            <a:pPr algn="ctr"/>
          </a:p>
        </p:txBody>
      </p:sp>
      <p:sp>
        <p:nvSpPr>
          <p:cNvPr id="18" name="TextBox 17"/>
          <p:cNvSpPr txBox="1"/>
          <p:nvPr/>
        </p:nvSpPr>
        <p:spPr>
          <a:xfrm>
            <a:off x="853440" y="3642360"/>
            <a:ext cx="1828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7458A2"/>
                </a:solidFill>
                <a:latin typeface="DejaVu Sans"/>
              </a:rPr>
              <a:t>PLN kernel</a:t>
            </a:r>
          </a:p>
        </p:txBody>
      </p:sp>
      <p:sp>
        <p:nvSpPr>
          <p:cNvPr id="19" name="Rounded Rectangle 18"/>
          <p:cNvSpPr/>
          <p:nvPr/>
        </p:nvSpPr>
        <p:spPr>
          <a:xfrm>
            <a:off x="685800" y="4069079"/>
            <a:ext cx="2164080" cy="472439"/>
          </a:xfrm>
          <a:prstGeom prst="roundRect">
            <a:avLst>
              <a:gd name="adj" fmla="val 20967"/>
            </a:avLst>
          </a:prstGeom>
          <a:solidFill>
            <a:srgbClr val="FFFFFF"/>
          </a:solidFill>
          <a:ln w="7620">
            <a:solidFill>
              <a:srgbClr val="7458A2"/>
            </a:solidFill>
            <a:prstDash val="dash"/>
          </a:ln>
          <a:effectLst/>
        </p:spPr>
        <p:txBody>
          <a:bodyPr rtlCol="0" anchor="ctr"/>
          <a:lstStyle/>
          <a:p>
            <a:pPr algn="ctr"/>
          </a:p>
        </p:txBody>
      </p:sp>
      <p:sp>
        <p:nvSpPr>
          <p:cNvPr id="20" name="TextBox 19"/>
          <p:cNvSpPr txBox="1"/>
          <p:nvPr/>
        </p:nvSpPr>
        <p:spPr>
          <a:xfrm>
            <a:off x="853440" y="4236720"/>
            <a:ext cx="1828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7458A2"/>
                </a:solidFill>
                <a:latin typeface="DejaVu Sans"/>
              </a:rPr>
              <a:t>ECAN / attention</a:t>
            </a:r>
          </a:p>
        </p:txBody>
      </p:sp>
      <p:sp>
        <p:nvSpPr>
          <p:cNvPr id="21" name="Rounded Rectangle 20"/>
          <p:cNvSpPr/>
          <p:nvPr/>
        </p:nvSpPr>
        <p:spPr>
          <a:xfrm>
            <a:off x="685800" y="4663440"/>
            <a:ext cx="2164080" cy="472439"/>
          </a:xfrm>
          <a:prstGeom prst="roundRect">
            <a:avLst>
              <a:gd name="adj" fmla="val 20967"/>
            </a:avLst>
          </a:prstGeom>
          <a:solidFill>
            <a:srgbClr val="FFFFFF"/>
          </a:solidFill>
          <a:ln w="7620">
            <a:solidFill>
              <a:srgbClr val="7458A2"/>
            </a:solidFill>
            <a:prstDash val="dash"/>
          </a:ln>
          <a:effectLst/>
        </p:spPr>
        <p:txBody>
          <a:bodyPr rtlCol="0" anchor="ctr"/>
          <a:lstStyle/>
          <a:p>
            <a:pPr algn="ctr"/>
          </a:p>
        </p:txBody>
      </p:sp>
      <p:sp>
        <p:nvSpPr>
          <p:cNvPr id="22" name="TextBox 21"/>
          <p:cNvSpPr txBox="1"/>
          <p:nvPr/>
        </p:nvSpPr>
        <p:spPr>
          <a:xfrm>
            <a:off x="853440" y="4831080"/>
            <a:ext cx="18288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7458A2"/>
                </a:solidFill>
                <a:latin typeface="DejaVu Sans"/>
              </a:rPr>
              <a:t>Inference control</a:t>
            </a:r>
          </a:p>
        </p:txBody>
      </p:sp>
      <p:sp>
        <p:nvSpPr>
          <p:cNvPr id="23" name="Rounded Rectangle 22"/>
          <p:cNvSpPr/>
          <p:nvPr/>
        </p:nvSpPr>
        <p:spPr>
          <a:xfrm>
            <a:off x="3337560" y="2286000"/>
            <a:ext cx="2773680" cy="472439"/>
          </a:xfrm>
          <a:prstGeom prst="roundRect">
            <a:avLst>
              <a:gd name="adj" fmla="val 20967"/>
            </a:avLst>
          </a:prstGeom>
          <a:solidFill>
            <a:srgbClr val="FFFFFF"/>
          </a:solidFill>
          <a:ln w="7620">
            <a:solidFill>
              <a:srgbClr val="315E9C"/>
            </a:solidFill>
          </a:ln>
          <a:effectLst/>
        </p:spPr>
        <p:txBody>
          <a:bodyPr rtlCol="0" anchor="ctr"/>
          <a:lstStyle/>
          <a:p>
            <a:pPr algn="ctr"/>
          </a:p>
        </p:txBody>
      </p:sp>
      <p:sp>
        <p:nvSpPr>
          <p:cNvPr id="24" name="TextBox 23"/>
          <p:cNvSpPr txBox="1"/>
          <p:nvPr/>
        </p:nvSpPr>
        <p:spPr>
          <a:xfrm>
            <a:off x="3505200" y="2453640"/>
            <a:ext cx="24384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315E9C"/>
                </a:solidFill>
                <a:latin typeface="DejaVu Sans"/>
              </a:rPr>
              <a:t>AtomStorage</a:t>
            </a:r>
          </a:p>
        </p:txBody>
      </p:sp>
      <p:sp>
        <p:nvSpPr>
          <p:cNvPr id="25" name="Rounded Rectangle 24"/>
          <p:cNvSpPr/>
          <p:nvPr/>
        </p:nvSpPr>
        <p:spPr>
          <a:xfrm>
            <a:off x="3337560" y="2880360"/>
            <a:ext cx="2773680" cy="472439"/>
          </a:xfrm>
          <a:prstGeom prst="roundRect">
            <a:avLst>
              <a:gd name="adj" fmla="val 20967"/>
            </a:avLst>
          </a:prstGeom>
          <a:solidFill>
            <a:srgbClr val="FFFFFF"/>
          </a:solidFill>
          <a:ln w="7620">
            <a:solidFill>
              <a:srgbClr val="7458A2"/>
            </a:solidFill>
            <a:prstDash val="dash"/>
          </a:ln>
          <a:effectLst/>
        </p:spPr>
        <p:txBody>
          <a:bodyPr rtlCol="0" anchor="ctr"/>
          <a:lstStyle/>
          <a:p>
            <a:pPr algn="ctr"/>
          </a:p>
        </p:txBody>
      </p:sp>
      <p:sp>
        <p:nvSpPr>
          <p:cNvPr id="26" name="TextBox 25"/>
          <p:cNvSpPr txBox="1"/>
          <p:nvPr/>
        </p:nvSpPr>
        <p:spPr>
          <a:xfrm>
            <a:off x="3505200" y="3048000"/>
            <a:ext cx="24384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7458A2"/>
                </a:solidFill>
                <a:latin typeface="DejaVu Sans"/>
              </a:rPr>
              <a:t>Relations · future</a:t>
            </a:r>
          </a:p>
        </p:txBody>
      </p:sp>
      <p:sp>
        <p:nvSpPr>
          <p:cNvPr id="27" name="Rounded Rectangle 26"/>
          <p:cNvSpPr/>
          <p:nvPr/>
        </p:nvSpPr>
        <p:spPr>
          <a:xfrm>
            <a:off x="3337560" y="3474719"/>
            <a:ext cx="2773680" cy="472439"/>
          </a:xfrm>
          <a:prstGeom prst="roundRect">
            <a:avLst>
              <a:gd name="adj" fmla="val 20967"/>
            </a:avLst>
          </a:prstGeom>
          <a:solidFill>
            <a:srgbClr val="FFFFFF"/>
          </a:solidFill>
          <a:ln w="7620">
            <a:solidFill>
              <a:srgbClr val="7458A2"/>
            </a:solidFill>
            <a:prstDash val="dash"/>
          </a:ln>
          <a:effectLst/>
        </p:spPr>
        <p:txBody>
          <a:bodyPr rtlCol="0" anchor="ctr"/>
          <a:lstStyle/>
          <a:p>
            <a:pPr algn="ctr"/>
          </a:p>
        </p:txBody>
      </p:sp>
      <p:sp>
        <p:nvSpPr>
          <p:cNvPr id="28" name="TextBox 27"/>
          <p:cNvSpPr txBox="1"/>
          <p:nvPr/>
        </p:nvSpPr>
        <p:spPr>
          <a:xfrm>
            <a:off x="3505200" y="3642360"/>
            <a:ext cx="24384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7458A2"/>
                </a:solidFill>
                <a:latin typeface="DejaVu Sans"/>
              </a:rPr>
              <a:t>Search projection · future</a:t>
            </a:r>
          </a:p>
        </p:txBody>
      </p:sp>
      <p:sp>
        <p:nvSpPr>
          <p:cNvPr id="29" name="Rounded Rectangle 28"/>
          <p:cNvSpPr/>
          <p:nvPr/>
        </p:nvSpPr>
        <p:spPr>
          <a:xfrm>
            <a:off x="3337560" y="4069079"/>
            <a:ext cx="2773680" cy="472439"/>
          </a:xfrm>
          <a:prstGeom prst="roundRect">
            <a:avLst>
              <a:gd name="adj" fmla="val 20967"/>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3505200" y="4236720"/>
            <a:ext cx="24384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315E9C"/>
                </a:solidFill>
                <a:latin typeface="DejaVu Sans"/>
              </a:rPr>
              <a:t>Agent messaging</a:t>
            </a:r>
          </a:p>
        </p:txBody>
      </p:sp>
      <p:sp>
        <p:nvSpPr>
          <p:cNvPr id="31" name="Rounded Rectangle 30"/>
          <p:cNvSpPr/>
          <p:nvPr/>
        </p:nvSpPr>
        <p:spPr>
          <a:xfrm>
            <a:off x="3337560" y="4663440"/>
            <a:ext cx="2773680" cy="472439"/>
          </a:xfrm>
          <a:prstGeom prst="roundRect">
            <a:avLst>
              <a:gd name="adj" fmla="val 20967"/>
            </a:avLst>
          </a:prstGeom>
          <a:solidFill>
            <a:srgbClr val="FFFFFF"/>
          </a:solidFill>
          <a:ln w="7620">
            <a:solidFill>
              <a:srgbClr val="315E9C"/>
            </a:solidFill>
          </a:ln>
          <a:effectLst/>
        </p:spPr>
        <p:txBody>
          <a:bodyPr rtlCol="0" anchor="ctr"/>
          <a:lstStyle/>
          <a:p>
            <a:pPr algn="ctr"/>
          </a:p>
        </p:txBody>
      </p:sp>
      <p:sp>
        <p:nvSpPr>
          <p:cNvPr id="32" name="TextBox 31"/>
          <p:cNvSpPr txBox="1"/>
          <p:nvPr/>
        </p:nvSpPr>
        <p:spPr>
          <a:xfrm>
            <a:off x="3505200" y="4831080"/>
            <a:ext cx="24384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315E9C"/>
                </a:solidFill>
                <a:latin typeface="DejaVu Sans"/>
              </a:rPr>
              <a:t>Delegated execution</a:t>
            </a:r>
          </a:p>
        </p:txBody>
      </p:sp>
      <p:sp>
        <p:nvSpPr>
          <p:cNvPr id="33" name="Rounded Rectangle 32"/>
          <p:cNvSpPr/>
          <p:nvPr/>
        </p:nvSpPr>
        <p:spPr>
          <a:xfrm>
            <a:off x="6598920" y="2286000"/>
            <a:ext cx="2179320" cy="723900"/>
          </a:xfrm>
          <a:prstGeom prst="roundRect">
            <a:avLst>
              <a:gd name="adj" fmla="val 13684"/>
            </a:avLst>
          </a:prstGeom>
          <a:solidFill>
            <a:srgbClr val="FFFFFF"/>
          </a:solidFill>
          <a:ln w="7620">
            <a:solidFill>
              <a:srgbClr val="315E9C"/>
            </a:solidFill>
          </a:ln>
          <a:effectLst/>
        </p:spPr>
        <p:txBody>
          <a:bodyPr rtlCol="0" anchor="ctr"/>
          <a:lstStyle/>
          <a:p>
            <a:pPr algn="ctr"/>
          </a:p>
        </p:txBody>
      </p:sp>
      <p:sp>
        <p:nvSpPr>
          <p:cNvPr id="34" name="TextBox 33"/>
          <p:cNvSpPr txBox="1"/>
          <p:nvPr/>
        </p:nvSpPr>
        <p:spPr>
          <a:xfrm>
            <a:off x="6766559" y="2453640"/>
            <a:ext cx="184403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Registry</a:t>
            </a:r>
          </a:p>
        </p:txBody>
      </p:sp>
      <p:sp>
        <p:nvSpPr>
          <p:cNvPr id="35" name="Rounded Rectangle 34"/>
          <p:cNvSpPr/>
          <p:nvPr/>
        </p:nvSpPr>
        <p:spPr>
          <a:xfrm>
            <a:off x="6598920" y="3108960"/>
            <a:ext cx="2179320" cy="723900"/>
          </a:xfrm>
          <a:prstGeom prst="roundRect">
            <a:avLst>
              <a:gd name="adj" fmla="val 13684"/>
            </a:avLst>
          </a:prstGeom>
          <a:solidFill>
            <a:srgbClr val="FFFFFF"/>
          </a:solidFill>
          <a:ln w="7620">
            <a:solidFill>
              <a:srgbClr val="315E9C"/>
            </a:solidFill>
          </a:ln>
          <a:effectLst/>
        </p:spPr>
        <p:txBody>
          <a:bodyPr rtlCol="0" anchor="ctr"/>
          <a:lstStyle/>
          <a:p>
            <a:pPr algn="ctr"/>
          </a:p>
        </p:txBody>
      </p:sp>
      <p:sp>
        <p:nvSpPr>
          <p:cNvPr id="36" name="TextBox 35"/>
          <p:cNvSpPr txBox="1"/>
          <p:nvPr/>
        </p:nvSpPr>
        <p:spPr>
          <a:xfrm>
            <a:off x="6766559" y="3276600"/>
            <a:ext cx="184403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Compatibility</a:t>
            </a:r>
          </a:p>
        </p:txBody>
      </p:sp>
      <p:sp>
        <p:nvSpPr>
          <p:cNvPr id="37" name="TextBox 36"/>
          <p:cNvSpPr txBox="1"/>
          <p:nvPr/>
        </p:nvSpPr>
        <p:spPr>
          <a:xfrm>
            <a:off x="6766559" y="3491179"/>
            <a:ext cx="184403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resolver</a:t>
            </a:r>
          </a:p>
        </p:txBody>
      </p:sp>
      <p:sp>
        <p:nvSpPr>
          <p:cNvPr id="38" name="Rounded Rectangle 37"/>
          <p:cNvSpPr/>
          <p:nvPr/>
        </p:nvSpPr>
        <p:spPr>
          <a:xfrm>
            <a:off x="6598920" y="3931919"/>
            <a:ext cx="2179320" cy="723900"/>
          </a:xfrm>
          <a:prstGeom prst="roundRect">
            <a:avLst>
              <a:gd name="adj" fmla="val 13684"/>
            </a:avLst>
          </a:prstGeom>
          <a:solidFill>
            <a:srgbClr val="FFFFFF"/>
          </a:solidFill>
          <a:ln w="7620">
            <a:solidFill>
              <a:srgbClr val="315E9C"/>
            </a:solidFill>
          </a:ln>
          <a:effectLst/>
        </p:spPr>
        <p:txBody>
          <a:bodyPr rtlCol="0" anchor="ctr"/>
          <a:lstStyle/>
          <a:p>
            <a:pPr algn="ctr"/>
          </a:p>
        </p:txBody>
      </p:sp>
      <p:sp>
        <p:nvSpPr>
          <p:cNvPr id="39" name="TextBox 38"/>
          <p:cNvSpPr txBox="1"/>
          <p:nvPr/>
        </p:nvSpPr>
        <p:spPr>
          <a:xfrm>
            <a:off x="6766559" y="4099560"/>
            <a:ext cx="184403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Authorization</a:t>
            </a:r>
          </a:p>
        </p:txBody>
      </p:sp>
      <p:sp>
        <p:nvSpPr>
          <p:cNvPr id="40" name="Rounded Rectangle 39"/>
          <p:cNvSpPr/>
          <p:nvPr/>
        </p:nvSpPr>
        <p:spPr>
          <a:xfrm>
            <a:off x="9265920" y="2286000"/>
            <a:ext cx="2240280" cy="1097280"/>
          </a:xfrm>
          <a:prstGeom prst="roundRect">
            <a:avLst>
              <a:gd name="adj" fmla="val 9027"/>
            </a:avLst>
          </a:prstGeom>
          <a:solidFill>
            <a:srgbClr val="FFFFFF"/>
          </a:solidFill>
          <a:ln w="7620">
            <a:solidFill>
              <a:srgbClr val="007C78"/>
            </a:solidFill>
          </a:ln>
          <a:effectLst/>
        </p:spPr>
        <p:txBody>
          <a:bodyPr rtlCol="0" anchor="ctr"/>
          <a:lstStyle/>
          <a:p>
            <a:pPr algn="ctr"/>
          </a:p>
        </p:txBody>
      </p:sp>
      <p:sp>
        <p:nvSpPr>
          <p:cNvPr id="41" name="TextBox 40"/>
          <p:cNvSpPr txBox="1"/>
          <p:nvPr/>
        </p:nvSpPr>
        <p:spPr>
          <a:xfrm>
            <a:off x="9433560" y="2453640"/>
            <a:ext cx="19050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DA storage</a:t>
            </a:r>
          </a:p>
        </p:txBody>
      </p:sp>
      <p:sp>
        <p:nvSpPr>
          <p:cNvPr id="42" name="TextBox 41"/>
          <p:cNvSpPr txBox="1"/>
          <p:nvPr/>
        </p:nvSpPr>
        <p:spPr>
          <a:xfrm>
            <a:off x="9433560" y="2793187"/>
            <a:ext cx="19050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local DeTTa</a:t>
            </a:r>
          </a:p>
        </p:txBody>
      </p:sp>
      <p:sp>
        <p:nvSpPr>
          <p:cNvPr id="43" name="Rounded Rectangle 42"/>
          <p:cNvSpPr/>
          <p:nvPr/>
        </p:nvSpPr>
        <p:spPr>
          <a:xfrm>
            <a:off x="9265920" y="3695700"/>
            <a:ext cx="2240280" cy="1280160"/>
          </a:xfrm>
          <a:prstGeom prst="roundRect">
            <a:avLst>
              <a:gd name="adj" fmla="val 7738"/>
            </a:avLst>
          </a:prstGeom>
          <a:solidFill>
            <a:srgbClr val="FFFFFF"/>
          </a:solidFill>
          <a:ln w="7620">
            <a:solidFill>
              <a:srgbClr val="A86A15"/>
            </a:solidFill>
          </a:ln>
          <a:effectLst/>
        </p:spPr>
        <p:txBody>
          <a:bodyPr rtlCol="0" anchor="ctr"/>
          <a:lstStyle/>
          <a:p>
            <a:pPr algn="ctr"/>
          </a:p>
        </p:txBody>
      </p:sp>
      <p:sp>
        <p:nvSpPr>
          <p:cNvPr id="44" name="TextBox 43"/>
          <p:cNvSpPr txBox="1"/>
          <p:nvPr/>
        </p:nvSpPr>
        <p:spPr>
          <a:xfrm>
            <a:off x="9433560" y="3863340"/>
            <a:ext cx="19050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A86A15"/>
                </a:solidFill>
                <a:latin typeface="DejaVu Sans"/>
              </a:rPr>
              <a:t>Consensus /</a:t>
            </a:r>
          </a:p>
        </p:txBody>
      </p:sp>
      <p:sp>
        <p:nvSpPr>
          <p:cNvPr id="45" name="TextBox 44"/>
          <p:cNvSpPr txBox="1"/>
          <p:nvPr/>
        </p:nvSpPr>
        <p:spPr>
          <a:xfrm>
            <a:off x="9433560" y="4116933"/>
            <a:ext cx="19050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A86A15"/>
                </a:solidFill>
                <a:latin typeface="DejaVu Sans"/>
              </a:rPr>
              <a:t>finality</a:t>
            </a:r>
          </a:p>
        </p:txBody>
      </p:sp>
      <p:sp>
        <p:nvSpPr>
          <p:cNvPr id="46" name="TextBox 45"/>
          <p:cNvSpPr txBox="1"/>
          <p:nvPr/>
        </p:nvSpPr>
        <p:spPr>
          <a:xfrm>
            <a:off x="9433560" y="4446727"/>
            <a:ext cx="19050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M1 historical; M2</a:t>
            </a:r>
          </a:p>
        </p:txBody>
      </p:sp>
      <p:sp>
        <p:nvSpPr>
          <p:cNvPr id="47" name="TextBox 46"/>
          <p:cNvSpPr txBox="1"/>
          <p:nvPr/>
        </p:nvSpPr>
        <p:spPr>
          <a:xfrm>
            <a:off x="9433560" y="4661306"/>
            <a:ext cx="19050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NOT_RUN</a:t>
            </a:r>
          </a:p>
        </p:txBody>
      </p:sp>
      <p:sp>
        <p:nvSpPr>
          <p:cNvPr id="48" name="TextBox 47"/>
          <p:cNvSpPr txBox="1"/>
          <p:nvPr/>
        </p:nvSpPr>
        <p:spPr>
          <a:xfrm>
            <a:off x="6598920" y="4945380"/>
            <a:ext cx="214884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Local test policy</a:t>
            </a:r>
          </a:p>
        </p:txBody>
      </p:sp>
      <p:sp>
        <p:nvSpPr>
          <p:cNvPr id="49" name="TextBox 48"/>
          <p:cNvSpPr txBox="1"/>
          <p:nvPr/>
        </p:nvSpPr>
        <p:spPr>
          <a:xfrm>
            <a:off x="6598920" y="5140452"/>
            <a:ext cx="214884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and static descriptors</a:t>
            </a:r>
          </a:p>
        </p:txBody>
      </p:sp>
      <p:sp>
        <p:nvSpPr>
          <p:cNvPr id="50" name="Rounded Rectangle 49"/>
          <p:cNvSpPr/>
          <p:nvPr/>
        </p:nvSpPr>
        <p:spPr>
          <a:xfrm>
            <a:off x="548640" y="5791200"/>
            <a:ext cx="1765250" cy="274320"/>
          </a:xfrm>
          <a:prstGeom prst="roundRect">
            <a:avLst>
              <a:gd name="adj" fmla="val 19444"/>
            </a:avLst>
          </a:prstGeom>
          <a:solidFill>
            <a:srgbClr val="EBE5F3"/>
          </a:solidFill>
          <a:ln>
            <a:noFill/>
          </a:ln>
          <a:effectLst/>
        </p:spPr>
        <p:txBody>
          <a:bodyPr rtlCol="0" anchor="ctr"/>
          <a:lstStyle/>
          <a:p>
            <a:pPr algn="ctr"/>
          </a:p>
        </p:txBody>
      </p:sp>
      <p:sp>
        <p:nvSpPr>
          <p:cNvPr id="51" name="TextBox 50"/>
          <p:cNvSpPr txBox="1"/>
          <p:nvPr/>
        </p:nvSpPr>
        <p:spPr>
          <a:xfrm>
            <a:off x="655320" y="5844540"/>
            <a:ext cx="157475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7458A2"/>
                </a:solidFill>
                <a:latin typeface="DejaVu Sans"/>
              </a:rPr>
              <a:t>SPECIFIED / FUTURE</a:t>
            </a:r>
          </a:p>
        </p:txBody>
      </p:sp>
      <p:sp>
        <p:nvSpPr>
          <p:cNvPr id="52" name="Rounded Rectangle 51"/>
          <p:cNvSpPr/>
          <p:nvPr/>
        </p:nvSpPr>
        <p:spPr>
          <a:xfrm>
            <a:off x="2781300" y="5791200"/>
            <a:ext cx="1874549" cy="274320"/>
          </a:xfrm>
          <a:prstGeom prst="roundRect">
            <a:avLst>
              <a:gd name="adj" fmla="val 19444"/>
            </a:avLst>
          </a:prstGeom>
          <a:solidFill>
            <a:srgbClr val="E4EBF5"/>
          </a:solidFill>
          <a:ln>
            <a:noFill/>
          </a:ln>
          <a:effectLst/>
        </p:spPr>
        <p:txBody>
          <a:bodyPr rtlCol="0" anchor="ctr"/>
          <a:lstStyle/>
          <a:p>
            <a:pPr algn="ctr"/>
          </a:p>
        </p:txBody>
      </p:sp>
      <p:sp>
        <p:nvSpPr>
          <p:cNvPr id="53" name="TextBox 52"/>
          <p:cNvSpPr txBox="1"/>
          <p:nvPr/>
        </p:nvSpPr>
        <p:spPr>
          <a:xfrm>
            <a:off x="2887980" y="5844540"/>
            <a:ext cx="1684049"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IMPLEMENTED LOCAL</a:t>
            </a:r>
          </a:p>
        </p:txBody>
      </p:sp>
      <p:sp>
        <p:nvSpPr>
          <p:cNvPr id="54" name="Rounded Rectangle 53"/>
          <p:cNvSpPr/>
          <p:nvPr/>
        </p:nvSpPr>
        <p:spPr>
          <a:xfrm>
            <a:off x="5234940" y="5791200"/>
            <a:ext cx="1447063" cy="274320"/>
          </a:xfrm>
          <a:prstGeom prst="roundRect">
            <a:avLst>
              <a:gd name="adj" fmla="val 19444"/>
            </a:avLst>
          </a:prstGeom>
          <a:solidFill>
            <a:srgbClr val="DCEFE8"/>
          </a:solidFill>
          <a:ln>
            <a:noFill/>
          </a:ln>
          <a:effectLst/>
        </p:spPr>
        <p:txBody>
          <a:bodyPr rtlCol="0" anchor="ctr"/>
          <a:lstStyle/>
          <a:p>
            <a:pPr algn="ctr"/>
          </a:p>
        </p:txBody>
      </p:sp>
      <p:sp>
        <p:nvSpPr>
          <p:cNvPr id="55" name="TextBox 54"/>
          <p:cNvSpPr txBox="1"/>
          <p:nvPr/>
        </p:nvSpPr>
        <p:spPr>
          <a:xfrm>
            <a:off x="5341620" y="5844540"/>
            <a:ext cx="1256563"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007C78"/>
                </a:solidFill>
                <a:latin typeface="DejaVu Sans"/>
              </a:rPr>
              <a:t>REAL PROVIDER</a:t>
            </a:r>
          </a:p>
        </p:txBody>
      </p:sp>
      <p:sp>
        <p:nvSpPr>
          <p:cNvPr id="56" name="TextBox 55"/>
          <p:cNvSpPr txBox="1"/>
          <p:nvPr/>
        </p:nvSpPr>
        <p:spPr>
          <a:xfrm>
            <a:off x="7520939" y="5836920"/>
            <a:ext cx="4114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Narrow RevisionMath ≠ general PLN kernel</a:t>
            </a:r>
          </a:p>
        </p:txBody>
      </p:sp>
      <p:cxnSp>
        <p:nvCxnSpPr>
          <p:cNvPr id="57" name="Connector 56"/>
          <p:cNvCxnSpPr/>
          <p:nvPr/>
        </p:nvCxnSpPr>
        <p:spPr>
          <a:xfrm>
            <a:off x="548640" y="6393180"/>
            <a:ext cx="11094720" cy="0"/>
          </a:xfrm>
          <a:prstGeom prst="line">
            <a:avLst/>
          </a:prstGeom>
          <a:ln w="7620">
            <a:solidFill>
              <a:srgbClr val="C9D2D4"/>
            </a:solidFill>
          </a:ln>
          <a:effectLst/>
        </p:spPr>
      </p:cxnSp>
      <p:sp>
        <p:nvSpPr>
          <p:cNvPr id="58" name="TextBox 5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architecture.md</a:t>
            </a:r>
          </a:p>
        </p:txBody>
      </p:sp>
      <p:sp>
        <p:nvSpPr>
          <p:cNvPr id="59" name="TextBox 5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38</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RESPONSIBILITY ATLAS · 1 OF 3</a:t>
            </a:r>
          </a:p>
        </p:txBody>
      </p:sp>
      <p:sp>
        <p:nvSpPr>
          <p:cNvPr id="3" name="TextBox 2"/>
          <p:cNvSpPr txBox="1"/>
          <p:nvPr/>
        </p:nvSpPr>
        <p:spPr>
          <a:xfrm>
            <a:off x="533400" y="723900"/>
            <a:ext cx="11125200" cy="497433"/>
          </a:xfrm>
          <a:prstGeom prst="rect">
            <a:avLst/>
          </a:prstGeom>
          <a:noFill/>
        </p:spPr>
        <p:txBody>
          <a:bodyPr wrap="none" lIns="0" rIns="0" tIns="0" bIns="0" anchor="t" anchorCtr="0">
            <a:noAutofit/>
          </a:bodyPr>
          <a:lstStyle/>
          <a:p>
            <a:pPr algn="l">
              <a:lnSpc>
                <a:spcPct val="100000"/>
              </a:lnSpc>
              <a:spcBef>
                <a:spcPts val="0"/>
              </a:spcBef>
              <a:spcAft>
                <a:spcPts val="0"/>
              </a:spcAft>
            </a:pPr>
            <a:r>
              <a:rPr sz="3060" b="1">
                <a:solidFill>
                  <a:srgbClr val="102B3F"/>
                </a:solidFill>
                <a:latin typeface="DejaVu Sans"/>
              </a:rPr>
              <a:t>Data responsibilities: bytes → references → history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Persistence, identity, structure, discovery and provenance have different owners.</a:t>
            </a:r>
          </a:p>
        </p:txBody>
      </p:sp>
      <p:sp>
        <p:nvSpPr>
          <p:cNvPr id="5" name="TextBox 4"/>
          <p:cNvSpPr txBox="1"/>
          <p:nvPr/>
        </p:nvSpPr>
        <p:spPr>
          <a:xfrm>
            <a:off x="670560" y="1790700"/>
            <a:ext cx="2270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a:t>
            </a:r>
          </a:p>
        </p:txBody>
      </p:sp>
      <p:sp>
        <p:nvSpPr>
          <p:cNvPr id="6" name="TextBox 5"/>
          <p:cNvSpPr txBox="1"/>
          <p:nvPr/>
        </p:nvSpPr>
        <p:spPr>
          <a:xfrm>
            <a:off x="3185160" y="1790700"/>
            <a:ext cx="4328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FUNCTION / PRIMARY OPERATIONS</a:t>
            </a:r>
          </a:p>
        </p:txBody>
      </p:sp>
      <p:sp>
        <p:nvSpPr>
          <p:cNvPr id="7" name="TextBox 6"/>
          <p:cNvSpPr txBox="1"/>
          <p:nvPr/>
        </p:nvSpPr>
        <p:spPr>
          <a:xfrm>
            <a:off x="7757159" y="1790700"/>
            <a:ext cx="37642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OWNED STATE / STATUS</a:t>
            </a:r>
          </a:p>
        </p:txBody>
      </p:sp>
      <p:sp>
        <p:nvSpPr>
          <p:cNvPr id="8" name="Rounded Rectangle 7"/>
          <p:cNvSpPr/>
          <p:nvPr/>
        </p:nvSpPr>
        <p:spPr>
          <a:xfrm>
            <a:off x="548640" y="2110740"/>
            <a:ext cx="11094720" cy="662940"/>
          </a:xfrm>
          <a:prstGeom prst="roundRect">
            <a:avLst>
              <a:gd name="adj" fmla="val 6896"/>
            </a:avLst>
          </a:prstGeom>
          <a:solidFill>
            <a:srgbClr val="FFFFFF"/>
          </a:solidFill>
          <a:ln>
            <a:noFill/>
          </a:ln>
          <a:effectLst/>
        </p:spPr>
        <p:txBody>
          <a:bodyPr rtlCol="0" anchor="ctr"/>
          <a:lstStyle/>
          <a:p>
            <a:pPr algn="ctr"/>
          </a:p>
        </p:txBody>
      </p:sp>
      <p:sp>
        <p:nvSpPr>
          <p:cNvPr id="9" name="TextBox 8"/>
          <p:cNvSpPr txBox="1"/>
          <p:nvPr/>
        </p:nvSpPr>
        <p:spPr>
          <a:xfrm>
            <a:off x="670560" y="224028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10" name="TextBox 9"/>
          <p:cNvSpPr txBox="1"/>
          <p:nvPr/>
        </p:nvSpPr>
        <p:spPr>
          <a:xfrm>
            <a:off x="3185160" y="2240280"/>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Persist opaque bytes</a:t>
            </a:r>
          </a:p>
        </p:txBody>
      </p:sp>
      <p:sp>
        <p:nvSpPr>
          <p:cNvPr id="11" name="TextBox 10"/>
          <p:cNvSpPr txBox="1"/>
          <p:nvPr/>
        </p:nvSpPr>
        <p:spPr>
          <a:xfrm>
            <a:off x="3185160" y="2474366"/>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put · get · availability</a:t>
            </a:r>
          </a:p>
        </p:txBody>
      </p:sp>
      <p:sp>
        <p:nvSpPr>
          <p:cNvPr id="12" name="TextBox 11"/>
          <p:cNvSpPr txBox="1"/>
          <p:nvPr/>
        </p:nvSpPr>
        <p:spPr>
          <a:xfrm>
            <a:off x="7757159" y="2240280"/>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Payloads + shares</a:t>
            </a:r>
          </a:p>
        </p:txBody>
      </p:sp>
      <p:sp>
        <p:nvSpPr>
          <p:cNvPr id="13" name="TextBox 12"/>
          <p:cNvSpPr txBox="1"/>
          <p:nvPr/>
        </p:nvSpPr>
        <p:spPr>
          <a:xfrm>
            <a:off x="7757159" y="2474366"/>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REAL LOCAL PROVIDER</a:t>
            </a:r>
          </a:p>
        </p:txBody>
      </p:sp>
      <p:sp>
        <p:nvSpPr>
          <p:cNvPr id="14" name="Rounded Rectangle 13"/>
          <p:cNvSpPr/>
          <p:nvPr/>
        </p:nvSpPr>
        <p:spPr>
          <a:xfrm>
            <a:off x="548640" y="2811780"/>
            <a:ext cx="11094720" cy="662940"/>
          </a:xfrm>
          <a:prstGeom prst="roundRect">
            <a:avLst>
              <a:gd name="adj" fmla="val 6896"/>
            </a:avLst>
          </a:prstGeom>
          <a:solidFill>
            <a:srgbClr val="FFFFFF"/>
          </a:solidFill>
          <a:ln>
            <a:noFill/>
          </a:ln>
          <a:effectLst/>
        </p:spPr>
        <p:txBody>
          <a:bodyPr rtlCol="0" anchor="ctr"/>
          <a:lstStyle/>
          <a:p>
            <a:pPr algn="ctr"/>
          </a:p>
        </p:txBody>
      </p:sp>
      <p:sp>
        <p:nvSpPr>
          <p:cNvPr id="15" name="TextBox 14"/>
          <p:cNvSpPr txBox="1"/>
          <p:nvPr/>
        </p:nvSpPr>
        <p:spPr>
          <a:xfrm>
            <a:off x="670560" y="294132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a:t>
            </a:r>
          </a:p>
        </p:txBody>
      </p:sp>
      <p:sp>
        <p:nvSpPr>
          <p:cNvPr id="16" name="TextBox 15"/>
          <p:cNvSpPr txBox="1"/>
          <p:nvPr/>
        </p:nvSpPr>
        <p:spPr>
          <a:xfrm>
            <a:off x="3185160" y="2941320"/>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Scoped immutable envelopes</a:t>
            </a:r>
          </a:p>
        </p:txBody>
      </p:sp>
      <p:sp>
        <p:nvSpPr>
          <p:cNvPr id="17" name="TextBox 16"/>
          <p:cNvSpPr txBox="1"/>
          <p:nvPr/>
        </p:nvSpPr>
        <p:spPr>
          <a:xfrm>
            <a:off x="3185160" y="3175406"/>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create · get · getMany · availability</a:t>
            </a:r>
          </a:p>
        </p:txBody>
      </p:sp>
      <p:sp>
        <p:nvSpPr>
          <p:cNvPr id="18" name="TextBox 17"/>
          <p:cNvSpPr txBox="1"/>
          <p:nvPr/>
        </p:nvSpPr>
        <p:spPr>
          <a:xfrm>
            <a:off x="7757159" y="2941320"/>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Reference + replay metadata</a:t>
            </a:r>
          </a:p>
        </p:txBody>
      </p:sp>
      <p:sp>
        <p:nvSpPr>
          <p:cNvPr id="19" name="TextBox 18"/>
          <p:cNvSpPr txBox="1"/>
          <p:nvPr/>
        </p:nvSpPr>
        <p:spPr>
          <a:xfrm>
            <a:off x="7757159" y="3175406"/>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IMPLEMENTED</a:t>
            </a:r>
          </a:p>
        </p:txBody>
      </p:sp>
      <p:sp>
        <p:nvSpPr>
          <p:cNvPr id="20" name="Rounded Rectangle 19"/>
          <p:cNvSpPr/>
          <p:nvPr/>
        </p:nvSpPr>
        <p:spPr>
          <a:xfrm>
            <a:off x="548640" y="3512819"/>
            <a:ext cx="11094720" cy="662940"/>
          </a:xfrm>
          <a:prstGeom prst="roundRect">
            <a:avLst>
              <a:gd name="adj" fmla="val 6896"/>
            </a:avLst>
          </a:prstGeom>
          <a:solidFill>
            <a:srgbClr val="FFFFFF"/>
          </a:solidFill>
          <a:ln>
            <a:noFill/>
          </a:ln>
          <a:effectLst/>
        </p:spPr>
        <p:txBody>
          <a:bodyPr rtlCol="0" anchor="ctr"/>
          <a:lstStyle/>
          <a:p>
            <a:pPr algn="ctr"/>
          </a:p>
        </p:txBody>
      </p:sp>
      <p:sp>
        <p:nvSpPr>
          <p:cNvPr id="21" name="TextBox 20"/>
          <p:cNvSpPr txBox="1"/>
          <p:nvPr/>
        </p:nvSpPr>
        <p:spPr>
          <a:xfrm>
            <a:off x="670560" y="364236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22" name="TextBox 21"/>
          <p:cNvSpPr txBox="1"/>
          <p:nvPr/>
        </p:nvSpPr>
        <p:spPr>
          <a:xfrm>
            <a:off x="3185160" y="3642360"/>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Represent ordered structural roles</a:t>
            </a:r>
          </a:p>
        </p:txBody>
      </p:sp>
      <p:sp>
        <p:nvSpPr>
          <p:cNvPr id="23" name="TextBox 22"/>
          <p:cNvSpPr txBox="1"/>
          <p:nvPr/>
        </p:nvSpPr>
        <p:spPr>
          <a:xfrm>
            <a:off x="3185160" y="3876446"/>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assertRelation · getRelation</a:t>
            </a:r>
          </a:p>
        </p:txBody>
      </p:sp>
      <p:sp>
        <p:nvSpPr>
          <p:cNvPr id="24" name="TextBox 23"/>
          <p:cNvSpPr txBox="1"/>
          <p:nvPr/>
        </p:nvSpPr>
        <p:spPr>
          <a:xfrm>
            <a:off x="7757159" y="3642360"/>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Immutable relation records</a:t>
            </a:r>
          </a:p>
        </p:txBody>
      </p:sp>
      <p:sp>
        <p:nvSpPr>
          <p:cNvPr id="25" name="TextBox 24"/>
          <p:cNvSpPr txBox="1"/>
          <p:nvPr/>
        </p:nvSpPr>
        <p:spPr>
          <a:xfrm>
            <a:off x="7757159" y="3876446"/>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SPECIFIED</a:t>
            </a:r>
          </a:p>
        </p:txBody>
      </p:sp>
      <p:sp>
        <p:nvSpPr>
          <p:cNvPr id="26" name="Rounded Rectangle 25"/>
          <p:cNvSpPr/>
          <p:nvPr/>
        </p:nvSpPr>
        <p:spPr>
          <a:xfrm>
            <a:off x="548640" y="4213860"/>
            <a:ext cx="11094720" cy="662940"/>
          </a:xfrm>
          <a:prstGeom prst="roundRect">
            <a:avLst>
              <a:gd name="adj" fmla="val 6896"/>
            </a:avLst>
          </a:prstGeom>
          <a:solidFill>
            <a:srgbClr val="FFFFFF"/>
          </a:solidFill>
          <a:ln>
            <a:noFill/>
          </a:ln>
          <a:effectLst/>
        </p:spPr>
        <p:txBody>
          <a:bodyPr rtlCol="0" anchor="ctr"/>
          <a:lstStyle/>
          <a:p>
            <a:pPr algn="ctr"/>
          </a:p>
        </p:txBody>
      </p:sp>
      <p:sp>
        <p:nvSpPr>
          <p:cNvPr id="27" name="TextBox 26"/>
          <p:cNvSpPr txBox="1"/>
          <p:nvPr/>
        </p:nvSpPr>
        <p:spPr>
          <a:xfrm>
            <a:off x="670560" y="434340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28" name="TextBox 27"/>
          <p:cNvSpPr txBox="1"/>
          <p:nvPr/>
        </p:nvSpPr>
        <p:spPr>
          <a:xfrm>
            <a:off x="3185160" y="4343400"/>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Find refs at a known watermark</a:t>
            </a:r>
          </a:p>
        </p:txBody>
      </p:sp>
      <p:sp>
        <p:nvSpPr>
          <p:cNvPr id="29" name="TextBox 28"/>
          <p:cNvSpPr txBox="1"/>
          <p:nvPr/>
        </p:nvSpPr>
        <p:spPr>
          <a:xfrm>
            <a:off x="3185160" y="4577486"/>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query</a:t>
            </a:r>
          </a:p>
        </p:txBody>
      </p:sp>
      <p:sp>
        <p:nvSpPr>
          <p:cNvPr id="30" name="TextBox 29"/>
          <p:cNvSpPr txBox="1"/>
          <p:nvPr/>
        </p:nvSpPr>
        <p:spPr>
          <a:xfrm>
            <a:off x="7757159" y="4343400"/>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Rebuildable index</a:t>
            </a:r>
          </a:p>
        </p:txBody>
      </p:sp>
      <p:sp>
        <p:nvSpPr>
          <p:cNvPr id="31" name="TextBox 30"/>
          <p:cNvSpPr txBox="1"/>
          <p:nvPr/>
        </p:nvSpPr>
        <p:spPr>
          <a:xfrm>
            <a:off x="7757159" y="4577486"/>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SPECIFIED</a:t>
            </a:r>
          </a:p>
        </p:txBody>
      </p:sp>
      <p:sp>
        <p:nvSpPr>
          <p:cNvPr id="32" name="Rounded Rectangle 31"/>
          <p:cNvSpPr/>
          <p:nvPr/>
        </p:nvSpPr>
        <p:spPr>
          <a:xfrm>
            <a:off x="548640" y="4914900"/>
            <a:ext cx="11094720" cy="662940"/>
          </a:xfrm>
          <a:prstGeom prst="roundRect">
            <a:avLst>
              <a:gd name="adj" fmla="val 6896"/>
            </a:avLst>
          </a:prstGeom>
          <a:solidFill>
            <a:srgbClr val="FFFFFF"/>
          </a:solidFill>
          <a:ln>
            <a:noFill/>
          </a:ln>
          <a:effectLst/>
        </p:spPr>
        <p:txBody>
          <a:bodyPr rtlCol="0" anchor="ctr"/>
          <a:lstStyle/>
          <a:p>
            <a:pPr algn="ctr"/>
          </a:p>
        </p:txBody>
      </p:sp>
      <p:sp>
        <p:nvSpPr>
          <p:cNvPr id="33" name="TextBox 32"/>
          <p:cNvSpPr txBox="1"/>
          <p:nvPr/>
        </p:nvSpPr>
        <p:spPr>
          <a:xfrm>
            <a:off x="670560" y="504444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Episodic memory C1</a:t>
            </a:r>
          </a:p>
        </p:txBody>
      </p:sp>
      <p:sp>
        <p:nvSpPr>
          <p:cNvPr id="34" name="TextBox 33"/>
          <p:cNvSpPr txBox="1"/>
          <p:nvPr/>
        </p:nvSpPr>
        <p:spPr>
          <a:xfrm>
            <a:off x="3185160" y="5044440"/>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Record / append / read ordered events</a:t>
            </a:r>
          </a:p>
        </p:txBody>
      </p:sp>
      <p:sp>
        <p:nvSpPr>
          <p:cNvPr id="35" name="TextBox 34"/>
          <p:cNvSpPr txBox="1"/>
          <p:nvPr/>
        </p:nvSpPr>
        <p:spPr>
          <a:xfrm>
            <a:off x="3185160" y="5278526"/>
            <a:ext cx="43281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pendingEvidence · acknowledgeEvidence</a:t>
            </a:r>
          </a:p>
        </p:txBody>
      </p:sp>
      <p:sp>
        <p:nvSpPr>
          <p:cNvPr id="36" name="TextBox 35"/>
          <p:cNvSpPr txBox="1"/>
          <p:nvPr/>
        </p:nvSpPr>
        <p:spPr>
          <a:xfrm>
            <a:off x="7757159" y="5044440"/>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Private history + delivery intents</a:t>
            </a:r>
          </a:p>
        </p:txBody>
      </p:sp>
      <p:sp>
        <p:nvSpPr>
          <p:cNvPr id="37" name="TextBox 36"/>
          <p:cNvSpPr txBox="1"/>
          <p:nvPr/>
        </p:nvSpPr>
        <p:spPr>
          <a:xfrm>
            <a:off x="7757159" y="5278526"/>
            <a:ext cx="3764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IMPLEMENTED · M2</a:t>
            </a:r>
          </a:p>
        </p:txBody>
      </p:sp>
      <p:sp>
        <p:nvSpPr>
          <p:cNvPr id="38" name="Rounded Rectangle 3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9" name="TextBox 38"/>
          <p:cNvSpPr txBox="1"/>
          <p:nvPr/>
        </p:nvSpPr>
        <p:spPr>
          <a:xfrm>
            <a:off x="716280" y="5905500"/>
            <a:ext cx="10744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102B3F"/>
                </a:solidFill>
                <a:latin typeface="DejaVu Sans"/>
              </a:rPr>
              <a:t>DA persists bytes. Only the application owners interpret events, claims or beliefs.</a:t>
            </a:r>
          </a:p>
        </p:txBody>
      </p:sp>
      <p:cxnSp>
        <p:nvCxnSpPr>
          <p:cNvPr id="40" name="Connector 39"/>
          <p:cNvCxnSpPr/>
          <p:nvPr/>
        </p:nvCxnSpPr>
        <p:spPr>
          <a:xfrm>
            <a:off x="548640" y="6393180"/>
            <a:ext cx="11094720" cy="0"/>
          </a:xfrm>
          <a:prstGeom prst="line">
            <a:avLst/>
          </a:prstGeom>
          <a:ln w="7620">
            <a:solidFill>
              <a:srgbClr val="C9D2D4"/>
            </a:solidFill>
          </a:ln>
          <a:effectLst/>
        </p:spPr>
      </p:cxnSp>
      <p:sp>
        <p:nvSpPr>
          <p:cNvPr id="41" name="TextBox 4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architecture.md</a:t>
            </a:r>
          </a:p>
        </p:txBody>
      </p:sp>
      <p:sp>
        <p:nvSpPr>
          <p:cNvPr id="42" name="TextBox 4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38</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RESPONSIBILITY ATLAS · 2 OF 3</a:t>
            </a:r>
          </a:p>
        </p:txBody>
      </p:sp>
      <p:sp>
        <p:nvSpPr>
          <p:cNvPr id="3" name="TextBox 2"/>
          <p:cNvSpPr txBox="1"/>
          <p:nvPr/>
        </p:nvSpPr>
        <p:spPr>
          <a:xfrm>
            <a:off x="533400" y="723900"/>
            <a:ext cx="11125200" cy="468172"/>
          </a:xfrm>
          <a:prstGeom prst="rect">
            <a:avLst/>
          </a:prstGeom>
          <a:noFill/>
        </p:spPr>
        <p:txBody>
          <a:bodyPr wrap="none" lIns="0" rIns="0" tIns="0" bIns="0" anchor="t" anchorCtr="0">
            <a:noAutofit/>
          </a:bodyPr>
          <a:lstStyle/>
          <a:p>
            <a:pPr algn="l">
              <a:lnSpc>
                <a:spcPct val="100000"/>
              </a:lnSpc>
              <a:spcBef>
                <a:spcPts val="0"/>
              </a:spcBef>
              <a:spcAft>
                <a:spcPts val="0"/>
              </a:spcAft>
            </a:pPr>
            <a:r>
              <a:rPr sz="2879" b="1">
                <a:solidFill>
                  <a:srgbClr val="102B3F"/>
                </a:solidFill>
                <a:latin typeface="DejaVu Sans"/>
              </a:rPr>
              <a:t>Cognitive responsibilities: history ≠ truth ≠ attention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M2 implements belief revision. General rule execution and attention remain future work.</a:t>
            </a:r>
          </a:p>
        </p:txBody>
      </p:sp>
      <p:sp>
        <p:nvSpPr>
          <p:cNvPr id="5" name="TextBox 4"/>
          <p:cNvSpPr txBox="1"/>
          <p:nvPr/>
        </p:nvSpPr>
        <p:spPr>
          <a:xfrm>
            <a:off x="670560" y="1790700"/>
            <a:ext cx="2270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a:t>
            </a:r>
          </a:p>
        </p:txBody>
      </p:sp>
      <p:sp>
        <p:nvSpPr>
          <p:cNvPr id="6" name="TextBox 5"/>
          <p:cNvSpPr txBox="1"/>
          <p:nvPr/>
        </p:nvSpPr>
        <p:spPr>
          <a:xfrm>
            <a:off x="3185160" y="1790700"/>
            <a:ext cx="4556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FUNCTION / PRIMARY OPERATIONS</a:t>
            </a:r>
          </a:p>
        </p:txBody>
      </p:sp>
      <p:sp>
        <p:nvSpPr>
          <p:cNvPr id="7" name="TextBox 6"/>
          <p:cNvSpPr txBox="1"/>
          <p:nvPr/>
        </p:nvSpPr>
        <p:spPr>
          <a:xfrm>
            <a:off x="7985759" y="1790700"/>
            <a:ext cx="35356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OWNED STATE / BOUNDARY</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 revision C2</a:t>
            </a:r>
          </a:p>
        </p:txBody>
      </p:sp>
      <p:sp>
        <p:nvSpPr>
          <p:cNvPr id="10" name="TextBox 9"/>
          <p:cNvSpPr txBox="1"/>
          <p:nvPr/>
        </p:nvSpPr>
        <p:spPr>
          <a:xfrm>
            <a:off x="3185160" y="2240280"/>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Admit evidence; read immutable snapshots</a:t>
            </a:r>
          </a:p>
        </p:txBody>
      </p:sp>
      <p:sp>
        <p:nvSpPr>
          <p:cNvPr id="11" name="TextBox 10"/>
          <p:cNvSpPr txBox="1"/>
          <p:nvPr/>
        </p:nvSpPr>
        <p:spPr>
          <a:xfrm>
            <a:off x="3185160" y="2474366"/>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submitEvidence · readBelief</a:t>
            </a:r>
          </a:p>
        </p:txBody>
      </p:sp>
      <p:sp>
        <p:nvSpPr>
          <p:cNvPr id="12" name="TextBox 11"/>
          <p:cNvSpPr txBox="1"/>
          <p:nvPr/>
        </p:nvSpPr>
        <p:spPr>
          <a:xfrm>
            <a:off x="7985759" y="2240280"/>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Evidence, supports, snapshots,</a:t>
            </a:r>
          </a:p>
        </p:txBody>
      </p:sp>
      <p:sp>
        <p:nvSpPr>
          <p:cNvPr id="13" name="TextBox 12"/>
          <p:cNvSpPr txBox="1"/>
          <p:nvPr/>
        </p:nvSpPr>
        <p:spPr>
          <a:xfrm>
            <a:off x="7985759" y="2474366"/>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attempts</a:t>
            </a:r>
          </a:p>
        </p:txBody>
      </p:sp>
      <p:sp>
        <p:nvSpPr>
          <p:cNvPr id="14" name="TextBox 13"/>
          <p:cNvSpPr txBox="1"/>
          <p:nvPr/>
        </p:nvSpPr>
        <p:spPr>
          <a:xfrm>
            <a:off x="7985759" y="2708452"/>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IMPLEMENTED · no agenda</a:t>
            </a:r>
          </a:p>
        </p:txBody>
      </p:sp>
      <p:sp>
        <p:nvSpPr>
          <p:cNvPr id="15" name="Rounded Rectangle 14"/>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6" name="TextBox 15"/>
          <p:cNvSpPr txBox="1"/>
          <p:nvPr/>
        </p:nvSpPr>
        <p:spPr>
          <a:xfrm>
            <a:off x="670560" y="307086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 kernel</a:t>
            </a:r>
          </a:p>
        </p:txBody>
      </p:sp>
      <p:sp>
        <p:nvSpPr>
          <p:cNvPr id="17" name="TextBox 16"/>
          <p:cNvSpPr txBox="1"/>
          <p:nvPr/>
        </p:nvSpPr>
        <p:spPr>
          <a:xfrm>
            <a:off x="3185160" y="3070860"/>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Apply a rule to explicit premises</a:t>
            </a:r>
          </a:p>
        </p:txBody>
      </p:sp>
      <p:sp>
        <p:nvSpPr>
          <p:cNvPr id="18" name="TextBox 17"/>
          <p:cNvSpPr txBox="1"/>
          <p:nvPr/>
        </p:nvSpPr>
        <p:spPr>
          <a:xfrm>
            <a:off x="3185160" y="3304946"/>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profiles · applyRule</a:t>
            </a:r>
          </a:p>
        </p:txBody>
      </p:sp>
      <p:sp>
        <p:nvSpPr>
          <p:cNvPr id="19" name="TextBox 18"/>
          <p:cNvSpPr txBox="1"/>
          <p:nvPr/>
        </p:nvSpPr>
        <p:spPr>
          <a:xfrm>
            <a:off x="7985759" y="3070860"/>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No mutable domain state</a:t>
            </a:r>
          </a:p>
        </p:txBody>
      </p:sp>
      <p:sp>
        <p:nvSpPr>
          <p:cNvPr id="20" name="TextBox 19"/>
          <p:cNvSpPr txBox="1"/>
          <p:nvPr/>
        </p:nvSpPr>
        <p:spPr>
          <a:xfrm>
            <a:off x="7985759" y="3304946"/>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SPECIFIED · not RevisionMath</a:t>
            </a:r>
          </a:p>
        </p:txBody>
      </p:sp>
      <p:sp>
        <p:nvSpPr>
          <p:cNvPr id="21" name="Rounded Rectangle 20"/>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22" name="TextBox 21"/>
          <p:cNvSpPr txBox="1"/>
          <p:nvPr/>
        </p:nvSpPr>
        <p:spPr>
          <a:xfrm>
            <a:off x="670560" y="390144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ECAN / attention</a:t>
            </a:r>
          </a:p>
        </p:txBody>
      </p:sp>
      <p:sp>
        <p:nvSpPr>
          <p:cNvPr id="23" name="TextBox 22"/>
          <p:cNvSpPr txBox="1"/>
          <p:nvPr/>
        </p:nvSpPr>
        <p:spPr>
          <a:xfrm>
            <a:off x="3185160" y="3901440"/>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Allocate, select and decay attention</a:t>
            </a:r>
          </a:p>
        </p:txBody>
      </p:sp>
      <p:sp>
        <p:nvSpPr>
          <p:cNvPr id="24" name="TextBox 23"/>
          <p:cNvSpPr txBox="1"/>
          <p:nvPr/>
        </p:nvSpPr>
        <p:spPr>
          <a:xfrm>
            <a:off x="3185160" y="4135526"/>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submitStimulus · select · advance</a:t>
            </a:r>
          </a:p>
        </p:txBody>
      </p:sp>
      <p:sp>
        <p:nvSpPr>
          <p:cNvPr id="25" name="TextBox 24"/>
          <p:cNvSpPr txBox="1"/>
          <p:nvPr/>
        </p:nvSpPr>
        <p:spPr>
          <a:xfrm>
            <a:off x="7985759" y="3901440"/>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Balances + logical time</a:t>
            </a:r>
          </a:p>
        </p:txBody>
      </p:sp>
      <p:sp>
        <p:nvSpPr>
          <p:cNvPr id="26" name="TextBox 25"/>
          <p:cNvSpPr txBox="1"/>
          <p:nvPr/>
        </p:nvSpPr>
        <p:spPr>
          <a:xfrm>
            <a:off x="7985759" y="4135526"/>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SPECIFIED · no PLN dependency</a:t>
            </a:r>
          </a:p>
        </p:txBody>
      </p:sp>
      <p:sp>
        <p:nvSpPr>
          <p:cNvPr id="27" name="Rounded Rectangle 26"/>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8" name="TextBox 27"/>
          <p:cNvSpPr txBox="1"/>
          <p:nvPr/>
        </p:nvSpPr>
        <p:spPr>
          <a:xfrm>
            <a:off x="670560" y="4732020"/>
            <a:ext cx="2270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control</a:t>
            </a:r>
          </a:p>
        </p:txBody>
      </p:sp>
      <p:sp>
        <p:nvSpPr>
          <p:cNvPr id="29" name="TextBox 28"/>
          <p:cNvSpPr txBox="1"/>
          <p:nvPr/>
        </p:nvSpPr>
        <p:spPr>
          <a:xfrm>
            <a:off x="3185160" y="4732020"/>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Schedule bounded reasoning work</a:t>
            </a:r>
          </a:p>
        </p:txBody>
      </p:sp>
      <p:sp>
        <p:nvSpPr>
          <p:cNvPr id="30" name="TextBox 29"/>
          <p:cNvSpPr txBox="1"/>
          <p:nvPr/>
        </p:nvSpPr>
        <p:spPr>
          <a:xfrm>
            <a:off x="3185160" y="4966106"/>
            <a:ext cx="45567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step</a:t>
            </a:r>
          </a:p>
        </p:txBody>
      </p:sp>
      <p:sp>
        <p:nvSpPr>
          <p:cNvPr id="31" name="TextBox 30"/>
          <p:cNvSpPr txBox="1"/>
          <p:nvPr/>
        </p:nvSpPr>
        <p:spPr>
          <a:xfrm>
            <a:off x="7985759" y="4732020"/>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Receipts + checkpoint</a:t>
            </a:r>
          </a:p>
        </p:txBody>
      </p:sp>
      <p:sp>
        <p:nvSpPr>
          <p:cNvPr id="32" name="TextBox 31"/>
          <p:cNvSpPr txBox="1"/>
          <p:nvPr/>
        </p:nvSpPr>
        <p:spPr>
          <a:xfrm>
            <a:off x="7985759" y="4966106"/>
            <a:ext cx="35356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SPECIFIED · no truth ownership</a:t>
            </a:r>
          </a:p>
        </p:txBody>
      </p:sp>
      <p:sp>
        <p:nvSpPr>
          <p:cNvPr id="33" name="Rounded Rectangle 3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4" name="TextBox 3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C2 asks a pure revision provider for a proposal, then authorizes and commits its own decision.</a:t>
            </a:r>
          </a:p>
        </p:txBody>
      </p:sp>
      <p:cxnSp>
        <p:nvCxnSpPr>
          <p:cNvPr id="35" name="Connector 34"/>
          <p:cNvCxnSpPr/>
          <p:nvPr/>
        </p:nvCxnSpPr>
        <p:spPr>
          <a:xfrm>
            <a:off x="548640" y="6393180"/>
            <a:ext cx="11094720" cy="0"/>
          </a:xfrm>
          <a:prstGeom prst="line">
            <a:avLst/>
          </a:prstGeom>
          <a:ln w="7620">
            <a:solidFill>
              <a:srgbClr val="C9D2D4"/>
            </a:solidFill>
          </a:ln>
          <a:effectLst/>
        </p:spPr>
      </p:cxnSp>
      <p:sp>
        <p:nvSpPr>
          <p:cNvPr id="36" name="TextBox 3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architecture.md</a:t>
            </a:r>
          </a:p>
        </p:txBody>
      </p:sp>
      <p:sp>
        <p:nvSpPr>
          <p:cNvPr id="37" name="TextBox 3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38</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RESPONSIBILITY ATLAS · 3 OF 3</a:t>
            </a:r>
          </a:p>
        </p:txBody>
      </p:sp>
      <p:sp>
        <p:nvSpPr>
          <p:cNvPr id="3" name="TextBox 2"/>
          <p:cNvSpPr txBox="1"/>
          <p:nvPr/>
        </p:nvSpPr>
        <p:spPr>
          <a:xfrm>
            <a:off x="533400" y="723900"/>
            <a:ext cx="11125200" cy="448665"/>
          </a:xfrm>
          <a:prstGeom prst="rect">
            <a:avLst/>
          </a:prstGeom>
          <a:noFill/>
        </p:spPr>
        <p:txBody>
          <a:bodyPr wrap="none" lIns="0" rIns="0" tIns="0" bIns="0" anchor="t" anchorCtr="0">
            <a:noAutofit/>
          </a:bodyPr>
          <a:lstStyle/>
          <a:p>
            <a:pPr algn="l">
              <a:lnSpc>
                <a:spcPct val="100000"/>
              </a:lnSpc>
              <a:spcBef>
                <a:spcPts val="0"/>
              </a:spcBef>
              <a:spcAft>
                <a:spcPts val="0"/>
              </a:spcAft>
            </a:pPr>
            <a:r>
              <a:rPr sz="2760" b="1">
                <a:solidFill>
                  <a:srgbClr val="102B3F"/>
                </a:solidFill>
                <a:latin typeface="DejaVu Sans"/>
              </a:rPr>
              <a:t>Control responsibilities: move work, preserve authority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remaining six modules connect owners and report specific facts.</a:t>
            </a:r>
          </a:p>
        </p:txBody>
      </p:sp>
      <p:sp>
        <p:nvSpPr>
          <p:cNvPr id="5" name="TextBox 4"/>
          <p:cNvSpPr txBox="1"/>
          <p:nvPr/>
        </p:nvSpPr>
        <p:spPr>
          <a:xfrm>
            <a:off x="670560" y="1790700"/>
            <a:ext cx="2270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a:t>
            </a:r>
          </a:p>
        </p:txBody>
      </p:sp>
      <p:sp>
        <p:nvSpPr>
          <p:cNvPr id="6" name="TextBox 5"/>
          <p:cNvSpPr txBox="1"/>
          <p:nvPr/>
        </p:nvSpPr>
        <p:spPr>
          <a:xfrm>
            <a:off x="3185160" y="1790700"/>
            <a:ext cx="4251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FUNCTION / PRIMARY OPERATIONS</a:t>
            </a:r>
          </a:p>
        </p:txBody>
      </p:sp>
      <p:sp>
        <p:nvSpPr>
          <p:cNvPr id="7" name="TextBox 6"/>
          <p:cNvSpPr txBox="1"/>
          <p:nvPr/>
        </p:nvSpPr>
        <p:spPr>
          <a:xfrm>
            <a:off x="7680959" y="1790700"/>
            <a:ext cx="38404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OWNED STATE / STATUS</a:t>
            </a:r>
          </a:p>
        </p:txBody>
      </p:sp>
      <p:sp>
        <p:nvSpPr>
          <p:cNvPr id="8" name="Rounded Rectangle 7"/>
          <p:cNvSpPr/>
          <p:nvPr/>
        </p:nvSpPr>
        <p:spPr>
          <a:xfrm>
            <a:off x="548640" y="2110740"/>
            <a:ext cx="11094720" cy="586740"/>
          </a:xfrm>
          <a:prstGeom prst="roundRect">
            <a:avLst>
              <a:gd name="adj" fmla="val 7792"/>
            </a:avLst>
          </a:prstGeom>
          <a:solidFill>
            <a:srgbClr val="FFFFFF"/>
          </a:solidFill>
          <a:ln>
            <a:noFill/>
          </a:ln>
          <a:effectLst/>
        </p:spPr>
        <p:txBody>
          <a:bodyPr rtlCol="0" anchor="ctr"/>
          <a:lstStyle/>
          <a:p>
            <a:pPr algn="ctr"/>
          </a:p>
        </p:txBody>
      </p:sp>
      <p:sp>
        <p:nvSpPr>
          <p:cNvPr id="9" name="TextBox 8"/>
          <p:cNvSpPr txBox="1"/>
          <p:nvPr/>
        </p:nvSpPr>
        <p:spPr>
          <a:xfrm>
            <a:off x="670560" y="224028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Messaging</a:t>
            </a:r>
          </a:p>
        </p:txBody>
      </p:sp>
      <p:sp>
        <p:nvSpPr>
          <p:cNvPr id="10" name="TextBox 9"/>
          <p:cNvSpPr txBox="1"/>
          <p:nvPr/>
        </p:nvSpPr>
        <p:spPr>
          <a:xfrm>
            <a:off x="3185160" y="224028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Accept, deliver, acknowledge</a:t>
            </a:r>
          </a:p>
        </p:txBody>
      </p:sp>
      <p:sp>
        <p:nvSpPr>
          <p:cNvPr id="11" name="TextBox 10"/>
          <p:cNvSpPr txBox="1"/>
          <p:nvPr/>
        </p:nvSpPr>
        <p:spPr>
          <a:xfrm>
            <a:off x="3185160" y="246461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send · poll · ack</a:t>
            </a:r>
          </a:p>
        </p:txBody>
      </p:sp>
      <p:sp>
        <p:nvSpPr>
          <p:cNvPr id="12" name="TextBox 11"/>
          <p:cNvSpPr txBox="1"/>
          <p:nvPr/>
        </p:nvSpPr>
        <p:spPr>
          <a:xfrm>
            <a:off x="7680959" y="224028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Inbox + deduplication · IMPLEMENTED</a:t>
            </a:r>
          </a:p>
        </p:txBody>
      </p:sp>
      <p:sp>
        <p:nvSpPr>
          <p:cNvPr id="13" name="Rounded Rectangle 12"/>
          <p:cNvSpPr/>
          <p:nvPr/>
        </p:nvSpPr>
        <p:spPr>
          <a:xfrm>
            <a:off x="548640" y="2735580"/>
            <a:ext cx="11094720" cy="586740"/>
          </a:xfrm>
          <a:prstGeom prst="roundRect">
            <a:avLst>
              <a:gd name="adj" fmla="val 7792"/>
            </a:avLst>
          </a:prstGeom>
          <a:solidFill>
            <a:srgbClr val="FFFFFF"/>
          </a:solidFill>
          <a:ln>
            <a:noFill/>
          </a:ln>
          <a:effectLst/>
        </p:spPr>
        <p:txBody>
          <a:bodyPr rtlCol="0" anchor="ctr"/>
          <a:lstStyle/>
          <a:p>
            <a:pPr algn="ctr"/>
          </a:p>
        </p:txBody>
      </p:sp>
      <p:sp>
        <p:nvSpPr>
          <p:cNvPr id="14" name="TextBox 13"/>
          <p:cNvSpPr txBox="1"/>
          <p:nvPr/>
        </p:nvSpPr>
        <p:spPr>
          <a:xfrm>
            <a:off x="670560" y="286512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Execution</a:t>
            </a:r>
          </a:p>
        </p:txBody>
      </p:sp>
      <p:sp>
        <p:nvSpPr>
          <p:cNvPr id="15" name="TextBox 14"/>
          <p:cNvSpPr txBox="1"/>
          <p:nvPr/>
        </p:nvSpPr>
        <p:spPr>
          <a:xfrm>
            <a:off x="3185160" y="286512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Run one named operation</a:t>
            </a:r>
          </a:p>
        </p:txBody>
      </p:sp>
      <p:sp>
        <p:nvSpPr>
          <p:cNvPr id="16" name="TextBox 15"/>
          <p:cNvSpPr txBox="1"/>
          <p:nvPr/>
        </p:nvSpPr>
        <p:spPr>
          <a:xfrm>
            <a:off x="3185160" y="308945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submit · status · result</a:t>
            </a:r>
          </a:p>
        </p:txBody>
      </p:sp>
      <p:sp>
        <p:nvSpPr>
          <p:cNvPr id="17" name="TextBox 16"/>
          <p:cNvSpPr txBox="1"/>
          <p:nvPr/>
        </p:nvSpPr>
        <p:spPr>
          <a:xfrm>
            <a:off x="7680959" y="286512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Jobs + completion outbox · IMPLEMENTED</a:t>
            </a:r>
          </a:p>
        </p:txBody>
      </p:sp>
      <p:sp>
        <p:nvSpPr>
          <p:cNvPr id="18" name="Rounded Rectangle 17"/>
          <p:cNvSpPr/>
          <p:nvPr/>
        </p:nvSpPr>
        <p:spPr>
          <a:xfrm>
            <a:off x="548640" y="3360419"/>
            <a:ext cx="11094720" cy="586740"/>
          </a:xfrm>
          <a:prstGeom prst="roundRect">
            <a:avLst>
              <a:gd name="adj" fmla="val 7792"/>
            </a:avLst>
          </a:prstGeom>
          <a:solidFill>
            <a:srgbClr val="FFFFFF"/>
          </a:solidFill>
          <a:ln>
            <a:noFill/>
          </a:ln>
          <a:effectLst/>
        </p:spPr>
        <p:txBody>
          <a:bodyPr rtlCol="0" anchor="ctr"/>
          <a:lstStyle/>
          <a:p>
            <a:pPr algn="ctr"/>
          </a:p>
        </p:txBody>
      </p:sp>
      <p:sp>
        <p:nvSpPr>
          <p:cNvPr id="19" name="TextBox 18"/>
          <p:cNvSpPr txBox="1"/>
          <p:nvPr/>
        </p:nvSpPr>
        <p:spPr>
          <a:xfrm>
            <a:off x="670560" y="348996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Registry</a:t>
            </a:r>
          </a:p>
        </p:txBody>
      </p:sp>
      <p:sp>
        <p:nvSpPr>
          <p:cNvPr id="20" name="TextBox 19"/>
          <p:cNvSpPr txBox="1"/>
          <p:nvPr/>
        </p:nvSpPr>
        <p:spPr>
          <a:xfrm>
            <a:off x="3185160" y="348996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Describe configured providers</a:t>
            </a:r>
          </a:p>
        </p:txBody>
      </p:sp>
      <p:sp>
        <p:nvSpPr>
          <p:cNvPr id="21" name="TextBox 20"/>
          <p:cNvSpPr txBox="1"/>
          <p:nvPr/>
        </p:nvSpPr>
        <p:spPr>
          <a:xfrm>
            <a:off x="3185160" y="371429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descriptors</a:t>
            </a:r>
          </a:p>
        </p:txBody>
      </p:sp>
      <p:sp>
        <p:nvSpPr>
          <p:cNvPr id="22" name="TextBox 21"/>
          <p:cNvSpPr txBox="1"/>
          <p:nvPr/>
        </p:nvSpPr>
        <p:spPr>
          <a:xfrm>
            <a:off x="7680959" y="348996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Static configuration · IMPLEMENTED</a:t>
            </a:r>
          </a:p>
        </p:txBody>
      </p:sp>
      <p:sp>
        <p:nvSpPr>
          <p:cNvPr id="23" name="Rounded Rectangle 22"/>
          <p:cNvSpPr/>
          <p:nvPr/>
        </p:nvSpPr>
        <p:spPr>
          <a:xfrm>
            <a:off x="548640" y="3985260"/>
            <a:ext cx="11094720" cy="586740"/>
          </a:xfrm>
          <a:prstGeom prst="roundRect">
            <a:avLst>
              <a:gd name="adj" fmla="val 7792"/>
            </a:avLst>
          </a:prstGeom>
          <a:solidFill>
            <a:srgbClr val="FFFFFF"/>
          </a:solidFill>
          <a:ln>
            <a:noFill/>
          </a:ln>
          <a:effectLst/>
        </p:spPr>
        <p:txBody>
          <a:bodyPr rtlCol="0" anchor="ctr"/>
          <a:lstStyle/>
          <a:p>
            <a:pPr algn="ctr"/>
          </a:p>
        </p:txBody>
      </p:sp>
      <p:sp>
        <p:nvSpPr>
          <p:cNvPr id="24" name="TextBox 23"/>
          <p:cNvSpPr txBox="1"/>
          <p:nvPr/>
        </p:nvSpPr>
        <p:spPr>
          <a:xfrm>
            <a:off x="670560" y="411480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Resolver</a:t>
            </a:r>
          </a:p>
        </p:txBody>
      </p:sp>
      <p:sp>
        <p:nvSpPr>
          <p:cNvPr id="25" name="TextBox 24"/>
          <p:cNvSpPr txBox="1"/>
          <p:nvPr/>
        </p:nvSpPr>
        <p:spPr>
          <a:xfrm>
            <a:off x="3185160" y="411480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Match required semantics</a:t>
            </a:r>
          </a:p>
        </p:txBody>
      </p:sp>
      <p:sp>
        <p:nvSpPr>
          <p:cNvPr id="26" name="TextBox 25"/>
          <p:cNvSpPr txBox="1"/>
          <p:nvPr/>
        </p:nvSpPr>
        <p:spPr>
          <a:xfrm>
            <a:off x="3185160" y="433913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resolve</a:t>
            </a:r>
          </a:p>
        </p:txBody>
      </p:sp>
      <p:sp>
        <p:nvSpPr>
          <p:cNvPr id="27" name="TextBox 26"/>
          <p:cNvSpPr txBox="1"/>
          <p:nvPr/>
        </p:nvSpPr>
        <p:spPr>
          <a:xfrm>
            <a:off x="7680959" y="411480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mutable state · IMPLEMENTED</a:t>
            </a:r>
          </a:p>
        </p:txBody>
      </p:sp>
      <p:sp>
        <p:nvSpPr>
          <p:cNvPr id="28" name="Rounded Rectangle 27"/>
          <p:cNvSpPr/>
          <p:nvPr/>
        </p:nvSpPr>
        <p:spPr>
          <a:xfrm>
            <a:off x="548640" y="4610100"/>
            <a:ext cx="11094720" cy="586740"/>
          </a:xfrm>
          <a:prstGeom prst="roundRect">
            <a:avLst>
              <a:gd name="adj" fmla="val 7792"/>
            </a:avLst>
          </a:prstGeom>
          <a:solidFill>
            <a:srgbClr val="FFFFFF"/>
          </a:solidFill>
          <a:ln>
            <a:noFill/>
          </a:ln>
          <a:effectLst/>
        </p:spPr>
        <p:txBody>
          <a:bodyPr rtlCol="0" anchor="ctr"/>
          <a:lstStyle/>
          <a:p>
            <a:pPr algn="ctr"/>
          </a:p>
        </p:txBody>
      </p:sp>
      <p:sp>
        <p:nvSpPr>
          <p:cNvPr id="29" name="TextBox 28"/>
          <p:cNvSpPr txBox="1"/>
          <p:nvPr/>
        </p:nvSpPr>
        <p:spPr>
          <a:xfrm>
            <a:off x="670560" y="473964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Consensus / finality</a:t>
            </a:r>
          </a:p>
        </p:txBody>
      </p:sp>
      <p:sp>
        <p:nvSpPr>
          <p:cNvPr id="30" name="TextBox 29"/>
          <p:cNvSpPr txBox="1"/>
          <p:nvPr/>
        </p:nvSpPr>
        <p:spPr>
          <a:xfrm>
            <a:off x="3185160" y="473964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Submit approved commitment; observe</a:t>
            </a:r>
          </a:p>
        </p:txBody>
      </p:sp>
      <p:sp>
        <p:nvSpPr>
          <p:cNvPr id="31" name="TextBox 30"/>
          <p:cNvSpPr txBox="1"/>
          <p:nvPr/>
        </p:nvSpPr>
        <p:spPr>
          <a:xfrm>
            <a:off x="3185160" y="496397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submit · observe</a:t>
            </a:r>
          </a:p>
        </p:txBody>
      </p:sp>
      <p:sp>
        <p:nvSpPr>
          <p:cNvPr id="32" name="TextBox 31"/>
          <p:cNvSpPr txBox="1"/>
          <p:nvPr/>
        </p:nvSpPr>
        <p:spPr>
          <a:xfrm>
            <a:off x="7680959" y="473964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Signed intents · HISTORICAL M1</a:t>
            </a:r>
          </a:p>
        </p:txBody>
      </p:sp>
      <p:sp>
        <p:nvSpPr>
          <p:cNvPr id="33" name="Rounded Rectangle 32"/>
          <p:cNvSpPr/>
          <p:nvPr/>
        </p:nvSpPr>
        <p:spPr>
          <a:xfrm>
            <a:off x="548640" y="5234940"/>
            <a:ext cx="11094720" cy="586740"/>
          </a:xfrm>
          <a:prstGeom prst="roundRect">
            <a:avLst>
              <a:gd name="adj" fmla="val 7792"/>
            </a:avLst>
          </a:prstGeom>
          <a:solidFill>
            <a:srgbClr val="FFFFFF"/>
          </a:solidFill>
          <a:ln>
            <a:noFill/>
          </a:ln>
          <a:effectLst/>
        </p:spPr>
        <p:txBody>
          <a:bodyPr rtlCol="0" anchor="ctr"/>
          <a:lstStyle/>
          <a:p>
            <a:pPr algn="ctr"/>
          </a:p>
        </p:txBody>
      </p:sp>
      <p:sp>
        <p:nvSpPr>
          <p:cNvPr id="34" name="TextBox 33"/>
          <p:cNvSpPr txBox="1"/>
          <p:nvPr/>
        </p:nvSpPr>
        <p:spPr>
          <a:xfrm>
            <a:off x="670560" y="5364480"/>
            <a:ext cx="2270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Authorization</a:t>
            </a:r>
          </a:p>
        </p:txBody>
      </p:sp>
      <p:sp>
        <p:nvSpPr>
          <p:cNvPr id="35" name="TextBox 34"/>
          <p:cNvSpPr txBox="1"/>
          <p:nvPr/>
        </p:nvSpPr>
        <p:spPr>
          <a:xfrm>
            <a:off x="3185160" y="5364480"/>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Check current caller + scope + method</a:t>
            </a:r>
          </a:p>
        </p:txBody>
      </p:sp>
      <p:sp>
        <p:nvSpPr>
          <p:cNvPr id="36" name="TextBox 35"/>
          <p:cNvSpPr txBox="1"/>
          <p:nvPr/>
        </p:nvSpPr>
        <p:spPr>
          <a:xfrm>
            <a:off x="3185160" y="5588812"/>
            <a:ext cx="4251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authorize / live policy checks</a:t>
            </a:r>
          </a:p>
        </p:txBody>
      </p:sp>
      <p:sp>
        <p:nvSpPr>
          <p:cNvPr id="37" name="TextBox 36"/>
          <p:cNvSpPr txBox="1"/>
          <p:nvPr/>
        </p:nvSpPr>
        <p:spPr>
          <a:xfrm>
            <a:off x="7680959" y="5364480"/>
            <a:ext cx="3840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Operator policy · LOCAL FIXTURE</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architecture.md</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38</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DEPENDENCY MAP · PRIVATE COGNITION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Function dependencies: the exercised M2 path</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Solid arrows point from caller to provider. Each effect stays behind its declared port.</a:t>
            </a:r>
          </a:p>
        </p:txBody>
      </p:sp>
      <p:sp>
        <p:nvSpPr>
          <p:cNvPr id="5" name="Rounded Rectangle 4"/>
          <p:cNvSpPr/>
          <p:nvPr/>
        </p:nvSpPr>
        <p:spPr>
          <a:xfrm>
            <a:off x="548640" y="1866900"/>
            <a:ext cx="2514600" cy="914400"/>
          </a:xfrm>
          <a:prstGeom prst="roundRect">
            <a:avLst>
              <a:gd name="adj" fmla="val 10833"/>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2034539"/>
            <a:ext cx="2179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007C78"/>
                </a:solidFill>
                <a:latin typeface="DejaVu Sans"/>
              </a:rPr>
              <a:t>Real Hive plugin</a:t>
            </a:r>
          </a:p>
        </p:txBody>
      </p:sp>
      <p:sp>
        <p:nvSpPr>
          <p:cNvPr id="7" name="TextBox 6"/>
          <p:cNvSpPr txBox="1"/>
          <p:nvPr/>
        </p:nvSpPr>
        <p:spPr>
          <a:xfrm>
            <a:off x="716280" y="2325319"/>
            <a:ext cx="217932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Trusted actor → private</a:t>
            </a:r>
          </a:p>
        </p:txBody>
      </p:sp>
      <p:sp>
        <p:nvSpPr>
          <p:cNvPr id="8" name="TextBox 7"/>
          <p:cNvSpPr txBox="1"/>
          <p:nvPr/>
        </p:nvSpPr>
        <p:spPr>
          <a:xfrm>
            <a:off x="716280" y="2520391"/>
            <a:ext cx="217932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mapping</a:t>
            </a:r>
          </a:p>
        </p:txBody>
      </p:sp>
      <p:sp>
        <p:nvSpPr>
          <p:cNvPr id="9" name="Rounded Rectangle 8"/>
          <p:cNvSpPr/>
          <p:nvPr/>
        </p:nvSpPr>
        <p:spPr>
          <a:xfrm>
            <a:off x="4076700" y="1866900"/>
            <a:ext cx="3276600" cy="914400"/>
          </a:xfrm>
          <a:prstGeom prst="roundRect">
            <a:avLst>
              <a:gd name="adj" fmla="val 10833"/>
            </a:avLst>
          </a:prstGeom>
          <a:solidFill>
            <a:srgbClr val="E4EBF5"/>
          </a:solidFill>
          <a:ln w="7620">
            <a:solidFill>
              <a:srgbClr val="315E9C"/>
            </a:solidFill>
          </a:ln>
          <a:effectLst/>
        </p:spPr>
        <p:txBody>
          <a:bodyPr rtlCol="0" anchor="ctr"/>
          <a:lstStyle/>
          <a:p>
            <a:pPr algn="ctr"/>
          </a:p>
        </p:txBody>
      </p:sp>
      <p:sp>
        <p:nvSpPr>
          <p:cNvPr id="10" name="TextBox 9"/>
          <p:cNvSpPr txBox="1"/>
          <p:nvPr/>
        </p:nvSpPr>
        <p:spPr>
          <a:xfrm>
            <a:off x="4244340" y="2034539"/>
            <a:ext cx="2941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Generated scenario</a:t>
            </a:r>
          </a:p>
        </p:txBody>
      </p:sp>
      <p:sp>
        <p:nvSpPr>
          <p:cNvPr id="11" name="TextBox 10"/>
          <p:cNvSpPr txBox="1"/>
          <p:nvPr/>
        </p:nvSpPr>
        <p:spPr>
          <a:xfrm>
            <a:off x="4244340" y="2325319"/>
            <a:ext cx="294132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Explicit assessment + assumption</a:t>
            </a:r>
          </a:p>
        </p:txBody>
      </p:sp>
      <p:sp>
        <p:nvSpPr>
          <p:cNvPr id="12" name="TextBox 11"/>
          <p:cNvSpPr txBox="1"/>
          <p:nvPr/>
        </p:nvSpPr>
        <p:spPr>
          <a:xfrm>
            <a:off x="4244340" y="2520391"/>
            <a:ext cx="294132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536775"/>
                </a:solidFill>
                <a:latin typeface="DejaVu Sans"/>
              </a:rPr>
              <a:t>policy</a:t>
            </a:r>
          </a:p>
        </p:txBody>
      </p:sp>
      <p:sp>
        <p:nvSpPr>
          <p:cNvPr id="13" name="Rounded Rectangle 12"/>
          <p:cNvSpPr/>
          <p:nvPr/>
        </p:nvSpPr>
        <p:spPr>
          <a:xfrm>
            <a:off x="8229600" y="1866900"/>
            <a:ext cx="3413760" cy="914400"/>
          </a:xfrm>
          <a:prstGeom prst="roundRect">
            <a:avLst>
              <a:gd name="adj" fmla="val 10833"/>
            </a:avLst>
          </a:prstGeom>
          <a:solidFill>
            <a:srgbClr val="E4EBF5"/>
          </a:solidFill>
          <a:ln w="7620">
            <a:solidFill>
              <a:srgbClr val="315E9C"/>
            </a:solidFill>
          </a:ln>
          <a:effectLst/>
        </p:spPr>
        <p:txBody>
          <a:bodyPr rtlCol="0" anchor="ctr"/>
          <a:lstStyle/>
          <a:p>
            <a:pPr algn="ctr"/>
          </a:p>
        </p:txBody>
      </p:sp>
      <p:sp>
        <p:nvSpPr>
          <p:cNvPr id="14" name="TextBox 13"/>
          <p:cNvSpPr txBox="1"/>
          <p:nvPr/>
        </p:nvSpPr>
        <p:spPr>
          <a:xfrm>
            <a:off x="8397240" y="2034539"/>
            <a:ext cx="3078479"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Private composition</a:t>
            </a:r>
          </a:p>
        </p:txBody>
      </p:sp>
      <p:sp>
        <p:nvSpPr>
          <p:cNvPr id="15" name="TextBox 14"/>
          <p:cNvSpPr txBox="1"/>
          <p:nvPr/>
        </p:nvSpPr>
        <p:spPr>
          <a:xfrm>
            <a:off x="8397240" y="2383840"/>
            <a:ext cx="307847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Resolve descriptors + live authority</a:t>
            </a:r>
          </a:p>
        </p:txBody>
      </p:sp>
      <p:cxnSp>
        <p:nvCxnSpPr>
          <p:cNvPr id="16" name="Connector 15"/>
          <p:cNvCxnSpPr/>
          <p:nvPr/>
        </p:nvCxnSpPr>
        <p:spPr>
          <a:xfrm>
            <a:off x="3063240" y="2324100"/>
            <a:ext cx="1013460" cy="0"/>
          </a:xfrm>
          <a:prstGeom prst="line">
            <a:avLst/>
          </a:prstGeom>
          <a:ln w="15240">
            <a:solidFill>
              <a:srgbClr val="007C78"/>
            </a:solidFill>
          </a:ln>
          <a:effectLst/>
        </p:spPr>
      </p:cxnSp>
      <p:sp>
        <p:nvSpPr>
          <p:cNvPr id="17" name="Freeform 16"/>
          <p:cNvSpPr/>
          <p:nvPr/>
        </p:nvSpPr>
        <p:spPr>
          <a:xfrm>
            <a:off x="3977640" y="22860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cxnSp>
        <p:nvCxnSpPr>
          <p:cNvPr id="18" name="Connector 17"/>
          <p:cNvCxnSpPr/>
          <p:nvPr/>
        </p:nvCxnSpPr>
        <p:spPr>
          <a:xfrm>
            <a:off x="7353300" y="2324100"/>
            <a:ext cx="876300" cy="0"/>
          </a:xfrm>
          <a:prstGeom prst="line">
            <a:avLst/>
          </a:prstGeom>
          <a:ln w="15240">
            <a:solidFill>
              <a:srgbClr val="315E9C"/>
            </a:solidFill>
          </a:ln>
          <a:effectLst/>
        </p:spPr>
      </p:cxnSp>
      <p:sp>
        <p:nvSpPr>
          <p:cNvPr id="19" name="Freeform 18"/>
          <p:cNvSpPr/>
          <p:nvPr/>
        </p:nvSpPr>
        <p:spPr>
          <a:xfrm>
            <a:off x="8130540" y="22860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0" name="Rounded Rectangle 19"/>
          <p:cNvSpPr/>
          <p:nvPr/>
        </p:nvSpPr>
        <p:spPr>
          <a:xfrm>
            <a:off x="548640" y="3444240"/>
            <a:ext cx="2514600" cy="914400"/>
          </a:xfrm>
          <a:prstGeom prst="roundRect">
            <a:avLst>
              <a:gd name="adj" fmla="val 1083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716280" y="3611879"/>
            <a:ext cx="2179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C1 episodes</a:t>
            </a:r>
          </a:p>
        </p:txBody>
      </p:sp>
      <p:sp>
        <p:nvSpPr>
          <p:cNvPr id="22" name="TextBox 21"/>
          <p:cNvSpPr txBox="1"/>
          <p:nvPr/>
        </p:nvSpPr>
        <p:spPr>
          <a:xfrm>
            <a:off x="716280" y="3970934"/>
            <a:ext cx="217932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append · readEvidence</a:t>
            </a:r>
          </a:p>
        </p:txBody>
      </p:sp>
      <p:sp>
        <p:nvSpPr>
          <p:cNvPr id="23" name="Rounded Rectangle 22"/>
          <p:cNvSpPr/>
          <p:nvPr/>
        </p:nvSpPr>
        <p:spPr>
          <a:xfrm>
            <a:off x="4076700" y="3444240"/>
            <a:ext cx="3276600" cy="914400"/>
          </a:xfrm>
          <a:prstGeom prst="roundRect">
            <a:avLst>
              <a:gd name="adj" fmla="val 10833"/>
            </a:avLst>
          </a:prstGeom>
          <a:solidFill>
            <a:srgbClr val="FFFFFF"/>
          </a:solidFill>
          <a:ln w="7620">
            <a:solidFill>
              <a:srgbClr val="315E9C"/>
            </a:solidFill>
          </a:ln>
          <a:effectLst/>
        </p:spPr>
        <p:txBody>
          <a:bodyPr rtlCol="0" anchor="ctr"/>
          <a:lstStyle/>
          <a:p>
            <a:pPr algn="ctr"/>
          </a:p>
        </p:txBody>
      </p:sp>
      <p:sp>
        <p:nvSpPr>
          <p:cNvPr id="24" name="TextBox 23"/>
          <p:cNvSpPr txBox="1"/>
          <p:nvPr/>
        </p:nvSpPr>
        <p:spPr>
          <a:xfrm>
            <a:off x="4244340" y="3611879"/>
            <a:ext cx="2941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Durable relay</a:t>
            </a:r>
          </a:p>
        </p:txBody>
      </p:sp>
      <p:sp>
        <p:nvSpPr>
          <p:cNvPr id="25" name="TextBox 24"/>
          <p:cNvSpPr txBox="1"/>
          <p:nvPr/>
        </p:nvSpPr>
        <p:spPr>
          <a:xfrm>
            <a:off x="4244340" y="3970934"/>
            <a:ext cx="2941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pending / ack → C1; submit → C2</a:t>
            </a:r>
          </a:p>
        </p:txBody>
      </p:sp>
      <p:sp>
        <p:nvSpPr>
          <p:cNvPr id="26" name="Rounded Rectangle 25"/>
          <p:cNvSpPr/>
          <p:nvPr/>
        </p:nvSpPr>
        <p:spPr>
          <a:xfrm>
            <a:off x="8229600" y="3444240"/>
            <a:ext cx="3413760" cy="914400"/>
          </a:xfrm>
          <a:prstGeom prst="roundRect">
            <a:avLst>
              <a:gd name="adj" fmla="val 10833"/>
            </a:avLst>
          </a:prstGeom>
          <a:solidFill>
            <a:srgbClr val="FFFFFF"/>
          </a:solidFill>
          <a:ln w="7620">
            <a:solidFill>
              <a:srgbClr val="315E9C"/>
            </a:solidFill>
          </a:ln>
          <a:effectLst/>
        </p:spPr>
        <p:txBody>
          <a:bodyPr rtlCol="0" anchor="ctr"/>
          <a:lstStyle/>
          <a:p>
            <a:pPr algn="ctr"/>
          </a:p>
        </p:txBody>
      </p:sp>
      <p:sp>
        <p:nvSpPr>
          <p:cNvPr id="27" name="TextBox 26"/>
          <p:cNvSpPr txBox="1"/>
          <p:nvPr/>
        </p:nvSpPr>
        <p:spPr>
          <a:xfrm>
            <a:off x="8397240" y="3611879"/>
            <a:ext cx="3078479"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C2 beliefs</a:t>
            </a:r>
          </a:p>
        </p:txBody>
      </p:sp>
      <p:sp>
        <p:nvSpPr>
          <p:cNvPr id="28" name="TextBox 27"/>
          <p:cNvSpPr txBox="1"/>
          <p:nvPr/>
        </p:nvSpPr>
        <p:spPr>
          <a:xfrm>
            <a:off x="8397240" y="3970934"/>
            <a:ext cx="30784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submitEvidence · readBelief</a:t>
            </a:r>
          </a:p>
        </p:txBody>
      </p:sp>
      <p:cxnSp>
        <p:nvCxnSpPr>
          <p:cNvPr id="29" name="Connector 28"/>
          <p:cNvCxnSpPr/>
          <p:nvPr/>
        </p:nvCxnSpPr>
        <p:spPr>
          <a:xfrm flipH="1">
            <a:off x="3063240" y="3863340"/>
            <a:ext cx="1013460" cy="0"/>
          </a:xfrm>
          <a:prstGeom prst="line">
            <a:avLst/>
          </a:prstGeom>
          <a:ln w="15240">
            <a:solidFill>
              <a:srgbClr val="315E9C"/>
            </a:solidFill>
          </a:ln>
          <a:effectLst/>
        </p:spPr>
      </p:cxnSp>
      <p:sp>
        <p:nvSpPr>
          <p:cNvPr id="30" name="Freeform 29"/>
          <p:cNvSpPr/>
          <p:nvPr/>
        </p:nvSpPr>
        <p:spPr>
          <a:xfrm>
            <a:off x="3063240" y="3825240"/>
            <a:ext cx="99060" cy="76200"/>
          </a:xfrm>
          <a:custGeom>
            <a:avLst/>
            <a:gdLst/>
            <a:ahLst/>
            <a:cxnLst/>
            <a:rect l="l" t="t" r="r" b="b"/>
            <a:pathLst>
              <a:path w="13" h="10">
                <a:moveTo>
                  <a:pt x="0" y="5"/>
                </a:moveTo>
                <a:lnTo>
                  <a:pt x="13" y="10"/>
                </a:lnTo>
                <a:lnTo>
                  <a:pt x="13" y="0"/>
                </a:lnTo>
                <a:close/>
              </a:path>
            </a:pathLst>
          </a:custGeom>
          <a:solidFill>
            <a:srgbClr val="315E9C"/>
          </a:solidFill>
          <a:ln>
            <a:noFill/>
          </a:ln>
          <a:effectLst/>
        </p:spPr>
        <p:txBody>
          <a:bodyPr rtlCol="0" anchor="ctr"/>
          <a:lstStyle/>
          <a:p>
            <a:pPr algn="ctr"/>
          </a:p>
        </p:txBody>
      </p:sp>
      <p:cxnSp>
        <p:nvCxnSpPr>
          <p:cNvPr id="31" name="Connector 30"/>
          <p:cNvCxnSpPr/>
          <p:nvPr/>
        </p:nvCxnSpPr>
        <p:spPr>
          <a:xfrm>
            <a:off x="7353300" y="3863340"/>
            <a:ext cx="876300" cy="0"/>
          </a:xfrm>
          <a:prstGeom prst="line">
            <a:avLst/>
          </a:prstGeom>
          <a:ln w="15240">
            <a:solidFill>
              <a:srgbClr val="315E9C"/>
            </a:solidFill>
          </a:ln>
          <a:effectLst/>
        </p:spPr>
      </p:cxnSp>
      <p:sp>
        <p:nvSpPr>
          <p:cNvPr id="32" name="Freeform 31"/>
          <p:cNvSpPr/>
          <p:nvPr/>
        </p:nvSpPr>
        <p:spPr>
          <a:xfrm>
            <a:off x="8130540" y="38252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cxnSp>
        <p:nvCxnSpPr>
          <p:cNvPr id="33" name="Connector 32"/>
          <p:cNvCxnSpPr/>
          <p:nvPr/>
        </p:nvCxnSpPr>
        <p:spPr>
          <a:xfrm>
            <a:off x="4953000" y="2781300"/>
            <a:ext cx="0" cy="304800"/>
          </a:xfrm>
          <a:prstGeom prst="line">
            <a:avLst/>
          </a:prstGeom>
          <a:ln w="15240">
            <a:solidFill>
              <a:srgbClr val="315E9C"/>
            </a:solidFill>
          </a:ln>
          <a:effectLst/>
        </p:spPr>
      </p:cxnSp>
      <p:cxnSp>
        <p:nvCxnSpPr>
          <p:cNvPr id="34" name="Connector 33"/>
          <p:cNvCxnSpPr/>
          <p:nvPr/>
        </p:nvCxnSpPr>
        <p:spPr>
          <a:xfrm flipH="1">
            <a:off x="1805939" y="3086100"/>
            <a:ext cx="3147061" cy="0"/>
          </a:xfrm>
          <a:prstGeom prst="line">
            <a:avLst/>
          </a:prstGeom>
          <a:ln w="15240">
            <a:solidFill>
              <a:srgbClr val="315E9C"/>
            </a:solidFill>
          </a:ln>
          <a:effectLst/>
        </p:spPr>
      </p:cxnSp>
      <p:cxnSp>
        <p:nvCxnSpPr>
          <p:cNvPr id="35" name="Connector 34"/>
          <p:cNvCxnSpPr/>
          <p:nvPr/>
        </p:nvCxnSpPr>
        <p:spPr>
          <a:xfrm>
            <a:off x="1805939" y="3086100"/>
            <a:ext cx="0" cy="358140"/>
          </a:xfrm>
          <a:prstGeom prst="line">
            <a:avLst/>
          </a:prstGeom>
          <a:ln w="15240">
            <a:solidFill>
              <a:srgbClr val="315E9C"/>
            </a:solidFill>
          </a:ln>
          <a:effectLst/>
        </p:spPr>
      </p:cxnSp>
      <p:sp>
        <p:nvSpPr>
          <p:cNvPr id="36" name="Freeform 35"/>
          <p:cNvSpPr/>
          <p:nvPr/>
        </p:nvSpPr>
        <p:spPr>
          <a:xfrm>
            <a:off x="1767840" y="33451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37" name="Connector 36"/>
          <p:cNvCxnSpPr/>
          <p:nvPr/>
        </p:nvCxnSpPr>
        <p:spPr>
          <a:xfrm>
            <a:off x="5715000" y="2781300"/>
            <a:ext cx="0" cy="662940"/>
          </a:xfrm>
          <a:prstGeom prst="line">
            <a:avLst/>
          </a:prstGeom>
          <a:ln w="15240">
            <a:solidFill>
              <a:srgbClr val="315E9C"/>
            </a:solidFill>
          </a:ln>
          <a:effectLst/>
        </p:spPr>
      </p:cxnSp>
      <p:sp>
        <p:nvSpPr>
          <p:cNvPr id="38" name="Freeform 37"/>
          <p:cNvSpPr/>
          <p:nvPr/>
        </p:nvSpPr>
        <p:spPr>
          <a:xfrm>
            <a:off x="5676900" y="33451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39" name="Connector 38"/>
          <p:cNvCxnSpPr/>
          <p:nvPr/>
        </p:nvCxnSpPr>
        <p:spPr>
          <a:xfrm>
            <a:off x="6477000" y="2781300"/>
            <a:ext cx="0" cy="304800"/>
          </a:xfrm>
          <a:prstGeom prst="line">
            <a:avLst/>
          </a:prstGeom>
          <a:ln w="15240">
            <a:solidFill>
              <a:srgbClr val="315E9C"/>
            </a:solidFill>
          </a:ln>
          <a:effectLst/>
        </p:spPr>
      </p:cxnSp>
      <p:cxnSp>
        <p:nvCxnSpPr>
          <p:cNvPr id="40" name="Connector 39"/>
          <p:cNvCxnSpPr/>
          <p:nvPr/>
        </p:nvCxnSpPr>
        <p:spPr>
          <a:xfrm>
            <a:off x="6477000" y="3086100"/>
            <a:ext cx="3459480" cy="0"/>
          </a:xfrm>
          <a:prstGeom prst="line">
            <a:avLst/>
          </a:prstGeom>
          <a:ln w="15240">
            <a:solidFill>
              <a:srgbClr val="315E9C"/>
            </a:solidFill>
          </a:ln>
          <a:effectLst/>
        </p:spPr>
      </p:cxnSp>
      <p:cxnSp>
        <p:nvCxnSpPr>
          <p:cNvPr id="41" name="Connector 40"/>
          <p:cNvCxnSpPr/>
          <p:nvPr/>
        </p:nvCxnSpPr>
        <p:spPr>
          <a:xfrm>
            <a:off x="9936480" y="3086100"/>
            <a:ext cx="0" cy="358140"/>
          </a:xfrm>
          <a:prstGeom prst="line">
            <a:avLst/>
          </a:prstGeom>
          <a:ln w="15240">
            <a:solidFill>
              <a:srgbClr val="315E9C"/>
            </a:solidFill>
          </a:ln>
          <a:effectLst/>
        </p:spPr>
      </p:cxnSp>
      <p:sp>
        <p:nvSpPr>
          <p:cNvPr id="42" name="Freeform 41"/>
          <p:cNvSpPr/>
          <p:nvPr/>
        </p:nvSpPr>
        <p:spPr>
          <a:xfrm>
            <a:off x="9898380" y="33451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43" name="Connector 42"/>
          <p:cNvCxnSpPr/>
          <p:nvPr/>
        </p:nvCxnSpPr>
        <p:spPr>
          <a:xfrm>
            <a:off x="8427720" y="4358640"/>
            <a:ext cx="0" cy="304800"/>
          </a:xfrm>
          <a:prstGeom prst="line">
            <a:avLst/>
          </a:prstGeom>
          <a:ln w="15240">
            <a:solidFill>
              <a:srgbClr val="315E9C"/>
            </a:solidFill>
          </a:ln>
          <a:effectLst/>
        </p:spPr>
      </p:cxnSp>
      <p:cxnSp>
        <p:nvCxnSpPr>
          <p:cNvPr id="44" name="Connector 43"/>
          <p:cNvCxnSpPr/>
          <p:nvPr/>
        </p:nvCxnSpPr>
        <p:spPr>
          <a:xfrm flipH="1">
            <a:off x="1805939" y="4663440"/>
            <a:ext cx="6621781" cy="0"/>
          </a:xfrm>
          <a:prstGeom prst="line">
            <a:avLst/>
          </a:prstGeom>
          <a:ln w="15240">
            <a:solidFill>
              <a:srgbClr val="315E9C"/>
            </a:solidFill>
          </a:ln>
          <a:effectLst/>
        </p:spPr>
      </p:cxnSp>
      <p:cxnSp>
        <p:nvCxnSpPr>
          <p:cNvPr id="45" name="Connector 44"/>
          <p:cNvCxnSpPr/>
          <p:nvPr/>
        </p:nvCxnSpPr>
        <p:spPr>
          <a:xfrm flipV="1">
            <a:off x="1805939" y="4358640"/>
            <a:ext cx="0" cy="304800"/>
          </a:xfrm>
          <a:prstGeom prst="line">
            <a:avLst/>
          </a:prstGeom>
          <a:ln w="15240">
            <a:solidFill>
              <a:srgbClr val="315E9C"/>
            </a:solidFill>
          </a:ln>
          <a:effectLst/>
        </p:spPr>
      </p:cxnSp>
      <p:sp>
        <p:nvSpPr>
          <p:cNvPr id="46" name="Freeform 45"/>
          <p:cNvSpPr/>
          <p:nvPr/>
        </p:nvSpPr>
        <p:spPr>
          <a:xfrm>
            <a:off x="1767840" y="4358640"/>
            <a:ext cx="76200" cy="99060"/>
          </a:xfrm>
          <a:custGeom>
            <a:avLst/>
            <a:gdLst/>
            <a:ahLst/>
            <a:cxnLst/>
            <a:rect l="l" t="t" r="r" b="b"/>
            <a:pathLst>
              <a:path w="10" h="13">
                <a:moveTo>
                  <a:pt x="5" y="0"/>
                </a:moveTo>
                <a:lnTo>
                  <a:pt x="0" y="13"/>
                </a:lnTo>
                <a:lnTo>
                  <a:pt x="10" y="13"/>
                </a:lnTo>
                <a:close/>
              </a:path>
            </a:pathLst>
          </a:custGeom>
          <a:solidFill>
            <a:srgbClr val="315E9C"/>
          </a:solidFill>
          <a:ln>
            <a:noFill/>
          </a:ln>
          <a:effectLst/>
        </p:spPr>
        <p:txBody>
          <a:bodyPr rtlCol="0" anchor="ctr"/>
          <a:lstStyle/>
          <a:p>
            <a:pPr algn="ctr"/>
          </a:p>
        </p:txBody>
      </p:sp>
      <p:sp>
        <p:nvSpPr>
          <p:cNvPr id="47" name="Rectangle 46"/>
          <p:cNvSpPr/>
          <p:nvPr/>
        </p:nvSpPr>
        <p:spPr>
          <a:xfrm>
            <a:off x="4213860" y="4511040"/>
            <a:ext cx="3581400" cy="259079"/>
          </a:xfrm>
          <a:prstGeom prst="rect">
            <a:avLst/>
          </a:prstGeom>
          <a:solidFill>
            <a:srgbClr val="F4F2EB"/>
          </a:solidFill>
          <a:ln>
            <a:noFill/>
          </a:ln>
          <a:effectLst/>
        </p:spPr>
        <p:txBody>
          <a:bodyPr rtlCol="0" anchor="ctr"/>
          <a:lstStyle/>
          <a:p>
            <a:pPr algn="ctr"/>
          </a:p>
        </p:txBody>
      </p:sp>
      <p:sp>
        <p:nvSpPr>
          <p:cNvPr id="48" name="TextBox 47"/>
          <p:cNvSpPr txBox="1"/>
          <p:nvPr/>
        </p:nvSpPr>
        <p:spPr>
          <a:xfrm>
            <a:off x="4312920" y="4549140"/>
            <a:ext cx="338327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C2 → C1.readEvidence</a:t>
            </a:r>
          </a:p>
        </p:txBody>
      </p:sp>
      <p:sp>
        <p:nvSpPr>
          <p:cNvPr id="49" name="Rounded Rectangle 48"/>
          <p:cNvSpPr/>
          <p:nvPr/>
        </p:nvSpPr>
        <p:spPr>
          <a:xfrm>
            <a:off x="548640" y="5273040"/>
            <a:ext cx="2514600" cy="830579"/>
          </a:xfrm>
          <a:prstGeom prst="roundRect">
            <a:avLst>
              <a:gd name="adj" fmla="val 11926"/>
            </a:avLst>
          </a:prstGeom>
          <a:solidFill>
            <a:srgbClr val="FFFFFF"/>
          </a:solidFill>
          <a:ln w="7620">
            <a:solidFill>
              <a:srgbClr val="315E9C"/>
            </a:solidFill>
          </a:ln>
          <a:effectLst/>
        </p:spPr>
        <p:txBody>
          <a:bodyPr rtlCol="0" anchor="ctr"/>
          <a:lstStyle/>
          <a:p>
            <a:pPr algn="ctr"/>
          </a:p>
        </p:txBody>
      </p:sp>
      <p:sp>
        <p:nvSpPr>
          <p:cNvPr id="50" name="TextBox 49"/>
          <p:cNvSpPr txBox="1"/>
          <p:nvPr/>
        </p:nvSpPr>
        <p:spPr>
          <a:xfrm>
            <a:off x="716280" y="5440680"/>
            <a:ext cx="21793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315E9C"/>
                </a:solidFill>
                <a:latin typeface="DejaVu Sans"/>
              </a:rPr>
              <a:t>Private AtomStorage</a:t>
            </a:r>
          </a:p>
        </p:txBody>
      </p:sp>
      <p:sp>
        <p:nvSpPr>
          <p:cNvPr id="51" name="TextBox 50"/>
          <p:cNvSpPr txBox="1"/>
          <p:nvPr/>
        </p:nvSpPr>
        <p:spPr>
          <a:xfrm>
            <a:off x="716280" y="5750966"/>
            <a:ext cx="2179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C1 + C2: create / get</a:t>
            </a:r>
          </a:p>
        </p:txBody>
      </p:sp>
      <p:sp>
        <p:nvSpPr>
          <p:cNvPr id="52" name="Rounded Rectangle 51"/>
          <p:cNvSpPr/>
          <p:nvPr/>
        </p:nvSpPr>
        <p:spPr>
          <a:xfrm>
            <a:off x="4076700" y="5273040"/>
            <a:ext cx="3276600" cy="830579"/>
          </a:xfrm>
          <a:prstGeom prst="roundRect">
            <a:avLst>
              <a:gd name="adj" fmla="val 11926"/>
            </a:avLst>
          </a:prstGeom>
          <a:solidFill>
            <a:srgbClr val="DCEFE8"/>
          </a:solidFill>
          <a:ln w="7620">
            <a:solidFill>
              <a:srgbClr val="007C78"/>
            </a:solidFill>
          </a:ln>
          <a:effectLst/>
        </p:spPr>
        <p:txBody>
          <a:bodyPr rtlCol="0" anchor="ctr"/>
          <a:lstStyle/>
          <a:p>
            <a:pPr algn="ctr"/>
          </a:p>
        </p:txBody>
      </p:sp>
      <p:sp>
        <p:nvSpPr>
          <p:cNvPr id="53" name="TextBox 52"/>
          <p:cNvSpPr txBox="1"/>
          <p:nvPr/>
        </p:nvSpPr>
        <p:spPr>
          <a:xfrm>
            <a:off x="4244340" y="5440680"/>
            <a:ext cx="294132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Real local DeTTa</a:t>
            </a:r>
          </a:p>
        </p:txBody>
      </p:sp>
      <p:sp>
        <p:nvSpPr>
          <p:cNvPr id="54" name="TextBox 53"/>
          <p:cNvSpPr txBox="1"/>
          <p:nvPr/>
        </p:nvSpPr>
        <p:spPr>
          <a:xfrm>
            <a:off x="4244340" y="5789980"/>
            <a:ext cx="2941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Opaque put / get / availability</a:t>
            </a:r>
          </a:p>
        </p:txBody>
      </p:sp>
      <p:sp>
        <p:nvSpPr>
          <p:cNvPr id="55" name="Rounded Rectangle 54"/>
          <p:cNvSpPr/>
          <p:nvPr/>
        </p:nvSpPr>
        <p:spPr>
          <a:xfrm>
            <a:off x="8229600" y="5273040"/>
            <a:ext cx="3413760" cy="830579"/>
          </a:xfrm>
          <a:prstGeom prst="roundRect">
            <a:avLst>
              <a:gd name="adj" fmla="val 11926"/>
            </a:avLst>
          </a:prstGeom>
          <a:solidFill>
            <a:srgbClr val="DCEFE8"/>
          </a:solidFill>
          <a:ln w="7620">
            <a:solidFill>
              <a:srgbClr val="007C78"/>
            </a:solidFill>
          </a:ln>
          <a:effectLst/>
        </p:spPr>
        <p:txBody>
          <a:bodyPr rtlCol="0" anchor="ctr"/>
          <a:lstStyle/>
          <a:p>
            <a:pPr algn="ctr"/>
          </a:p>
        </p:txBody>
      </p:sp>
      <p:sp>
        <p:nvSpPr>
          <p:cNvPr id="56" name="TextBox 55"/>
          <p:cNvSpPr txBox="1"/>
          <p:nvPr/>
        </p:nvSpPr>
        <p:spPr>
          <a:xfrm>
            <a:off x="8397240" y="5440680"/>
            <a:ext cx="3078479"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RevisionMath</a:t>
            </a:r>
          </a:p>
        </p:txBody>
      </p:sp>
      <p:sp>
        <p:nvSpPr>
          <p:cNvPr id="57" name="TextBox 56"/>
          <p:cNvSpPr txBox="1"/>
          <p:nvPr/>
        </p:nvSpPr>
        <p:spPr>
          <a:xfrm>
            <a:off x="8397240" y="5789980"/>
            <a:ext cx="307847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Guarded PLN → native PeTTa / SWI</a:t>
            </a:r>
          </a:p>
        </p:txBody>
      </p:sp>
      <p:cxnSp>
        <p:nvCxnSpPr>
          <p:cNvPr id="58" name="Connector 57"/>
          <p:cNvCxnSpPr/>
          <p:nvPr/>
        </p:nvCxnSpPr>
        <p:spPr>
          <a:xfrm>
            <a:off x="1371600" y="4358640"/>
            <a:ext cx="0" cy="914400"/>
          </a:xfrm>
          <a:prstGeom prst="line">
            <a:avLst/>
          </a:prstGeom>
          <a:ln w="15240">
            <a:solidFill>
              <a:srgbClr val="315E9C"/>
            </a:solidFill>
          </a:ln>
          <a:effectLst/>
        </p:spPr>
      </p:cxnSp>
      <p:sp>
        <p:nvSpPr>
          <p:cNvPr id="59" name="Freeform 58"/>
          <p:cNvSpPr/>
          <p:nvPr/>
        </p:nvSpPr>
        <p:spPr>
          <a:xfrm>
            <a:off x="1333500" y="51739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60" name="Connector 59"/>
          <p:cNvCxnSpPr/>
          <p:nvPr/>
        </p:nvCxnSpPr>
        <p:spPr>
          <a:xfrm>
            <a:off x="8839200" y="4358640"/>
            <a:ext cx="0" cy="632460"/>
          </a:xfrm>
          <a:prstGeom prst="line">
            <a:avLst/>
          </a:prstGeom>
          <a:ln w="15240">
            <a:solidFill>
              <a:srgbClr val="315E9C"/>
            </a:solidFill>
          </a:ln>
          <a:effectLst/>
        </p:spPr>
      </p:cxnSp>
      <p:cxnSp>
        <p:nvCxnSpPr>
          <p:cNvPr id="61" name="Connector 60"/>
          <p:cNvCxnSpPr/>
          <p:nvPr/>
        </p:nvCxnSpPr>
        <p:spPr>
          <a:xfrm flipH="1">
            <a:off x="2514600" y="4991100"/>
            <a:ext cx="6324600" cy="0"/>
          </a:xfrm>
          <a:prstGeom prst="line">
            <a:avLst/>
          </a:prstGeom>
          <a:ln w="15240">
            <a:solidFill>
              <a:srgbClr val="315E9C"/>
            </a:solidFill>
          </a:ln>
          <a:effectLst/>
        </p:spPr>
      </p:cxnSp>
      <p:cxnSp>
        <p:nvCxnSpPr>
          <p:cNvPr id="62" name="Connector 61"/>
          <p:cNvCxnSpPr/>
          <p:nvPr/>
        </p:nvCxnSpPr>
        <p:spPr>
          <a:xfrm>
            <a:off x="2514600" y="4991100"/>
            <a:ext cx="0" cy="281940"/>
          </a:xfrm>
          <a:prstGeom prst="line">
            <a:avLst/>
          </a:prstGeom>
          <a:ln w="15240">
            <a:solidFill>
              <a:srgbClr val="315E9C"/>
            </a:solidFill>
          </a:ln>
          <a:effectLst/>
        </p:spPr>
      </p:cxnSp>
      <p:sp>
        <p:nvSpPr>
          <p:cNvPr id="63" name="Freeform 62"/>
          <p:cNvSpPr/>
          <p:nvPr/>
        </p:nvSpPr>
        <p:spPr>
          <a:xfrm>
            <a:off x="2476500" y="51739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64" name="Connector 63"/>
          <p:cNvCxnSpPr/>
          <p:nvPr/>
        </p:nvCxnSpPr>
        <p:spPr>
          <a:xfrm>
            <a:off x="3063240" y="5684520"/>
            <a:ext cx="1013460" cy="0"/>
          </a:xfrm>
          <a:prstGeom prst="line">
            <a:avLst/>
          </a:prstGeom>
          <a:ln w="15240">
            <a:solidFill>
              <a:srgbClr val="007C78"/>
            </a:solidFill>
          </a:ln>
          <a:effectLst/>
        </p:spPr>
      </p:cxnSp>
      <p:sp>
        <p:nvSpPr>
          <p:cNvPr id="65" name="Freeform 64"/>
          <p:cNvSpPr/>
          <p:nvPr/>
        </p:nvSpPr>
        <p:spPr>
          <a:xfrm>
            <a:off x="3977640" y="564642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cxnSp>
        <p:nvCxnSpPr>
          <p:cNvPr id="66" name="Connector 65"/>
          <p:cNvCxnSpPr/>
          <p:nvPr/>
        </p:nvCxnSpPr>
        <p:spPr>
          <a:xfrm>
            <a:off x="9936480" y="4358640"/>
            <a:ext cx="0" cy="914400"/>
          </a:xfrm>
          <a:prstGeom prst="line">
            <a:avLst/>
          </a:prstGeom>
          <a:ln w="15240">
            <a:solidFill>
              <a:srgbClr val="007C78"/>
            </a:solidFill>
          </a:ln>
          <a:effectLst/>
        </p:spPr>
      </p:cxnSp>
      <p:sp>
        <p:nvSpPr>
          <p:cNvPr id="67" name="Freeform 66"/>
          <p:cNvSpPr/>
          <p:nvPr/>
        </p:nvSpPr>
        <p:spPr>
          <a:xfrm>
            <a:off x="9898380" y="5173980"/>
            <a:ext cx="76200" cy="99060"/>
          </a:xfrm>
          <a:custGeom>
            <a:avLst/>
            <a:gdLst/>
            <a:ahLst/>
            <a:cxnLst/>
            <a:rect l="l" t="t" r="r" b="b"/>
            <a:pathLst>
              <a:path w="10" h="13">
                <a:moveTo>
                  <a:pt x="5" y="13"/>
                </a:moveTo>
                <a:lnTo>
                  <a:pt x="10" y="0"/>
                </a:lnTo>
                <a:lnTo>
                  <a:pt x="0" y="0"/>
                </a:lnTo>
                <a:close/>
              </a:path>
            </a:pathLst>
          </a:custGeom>
          <a:solidFill>
            <a:srgbClr val="007C78"/>
          </a:solidFill>
          <a:ln>
            <a:noFill/>
          </a:ln>
          <a:effectLst/>
        </p:spPr>
        <p:txBody>
          <a:bodyPr rtlCol="0" anchor="ctr"/>
          <a:lstStyle/>
          <a:p>
            <a:pPr algn="ctr"/>
          </a:p>
        </p:txBody>
      </p:sp>
      <p:cxnSp>
        <p:nvCxnSpPr>
          <p:cNvPr id="68" name="Connector 67"/>
          <p:cNvCxnSpPr/>
          <p:nvPr/>
        </p:nvCxnSpPr>
        <p:spPr>
          <a:xfrm>
            <a:off x="548640" y="6393180"/>
            <a:ext cx="11094720" cy="0"/>
          </a:xfrm>
          <a:prstGeom prst="line">
            <a:avLst/>
          </a:prstGeom>
          <a:ln w="7620">
            <a:solidFill>
              <a:srgbClr val="C9D2D4"/>
            </a:solidFill>
          </a:ln>
          <a:effectLst/>
        </p:spPr>
      </p:cxnSp>
      <p:sp>
        <p:nvSpPr>
          <p:cNvPr id="69" name="TextBox 6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ports.py · private.py · evidence_relay.py</a:t>
            </a:r>
          </a:p>
        </p:txBody>
      </p:sp>
      <p:sp>
        <p:nvSpPr>
          <p:cNvPr id="70" name="TextBox 6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38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DEPENDENCY MAP · SHARED APPLICATION PORTS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Function dependencies: the preserved M1.2 path</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Solid arrows = exercised calls. Every provider effect crosses an existing validated interface.</a:t>
            </a:r>
          </a:p>
        </p:txBody>
      </p:sp>
      <p:sp>
        <p:nvSpPr>
          <p:cNvPr id="5" name="Rounded Rectangle 4"/>
          <p:cNvSpPr/>
          <p:nvPr/>
        </p:nvSpPr>
        <p:spPr>
          <a:xfrm>
            <a:off x="548640" y="1874520"/>
            <a:ext cx="2514600" cy="990600"/>
          </a:xfrm>
          <a:prstGeom prst="roundRect">
            <a:avLst>
              <a:gd name="adj" fmla="val 10000"/>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16280" y="2042159"/>
            <a:ext cx="217932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Native Hive</a:t>
            </a:r>
          </a:p>
        </p:txBody>
      </p:sp>
      <p:sp>
        <p:nvSpPr>
          <p:cNvPr id="7" name="TextBox 6"/>
          <p:cNvSpPr txBox="1"/>
          <p:nvPr/>
        </p:nvSpPr>
        <p:spPr>
          <a:xfrm>
            <a:off x="716280" y="2391460"/>
            <a:ext cx="2179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POST /programs/…/act</a:t>
            </a:r>
          </a:p>
        </p:txBody>
      </p:sp>
      <p:sp>
        <p:nvSpPr>
          <p:cNvPr id="8" name="TextBox 7"/>
          <p:cNvSpPr txBox="1"/>
          <p:nvPr/>
        </p:nvSpPr>
        <p:spPr>
          <a:xfrm>
            <a:off x="716280" y="2596286"/>
            <a:ext cx="2179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Trusted actor + command</a:t>
            </a:r>
          </a:p>
        </p:txBody>
      </p:sp>
      <p:sp>
        <p:nvSpPr>
          <p:cNvPr id="9" name="Rounded Rectangle 8"/>
          <p:cNvSpPr/>
          <p:nvPr/>
        </p:nvSpPr>
        <p:spPr>
          <a:xfrm>
            <a:off x="4076700" y="1874520"/>
            <a:ext cx="3276600" cy="990600"/>
          </a:xfrm>
          <a:prstGeom prst="roundRect">
            <a:avLst>
              <a:gd name="adj" fmla="val 10000"/>
            </a:avLst>
          </a:prstGeom>
          <a:solidFill>
            <a:srgbClr val="E4EBF5"/>
          </a:solidFill>
          <a:ln w="7620">
            <a:solidFill>
              <a:srgbClr val="315E9C"/>
            </a:solidFill>
          </a:ln>
          <a:effectLst/>
        </p:spPr>
        <p:txBody>
          <a:bodyPr rtlCol="0" anchor="ctr"/>
          <a:lstStyle/>
          <a:p>
            <a:pPr algn="ctr"/>
          </a:p>
        </p:txBody>
      </p:sp>
      <p:sp>
        <p:nvSpPr>
          <p:cNvPr id="10" name="TextBox 9"/>
          <p:cNvSpPr txBox="1"/>
          <p:nvPr/>
        </p:nvSpPr>
        <p:spPr>
          <a:xfrm>
            <a:off x="4244340" y="2042159"/>
            <a:ext cx="294132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Fusion inspect plugin</a:t>
            </a:r>
          </a:p>
        </p:txBody>
      </p:sp>
      <p:sp>
        <p:nvSpPr>
          <p:cNvPr id="11" name="TextBox 10"/>
          <p:cNvSpPr txBox="1"/>
          <p:nvPr/>
        </p:nvSpPr>
        <p:spPr>
          <a:xfrm>
            <a:off x="4244340" y="2391460"/>
            <a:ext cx="2941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Owns caller receipts</a:t>
            </a:r>
          </a:p>
        </p:txBody>
      </p:sp>
      <p:sp>
        <p:nvSpPr>
          <p:cNvPr id="12" name="TextBox 11"/>
          <p:cNvSpPr txBox="1"/>
          <p:nvPr/>
        </p:nvSpPr>
        <p:spPr>
          <a:xfrm>
            <a:off x="4244340" y="2596286"/>
            <a:ext cx="2941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Uses selected stdio binding</a:t>
            </a:r>
          </a:p>
        </p:txBody>
      </p:sp>
      <p:sp>
        <p:nvSpPr>
          <p:cNvPr id="13" name="Rounded Rectangle 12"/>
          <p:cNvSpPr/>
          <p:nvPr/>
        </p:nvSpPr>
        <p:spPr>
          <a:xfrm>
            <a:off x="8229600" y="1874520"/>
            <a:ext cx="3413760" cy="990600"/>
          </a:xfrm>
          <a:prstGeom prst="roundRect">
            <a:avLst>
              <a:gd name="adj" fmla="val 10000"/>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8397240" y="2042159"/>
            <a:ext cx="3078479"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Registry + resolver</a:t>
            </a:r>
          </a:p>
        </p:txBody>
      </p:sp>
      <p:sp>
        <p:nvSpPr>
          <p:cNvPr id="15" name="TextBox 14"/>
          <p:cNvSpPr txBox="1"/>
          <p:nvPr/>
        </p:nvSpPr>
        <p:spPr>
          <a:xfrm>
            <a:off x="8397240" y="239146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describe → select</a:t>
            </a:r>
          </a:p>
        </p:txBody>
      </p:sp>
      <p:sp>
        <p:nvSpPr>
          <p:cNvPr id="16" name="TextBox 15"/>
          <p:cNvSpPr txBox="1"/>
          <p:nvPr/>
        </p:nvSpPr>
        <p:spPr>
          <a:xfrm>
            <a:off x="8397240" y="2596286"/>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Pin full descriptor tokens</a:t>
            </a:r>
          </a:p>
        </p:txBody>
      </p:sp>
      <p:cxnSp>
        <p:nvCxnSpPr>
          <p:cNvPr id="17" name="Connector 16"/>
          <p:cNvCxnSpPr/>
          <p:nvPr/>
        </p:nvCxnSpPr>
        <p:spPr>
          <a:xfrm>
            <a:off x="3063240" y="2377440"/>
            <a:ext cx="1013460" cy="0"/>
          </a:xfrm>
          <a:prstGeom prst="line">
            <a:avLst/>
          </a:prstGeom>
          <a:ln w="15240">
            <a:solidFill>
              <a:srgbClr val="007C78"/>
            </a:solidFill>
          </a:ln>
          <a:effectLst/>
        </p:spPr>
      </p:cxnSp>
      <p:sp>
        <p:nvSpPr>
          <p:cNvPr id="18" name="Freeform 17"/>
          <p:cNvSpPr/>
          <p:nvPr/>
        </p:nvSpPr>
        <p:spPr>
          <a:xfrm>
            <a:off x="3977640" y="233934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cxnSp>
        <p:nvCxnSpPr>
          <p:cNvPr id="19" name="Connector 18"/>
          <p:cNvCxnSpPr/>
          <p:nvPr/>
        </p:nvCxnSpPr>
        <p:spPr>
          <a:xfrm>
            <a:off x="7353300" y="2377440"/>
            <a:ext cx="876300" cy="0"/>
          </a:xfrm>
          <a:prstGeom prst="line">
            <a:avLst/>
          </a:prstGeom>
          <a:ln w="15240">
            <a:solidFill>
              <a:srgbClr val="315E9C"/>
            </a:solidFill>
          </a:ln>
          <a:effectLst/>
        </p:spPr>
      </p:cxnSp>
      <p:sp>
        <p:nvSpPr>
          <p:cNvPr id="20" name="Freeform 19"/>
          <p:cNvSpPr/>
          <p:nvPr/>
        </p:nvSpPr>
        <p:spPr>
          <a:xfrm>
            <a:off x="8130540" y="23393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4076700" y="3467100"/>
            <a:ext cx="3276600" cy="914400"/>
          </a:xfrm>
          <a:prstGeom prst="roundRect">
            <a:avLst>
              <a:gd name="adj" fmla="val 10833"/>
            </a:avLst>
          </a:prstGeom>
          <a:solidFill>
            <a:srgbClr val="E4EBF5"/>
          </a:solidFill>
          <a:ln w="7620">
            <a:solidFill>
              <a:srgbClr val="315E9C"/>
            </a:solidFill>
          </a:ln>
          <a:effectLst/>
        </p:spPr>
        <p:txBody>
          <a:bodyPr rtlCol="0" anchor="ctr"/>
          <a:lstStyle/>
          <a:p>
            <a:pPr algn="ctr"/>
          </a:p>
        </p:txBody>
      </p:sp>
      <p:sp>
        <p:nvSpPr>
          <p:cNvPr id="22" name="TextBox 21"/>
          <p:cNvSpPr txBox="1"/>
          <p:nvPr/>
        </p:nvSpPr>
        <p:spPr>
          <a:xfrm>
            <a:off x="4244340" y="3634740"/>
            <a:ext cx="29413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315E9C"/>
                </a:solidFill>
                <a:latin typeface="DejaVu Sans"/>
              </a:rPr>
              <a:t>Validated binding + policy</a:t>
            </a:r>
          </a:p>
        </p:txBody>
      </p:sp>
      <p:sp>
        <p:nvSpPr>
          <p:cNvPr id="23" name="TextBox 22"/>
          <p:cNvSpPr txBox="1"/>
          <p:nvPr/>
        </p:nvSpPr>
        <p:spPr>
          <a:xfrm>
            <a:off x="4244340" y="3954779"/>
            <a:ext cx="2941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Wire/profile checks · live authority</a:t>
            </a:r>
          </a:p>
        </p:txBody>
      </p:sp>
      <p:cxnSp>
        <p:nvCxnSpPr>
          <p:cNvPr id="24" name="Connector 23"/>
          <p:cNvCxnSpPr/>
          <p:nvPr/>
        </p:nvCxnSpPr>
        <p:spPr>
          <a:xfrm>
            <a:off x="5715000" y="2865120"/>
            <a:ext cx="0" cy="601980"/>
          </a:xfrm>
          <a:prstGeom prst="line">
            <a:avLst/>
          </a:prstGeom>
          <a:ln w="15240">
            <a:solidFill>
              <a:srgbClr val="315E9C"/>
            </a:solidFill>
          </a:ln>
          <a:effectLst/>
        </p:spPr>
      </p:cxnSp>
      <p:sp>
        <p:nvSpPr>
          <p:cNvPr id="25" name="Freeform 24"/>
          <p:cNvSpPr/>
          <p:nvPr/>
        </p:nvSpPr>
        <p:spPr>
          <a:xfrm>
            <a:off x="5676900" y="336804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sp>
        <p:nvSpPr>
          <p:cNvPr id="26" name="Rounded Rectangle 25"/>
          <p:cNvSpPr/>
          <p:nvPr/>
        </p:nvSpPr>
        <p:spPr>
          <a:xfrm>
            <a:off x="548640" y="3467100"/>
            <a:ext cx="2514600" cy="914400"/>
          </a:xfrm>
          <a:prstGeom prst="roundRect">
            <a:avLst>
              <a:gd name="adj" fmla="val 10833"/>
            </a:avLst>
          </a:prstGeom>
          <a:solidFill>
            <a:srgbClr val="FFFFFF"/>
          </a:solidFill>
          <a:ln w="7620">
            <a:solidFill>
              <a:srgbClr val="315E9C"/>
            </a:solidFill>
          </a:ln>
          <a:effectLst/>
        </p:spPr>
        <p:txBody>
          <a:bodyPr rtlCol="0" anchor="ctr"/>
          <a:lstStyle/>
          <a:p>
            <a:pPr algn="ctr"/>
          </a:p>
        </p:txBody>
      </p:sp>
      <p:sp>
        <p:nvSpPr>
          <p:cNvPr id="27" name="TextBox 26"/>
          <p:cNvSpPr txBox="1"/>
          <p:nvPr/>
        </p:nvSpPr>
        <p:spPr>
          <a:xfrm>
            <a:off x="716280" y="3634740"/>
            <a:ext cx="2179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Execution</a:t>
            </a:r>
          </a:p>
        </p:txBody>
      </p:sp>
      <p:sp>
        <p:nvSpPr>
          <p:cNvPr id="28" name="TextBox 27"/>
          <p:cNvSpPr txBox="1"/>
          <p:nvPr/>
        </p:nvSpPr>
        <p:spPr>
          <a:xfrm>
            <a:off x="716280" y="3993794"/>
            <a:ext cx="2179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submit · status · result</a:t>
            </a:r>
          </a:p>
        </p:txBody>
      </p:sp>
      <p:sp>
        <p:nvSpPr>
          <p:cNvPr id="29" name="Rounded Rectangle 28"/>
          <p:cNvSpPr/>
          <p:nvPr/>
        </p:nvSpPr>
        <p:spPr>
          <a:xfrm>
            <a:off x="8229600" y="3467100"/>
            <a:ext cx="3413760" cy="914400"/>
          </a:xfrm>
          <a:prstGeom prst="roundRect">
            <a:avLst>
              <a:gd name="adj" fmla="val 10833"/>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8397240" y="3634740"/>
            <a:ext cx="3078479"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AtomStorage</a:t>
            </a:r>
          </a:p>
        </p:txBody>
      </p:sp>
      <p:sp>
        <p:nvSpPr>
          <p:cNvPr id="31" name="TextBox 30"/>
          <p:cNvSpPr txBox="1"/>
          <p:nvPr/>
        </p:nvSpPr>
        <p:spPr>
          <a:xfrm>
            <a:off x="8397240" y="3993794"/>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create · get · getMany · availability</a:t>
            </a:r>
          </a:p>
        </p:txBody>
      </p:sp>
      <p:cxnSp>
        <p:nvCxnSpPr>
          <p:cNvPr id="32" name="Connector 31"/>
          <p:cNvCxnSpPr/>
          <p:nvPr/>
        </p:nvCxnSpPr>
        <p:spPr>
          <a:xfrm flipH="1">
            <a:off x="3063240" y="3916679"/>
            <a:ext cx="1013460" cy="0"/>
          </a:xfrm>
          <a:prstGeom prst="line">
            <a:avLst/>
          </a:prstGeom>
          <a:ln w="15240">
            <a:solidFill>
              <a:srgbClr val="315E9C"/>
            </a:solidFill>
          </a:ln>
          <a:effectLst/>
        </p:spPr>
      </p:cxnSp>
      <p:sp>
        <p:nvSpPr>
          <p:cNvPr id="33" name="Freeform 32"/>
          <p:cNvSpPr/>
          <p:nvPr/>
        </p:nvSpPr>
        <p:spPr>
          <a:xfrm>
            <a:off x="3063240" y="3878580"/>
            <a:ext cx="99060" cy="76200"/>
          </a:xfrm>
          <a:custGeom>
            <a:avLst/>
            <a:gdLst/>
            <a:ahLst/>
            <a:cxnLst/>
            <a:rect l="l" t="t" r="r" b="b"/>
            <a:pathLst>
              <a:path w="13" h="10">
                <a:moveTo>
                  <a:pt x="0" y="5"/>
                </a:moveTo>
                <a:lnTo>
                  <a:pt x="13" y="10"/>
                </a:lnTo>
                <a:lnTo>
                  <a:pt x="13" y="0"/>
                </a:lnTo>
                <a:close/>
              </a:path>
            </a:pathLst>
          </a:custGeom>
          <a:solidFill>
            <a:srgbClr val="315E9C"/>
          </a:solidFill>
          <a:ln>
            <a:noFill/>
          </a:ln>
          <a:effectLst/>
        </p:spPr>
        <p:txBody>
          <a:bodyPr rtlCol="0" anchor="ctr"/>
          <a:lstStyle/>
          <a:p>
            <a:pPr algn="ctr"/>
          </a:p>
        </p:txBody>
      </p:sp>
      <p:cxnSp>
        <p:nvCxnSpPr>
          <p:cNvPr id="34" name="Connector 33"/>
          <p:cNvCxnSpPr/>
          <p:nvPr/>
        </p:nvCxnSpPr>
        <p:spPr>
          <a:xfrm>
            <a:off x="7353300" y="3916679"/>
            <a:ext cx="876300" cy="0"/>
          </a:xfrm>
          <a:prstGeom prst="line">
            <a:avLst/>
          </a:prstGeom>
          <a:ln w="15240">
            <a:solidFill>
              <a:srgbClr val="315E9C"/>
            </a:solidFill>
          </a:ln>
          <a:effectLst/>
        </p:spPr>
      </p:cxnSp>
      <p:sp>
        <p:nvSpPr>
          <p:cNvPr id="35" name="Freeform 34"/>
          <p:cNvSpPr/>
          <p:nvPr/>
        </p:nvSpPr>
        <p:spPr>
          <a:xfrm>
            <a:off x="8130540" y="387858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cxnSp>
        <p:nvCxnSpPr>
          <p:cNvPr id="36" name="Connector 35"/>
          <p:cNvCxnSpPr/>
          <p:nvPr/>
        </p:nvCxnSpPr>
        <p:spPr>
          <a:xfrm flipV="1">
            <a:off x="1805939" y="3154679"/>
            <a:ext cx="0" cy="312421"/>
          </a:xfrm>
          <a:prstGeom prst="line">
            <a:avLst/>
          </a:prstGeom>
          <a:ln w="15240">
            <a:solidFill>
              <a:srgbClr val="315E9C"/>
            </a:solidFill>
          </a:ln>
          <a:effectLst/>
        </p:spPr>
      </p:cxnSp>
      <p:cxnSp>
        <p:nvCxnSpPr>
          <p:cNvPr id="37" name="Connector 36"/>
          <p:cNvCxnSpPr/>
          <p:nvPr/>
        </p:nvCxnSpPr>
        <p:spPr>
          <a:xfrm>
            <a:off x="1805939" y="3154679"/>
            <a:ext cx="8130541" cy="0"/>
          </a:xfrm>
          <a:prstGeom prst="line">
            <a:avLst/>
          </a:prstGeom>
          <a:ln w="15240">
            <a:solidFill>
              <a:srgbClr val="315E9C"/>
            </a:solidFill>
          </a:ln>
          <a:effectLst/>
        </p:spPr>
      </p:cxnSp>
      <p:cxnSp>
        <p:nvCxnSpPr>
          <p:cNvPr id="38" name="Connector 37"/>
          <p:cNvCxnSpPr/>
          <p:nvPr/>
        </p:nvCxnSpPr>
        <p:spPr>
          <a:xfrm>
            <a:off x="9936480" y="3154679"/>
            <a:ext cx="0" cy="312421"/>
          </a:xfrm>
          <a:prstGeom prst="line">
            <a:avLst/>
          </a:prstGeom>
          <a:ln w="15240">
            <a:solidFill>
              <a:srgbClr val="315E9C"/>
            </a:solidFill>
          </a:ln>
          <a:effectLst/>
        </p:spPr>
      </p:cxnSp>
      <p:sp>
        <p:nvSpPr>
          <p:cNvPr id="39" name="Freeform 38"/>
          <p:cNvSpPr/>
          <p:nvPr/>
        </p:nvSpPr>
        <p:spPr>
          <a:xfrm>
            <a:off x="9898380" y="336804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sp>
        <p:nvSpPr>
          <p:cNvPr id="40" name="TextBox 39"/>
          <p:cNvSpPr txBox="1"/>
          <p:nvPr/>
        </p:nvSpPr>
        <p:spPr>
          <a:xfrm>
            <a:off x="6096000" y="2941320"/>
            <a:ext cx="53340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a:rPr>
              <a:t>Submit → get(input) · worker → get / create</a:t>
            </a:r>
          </a:p>
        </p:txBody>
      </p:sp>
      <p:sp>
        <p:nvSpPr>
          <p:cNvPr id="41" name="Rounded Rectangle 40"/>
          <p:cNvSpPr/>
          <p:nvPr/>
        </p:nvSpPr>
        <p:spPr>
          <a:xfrm>
            <a:off x="4076700" y="5158740"/>
            <a:ext cx="3276600" cy="800100"/>
          </a:xfrm>
          <a:prstGeom prst="roundRect">
            <a:avLst>
              <a:gd name="adj" fmla="val 12380"/>
            </a:avLst>
          </a:prstGeom>
          <a:solidFill>
            <a:srgbClr val="FFFFFF"/>
          </a:solidFill>
          <a:ln w="7620">
            <a:solidFill>
              <a:srgbClr val="315E9C"/>
            </a:solidFill>
          </a:ln>
          <a:effectLst/>
        </p:spPr>
        <p:txBody>
          <a:bodyPr rtlCol="0" anchor="ctr"/>
          <a:lstStyle/>
          <a:p>
            <a:pPr algn="ctr"/>
          </a:p>
        </p:txBody>
      </p:sp>
      <p:sp>
        <p:nvSpPr>
          <p:cNvPr id="42" name="TextBox 41"/>
          <p:cNvSpPr txBox="1"/>
          <p:nvPr/>
        </p:nvSpPr>
        <p:spPr>
          <a:xfrm>
            <a:off x="4244340" y="5326380"/>
            <a:ext cx="294132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Messaging</a:t>
            </a:r>
          </a:p>
        </p:txBody>
      </p:sp>
      <p:sp>
        <p:nvSpPr>
          <p:cNvPr id="43" name="TextBox 42"/>
          <p:cNvSpPr txBox="1"/>
          <p:nvPr/>
        </p:nvSpPr>
        <p:spPr>
          <a:xfrm>
            <a:off x="4244340" y="5675680"/>
            <a:ext cx="29413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send · poll · ack</a:t>
            </a:r>
          </a:p>
        </p:txBody>
      </p:sp>
      <p:cxnSp>
        <p:nvCxnSpPr>
          <p:cNvPr id="44" name="Connector 43"/>
          <p:cNvCxnSpPr/>
          <p:nvPr/>
        </p:nvCxnSpPr>
        <p:spPr>
          <a:xfrm>
            <a:off x="5715000" y="4381500"/>
            <a:ext cx="0" cy="777240"/>
          </a:xfrm>
          <a:prstGeom prst="line">
            <a:avLst/>
          </a:prstGeom>
          <a:ln w="15240">
            <a:solidFill>
              <a:srgbClr val="315E9C"/>
            </a:solidFill>
          </a:ln>
          <a:effectLst/>
        </p:spPr>
      </p:cxnSp>
      <p:sp>
        <p:nvSpPr>
          <p:cNvPr id="45" name="Freeform 44"/>
          <p:cNvSpPr/>
          <p:nvPr/>
        </p:nvSpPr>
        <p:spPr>
          <a:xfrm>
            <a:off x="5676900" y="5059680"/>
            <a:ext cx="76200" cy="99060"/>
          </a:xfrm>
          <a:custGeom>
            <a:avLst/>
            <a:gdLst/>
            <a:ahLst/>
            <a:cxnLst/>
            <a:rect l="l" t="t" r="r" b="b"/>
            <a:pathLst>
              <a:path w="10" h="13">
                <a:moveTo>
                  <a:pt x="5" y="13"/>
                </a:moveTo>
                <a:lnTo>
                  <a:pt x="10" y="0"/>
                </a:lnTo>
                <a:lnTo>
                  <a:pt x="0" y="0"/>
                </a:lnTo>
                <a:close/>
              </a:path>
            </a:pathLst>
          </a:custGeom>
          <a:solidFill>
            <a:srgbClr val="315E9C"/>
          </a:solidFill>
          <a:ln>
            <a:noFill/>
          </a:ln>
          <a:effectLst/>
        </p:spPr>
        <p:txBody>
          <a:bodyPr rtlCol="0" anchor="ctr"/>
          <a:lstStyle/>
          <a:p>
            <a:pPr algn="ctr"/>
          </a:p>
        </p:txBody>
      </p:sp>
      <p:cxnSp>
        <p:nvCxnSpPr>
          <p:cNvPr id="46" name="Connector 45"/>
          <p:cNvCxnSpPr/>
          <p:nvPr/>
        </p:nvCxnSpPr>
        <p:spPr>
          <a:xfrm>
            <a:off x="1805939" y="4381500"/>
            <a:ext cx="0" cy="1173480"/>
          </a:xfrm>
          <a:prstGeom prst="line">
            <a:avLst/>
          </a:prstGeom>
          <a:ln w="15240">
            <a:solidFill>
              <a:srgbClr val="315E9C"/>
            </a:solidFill>
          </a:ln>
          <a:effectLst/>
        </p:spPr>
      </p:cxnSp>
      <p:cxnSp>
        <p:nvCxnSpPr>
          <p:cNvPr id="47" name="Connector 46"/>
          <p:cNvCxnSpPr/>
          <p:nvPr/>
        </p:nvCxnSpPr>
        <p:spPr>
          <a:xfrm>
            <a:off x="1805939" y="5554980"/>
            <a:ext cx="2270761" cy="0"/>
          </a:xfrm>
          <a:prstGeom prst="line">
            <a:avLst/>
          </a:prstGeom>
          <a:ln w="15240">
            <a:solidFill>
              <a:srgbClr val="315E9C"/>
            </a:solidFill>
          </a:ln>
          <a:effectLst/>
        </p:spPr>
      </p:cxnSp>
      <p:sp>
        <p:nvSpPr>
          <p:cNvPr id="48" name="Freeform 47"/>
          <p:cNvSpPr/>
          <p:nvPr/>
        </p:nvSpPr>
        <p:spPr>
          <a:xfrm>
            <a:off x="3977640" y="551688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9" name="TextBox 48"/>
          <p:cNvSpPr txBox="1"/>
          <p:nvPr/>
        </p:nvSpPr>
        <p:spPr>
          <a:xfrm>
            <a:off x="2148840" y="4770120"/>
            <a:ext cx="327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315E9C"/>
                </a:solidFill>
                <a:latin typeface="DejaVu Sans"/>
              </a:rPr>
              <a:t>Outbox → CompletionDelivery.accept</a:t>
            </a:r>
          </a:p>
        </p:txBody>
      </p:sp>
      <p:cxnSp>
        <p:nvCxnSpPr>
          <p:cNvPr id="50" name="Connector 49"/>
          <p:cNvCxnSpPr/>
          <p:nvPr/>
        </p:nvCxnSpPr>
        <p:spPr>
          <a:xfrm>
            <a:off x="7353300" y="5554980"/>
            <a:ext cx="419100" cy="0"/>
          </a:xfrm>
          <a:prstGeom prst="line">
            <a:avLst/>
          </a:prstGeom>
          <a:ln w="15240">
            <a:solidFill>
              <a:srgbClr val="315E9C"/>
            </a:solidFill>
          </a:ln>
          <a:effectLst/>
        </p:spPr>
      </p:cxnSp>
      <p:cxnSp>
        <p:nvCxnSpPr>
          <p:cNvPr id="51" name="Connector 50"/>
          <p:cNvCxnSpPr/>
          <p:nvPr/>
        </p:nvCxnSpPr>
        <p:spPr>
          <a:xfrm flipV="1">
            <a:off x="7772400" y="4191000"/>
            <a:ext cx="0" cy="1363980"/>
          </a:xfrm>
          <a:prstGeom prst="line">
            <a:avLst/>
          </a:prstGeom>
          <a:ln w="15240">
            <a:solidFill>
              <a:srgbClr val="315E9C"/>
            </a:solidFill>
          </a:ln>
          <a:effectLst/>
        </p:spPr>
      </p:cxnSp>
      <p:cxnSp>
        <p:nvCxnSpPr>
          <p:cNvPr id="52" name="Connector 51"/>
          <p:cNvCxnSpPr/>
          <p:nvPr/>
        </p:nvCxnSpPr>
        <p:spPr>
          <a:xfrm>
            <a:off x="7772400" y="4191000"/>
            <a:ext cx="457200" cy="0"/>
          </a:xfrm>
          <a:prstGeom prst="line">
            <a:avLst/>
          </a:prstGeom>
          <a:ln w="15240">
            <a:solidFill>
              <a:srgbClr val="315E9C"/>
            </a:solidFill>
          </a:ln>
          <a:effectLst/>
        </p:spPr>
      </p:cxnSp>
      <p:sp>
        <p:nvSpPr>
          <p:cNvPr id="53" name="Freeform 52"/>
          <p:cNvSpPr/>
          <p:nvPr/>
        </p:nvSpPr>
        <p:spPr>
          <a:xfrm>
            <a:off x="8130540" y="41529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54" name="TextBox 53"/>
          <p:cNvSpPr txBox="1"/>
          <p:nvPr/>
        </p:nvSpPr>
        <p:spPr>
          <a:xfrm>
            <a:off x="6111240" y="4770120"/>
            <a:ext cx="16002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315E9C"/>
                </a:solidFill>
                <a:latin typeface="DejaVu Sans"/>
              </a:rPr>
              <a:t>send → get(ref)</a:t>
            </a:r>
          </a:p>
        </p:txBody>
      </p:sp>
      <p:sp>
        <p:nvSpPr>
          <p:cNvPr id="55" name="Rounded Rectangle 54"/>
          <p:cNvSpPr/>
          <p:nvPr/>
        </p:nvSpPr>
        <p:spPr>
          <a:xfrm>
            <a:off x="8229600" y="5158740"/>
            <a:ext cx="3413760" cy="800100"/>
          </a:xfrm>
          <a:prstGeom prst="roundRect">
            <a:avLst>
              <a:gd name="adj" fmla="val 12380"/>
            </a:avLst>
          </a:prstGeom>
          <a:solidFill>
            <a:srgbClr val="DCEFE8"/>
          </a:solidFill>
          <a:ln w="7620">
            <a:solidFill>
              <a:srgbClr val="007C78"/>
            </a:solidFill>
          </a:ln>
          <a:effectLst/>
        </p:spPr>
        <p:txBody>
          <a:bodyPr rtlCol="0" anchor="ctr"/>
          <a:lstStyle/>
          <a:p>
            <a:pPr algn="ctr"/>
          </a:p>
        </p:txBody>
      </p:sp>
      <p:sp>
        <p:nvSpPr>
          <p:cNvPr id="56" name="TextBox 55"/>
          <p:cNvSpPr txBox="1"/>
          <p:nvPr/>
        </p:nvSpPr>
        <p:spPr>
          <a:xfrm>
            <a:off x="8397240" y="5326380"/>
            <a:ext cx="3078479"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DeTTa DA / FileStorage</a:t>
            </a:r>
          </a:p>
        </p:txBody>
      </p:sp>
      <p:sp>
        <p:nvSpPr>
          <p:cNvPr id="57" name="TextBox 56"/>
          <p:cNvSpPr txBox="1"/>
          <p:nvPr/>
        </p:nvSpPr>
        <p:spPr>
          <a:xfrm>
            <a:off x="8397240" y="5665927"/>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Opaque put · get · availability</a:t>
            </a:r>
          </a:p>
        </p:txBody>
      </p:sp>
      <p:cxnSp>
        <p:nvCxnSpPr>
          <p:cNvPr id="58" name="Connector 57"/>
          <p:cNvCxnSpPr/>
          <p:nvPr/>
        </p:nvCxnSpPr>
        <p:spPr>
          <a:xfrm>
            <a:off x="9936480" y="4381500"/>
            <a:ext cx="0" cy="777240"/>
          </a:xfrm>
          <a:prstGeom prst="line">
            <a:avLst/>
          </a:prstGeom>
          <a:ln w="15240">
            <a:solidFill>
              <a:srgbClr val="007C78"/>
            </a:solidFill>
          </a:ln>
          <a:effectLst/>
        </p:spPr>
      </p:cxnSp>
      <p:sp>
        <p:nvSpPr>
          <p:cNvPr id="59" name="Freeform 58"/>
          <p:cNvSpPr/>
          <p:nvPr/>
        </p:nvSpPr>
        <p:spPr>
          <a:xfrm>
            <a:off x="9898380" y="5059680"/>
            <a:ext cx="76200" cy="99060"/>
          </a:xfrm>
          <a:custGeom>
            <a:avLst/>
            <a:gdLst/>
            <a:ahLst/>
            <a:cxnLst/>
            <a:rect l="l" t="t" r="r" b="b"/>
            <a:pathLst>
              <a:path w="10" h="13">
                <a:moveTo>
                  <a:pt x="5" y="13"/>
                </a:moveTo>
                <a:lnTo>
                  <a:pt x="10" y="0"/>
                </a:lnTo>
                <a:lnTo>
                  <a:pt x="0" y="0"/>
                </a:lnTo>
                <a:close/>
              </a:path>
            </a:pathLst>
          </a:custGeom>
          <a:solidFill>
            <a:srgbClr val="007C78"/>
          </a:solidFill>
          <a:ln>
            <a:noFill/>
          </a:ln>
          <a:effectLst/>
        </p:spPr>
        <p:txBody>
          <a:bodyPr rtlCol="0" anchor="ctr"/>
          <a:lstStyle/>
          <a:p>
            <a:pPr algn="ctr"/>
          </a:p>
        </p:txBody>
      </p:sp>
      <p:sp>
        <p:nvSpPr>
          <p:cNvPr id="60" name="TextBox 59"/>
          <p:cNvSpPr txBox="1"/>
          <p:nvPr/>
        </p:nvSpPr>
        <p:spPr>
          <a:xfrm>
            <a:off x="662940" y="6065520"/>
            <a:ext cx="10363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Optional finality uses a separate caller + approved digest + signer; M1.2 does not invoke it.</a:t>
            </a:r>
          </a:p>
        </p:txBody>
      </p:sp>
      <p:cxnSp>
        <p:nvCxnSpPr>
          <p:cNvPr id="61" name="Connector 60"/>
          <p:cNvCxnSpPr/>
          <p:nvPr/>
        </p:nvCxnSpPr>
        <p:spPr>
          <a:xfrm>
            <a:off x="548640" y="6393180"/>
            <a:ext cx="11094720" cy="0"/>
          </a:xfrm>
          <a:prstGeom prst="line">
            <a:avLst/>
          </a:prstGeom>
          <a:ln w="7620">
            <a:solidFill>
              <a:srgbClr val="C9D2D4"/>
            </a:solidFill>
          </a:ln>
          <a:effectLst/>
        </p:spPr>
      </p:cxnSp>
      <p:sp>
        <p:nvSpPr>
          <p:cNvPr id="62" name="TextBox 6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program.py · ports.py · execution.py</a:t>
            </a:r>
          </a:p>
        </p:txBody>
      </p:sp>
      <p:sp>
        <p:nvSpPr>
          <p:cNvPr id="63" name="TextBox 6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38</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BOUNDARY · APPLICATION-NEUTRAL PERSISTENCE</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DA boundary remains application-neutral</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external adapter translates application references into generic coordinates and opaque bytes.</a:t>
            </a:r>
          </a:p>
        </p:txBody>
      </p:sp>
      <p:sp>
        <p:nvSpPr>
          <p:cNvPr id="5" name="Rounded Rectangle 4"/>
          <p:cNvSpPr/>
          <p:nvPr/>
        </p:nvSpPr>
        <p:spPr>
          <a:xfrm>
            <a:off x="548640" y="1927859"/>
            <a:ext cx="3429000" cy="1249680"/>
          </a:xfrm>
          <a:prstGeom prst="roundRect">
            <a:avLst>
              <a:gd name="adj" fmla="val 7926"/>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2095500"/>
            <a:ext cx="30937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Application contracts</a:t>
            </a:r>
          </a:p>
        </p:txBody>
      </p:sp>
      <p:sp>
        <p:nvSpPr>
          <p:cNvPr id="7" name="TextBox 6"/>
          <p:cNvSpPr txBox="1"/>
          <p:nvPr/>
        </p:nvSpPr>
        <p:spPr>
          <a:xfrm>
            <a:off x="716280" y="2464308"/>
            <a:ext cx="30937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Scope · references · replay</a:t>
            </a:r>
          </a:p>
        </p:txBody>
      </p:sp>
      <p:sp>
        <p:nvSpPr>
          <p:cNvPr id="8" name="TextBox 7"/>
          <p:cNvSpPr txBox="1"/>
          <p:nvPr/>
        </p:nvSpPr>
        <p:spPr>
          <a:xfrm>
            <a:off x="716280" y="2717901"/>
            <a:ext cx="30937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identity</a:t>
            </a:r>
          </a:p>
        </p:txBody>
      </p:sp>
      <p:sp>
        <p:nvSpPr>
          <p:cNvPr id="9" name="Rounded Rectangle 8"/>
          <p:cNvSpPr/>
          <p:nvPr/>
        </p:nvSpPr>
        <p:spPr>
          <a:xfrm>
            <a:off x="4716780" y="1927859"/>
            <a:ext cx="3086100" cy="1249680"/>
          </a:xfrm>
          <a:prstGeom prst="roundRect">
            <a:avLst>
              <a:gd name="adj" fmla="val 7926"/>
            </a:avLst>
          </a:prstGeom>
          <a:solidFill>
            <a:srgbClr val="DCEFE8"/>
          </a:solidFill>
          <a:ln w="7620">
            <a:solidFill>
              <a:srgbClr val="007C78"/>
            </a:solidFill>
          </a:ln>
          <a:effectLst/>
        </p:spPr>
        <p:txBody>
          <a:bodyPr rtlCol="0" anchor="ctr"/>
          <a:lstStyle/>
          <a:p>
            <a:pPr algn="ctr"/>
          </a:p>
        </p:txBody>
      </p:sp>
      <p:sp>
        <p:nvSpPr>
          <p:cNvPr id="10" name="TextBox 9"/>
          <p:cNvSpPr txBox="1"/>
          <p:nvPr/>
        </p:nvSpPr>
        <p:spPr>
          <a:xfrm>
            <a:off x="4884420" y="2095500"/>
            <a:ext cx="27508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External adapter</a:t>
            </a:r>
          </a:p>
        </p:txBody>
      </p:sp>
      <p:sp>
        <p:nvSpPr>
          <p:cNvPr id="11" name="TextBox 10"/>
          <p:cNvSpPr txBox="1"/>
          <p:nvPr/>
        </p:nvSpPr>
        <p:spPr>
          <a:xfrm>
            <a:off x="4884420" y="2464308"/>
            <a:ext cx="27508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Opaque payload + generic</a:t>
            </a:r>
          </a:p>
        </p:txBody>
      </p:sp>
      <p:sp>
        <p:nvSpPr>
          <p:cNvPr id="12" name="TextBox 11"/>
          <p:cNvSpPr txBox="1"/>
          <p:nvPr/>
        </p:nvSpPr>
        <p:spPr>
          <a:xfrm>
            <a:off x="4884420" y="2717901"/>
            <a:ext cx="27508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coordinate</a:t>
            </a:r>
          </a:p>
        </p:txBody>
      </p:sp>
      <p:sp>
        <p:nvSpPr>
          <p:cNvPr id="13" name="Rounded Rectangle 12"/>
          <p:cNvSpPr/>
          <p:nvPr/>
        </p:nvSpPr>
        <p:spPr>
          <a:xfrm>
            <a:off x="8542020" y="1927859"/>
            <a:ext cx="3101340" cy="1249680"/>
          </a:xfrm>
          <a:prstGeom prst="roundRect">
            <a:avLst>
              <a:gd name="adj" fmla="val 7926"/>
            </a:avLst>
          </a:prstGeom>
          <a:solidFill>
            <a:srgbClr val="DCEFE8"/>
          </a:solidFill>
          <a:ln w="7620">
            <a:solidFill>
              <a:srgbClr val="007C78"/>
            </a:solidFill>
          </a:ln>
          <a:effectLst/>
        </p:spPr>
        <p:txBody>
          <a:bodyPr rtlCol="0" anchor="ctr"/>
          <a:lstStyle/>
          <a:p>
            <a:pPr algn="ctr"/>
          </a:p>
        </p:txBody>
      </p:sp>
      <p:sp>
        <p:nvSpPr>
          <p:cNvPr id="14" name="TextBox 13"/>
          <p:cNvSpPr txBox="1"/>
          <p:nvPr/>
        </p:nvSpPr>
        <p:spPr>
          <a:xfrm>
            <a:off x="8709660" y="2095500"/>
            <a:ext cx="27660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DeTTa core</a:t>
            </a:r>
          </a:p>
        </p:txBody>
      </p:sp>
      <p:sp>
        <p:nvSpPr>
          <p:cNvPr id="15" name="TextBox 14"/>
          <p:cNvSpPr txBox="1"/>
          <p:nvPr/>
        </p:nvSpPr>
        <p:spPr>
          <a:xfrm>
            <a:off x="8709660" y="2464308"/>
            <a:ext cx="27660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DA encoding + FileStorage</a:t>
            </a:r>
          </a:p>
        </p:txBody>
      </p:sp>
      <p:cxnSp>
        <p:nvCxnSpPr>
          <p:cNvPr id="16" name="Connector 15"/>
          <p:cNvCxnSpPr/>
          <p:nvPr/>
        </p:nvCxnSpPr>
        <p:spPr>
          <a:xfrm>
            <a:off x="3977640" y="2552700"/>
            <a:ext cx="739140" cy="0"/>
          </a:xfrm>
          <a:prstGeom prst="line">
            <a:avLst/>
          </a:prstGeom>
          <a:ln w="15240">
            <a:solidFill>
              <a:srgbClr val="007C78"/>
            </a:solidFill>
          </a:ln>
          <a:effectLst/>
        </p:spPr>
      </p:cxnSp>
      <p:sp>
        <p:nvSpPr>
          <p:cNvPr id="17" name="Freeform 16"/>
          <p:cNvSpPr/>
          <p:nvPr/>
        </p:nvSpPr>
        <p:spPr>
          <a:xfrm>
            <a:off x="4617720" y="25146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cxnSp>
        <p:nvCxnSpPr>
          <p:cNvPr id="18" name="Connector 17"/>
          <p:cNvCxnSpPr/>
          <p:nvPr/>
        </p:nvCxnSpPr>
        <p:spPr>
          <a:xfrm>
            <a:off x="7802880" y="2552700"/>
            <a:ext cx="739140" cy="0"/>
          </a:xfrm>
          <a:prstGeom prst="line">
            <a:avLst/>
          </a:prstGeom>
          <a:ln w="15240">
            <a:solidFill>
              <a:srgbClr val="007C78"/>
            </a:solidFill>
          </a:ln>
          <a:effectLst/>
        </p:spPr>
      </p:cxnSp>
      <p:sp>
        <p:nvSpPr>
          <p:cNvPr id="19" name="Freeform 18"/>
          <p:cNvSpPr/>
          <p:nvPr/>
        </p:nvSpPr>
        <p:spPr>
          <a:xfrm>
            <a:off x="8442960" y="25146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0" name="TextBox 19"/>
          <p:cNvSpPr txBox="1"/>
          <p:nvPr/>
        </p:nvSpPr>
        <p:spPr>
          <a:xfrm>
            <a:off x="571500" y="3634740"/>
            <a:ext cx="7620000" cy="370636"/>
          </a:xfrm>
          <a:prstGeom prst="rect">
            <a:avLst/>
          </a:prstGeom>
          <a:noFill/>
        </p:spPr>
        <p:txBody>
          <a:bodyPr wrap="none" lIns="0" rIns="0" tIns="0" bIns="0" anchor="t" anchorCtr="0">
            <a:noAutofit/>
          </a:bodyPr>
          <a:lstStyle/>
          <a:p>
            <a:pPr algn="l">
              <a:lnSpc>
                <a:spcPct val="100000"/>
              </a:lnSpc>
              <a:spcBef>
                <a:spcPts val="0"/>
              </a:spcBef>
              <a:spcAft>
                <a:spcPts val="0"/>
              </a:spcAft>
            </a:pPr>
            <a:r>
              <a:rPr sz="2280" b="1">
                <a:solidFill>
                  <a:srgbClr val="102B3F"/>
                </a:solidFill>
                <a:latin typeface="DejaVu Sans"/>
              </a:rPr>
              <a:t>4 data shares + 2 parity shares</a:t>
            </a:r>
          </a:p>
        </p:txBody>
      </p:sp>
      <p:sp>
        <p:nvSpPr>
          <p:cNvPr id="21" name="Rounded Rectangle 20"/>
          <p:cNvSpPr/>
          <p:nvPr/>
        </p:nvSpPr>
        <p:spPr>
          <a:xfrm>
            <a:off x="563880" y="4229100"/>
            <a:ext cx="952500" cy="876300"/>
          </a:xfrm>
          <a:prstGeom prst="roundRect">
            <a:avLst>
              <a:gd name="adj" fmla="val 8695"/>
            </a:avLst>
          </a:prstGeom>
          <a:solidFill>
            <a:srgbClr val="DCEFE8"/>
          </a:solidFill>
          <a:ln w="7620">
            <a:solidFill>
              <a:srgbClr val="007C78"/>
            </a:solidFill>
          </a:ln>
          <a:effectLst/>
        </p:spPr>
        <p:txBody>
          <a:bodyPr rtlCol="0" anchor="ctr"/>
          <a:lstStyle/>
          <a:p>
            <a:pPr algn="ctr"/>
          </a:p>
        </p:txBody>
      </p:sp>
      <p:sp>
        <p:nvSpPr>
          <p:cNvPr id="22" name="TextBox 21"/>
          <p:cNvSpPr txBox="1"/>
          <p:nvPr/>
        </p:nvSpPr>
        <p:spPr>
          <a:xfrm>
            <a:off x="800100"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007C78"/>
                </a:solidFill>
                <a:latin typeface="DejaVu Sans Mono"/>
              </a:rPr>
              <a:t>S1</a:t>
            </a:r>
          </a:p>
        </p:txBody>
      </p:sp>
      <p:sp>
        <p:nvSpPr>
          <p:cNvPr id="23" name="TextBox 22"/>
          <p:cNvSpPr txBox="1"/>
          <p:nvPr/>
        </p:nvSpPr>
        <p:spPr>
          <a:xfrm>
            <a:off x="685800"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present</a:t>
            </a:r>
          </a:p>
        </p:txBody>
      </p:sp>
      <p:sp>
        <p:nvSpPr>
          <p:cNvPr id="24" name="Rounded Rectangle 23"/>
          <p:cNvSpPr/>
          <p:nvPr/>
        </p:nvSpPr>
        <p:spPr>
          <a:xfrm>
            <a:off x="1729739" y="4229100"/>
            <a:ext cx="952500" cy="876300"/>
          </a:xfrm>
          <a:prstGeom prst="roundRect">
            <a:avLst>
              <a:gd name="adj" fmla="val 8695"/>
            </a:avLst>
          </a:prstGeom>
          <a:solidFill>
            <a:srgbClr val="DCEFE8"/>
          </a:solidFill>
          <a:ln w="7620">
            <a:solidFill>
              <a:srgbClr val="007C78"/>
            </a:solidFill>
          </a:ln>
          <a:effectLst/>
        </p:spPr>
        <p:txBody>
          <a:bodyPr rtlCol="0" anchor="ctr"/>
          <a:lstStyle/>
          <a:p>
            <a:pPr algn="ctr"/>
          </a:p>
        </p:txBody>
      </p:sp>
      <p:sp>
        <p:nvSpPr>
          <p:cNvPr id="25" name="TextBox 24"/>
          <p:cNvSpPr txBox="1"/>
          <p:nvPr/>
        </p:nvSpPr>
        <p:spPr>
          <a:xfrm>
            <a:off x="1965959"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007C78"/>
                </a:solidFill>
                <a:latin typeface="DejaVu Sans Mono"/>
              </a:rPr>
              <a:t>S2</a:t>
            </a:r>
          </a:p>
        </p:txBody>
      </p:sp>
      <p:sp>
        <p:nvSpPr>
          <p:cNvPr id="26" name="TextBox 25"/>
          <p:cNvSpPr txBox="1"/>
          <p:nvPr/>
        </p:nvSpPr>
        <p:spPr>
          <a:xfrm>
            <a:off x="1851659"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present</a:t>
            </a:r>
          </a:p>
        </p:txBody>
      </p:sp>
      <p:sp>
        <p:nvSpPr>
          <p:cNvPr id="27" name="Rounded Rectangle 26"/>
          <p:cNvSpPr/>
          <p:nvPr/>
        </p:nvSpPr>
        <p:spPr>
          <a:xfrm>
            <a:off x="2895600" y="4229100"/>
            <a:ext cx="952500" cy="876300"/>
          </a:xfrm>
          <a:prstGeom prst="roundRect">
            <a:avLst>
              <a:gd name="adj" fmla="val 8695"/>
            </a:avLst>
          </a:prstGeom>
          <a:solidFill>
            <a:srgbClr val="DCEFE8"/>
          </a:solidFill>
          <a:ln w="7620">
            <a:solidFill>
              <a:srgbClr val="007C78"/>
            </a:solidFill>
          </a:ln>
          <a:effectLst/>
        </p:spPr>
        <p:txBody>
          <a:bodyPr rtlCol="0" anchor="ctr"/>
          <a:lstStyle/>
          <a:p>
            <a:pPr algn="ctr"/>
          </a:p>
        </p:txBody>
      </p:sp>
      <p:sp>
        <p:nvSpPr>
          <p:cNvPr id="28" name="TextBox 27"/>
          <p:cNvSpPr txBox="1"/>
          <p:nvPr/>
        </p:nvSpPr>
        <p:spPr>
          <a:xfrm>
            <a:off x="3131820"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007C78"/>
                </a:solidFill>
                <a:latin typeface="DejaVu Sans Mono"/>
              </a:rPr>
              <a:t>S3</a:t>
            </a:r>
          </a:p>
        </p:txBody>
      </p:sp>
      <p:sp>
        <p:nvSpPr>
          <p:cNvPr id="29" name="TextBox 28"/>
          <p:cNvSpPr txBox="1"/>
          <p:nvPr/>
        </p:nvSpPr>
        <p:spPr>
          <a:xfrm>
            <a:off x="3017520"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present</a:t>
            </a:r>
          </a:p>
        </p:txBody>
      </p:sp>
      <p:sp>
        <p:nvSpPr>
          <p:cNvPr id="30" name="Rounded Rectangle 29"/>
          <p:cNvSpPr/>
          <p:nvPr/>
        </p:nvSpPr>
        <p:spPr>
          <a:xfrm>
            <a:off x="4061460" y="4229100"/>
            <a:ext cx="952500" cy="876300"/>
          </a:xfrm>
          <a:prstGeom prst="roundRect">
            <a:avLst>
              <a:gd name="adj" fmla="val 8695"/>
            </a:avLst>
          </a:prstGeom>
          <a:solidFill>
            <a:srgbClr val="DCEFE8"/>
          </a:solidFill>
          <a:ln w="7620">
            <a:solidFill>
              <a:srgbClr val="007C78"/>
            </a:solidFill>
          </a:ln>
          <a:effectLst/>
        </p:spPr>
        <p:txBody>
          <a:bodyPr rtlCol="0" anchor="ctr"/>
          <a:lstStyle/>
          <a:p>
            <a:pPr algn="ctr"/>
          </a:p>
        </p:txBody>
      </p:sp>
      <p:sp>
        <p:nvSpPr>
          <p:cNvPr id="31" name="TextBox 30"/>
          <p:cNvSpPr txBox="1"/>
          <p:nvPr/>
        </p:nvSpPr>
        <p:spPr>
          <a:xfrm>
            <a:off x="4297680"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007C78"/>
                </a:solidFill>
                <a:latin typeface="DejaVu Sans Mono"/>
              </a:rPr>
              <a:t>S4</a:t>
            </a:r>
          </a:p>
        </p:txBody>
      </p:sp>
      <p:sp>
        <p:nvSpPr>
          <p:cNvPr id="32" name="TextBox 31"/>
          <p:cNvSpPr txBox="1"/>
          <p:nvPr/>
        </p:nvSpPr>
        <p:spPr>
          <a:xfrm>
            <a:off x="4183379"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present</a:t>
            </a:r>
          </a:p>
        </p:txBody>
      </p:sp>
      <p:sp>
        <p:nvSpPr>
          <p:cNvPr id="33" name="Rounded Rectangle 32"/>
          <p:cNvSpPr/>
          <p:nvPr/>
        </p:nvSpPr>
        <p:spPr>
          <a:xfrm>
            <a:off x="5227320" y="4229100"/>
            <a:ext cx="952500" cy="876300"/>
          </a:xfrm>
          <a:prstGeom prst="roundRect">
            <a:avLst>
              <a:gd name="adj" fmla="val 8695"/>
            </a:avLst>
          </a:prstGeom>
          <a:solidFill>
            <a:srgbClr val="E7ECEB"/>
          </a:solidFill>
          <a:ln w="7620">
            <a:solidFill>
              <a:srgbClr val="C9D2D4"/>
            </a:solidFill>
            <a:prstDash val="dash"/>
          </a:ln>
          <a:effectLst/>
        </p:spPr>
        <p:txBody>
          <a:bodyPr rtlCol="0" anchor="ctr"/>
          <a:lstStyle/>
          <a:p>
            <a:pPr algn="ctr"/>
          </a:p>
        </p:txBody>
      </p:sp>
      <p:sp>
        <p:nvSpPr>
          <p:cNvPr id="34" name="TextBox 33"/>
          <p:cNvSpPr txBox="1"/>
          <p:nvPr/>
        </p:nvSpPr>
        <p:spPr>
          <a:xfrm>
            <a:off x="5463540"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536775"/>
                </a:solidFill>
                <a:latin typeface="DejaVu Sans Mono"/>
              </a:rPr>
              <a:t>S5</a:t>
            </a:r>
          </a:p>
        </p:txBody>
      </p:sp>
      <p:sp>
        <p:nvSpPr>
          <p:cNvPr id="35" name="TextBox 34"/>
          <p:cNvSpPr txBox="1"/>
          <p:nvPr/>
        </p:nvSpPr>
        <p:spPr>
          <a:xfrm>
            <a:off x="5349240"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removed</a:t>
            </a:r>
          </a:p>
        </p:txBody>
      </p:sp>
      <p:sp>
        <p:nvSpPr>
          <p:cNvPr id="36" name="Rounded Rectangle 35"/>
          <p:cNvSpPr/>
          <p:nvPr/>
        </p:nvSpPr>
        <p:spPr>
          <a:xfrm>
            <a:off x="6393180" y="4229100"/>
            <a:ext cx="952500" cy="876300"/>
          </a:xfrm>
          <a:prstGeom prst="roundRect">
            <a:avLst>
              <a:gd name="adj" fmla="val 8695"/>
            </a:avLst>
          </a:prstGeom>
          <a:solidFill>
            <a:srgbClr val="E7ECEB"/>
          </a:solidFill>
          <a:ln w="7620">
            <a:solidFill>
              <a:srgbClr val="C9D2D4"/>
            </a:solidFill>
            <a:prstDash val="dash"/>
          </a:ln>
          <a:effectLst/>
        </p:spPr>
        <p:txBody>
          <a:bodyPr rtlCol="0" anchor="ctr"/>
          <a:lstStyle/>
          <a:p>
            <a:pPr algn="ctr"/>
          </a:p>
        </p:txBody>
      </p:sp>
      <p:sp>
        <p:nvSpPr>
          <p:cNvPr id="37" name="TextBox 36"/>
          <p:cNvSpPr txBox="1"/>
          <p:nvPr/>
        </p:nvSpPr>
        <p:spPr>
          <a:xfrm>
            <a:off x="6629400" y="4419600"/>
            <a:ext cx="6858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536775"/>
                </a:solidFill>
                <a:latin typeface="DejaVu Sans Mono"/>
              </a:rPr>
              <a:t>S6</a:t>
            </a:r>
          </a:p>
        </p:txBody>
      </p:sp>
      <p:sp>
        <p:nvSpPr>
          <p:cNvPr id="38" name="TextBox 37"/>
          <p:cNvSpPr txBox="1"/>
          <p:nvPr/>
        </p:nvSpPr>
        <p:spPr>
          <a:xfrm>
            <a:off x="6515100" y="4808220"/>
            <a:ext cx="83820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0">
                <a:solidFill>
                  <a:srgbClr val="536775"/>
                </a:solidFill>
                <a:latin typeface="DejaVu Sans"/>
              </a:rPr>
              <a:t>removed</a:t>
            </a:r>
          </a:p>
        </p:txBody>
      </p:sp>
      <p:sp>
        <p:nvSpPr>
          <p:cNvPr id="39" name="Rounded Rectangle 38"/>
          <p:cNvSpPr/>
          <p:nvPr/>
        </p:nvSpPr>
        <p:spPr>
          <a:xfrm>
            <a:off x="8077200" y="3855719"/>
            <a:ext cx="3566160" cy="1485900"/>
          </a:xfrm>
          <a:prstGeom prst="roundRect">
            <a:avLst>
              <a:gd name="adj" fmla="val 6666"/>
            </a:avLst>
          </a:prstGeom>
          <a:solidFill>
            <a:srgbClr val="FFFFFF"/>
          </a:solidFill>
          <a:ln w="7620">
            <a:solidFill>
              <a:srgbClr val="007C78"/>
            </a:solidFill>
          </a:ln>
          <a:effectLst/>
        </p:spPr>
        <p:txBody>
          <a:bodyPr rtlCol="0" anchor="ctr"/>
          <a:lstStyle/>
          <a:p>
            <a:pPr algn="ctr"/>
          </a:p>
        </p:txBody>
      </p:sp>
      <p:sp>
        <p:nvSpPr>
          <p:cNvPr id="40" name="TextBox 39"/>
          <p:cNvSpPr txBox="1"/>
          <p:nvPr/>
        </p:nvSpPr>
        <p:spPr>
          <a:xfrm>
            <a:off x="8244839" y="4023360"/>
            <a:ext cx="3230879"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007C78"/>
                </a:solidFill>
                <a:latin typeface="DejaVu Sans"/>
              </a:rPr>
              <a:t>Observed reconstruction</a:t>
            </a:r>
          </a:p>
        </p:txBody>
      </p:sp>
      <p:sp>
        <p:nvSpPr>
          <p:cNvPr id="41" name="TextBox 40"/>
          <p:cNvSpPr txBox="1"/>
          <p:nvPr/>
        </p:nvSpPr>
        <p:spPr>
          <a:xfrm>
            <a:off x="8244839" y="4372660"/>
            <a:ext cx="32308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Cached payload + two shares</a:t>
            </a:r>
          </a:p>
        </p:txBody>
      </p:sp>
      <p:sp>
        <p:nvSpPr>
          <p:cNvPr id="42" name="TextBox 41"/>
          <p:cNvSpPr txBox="1"/>
          <p:nvPr/>
        </p:nvSpPr>
        <p:spPr>
          <a:xfrm>
            <a:off x="8244839" y="4606747"/>
            <a:ext cx="32308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removed: exact bytes recovered. A</a:t>
            </a:r>
          </a:p>
        </p:txBody>
      </p:sp>
      <p:sp>
        <p:nvSpPr>
          <p:cNvPr id="43" name="TextBox 42"/>
          <p:cNvSpPr txBox="1"/>
          <p:nvPr/>
        </p:nvSpPr>
        <p:spPr>
          <a:xfrm>
            <a:off x="8244839" y="4840833"/>
            <a:ext cx="32308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third missing share is unavailable.</a:t>
            </a:r>
          </a:p>
        </p:txBody>
      </p:sp>
      <p:sp>
        <p:nvSpPr>
          <p:cNvPr id="44" name="Rounded Rectangle 4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5" name="TextBox 4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The DA core does not interpret Hive identities, truth values, attention balances or job state.</a:t>
            </a:r>
          </a:p>
        </p:txBody>
      </p:sp>
      <p:cxnSp>
        <p:nvCxnSpPr>
          <p:cNvPr id="46" name="Connector 45"/>
          <p:cNvCxnSpPr/>
          <p:nvPr/>
        </p:nvCxnSpPr>
        <p:spPr>
          <a:xfrm>
            <a:off x="548640" y="6393180"/>
            <a:ext cx="11094720" cy="0"/>
          </a:xfrm>
          <a:prstGeom prst="line">
            <a:avLst/>
          </a:prstGeom>
          <a:ln w="7620">
            <a:solidFill>
              <a:srgbClr val="C9D2D4"/>
            </a:solidFill>
          </a:ln>
          <a:effectLst/>
        </p:spPr>
      </p:cxnSp>
      <p:sp>
        <p:nvSpPr>
          <p:cNvPr id="47" name="TextBox 4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adapters/detta/src/main.rs · test_contract.py</a:t>
            </a:r>
          </a:p>
        </p:txBody>
      </p:sp>
      <p:sp>
        <p:nvSpPr>
          <p:cNvPr id="48" name="TextBox 4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38</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SUBSTITUTION AND COMPATIBILITY</a:t>
            </a:r>
          </a:p>
        </p:txBody>
      </p:sp>
      <p:sp>
        <p:nvSpPr>
          <p:cNvPr id="3" name="TextBox 2"/>
          <p:cNvSpPr txBox="1"/>
          <p:nvPr/>
        </p:nvSpPr>
        <p:spPr>
          <a:xfrm>
            <a:off x="533400" y="723900"/>
            <a:ext cx="11125200" cy="477926"/>
          </a:xfrm>
          <a:prstGeom prst="rect">
            <a:avLst/>
          </a:prstGeom>
          <a:noFill/>
        </p:spPr>
        <p:txBody>
          <a:bodyPr wrap="none" lIns="0" rIns="0" tIns="0" bIns="0" anchor="t" anchorCtr="0">
            <a:noAutofit/>
          </a:bodyPr>
          <a:lstStyle/>
          <a:p>
            <a:pPr algn="l">
              <a:lnSpc>
                <a:spcPct val="100000"/>
              </a:lnSpc>
              <a:spcBef>
                <a:spcPts val="0"/>
              </a:spcBef>
              <a:spcAft>
                <a:spcPts val="0"/>
              </a:spcAft>
            </a:pPr>
            <a:r>
              <a:rPr sz="2940" b="1">
                <a:solidFill>
                  <a:srgbClr val="102B3F"/>
                </a:solidFill>
                <a:latin typeface="DejaVu Sans"/>
              </a:rPr>
              <a:t>Replace the provider; keep the consumer’s contract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Interface, implementation, transport and placement remain independent choices.</a:t>
            </a:r>
          </a:p>
        </p:txBody>
      </p:sp>
      <p:sp>
        <p:nvSpPr>
          <p:cNvPr id="5" name="TextBox 4"/>
          <p:cNvSpPr txBox="1"/>
          <p:nvPr/>
        </p:nvSpPr>
        <p:spPr>
          <a:xfrm>
            <a:off x="670560" y="1790700"/>
            <a:ext cx="3642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ATOMSTORAGE IMPLEMENTATION</a:t>
            </a:r>
          </a:p>
        </p:txBody>
      </p:sp>
      <p:sp>
        <p:nvSpPr>
          <p:cNvPr id="6" name="TextBox 5"/>
          <p:cNvSpPr txBox="1"/>
          <p:nvPr/>
        </p:nvSpPr>
        <p:spPr>
          <a:xfrm>
            <a:off x="4556760" y="1790700"/>
            <a:ext cx="336041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IN-PROCESS BINDING</a:t>
            </a:r>
          </a:p>
        </p:txBody>
      </p:sp>
      <p:sp>
        <p:nvSpPr>
          <p:cNvPr id="7" name="TextBox 6"/>
          <p:cNvSpPr txBox="1"/>
          <p:nvPr/>
        </p:nvSpPr>
        <p:spPr>
          <a:xfrm>
            <a:off x="8161020" y="1790700"/>
            <a:ext cx="336041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PRIVATE STDIO BINDING</a:t>
            </a:r>
          </a:p>
        </p:txBody>
      </p:sp>
      <p:sp>
        <p:nvSpPr>
          <p:cNvPr id="8" name="Rounded Rectangle 7"/>
          <p:cNvSpPr/>
          <p:nvPr/>
        </p:nvSpPr>
        <p:spPr>
          <a:xfrm>
            <a:off x="548640" y="2110740"/>
            <a:ext cx="11094720" cy="784860"/>
          </a:xfrm>
          <a:prstGeom prst="roundRect">
            <a:avLst>
              <a:gd name="adj" fmla="val 5825"/>
            </a:avLst>
          </a:prstGeom>
          <a:solidFill>
            <a:srgbClr val="FFFFFF"/>
          </a:solidFill>
          <a:ln>
            <a:noFill/>
          </a:ln>
          <a:effectLst/>
        </p:spPr>
        <p:txBody>
          <a:bodyPr rtlCol="0" anchor="ctr"/>
          <a:lstStyle/>
          <a:p>
            <a:pPr algn="ctr"/>
          </a:p>
        </p:txBody>
      </p:sp>
      <p:sp>
        <p:nvSpPr>
          <p:cNvPr id="9" name="TextBox 8"/>
          <p:cNvSpPr txBox="1"/>
          <p:nvPr/>
        </p:nvSpPr>
        <p:spPr>
          <a:xfrm>
            <a:off x="670560" y="2240280"/>
            <a:ext cx="36423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Real DeTTa libraries</a:t>
            </a:r>
          </a:p>
        </p:txBody>
      </p:sp>
      <p:sp>
        <p:nvSpPr>
          <p:cNvPr id="10" name="TextBox 9"/>
          <p:cNvSpPr txBox="1"/>
          <p:nvPr/>
        </p:nvSpPr>
        <p:spPr>
          <a:xfrm>
            <a:off x="4556760" y="2240280"/>
            <a:ext cx="336041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PASS · independent workflow</a:t>
            </a:r>
          </a:p>
        </p:txBody>
      </p:sp>
      <p:sp>
        <p:nvSpPr>
          <p:cNvPr id="11" name="TextBox 10"/>
          <p:cNvSpPr txBox="1"/>
          <p:nvPr/>
        </p:nvSpPr>
        <p:spPr>
          <a:xfrm>
            <a:off x="8161020" y="2240280"/>
            <a:ext cx="336041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PASS · independent workflow</a:t>
            </a:r>
          </a:p>
        </p:txBody>
      </p:sp>
      <p:sp>
        <p:nvSpPr>
          <p:cNvPr id="12" name="Rounded Rectangle 11"/>
          <p:cNvSpPr/>
          <p:nvPr/>
        </p:nvSpPr>
        <p:spPr>
          <a:xfrm>
            <a:off x="548640" y="2933700"/>
            <a:ext cx="11094720" cy="784860"/>
          </a:xfrm>
          <a:prstGeom prst="roundRect">
            <a:avLst>
              <a:gd name="adj" fmla="val 5825"/>
            </a:avLst>
          </a:prstGeom>
          <a:solidFill>
            <a:srgbClr val="FFFFFF"/>
          </a:solidFill>
          <a:ln>
            <a:noFill/>
          </a:ln>
          <a:effectLst/>
        </p:spPr>
        <p:txBody>
          <a:bodyPr rtlCol="0" anchor="ctr"/>
          <a:lstStyle/>
          <a:p>
            <a:pPr algn="ctr"/>
          </a:p>
        </p:txBody>
      </p:sp>
      <p:sp>
        <p:nvSpPr>
          <p:cNvPr id="13" name="TextBox 12"/>
          <p:cNvSpPr txBox="1"/>
          <p:nvPr/>
        </p:nvSpPr>
        <p:spPr>
          <a:xfrm>
            <a:off x="670560" y="3063240"/>
            <a:ext cx="36423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Atomic-file fixture</a:t>
            </a:r>
          </a:p>
        </p:txBody>
      </p:sp>
      <p:sp>
        <p:nvSpPr>
          <p:cNvPr id="14" name="TextBox 13"/>
          <p:cNvSpPr txBox="1"/>
          <p:nvPr/>
        </p:nvSpPr>
        <p:spPr>
          <a:xfrm>
            <a:off x="4556760" y="3063240"/>
            <a:ext cx="336041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PASS · independent workflow</a:t>
            </a:r>
          </a:p>
        </p:txBody>
      </p:sp>
      <p:sp>
        <p:nvSpPr>
          <p:cNvPr id="15" name="TextBox 14"/>
          <p:cNvSpPr txBox="1"/>
          <p:nvPr/>
        </p:nvSpPr>
        <p:spPr>
          <a:xfrm>
            <a:off x="8161020" y="3063240"/>
            <a:ext cx="336041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PASS · independent workflow</a:t>
            </a:r>
          </a:p>
        </p:txBody>
      </p:sp>
      <p:sp>
        <p:nvSpPr>
          <p:cNvPr id="16" name="Rounded Rectangle 15"/>
          <p:cNvSpPr/>
          <p:nvPr/>
        </p:nvSpPr>
        <p:spPr>
          <a:xfrm>
            <a:off x="548640" y="4137660"/>
            <a:ext cx="5364480" cy="1379220"/>
          </a:xfrm>
          <a:prstGeom prst="roundRect">
            <a:avLst>
              <a:gd name="adj" fmla="val 7182"/>
            </a:avLst>
          </a:prstGeom>
          <a:solidFill>
            <a:srgbClr val="E4EBF5"/>
          </a:solidFill>
          <a:ln w="7620">
            <a:solidFill>
              <a:srgbClr val="315E9C"/>
            </a:solidFill>
          </a:ln>
          <a:effectLst/>
        </p:spPr>
        <p:txBody>
          <a:bodyPr rtlCol="0" anchor="ctr"/>
          <a:lstStyle/>
          <a:p>
            <a:pPr algn="ctr"/>
          </a:p>
        </p:txBody>
      </p:sp>
      <p:sp>
        <p:nvSpPr>
          <p:cNvPr id="17" name="TextBox 16"/>
          <p:cNvSpPr txBox="1"/>
          <p:nvPr/>
        </p:nvSpPr>
        <p:spPr>
          <a:xfrm>
            <a:off x="716280" y="4305300"/>
            <a:ext cx="502920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M2 C1 works without cognition</a:t>
            </a:r>
          </a:p>
        </p:txBody>
      </p:sp>
      <p:sp>
        <p:nvSpPr>
          <p:cNvPr id="18" name="TextBox 17"/>
          <p:cNvSpPr txBox="1"/>
          <p:nvPr/>
        </p:nvSpPr>
        <p:spPr>
          <a:xfrm>
            <a:off x="716280" y="4674108"/>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An independent, hostile port wrapper rejects</a:t>
            </a:r>
          </a:p>
        </p:txBody>
      </p:sp>
      <p:sp>
        <p:nvSpPr>
          <p:cNvPr id="19" name="TextBox 18"/>
          <p:cNvSpPr txBox="1"/>
          <p:nvPr/>
        </p:nvSpPr>
        <p:spPr>
          <a:xfrm>
            <a:off x="716280" y="4927701"/>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access to provider internals or foreign SQL.</a:t>
            </a:r>
          </a:p>
        </p:txBody>
      </p:sp>
      <p:sp>
        <p:nvSpPr>
          <p:cNvPr id="20" name="Rounded Rectangle 19"/>
          <p:cNvSpPr/>
          <p:nvPr/>
        </p:nvSpPr>
        <p:spPr>
          <a:xfrm>
            <a:off x="6096000" y="4137660"/>
            <a:ext cx="5547360" cy="1379220"/>
          </a:xfrm>
          <a:prstGeom prst="roundRect">
            <a:avLst>
              <a:gd name="adj" fmla="val 7182"/>
            </a:avLst>
          </a:prstGeom>
          <a:solidFill>
            <a:srgbClr val="DCEFE8"/>
          </a:solidFill>
          <a:ln w="7620">
            <a:solidFill>
              <a:srgbClr val="007C78"/>
            </a:solidFill>
          </a:ln>
          <a:effectLst/>
        </p:spPr>
        <p:txBody>
          <a:bodyPr rtlCol="0" anchor="ctr"/>
          <a:lstStyle/>
          <a:p>
            <a:pPr algn="ctr"/>
          </a:p>
        </p:txBody>
      </p:sp>
      <p:sp>
        <p:nvSpPr>
          <p:cNvPr id="21" name="TextBox 20"/>
          <p:cNvSpPr txBox="1"/>
          <p:nvPr/>
        </p:nvSpPr>
        <p:spPr>
          <a:xfrm>
            <a:off x="6263640" y="4305300"/>
            <a:ext cx="521208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Compatibility is explicit</a:t>
            </a:r>
          </a:p>
        </p:txBody>
      </p:sp>
      <p:sp>
        <p:nvSpPr>
          <p:cNvPr id="22" name="TextBox 21"/>
          <p:cNvSpPr txBox="1"/>
          <p:nvPr/>
        </p:nvSpPr>
        <p:spPr>
          <a:xfrm>
            <a:off x="6263640" y="4674108"/>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Select exact profiles, operations and descriptor</a:t>
            </a:r>
          </a:p>
        </p:txBody>
      </p:sp>
      <p:sp>
        <p:nvSpPr>
          <p:cNvPr id="23" name="TextBox 22"/>
          <p:cNvSpPr txBox="1"/>
          <p:nvPr/>
        </p:nvSpPr>
        <p:spPr>
          <a:xfrm>
            <a:off x="6263640" y="4927701"/>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tokens. Pin native source and binary identity.</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102B3F"/>
                </a:solidFill>
                <a:latin typeface="DejaVu Sans"/>
              </a:rPr>
              <a:t>Observed replacement uses fresh stores. Existing accepted state is not migrated.</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m11-swap-demo.json · memory_contracts.py</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38</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PLACEMENT · OWNERSHIP BEFORE ROUTING</a:t>
            </a:r>
          </a:p>
        </p:txBody>
      </p:sp>
      <p:sp>
        <p:nvSpPr>
          <p:cNvPr id="3" name="TextBox 2"/>
          <p:cNvSpPr txBox="1"/>
          <p:nvPr/>
        </p:nvSpPr>
        <p:spPr>
          <a:xfrm>
            <a:off x="533400" y="723900"/>
            <a:ext cx="11125200" cy="477926"/>
          </a:xfrm>
          <a:prstGeom prst="rect">
            <a:avLst/>
          </a:prstGeom>
          <a:noFill/>
        </p:spPr>
        <p:txBody>
          <a:bodyPr wrap="none" lIns="0" rIns="0" tIns="0" bIns="0" anchor="t" anchorCtr="0">
            <a:noAutofit/>
          </a:bodyPr>
          <a:lstStyle/>
          <a:p>
            <a:pPr algn="l">
              <a:lnSpc>
                <a:spcPct val="100000"/>
              </a:lnSpc>
              <a:spcBef>
                <a:spcPts val="0"/>
              </a:spcBef>
              <a:spcAft>
                <a:spcPts val="0"/>
              </a:spcAft>
            </a:pPr>
            <a:r>
              <a:rPr sz="2940" b="1">
                <a:solidFill>
                  <a:srgbClr val="102B3F"/>
                </a:solidFill>
                <a:latin typeface="DejaVu Sans"/>
              </a:rPr>
              <a:t>Private history stays in a separate local composition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authenticated actor selects an operator-configured scope; request data cannot nominate authority.</a:t>
            </a:r>
          </a:p>
        </p:txBody>
      </p:sp>
      <p:sp>
        <p:nvSpPr>
          <p:cNvPr id="5" name="Rounded Rectangle 4"/>
          <p:cNvSpPr/>
          <p:nvPr/>
        </p:nvSpPr>
        <p:spPr>
          <a:xfrm>
            <a:off x="548640" y="1844039"/>
            <a:ext cx="7010400" cy="3695700"/>
          </a:xfrm>
          <a:prstGeom prst="roundRect">
            <a:avLst>
              <a:gd name="adj" fmla="val 3298"/>
            </a:avLst>
          </a:prstGeom>
          <a:solidFill>
            <a:srgbClr val="DCEFE8"/>
          </a:solidFill>
          <a:ln w="7620">
            <a:solidFill>
              <a:srgbClr val="007C78"/>
            </a:solidFill>
          </a:ln>
          <a:effectLst/>
        </p:spPr>
        <p:txBody>
          <a:bodyPr rtlCol="0" anchor="ctr"/>
          <a:lstStyle/>
          <a:p>
            <a:pPr algn="ctr"/>
          </a:p>
        </p:txBody>
      </p:sp>
      <p:sp>
        <p:nvSpPr>
          <p:cNvPr id="6" name="TextBox 5"/>
          <p:cNvSpPr txBox="1"/>
          <p:nvPr/>
        </p:nvSpPr>
        <p:spPr>
          <a:xfrm>
            <a:off x="762000" y="2011680"/>
            <a:ext cx="653795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007C78"/>
                </a:solidFill>
                <a:latin typeface="DejaVu Sans"/>
              </a:rPr>
              <a:t>ONE PRINCIPAL · PRIVATE-LOCAL-ONLY</a:t>
            </a:r>
          </a:p>
        </p:txBody>
      </p:sp>
      <p:sp>
        <p:nvSpPr>
          <p:cNvPr id="7" name="Rounded Rectangle 6"/>
          <p:cNvSpPr/>
          <p:nvPr/>
        </p:nvSpPr>
        <p:spPr>
          <a:xfrm>
            <a:off x="762000" y="2423160"/>
            <a:ext cx="3124200" cy="1188720"/>
          </a:xfrm>
          <a:prstGeom prst="roundRect">
            <a:avLst>
              <a:gd name="adj" fmla="val 8333"/>
            </a:avLst>
          </a:prstGeom>
          <a:solidFill>
            <a:srgbClr val="FFFFFF"/>
          </a:solidFill>
          <a:ln w="7620">
            <a:solidFill>
              <a:srgbClr val="007C78"/>
            </a:solidFill>
          </a:ln>
          <a:effectLst/>
        </p:spPr>
        <p:txBody>
          <a:bodyPr rtlCol="0" anchor="ctr"/>
          <a:lstStyle/>
          <a:p>
            <a:pPr algn="ctr"/>
          </a:p>
        </p:txBody>
      </p:sp>
      <p:sp>
        <p:nvSpPr>
          <p:cNvPr id="8" name="TextBox 7"/>
          <p:cNvSpPr txBox="1"/>
          <p:nvPr/>
        </p:nvSpPr>
        <p:spPr>
          <a:xfrm>
            <a:off x="929640" y="2590800"/>
            <a:ext cx="27889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C1 owner</a:t>
            </a:r>
          </a:p>
        </p:txBody>
      </p:sp>
      <p:sp>
        <p:nvSpPr>
          <p:cNvPr id="9" name="TextBox 8"/>
          <p:cNvSpPr txBox="1"/>
          <p:nvPr/>
        </p:nvSpPr>
        <p:spPr>
          <a:xfrm>
            <a:off x="929640" y="295960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Events + head + delivery</a:t>
            </a:r>
          </a:p>
        </p:txBody>
      </p:sp>
      <p:sp>
        <p:nvSpPr>
          <p:cNvPr id="10" name="TextBox 9"/>
          <p:cNvSpPr txBox="1"/>
          <p:nvPr/>
        </p:nvSpPr>
        <p:spPr>
          <a:xfrm>
            <a:off x="929640" y="320344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intents</a:t>
            </a:r>
          </a:p>
        </p:txBody>
      </p:sp>
      <p:sp>
        <p:nvSpPr>
          <p:cNvPr id="11" name="Rounded Rectangle 10"/>
          <p:cNvSpPr/>
          <p:nvPr/>
        </p:nvSpPr>
        <p:spPr>
          <a:xfrm>
            <a:off x="4221480" y="2423160"/>
            <a:ext cx="3124200" cy="1188720"/>
          </a:xfrm>
          <a:prstGeom prst="roundRect">
            <a:avLst>
              <a:gd name="adj" fmla="val 8333"/>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4389120" y="2590800"/>
            <a:ext cx="27889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C2 owner</a:t>
            </a:r>
          </a:p>
        </p:txBody>
      </p:sp>
      <p:sp>
        <p:nvSpPr>
          <p:cNvPr id="13" name="TextBox 12"/>
          <p:cNvSpPr txBox="1"/>
          <p:nvPr/>
        </p:nvSpPr>
        <p:spPr>
          <a:xfrm>
            <a:off x="4389120" y="295960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Snapshots + attempts +</a:t>
            </a:r>
          </a:p>
        </p:txBody>
      </p:sp>
      <p:sp>
        <p:nvSpPr>
          <p:cNvPr id="14" name="TextBox 13"/>
          <p:cNvSpPr txBox="1"/>
          <p:nvPr/>
        </p:nvSpPr>
        <p:spPr>
          <a:xfrm>
            <a:off x="4389120" y="320344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decisions</a:t>
            </a:r>
          </a:p>
        </p:txBody>
      </p:sp>
      <p:sp>
        <p:nvSpPr>
          <p:cNvPr id="15" name="Rounded Rectangle 14"/>
          <p:cNvSpPr/>
          <p:nvPr/>
        </p:nvSpPr>
        <p:spPr>
          <a:xfrm>
            <a:off x="762000" y="3886200"/>
            <a:ext cx="3124200" cy="1188720"/>
          </a:xfrm>
          <a:prstGeom prst="roundRect">
            <a:avLst>
              <a:gd name="adj" fmla="val 8333"/>
            </a:avLst>
          </a:prstGeom>
          <a:solidFill>
            <a:srgbClr val="FFFFFF"/>
          </a:solidFill>
          <a:ln w="7620">
            <a:solidFill>
              <a:srgbClr val="007C78"/>
            </a:solidFill>
          </a:ln>
          <a:effectLst/>
        </p:spPr>
        <p:txBody>
          <a:bodyPr rtlCol="0" anchor="ctr"/>
          <a:lstStyle/>
          <a:p>
            <a:pPr algn="ctr"/>
          </a:p>
        </p:txBody>
      </p:sp>
      <p:sp>
        <p:nvSpPr>
          <p:cNvPr id="16" name="TextBox 15"/>
          <p:cNvSpPr txBox="1"/>
          <p:nvPr/>
        </p:nvSpPr>
        <p:spPr>
          <a:xfrm>
            <a:off x="929640" y="4053840"/>
            <a:ext cx="27889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Private AtomStorage</a:t>
            </a:r>
          </a:p>
        </p:txBody>
      </p:sp>
      <p:sp>
        <p:nvSpPr>
          <p:cNvPr id="17" name="TextBox 16"/>
          <p:cNvSpPr txBox="1"/>
          <p:nvPr/>
        </p:nvSpPr>
        <p:spPr>
          <a:xfrm>
            <a:off x="929640" y="442264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payloads +</a:t>
            </a:r>
          </a:p>
        </p:txBody>
      </p:sp>
      <p:sp>
        <p:nvSpPr>
          <p:cNvPr id="18" name="TextBox 17"/>
          <p:cNvSpPr txBox="1"/>
          <p:nvPr/>
        </p:nvSpPr>
        <p:spPr>
          <a:xfrm>
            <a:off x="929640" y="4666488"/>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metadata</a:t>
            </a:r>
          </a:p>
        </p:txBody>
      </p:sp>
      <p:sp>
        <p:nvSpPr>
          <p:cNvPr id="19" name="Rounded Rectangle 18"/>
          <p:cNvSpPr/>
          <p:nvPr/>
        </p:nvSpPr>
        <p:spPr>
          <a:xfrm>
            <a:off x="4221480" y="3886200"/>
            <a:ext cx="3124200" cy="1188720"/>
          </a:xfrm>
          <a:prstGeom prst="roundRect">
            <a:avLst>
              <a:gd name="adj" fmla="val 8333"/>
            </a:avLst>
          </a:prstGeom>
          <a:solidFill>
            <a:srgbClr val="FFFFFF"/>
          </a:solidFill>
          <a:ln w="7620">
            <a:solidFill>
              <a:srgbClr val="007C78"/>
            </a:solidFill>
          </a:ln>
          <a:effectLst/>
        </p:spPr>
        <p:txBody>
          <a:bodyPr rtlCol="0" anchor="ctr"/>
          <a:lstStyle/>
          <a:p>
            <a:pPr algn="ctr"/>
          </a:p>
        </p:txBody>
      </p:sp>
      <p:sp>
        <p:nvSpPr>
          <p:cNvPr id="20" name="TextBox 19"/>
          <p:cNvSpPr txBox="1"/>
          <p:nvPr/>
        </p:nvSpPr>
        <p:spPr>
          <a:xfrm>
            <a:off x="4389120" y="4053840"/>
            <a:ext cx="27889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Relay owner</a:t>
            </a:r>
          </a:p>
        </p:txBody>
      </p:sp>
      <p:sp>
        <p:nvSpPr>
          <p:cNvPr id="21" name="TextBox 20"/>
          <p:cNvSpPr txBox="1"/>
          <p:nvPr/>
        </p:nvSpPr>
        <p:spPr>
          <a:xfrm>
            <a:off x="4389120" y="4422647"/>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Exact handoff requests +</a:t>
            </a:r>
          </a:p>
        </p:txBody>
      </p:sp>
      <p:sp>
        <p:nvSpPr>
          <p:cNvPr id="22" name="TextBox 21"/>
          <p:cNvSpPr txBox="1"/>
          <p:nvPr/>
        </p:nvSpPr>
        <p:spPr>
          <a:xfrm>
            <a:off x="4389120" y="4666488"/>
            <a:ext cx="27889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progress</a:t>
            </a:r>
          </a:p>
        </p:txBody>
      </p:sp>
      <p:sp>
        <p:nvSpPr>
          <p:cNvPr id="23" name="Rounded Rectangle 22"/>
          <p:cNvSpPr/>
          <p:nvPr/>
        </p:nvSpPr>
        <p:spPr>
          <a:xfrm>
            <a:off x="7924800" y="1844039"/>
            <a:ext cx="371856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24" name="TextBox 23"/>
          <p:cNvSpPr txBox="1"/>
          <p:nvPr/>
        </p:nvSpPr>
        <p:spPr>
          <a:xfrm>
            <a:off x="8092439" y="2011680"/>
            <a:ext cx="3383279"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Public Hive receipt</a:t>
            </a:r>
          </a:p>
        </p:txBody>
      </p:sp>
      <p:sp>
        <p:nvSpPr>
          <p:cNvPr id="25" name="TextBox 24"/>
          <p:cNvSpPr txBox="1"/>
          <p:nvPr/>
        </p:nvSpPr>
        <p:spPr>
          <a:xfrm>
            <a:off x="8092439" y="2380487"/>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Generated counts + public</a:t>
            </a:r>
          </a:p>
        </p:txBody>
      </p:sp>
      <p:sp>
        <p:nvSpPr>
          <p:cNvPr id="26" name="TextBox 25"/>
          <p:cNvSpPr txBox="1"/>
          <p:nvPr/>
        </p:nvSpPr>
        <p:spPr>
          <a:xfrm>
            <a:off x="8092439" y="2634081"/>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command ID. Private lineage and</a:t>
            </a:r>
          </a:p>
        </p:txBody>
      </p:sp>
      <p:sp>
        <p:nvSpPr>
          <p:cNvPr id="27" name="TextBox 26"/>
          <p:cNvSpPr txBox="1"/>
          <p:nvPr/>
        </p:nvSpPr>
        <p:spPr>
          <a:xfrm>
            <a:off x="8092439" y="2887675"/>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content hashes stay local.</a:t>
            </a:r>
          </a:p>
        </p:txBody>
      </p:sp>
      <p:sp>
        <p:nvSpPr>
          <p:cNvPr id="28" name="Rounded Rectangle 27"/>
          <p:cNvSpPr/>
          <p:nvPr/>
        </p:nvSpPr>
        <p:spPr>
          <a:xfrm>
            <a:off x="7924800" y="3611879"/>
            <a:ext cx="3718560" cy="1927859"/>
          </a:xfrm>
          <a:prstGeom prst="roundRect">
            <a:avLst>
              <a:gd name="adj" fmla="val 5138"/>
            </a:avLst>
          </a:prstGeom>
          <a:solidFill>
            <a:srgbClr val="F3E7CE"/>
          </a:solidFill>
          <a:ln w="7620">
            <a:solidFill>
              <a:srgbClr val="A86A15"/>
            </a:solidFill>
          </a:ln>
          <a:effectLst/>
        </p:spPr>
        <p:txBody>
          <a:bodyPr rtlCol="0" anchor="ctr"/>
          <a:lstStyle/>
          <a:p>
            <a:pPr algn="ctr"/>
          </a:p>
        </p:txBody>
      </p:sp>
      <p:sp>
        <p:nvSpPr>
          <p:cNvPr id="29" name="TextBox 28"/>
          <p:cNvSpPr txBox="1"/>
          <p:nvPr/>
        </p:nvSpPr>
        <p:spPr>
          <a:xfrm>
            <a:off x="8092439" y="3779519"/>
            <a:ext cx="3383279"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A86A15"/>
                </a:solidFill>
                <a:latin typeface="DejaVu Sans"/>
              </a:rPr>
              <a:t>Shared services</a:t>
            </a:r>
          </a:p>
        </p:txBody>
      </p:sp>
      <p:sp>
        <p:nvSpPr>
          <p:cNvPr id="30" name="TextBox 29"/>
          <p:cNvSpPr txBox="1"/>
          <p:nvPr/>
        </p:nvSpPr>
        <p:spPr>
          <a:xfrm>
            <a:off x="8092439" y="4148328"/>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private mailbox, execution or</a:t>
            </a:r>
          </a:p>
        </p:txBody>
      </p:sp>
      <p:sp>
        <p:nvSpPr>
          <p:cNvPr id="31" name="TextBox 30"/>
          <p:cNvSpPr txBox="1"/>
          <p:nvPr/>
        </p:nvSpPr>
        <p:spPr>
          <a:xfrm>
            <a:off x="8092439" y="4401921"/>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chain port is constructed.</a:t>
            </a:r>
          </a:p>
        </p:txBody>
      </p:sp>
      <p:sp>
        <p:nvSpPr>
          <p:cNvPr id="32" name="TextBox 31"/>
          <p:cNvSpPr txBox="1"/>
          <p:nvPr/>
        </p:nvSpPr>
        <p:spPr>
          <a:xfrm>
            <a:off x="8092439" y="4655515"/>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Overlapping private/shared roots</a:t>
            </a:r>
          </a:p>
        </p:txBody>
      </p:sp>
      <p:sp>
        <p:nvSpPr>
          <p:cNvPr id="33" name="TextBox 32"/>
          <p:cNvSpPr txBox="1"/>
          <p:nvPr/>
        </p:nvSpPr>
        <p:spPr>
          <a:xfrm>
            <a:off x="8092439" y="4909108"/>
            <a:ext cx="33832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are rejected.</a:t>
            </a:r>
          </a:p>
        </p:txBody>
      </p:sp>
      <p:sp>
        <p:nvSpPr>
          <p:cNvPr id="34" name="Rounded Rectangle 3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5" name="TextBox 3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Privacy evidence covers the tested routes under a trusted host/operator with intact local files.</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private.py · episode_program/program.py</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38</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C1 + C2 LOCAL CONTRACTS</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Contract gaps are resolved before adding behavior</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Local v2 contracts state identity, ordering, numerical meaning and replay explicitly.</a:t>
            </a:r>
          </a:p>
        </p:txBody>
      </p:sp>
      <p:sp>
        <p:nvSpPr>
          <p:cNvPr id="5" name="TextBox 4"/>
          <p:cNvSpPr txBox="1"/>
          <p:nvPr/>
        </p:nvSpPr>
        <p:spPr>
          <a:xfrm>
            <a:off x="670560" y="1790700"/>
            <a:ext cx="2727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QUESTION</a:t>
            </a:r>
          </a:p>
        </p:txBody>
      </p:sp>
      <p:sp>
        <p:nvSpPr>
          <p:cNvPr id="6" name="TextBox 5"/>
          <p:cNvSpPr txBox="1"/>
          <p:nvPr/>
        </p:nvSpPr>
        <p:spPr>
          <a:xfrm>
            <a:off x="3642360" y="1790700"/>
            <a:ext cx="4023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EXPLICIT CHOICE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CONSEQUENCE</a:t>
            </a:r>
          </a:p>
        </p:txBody>
      </p:sp>
      <p:sp>
        <p:nvSpPr>
          <p:cNvPr id="8" name="Rounded Rectangle 7"/>
          <p:cNvSpPr/>
          <p:nvPr/>
        </p:nvSpPr>
        <p:spPr>
          <a:xfrm>
            <a:off x="548640" y="2110740"/>
            <a:ext cx="11094720" cy="579120"/>
          </a:xfrm>
          <a:prstGeom prst="roundRect">
            <a:avLst>
              <a:gd name="adj" fmla="val 7894"/>
            </a:avLst>
          </a:prstGeom>
          <a:solidFill>
            <a:srgbClr val="FFFFFF"/>
          </a:solidFill>
          <a:ln>
            <a:noFill/>
          </a:ln>
          <a:effectLst/>
        </p:spPr>
        <p:txBody>
          <a:bodyPr rtlCol="0" anchor="ctr"/>
          <a:lstStyle/>
          <a:p>
            <a:pPr algn="ctr"/>
          </a:p>
        </p:txBody>
      </p:sp>
      <p:sp>
        <p:nvSpPr>
          <p:cNvPr id="9" name="TextBox 8"/>
          <p:cNvSpPr txBox="1"/>
          <p:nvPr/>
        </p:nvSpPr>
        <p:spPr>
          <a:xfrm>
            <a:off x="670560" y="224028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identifies an</a:t>
            </a:r>
          </a:p>
        </p:txBody>
      </p:sp>
      <p:sp>
        <p:nvSpPr>
          <p:cNvPr id="10" name="TextBox 9"/>
          <p:cNvSpPr txBox="1"/>
          <p:nvPr/>
        </p:nvSpPr>
        <p:spPr>
          <a:xfrm>
            <a:off x="670560" y="2464612"/>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episode?</a:t>
            </a:r>
          </a:p>
        </p:txBody>
      </p:sp>
      <p:sp>
        <p:nvSpPr>
          <p:cNvPr id="11" name="TextBox 10"/>
          <p:cNvSpPr txBox="1"/>
          <p:nvPr/>
        </p:nvSpPr>
        <p:spPr>
          <a:xfrm>
            <a:off x="3642360" y="2240280"/>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Stable scope + ID; separate mutable head</a:t>
            </a:r>
          </a:p>
        </p:txBody>
      </p:sp>
      <p:sp>
        <p:nvSpPr>
          <p:cNvPr id="12" name="TextBox 11"/>
          <p:cNvSpPr txBox="1"/>
          <p:nvPr/>
        </p:nvSpPr>
        <p:spPr>
          <a:xfrm>
            <a:off x="7909559" y="2240280"/>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History grows without changing identity</a:t>
            </a:r>
          </a:p>
        </p:txBody>
      </p:sp>
      <p:sp>
        <p:nvSpPr>
          <p:cNvPr id="13" name="Rounded Rectangle 12"/>
          <p:cNvSpPr/>
          <p:nvPr/>
        </p:nvSpPr>
        <p:spPr>
          <a:xfrm>
            <a:off x="548640" y="2727960"/>
            <a:ext cx="11094720" cy="579120"/>
          </a:xfrm>
          <a:prstGeom prst="roundRect">
            <a:avLst>
              <a:gd name="adj" fmla="val 7894"/>
            </a:avLst>
          </a:prstGeom>
          <a:solidFill>
            <a:srgbClr val="FFFFFF"/>
          </a:solidFill>
          <a:ln>
            <a:noFill/>
          </a:ln>
          <a:effectLst/>
        </p:spPr>
        <p:txBody>
          <a:bodyPr rtlCol="0" anchor="ctr"/>
          <a:lstStyle/>
          <a:p>
            <a:pPr algn="ctr"/>
          </a:p>
        </p:txBody>
      </p:sp>
      <p:sp>
        <p:nvSpPr>
          <p:cNvPr id="14" name="TextBox 13"/>
          <p:cNvSpPr txBox="1"/>
          <p:nvPr/>
        </p:nvSpPr>
        <p:spPr>
          <a:xfrm>
            <a:off x="670560" y="285750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is a new occurrence?</a:t>
            </a:r>
          </a:p>
        </p:txBody>
      </p:sp>
      <p:sp>
        <p:nvSpPr>
          <p:cNvPr id="15" name="TextBox 14"/>
          <p:cNvSpPr txBox="1"/>
          <p:nvPr/>
        </p:nvSpPr>
        <p:spPr>
          <a:xfrm>
            <a:off x="3642360" y="2857500"/>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Occurrence ID distinct from bytes and key</a:t>
            </a:r>
          </a:p>
        </p:txBody>
      </p:sp>
      <p:sp>
        <p:nvSpPr>
          <p:cNvPr id="16" name="TextBox 15"/>
          <p:cNvSpPr txBox="1"/>
          <p:nvPr/>
        </p:nvSpPr>
        <p:spPr>
          <a:xfrm>
            <a:off x="7909559" y="2857500"/>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Same bytes can describe distinct events</a:t>
            </a:r>
          </a:p>
        </p:txBody>
      </p:sp>
      <p:sp>
        <p:nvSpPr>
          <p:cNvPr id="17" name="Rounded Rectangle 16"/>
          <p:cNvSpPr/>
          <p:nvPr/>
        </p:nvSpPr>
        <p:spPr>
          <a:xfrm>
            <a:off x="548640" y="3345179"/>
            <a:ext cx="11094720" cy="579120"/>
          </a:xfrm>
          <a:prstGeom prst="roundRect">
            <a:avLst>
              <a:gd name="adj" fmla="val 7894"/>
            </a:avLst>
          </a:prstGeom>
          <a:solidFill>
            <a:srgbClr val="FFFFFF"/>
          </a:solidFill>
          <a:ln>
            <a:noFill/>
          </a:ln>
          <a:effectLst/>
        </p:spPr>
        <p:txBody>
          <a:bodyPr rtlCol="0" anchor="ctr"/>
          <a:lstStyle/>
          <a:p>
            <a:pPr algn="ctr"/>
          </a:p>
        </p:txBody>
      </p:sp>
      <p:sp>
        <p:nvSpPr>
          <p:cNvPr id="18" name="TextBox 17"/>
          <p:cNvSpPr txBox="1"/>
          <p:nvPr/>
        </p:nvSpPr>
        <p:spPr>
          <a:xfrm>
            <a:off x="670560" y="3474719"/>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counts as evidence?</a:t>
            </a:r>
          </a:p>
        </p:txBody>
      </p:sp>
      <p:sp>
        <p:nvSpPr>
          <p:cNvPr id="19" name="TextBox 18"/>
          <p:cNvSpPr txBox="1"/>
          <p:nvPr/>
        </p:nvSpPr>
        <p:spPr>
          <a:xfrm>
            <a:off x="3642360" y="3474719"/>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Explicit assessment + admitted provenance</a:t>
            </a:r>
          </a:p>
        </p:txBody>
      </p:sp>
      <p:sp>
        <p:nvSpPr>
          <p:cNvPr id="20" name="TextBox 19"/>
          <p:cNvSpPr txBox="1"/>
          <p:nvPr/>
        </p:nvSpPr>
        <p:spPr>
          <a:xfrm>
            <a:off x="7909559" y="3474719"/>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 report alone has no truth value</a:t>
            </a:r>
          </a:p>
        </p:txBody>
      </p:sp>
      <p:sp>
        <p:nvSpPr>
          <p:cNvPr id="21" name="Rounded Rectangle 20"/>
          <p:cNvSpPr/>
          <p:nvPr/>
        </p:nvSpPr>
        <p:spPr>
          <a:xfrm>
            <a:off x="548640" y="3962400"/>
            <a:ext cx="11094720" cy="579120"/>
          </a:xfrm>
          <a:prstGeom prst="roundRect">
            <a:avLst>
              <a:gd name="adj" fmla="val 7894"/>
            </a:avLst>
          </a:prstGeom>
          <a:solidFill>
            <a:srgbClr val="FFFFFF"/>
          </a:solidFill>
          <a:ln>
            <a:noFill/>
          </a:ln>
          <a:effectLst/>
        </p:spPr>
        <p:txBody>
          <a:bodyPr rtlCol="0" anchor="ctr"/>
          <a:lstStyle/>
          <a:p>
            <a:pPr algn="ctr"/>
          </a:p>
        </p:txBody>
      </p:sp>
      <p:sp>
        <p:nvSpPr>
          <p:cNvPr id="22" name="TextBox 21"/>
          <p:cNvSpPr txBox="1"/>
          <p:nvPr/>
        </p:nvSpPr>
        <p:spPr>
          <a:xfrm>
            <a:off x="670560" y="409194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claim is revised?</a:t>
            </a:r>
          </a:p>
        </p:txBody>
      </p:sp>
      <p:sp>
        <p:nvSpPr>
          <p:cNvPr id="23" name="TextBox 22"/>
          <p:cNvSpPr txBox="1"/>
          <p:nvPr/>
        </p:nvSpPr>
        <p:spPr>
          <a:xfrm>
            <a:off x="3642360" y="4091940"/>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Exact predicate, ordered arguments, polarity,</a:t>
            </a:r>
          </a:p>
        </p:txBody>
      </p:sp>
      <p:sp>
        <p:nvSpPr>
          <p:cNvPr id="24" name="TextBox 23"/>
          <p:cNvSpPr txBox="1"/>
          <p:nvPr/>
        </p:nvSpPr>
        <p:spPr>
          <a:xfrm>
            <a:off x="3642360" y="4316272"/>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context</a:t>
            </a:r>
          </a:p>
        </p:txBody>
      </p:sp>
      <p:sp>
        <p:nvSpPr>
          <p:cNvPr id="25" name="TextBox 24"/>
          <p:cNvSpPr txBox="1"/>
          <p:nvPr/>
        </p:nvSpPr>
        <p:spPr>
          <a:xfrm>
            <a:off x="7909559" y="4091940"/>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hidden semantic or negation</a:t>
            </a:r>
          </a:p>
        </p:txBody>
      </p:sp>
      <p:sp>
        <p:nvSpPr>
          <p:cNvPr id="26" name="TextBox 25"/>
          <p:cNvSpPr txBox="1"/>
          <p:nvPr/>
        </p:nvSpPr>
        <p:spPr>
          <a:xfrm>
            <a:off x="7909559" y="4316272"/>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conversion</a:t>
            </a:r>
          </a:p>
        </p:txBody>
      </p:sp>
      <p:sp>
        <p:nvSpPr>
          <p:cNvPr id="27" name="Rounded Rectangle 26"/>
          <p:cNvSpPr/>
          <p:nvPr/>
        </p:nvSpPr>
        <p:spPr>
          <a:xfrm>
            <a:off x="548640" y="4579620"/>
            <a:ext cx="11094720" cy="579120"/>
          </a:xfrm>
          <a:prstGeom prst="roundRect">
            <a:avLst>
              <a:gd name="adj" fmla="val 7894"/>
            </a:avLst>
          </a:prstGeom>
          <a:solidFill>
            <a:srgbClr val="FFFFFF"/>
          </a:solidFill>
          <a:ln>
            <a:noFill/>
          </a:ln>
          <a:effectLst/>
        </p:spPr>
        <p:txBody>
          <a:bodyPr rtlCol="0" anchor="ctr"/>
          <a:lstStyle/>
          <a:p>
            <a:pPr algn="ctr"/>
          </a:p>
        </p:txBody>
      </p:sp>
      <p:sp>
        <p:nvSpPr>
          <p:cNvPr id="28" name="TextBox 27"/>
          <p:cNvSpPr txBox="1"/>
          <p:nvPr/>
        </p:nvSpPr>
        <p:spPr>
          <a:xfrm>
            <a:off x="670560" y="470916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did submit do?</a:t>
            </a:r>
          </a:p>
        </p:txBody>
      </p:sp>
      <p:sp>
        <p:nvSpPr>
          <p:cNvPr id="29" name="TextBox 28"/>
          <p:cNvSpPr txBox="1"/>
          <p:nvPr/>
        </p:nvSpPr>
        <p:spPr>
          <a:xfrm>
            <a:off x="3642360" y="4709160"/>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Admission outcome + numerical outcome</a:t>
            </a:r>
          </a:p>
        </p:txBody>
      </p:sp>
      <p:sp>
        <p:nvSpPr>
          <p:cNvPr id="30" name="TextBox 29"/>
          <p:cNvSpPr txBox="1"/>
          <p:nvPr/>
        </p:nvSpPr>
        <p:spPr>
          <a:xfrm>
            <a:off x="7909559" y="4709160"/>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Accepted evidence may stay an</a:t>
            </a:r>
          </a:p>
        </p:txBody>
      </p:sp>
      <p:sp>
        <p:nvSpPr>
          <p:cNvPr id="31" name="TextBox 30"/>
          <p:cNvSpPr txBox="1"/>
          <p:nvPr/>
        </p:nvSpPr>
        <p:spPr>
          <a:xfrm>
            <a:off x="7909559" y="4933492"/>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alternative</a:t>
            </a:r>
          </a:p>
        </p:txBody>
      </p:sp>
      <p:sp>
        <p:nvSpPr>
          <p:cNvPr id="32" name="Rounded Rectangle 31"/>
          <p:cNvSpPr/>
          <p:nvPr/>
        </p:nvSpPr>
        <p:spPr>
          <a:xfrm>
            <a:off x="548640" y="5196840"/>
            <a:ext cx="11094720" cy="579120"/>
          </a:xfrm>
          <a:prstGeom prst="roundRect">
            <a:avLst>
              <a:gd name="adj" fmla="val 7894"/>
            </a:avLst>
          </a:prstGeom>
          <a:solidFill>
            <a:srgbClr val="FFFFFF"/>
          </a:solidFill>
          <a:ln>
            <a:noFill/>
          </a:ln>
          <a:effectLst/>
        </p:spPr>
        <p:txBody>
          <a:bodyPr rtlCol="0" anchor="ctr"/>
          <a:lstStyle/>
          <a:p>
            <a:pPr algn="ctr"/>
          </a:p>
        </p:txBody>
      </p:sp>
      <p:sp>
        <p:nvSpPr>
          <p:cNvPr id="33" name="TextBox 32"/>
          <p:cNvSpPr txBox="1"/>
          <p:nvPr/>
        </p:nvSpPr>
        <p:spPr>
          <a:xfrm>
            <a:off x="670560" y="532638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What is retried?</a:t>
            </a:r>
          </a:p>
        </p:txBody>
      </p:sp>
      <p:sp>
        <p:nvSpPr>
          <p:cNvPr id="34" name="TextBox 33"/>
          <p:cNvSpPr txBox="1"/>
          <p:nvPr/>
        </p:nvSpPr>
        <p:spPr>
          <a:xfrm>
            <a:off x="3642360" y="5326380"/>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Full semantic input + pinned runtime</a:t>
            </a:r>
          </a:p>
        </p:txBody>
      </p:sp>
      <p:sp>
        <p:nvSpPr>
          <p:cNvPr id="35" name="TextBox 34"/>
          <p:cNvSpPr txBox="1"/>
          <p:nvPr/>
        </p:nvSpPr>
        <p:spPr>
          <a:xfrm>
            <a:off x="3642360" y="5550712"/>
            <a:ext cx="4023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selection</a:t>
            </a:r>
          </a:p>
        </p:txBody>
      </p:sp>
      <p:sp>
        <p:nvSpPr>
          <p:cNvPr id="36" name="TextBox 35"/>
          <p:cNvSpPr txBox="1"/>
          <p:nvPr/>
        </p:nvSpPr>
        <p:spPr>
          <a:xfrm>
            <a:off x="7909559" y="5326380"/>
            <a:ext cx="3611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Same key cannot acquire new meaning</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memory_types.py · memory_contracts.py · ADR 008/009</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13 / 38</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EPISODIC MEMORY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C1: one occurrence, one position in the story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Immutable event atoms sit behind a stable episode identity and a committed sequence.</a:t>
            </a:r>
          </a:p>
        </p:txBody>
      </p:sp>
      <p:sp>
        <p:nvSpPr>
          <p:cNvPr id="5" name="Rounded Rectangle 4"/>
          <p:cNvSpPr/>
          <p:nvPr/>
        </p:nvSpPr>
        <p:spPr>
          <a:xfrm>
            <a:off x="548640" y="1798320"/>
            <a:ext cx="2533635" cy="304800"/>
          </a:xfrm>
          <a:prstGeom prst="roundRect">
            <a:avLst>
              <a:gd name="adj" fmla="val 17500"/>
            </a:avLst>
          </a:prstGeom>
          <a:solidFill>
            <a:srgbClr val="E4EBF5"/>
          </a:solidFill>
          <a:ln>
            <a:noFill/>
          </a:ln>
          <a:effectLst/>
        </p:spPr>
        <p:txBody>
          <a:bodyPr rtlCol="0" anchor="ctr"/>
          <a:lstStyle/>
          <a:p>
            <a:pPr algn="ctr"/>
          </a:p>
        </p:txBody>
      </p:sp>
      <p:sp>
        <p:nvSpPr>
          <p:cNvPr id="6" name="TextBox 5"/>
          <p:cNvSpPr txBox="1"/>
          <p:nvPr/>
        </p:nvSpPr>
        <p:spPr>
          <a:xfrm>
            <a:off x="655320" y="1851659"/>
            <a:ext cx="2343135"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315E9C"/>
                </a:solidFill>
                <a:latin typeface="DejaVu Sans"/>
              </a:rPr>
              <a:t>EpisodeRef = scope + ID</a:t>
            </a:r>
          </a:p>
        </p:txBody>
      </p:sp>
      <p:sp>
        <p:nvSpPr>
          <p:cNvPr id="7" name="Rounded Rectangle 6"/>
          <p:cNvSpPr/>
          <p:nvPr/>
        </p:nvSpPr>
        <p:spPr>
          <a:xfrm>
            <a:off x="548640" y="2453640"/>
            <a:ext cx="2636520" cy="1386840"/>
          </a:xfrm>
          <a:prstGeom prst="roundRect">
            <a:avLst>
              <a:gd name="adj" fmla="val 7142"/>
            </a:avLst>
          </a:prstGeom>
          <a:solidFill>
            <a:srgbClr val="FFFFFF"/>
          </a:solidFill>
          <a:ln w="7620">
            <a:solidFill>
              <a:srgbClr val="315E9C"/>
            </a:solidFill>
          </a:ln>
          <a:effectLst/>
        </p:spPr>
        <p:txBody>
          <a:bodyPr rtlCol="0" anchor="ctr"/>
          <a:lstStyle/>
          <a:p>
            <a:pPr algn="ctr"/>
          </a:p>
        </p:txBody>
      </p:sp>
      <p:sp>
        <p:nvSpPr>
          <p:cNvPr id="8" name="TextBox 7"/>
          <p:cNvSpPr txBox="1"/>
          <p:nvPr/>
        </p:nvSpPr>
        <p:spPr>
          <a:xfrm>
            <a:off x="716280" y="2621280"/>
            <a:ext cx="230124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1 · Report</a:t>
            </a:r>
          </a:p>
        </p:txBody>
      </p:sp>
      <p:sp>
        <p:nvSpPr>
          <p:cNvPr id="9" name="TextBox 8"/>
          <p:cNvSpPr txBox="1"/>
          <p:nvPr/>
        </p:nvSpPr>
        <p:spPr>
          <a:xfrm>
            <a:off x="716280" y="2980334"/>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numerical claim</a:t>
            </a:r>
          </a:p>
        </p:txBody>
      </p:sp>
      <p:cxnSp>
        <p:nvCxnSpPr>
          <p:cNvPr id="10" name="Connector 9"/>
          <p:cNvCxnSpPr/>
          <p:nvPr/>
        </p:nvCxnSpPr>
        <p:spPr>
          <a:xfrm>
            <a:off x="3185160" y="3147060"/>
            <a:ext cx="144780" cy="0"/>
          </a:xfrm>
          <a:prstGeom prst="line">
            <a:avLst/>
          </a:prstGeom>
          <a:ln w="15240">
            <a:solidFill>
              <a:srgbClr val="315E9C"/>
            </a:solidFill>
          </a:ln>
          <a:effectLst/>
        </p:spPr>
      </p:cxnSp>
      <p:sp>
        <p:nvSpPr>
          <p:cNvPr id="11" name="Freeform 10"/>
          <p:cNvSpPr/>
          <p:nvPr/>
        </p:nvSpPr>
        <p:spPr>
          <a:xfrm>
            <a:off x="3230880" y="31089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2" name="Rounded Rectangle 11"/>
          <p:cNvSpPr/>
          <p:nvPr/>
        </p:nvSpPr>
        <p:spPr>
          <a:xfrm>
            <a:off x="3368040" y="2453640"/>
            <a:ext cx="2636520" cy="1386840"/>
          </a:xfrm>
          <a:prstGeom prst="roundRect">
            <a:avLst>
              <a:gd name="adj" fmla="val 7142"/>
            </a:avLst>
          </a:prstGeom>
          <a:solidFill>
            <a:srgbClr val="FFFFFF"/>
          </a:solidFill>
          <a:ln w="7620">
            <a:solidFill>
              <a:srgbClr val="315E9C"/>
            </a:solidFill>
          </a:ln>
          <a:effectLst/>
        </p:spPr>
        <p:txBody>
          <a:bodyPr rtlCol="0" anchor="ctr"/>
          <a:lstStyle/>
          <a:p>
            <a:pPr algn="ctr"/>
          </a:p>
        </p:txBody>
      </p:sp>
      <p:sp>
        <p:nvSpPr>
          <p:cNvPr id="13" name="TextBox 12"/>
          <p:cNvSpPr txBox="1"/>
          <p:nvPr/>
        </p:nvSpPr>
        <p:spPr>
          <a:xfrm>
            <a:off x="3535679" y="2621280"/>
            <a:ext cx="230124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2 · Assessment</a:t>
            </a:r>
          </a:p>
        </p:txBody>
      </p:sp>
      <p:sp>
        <p:nvSpPr>
          <p:cNvPr id="14" name="TextBox 13"/>
          <p:cNvSpPr txBox="1"/>
          <p:nvPr/>
        </p:nvSpPr>
        <p:spPr>
          <a:xfrm>
            <a:off x="3535679" y="2980334"/>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Explicit strength /</a:t>
            </a:r>
          </a:p>
        </p:txBody>
      </p:sp>
      <p:sp>
        <p:nvSpPr>
          <p:cNvPr id="15" name="TextBox 14"/>
          <p:cNvSpPr txBox="1"/>
          <p:nvPr/>
        </p:nvSpPr>
        <p:spPr>
          <a:xfrm>
            <a:off x="3535679" y="3233928"/>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confidence</a:t>
            </a:r>
          </a:p>
        </p:txBody>
      </p:sp>
      <p:cxnSp>
        <p:nvCxnSpPr>
          <p:cNvPr id="16" name="Connector 15"/>
          <p:cNvCxnSpPr/>
          <p:nvPr/>
        </p:nvCxnSpPr>
        <p:spPr>
          <a:xfrm>
            <a:off x="6004559" y="3147060"/>
            <a:ext cx="144781" cy="0"/>
          </a:xfrm>
          <a:prstGeom prst="line">
            <a:avLst/>
          </a:prstGeom>
          <a:ln w="15240">
            <a:solidFill>
              <a:srgbClr val="315E9C"/>
            </a:solidFill>
          </a:ln>
          <a:effectLst/>
        </p:spPr>
      </p:cxnSp>
      <p:sp>
        <p:nvSpPr>
          <p:cNvPr id="17" name="Freeform 16"/>
          <p:cNvSpPr/>
          <p:nvPr/>
        </p:nvSpPr>
        <p:spPr>
          <a:xfrm>
            <a:off x="6050280" y="31089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8" name="Rounded Rectangle 17"/>
          <p:cNvSpPr/>
          <p:nvPr/>
        </p:nvSpPr>
        <p:spPr>
          <a:xfrm>
            <a:off x="6187440" y="2453640"/>
            <a:ext cx="2636520" cy="1386840"/>
          </a:xfrm>
          <a:prstGeom prst="roundRect">
            <a:avLst>
              <a:gd name="adj" fmla="val 7142"/>
            </a:avLst>
          </a:prstGeom>
          <a:solidFill>
            <a:srgbClr val="FFFFFF"/>
          </a:solidFill>
          <a:ln w="7620">
            <a:solidFill>
              <a:srgbClr val="315E9C"/>
            </a:solidFill>
          </a:ln>
          <a:effectLst/>
        </p:spPr>
        <p:txBody>
          <a:bodyPr rtlCol="0" anchor="ctr"/>
          <a:lstStyle/>
          <a:p>
            <a:pPr algn="ctr"/>
          </a:p>
        </p:txBody>
      </p:sp>
      <p:sp>
        <p:nvSpPr>
          <p:cNvPr id="19" name="TextBox 18"/>
          <p:cNvSpPr txBox="1"/>
          <p:nvPr/>
        </p:nvSpPr>
        <p:spPr>
          <a:xfrm>
            <a:off x="6355080" y="2621280"/>
            <a:ext cx="230124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3 · Copy</a:t>
            </a:r>
          </a:p>
        </p:txBody>
      </p:sp>
      <p:sp>
        <p:nvSpPr>
          <p:cNvPr id="20" name="TextBox 19"/>
          <p:cNvSpPr txBox="1"/>
          <p:nvPr/>
        </p:nvSpPr>
        <p:spPr>
          <a:xfrm>
            <a:off x="6355080" y="2980334"/>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Inherits original roots</a:t>
            </a:r>
          </a:p>
        </p:txBody>
      </p:sp>
      <p:cxnSp>
        <p:nvCxnSpPr>
          <p:cNvPr id="21" name="Connector 20"/>
          <p:cNvCxnSpPr/>
          <p:nvPr/>
        </p:nvCxnSpPr>
        <p:spPr>
          <a:xfrm>
            <a:off x="8823960" y="3147060"/>
            <a:ext cx="144780" cy="0"/>
          </a:xfrm>
          <a:prstGeom prst="line">
            <a:avLst/>
          </a:prstGeom>
          <a:ln w="15240">
            <a:solidFill>
              <a:srgbClr val="315E9C"/>
            </a:solidFill>
          </a:ln>
          <a:effectLst/>
        </p:spPr>
      </p:cxnSp>
      <p:sp>
        <p:nvSpPr>
          <p:cNvPr id="22" name="Freeform 21"/>
          <p:cNvSpPr/>
          <p:nvPr/>
        </p:nvSpPr>
        <p:spPr>
          <a:xfrm>
            <a:off x="8869680" y="31089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3" name="Rounded Rectangle 22"/>
          <p:cNvSpPr/>
          <p:nvPr/>
        </p:nvSpPr>
        <p:spPr>
          <a:xfrm>
            <a:off x="9006840" y="2453640"/>
            <a:ext cx="2636520" cy="1386840"/>
          </a:xfrm>
          <a:prstGeom prst="roundRect">
            <a:avLst>
              <a:gd name="adj" fmla="val 7142"/>
            </a:avLst>
          </a:prstGeom>
          <a:solidFill>
            <a:srgbClr val="FFFFFF"/>
          </a:solidFill>
          <a:ln w="7620">
            <a:solidFill>
              <a:srgbClr val="315E9C"/>
            </a:solidFill>
          </a:ln>
          <a:effectLst/>
        </p:spPr>
        <p:txBody>
          <a:bodyPr rtlCol="0" anchor="ctr"/>
          <a:lstStyle/>
          <a:p>
            <a:pPr algn="ctr"/>
          </a:p>
        </p:txBody>
      </p:sp>
      <p:sp>
        <p:nvSpPr>
          <p:cNvPr id="24" name="TextBox 23"/>
          <p:cNvSpPr txBox="1"/>
          <p:nvPr/>
        </p:nvSpPr>
        <p:spPr>
          <a:xfrm>
            <a:off x="9174480" y="2621280"/>
            <a:ext cx="230124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4 · Contrary</a:t>
            </a:r>
          </a:p>
        </p:txBody>
      </p:sp>
      <p:sp>
        <p:nvSpPr>
          <p:cNvPr id="25" name="TextBox 24"/>
          <p:cNvSpPr txBox="1"/>
          <p:nvPr/>
        </p:nvSpPr>
        <p:spPr>
          <a:xfrm>
            <a:off x="9174480" y="2980334"/>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Kept in the history</a:t>
            </a:r>
          </a:p>
        </p:txBody>
      </p:sp>
      <p:sp>
        <p:nvSpPr>
          <p:cNvPr id="26" name="Rounded Rectangle 25"/>
          <p:cNvSpPr/>
          <p:nvPr/>
        </p:nvSpPr>
        <p:spPr>
          <a:xfrm>
            <a:off x="548640" y="4236720"/>
            <a:ext cx="5364480" cy="1287780"/>
          </a:xfrm>
          <a:prstGeom prst="roundRect">
            <a:avLst>
              <a:gd name="adj" fmla="val 7692"/>
            </a:avLst>
          </a:prstGeom>
          <a:solidFill>
            <a:srgbClr val="DCEFE8"/>
          </a:solidFill>
          <a:ln w="7620">
            <a:solidFill>
              <a:srgbClr val="007C78"/>
            </a:solidFill>
          </a:ln>
          <a:effectLst/>
        </p:spPr>
        <p:txBody>
          <a:bodyPr rtlCol="0" anchor="ctr"/>
          <a:lstStyle/>
          <a:p>
            <a:pPr algn="ctr"/>
          </a:p>
        </p:txBody>
      </p:sp>
      <p:sp>
        <p:nvSpPr>
          <p:cNvPr id="27" name="TextBox 26"/>
          <p:cNvSpPr txBox="1"/>
          <p:nvPr/>
        </p:nvSpPr>
        <p:spPr>
          <a:xfrm>
            <a:off x="716280" y="4404360"/>
            <a:ext cx="502920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007C78"/>
                </a:solidFill>
                <a:latin typeface="DejaVu Sans"/>
              </a:rPr>
              <a:t>Same occurrence + same body</a:t>
            </a:r>
          </a:p>
        </p:txBody>
      </p:sp>
      <p:sp>
        <p:nvSpPr>
          <p:cNvPr id="28" name="TextBox 27"/>
          <p:cNvSpPr txBox="1"/>
          <p:nvPr/>
        </p:nvSpPr>
        <p:spPr>
          <a:xfrm>
            <a:off x="716280" y="4763414"/>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Return the original receipt, even under a new</a:t>
            </a:r>
          </a:p>
        </p:txBody>
      </p:sp>
      <p:sp>
        <p:nvSpPr>
          <p:cNvPr id="29" name="TextBox 28"/>
          <p:cNvSpPr txBox="1"/>
          <p:nvPr/>
        </p:nvSpPr>
        <p:spPr>
          <a:xfrm>
            <a:off x="716280" y="5017008"/>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request key. The head does not advance.</a:t>
            </a:r>
          </a:p>
        </p:txBody>
      </p:sp>
      <p:sp>
        <p:nvSpPr>
          <p:cNvPr id="30" name="Rounded Rectangle 29"/>
          <p:cNvSpPr/>
          <p:nvPr/>
        </p:nvSpPr>
        <p:spPr>
          <a:xfrm>
            <a:off x="6096000" y="4236720"/>
            <a:ext cx="5547360" cy="1287780"/>
          </a:xfrm>
          <a:prstGeom prst="roundRect">
            <a:avLst>
              <a:gd name="adj" fmla="val 7692"/>
            </a:avLst>
          </a:prstGeom>
          <a:solidFill>
            <a:srgbClr val="F3E7CE"/>
          </a:solidFill>
          <a:ln w="7620">
            <a:solidFill>
              <a:srgbClr val="A86A15"/>
            </a:solidFill>
          </a:ln>
          <a:effectLst/>
        </p:spPr>
        <p:txBody>
          <a:bodyPr rtlCol="0" anchor="ctr"/>
          <a:lstStyle/>
          <a:p>
            <a:pPr algn="ctr"/>
          </a:p>
        </p:txBody>
      </p:sp>
      <p:sp>
        <p:nvSpPr>
          <p:cNvPr id="31" name="TextBox 30"/>
          <p:cNvSpPr txBox="1"/>
          <p:nvPr/>
        </p:nvSpPr>
        <p:spPr>
          <a:xfrm>
            <a:off x="6263640" y="4404360"/>
            <a:ext cx="521208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A86A15"/>
                </a:solidFill>
                <a:latin typeface="DejaVu Sans"/>
              </a:rPr>
              <a:t>Same occurrence + changed meaning</a:t>
            </a:r>
          </a:p>
        </p:txBody>
      </p:sp>
      <p:sp>
        <p:nvSpPr>
          <p:cNvPr id="32" name="TextBox 31"/>
          <p:cNvSpPr txBox="1"/>
          <p:nvPr/>
        </p:nvSpPr>
        <p:spPr>
          <a:xfrm>
            <a:off x="6263640" y="4753660"/>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Conflict on body or provenance changes. Distinct</a:t>
            </a:r>
          </a:p>
        </p:txBody>
      </p:sp>
      <p:sp>
        <p:nvSpPr>
          <p:cNvPr id="33" name="TextBox 32"/>
          <p:cNvSpPr txBox="1"/>
          <p:nvPr/>
        </p:nvSpPr>
        <p:spPr>
          <a:xfrm>
            <a:off x="6263640" y="5007254"/>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real occurrences may share identical bytes.</a:t>
            </a:r>
          </a:p>
        </p:txBody>
      </p:sp>
      <p:sp>
        <p:nvSpPr>
          <p:cNvPr id="34" name="Rounded Rectangle 3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5" name="TextBox 3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C1 commits event + evidence intent together; AtomStorage has already committed independently.</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episodes.py · tests/test_m2.py</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14 / 38</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BELIEF REVISION</a:t>
            </a:r>
          </a:p>
        </p:txBody>
      </p:sp>
      <p:sp>
        <p:nvSpPr>
          <p:cNvPr id="3" name="TextBox 2"/>
          <p:cNvSpPr txBox="1"/>
          <p:nvPr/>
        </p:nvSpPr>
        <p:spPr>
          <a:xfrm>
            <a:off x="533400" y="723900"/>
            <a:ext cx="11125200" cy="438912"/>
          </a:xfrm>
          <a:prstGeom prst="rect">
            <a:avLst/>
          </a:prstGeom>
          <a:noFill/>
        </p:spPr>
        <p:txBody>
          <a:bodyPr wrap="none" lIns="0" rIns="0" tIns="0" bIns="0" anchor="t" anchorCtr="0">
            <a:noAutofit/>
          </a:bodyPr>
          <a:lstStyle/>
          <a:p>
            <a:pPr algn="l">
              <a:lnSpc>
                <a:spcPct val="100000"/>
              </a:lnSpc>
              <a:spcBef>
                <a:spcPts val="0"/>
              </a:spcBef>
              <a:spcAft>
                <a:spcPts val="0"/>
              </a:spcAft>
            </a:pPr>
            <a:r>
              <a:rPr sz="2700" b="1">
                <a:solidFill>
                  <a:srgbClr val="102B3F"/>
                </a:solidFill>
                <a:latin typeface="DejaVu Sans"/>
              </a:rPr>
              <a:t>C2: admitting evidence and changing belief are separate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New observations remain visible even when they cannot change the current aggregate.</a:t>
            </a:r>
          </a:p>
        </p:txBody>
      </p:sp>
      <p:sp>
        <p:nvSpPr>
          <p:cNvPr id="5" name="Rounded Rectangle 4"/>
          <p:cNvSpPr/>
          <p:nvPr/>
        </p:nvSpPr>
        <p:spPr>
          <a:xfrm>
            <a:off x="548640" y="1920239"/>
            <a:ext cx="2895600" cy="1371600"/>
          </a:xfrm>
          <a:prstGeom prst="roundRect">
            <a:avLst>
              <a:gd name="adj" fmla="val 7222"/>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2087880"/>
            <a:ext cx="256032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Evidence submission</a:t>
            </a:r>
          </a:p>
        </p:txBody>
      </p:sp>
      <p:sp>
        <p:nvSpPr>
          <p:cNvPr id="7" name="TextBox 6"/>
          <p:cNvSpPr txBox="1"/>
          <p:nvPr/>
        </p:nvSpPr>
        <p:spPr>
          <a:xfrm>
            <a:off x="716280" y="2437180"/>
            <a:ext cx="2560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C1 evidence reference or an</a:t>
            </a:r>
          </a:p>
        </p:txBody>
      </p:sp>
      <p:sp>
        <p:nvSpPr>
          <p:cNvPr id="8" name="TextBox 7"/>
          <p:cNvSpPr txBox="1"/>
          <p:nvPr/>
        </p:nvSpPr>
        <p:spPr>
          <a:xfrm>
            <a:off x="716280" y="2642006"/>
            <a:ext cx="2560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existing C2 support; exact</a:t>
            </a:r>
          </a:p>
        </p:txBody>
      </p:sp>
      <p:sp>
        <p:nvSpPr>
          <p:cNvPr id="9" name="TextBox 8"/>
          <p:cNvSpPr txBox="1"/>
          <p:nvPr/>
        </p:nvSpPr>
        <p:spPr>
          <a:xfrm>
            <a:off x="716280" y="2846832"/>
            <a:ext cx="25603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claim and context.</a:t>
            </a:r>
          </a:p>
        </p:txBody>
      </p:sp>
      <p:cxnSp>
        <p:nvCxnSpPr>
          <p:cNvPr id="10" name="Connector 9"/>
          <p:cNvCxnSpPr/>
          <p:nvPr/>
        </p:nvCxnSpPr>
        <p:spPr>
          <a:xfrm>
            <a:off x="3444240" y="2606040"/>
            <a:ext cx="777240" cy="0"/>
          </a:xfrm>
          <a:prstGeom prst="line">
            <a:avLst/>
          </a:prstGeom>
          <a:ln w="15240">
            <a:solidFill>
              <a:srgbClr val="315E9C"/>
            </a:solidFill>
          </a:ln>
          <a:effectLst/>
        </p:spPr>
      </p:cxnSp>
      <p:sp>
        <p:nvSpPr>
          <p:cNvPr id="11" name="Freeform 10"/>
          <p:cNvSpPr/>
          <p:nvPr/>
        </p:nvSpPr>
        <p:spPr>
          <a:xfrm>
            <a:off x="4122420" y="25679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2" name="Rounded Rectangle 11"/>
          <p:cNvSpPr/>
          <p:nvPr/>
        </p:nvSpPr>
        <p:spPr>
          <a:xfrm>
            <a:off x="4221480" y="1920239"/>
            <a:ext cx="3048000" cy="1371600"/>
          </a:xfrm>
          <a:prstGeom prst="roundRect">
            <a:avLst>
              <a:gd name="adj" fmla="val 7222"/>
            </a:avLst>
          </a:prstGeom>
          <a:solidFill>
            <a:srgbClr val="FFFFFF"/>
          </a:solidFill>
          <a:ln w="7620">
            <a:solidFill>
              <a:srgbClr val="315E9C"/>
            </a:solidFill>
          </a:ln>
          <a:effectLst/>
        </p:spPr>
        <p:txBody>
          <a:bodyPr rtlCol="0" anchor="ctr"/>
          <a:lstStyle/>
          <a:p>
            <a:pPr algn="ctr"/>
          </a:p>
        </p:txBody>
      </p:sp>
      <p:sp>
        <p:nvSpPr>
          <p:cNvPr id="13" name="TextBox 12"/>
          <p:cNvSpPr txBox="1"/>
          <p:nvPr/>
        </p:nvSpPr>
        <p:spPr>
          <a:xfrm>
            <a:off x="4389120" y="2087880"/>
            <a:ext cx="271272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Admission decision</a:t>
            </a:r>
          </a:p>
        </p:txBody>
      </p:sp>
      <p:sp>
        <p:nvSpPr>
          <p:cNvPr id="14" name="TextBox 13"/>
          <p:cNvSpPr txBox="1"/>
          <p:nvPr/>
        </p:nvSpPr>
        <p:spPr>
          <a:xfrm>
            <a:off x="4389120" y="2456687"/>
            <a:ext cx="27127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ADMITTED or DUPLICATE</a:t>
            </a:r>
          </a:p>
        </p:txBody>
      </p:sp>
      <p:sp>
        <p:nvSpPr>
          <p:cNvPr id="15" name="TextBox 14"/>
          <p:cNvSpPr txBox="1"/>
          <p:nvPr/>
        </p:nvSpPr>
        <p:spPr>
          <a:xfrm>
            <a:off x="4389120" y="2700528"/>
            <a:ext cx="27127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Track occurrence and</a:t>
            </a:r>
          </a:p>
        </p:txBody>
      </p:sp>
      <p:sp>
        <p:nvSpPr>
          <p:cNvPr id="16" name="TextBox 15"/>
          <p:cNvSpPr txBox="1"/>
          <p:nvPr/>
        </p:nvSpPr>
        <p:spPr>
          <a:xfrm>
            <a:off x="4389120" y="2944367"/>
            <a:ext cx="27127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provenance.</a:t>
            </a:r>
          </a:p>
        </p:txBody>
      </p:sp>
      <p:cxnSp>
        <p:nvCxnSpPr>
          <p:cNvPr id="17" name="Connector 16"/>
          <p:cNvCxnSpPr/>
          <p:nvPr/>
        </p:nvCxnSpPr>
        <p:spPr>
          <a:xfrm>
            <a:off x="7269480" y="2606040"/>
            <a:ext cx="777240" cy="0"/>
          </a:xfrm>
          <a:prstGeom prst="line">
            <a:avLst/>
          </a:prstGeom>
          <a:ln w="15240">
            <a:solidFill>
              <a:srgbClr val="315E9C"/>
            </a:solidFill>
          </a:ln>
          <a:effectLst/>
        </p:spPr>
      </p:cxnSp>
      <p:sp>
        <p:nvSpPr>
          <p:cNvPr id="18" name="Freeform 17"/>
          <p:cNvSpPr/>
          <p:nvPr/>
        </p:nvSpPr>
        <p:spPr>
          <a:xfrm>
            <a:off x="7947660" y="25679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046720" y="1920239"/>
            <a:ext cx="3596640" cy="1371600"/>
          </a:xfrm>
          <a:prstGeom prst="roundRect">
            <a:avLst>
              <a:gd name="adj" fmla="val 7222"/>
            </a:avLst>
          </a:prstGeom>
          <a:solidFill>
            <a:srgbClr val="DCEFE8"/>
          </a:solidFill>
          <a:ln w="7620">
            <a:solidFill>
              <a:srgbClr val="007C78"/>
            </a:solidFill>
          </a:ln>
          <a:effectLst/>
        </p:spPr>
        <p:txBody>
          <a:bodyPr rtlCol="0" anchor="ctr"/>
          <a:lstStyle/>
          <a:p>
            <a:pPr algn="ctr"/>
          </a:p>
        </p:txBody>
      </p:sp>
      <p:sp>
        <p:nvSpPr>
          <p:cNvPr id="20" name="TextBox 19"/>
          <p:cNvSpPr txBox="1"/>
          <p:nvPr/>
        </p:nvSpPr>
        <p:spPr>
          <a:xfrm>
            <a:off x="8214359" y="2087880"/>
            <a:ext cx="32613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Numerical decision</a:t>
            </a:r>
          </a:p>
        </p:txBody>
      </p:sp>
      <p:sp>
        <p:nvSpPr>
          <p:cNvPr id="21" name="TextBox 20"/>
          <p:cNvSpPr txBox="1"/>
          <p:nvPr/>
        </p:nvSpPr>
        <p:spPr>
          <a:xfrm>
            <a:off x="8214359" y="2456687"/>
            <a:ext cx="3261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Initialize, revise, no change,</a:t>
            </a:r>
          </a:p>
        </p:txBody>
      </p:sp>
      <p:sp>
        <p:nvSpPr>
          <p:cNvPr id="22" name="TextBox 21"/>
          <p:cNvSpPr txBox="1"/>
          <p:nvPr/>
        </p:nvSpPr>
        <p:spPr>
          <a:xfrm>
            <a:off x="8214359" y="2700528"/>
            <a:ext cx="3261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retain alternative, or</a:t>
            </a:r>
          </a:p>
        </p:txBody>
      </p:sp>
      <p:sp>
        <p:nvSpPr>
          <p:cNvPr id="23" name="TextBox 22"/>
          <p:cNvSpPr txBox="1"/>
          <p:nvPr/>
        </p:nvSpPr>
        <p:spPr>
          <a:xfrm>
            <a:off x="8214359" y="2944367"/>
            <a:ext cx="3261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model-inapplicable.</a:t>
            </a:r>
          </a:p>
        </p:txBody>
      </p:sp>
      <p:sp>
        <p:nvSpPr>
          <p:cNvPr id="24" name="Rounded Rectangle 23"/>
          <p:cNvSpPr/>
          <p:nvPr/>
        </p:nvSpPr>
        <p:spPr>
          <a:xfrm>
            <a:off x="548640" y="3886200"/>
            <a:ext cx="5364480" cy="1607820"/>
          </a:xfrm>
          <a:prstGeom prst="roundRect">
            <a:avLst>
              <a:gd name="adj" fmla="val 6161"/>
            </a:avLst>
          </a:prstGeom>
          <a:solidFill>
            <a:srgbClr val="FFFFFF"/>
          </a:solidFill>
          <a:ln w="7620">
            <a:solidFill>
              <a:srgbClr val="007C78"/>
            </a:solidFill>
          </a:ln>
          <a:effectLst/>
        </p:spPr>
        <p:txBody>
          <a:bodyPr rtlCol="0" anchor="ctr"/>
          <a:lstStyle/>
          <a:p>
            <a:pPr algn="ctr"/>
          </a:p>
        </p:txBody>
      </p:sp>
      <p:sp>
        <p:nvSpPr>
          <p:cNvPr id="25" name="TextBox 24"/>
          <p:cNvSpPr txBox="1"/>
          <p:nvPr/>
        </p:nvSpPr>
        <p:spPr>
          <a:xfrm>
            <a:off x="716280" y="4053840"/>
            <a:ext cx="50292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Aggregate with exact coverage</a:t>
            </a:r>
          </a:p>
        </p:txBody>
      </p:sp>
      <p:sp>
        <p:nvSpPr>
          <p:cNvPr id="26" name="TextBox 25"/>
          <p:cNvSpPr txBox="1"/>
          <p:nvPr/>
        </p:nvSpPr>
        <p:spPr>
          <a:xfrm>
            <a:off x="716280" y="4432401"/>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Every numerical result names the contributing</a:t>
            </a:r>
          </a:p>
        </p:txBody>
      </p:sp>
      <p:sp>
        <p:nvSpPr>
          <p:cNvPr id="27" name="TextBox 26"/>
          <p:cNvSpPr txBox="1"/>
          <p:nvPr/>
        </p:nvSpPr>
        <p:spPr>
          <a:xfrm>
            <a:off x="716280" y="4695748"/>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leaves, origins, premises, formula and</a:t>
            </a:r>
          </a:p>
        </p:txBody>
      </p:sp>
      <p:sp>
        <p:nvSpPr>
          <p:cNvPr id="28" name="TextBox 27"/>
          <p:cNvSpPr txBox="1"/>
          <p:nvPr/>
        </p:nvSpPr>
        <p:spPr>
          <a:xfrm>
            <a:off x="716280" y="4959095"/>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assumption.</a:t>
            </a:r>
          </a:p>
        </p:txBody>
      </p:sp>
      <p:sp>
        <p:nvSpPr>
          <p:cNvPr id="29" name="Rounded Rectangle 28"/>
          <p:cNvSpPr/>
          <p:nvPr/>
        </p:nvSpPr>
        <p:spPr>
          <a:xfrm>
            <a:off x="6096000" y="3886200"/>
            <a:ext cx="5547360" cy="1607820"/>
          </a:xfrm>
          <a:prstGeom prst="roundRect">
            <a:avLst>
              <a:gd name="adj" fmla="val 6161"/>
            </a:avLst>
          </a:prstGeom>
          <a:solidFill>
            <a:srgbClr val="F3E7CE"/>
          </a:solidFill>
          <a:ln w="7620">
            <a:solidFill>
              <a:srgbClr val="A86A15"/>
            </a:solidFill>
          </a:ln>
          <a:effectLst/>
        </p:spPr>
        <p:txBody>
          <a:bodyPr rtlCol="0" anchor="ctr"/>
          <a:lstStyle/>
          <a:p>
            <a:pPr algn="ctr"/>
          </a:p>
        </p:txBody>
      </p:sp>
      <p:sp>
        <p:nvSpPr>
          <p:cNvPr id="30" name="TextBox 29"/>
          <p:cNvSpPr txBox="1"/>
          <p:nvPr/>
        </p:nvSpPr>
        <p:spPr>
          <a:xfrm>
            <a:off x="6263640" y="4053840"/>
            <a:ext cx="521208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A86A15"/>
                </a:solidFill>
                <a:latin typeface="DejaVu Sans"/>
              </a:rPr>
              <a:t>Unaggregated alternatives</a:t>
            </a:r>
          </a:p>
        </p:txBody>
      </p:sp>
      <p:sp>
        <p:nvSpPr>
          <p:cNvPr id="31" name="TextBox 30"/>
          <p:cNvSpPr txBox="1"/>
          <p:nvPr/>
        </p:nvSpPr>
        <p:spPr>
          <a:xfrm>
            <a:off x="6263640" y="4422647"/>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Copied or contrary observations remain in the</a:t>
            </a:r>
          </a:p>
        </p:txBody>
      </p:sp>
      <p:sp>
        <p:nvSpPr>
          <p:cNvPr id="32" name="TextBox 31"/>
          <p:cNvSpPr txBox="1"/>
          <p:nvPr/>
        </p:nvSpPr>
        <p:spPr>
          <a:xfrm>
            <a:off x="6263640" y="4685995"/>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snapshot. Later eligible assumptions can combine</a:t>
            </a:r>
          </a:p>
        </p:txBody>
      </p:sp>
      <p:sp>
        <p:nvSpPr>
          <p:cNvPr id="33" name="TextBox 32"/>
          <p:cNvSpPr txBox="1"/>
          <p:nvPr/>
        </p:nvSpPr>
        <p:spPr>
          <a:xfrm>
            <a:off x="6263640" y="4949342"/>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existing supports.</a:t>
            </a:r>
          </a:p>
        </p:txBody>
      </p:sp>
      <p:sp>
        <p:nvSpPr>
          <p:cNvPr id="34" name="Rounded Rectangle 3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5" name="TextBox 34"/>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One saved truth value is not a summary of every observation. Read its coverage and alternatives.</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beliefs.py · memory_types.py</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15 / 38</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EVIDENCE DEPENDENCIES</a:t>
            </a:r>
          </a:p>
        </p:txBody>
      </p:sp>
      <p:sp>
        <p:nvSpPr>
          <p:cNvPr id="3" name="TextBox 2"/>
          <p:cNvSpPr txBox="1"/>
          <p:nvPr/>
        </p:nvSpPr>
        <p:spPr>
          <a:xfrm>
            <a:off x="533400" y="723900"/>
            <a:ext cx="11125200" cy="448665"/>
          </a:xfrm>
          <a:prstGeom prst="rect">
            <a:avLst/>
          </a:prstGeom>
          <a:noFill/>
        </p:spPr>
        <p:txBody>
          <a:bodyPr wrap="none" lIns="0" rIns="0" tIns="0" bIns="0" anchor="t" anchorCtr="0">
            <a:noAutofit/>
          </a:bodyPr>
          <a:lstStyle/>
          <a:p>
            <a:pPr algn="l">
              <a:lnSpc>
                <a:spcPct val="100000"/>
              </a:lnSpc>
              <a:spcBef>
                <a:spcPts val="0"/>
              </a:spcBef>
              <a:spcAft>
                <a:spcPts val="0"/>
              </a:spcAft>
            </a:pPr>
            <a:r>
              <a:rPr sz="2760" b="1">
                <a:solidFill>
                  <a:srgbClr val="102B3F"/>
                </a:solidFill>
                <a:latin typeface="DejaVu Sans"/>
              </a:rPr>
              <a:t>Lineage blocks double counting, even after aggregation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 independence declaration cannot override known overlapping roots or evidence.</a:t>
            </a:r>
          </a:p>
        </p:txBody>
      </p:sp>
      <p:sp>
        <p:nvSpPr>
          <p:cNvPr id="5" name="Rounded Rectangle 4"/>
          <p:cNvSpPr/>
          <p:nvPr/>
        </p:nvSpPr>
        <p:spPr>
          <a:xfrm>
            <a:off x="548640" y="1889759"/>
            <a:ext cx="3535679" cy="1104900"/>
          </a:xfrm>
          <a:prstGeom prst="roundRect">
            <a:avLst>
              <a:gd name="adj" fmla="val 8965"/>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5740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Support A</a:t>
            </a:r>
          </a:p>
        </p:txBody>
      </p:sp>
      <p:sp>
        <p:nvSpPr>
          <p:cNvPr id="7" name="TextBox 6"/>
          <p:cNvSpPr txBox="1"/>
          <p:nvPr/>
        </p:nvSpPr>
        <p:spPr>
          <a:xfrm>
            <a:off x="716280" y="2445715"/>
            <a:ext cx="32004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Origin A · evidence a</a:t>
            </a:r>
          </a:p>
        </p:txBody>
      </p:sp>
      <p:sp>
        <p:nvSpPr>
          <p:cNvPr id="8" name="Rounded Rectangle 7"/>
          <p:cNvSpPr/>
          <p:nvPr/>
        </p:nvSpPr>
        <p:spPr>
          <a:xfrm>
            <a:off x="4328160" y="1889759"/>
            <a:ext cx="3535679" cy="1104900"/>
          </a:xfrm>
          <a:prstGeom prst="roundRect">
            <a:avLst>
              <a:gd name="adj" fmla="val 8965"/>
            </a:avLst>
          </a:prstGeom>
          <a:solidFill>
            <a:srgbClr val="FFFFFF"/>
          </a:solidFill>
          <a:ln w="7620">
            <a:solidFill>
              <a:srgbClr val="315E9C"/>
            </a:solidFill>
          </a:ln>
          <a:effectLst/>
        </p:spPr>
        <p:txBody>
          <a:bodyPr rtlCol="0" anchor="ctr"/>
          <a:lstStyle/>
          <a:p>
            <a:pPr algn="ctr"/>
          </a:p>
        </p:txBody>
      </p:sp>
      <p:sp>
        <p:nvSpPr>
          <p:cNvPr id="9" name="TextBox 8"/>
          <p:cNvSpPr txBox="1"/>
          <p:nvPr/>
        </p:nvSpPr>
        <p:spPr>
          <a:xfrm>
            <a:off x="4495800" y="205740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Copy of A</a:t>
            </a:r>
          </a:p>
        </p:txBody>
      </p:sp>
      <p:sp>
        <p:nvSpPr>
          <p:cNvPr id="10" name="TextBox 9"/>
          <p:cNvSpPr txBox="1"/>
          <p:nvPr/>
        </p:nvSpPr>
        <p:spPr>
          <a:xfrm>
            <a:off x="4495800" y="2445715"/>
            <a:ext cx="32004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Origin A · evidence a′</a:t>
            </a:r>
          </a:p>
        </p:txBody>
      </p:sp>
      <p:sp>
        <p:nvSpPr>
          <p:cNvPr id="11" name="Rounded Rectangle 10"/>
          <p:cNvSpPr/>
          <p:nvPr/>
        </p:nvSpPr>
        <p:spPr>
          <a:xfrm>
            <a:off x="8107680" y="1889759"/>
            <a:ext cx="3535679" cy="1104900"/>
          </a:xfrm>
          <a:prstGeom prst="roundRect">
            <a:avLst>
              <a:gd name="adj" fmla="val 8965"/>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8275320" y="2057400"/>
            <a:ext cx="32004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Support B</a:t>
            </a:r>
          </a:p>
        </p:txBody>
      </p:sp>
      <p:sp>
        <p:nvSpPr>
          <p:cNvPr id="13" name="TextBox 12"/>
          <p:cNvSpPr txBox="1"/>
          <p:nvPr/>
        </p:nvSpPr>
        <p:spPr>
          <a:xfrm>
            <a:off x="8275320" y="2445715"/>
            <a:ext cx="32004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Origin B · evidence b</a:t>
            </a:r>
          </a:p>
        </p:txBody>
      </p:sp>
      <p:cxnSp>
        <p:nvCxnSpPr>
          <p:cNvPr id="14" name="Connector 13"/>
          <p:cNvCxnSpPr/>
          <p:nvPr/>
        </p:nvCxnSpPr>
        <p:spPr>
          <a:xfrm>
            <a:off x="4084319" y="2438400"/>
            <a:ext cx="243841" cy="0"/>
          </a:xfrm>
          <a:prstGeom prst="line">
            <a:avLst/>
          </a:prstGeom>
          <a:ln w="15240">
            <a:solidFill>
              <a:srgbClr val="315E9C"/>
            </a:solidFill>
          </a:ln>
          <a:effectLst/>
        </p:spPr>
      </p:cxnSp>
      <p:sp>
        <p:nvSpPr>
          <p:cNvPr id="15" name="Freeform 14"/>
          <p:cNvSpPr/>
          <p:nvPr/>
        </p:nvSpPr>
        <p:spPr>
          <a:xfrm>
            <a:off x="4229100" y="24003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6" name="TextBox 15"/>
          <p:cNvSpPr txBox="1"/>
          <p:nvPr/>
        </p:nvSpPr>
        <p:spPr>
          <a:xfrm>
            <a:off x="4419600" y="3192779"/>
            <a:ext cx="33528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A86A15"/>
                </a:solidFill>
                <a:latin typeface="DejaVu Sans"/>
              </a:rPr>
              <a:t>Known common origin → no extra</a:t>
            </a:r>
          </a:p>
        </p:txBody>
      </p:sp>
      <p:sp>
        <p:nvSpPr>
          <p:cNvPr id="17" name="TextBox 16"/>
          <p:cNvSpPr txBox="1"/>
          <p:nvPr/>
        </p:nvSpPr>
        <p:spPr>
          <a:xfrm>
            <a:off x="4419600" y="3417112"/>
            <a:ext cx="33528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A86A15"/>
                </a:solidFill>
                <a:latin typeface="DejaVu Sans"/>
              </a:rPr>
              <a:t>weight</a:t>
            </a:r>
          </a:p>
        </p:txBody>
      </p:sp>
      <p:sp>
        <p:nvSpPr>
          <p:cNvPr id="18" name="Rounded Rectangle 17"/>
          <p:cNvSpPr/>
          <p:nvPr/>
        </p:nvSpPr>
        <p:spPr>
          <a:xfrm>
            <a:off x="548640" y="4282440"/>
            <a:ext cx="3535679" cy="1249680"/>
          </a:xfrm>
          <a:prstGeom prst="roundRect">
            <a:avLst>
              <a:gd name="adj" fmla="val 7926"/>
            </a:avLst>
          </a:prstGeom>
          <a:solidFill>
            <a:srgbClr val="DCEFE8"/>
          </a:solidFill>
          <a:ln w="7620">
            <a:solidFill>
              <a:srgbClr val="007C78"/>
            </a:solidFill>
          </a:ln>
          <a:effectLst/>
        </p:spPr>
        <p:txBody>
          <a:bodyPr rtlCol="0" anchor="ctr"/>
          <a:lstStyle/>
          <a:p>
            <a:pPr algn="ctr"/>
          </a:p>
        </p:txBody>
      </p:sp>
      <p:sp>
        <p:nvSpPr>
          <p:cNvPr id="19" name="TextBox 18"/>
          <p:cNvSpPr txBox="1"/>
          <p:nvPr/>
        </p:nvSpPr>
        <p:spPr>
          <a:xfrm>
            <a:off x="716280" y="4450080"/>
            <a:ext cx="320040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007C78"/>
                </a:solidFill>
                <a:latin typeface="DejaVu Sans"/>
              </a:rPr>
              <a:t>Aggregate A + B</a:t>
            </a:r>
          </a:p>
        </p:txBody>
      </p:sp>
      <p:sp>
        <p:nvSpPr>
          <p:cNvPr id="20" name="TextBox 19"/>
          <p:cNvSpPr txBox="1"/>
          <p:nvPr/>
        </p:nvSpPr>
        <p:spPr>
          <a:xfrm>
            <a:off x="716280" y="4818888"/>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Coverage {a, b}</a:t>
            </a:r>
          </a:p>
        </p:txBody>
      </p:sp>
      <p:sp>
        <p:nvSpPr>
          <p:cNvPr id="21" name="TextBox 20"/>
          <p:cNvSpPr txBox="1"/>
          <p:nvPr/>
        </p:nvSpPr>
        <p:spPr>
          <a:xfrm>
            <a:off x="716280" y="5082235"/>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Roots {A, B}</a:t>
            </a:r>
          </a:p>
        </p:txBody>
      </p:sp>
      <p:cxnSp>
        <p:nvCxnSpPr>
          <p:cNvPr id="22" name="Connector 21"/>
          <p:cNvCxnSpPr/>
          <p:nvPr/>
        </p:nvCxnSpPr>
        <p:spPr>
          <a:xfrm>
            <a:off x="1600200" y="2994660"/>
            <a:ext cx="0" cy="1287780"/>
          </a:xfrm>
          <a:prstGeom prst="line">
            <a:avLst/>
          </a:prstGeom>
          <a:ln w="15240">
            <a:solidFill>
              <a:srgbClr val="007C78"/>
            </a:solidFill>
          </a:ln>
          <a:effectLst/>
        </p:spPr>
      </p:cxnSp>
      <p:sp>
        <p:nvSpPr>
          <p:cNvPr id="23" name="Freeform 22"/>
          <p:cNvSpPr/>
          <p:nvPr/>
        </p:nvSpPr>
        <p:spPr>
          <a:xfrm>
            <a:off x="1562100" y="4183380"/>
            <a:ext cx="76200" cy="99060"/>
          </a:xfrm>
          <a:custGeom>
            <a:avLst/>
            <a:gdLst/>
            <a:ahLst/>
            <a:cxnLst/>
            <a:rect l="l" t="t" r="r" b="b"/>
            <a:pathLst>
              <a:path w="10" h="13">
                <a:moveTo>
                  <a:pt x="5" y="13"/>
                </a:moveTo>
                <a:lnTo>
                  <a:pt x="10" y="0"/>
                </a:lnTo>
                <a:lnTo>
                  <a:pt x="0" y="0"/>
                </a:lnTo>
                <a:close/>
              </a:path>
            </a:pathLst>
          </a:custGeom>
          <a:solidFill>
            <a:srgbClr val="007C78"/>
          </a:solidFill>
          <a:ln>
            <a:noFill/>
          </a:ln>
          <a:effectLst/>
        </p:spPr>
        <p:txBody>
          <a:bodyPr rtlCol="0" anchor="ctr"/>
          <a:lstStyle/>
          <a:p>
            <a:pPr algn="ctr"/>
          </a:p>
        </p:txBody>
      </p:sp>
      <p:cxnSp>
        <p:nvCxnSpPr>
          <p:cNvPr id="24" name="Connector 23"/>
          <p:cNvCxnSpPr/>
          <p:nvPr/>
        </p:nvCxnSpPr>
        <p:spPr>
          <a:xfrm>
            <a:off x="9875520" y="2994660"/>
            <a:ext cx="0" cy="891540"/>
          </a:xfrm>
          <a:prstGeom prst="line">
            <a:avLst/>
          </a:prstGeom>
          <a:ln w="15240">
            <a:solidFill>
              <a:srgbClr val="007C78"/>
            </a:solidFill>
          </a:ln>
          <a:effectLst/>
        </p:spPr>
      </p:cxnSp>
      <p:cxnSp>
        <p:nvCxnSpPr>
          <p:cNvPr id="25" name="Connector 24"/>
          <p:cNvCxnSpPr/>
          <p:nvPr/>
        </p:nvCxnSpPr>
        <p:spPr>
          <a:xfrm flipH="1">
            <a:off x="3200400" y="3886200"/>
            <a:ext cx="6675120" cy="0"/>
          </a:xfrm>
          <a:prstGeom prst="line">
            <a:avLst/>
          </a:prstGeom>
          <a:ln w="15240">
            <a:solidFill>
              <a:srgbClr val="007C78"/>
            </a:solidFill>
          </a:ln>
          <a:effectLst/>
        </p:spPr>
      </p:cxnSp>
      <p:cxnSp>
        <p:nvCxnSpPr>
          <p:cNvPr id="26" name="Connector 25"/>
          <p:cNvCxnSpPr/>
          <p:nvPr/>
        </p:nvCxnSpPr>
        <p:spPr>
          <a:xfrm>
            <a:off x="3200400" y="3886200"/>
            <a:ext cx="0" cy="396240"/>
          </a:xfrm>
          <a:prstGeom prst="line">
            <a:avLst/>
          </a:prstGeom>
          <a:ln w="15240">
            <a:solidFill>
              <a:srgbClr val="007C78"/>
            </a:solidFill>
          </a:ln>
          <a:effectLst/>
        </p:spPr>
      </p:cxnSp>
      <p:sp>
        <p:nvSpPr>
          <p:cNvPr id="27" name="Freeform 26"/>
          <p:cNvSpPr/>
          <p:nvPr/>
        </p:nvSpPr>
        <p:spPr>
          <a:xfrm>
            <a:off x="3162300" y="4183380"/>
            <a:ext cx="76200" cy="99060"/>
          </a:xfrm>
          <a:custGeom>
            <a:avLst/>
            <a:gdLst/>
            <a:ahLst/>
            <a:cxnLst/>
            <a:rect l="l" t="t" r="r" b="b"/>
            <a:pathLst>
              <a:path w="10" h="13">
                <a:moveTo>
                  <a:pt x="5" y="13"/>
                </a:moveTo>
                <a:lnTo>
                  <a:pt x="10" y="0"/>
                </a:lnTo>
                <a:lnTo>
                  <a:pt x="0" y="0"/>
                </a:lnTo>
                <a:close/>
              </a:path>
            </a:pathLst>
          </a:custGeom>
          <a:solidFill>
            <a:srgbClr val="007C78"/>
          </a:solidFill>
          <a:ln>
            <a:noFill/>
          </a:ln>
          <a:effectLst/>
        </p:spPr>
        <p:txBody>
          <a:bodyPr rtlCol="0" anchor="ctr"/>
          <a:lstStyle/>
          <a:p>
            <a:pPr algn="ctr"/>
          </a:p>
        </p:txBody>
      </p:sp>
      <p:sp>
        <p:nvSpPr>
          <p:cNvPr id="28" name="TextBox 27"/>
          <p:cNvSpPr txBox="1"/>
          <p:nvPr/>
        </p:nvSpPr>
        <p:spPr>
          <a:xfrm>
            <a:off x="4320540" y="4038600"/>
            <a:ext cx="64770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007C78"/>
                </a:solidFill>
                <a:latin typeface="DejaVu Sans"/>
              </a:rPr>
              <a:t>Only with an eligible exact-pair assumption</a:t>
            </a:r>
          </a:p>
        </p:txBody>
      </p:sp>
      <p:sp>
        <p:nvSpPr>
          <p:cNvPr id="29" name="Rounded Rectangle 28"/>
          <p:cNvSpPr/>
          <p:nvPr/>
        </p:nvSpPr>
        <p:spPr>
          <a:xfrm>
            <a:off x="6278880" y="4526280"/>
            <a:ext cx="5364480" cy="1005840"/>
          </a:xfrm>
          <a:prstGeom prst="roundRect">
            <a:avLst>
              <a:gd name="adj" fmla="val 9848"/>
            </a:avLst>
          </a:prstGeom>
          <a:solidFill>
            <a:srgbClr val="F3E7CE"/>
          </a:solidFill>
          <a:ln w="7620">
            <a:solidFill>
              <a:srgbClr val="A86A15"/>
            </a:solidFill>
          </a:ln>
          <a:effectLst/>
        </p:spPr>
        <p:txBody>
          <a:bodyPr rtlCol="0" anchor="ctr"/>
          <a:lstStyle/>
          <a:p>
            <a:pPr algn="ctr"/>
          </a:p>
        </p:txBody>
      </p:sp>
      <p:sp>
        <p:nvSpPr>
          <p:cNvPr id="30" name="TextBox 29"/>
          <p:cNvSpPr txBox="1"/>
          <p:nvPr/>
        </p:nvSpPr>
        <p:spPr>
          <a:xfrm>
            <a:off x="6446520" y="4693920"/>
            <a:ext cx="502920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A86A15"/>
                </a:solidFill>
                <a:latin typeface="DejaVu Sans"/>
              </a:rPr>
              <a:t>Aggregate + ancestor A</a:t>
            </a:r>
          </a:p>
        </p:txBody>
      </p:sp>
      <p:sp>
        <p:nvSpPr>
          <p:cNvPr id="31" name="TextBox 30"/>
          <p:cNvSpPr txBox="1"/>
          <p:nvPr/>
        </p:nvSpPr>
        <p:spPr>
          <a:xfrm>
            <a:off x="6446520" y="5062728"/>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Overlap detected → no additional weight.</a:t>
            </a:r>
          </a:p>
        </p:txBody>
      </p:sp>
      <p:cxnSp>
        <p:nvCxnSpPr>
          <p:cNvPr id="32" name="Connector 31"/>
          <p:cNvCxnSpPr/>
          <p:nvPr/>
        </p:nvCxnSpPr>
        <p:spPr>
          <a:xfrm>
            <a:off x="4084319" y="4960620"/>
            <a:ext cx="2194561" cy="0"/>
          </a:xfrm>
          <a:prstGeom prst="line">
            <a:avLst/>
          </a:prstGeom>
          <a:ln w="15240">
            <a:solidFill>
              <a:srgbClr val="A86A15"/>
            </a:solidFill>
          </a:ln>
          <a:effectLst/>
        </p:spPr>
      </p:cxnSp>
      <p:sp>
        <p:nvSpPr>
          <p:cNvPr id="33" name="Freeform 32"/>
          <p:cNvSpPr/>
          <p:nvPr/>
        </p:nvSpPr>
        <p:spPr>
          <a:xfrm>
            <a:off x="6179820" y="4922520"/>
            <a:ext cx="99060" cy="76200"/>
          </a:xfrm>
          <a:custGeom>
            <a:avLst/>
            <a:gdLst/>
            <a:ahLst/>
            <a:cxnLst/>
            <a:rect l="l" t="t" r="r" b="b"/>
            <a:pathLst>
              <a:path w="13" h="10">
                <a:moveTo>
                  <a:pt x="13" y="5"/>
                </a:moveTo>
                <a:lnTo>
                  <a:pt x="0" y="0"/>
                </a:lnTo>
                <a:lnTo>
                  <a:pt x="0" y="10"/>
                </a:lnTo>
                <a:close/>
              </a:path>
            </a:pathLst>
          </a:custGeom>
          <a:solidFill>
            <a:srgbClr val="A86A15"/>
          </a:solidFill>
          <a:ln>
            <a:noFill/>
          </a:ln>
          <a:effectLst/>
        </p:spPr>
        <p:txBody>
          <a:bodyPr rtlCol="0" anchor="ctr"/>
          <a:lstStyle/>
          <a:p>
            <a:pPr algn="ctr"/>
          </a:p>
        </p:txBody>
      </p:sp>
      <p:sp>
        <p:nvSpPr>
          <p:cNvPr id="34" name="Rounded Rectangle 3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5" name="TextBox 34"/>
          <p:cNvSpPr txBox="1"/>
          <p:nvPr/>
        </p:nvSpPr>
        <p:spPr>
          <a:xfrm>
            <a:off x="716280" y="5905500"/>
            <a:ext cx="1074420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102B3F"/>
                </a:solidFill>
                <a:latin typeface="DejaVu Sans"/>
              </a:rPr>
              <a:t>New IDs, aliases or request keys do not manufacture independence.</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PLNAdapter.revise · beliefs.py</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16 / 38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RUNTIME COMPATIBILITY</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Native revision reuses the guarded implementation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narrow revision provider binds the upstream guards, formula and native runtime explicitly.</a:t>
            </a:r>
          </a:p>
        </p:txBody>
      </p:sp>
      <p:sp>
        <p:nvSpPr>
          <p:cNvPr id="5" name="Rounded Rectangle 4"/>
          <p:cNvSpPr/>
          <p:nvPr/>
        </p:nvSpPr>
        <p:spPr>
          <a:xfrm>
            <a:off x="548640" y="1981200"/>
            <a:ext cx="2636520" cy="1478280"/>
          </a:xfrm>
          <a:prstGeom prst="roundRect">
            <a:avLst>
              <a:gd name="adj" fmla="val 6701"/>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4884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C2 owner</a:t>
            </a:r>
          </a:p>
        </p:txBody>
      </p:sp>
      <p:sp>
        <p:nvSpPr>
          <p:cNvPr id="7" name="TextBox 6"/>
          <p:cNvSpPr txBox="1"/>
          <p:nvPr/>
        </p:nvSpPr>
        <p:spPr>
          <a:xfrm>
            <a:off x="716280" y="2488387"/>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Exact support</a:t>
            </a:r>
          </a:p>
        </p:txBody>
      </p:sp>
      <p:sp>
        <p:nvSpPr>
          <p:cNvPr id="8" name="TextBox 7"/>
          <p:cNvSpPr txBox="1"/>
          <p:nvPr/>
        </p:nvSpPr>
        <p:spPr>
          <a:xfrm>
            <a:off x="716280" y="2741980"/>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snapshots</a:t>
            </a:r>
          </a:p>
        </p:txBody>
      </p:sp>
      <p:cxnSp>
        <p:nvCxnSpPr>
          <p:cNvPr id="9" name="Connector 8"/>
          <p:cNvCxnSpPr/>
          <p:nvPr/>
        </p:nvCxnSpPr>
        <p:spPr>
          <a:xfrm>
            <a:off x="3185160" y="2720340"/>
            <a:ext cx="144780" cy="0"/>
          </a:xfrm>
          <a:prstGeom prst="line">
            <a:avLst/>
          </a:prstGeom>
          <a:ln w="15240">
            <a:solidFill>
              <a:srgbClr val="315E9C"/>
            </a:solidFill>
          </a:ln>
          <a:effectLst/>
        </p:spPr>
      </p:cxnSp>
      <p:sp>
        <p:nvSpPr>
          <p:cNvPr id="10" name="Freeform 9"/>
          <p:cNvSpPr/>
          <p:nvPr/>
        </p:nvSpPr>
        <p:spPr>
          <a:xfrm>
            <a:off x="3230880" y="26822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1" name="Rounded Rectangle 10"/>
          <p:cNvSpPr/>
          <p:nvPr/>
        </p:nvSpPr>
        <p:spPr>
          <a:xfrm>
            <a:off x="3368040" y="1981200"/>
            <a:ext cx="2636520" cy="1478280"/>
          </a:xfrm>
          <a:prstGeom prst="roundRect">
            <a:avLst>
              <a:gd name="adj" fmla="val 6701"/>
            </a:avLst>
          </a:prstGeom>
          <a:solidFill>
            <a:srgbClr val="FFFFFF"/>
          </a:solidFill>
          <a:ln w="7620">
            <a:solidFill>
              <a:srgbClr val="007C78"/>
            </a:solidFill>
          </a:ln>
          <a:effectLst/>
        </p:spPr>
        <p:txBody>
          <a:bodyPr rtlCol="0" anchor="ctr"/>
          <a:lstStyle/>
          <a:p>
            <a:pPr algn="ctr"/>
          </a:p>
        </p:txBody>
      </p:sp>
      <p:sp>
        <p:nvSpPr>
          <p:cNvPr id="12" name="TextBox 11"/>
          <p:cNvSpPr txBox="1"/>
          <p:nvPr/>
        </p:nvSpPr>
        <p:spPr>
          <a:xfrm>
            <a:off x="3535679" y="214884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PLNAdapter.revise</a:t>
            </a:r>
          </a:p>
        </p:txBody>
      </p:sp>
      <p:sp>
        <p:nvSpPr>
          <p:cNvPr id="13" name="TextBox 12"/>
          <p:cNvSpPr txBox="1"/>
          <p:nvPr/>
        </p:nvSpPr>
        <p:spPr>
          <a:xfrm>
            <a:off x="3535679" y="2488387"/>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Unchanged</a:t>
            </a:r>
          </a:p>
        </p:txBody>
      </p:sp>
      <p:sp>
        <p:nvSpPr>
          <p:cNvPr id="14" name="TextBox 13"/>
          <p:cNvSpPr txBox="1"/>
          <p:nvPr/>
        </p:nvSpPr>
        <p:spPr>
          <a:xfrm>
            <a:off x="3535679" y="2741980"/>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Reachability guards</a:t>
            </a:r>
          </a:p>
        </p:txBody>
      </p:sp>
      <p:cxnSp>
        <p:nvCxnSpPr>
          <p:cNvPr id="15" name="Connector 14"/>
          <p:cNvCxnSpPr/>
          <p:nvPr/>
        </p:nvCxnSpPr>
        <p:spPr>
          <a:xfrm>
            <a:off x="6004559" y="2720340"/>
            <a:ext cx="144781" cy="0"/>
          </a:xfrm>
          <a:prstGeom prst="line">
            <a:avLst/>
          </a:prstGeom>
          <a:ln w="15240">
            <a:solidFill>
              <a:srgbClr val="007C78"/>
            </a:solidFill>
          </a:ln>
          <a:effectLst/>
        </p:spPr>
      </p:cxnSp>
      <p:sp>
        <p:nvSpPr>
          <p:cNvPr id="16" name="Freeform 15"/>
          <p:cNvSpPr/>
          <p:nvPr/>
        </p:nvSpPr>
        <p:spPr>
          <a:xfrm>
            <a:off x="6050280" y="268224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17" name="Rounded Rectangle 16"/>
          <p:cNvSpPr/>
          <p:nvPr/>
        </p:nvSpPr>
        <p:spPr>
          <a:xfrm>
            <a:off x="6187440" y="1981200"/>
            <a:ext cx="2636520" cy="1478280"/>
          </a:xfrm>
          <a:prstGeom prst="roundRect">
            <a:avLst>
              <a:gd name="adj" fmla="val 6701"/>
            </a:avLst>
          </a:prstGeom>
          <a:solidFill>
            <a:srgbClr val="FFFFFF"/>
          </a:solidFill>
          <a:ln w="7620">
            <a:solidFill>
              <a:srgbClr val="007C78"/>
            </a:solidFill>
          </a:ln>
          <a:effectLst/>
        </p:spPr>
        <p:txBody>
          <a:bodyPr rtlCol="0" anchor="ctr"/>
          <a:lstStyle/>
          <a:p>
            <a:pPr algn="ctr"/>
          </a:p>
        </p:txBody>
      </p:sp>
      <p:sp>
        <p:nvSpPr>
          <p:cNvPr id="18" name="TextBox 17"/>
          <p:cNvSpPr txBox="1"/>
          <p:nvPr/>
        </p:nvSpPr>
        <p:spPr>
          <a:xfrm>
            <a:off x="6355080" y="214884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Truth_Revision</a:t>
            </a:r>
          </a:p>
        </p:txBody>
      </p:sp>
      <p:sp>
        <p:nvSpPr>
          <p:cNvPr id="19" name="TextBox 18"/>
          <p:cNvSpPr txBox="1"/>
          <p:nvPr/>
        </p:nvSpPr>
        <p:spPr>
          <a:xfrm>
            <a:off x="6355080" y="2488387"/>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Pinned PLN source</a:t>
            </a:r>
          </a:p>
        </p:txBody>
      </p:sp>
      <p:cxnSp>
        <p:nvCxnSpPr>
          <p:cNvPr id="20" name="Connector 19"/>
          <p:cNvCxnSpPr/>
          <p:nvPr/>
        </p:nvCxnSpPr>
        <p:spPr>
          <a:xfrm>
            <a:off x="8823960" y="2720340"/>
            <a:ext cx="144780" cy="0"/>
          </a:xfrm>
          <a:prstGeom prst="line">
            <a:avLst/>
          </a:prstGeom>
          <a:ln w="15240">
            <a:solidFill>
              <a:srgbClr val="007C78"/>
            </a:solidFill>
          </a:ln>
          <a:effectLst/>
        </p:spPr>
      </p:cxnSp>
      <p:sp>
        <p:nvSpPr>
          <p:cNvPr id="21" name="Freeform 20"/>
          <p:cNvSpPr/>
          <p:nvPr/>
        </p:nvSpPr>
        <p:spPr>
          <a:xfrm>
            <a:off x="8869680" y="268224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2" name="Rounded Rectangle 21"/>
          <p:cNvSpPr/>
          <p:nvPr/>
        </p:nvSpPr>
        <p:spPr>
          <a:xfrm>
            <a:off x="9006840" y="1981200"/>
            <a:ext cx="2636520" cy="1478280"/>
          </a:xfrm>
          <a:prstGeom prst="roundRect">
            <a:avLst>
              <a:gd name="adj" fmla="val 6701"/>
            </a:avLst>
          </a:prstGeom>
          <a:solidFill>
            <a:srgbClr val="FFFFFF"/>
          </a:solidFill>
          <a:ln w="7620">
            <a:solidFill>
              <a:srgbClr val="007C78"/>
            </a:solidFill>
          </a:ln>
          <a:effectLst/>
        </p:spPr>
        <p:txBody>
          <a:bodyPr rtlCol="0" anchor="ctr"/>
          <a:lstStyle/>
          <a:p>
            <a:pPr algn="ctr"/>
          </a:p>
        </p:txBody>
      </p:sp>
      <p:sp>
        <p:nvSpPr>
          <p:cNvPr id="23" name="TextBox 22"/>
          <p:cNvSpPr txBox="1"/>
          <p:nvPr/>
        </p:nvSpPr>
        <p:spPr>
          <a:xfrm>
            <a:off x="9174480" y="214884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PeTTa / SWI</a:t>
            </a:r>
          </a:p>
        </p:txBody>
      </p:sp>
      <p:sp>
        <p:nvSpPr>
          <p:cNvPr id="24" name="TextBox 23"/>
          <p:cNvSpPr txBox="1"/>
          <p:nvPr/>
        </p:nvSpPr>
        <p:spPr>
          <a:xfrm>
            <a:off x="9174480" y="2488387"/>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Actual native</a:t>
            </a:r>
          </a:p>
        </p:txBody>
      </p:sp>
      <p:sp>
        <p:nvSpPr>
          <p:cNvPr id="25" name="TextBox 24"/>
          <p:cNvSpPr txBox="1"/>
          <p:nvPr/>
        </p:nvSpPr>
        <p:spPr>
          <a:xfrm>
            <a:off x="9174480" y="2741980"/>
            <a:ext cx="230124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evaluation</a:t>
            </a:r>
          </a:p>
        </p:txBody>
      </p:sp>
      <p:sp>
        <p:nvSpPr>
          <p:cNvPr id="26" name="Rounded Rectangle 25"/>
          <p:cNvSpPr/>
          <p:nvPr/>
        </p:nvSpPr>
        <p:spPr>
          <a:xfrm>
            <a:off x="548640" y="4008119"/>
            <a:ext cx="5364480" cy="1485900"/>
          </a:xfrm>
          <a:prstGeom prst="roundRect">
            <a:avLst>
              <a:gd name="adj" fmla="val 6666"/>
            </a:avLst>
          </a:prstGeom>
          <a:solidFill>
            <a:srgbClr val="E4EBF5"/>
          </a:solidFill>
          <a:ln w="7620">
            <a:solidFill>
              <a:srgbClr val="315E9C"/>
            </a:solidFill>
          </a:ln>
          <a:effectLst/>
        </p:spPr>
        <p:txBody>
          <a:bodyPr rtlCol="0" anchor="ctr"/>
          <a:lstStyle/>
          <a:p>
            <a:pPr algn="ctr"/>
          </a:p>
        </p:txBody>
      </p:sp>
      <p:sp>
        <p:nvSpPr>
          <p:cNvPr id="27" name="TextBox 26"/>
          <p:cNvSpPr txBox="1"/>
          <p:nvPr/>
        </p:nvSpPr>
        <p:spPr>
          <a:xfrm>
            <a:off x="716280" y="4175760"/>
            <a:ext cx="502920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Explicit runtime rebaseline</a:t>
            </a:r>
          </a:p>
        </p:txBody>
      </p:sp>
      <p:sp>
        <p:nvSpPr>
          <p:cNvPr id="28" name="TextBox 27"/>
          <p:cNvSpPr txBox="1"/>
          <p:nvPr/>
        </p:nvSpPr>
        <p:spPr>
          <a:xfrm>
            <a:off x="716280" y="4544568"/>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Historical SWI 10.0.1 remains unchanged. This</a:t>
            </a:r>
          </a:p>
        </p:txBody>
      </p:sp>
      <p:sp>
        <p:nvSpPr>
          <p:cNvPr id="29" name="TextBox 28"/>
          <p:cNvSpPr txBox="1"/>
          <p:nvPr/>
        </p:nvSpPr>
        <p:spPr>
          <a:xfrm>
            <a:off x="716280" y="4798161"/>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gate selects SWI 10.1.14 under a new</a:t>
            </a:r>
          </a:p>
        </p:txBody>
      </p:sp>
      <p:sp>
        <p:nvSpPr>
          <p:cNvPr id="30" name="TextBox 29"/>
          <p:cNvSpPr txBox="1"/>
          <p:nvPr/>
        </p:nvSpPr>
        <p:spPr>
          <a:xfrm>
            <a:off x="716280" y="5051755"/>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revision-only profile.</a:t>
            </a:r>
          </a:p>
        </p:txBody>
      </p:sp>
      <p:sp>
        <p:nvSpPr>
          <p:cNvPr id="31" name="Rounded Rectangle 30"/>
          <p:cNvSpPr/>
          <p:nvPr/>
        </p:nvSpPr>
        <p:spPr>
          <a:xfrm>
            <a:off x="6096000" y="4008119"/>
            <a:ext cx="5547360" cy="1485900"/>
          </a:xfrm>
          <a:prstGeom prst="roundRect">
            <a:avLst>
              <a:gd name="adj" fmla="val 6666"/>
            </a:avLst>
          </a:prstGeom>
          <a:solidFill>
            <a:srgbClr val="F3E7CE"/>
          </a:solidFill>
          <a:ln w="7620">
            <a:solidFill>
              <a:srgbClr val="A86A15"/>
            </a:solidFill>
          </a:ln>
          <a:effectLst/>
        </p:spPr>
        <p:txBody>
          <a:bodyPr rtlCol="0" anchor="ctr"/>
          <a:lstStyle/>
          <a:p>
            <a:pPr algn="ctr"/>
          </a:p>
        </p:txBody>
      </p:sp>
      <p:sp>
        <p:nvSpPr>
          <p:cNvPr id="32" name="TextBox 31"/>
          <p:cNvSpPr txBox="1"/>
          <p:nvPr/>
        </p:nvSpPr>
        <p:spPr>
          <a:xfrm>
            <a:off x="6263640" y="4175760"/>
            <a:ext cx="521208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A86A15"/>
                </a:solidFill>
                <a:latin typeface="DejaVu Sans"/>
              </a:rPr>
              <a:t>Fail closed on drift</a:t>
            </a:r>
          </a:p>
        </p:txBody>
      </p:sp>
      <p:sp>
        <p:nvSpPr>
          <p:cNvPr id="33" name="TextBox 32"/>
          <p:cNvSpPr txBox="1"/>
          <p:nvPr/>
        </p:nvSpPr>
        <p:spPr>
          <a:xfrm>
            <a:off x="6263640" y="4544568"/>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Source hashes, model, runtime profile and built</a:t>
            </a:r>
          </a:p>
        </p:txBody>
      </p:sp>
      <p:sp>
        <p:nvSpPr>
          <p:cNvPr id="34" name="TextBox 33"/>
          <p:cNvSpPr txBox="1"/>
          <p:nvPr/>
        </p:nvSpPr>
        <p:spPr>
          <a:xfrm>
            <a:off x="6263640" y="4798161"/>
            <a:ext cx="521208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binary digest are bound to durable attempts.</a:t>
            </a:r>
          </a:p>
        </p:txBody>
      </p:sp>
      <p:sp>
        <p:nvSpPr>
          <p:cNvPr id="35" name="Rounded Rectangle 3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6" name="TextBox 35"/>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No replacement production mathematics, applyRule, PLN.Derive or PLN.Query was introduced.</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pln_revision.py · integration/pln/sources.json</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17 / 38</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NUMERICAL EVIDENCE</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Independent goldens check the actual native result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Pairs are explicit assessments of the same claim, with permitted independence and disjoint lineage.</a:t>
            </a:r>
          </a:p>
        </p:txBody>
      </p:sp>
      <p:sp>
        <p:nvSpPr>
          <p:cNvPr id="5" name="TextBox 4"/>
          <p:cNvSpPr txBox="1"/>
          <p:nvPr/>
        </p:nvSpPr>
        <p:spPr>
          <a:xfrm>
            <a:off x="670560" y="1790700"/>
            <a:ext cx="44805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INPUT PAIR · (STRENGTH, CONFIDENCE)</a:t>
            </a:r>
          </a:p>
        </p:txBody>
      </p:sp>
      <p:sp>
        <p:nvSpPr>
          <p:cNvPr id="6" name="TextBox 5"/>
          <p:cNvSpPr txBox="1"/>
          <p:nvPr/>
        </p:nvSpPr>
        <p:spPr>
          <a:xfrm>
            <a:off x="5394960" y="1790700"/>
            <a:ext cx="2346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EXPECTED NATIVE RESULT</a:t>
            </a:r>
          </a:p>
        </p:txBody>
      </p:sp>
      <p:sp>
        <p:nvSpPr>
          <p:cNvPr id="7" name="TextBox 6"/>
          <p:cNvSpPr txBox="1"/>
          <p:nvPr/>
        </p:nvSpPr>
        <p:spPr>
          <a:xfrm>
            <a:off x="7985759" y="1790700"/>
            <a:ext cx="35356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MEANING</a:t>
            </a:r>
          </a:p>
        </p:txBody>
      </p:sp>
      <p:sp>
        <p:nvSpPr>
          <p:cNvPr id="8" name="Rounded Rectangle 7"/>
          <p:cNvSpPr/>
          <p:nvPr/>
        </p:nvSpPr>
        <p:spPr>
          <a:xfrm>
            <a:off x="548640" y="2110740"/>
            <a:ext cx="11094720" cy="777240"/>
          </a:xfrm>
          <a:prstGeom prst="roundRect">
            <a:avLst>
              <a:gd name="adj" fmla="val 5882"/>
            </a:avLst>
          </a:prstGeom>
          <a:solidFill>
            <a:srgbClr val="FFFFFF"/>
          </a:solidFill>
          <a:ln>
            <a:noFill/>
          </a:ln>
          <a:effectLst/>
        </p:spPr>
        <p:txBody>
          <a:bodyPr rtlCol="0" anchor="ctr"/>
          <a:lstStyle/>
          <a:p>
            <a:pPr algn="ctr"/>
          </a:p>
        </p:txBody>
      </p:sp>
      <p:sp>
        <p:nvSpPr>
          <p:cNvPr id="9" name="TextBox 8"/>
          <p:cNvSpPr txBox="1"/>
          <p:nvPr/>
        </p:nvSpPr>
        <p:spPr>
          <a:xfrm>
            <a:off x="670560" y="2240280"/>
            <a:ext cx="44805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(0.75, 0.50) + (0.25, 0.50)</a:t>
            </a:r>
          </a:p>
        </p:txBody>
      </p:sp>
      <p:sp>
        <p:nvSpPr>
          <p:cNvPr id="10" name="TextBox 9"/>
          <p:cNvSpPr txBox="1"/>
          <p:nvPr/>
        </p:nvSpPr>
        <p:spPr>
          <a:xfrm>
            <a:off x="5394960" y="2240280"/>
            <a:ext cx="23469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(0.50, 2/3)</a:t>
            </a:r>
          </a:p>
        </p:txBody>
      </p:sp>
      <p:sp>
        <p:nvSpPr>
          <p:cNvPr id="11" name="TextBox 10"/>
          <p:cNvSpPr txBox="1"/>
          <p:nvPr/>
        </p:nvSpPr>
        <p:spPr>
          <a:xfrm>
            <a:off x="7985759" y="2240280"/>
            <a:ext cx="35356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Equal weight balances the</a:t>
            </a:r>
          </a:p>
        </p:txBody>
      </p:sp>
      <p:sp>
        <p:nvSpPr>
          <p:cNvPr id="12" name="TextBox 11"/>
          <p:cNvSpPr txBox="1"/>
          <p:nvPr/>
        </p:nvSpPr>
        <p:spPr>
          <a:xfrm>
            <a:off x="7985759" y="2493873"/>
            <a:ext cx="35356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assessments</a:t>
            </a:r>
          </a:p>
        </p:txBody>
      </p:sp>
      <p:sp>
        <p:nvSpPr>
          <p:cNvPr id="13" name="Rounded Rectangle 12"/>
          <p:cNvSpPr/>
          <p:nvPr/>
        </p:nvSpPr>
        <p:spPr>
          <a:xfrm>
            <a:off x="548640" y="2926079"/>
            <a:ext cx="11094720" cy="777240"/>
          </a:xfrm>
          <a:prstGeom prst="roundRect">
            <a:avLst>
              <a:gd name="adj" fmla="val 5882"/>
            </a:avLst>
          </a:prstGeom>
          <a:solidFill>
            <a:srgbClr val="FFFFFF"/>
          </a:solidFill>
          <a:ln>
            <a:noFill/>
          </a:ln>
          <a:effectLst/>
        </p:spPr>
        <p:txBody>
          <a:bodyPr rtlCol="0" anchor="ctr"/>
          <a:lstStyle/>
          <a:p>
            <a:pPr algn="ctr"/>
          </a:p>
        </p:txBody>
      </p:sp>
      <p:sp>
        <p:nvSpPr>
          <p:cNvPr id="14" name="TextBox 13"/>
          <p:cNvSpPr txBox="1"/>
          <p:nvPr/>
        </p:nvSpPr>
        <p:spPr>
          <a:xfrm>
            <a:off x="670560" y="3055620"/>
            <a:ext cx="44805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(0.75, 0.50) + (0.25, 0.75)</a:t>
            </a:r>
          </a:p>
        </p:txBody>
      </p:sp>
      <p:sp>
        <p:nvSpPr>
          <p:cNvPr id="15" name="TextBox 14"/>
          <p:cNvSpPr txBox="1"/>
          <p:nvPr/>
        </p:nvSpPr>
        <p:spPr>
          <a:xfrm>
            <a:off x="5394960" y="3055620"/>
            <a:ext cx="23469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(0.375, 0.80)</a:t>
            </a:r>
          </a:p>
        </p:txBody>
      </p:sp>
      <p:sp>
        <p:nvSpPr>
          <p:cNvPr id="16" name="TextBox 15"/>
          <p:cNvSpPr txBox="1"/>
          <p:nvPr/>
        </p:nvSpPr>
        <p:spPr>
          <a:xfrm>
            <a:off x="7985759" y="3055620"/>
            <a:ext cx="35356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Higher confidence shifts the result</a:t>
            </a:r>
          </a:p>
        </p:txBody>
      </p:sp>
      <p:sp>
        <p:nvSpPr>
          <p:cNvPr id="17" name="Rounded Rectangle 16"/>
          <p:cNvSpPr/>
          <p:nvPr/>
        </p:nvSpPr>
        <p:spPr>
          <a:xfrm>
            <a:off x="548640" y="3741419"/>
            <a:ext cx="11094720" cy="777240"/>
          </a:xfrm>
          <a:prstGeom prst="roundRect">
            <a:avLst>
              <a:gd name="adj" fmla="val 5882"/>
            </a:avLst>
          </a:prstGeom>
          <a:solidFill>
            <a:srgbClr val="FFFFFF"/>
          </a:solidFill>
          <a:ln>
            <a:noFill/>
          </a:ln>
          <a:effectLst/>
        </p:spPr>
        <p:txBody>
          <a:bodyPr rtlCol="0" anchor="ctr"/>
          <a:lstStyle/>
          <a:p>
            <a:pPr algn="ctr"/>
          </a:p>
        </p:txBody>
      </p:sp>
      <p:sp>
        <p:nvSpPr>
          <p:cNvPr id="18" name="TextBox 17"/>
          <p:cNvSpPr txBox="1"/>
          <p:nvPr/>
        </p:nvSpPr>
        <p:spPr>
          <a:xfrm>
            <a:off x="670560" y="3870960"/>
            <a:ext cx="44805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Same unequal pair, reversed</a:t>
            </a:r>
          </a:p>
        </p:txBody>
      </p:sp>
      <p:sp>
        <p:nvSpPr>
          <p:cNvPr id="19" name="TextBox 18"/>
          <p:cNvSpPr txBox="1"/>
          <p:nvPr/>
        </p:nvSpPr>
        <p:spPr>
          <a:xfrm>
            <a:off x="5394960" y="3870960"/>
            <a:ext cx="23469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(0.375, 0.80)</a:t>
            </a:r>
          </a:p>
        </p:txBody>
      </p:sp>
      <p:sp>
        <p:nvSpPr>
          <p:cNvPr id="20" name="TextBox 19"/>
          <p:cNvSpPr txBox="1"/>
          <p:nvPr/>
        </p:nvSpPr>
        <p:spPr>
          <a:xfrm>
            <a:off x="7985759" y="3870960"/>
            <a:ext cx="35356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Order does not change this</a:t>
            </a:r>
          </a:p>
        </p:txBody>
      </p:sp>
      <p:sp>
        <p:nvSpPr>
          <p:cNvPr id="21" name="TextBox 20"/>
          <p:cNvSpPr txBox="1"/>
          <p:nvPr/>
        </p:nvSpPr>
        <p:spPr>
          <a:xfrm>
            <a:off x="7985759" y="4124553"/>
            <a:ext cx="3535679"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revision</a:t>
            </a:r>
          </a:p>
        </p:txBody>
      </p:sp>
      <p:sp>
        <p:nvSpPr>
          <p:cNvPr id="22" name="Rounded Rectangle 21"/>
          <p:cNvSpPr/>
          <p:nvPr/>
        </p:nvSpPr>
        <p:spPr>
          <a:xfrm>
            <a:off x="548640" y="4739640"/>
            <a:ext cx="5364480" cy="967740"/>
          </a:xfrm>
          <a:prstGeom prst="roundRect">
            <a:avLst>
              <a:gd name="adj" fmla="val 10236"/>
            </a:avLst>
          </a:prstGeom>
          <a:solidFill>
            <a:srgbClr val="DCEFE8"/>
          </a:solidFill>
          <a:ln w="7620">
            <a:solidFill>
              <a:srgbClr val="007C78"/>
            </a:solidFill>
          </a:ln>
          <a:effectLst/>
        </p:spPr>
        <p:txBody>
          <a:bodyPr rtlCol="0" anchor="ctr"/>
          <a:lstStyle/>
          <a:p>
            <a:pPr algn="ctr"/>
          </a:p>
        </p:txBody>
      </p:sp>
      <p:sp>
        <p:nvSpPr>
          <p:cNvPr id="23" name="TextBox 22"/>
          <p:cNvSpPr txBox="1"/>
          <p:nvPr/>
        </p:nvSpPr>
        <p:spPr>
          <a:xfrm>
            <a:off x="716280" y="4907280"/>
            <a:ext cx="5029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007C78"/>
                </a:solidFill>
                <a:latin typeface="DejaVu Sans"/>
              </a:rPr>
              <a:t>Domain: finite values only</a:t>
            </a:r>
          </a:p>
        </p:txBody>
      </p:sp>
      <p:sp>
        <p:nvSpPr>
          <p:cNvPr id="24" name="TextBox 23"/>
          <p:cNvSpPr txBox="1"/>
          <p:nvPr/>
        </p:nvSpPr>
        <p:spPr>
          <a:xfrm>
            <a:off x="716280" y="5227320"/>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0 ≤ strength ≤ 1; 0 ≤ confidence &lt; 1</a:t>
            </a:r>
          </a:p>
        </p:txBody>
      </p:sp>
      <p:sp>
        <p:nvSpPr>
          <p:cNvPr id="25" name="Rounded Rectangle 24"/>
          <p:cNvSpPr/>
          <p:nvPr/>
        </p:nvSpPr>
        <p:spPr>
          <a:xfrm>
            <a:off x="6096000" y="4739640"/>
            <a:ext cx="5547360" cy="967740"/>
          </a:xfrm>
          <a:prstGeom prst="roundRect">
            <a:avLst>
              <a:gd name="adj" fmla="val 10236"/>
            </a:avLst>
          </a:prstGeom>
          <a:solidFill>
            <a:srgbClr val="F3E7CE"/>
          </a:solidFill>
          <a:ln w="7620">
            <a:solidFill>
              <a:srgbClr val="A86A15"/>
            </a:solidFill>
          </a:ln>
          <a:effectLst/>
        </p:spPr>
        <p:txBody>
          <a:bodyPr rtlCol="0" anchor="ctr"/>
          <a:lstStyle/>
          <a:p>
            <a:pPr algn="ctr"/>
          </a:p>
        </p:txBody>
      </p:sp>
      <p:sp>
        <p:nvSpPr>
          <p:cNvPr id="26" name="TextBox 25"/>
          <p:cNvSpPr txBox="1"/>
          <p:nvPr/>
        </p:nvSpPr>
        <p:spPr>
          <a:xfrm>
            <a:off x="6263640" y="4907280"/>
            <a:ext cx="52120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A86A15"/>
                </a:solidFill>
                <a:latin typeface="DejaVu Sans"/>
              </a:rPr>
              <a:t>No silent clamping</a:t>
            </a:r>
          </a:p>
        </p:txBody>
      </p:sp>
      <p:sp>
        <p:nvSpPr>
          <p:cNvPr id="27" name="TextBox 26"/>
          <p:cNvSpPr txBox="1"/>
          <p:nvPr/>
        </p:nvSpPr>
        <p:spPr>
          <a:xfrm>
            <a:off x="6263640" y="5227320"/>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Invalid inputs and zero total weight are refused.</a:t>
            </a:r>
          </a:p>
        </p:txBody>
      </p:sp>
      <p:sp>
        <p:nvSpPr>
          <p:cNvPr id="28" name="Rounded Rectangle 27"/>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9" name="TextBox 28"/>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Confidence belongs to the selected model; it is not a guarantee that the real-world claim is true.</a:t>
            </a:r>
          </a:p>
        </p:txBody>
      </p:sp>
      <p:cxnSp>
        <p:nvCxnSpPr>
          <p:cNvPr id="30" name="Connector 29"/>
          <p:cNvCxnSpPr/>
          <p:nvPr/>
        </p:nvCxnSpPr>
        <p:spPr>
          <a:xfrm>
            <a:off x="548640" y="6393180"/>
            <a:ext cx="11094720" cy="0"/>
          </a:xfrm>
          <a:prstGeom prst="line">
            <a:avLst/>
          </a:prstGeom>
          <a:ln w="7620">
            <a:solidFill>
              <a:srgbClr val="C9D2D4"/>
            </a:solidFill>
          </a:ln>
          <a:effectLst/>
        </p:spPr>
      </p:cxnSp>
      <p:sp>
        <p:nvSpPr>
          <p:cNvPr id="31" name="TextBox 30"/>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integration/pln/test_revision.py · final/demo.json</a:t>
            </a:r>
          </a:p>
        </p:txBody>
      </p:sp>
      <p:sp>
        <p:nvSpPr>
          <p:cNvPr id="32" name="TextBox 31"/>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18 / 38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RECOVERY · ACTUAL SIGKILL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crash gaps across independent commits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Restart recovers intent and decisions. Repeated calculation does not add another logical contribution.</a:t>
            </a:r>
          </a:p>
        </p:txBody>
      </p:sp>
      <p:sp>
        <p:nvSpPr>
          <p:cNvPr id="5" name="Rounded Rectangle 4"/>
          <p:cNvSpPr/>
          <p:nvPr/>
        </p:nvSpPr>
        <p:spPr>
          <a:xfrm>
            <a:off x="548640" y="1935480"/>
            <a:ext cx="2636520" cy="1203960"/>
          </a:xfrm>
          <a:prstGeom prst="roundRect">
            <a:avLst>
              <a:gd name="adj" fmla="val 8227"/>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0312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AtomStorage</a:t>
            </a:r>
          </a:p>
        </p:txBody>
      </p:sp>
      <p:sp>
        <p:nvSpPr>
          <p:cNvPr id="7" name="TextBox 6"/>
          <p:cNvSpPr txBox="1"/>
          <p:nvPr/>
        </p:nvSpPr>
        <p:spPr>
          <a:xfrm>
            <a:off x="716280" y="2442667"/>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Persist immutable</a:t>
            </a:r>
          </a:p>
        </p:txBody>
      </p:sp>
      <p:sp>
        <p:nvSpPr>
          <p:cNvPr id="8" name="TextBox 7"/>
          <p:cNvSpPr txBox="1"/>
          <p:nvPr/>
        </p:nvSpPr>
        <p:spPr>
          <a:xfrm>
            <a:off x="716280" y="2686507"/>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bytes</a:t>
            </a:r>
          </a:p>
        </p:txBody>
      </p:sp>
      <p:cxnSp>
        <p:nvCxnSpPr>
          <p:cNvPr id="9" name="Connector 8"/>
          <p:cNvCxnSpPr/>
          <p:nvPr/>
        </p:nvCxnSpPr>
        <p:spPr>
          <a:xfrm>
            <a:off x="3185160" y="2529840"/>
            <a:ext cx="144780" cy="0"/>
          </a:xfrm>
          <a:prstGeom prst="line">
            <a:avLst/>
          </a:prstGeom>
          <a:ln w="15240">
            <a:solidFill>
              <a:srgbClr val="315E9C"/>
            </a:solidFill>
          </a:ln>
          <a:effectLst/>
        </p:spPr>
      </p:cxnSp>
      <p:sp>
        <p:nvSpPr>
          <p:cNvPr id="10" name="Freeform 9"/>
          <p:cNvSpPr/>
          <p:nvPr/>
        </p:nvSpPr>
        <p:spPr>
          <a:xfrm>
            <a:off x="3230880" y="24917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1" name="Rounded Rectangle 10"/>
          <p:cNvSpPr/>
          <p:nvPr/>
        </p:nvSpPr>
        <p:spPr>
          <a:xfrm>
            <a:off x="3368040" y="1935480"/>
            <a:ext cx="2636520" cy="1203960"/>
          </a:xfrm>
          <a:prstGeom prst="roundRect">
            <a:avLst>
              <a:gd name="adj" fmla="val 8227"/>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3535679" y="210312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C1 episodes</a:t>
            </a:r>
          </a:p>
        </p:txBody>
      </p:sp>
      <p:sp>
        <p:nvSpPr>
          <p:cNvPr id="13" name="TextBox 12"/>
          <p:cNvSpPr txBox="1"/>
          <p:nvPr/>
        </p:nvSpPr>
        <p:spPr>
          <a:xfrm>
            <a:off x="3535679" y="2442667"/>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Commit event + intent</a:t>
            </a:r>
          </a:p>
        </p:txBody>
      </p:sp>
      <p:cxnSp>
        <p:nvCxnSpPr>
          <p:cNvPr id="14" name="Connector 13"/>
          <p:cNvCxnSpPr/>
          <p:nvPr/>
        </p:nvCxnSpPr>
        <p:spPr>
          <a:xfrm>
            <a:off x="6004559" y="2529840"/>
            <a:ext cx="144781" cy="0"/>
          </a:xfrm>
          <a:prstGeom prst="line">
            <a:avLst/>
          </a:prstGeom>
          <a:ln w="15240">
            <a:solidFill>
              <a:srgbClr val="315E9C"/>
            </a:solidFill>
          </a:ln>
          <a:effectLst/>
        </p:spPr>
      </p:cxnSp>
      <p:sp>
        <p:nvSpPr>
          <p:cNvPr id="15" name="Freeform 14"/>
          <p:cNvSpPr/>
          <p:nvPr/>
        </p:nvSpPr>
        <p:spPr>
          <a:xfrm>
            <a:off x="6050280" y="24917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6" name="Rounded Rectangle 15"/>
          <p:cNvSpPr/>
          <p:nvPr/>
        </p:nvSpPr>
        <p:spPr>
          <a:xfrm>
            <a:off x="6187440" y="1935480"/>
            <a:ext cx="2636520" cy="1203960"/>
          </a:xfrm>
          <a:prstGeom prst="roundRect">
            <a:avLst>
              <a:gd name="adj" fmla="val 8227"/>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6355080" y="210312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C2 beliefs</a:t>
            </a:r>
          </a:p>
        </p:txBody>
      </p:sp>
      <p:sp>
        <p:nvSpPr>
          <p:cNvPr id="18" name="TextBox 17"/>
          <p:cNvSpPr txBox="1"/>
          <p:nvPr/>
        </p:nvSpPr>
        <p:spPr>
          <a:xfrm>
            <a:off x="6355080" y="2442667"/>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Commit snapshot +</a:t>
            </a:r>
          </a:p>
        </p:txBody>
      </p:sp>
      <p:sp>
        <p:nvSpPr>
          <p:cNvPr id="19" name="TextBox 18"/>
          <p:cNvSpPr txBox="1"/>
          <p:nvPr/>
        </p:nvSpPr>
        <p:spPr>
          <a:xfrm>
            <a:off x="6355080" y="2686507"/>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decision</a:t>
            </a:r>
          </a:p>
        </p:txBody>
      </p:sp>
      <p:cxnSp>
        <p:nvCxnSpPr>
          <p:cNvPr id="20" name="Connector 19"/>
          <p:cNvCxnSpPr/>
          <p:nvPr/>
        </p:nvCxnSpPr>
        <p:spPr>
          <a:xfrm>
            <a:off x="8823960" y="2529840"/>
            <a:ext cx="144780" cy="0"/>
          </a:xfrm>
          <a:prstGeom prst="line">
            <a:avLst/>
          </a:prstGeom>
          <a:ln w="15240">
            <a:solidFill>
              <a:srgbClr val="315E9C"/>
            </a:solidFill>
          </a:ln>
          <a:effectLst/>
        </p:spPr>
      </p:cxnSp>
      <p:sp>
        <p:nvSpPr>
          <p:cNvPr id="21" name="Freeform 20"/>
          <p:cNvSpPr/>
          <p:nvPr/>
        </p:nvSpPr>
        <p:spPr>
          <a:xfrm>
            <a:off x="8869680" y="24917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2" name="Rounded Rectangle 21"/>
          <p:cNvSpPr/>
          <p:nvPr/>
        </p:nvSpPr>
        <p:spPr>
          <a:xfrm>
            <a:off x="9006840" y="1935480"/>
            <a:ext cx="2636520" cy="1203960"/>
          </a:xfrm>
          <a:prstGeom prst="roundRect">
            <a:avLst>
              <a:gd name="adj" fmla="val 8227"/>
            </a:avLst>
          </a:prstGeom>
          <a:solidFill>
            <a:srgbClr val="FFFFFF"/>
          </a:solidFill>
          <a:ln w="7620">
            <a:solidFill>
              <a:srgbClr val="315E9C"/>
            </a:solidFill>
          </a:ln>
          <a:effectLst/>
        </p:spPr>
        <p:txBody>
          <a:bodyPr rtlCol="0" anchor="ctr"/>
          <a:lstStyle/>
          <a:p>
            <a:pPr algn="ctr"/>
          </a:p>
        </p:txBody>
      </p:sp>
      <p:sp>
        <p:nvSpPr>
          <p:cNvPr id="23" name="TextBox 22"/>
          <p:cNvSpPr txBox="1"/>
          <p:nvPr/>
        </p:nvSpPr>
        <p:spPr>
          <a:xfrm>
            <a:off x="9174480" y="2103120"/>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C1</a:t>
            </a:r>
          </a:p>
        </p:txBody>
      </p:sp>
      <p:sp>
        <p:nvSpPr>
          <p:cNvPr id="24" name="TextBox 23"/>
          <p:cNvSpPr txBox="1"/>
          <p:nvPr/>
        </p:nvSpPr>
        <p:spPr>
          <a:xfrm>
            <a:off x="9174480" y="2366467"/>
            <a:ext cx="23012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acknowledgement</a:t>
            </a:r>
          </a:p>
        </p:txBody>
      </p:sp>
      <p:sp>
        <p:nvSpPr>
          <p:cNvPr id="25" name="TextBox 24"/>
          <p:cNvSpPr txBox="1"/>
          <p:nvPr/>
        </p:nvSpPr>
        <p:spPr>
          <a:xfrm>
            <a:off x="9174480" y="2706014"/>
            <a:ext cx="230124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Commit handoff receipt</a:t>
            </a:r>
          </a:p>
        </p:txBody>
      </p:sp>
      <p:sp>
        <p:nvSpPr>
          <p:cNvPr id="26" name="TextBox 25"/>
          <p:cNvSpPr txBox="1"/>
          <p:nvPr/>
        </p:nvSpPr>
        <p:spPr>
          <a:xfrm>
            <a:off x="670560" y="3451860"/>
            <a:ext cx="5090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KILLED AT THIS BOUNDARY</a:t>
            </a:r>
          </a:p>
        </p:txBody>
      </p:sp>
      <p:sp>
        <p:nvSpPr>
          <p:cNvPr id="27" name="TextBox 26"/>
          <p:cNvSpPr txBox="1"/>
          <p:nvPr/>
        </p:nvSpPr>
        <p:spPr>
          <a:xfrm>
            <a:off x="6004559" y="3451860"/>
            <a:ext cx="55168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AFTER A NEW PROCESS STARTS</a:t>
            </a:r>
          </a:p>
        </p:txBody>
      </p:sp>
      <p:sp>
        <p:nvSpPr>
          <p:cNvPr id="28" name="Rounded Rectangle 27"/>
          <p:cNvSpPr/>
          <p:nvPr/>
        </p:nvSpPr>
        <p:spPr>
          <a:xfrm>
            <a:off x="548640" y="3771900"/>
            <a:ext cx="11094720" cy="434339"/>
          </a:xfrm>
          <a:prstGeom prst="roundRect">
            <a:avLst>
              <a:gd name="adj" fmla="val 10526"/>
            </a:avLst>
          </a:prstGeom>
          <a:solidFill>
            <a:srgbClr val="FFFFFF"/>
          </a:solidFill>
          <a:ln>
            <a:noFill/>
          </a:ln>
          <a:effectLst/>
        </p:spPr>
        <p:txBody>
          <a:bodyPr rtlCol="0" anchor="ctr"/>
          <a:lstStyle/>
          <a:p>
            <a:pPr algn="ctr"/>
          </a:p>
        </p:txBody>
      </p:sp>
      <p:sp>
        <p:nvSpPr>
          <p:cNvPr id="29" name="TextBox 28"/>
          <p:cNvSpPr txBox="1"/>
          <p:nvPr/>
        </p:nvSpPr>
        <p:spPr>
          <a:xfrm>
            <a:off x="670560" y="3901440"/>
            <a:ext cx="5090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1 · Payload persisted; no C1 commit</a:t>
            </a:r>
          </a:p>
        </p:txBody>
      </p:sp>
      <p:sp>
        <p:nvSpPr>
          <p:cNvPr id="30" name="TextBox 29"/>
          <p:cNvSpPr txBox="1"/>
          <p:nvPr/>
        </p:nvSpPr>
        <p:spPr>
          <a:xfrm>
            <a:off x="6004559" y="3901440"/>
            <a:ext cx="55168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Replay recovers the atom; an orphan is not an event.</a:t>
            </a:r>
          </a:p>
        </p:txBody>
      </p:sp>
      <p:sp>
        <p:nvSpPr>
          <p:cNvPr id="31" name="Rounded Rectangle 30"/>
          <p:cNvSpPr/>
          <p:nvPr/>
        </p:nvSpPr>
        <p:spPr>
          <a:xfrm>
            <a:off x="548640" y="4244340"/>
            <a:ext cx="11094720" cy="434339"/>
          </a:xfrm>
          <a:prstGeom prst="roundRect">
            <a:avLst>
              <a:gd name="adj" fmla="val 10526"/>
            </a:avLst>
          </a:prstGeom>
          <a:solidFill>
            <a:srgbClr val="FFFFFF"/>
          </a:solidFill>
          <a:ln>
            <a:noFill/>
          </a:ln>
          <a:effectLst/>
        </p:spPr>
        <p:txBody>
          <a:bodyPr rtlCol="0" anchor="ctr"/>
          <a:lstStyle/>
          <a:p>
            <a:pPr algn="ctr"/>
          </a:p>
        </p:txBody>
      </p:sp>
      <p:sp>
        <p:nvSpPr>
          <p:cNvPr id="32" name="TextBox 31"/>
          <p:cNvSpPr txBox="1"/>
          <p:nvPr/>
        </p:nvSpPr>
        <p:spPr>
          <a:xfrm>
            <a:off x="670560" y="4373880"/>
            <a:ext cx="5090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2 · C1 intent committed; no C2 decision</a:t>
            </a:r>
          </a:p>
        </p:txBody>
      </p:sp>
      <p:sp>
        <p:nvSpPr>
          <p:cNvPr id="33" name="TextBox 32"/>
          <p:cNvSpPr txBox="1"/>
          <p:nvPr/>
        </p:nvSpPr>
        <p:spPr>
          <a:xfrm>
            <a:off x="6004559" y="4373880"/>
            <a:ext cx="55168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The relay resubmits its exact durable request.</a:t>
            </a:r>
          </a:p>
        </p:txBody>
      </p:sp>
      <p:sp>
        <p:nvSpPr>
          <p:cNvPr id="34" name="Rounded Rectangle 33"/>
          <p:cNvSpPr/>
          <p:nvPr/>
        </p:nvSpPr>
        <p:spPr>
          <a:xfrm>
            <a:off x="548640" y="4716780"/>
            <a:ext cx="11094720" cy="434339"/>
          </a:xfrm>
          <a:prstGeom prst="roundRect">
            <a:avLst>
              <a:gd name="adj" fmla="val 10526"/>
            </a:avLst>
          </a:prstGeom>
          <a:solidFill>
            <a:srgbClr val="FFFFFF"/>
          </a:solidFill>
          <a:ln>
            <a:noFill/>
          </a:ln>
          <a:effectLst/>
        </p:spPr>
        <p:txBody>
          <a:bodyPr rtlCol="0" anchor="ctr"/>
          <a:lstStyle/>
          <a:p>
            <a:pPr algn="ctr"/>
          </a:p>
        </p:txBody>
      </p:sp>
      <p:sp>
        <p:nvSpPr>
          <p:cNvPr id="35" name="TextBox 34"/>
          <p:cNvSpPr txBox="1"/>
          <p:nvPr/>
        </p:nvSpPr>
        <p:spPr>
          <a:xfrm>
            <a:off x="670560" y="4846320"/>
            <a:ext cx="5090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3 · Formula returned; no C2 commit</a:t>
            </a:r>
          </a:p>
        </p:txBody>
      </p:sp>
      <p:sp>
        <p:nvSpPr>
          <p:cNvPr id="36" name="TextBox 35"/>
          <p:cNvSpPr txBox="1"/>
          <p:nvPr/>
        </p:nvSpPr>
        <p:spPr>
          <a:xfrm>
            <a:off x="6004559" y="4846320"/>
            <a:ext cx="55168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Calculation may repeat; CAS and replay guard the effect.</a:t>
            </a:r>
          </a:p>
        </p:txBody>
      </p:sp>
      <p:sp>
        <p:nvSpPr>
          <p:cNvPr id="37" name="Rounded Rectangle 36"/>
          <p:cNvSpPr/>
          <p:nvPr/>
        </p:nvSpPr>
        <p:spPr>
          <a:xfrm>
            <a:off x="548640" y="5189220"/>
            <a:ext cx="11094720" cy="434339"/>
          </a:xfrm>
          <a:prstGeom prst="roundRect">
            <a:avLst>
              <a:gd name="adj" fmla="val 10526"/>
            </a:avLst>
          </a:prstGeom>
          <a:solidFill>
            <a:srgbClr val="FFFFFF"/>
          </a:solidFill>
          <a:ln>
            <a:noFill/>
          </a:ln>
          <a:effectLst/>
        </p:spPr>
        <p:txBody>
          <a:bodyPr rtlCol="0" anchor="ctr"/>
          <a:lstStyle/>
          <a:p>
            <a:pPr algn="ctr"/>
          </a:p>
        </p:txBody>
      </p:sp>
      <p:sp>
        <p:nvSpPr>
          <p:cNvPr id="38" name="TextBox 37"/>
          <p:cNvSpPr txBox="1"/>
          <p:nvPr/>
        </p:nvSpPr>
        <p:spPr>
          <a:xfrm>
            <a:off x="670560" y="5318760"/>
            <a:ext cx="5090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4 · C2 committed; no C1 acknowledgement</a:t>
            </a:r>
          </a:p>
        </p:txBody>
      </p:sp>
      <p:sp>
        <p:nvSpPr>
          <p:cNvPr id="39" name="TextBox 38"/>
          <p:cNvSpPr txBox="1"/>
          <p:nvPr/>
        </p:nvSpPr>
        <p:spPr>
          <a:xfrm>
            <a:off x="6004559" y="5318760"/>
            <a:ext cx="55168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Recover the same decision, then acknowledge separately.</a:t>
            </a:r>
          </a:p>
        </p:txBody>
      </p:sp>
      <p:sp>
        <p:nvSpPr>
          <p:cNvPr id="40" name="Rounded Rectangle 3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1" name="TextBox 40"/>
          <p:cNvSpPr txBox="1"/>
          <p:nvPr/>
        </p:nvSpPr>
        <p:spPr>
          <a:xfrm>
            <a:off x="716280" y="5905500"/>
            <a:ext cx="10744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102B3F"/>
                </a:solidFill>
                <a:latin typeface="DejaVu Sans"/>
              </a:rPr>
              <a:t>All four boundaries also run through the actual native Hive caller’s restart path.</a:t>
            </a:r>
          </a:p>
        </p:txBody>
      </p:sp>
      <p:cxnSp>
        <p:nvCxnSpPr>
          <p:cNvPr id="42" name="Connector 41"/>
          <p:cNvCxnSpPr/>
          <p:nvPr/>
        </p:nvCxnSpPr>
        <p:spPr>
          <a:xfrm>
            <a:off x="548640" y="6393180"/>
            <a:ext cx="11094720" cy="0"/>
          </a:xfrm>
          <a:prstGeom prst="line">
            <a:avLst/>
          </a:prstGeom>
          <a:ln w="7620">
            <a:solidFill>
              <a:srgbClr val="C9D2D4"/>
            </a:solidFill>
          </a:ln>
          <a:effectLst/>
        </p:spPr>
      </p:cxnSp>
      <p:sp>
        <p:nvSpPr>
          <p:cNvPr id="43" name="TextBox 4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test_recovery.py · test_m2_integration.py</a:t>
            </a:r>
          </a:p>
        </p:txBody>
      </p:sp>
      <p:sp>
        <p:nvSpPr>
          <p:cNvPr id="44" name="TextBox 4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19 / 38</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REFUSALS AND BOUNDED RECOVERY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Authority, replay and compatibility stay live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Saved success is evidence of an earlier decision, not permission to bypass current checks.</a:t>
            </a:r>
          </a:p>
        </p:txBody>
      </p:sp>
      <p:sp>
        <p:nvSpPr>
          <p:cNvPr id="5" name="TextBox 4"/>
          <p:cNvSpPr txBox="1"/>
          <p:nvPr/>
        </p:nvSpPr>
        <p:spPr>
          <a:xfrm>
            <a:off x="670560" y="1790700"/>
            <a:ext cx="3642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ATTEMPT OR INTERRUPTION</a:t>
            </a:r>
          </a:p>
        </p:txBody>
      </p:sp>
      <p:sp>
        <p:nvSpPr>
          <p:cNvPr id="6" name="TextBox 5"/>
          <p:cNvSpPr txBox="1"/>
          <p:nvPr/>
        </p:nvSpPr>
        <p:spPr>
          <a:xfrm>
            <a:off x="4556760" y="1790700"/>
            <a:ext cx="3489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REQUIRED BEHAVIOR</a:t>
            </a:r>
          </a:p>
        </p:txBody>
      </p:sp>
      <p:sp>
        <p:nvSpPr>
          <p:cNvPr id="7" name="TextBox 6"/>
          <p:cNvSpPr txBox="1"/>
          <p:nvPr/>
        </p:nvSpPr>
        <p:spPr>
          <a:xfrm>
            <a:off x="8290559" y="1790700"/>
            <a:ext cx="3230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PROTECTED BOUNDARY</a:t>
            </a:r>
          </a:p>
        </p:txBody>
      </p:sp>
      <p:sp>
        <p:nvSpPr>
          <p:cNvPr id="8" name="Rounded Rectangle 7"/>
          <p:cNvSpPr/>
          <p:nvPr/>
        </p:nvSpPr>
        <p:spPr>
          <a:xfrm>
            <a:off x="548640" y="2110740"/>
            <a:ext cx="11094720" cy="571500"/>
          </a:xfrm>
          <a:prstGeom prst="roundRect">
            <a:avLst>
              <a:gd name="adj" fmla="val 8000"/>
            </a:avLst>
          </a:prstGeom>
          <a:solidFill>
            <a:srgbClr val="FFFFFF"/>
          </a:solidFill>
          <a:ln>
            <a:noFill/>
          </a:ln>
          <a:effectLst/>
        </p:spPr>
        <p:txBody>
          <a:bodyPr rtlCol="0" anchor="ctr"/>
          <a:lstStyle/>
          <a:p>
            <a:pPr algn="ctr"/>
          </a:p>
        </p:txBody>
      </p:sp>
      <p:sp>
        <p:nvSpPr>
          <p:cNvPr id="9" name="TextBox 8"/>
          <p:cNvSpPr txBox="1"/>
          <p:nvPr/>
        </p:nvSpPr>
        <p:spPr>
          <a:xfrm>
            <a:off x="670560" y="2240280"/>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Supply actor identity in Hive params</a:t>
            </a:r>
          </a:p>
        </p:txBody>
      </p:sp>
      <p:sp>
        <p:nvSpPr>
          <p:cNvPr id="10" name="TextBox 9"/>
          <p:cNvSpPr txBox="1"/>
          <p:nvPr/>
        </p:nvSpPr>
        <p:spPr>
          <a:xfrm>
            <a:off x="4556760" y="22402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Native HTTP 400 identity_in_request</a:t>
            </a:r>
          </a:p>
        </p:txBody>
      </p:sp>
      <p:sp>
        <p:nvSpPr>
          <p:cNvPr id="11" name="TextBox 10"/>
          <p:cNvSpPr txBox="1"/>
          <p:nvPr/>
        </p:nvSpPr>
        <p:spPr>
          <a:xfrm>
            <a:off x="8290559" y="2240280"/>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Trusted actor context</a:t>
            </a:r>
          </a:p>
        </p:txBody>
      </p:sp>
      <p:sp>
        <p:nvSpPr>
          <p:cNvPr id="12" name="Rounded Rectangle 11"/>
          <p:cNvSpPr/>
          <p:nvPr/>
        </p:nvSpPr>
        <p:spPr>
          <a:xfrm>
            <a:off x="548640" y="2720340"/>
            <a:ext cx="11094720" cy="571500"/>
          </a:xfrm>
          <a:prstGeom prst="roundRect">
            <a:avLst>
              <a:gd name="adj" fmla="val 8000"/>
            </a:avLst>
          </a:prstGeom>
          <a:solidFill>
            <a:srgbClr val="FFFFFF"/>
          </a:solidFill>
          <a:ln>
            <a:noFill/>
          </a:ln>
          <a:effectLst/>
        </p:spPr>
        <p:txBody>
          <a:bodyPr rtlCol="0" anchor="ctr"/>
          <a:lstStyle/>
          <a:p>
            <a:pPr algn="ctr"/>
          </a:p>
        </p:txBody>
      </p:sp>
      <p:sp>
        <p:nvSpPr>
          <p:cNvPr id="13" name="TextBox 12"/>
          <p:cNvSpPr txBox="1"/>
          <p:nvPr/>
        </p:nvSpPr>
        <p:spPr>
          <a:xfrm>
            <a:off x="670560" y="2849880"/>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Revoke access after saved success</a:t>
            </a:r>
          </a:p>
        </p:txBody>
      </p:sp>
      <p:sp>
        <p:nvSpPr>
          <p:cNvPr id="14" name="TextBox 13"/>
          <p:cNvSpPr txBox="1"/>
          <p:nvPr/>
        </p:nvSpPr>
        <p:spPr>
          <a:xfrm>
            <a:off x="4556760" y="28498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UNAUTHORIZED on replay</a:t>
            </a:r>
          </a:p>
        </p:txBody>
      </p:sp>
      <p:sp>
        <p:nvSpPr>
          <p:cNvPr id="15" name="TextBox 14"/>
          <p:cNvSpPr txBox="1"/>
          <p:nvPr/>
        </p:nvSpPr>
        <p:spPr>
          <a:xfrm>
            <a:off x="8290559" y="2849880"/>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Current scope and method authority</a:t>
            </a:r>
          </a:p>
        </p:txBody>
      </p:sp>
      <p:sp>
        <p:nvSpPr>
          <p:cNvPr id="16" name="Rounded Rectangle 15"/>
          <p:cNvSpPr/>
          <p:nvPr/>
        </p:nvSpPr>
        <p:spPr>
          <a:xfrm>
            <a:off x="548640" y="3329940"/>
            <a:ext cx="11094720" cy="571500"/>
          </a:xfrm>
          <a:prstGeom prst="roundRect">
            <a:avLst>
              <a:gd name="adj" fmla="val 8000"/>
            </a:avLst>
          </a:prstGeom>
          <a:solidFill>
            <a:srgbClr val="FFFFFF"/>
          </a:solidFill>
          <a:ln>
            <a:noFill/>
          </a:ln>
          <a:effectLst/>
        </p:spPr>
        <p:txBody>
          <a:bodyPr rtlCol="0" anchor="ctr"/>
          <a:lstStyle/>
          <a:p>
            <a:pPr algn="ctr"/>
          </a:p>
        </p:txBody>
      </p:sp>
      <p:sp>
        <p:nvSpPr>
          <p:cNvPr id="17" name="TextBox 16"/>
          <p:cNvSpPr txBox="1"/>
          <p:nvPr/>
        </p:nvSpPr>
        <p:spPr>
          <a:xfrm>
            <a:off x="670560" y="3459479"/>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Revoke authority during formula</a:t>
            </a:r>
          </a:p>
        </p:txBody>
      </p:sp>
      <p:sp>
        <p:nvSpPr>
          <p:cNvPr id="18" name="TextBox 17"/>
          <p:cNvSpPr txBox="1"/>
          <p:nvPr/>
        </p:nvSpPr>
        <p:spPr>
          <a:xfrm>
            <a:off x="670560" y="3683812"/>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work</a:t>
            </a:r>
          </a:p>
        </p:txBody>
      </p:sp>
      <p:sp>
        <p:nvSpPr>
          <p:cNvPr id="19" name="TextBox 18"/>
          <p:cNvSpPr txBox="1"/>
          <p:nvPr/>
        </p:nvSpPr>
        <p:spPr>
          <a:xfrm>
            <a:off x="4556760" y="3459479"/>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Recheck before C2 commit</a:t>
            </a:r>
          </a:p>
        </p:txBody>
      </p:sp>
      <p:sp>
        <p:nvSpPr>
          <p:cNvPr id="20" name="TextBox 19"/>
          <p:cNvSpPr txBox="1"/>
          <p:nvPr/>
        </p:nvSpPr>
        <p:spPr>
          <a:xfrm>
            <a:off x="8290559" y="3459479"/>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unauthorized state change</a:t>
            </a:r>
          </a:p>
        </p:txBody>
      </p:sp>
      <p:sp>
        <p:nvSpPr>
          <p:cNvPr id="21" name="Rounded Rectangle 20"/>
          <p:cNvSpPr/>
          <p:nvPr/>
        </p:nvSpPr>
        <p:spPr>
          <a:xfrm>
            <a:off x="548640" y="3939540"/>
            <a:ext cx="11094720" cy="571500"/>
          </a:xfrm>
          <a:prstGeom prst="roundRect">
            <a:avLst>
              <a:gd name="adj" fmla="val 8000"/>
            </a:avLst>
          </a:prstGeom>
          <a:solidFill>
            <a:srgbClr val="FFFFFF"/>
          </a:solidFill>
          <a:ln>
            <a:noFill/>
          </a:ln>
          <a:effectLst/>
        </p:spPr>
        <p:txBody>
          <a:bodyPr rtlCol="0" anchor="ctr"/>
          <a:lstStyle/>
          <a:p>
            <a:pPr algn="ctr"/>
          </a:p>
        </p:txBody>
      </p:sp>
      <p:sp>
        <p:nvSpPr>
          <p:cNvPr id="22" name="TextBox 21"/>
          <p:cNvSpPr txBox="1"/>
          <p:nvPr/>
        </p:nvSpPr>
        <p:spPr>
          <a:xfrm>
            <a:off x="670560" y="4069079"/>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Change input under the same key</a:t>
            </a:r>
          </a:p>
        </p:txBody>
      </p:sp>
      <p:sp>
        <p:nvSpPr>
          <p:cNvPr id="23" name="TextBox 22"/>
          <p:cNvSpPr txBox="1"/>
          <p:nvPr/>
        </p:nvSpPr>
        <p:spPr>
          <a:xfrm>
            <a:off x="4556760" y="4069079"/>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CONFLICT</a:t>
            </a:r>
          </a:p>
        </p:txBody>
      </p:sp>
      <p:sp>
        <p:nvSpPr>
          <p:cNvPr id="24" name="TextBox 23"/>
          <p:cNvSpPr txBox="1"/>
          <p:nvPr/>
        </p:nvSpPr>
        <p:spPr>
          <a:xfrm>
            <a:off x="8290559" y="4069079"/>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Full semantic fingerprint</a:t>
            </a:r>
          </a:p>
        </p:txBody>
      </p:sp>
      <p:sp>
        <p:nvSpPr>
          <p:cNvPr id="25" name="Rounded Rectangle 24"/>
          <p:cNvSpPr/>
          <p:nvPr/>
        </p:nvSpPr>
        <p:spPr>
          <a:xfrm>
            <a:off x="548640" y="4549140"/>
            <a:ext cx="11094720" cy="571500"/>
          </a:xfrm>
          <a:prstGeom prst="roundRect">
            <a:avLst>
              <a:gd name="adj" fmla="val 8000"/>
            </a:avLst>
          </a:prstGeom>
          <a:solidFill>
            <a:srgbClr val="FFFFFF"/>
          </a:solidFill>
          <a:ln>
            <a:noFill/>
          </a:ln>
          <a:effectLst/>
        </p:spPr>
        <p:txBody>
          <a:bodyPr rtlCol="0" anchor="ctr"/>
          <a:lstStyle/>
          <a:p>
            <a:pPr algn="ctr"/>
          </a:p>
        </p:txBody>
      </p:sp>
      <p:sp>
        <p:nvSpPr>
          <p:cNvPr id="26" name="TextBox 25"/>
          <p:cNvSpPr txBox="1"/>
          <p:nvPr/>
        </p:nvSpPr>
        <p:spPr>
          <a:xfrm>
            <a:off x="670560" y="4678680"/>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Change descriptor / source / runtime</a:t>
            </a:r>
          </a:p>
        </p:txBody>
      </p:sp>
      <p:sp>
        <p:nvSpPr>
          <p:cNvPr id="27" name="TextBox 26"/>
          <p:cNvSpPr txBox="1"/>
          <p:nvPr/>
        </p:nvSpPr>
        <p:spPr>
          <a:xfrm>
            <a:off x="4556760" y="46786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Fail selected compatibility checks</a:t>
            </a:r>
          </a:p>
        </p:txBody>
      </p:sp>
      <p:sp>
        <p:nvSpPr>
          <p:cNvPr id="28" name="TextBox 27"/>
          <p:cNvSpPr txBox="1"/>
          <p:nvPr/>
        </p:nvSpPr>
        <p:spPr>
          <a:xfrm>
            <a:off x="8290559" y="4678680"/>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weaker fallback provider</a:t>
            </a:r>
          </a:p>
        </p:txBody>
      </p:sp>
      <p:sp>
        <p:nvSpPr>
          <p:cNvPr id="29" name="Rounded Rectangle 28"/>
          <p:cNvSpPr/>
          <p:nvPr/>
        </p:nvSpPr>
        <p:spPr>
          <a:xfrm>
            <a:off x="548640" y="5158740"/>
            <a:ext cx="11094720" cy="571500"/>
          </a:xfrm>
          <a:prstGeom prst="roundRect">
            <a:avLst>
              <a:gd name="adj" fmla="val 8000"/>
            </a:avLst>
          </a:prstGeom>
          <a:solidFill>
            <a:srgbClr val="FFFFFF"/>
          </a:solidFill>
          <a:ln>
            <a:noFill/>
          </a:ln>
          <a:effectLst/>
        </p:spPr>
        <p:txBody>
          <a:bodyPr rtlCol="0" anchor="ctr"/>
          <a:lstStyle/>
          <a:p>
            <a:pPr algn="ctr"/>
          </a:p>
        </p:txBody>
      </p:sp>
      <p:sp>
        <p:nvSpPr>
          <p:cNvPr id="30" name="TextBox 29"/>
          <p:cNvSpPr txBox="1"/>
          <p:nvPr/>
        </p:nvSpPr>
        <p:spPr>
          <a:xfrm>
            <a:off x="670560" y="5288280"/>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Transient owner contention or</a:t>
            </a:r>
          </a:p>
        </p:txBody>
      </p:sp>
      <p:sp>
        <p:nvSpPr>
          <p:cNvPr id="31" name="TextBox 30"/>
          <p:cNvSpPr txBox="1"/>
          <p:nvPr/>
        </p:nvSpPr>
        <p:spPr>
          <a:xfrm>
            <a:off x="670560" y="5512612"/>
            <a:ext cx="36423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timeout</a:t>
            </a:r>
          </a:p>
        </p:txBody>
      </p:sp>
      <p:sp>
        <p:nvSpPr>
          <p:cNvPr id="32" name="TextBox 31"/>
          <p:cNvSpPr txBox="1"/>
          <p:nvPr/>
        </p:nvSpPr>
        <p:spPr>
          <a:xfrm>
            <a:off x="4556760" y="52882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Keep exact intent pending; no ack</a:t>
            </a:r>
          </a:p>
        </p:txBody>
      </p:sp>
      <p:sp>
        <p:nvSpPr>
          <p:cNvPr id="33" name="TextBox 32"/>
          <p:cNvSpPr txBox="1"/>
          <p:nvPr/>
        </p:nvSpPr>
        <p:spPr>
          <a:xfrm>
            <a:off x="8290559" y="5288280"/>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Recoverability without extra</a:t>
            </a:r>
          </a:p>
        </p:txBody>
      </p:sp>
      <p:sp>
        <p:nvSpPr>
          <p:cNvPr id="34" name="TextBox 33"/>
          <p:cNvSpPr txBox="1"/>
          <p:nvPr/>
        </p:nvSpPr>
        <p:spPr>
          <a:xfrm>
            <a:off x="8290559" y="5512612"/>
            <a:ext cx="32308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evidence</a:t>
            </a:r>
          </a:p>
        </p:txBody>
      </p:sp>
      <p:sp>
        <p:nvSpPr>
          <p:cNvPr id="35" name="Rounded Rectangle 34"/>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6" name="TextBox 35"/>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A genuine CAS conflict needs a new key with the reconciled revision; transient retries keep the original key.</a:t>
            </a:r>
          </a:p>
        </p:txBody>
      </p:sp>
      <p:cxnSp>
        <p:nvCxnSpPr>
          <p:cNvPr id="37" name="Connector 36"/>
          <p:cNvCxnSpPr/>
          <p:nvPr/>
        </p:nvCxnSpPr>
        <p:spPr>
          <a:xfrm>
            <a:off x="548640" y="6393180"/>
            <a:ext cx="11094720" cy="0"/>
          </a:xfrm>
          <a:prstGeom prst="line">
            <a:avLst/>
          </a:prstGeom>
          <a:ln w="7620">
            <a:solidFill>
              <a:srgbClr val="C9D2D4"/>
            </a:solidFill>
          </a:ln>
          <a:effectLst/>
        </p:spPr>
      </p:cxnSp>
      <p:sp>
        <p:nvSpPr>
          <p:cNvPr id="38" name="TextBox 3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private.py · beliefs.py · evidence_relay.py</a:t>
            </a:r>
          </a:p>
        </p:txBody>
      </p:sp>
      <p:sp>
        <p:nvSpPr>
          <p:cNvPr id="39" name="TextBox 3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20 / 38</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NATIVE INTEGRATION</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One actual Hive episode reaches private C1 and C2</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Same verified Hive source and native Programs entrypoint; a sibling plugin hosts the generated scenario.</a:t>
            </a:r>
          </a:p>
        </p:txBody>
      </p:sp>
      <p:sp>
        <p:nvSpPr>
          <p:cNvPr id="5" name="Rounded Rectangle 4"/>
          <p:cNvSpPr/>
          <p:nvPr/>
        </p:nvSpPr>
        <p:spPr>
          <a:xfrm>
            <a:off x="548640" y="1790700"/>
            <a:ext cx="11094720" cy="693420"/>
          </a:xfrm>
          <a:prstGeom prst="roundRect">
            <a:avLst>
              <a:gd name="adj" fmla="val 13186"/>
            </a:avLst>
          </a:prstGeom>
          <a:solidFill>
            <a:srgbClr val="0B2233"/>
          </a:solidFill>
          <a:ln>
            <a:noFill/>
          </a:ln>
          <a:effectLst/>
        </p:spPr>
        <p:txBody>
          <a:bodyPr rtlCol="0" anchor="ctr"/>
          <a:lstStyle/>
          <a:p>
            <a:pPr algn="ctr"/>
          </a:p>
        </p:txBody>
      </p:sp>
      <p:sp>
        <p:nvSpPr>
          <p:cNvPr id="6" name="TextBox 5"/>
          <p:cNvSpPr txBox="1"/>
          <p:nvPr/>
        </p:nvSpPr>
        <p:spPr>
          <a:xfrm>
            <a:off x="762000" y="1988820"/>
            <a:ext cx="10591800" cy="331622"/>
          </a:xfrm>
          <a:prstGeom prst="rect">
            <a:avLst/>
          </a:prstGeom>
          <a:noFill/>
        </p:spPr>
        <p:txBody>
          <a:bodyPr wrap="none" lIns="0" rIns="0" tIns="0" bIns="0" anchor="t" anchorCtr="0">
            <a:noAutofit/>
          </a:bodyPr>
          <a:lstStyle/>
          <a:p>
            <a:pPr algn="l">
              <a:lnSpc>
                <a:spcPct val="100000"/>
              </a:lnSpc>
              <a:spcBef>
                <a:spcPts val="0"/>
              </a:spcBef>
              <a:spcAft>
                <a:spcPts val="0"/>
              </a:spcAft>
            </a:pPr>
            <a:r>
              <a:rPr sz="2039" b="0">
                <a:solidFill>
                  <a:srgbClr val="FFFFFF"/>
                </a:solidFill>
                <a:latin typeface="DejaVu Sans Mono"/>
              </a:rPr>
              <a:t>POST /api/programs/fusion-episode/act</a:t>
            </a:r>
          </a:p>
        </p:txBody>
      </p:sp>
      <p:sp>
        <p:nvSpPr>
          <p:cNvPr id="7" name="Rounded Rectangle 6"/>
          <p:cNvSpPr/>
          <p:nvPr/>
        </p:nvSpPr>
        <p:spPr>
          <a:xfrm>
            <a:off x="548640" y="2857500"/>
            <a:ext cx="1524000" cy="403859"/>
          </a:xfrm>
          <a:prstGeom prst="roundRect">
            <a:avLst>
              <a:gd name="adj" fmla="val 13207"/>
            </a:avLst>
          </a:prstGeom>
          <a:solidFill>
            <a:srgbClr val="DCEFE8"/>
          </a:solidFill>
          <a:ln>
            <a:noFill/>
          </a:ln>
          <a:effectLst/>
        </p:spPr>
        <p:txBody>
          <a:bodyPr rtlCol="0" anchor="ctr"/>
          <a:lstStyle/>
          <a:p>
            <a:pPr algn="ctr"/>
          </a:p>
        </p:txBody>
      </p:sp>
      <p:sp>
        <p:nvSpPr>
          <p:cNvPr id="8" name="TextBox 7"/>
          <p:cNvSpPr txBox="1"/>
          <p:nvPr/>
        </p:nvSpPr>
        <p:spPr>
          <a:xfrm>
            <a:off x="632460" y="2979420"/>
            <a:ext cx="137922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Native Hive</a:t>
            </a:r>
          </a:p>
        </p:txBody>
      </p:sp>
      <p:cxnSp>
        <p:nvCxnSpPr>
          <p:cNvPr id="9" name="Connector 8"/>
          <p:cNvCxnSpPr/>
          <p:nvPr/>
        </p:nvCxnSpPr>
        <p:spPr>
          <a:xfrm>
            <a:off x="1310640" y="3352800"/>
            <a:ext cx="0" cy="2171700"/>
          </a:xfrm>
          <a:prstGeom prst="line">
            <a:avLst/>
          </a:prstGeom>
          <a:ln w="15240">
            <a:solidFill>
              <a:srgbClr val="C9D2D4"/>
            </a:solidFill>
            <a:prstDash val="dash"/>
          </a:ln>
          <a:effectLst/>
        </p:spPr>
      </p:cxnSp>
      <p:sp>
        <p:nvSpPr>
          <p:cNvPr id="10" name="Rounded Rectangle 9"/>
          <p:cNvSpPr/>
          <p:nvPr/>
        </p:nvSpPr>
        <p:spPr>
          <a:xfrm>
            <a:off x="3733800" y="2857500"/>
            <a:ext cx="1524000" cy="403859"/>
          </a:xfrm>
          <a:prstGeom prst="roundRect">
            <a:avLst>
              <a:gd name="adj" fmla="val 13207"/>
            </a:avLst>
          </a:prstGeom>
          <a:solidFill>
            <a:srgbClr val="DCEFE8"/>
          </a:solidFill>
          <a:ln>
            <a:noFill/>
          </a:ln>
          <a:effectLst/>
        </p:spPr>
        <p:txBody>
          <a:bodyPr rtlCol="0" anchor="ctr"/>
          <a:lstStyle/>
          <a:p>
            <a:pPr algn="ctr"/>
          </a:p>
        </p:txBody>
      </p:sp>
      <p:sp>
        <p:nvSpPr>
          <p:cNvPr id="11" name="TextBox 10"/>
          <p:cNvSpPr txBox="1"/>
          <p:nvPr/>
        </p:nvSpPr>
        <p:spPr>
          <a:xfrm>
            <a:off x="3817619" y="2979420"/>
            <a:ext cx="137922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Scenario + relay</a:t>
            </a:r>
          </a:p>
        </p:txBody>
      </p:sp>
      <p:cxnSp>
        <p:nvCxnSpPr>
          <p:cNvPr id="12" name="Connector 11"/>
          <p:cNvCxnSpPr/>
          <p:nvPr/>
        </p:nvCxnSpPr>
        <p:spPr>
          <a:xfrm>
            <a:off x="4495800" y="3352800"/>
            <a:ext cx="0" cy="2171700"/>
          </a:xfrm>
          <a:prstGeom prst="line">
            <a:avLst/>
          </a:prstGeom>
          <a:ln w="15240">
            <a:solidFill>
              <a:srgbClr val="C9D2D4"/>
            </a:solidFill>
            <a:prstDash val="dash"/>
          </a:ln>
          <a:effectLst/>
        </p:spPr>
      </p:cxnSp>
      <p:sp>
        <p:nvSpPr>
          <p:cNvPr id="13" name="Rounded Rectangle 12"/>
          <p:cNvSpPr/>
          <p:nvPr/>
        </p:nvSpPr>
        <p:spPr>
          <a:xfrm>
            <a:off x="6918959" y="2857500"/>
            <a:ext cx="1524000" cy="403859"/>
          </a:xfrm>
          <a:prstGeom prst="roundRect">
            <a:avLst>
              <a:gd name="adj" fmla="val 13207"/>
            </a:avLst>
          </a:prstGeom>
          <a:solidFill>
            <a:srgbClr val="DCEFE8"/>
          </a:solidFill>
          <a:ln>
            <a:noFill/>
          </a:ln>
          <a:effectLst/>
        </p:spPr>
        <p:txBody>
          <a:bodyPr rtlCol="0" anchor="ctr"/>
          <a:lstStyle/>
          <a:p>
            <a:pPr algn="ctr"/>
          </a:p>
        </p:txBody>
      </p:sp>
      <p:sp>
        <p:nvSpPr>
          <p:cNvPr id="14" name="TextBox 13"/>
          <p:cNvSpPr txBox="1"/>
          <p:nvPr/>
        </p:nvSpPr>
        <p:spPr>
          <a:xfrm>
            <a:off x="7002780" y="2979420"/>
            <a:ext cx="137922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Private C1 / C2</a:t>
            </a:r>
          </a:p>
        </p:txBody>
      </p:sp>
      <p:cxnSp>
        <p:nvCxnSpPr>
          <p:cNvPr id="15" name="Connector 14"/>
          <p:cNvCxnSpPr/>
          <p:nvPr/>
        </p:nvCxnSpPr>
        <p:spPr>
          <a:xfrm>
            <a:off x="7680959" y="3352800"/>
            <a:ext cx="0" cy="2171700"/>
          </a:xfrm>
          <a:prstGeom prst="line">
            <a:avLst/>
          </a:prstGeom>
          <a:ln w="15240">
            <a:solidFill>
              <a:srgbClr val="C9D2D4"/>
            </a:solidFill>
            <a:prstDash val="dash"/>
          </a:ln>
          <a:effectLst/>
        </p:spPr>
      </p:cxnSp>
      <p:sp>
        <p:nvSpPr>
          <p:cNvPr id="16" name="Rounded Rectangle 15"/>
          <p:cNvSpPr/>
          <p:nvPr/>
        </p:nvSpPr>
        <p:spPr>
          <a:xfrm>
            <a:off x="10104120" y="2857500"/>
            <a:ext cx="1524000" cy="403859"/>
          </a:xfrm>
          <a:prstGeom prst="roundRect">
            <a:avLst>
              <a:gd name="adj" fmla="val 13207"/>
            </a:avLst>
          </a:prstGeom>
          <a:solidFill>
            <a:srgbClr val="DCEFE8"/>
          </a:solidFill>
          <a:ln>
            <a:noFill/>
          </a:ln>
          <a:effectLst/>
        </p:spPr>
        <p:txBody>
          <a:bodyPr rtlCol="0" anchor="ctr"/>
          <a:lstStyle/>
          <a:p>
            <a:pPr algn="ctr"/>
          </a:p>
        </p:txBody>
      </p:sp>
      <p:sp>
        <p:nvSpPr>
          <p:cNvPr id="17" name="TextBox 16"/>
          <p:cNvSpPr txBox="1"/>
          <p:nvPr/>
        </p:nvSpPr>
        <p:spPr>
          <a:xfrm>
            <a:off x="10187940" y="2979420"/>
            <a:ext cx="137922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Native PLN</a:t>
            </a:r>
          </a:p>
        </p:txBody>
      </p:sp>
      <p:cxnSp>
        <p:nvCxnSpPr>
          <p:cNvPr id="18" name="Connector 17"/>
          <p:cNvCxnSpPr/>
          <p:nvPr/>
        </p:nvCxnSpPr>
        <p:spPr>
          <a:xfrm>
            <a:off x="10866120" y="3352800"/>
            <a:ext cx="0" cy="2171700"/>
          </a:xfrm>
          <a:prstGeom prst="line">
            <a:avLst/>
          </a:prstGeom>
          <a:ln w="15240">
            <a:solidFill>
              <a:srgbClr val="C9D2D4"/>
            </a:solidFill>
            <a:prstDash val="dash"/>
          </a:ln>
          <a:effectLst/>
        </p:spPr>
      </p:cxnSp>
      <p:sp>
        <p:nvSpPr>
          <p:cNvPr id="19" name="Rectangle 18"/>
          <p:cNvSpPr/>
          <p:nvPr/>
        </p:nvSpPr>
        <p:spPr>
          <a:xfrm>
            <a:off x="1341120" y="3413760"/>
            <a:ext cx="3503038" cy="213360"/>
          </a:xfrm>
          <a:prstGeom prst="rect">
            <a:avLst/>
          </a:prstGeom>
          <a:solidFill>
            <a:srgbClr val="F4F2EB"/>
          </a:solidFill>
          <a:ln>
            <a:noFill/>
          </a:ln>
          <a:effectLst/>
        </p:spPr>
        <p:txBody>
          <a:bodyPr rtlCol="0" anchor="ctr"/>
          <a:lstStyle/>
          <a:p>
            <a:pPr algn="ctr"/>
          </a:p>
        </p:txBody>
      </p:sp>
      <p:sp>
        <p:nvSpPr>
          <p:cNvPr id="20" name="TextBox 19"/>
          <p:cNvSpPr txBox="1"/>
          <p:nvPr/>
        </p:nvSpPr>
        <p:spPr>
          <a:xfrm>
            <a:off x="1379220" y="3421379"/>
            <a:ext cx="10195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102B3F"/>
                </a:solidFill>
                <a:latin typeface="DejaVu Sans"/>
              </a:rPr>
              <a:t>1 Authenticate; trusted actor + command</a:t>
            </a:r>
          </a:p>
        </p:txBody>
      </p:sp>
      <p:cxnSp>
        <p:nvCxnSpPr>
          <p:cNvPr id="21" name="Connector 20"/>
          <p:cNvCxnSpPr/>
          <p:nvPr/>
        </p:nvCxnSpPr>
        <p:spPr>
          <a:xfrm>
            <a:off x="1310640" y="3642360"/>
            <a:ext cx="3185160" cy="0"/>
          </a:xfrm>
          <a:prstGeom prst="line">
            <a:avLst/>
          </a:prstGeom>
          <a:ln w="15240">
            <a:solidFill>
              <a:srgbClr val="007C78"/>
            </a:solidFill>
          </a:ln>
          <a:effectLst/>
        </p:spPr>
      </p:cxnSp>
      <p:sp>
        <p:nvSpPr>
          <p:cNvPr id="22" name="Freeform 21"/>
          <p:cNvSpPr/>
          <p:nvPr/>
        </p:nvSpPr>
        <p:spPr>
          <a:xfrm>
            <a:off x="4396740" y="360426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3" name="Rectangle 22"/>
          <p:cNvSpPr/>
          <p:nvPr/>
        </p:nvSpPr>
        <p:spPr>
          <a:xfrm>
            <a:off x="4526280" y="3878579"/>
            <a:ext cx="3371224" cy="213360"/>
          </a:xfrm>
          <a:prstGeom prst="rect">
            <a:avLst/>
          </a:prstGeom>
          <a:solidFill>
            <a:srgbClr val="F4F2EB"/>
          </a:solidFill>
          <a:ln>
            <a:noFill/>
          </a:ln>
          <a:effectLst/>
        </p:spPr>
        <p:txBody>
          <a:bodyPr rtlCol="0" anchor="ctr"/>
          <a:lstStyle/>
          <a:p>
            <a:pPr algn="ctr"/>
          </a:p>
        </p:txBody>
      </p:sp>
      <p:sp>
        <p:nvSpPr>
          <p:cNvPr id="24" name="TextBox 23"/>
          <p:cNvSpPr txBox="1"/>
          <p:nvPr/>
        </p:nvSpPr>
        <p:spPr>
          <a:xfrm>
            <a:off x="4564380" y="3886200"/>
            <a:ext cx="7010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102B3F"/>
                </a:solidFill>
                <a:latin typeface="DejaVu Sans"/>
              </a:rPr>
              <a:t>2 Record events; submit exact evidence</a:t>
            </a:r>
          </a:p>
        </p:txBody>
      </p:sp>
      <p:cxnSp>
        <p:nvCxnSpPr>
          <p:cNvPr id="25" name="Connector 24"/>
          <p:cNvCxnSpPr/>
          <p:nvPr/>
        </p:nvCxnSpPr>
        <p:spPr>
          <a:xfrm>
            <a:off x="4495800" y="4107179"/>
            <a:ext cx="3185159" cy="0"/>
          </a:xfrm>
          <a:prstGeom prst="line">
            <a:avLst/>
          </a:prstGeom>
          <a:ln w="15240">
            <a:solidFill>
              <a:srgbClr val="007C78"/>
            </a:solidFill>
          </a:ln>
          <a:effectLst/>
        </p:spPr>
      </p:cxnSp>
      <p:sp>
        <p:nvSpPr>
          <p:cNvPr id="26" name="Freeform 25"/>
          <p:cNvSpPr/>
          <p:nvPr/>
        </p:nvSpPr>
        <p:spPr>
          <a:xfrm>
            <a:off x="7581900" y="406908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7" name="Rectangle 26"/>
          <p:cNvSpPr/>
          <p:nvPr/>
        </p:nvSpPr>
        <p:spPr>
          <a:xfrm>
            <a:off x="7711439" y="4343400"/>
            <a:ext cx="3200734" cy="213360"/>
          </a:xfrm>
          <a:prstGeom prst="rect">
            <a:avLst/>
          </a:prstGeom>
          <a:solidFill>
            <a:srgbClr val="F4F2EB"/>
          </a:solidFill>
          <a:ln>
            <a:noFill/>
          </a:ln>
          <a:effectLst/>
        </p:spPr>
        <p:txBody>
          <a:bodyPr rtlCol="0" anchor="ctr"/>
          <a:lstStyle/>
          <a:p>
            <a:pPr algn="ctr"/>
          </a:p>
        </p:txBody>
      </p:sp>
      <p:sp>
        <p:nvSpPr>
          <p:cNvPr id="28" name="TextBox 27"/>
          <p:cNvSpPr txBox="1"/>
          <p:nvPr/>
        </p:nvSpPr>
        <p:spPr>
          <a:xfrm>
            <a:off x="7749539" y="4351020"/>
            <a:ext cx="382524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102B3F"/>
                </a:solidFill>
                <a:latin typeface="DejaVu Sans"/>
              </a:rPr>
              <a:t>3 Eligible pair → actual Truth_Revision</a:t>
            </a:r>
          </a:p>
        </p:txBody>
      </p:sp>
      <p:cxnSp>
        <p:nvCxnSpPr>
          <p:cNvPr id="29" name="Connector 28"/>
          <p:cNvCxnSpPr/>
          <p:nvPr/>
        </p:nvCxnSpPr>
        <p:spPr>
          <a:xfrm>
            <a:off x="7680959" y="4572000"/>
            <a:ext cx="3185161" cy="0"/>
          </a:xfrm>
          <a:prstGeom prst="line">
            <a:avLst/>
          </a:prstGeom>
          <a:ln w="15240">
            <a:solidFill>
              <a:srgbClr val="007C78"/>
            </a:solidFill>
          </a:ln>
          <a:effectLst/>
        </p:spPr>
      </p:cxnSp>
      <p:sp>
        <p:nvSpPr>
          <p:cNvPr id="30" name="Freeform 29"/>
          <p:cNvSpPr/>
          <p:nvPr/>
        </p:nvSpPr>
        <p:spPr>
          <a:xfrm>
            <a:off x="10767060" y="453390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31" name="Rectangle 30"/>
          <p:cNvSpPr/>
          <p:nvPr/>
        </p:nvSpPr>
        <p:spPr>
          <a:xfrm>
            <a:off x="4526280" y="4808220"/>
            <a:ext cx="3332782" cy="213360"/>
          </a:xfrm>
          <a:prstGeom prst="rect">
            <a:avLst/>
          </a:prstGeom>
          <a:solidFill>
            <a:srgbClr val="F4F2EB"/>
          </a:solidFill>
          <a:ln>
            <a:noFill/>
          </a:ln>
          <a:effectLst/>
        </p:spPr>
        <p:txBody>
          <a:bodyPr rtlCol="0" anchor="ctr"/>
          <a:lstStyle/>
          <a:p>
            <a:pPr algn="ctr"/>
          </a:p>
        </p:txBody>
      </p:sp>
      <p:sp>
        <p:nvSpPr>
          <p:cNvPr id="32" name="TextBox 31"/>
          <p:cNvSpPr txBox="1"/>
          <p:nvPr/>
        </p:nvSpPr>
        <p:spPr>
          <a:xfrm>
            <a:off x="4564380" y="4815840"/>
            <a:ext cx="7010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102B3F"/>
                </a:solidFill>
                <a:latin typeface="DejaVu Sans"/>
              </a:rPr>
              <a:t>4 Save decision; acknowledge evidence</a:t>
            </a:r>
          </a:p>
        </p:txBody>
      </p:sp>
      <p:cxnSp>
        <p:nvCxnSpPr>
          <p:cNvPr id="33" name="Connector 32"/>
          <p:cNvCxnSpPr/>
          <p:nvPr/>
        </p:nvCxnSpPr>
        <p:spPr>
          <a:xfrm flipH="1">
            <a:off x="4495800" y="5036820"/>
            <a:ext cx="3185159" cy="0"/>
          </a:xfrm>
          <a:prstGeom prst="line">
            <a:avLst/>
          </a:prstGeom>
          <a:ln w="15240">
            <a:solidFill>
              <a:srgbClr val="007C78"/>
            </a:solidFill>
          </a:ln>
          <a:effectLst/>
        </p:spPr>
      </p:cxnSp>
      <p:sp>
        <p:nvSpPr>
          <p:cNvPr id="34" name="Freeform 33"/>
          <p:cNvSpPr/>
          <p:nvPr/>
        </p:nvSpPr>
        <p:spPr>
          <a:xfrm>
            <a:off x="4495800" y="4998720"/>
            <a:ext cx="99060" cy="76200"/>
          </a:xfrm>
          <a:custGeom>
            <a:avLst/>
            <a:gdLst/>
            <a:ahLst/>
            <a:cxnLst/>
            <a:rect l="l" t="t" r="r" b="b"/>
            <a:pathLst>
              <a:path w="13" h="10">
                <a:moveTo>
                  <a:pt x="0" y="5"/>
                </a:moveTo>
                <a:lnTo>
                  <a:pt x="13" y="10"/>
                </a:lnTo>
                <a:lnTo>
                  <a:pt x="13" y="0"/>
                </a:lnTo>
                <a:close/>
              </a:path>
            </a:pathLst>
          </a:custGeom>
          <a:solidFill>
            <a:srgbClr val="007C78"/>
          </a:solidFill>
          <a:ln>
            <a:noFill/>
          </a:ln>
          <a:effectLst/>
        </p:spPr>
        <p:txBody>
          <a:bodyPr rtlCol="0" anchor="ctr"/>
          <a:lstStyle/>
          <a:p>
            <a:pPr algn="ctr"/>
          </a:p>
        </p:txBody>
      </p:sp>
      <p:sp>
        <p:nvSpPr>
          <p:cNvPr id="35" name="Rectangle 34"/>
          <p:cNvSpPr/>
          <p:nvPr/>
        </p:nvSpPr>
        <p:spPr>
          <a:xfrm>
            <a:off x="1341120" y="5273040"/>
            <a:ext cx="3598831" cy="213360"/>
          </a:xfrm>
          <a:prstGeom prst="rect">
            <a:avLst/>
          </a:prstGeom>
          <a:solidFill>
            <a:srgbClr val="F4F2EB"/>
          </a:solidFill>
          <a:ln>
            <a:noFill/>
          </a:ln>
          <a:effectLst/>
        </p:spPr>
        <p:txBody>
          <a:bodyPr rtlCol="0" anchor="ctr"/>
          <a:lstStyle/>
          <a:p>
            <a:pPr algn="ctr"/>
          </a:p>
        </p:txBody>
      </p:sp>
      <p:sp>
        <p:nvSpPr>
          <p:cNvPr id="36" name="TextBox 35"/>
          <p:cNvSpPr txBox="1"/>
          <p:nvPr/>
        </p:nvSpPr>
        <p:spPr>
          <a:xfrm>
            <a:off x="1379220" y="5280660"/>
            <a:ext cx="10195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102B3F"/>
                </a:solidFill>
                <a:latin typeface="DejaVu Sans"/>
              </a:rPr>
              <a:t>5 Return counts + public command receipt</a:t>
            </a:r>
          </a:p>
        </p:txBody>
      </p:sp>
      <p:cxnSp>
        <p:nvCxnSpPr>
          <p:cNvPr id="37" name="Connector 36"/>
          <p:cNvCxnSpPr/>
          <p:nvPr/>
        </p:nvCxnSpPr>
        <p:spPr>
          <a:xfrm flipH="1">
            <a:off x="1310640" y="5501640"/>
            <a:ext cx="3185160" cy="0"/>
          </a:xfrm>
          <a:prstGeom prst="line">
            <a:avLst/>
          </a:prstGeom>
          <a:ln w="15240">
            <a:solidFill>
              <a:srgbClr val="007C78"/>
            </a:solidFill>
          </a:ln>
          <a:effectLst/>
        </p:spPr>
      </p:cxnSp>
      <p:sp>
        <p:nvSpPr>
          <p:cNvPr id="38" name="Freeform 37"/>
          <p:cNvSpPr/>
          <p:nvPr/>
        </p:nvSpPr>
        <p:spPr>
          <a:xfrm>
            <a:off x="1310640" y="5463540"/>
            <a:ext cx="99060" cy="76200"/>
          </a:xfrm>
          <a:custGeom>
            <a:avLst/>
            <a:gdLst/>
            <a:ahLst/>
            <a:cxnLst/>
            <a:rect l="l" t="t" r="r" b="b"/>
            <a:pathLst>
              <a:path w="13" h="10">
                <a:moveTo>
                  <a:pt x="0" y="5"/>
                </a:moveTo>
                <a:lnTo>
                  <a:pt x="13" y="10"/>
                </a:lnTo>
                <a:lnTo>
                  <a:pt x="13" y="0"/>
                </a:lnTo>
                <a:close/>
              </a:path>
            </a:pathLst>
          </a:custGeom>
          <a:solidFill>
            <a:srgbClr val="007C78"/>
          </a:solidFill>
          <a:ln>
            <a:noFill/>
          </a:ln>
          <a:effectLst/>
        </p:spPr>
        <p:txBody>
          <a:bodyPr rtlCol="0" anchor="ctr"/>
          <a:lstStyle/>
          <a:p>
            <a:pPr algn="ctr"/>
          </a:p>
        </p:txBody>
      </p:sp>
      <p:sp>
        <p:nvSpPr>
          <p:cNvPr id="39" name="Rounded Rectangle 38"/>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0" name="TextBox 39"/>
          <p:cNvSpPr txBox="1"/>
          <p:nvPr/>
        </p:nvSpPr>
        <p:spPr>
          <a:xfrm>
            <a:off x="716280" y="5905500"/>
            <a:ext cx="10744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7 native Hive tests passed: real app, authentication, Supervisor, PeTTa and plugin loader.</a:t>
            </a:r>
          </a:p>
        </p:txBody>
      </p:sp>
      <p:cxnSp>
        <p:nvCxnSpPr>
          <p:cNvPr id="41" name="Connector 40"/>
          <p:cNvCxnSpPr/>
          <p:nvPr/>
        </p:nvCxnSpPr>
        <p:spPr>
          <a:xfrm>
            <a:off x="548640" y="6393180"/>
            <a:ext cx="11094720" cy="0"/>
          </a:xfrm>
          <a:prstGeom prst="line">
            <a:avLst/>
          </a:prstGeom>
          <a:ln w="7620">
            <a:solidFill>
              <a:srgbClr val="C9D2D4"/>
            </a:solidFill>
          </a:ln>
          <a:effectLst/>
        </p:spPr>
      </p:cxnSp>
      <p:sp>
        <p:nvSpPr>
          <p:cNvPr id="42" name="TextBox 4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episode_program/program.py · test_m2_integration.py</a:t>
            </a:r>
          </a:p>
        </p:txBody>
      </p:sp>
      <p:sp>
        <p:nvSpPr>
          <p:cNvPr id="43" name="TextBox 4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21 / 38</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DEMONSTRATED BEHAVIOR</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The recorded story keeps copies and disagreement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Generated scenario, real local DeTTa and native PLN; the CLI record is separate from the real Hive gate.</a:t>
            </a:r>
          </a:p>
        </p:txBody>
      </p:sp>
      <p:sp>
        <p:nvSpPr>
          <p:cNvPr id="5" name="TextBox 4"/>
          <p:cNvSpPr txBox="1"/>
          <p:nvPr/>
        </p:nvSpPr>
        <p:spPr>
          <a:xfrm>
            <a:off x="670560" y="1790700"/>
            <a:ext cx="3947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STORY EVENT</a:t>
            </a:r>
          </a:p>
        </p:txBody>
      </p:sp>
      <p:sp>
        <p:nvSpPr>
          <p:cNvPr id="6" name="TextBox 5"/>
          <p:cNvSpPr txBox="1"/>
          <p:nvPr/>
        </p:nvSpPr>
        <p:spPr>
          <a:xfrm>
            <a:off x="4861560" y="1790700"/>
            <a:ext cx="2727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NUMERICAL OUTCOME</a:t>
            </a:r>
          </a:p>
        </p:txBody>
      </p:sp>
      <p:sp>
        <p:nvSpPr>
          <p:cNvPr id="7" name="TextBox 6"/>
          <p:cNvSpPr txBox="1"/>
          <p:nvPr/>
        </p:nvSpPr>
        <p:spPr>
          <a:xfrm>
            <a:off x="7833359" y="1790700"/>
            <a:ext cx="3688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WHAT REMAINS VISIBLE</a:t>
            </a:r>
          </a:p>
        </p:txBody>
      </p:sp>
      <p:sp>
        <p:nvSpPr>
          <p:cNvPr id="8" name="Rounded Rectangle 7"/>
          <p:cNvSpPr/>
          <p:nvPr/>
        </p:nvSpPr>
        <p:spPr>
          <a:xfrm>
            <a:off x="548640" y="2110740"/>
            <a:ext cx="11094720" cy="586740"/>
          </a:xfrm>
          <a:prstGeom prst="roundRect">
            <a:avLst>
              <a:gd name="adj" fmla="val 7792"/>
            </a:avLst>
          </a:prstGeom>
          <a:solidFill>
            <a:srgbClr val="FFFFFF"/>
          </a:solidFill>
          <a:ln>
            <a:noFill/>
          </a:ln>
          <a:effectLst/>
        </p:spPr>
        <p:txBody>
          <a:bodyPr rtlCol="0" anchor="ctr"/>
          <a:lstStyle/>
          <a:p>
            <a:pPr algn="ctr"/>
          </a:p>
        </p:txBody>
      </p:sp>
      <p:sp>
        <p:nvSpPr>
          <p:cNvPr id="9" name="TextBox 8"/>
          <p:cNvSpPr txBox="1"/>
          <p:nvPr/>
        </p:nvSpPr>
        <p:spPr>
          <a:xfrm>
            <a:off x="670560" y="2240280"/>
            <a:ext cx="3947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Report without an assessment</a:t>
            </a:r>
          </a:p>
        </p:txBody>
      </p:sp>
      <p:sp>
        <p:nvSpPr>
          <p:cNvPr id="10" name="TextBox 9"/>
          <p:cNvSpPr txBox="1"/>
          <p:nvPr/>
        </p:nvSpPr>
        <p:spPr>
          <a:xfrm>
            <a:off x="4861560" y="224028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model-inapplicable</a:t>
            </a:r>
          </a:p>
        </p:txBody>
      </p:sp>
      <p:sp>
        <p:nvSpPr>
          <p:cNvPr id="11" name="TextBox 10"/>
          <p:cNvSpPr txBox="1"/>
          <p:nvPr/>
        </p:nvSpPr>
        <p:spPr>
          <a:xfrm>
            <a:off x="7833359" y="2240280"/>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Original report; no invented truth value</a:t>
            </a:r>
          </a:p>
        </p:txBody>
      </p:sp>
      <p:sp>
        <p:nvSpPr>
          <p:cNvPr id="12" name="Rounded Rectangle 11"/>
          <p:cNvSpPr/>
          <p:nvPr/>
        </p:nvSpPr>
        <p:spPr>
          <a:xfrm>
            <a:off x="548640" y="2735580"/>
            <a:ext cx="11094720" cy="586740"/>
          </a:xfrm>
          <a:prstGeom prst="roundRect">
            <a:avLst>
              <a:gd name="adj" fmla="val 7792"/>
            </a:avLst>
          </a:prstGeom>
          <a:solidFill>
            <a:srgbClr val="FFFFFF"/>
          </a:solidFill>
          <a:ln>
            <a:noFill/>
          </a:ln>
          <a:effectLst/>
        </p:spPr>
        <p:txBody>
          <a:bodyPr rtlCol="0" anchor="ctr"/>
          <a:lstStyle/>
          <a:p>
            <a:pPr algn="ctr"/>
          </a:p>
        </p:txBody>
      </p:sp>
      <p:sp>
        <p:nvSpPr>
          <p:cNvPr id="13" name="TextBox 12"/>
          <p:cNvSpPr txBox="1"/>
          <p:nvPr/>
        </p:nvSpPr>
        <p:spPr>
          <a:xfrm>
            <a:off x="670560" y="2865120"/>
            <a:ext cx="3947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Explicit assessment (0.75, 0.50)</a:t>
            </a:r>
          </a:p>
        </p:txBody>
      </p:sp>
      <p:sp>
        <p:nvSpPr>
          <p:cNvPr id="14" name="TextBox 13"/>
          <p:cNvSpPr txBox="1"/>
          <p:nvPr/>
        </p:nvSpPr>
        <p:spPr>
          <a:xfrm>
            <a:off x="4861560" y="286512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initialized</a:t>
            </a:r>
          </a:p>
        </p:txBody>
      </p:sp>
      <p:sp>
        <p:nvSpPr>
          <p:cNvPr id="15" name="TextBox 14"/>
          <p:cNvSpPr txBox="1"/>
          <p:nvPr/>
        </p:nvSpPr>
        <p:spPr>
          <a:xfrm>
            <a:off x="7833359" y="2865120"/>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One eligible support initializes the</a:t>
            </a:r>
          </a:p>
        </p:txBody>
      </p:sp>
      <p:sp>
        <p:nvSpPr>
          <p:cNvPr id="16" name="TextBox 15"/>
          <p:cNvSpPr txBox="1"/>
          <p:nvPr/>
        </p:nvSpPr>
        <p:spPr>
          <a:xfrm>
            <a:off x="7833359" y="3089452"/>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aggregate</a:t>
            </a:r>
          </a:p>
        </p:txBody>
      </p:sp>
      <p:sp>
        <p:nvSpPr>
          <p:cNvPr id="17" name="Rounded Rectangle 16"/>
          <p:cNvSpPr/>
          <p:nvPr/>
        </p:nvSpPr>
        <p:spPr>
          <a:xfrm>
            <a:off x="548640" y="3360419"/>
            <a:ext cx="11094720" cy="586740"/>
          </a:xfrm>
          <a:prstGeom prst="roundRect">
            <a:avLst>
              <a:gd name="adj" fmla="val 7792"/>
            </a:avLst>
          </a:prstGeom>
          <a:solidFill>
            <a:srgbClr val="FFFFFF"/>
          </a:solidFill>
          <a:ln>
            <a:noFill/>
          </a:ln>
          <a:effectLst/>
        </p:spPr>
        <p:txBody>
          <a:bodyPr rtlCol="0" anchor="ctr"/>
          <a:lstStyle/>
          <a:p>
            <a:pPr algn="ctr"/>
          </a:p>
        </p:txBody>
      </p:sp>
      <p:sp>
        <p:nvSpPr>
          <p:cNvPr id="18" name="TextBox 17"/>
          <p:cNvSpPr txBox="1"/>
          <p:nvPr/>
        </p:nvSpPr>
        <p:spPr>
          <a:xfrm>
            <a:off x="670560" y="3489960"/>
            <a:ext cx="3947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Copy with the same origin</a:t>
            </a:r>
          </a:p>
        </p:txBody>
      </p:sp>
      <p:sp>
        <p:nvSpPr>
          <p:cNvPr id="19" name="TextBox 18"/>
          <p:cNvSpPr txBox="1"/>
          <p:nvPr/>
        </p:nvSpPr>
        <p:spPr>
          <a:xfrm>
            <a:off x="4861560" y="348996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retained-alternative</a:t>
            </a:r>
          </a:p>
        </p:txBody>
      </p:sp>
      <p:sp>
        <p:nvSpPr>
          <p:cNvPr id="20" name="TextBox 19"/>
          <p:cNvSpPr txBox="1"/>
          <p:nvPr/>
        </p:nvSpPr>
        <p:spPr>
          <a:xfrm>
            <a:off x="7833359" y="3489960"/>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Copy retained; no extra aggregate</a:t>
            </a:r>
          </a:p>
        </p:txBody>
      </p:sp>
      <p:sp>
        <p:nvSpPr>
          <p:cNvPr id="21" name="TextBox 20"/>
          <p:cNvSpPr txBox="1"/>
          <p:nvPr/>
        </p:nvSpPr>
        <p:spPr>
          <a:xfrm>
            <a:off x="7833359" y="3714292"/>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weight</a:t>
            </a:r>
          </a:p>
        </p:txBody>
      </p:sp>
      <p:sp>
        <p:nvSpPr>
          <p:cNvPr id="22" name="Rounded Rectangle 21"/>
          <p:cNvSpPr/>
          <p:nvPr/>
        </p:nvSpPr>
        <p:spPr>
          <a:xfrm>
            <a:off x="548640" y="3985260"/>
            <a:ext cx="11094720" cy="586740"/>
          </a:xfrm>
          <a:prstGeom prst="roundRect">
            <a:avLst>
              <a:gd name="adj" fmla="val 7792"/>
            </a:avLst>
          </a:prstGeom>
          <a:solidFill>
            <a:srgbClr val="FFFFFF"/>
          </a:solidFill>
          <a:ln>
            <a:noFill/>
          </a:ln>
          <a:effectLst/>
        </p:spPr>
        <p:txBody>
          <a:bodyPr rtlCol="0" anchor="ctr"/>
          <a:lstStyle/>
          <a:p>
            <a:pPr algn="ctr"/>
          </a:p>
        </p:txBody>
      </p:sp>
      <p:sp>
        <p:nvSpPr>
          <p:cNvPr id="23" name="TextBox 22"/>
          <p:cNvSpPr txBox="1"/>
          <p:nvPr/>
        </p:nvSpPr>
        <p:spPr>
          <a:xfrm>
            <a:off x="670560" y="4114800"/>
            <a:ext cx="3947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Contrary assessment (0.25, 0.50)</a:t>
            </a:r>
          </a:p>
        </p:txBody>
      </p:sp>
      <p:sp>
        <p:nvSpPr>
          <p:cNvPr id="24" name="TextBox 23"/>
          <p:cNvSpPr txBox="1"/>
          <p:nvPr/>
        </p:nvSpPr>
        <p:spPr>
          <a:xfrm>
            <a:off x="4861560" y="4114800"/>
            <a:ext cx="2727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retained-alternative</a:t>
            </a:r>
          </a:p>
        </p:txBody>
      </p:sp>
      <p:sp>
        <p:nvSpPr>
          <p:cNvPr id="25" name="TextBox 24"/>
          <p:cNvSpPr txBox="1"/>
          <p:nvPr/>
        </p:nvSpPr>
        <p:spPr>
          <a:xfrm>
            <a:off x="7833359" y="4114800"/>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Disagreement retained without an</a:t>
            </a:r>
          </a:p>
        </p:txBody>
      </p:sp>
      <p:sp>
        <p:nvSpPr>
          <p:cNvPr id="26" name="TextBox 25"/>
          <p:cNvSpPr txBox="1"/>
          <p:nvPr/>
        </p:nvSpPr>
        <p:spPr>
          <a:xfrm>
            <a:off x="7833359" y="4339132"/>
            <a:ext cx="36880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assumption</a:t>
            </a:r>
          </a:p>
        </p:txBody>
      </p:sp>
      <p:sp>
        <p:nvSpPr>
          <p:cNvPr id="27" name="Rounded Rectangle 26"/>
          <p:cNvSpPr/>
          <p:nvPr/>
        </p:nvSpPr>
        <p:spPr>
          <a:xfrm>
            <a:off x="548640" y="4739640"/>
            <a:ext cx="5364480" cy="967740"/>
          </a:xfrm>
          <a:prstGeom prst="roundRect">
            <a:avLst>
              <a:gd name="adj" fmla="val 10236"/>
            </a:avLst>
          </a:prstGeom>
          <a:solidFill>
            <a:srgbClr val="E4EBF5"/>
          </a:solidFill>
          <a:ln w="7620">
            <a:solidFill>
              <a:srgbClr val="315E9C"/>
            </a:solidFill>
          </a:ln>
          <a:effectLst/>
        </p:spPr>
        <p:txBody>
          <a:bodyPr rtlCol="0" anchor="ctr"/>
          <a:lstStyle/>
          <a:p>
            <a:pPr algn="ctr"/>
          </a:p>
        </p:txBody>
      </p:sp>
      <p:sp>
        <p:nvSpPr>
          <p:cNvPr id="28" name="TextBox 27"/>
          <p:cNvSpPr txBox="1"/>
          <p:nvPr/>
        </p:nvSpPr>
        <p:spPr>
          <a:xfrm>
            <a:off x="716280" y="4907280"/>
            <a:ext cx="5029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315E9C"/>
                </a:solidFill>
                <a:latin typeface="DejaVu Sans"/>
              </a:rPr>
              <a:t>4 events · 2 unaggregated alternatives</a:t>
            </a:r>
          </a:p>
        </p:txBody>
      </p:sp>
      <p:sp>
        <p:nvSpPr>
          <p:cNvPr id="29" name="TextBox 28"/>
          <p:cNvSpPr txBox="1"/>
          <p:nvPr/>
        </p:nvSpPr>
        <p:spPr>
          <a:xfrm>
            <a:off x="716280" y="5237073"/>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Duplicate appends do not advance the episode.</a:t>
            </a:r>
          </a:p>
        </p:txBody>
      </p:sp>
      <p:sp>
        <p:nvSpPr>
          <p:cNvPr id="30" name="Rounded Rectangle 29"/>
          <p:cNvSpPr/>
          <p:nvPr/>
        </p:nvSpPr>
        <p:spPr>
          <a:xfrm>
            <a:off x="6096000" y="4739640"/>
            <a:ext cx="5547360" cy="967740"/>
          </a:xfrm>
          <a:prstGeom prst="roundRect">
            <a:avLst>
              <a:gd name="adj" fmla="val 10236"/>
            </a:avLst>
          </a:prstGeom>
          <a:solidFill>
            <a:srgbClr val="DCEFE8"/>
          </a:solidFill>
          <a:ln w="7620">
            <a:solidFill>
              <a:srgbClr val="007C78"/>
            </a:solidFill>
          </a:ln>
          <a:effectLst/>
        </p:spPr>
        <p:txBody>
          <a:bodyPr rtlCol="0" anchor="ctr"/>
          <a:lstStyle/>
          <a:p>
            <a:pPr algn="ctr"/>
          </a:p>
        </p:txBody>
      </p:sp>
      <p:sp>
        <p:nvSpPr>
          <p:cNvPr id="31" name="TextBox 30"/>
          <p:cNvSpPr txBox="1"/>
          <p:nvPr/>
        </p:nvSpPr>
        <p:spPr>
          <a:xfrm>
            <a:off x="6263640" y="4907280"/>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007C78"/>
                </a:solidFill>
                <a:latin typeface="DejaVu Sans"/>
              </a:rPr>
              <a:t>Separate eligible pair → (0.5, 2/3)</a:t>
            </a:r>
          </a:p>
        </p:txBody>
      </p:sp>
      <p:sp>
        <p:nvSpPr>
          <p:cNvPr id="32" name="TextBox 31"/>
          <p:cNvSpPr txBox="1"/>
          <p:nvPr/>
        </p:nvSpPr>
        <p:spPr>
          <a:xfrm>
            <a:off x="6263640" y="5246827"/>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Native revision; ancestor re-entry adds no weight.</a:t>
            </a:r>
          </a:p>
        </p:txBody>
      </p:sp>
      <p:sp>
        <p:nvSpPr>
          <p:cNvPr id="33" name="Rounded Rectangle 3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4" name="TextBox 33"/>
          <p:cNvSpPr txBox="1"/>
          <p:nvPr/>
        </p:nvSpPr>
        <p:spPr>
          <a:xfrm>
            <a:off x="716280" y="5905500"/>
            <a:ext cx="107442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Reopening preserves the exact snapshots and decisions. The native Hive route exercises the same scenario.</a:t>
            </a:r>
          </a:p>
        </p:txBody>
      </p:sp>
      <p:cxnSp>
        <p:nvCxnSpPr>
          <p:cNvPr id="35" name="Connector 34"/>
          <p:cNvCxnSpPr/>
          <p:nvPr/>
        </p:nvCxnSpPr>
        <p:spPr>
          <a:xfrm>
            <a:off x="548640" y="6393180"/>
            <a:ext cx="11094720" cy="0"/>
          </a:xfrm>
          <a:prstGeom prst="line">
            <a:avLst/>
          </a:prstGeom>
          <a:ln w="7620">
            <a:solidFill>
              <a:srgbClr val="C9D2D4"/>
            </a:solidFill>
          </a:ln>
          <a:effectLst/>
        </p:spPr>
      </p:cxnSp>
      <p:sp>
        <p:nvSpPr>
          <p:cNvPr id="36" name="TextBox 3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m2/final/demo.json · test_m2_integration.py</a:t>
            </a:r>
          </a:p>
        </p:txBody>
      </p:sp>
      <p:sp>
        <p:nvSpPr>
          <p:cNvPr id="37" name="TextBox 3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22 / 38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REGRESSION AND SCOPE PRESERVATION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M1.2 remains a working, separate integration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Private cognition is added alongside the original storage, messaging and execution path.</a:t>
            </a:r>
          </a:p>
        </p:txBody>
      </p:sp>
      <p:sp>
        <p:nvSpPr>
          <p:cNvPr id="5" name="Rounded Rectangle 4"/>
          <p:cNvSpPr/>
          <p:nvPr/>
        </p:nvSpPr>
        <p:spPr>
          <a:xfrm>
            <a:off x="548640" y="1905000"/>
            <a:ext cx="5364480" cy="1584960"/>
          </a:xfrm>
          <a:prstGeom prst="roundRect">
            <a:avLst>
              <a:gd name="adj" fmla="val 6250"/>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2072639"/>
            <a:ext cx="5029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315E9C"/>
                </a:solidFill>
                <a:latin typeface="DejaVu Sans"/>
              </a:rPr>
              <a:t>Original native operation</a:t>
            </a:r>
          </a:p>
        </p:txBody>
      </p:sp>
      <p:sp>
        <p:nvSpPr>
          <p:cNvPr id="7" name="TextBox 6"/>
          <p:cNvSpPr txBox="1"/>
          <p:nvPr/>
        </p:nvSpPr>
        <p:spPr>
          <a:xfrm>
            <a:off x="716280" y="2460955"/>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fusion-inspect still stores bytes, shares a ref,</a:t>
            </a:r>
          </a:p>
        </p:txBody>
      </p:sp>
      <p:sp>
        <p:nvSpPr>
          <p:cNvPr id="8" name="TextBox 7"/>
          <p:cNvSpPr txBox="1"/>
          <p:nvPr/>
        </p:nvSpPr>
        <p:spPr>
          <a:xfrm>
            <a:off x="716280" y="2724302"/>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delegates inspect_atom, recovers completion</a:t>
            </a:r>
          </a:p>
        </p:txBody>
      </p:sp>
      <p:sp>
        <p:nvSpPr>
          <p:cNvPr id="9" name="TextBox 8"/>
          <p:cNvSpPr txBox="1"/>
          <p:nvPr/>
        </p:nvSpPr>
        <p:spPr>
          <a:xfrm>
            <a:off x="716280" y="2987649"/>
            <a:ext cx="5029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and acknowledges it.</a:t>
            </a:r>
          </a:p>
        </p:txBody>
      </p:sp>
      <p:sp>
        <p:nvSpPr>
          <p:cNvPr id="10" name="Rounded Rectangle 9"/>
          <p:cNvSpPr/>
          <p:nvPr/>
        </p:nvSpPr>
        <p:spPr>
          <a:xfrm>
            <a:off x="6096000" y="1905000"/>
            <a:ext cx="5547360" cy="1584960"/>
          </a:xfrm>
          <a:prstGeom prst="roundRect">
            <a:avLst>
              <a:gd name="adj" fmla="val 6250"/>
            </a:avLst>
          </a:prstGeom>
          <a:solidFill>
            <a:srgbClr val="DCEFE8"/>
          </a:solidFill>
          <a:ln w="7620">
            <a:solidFill>
              <a:srgbClr val="007C78"/>
            </a:solidFill>
          </a:ln>
          <a:effectLst/>
        </p:spPr>
        <p:txBody>
          <a:bodyPr rtlCol="0" anchor="ctr"/>
          <a:lstStyle/>
          <a:p>
            <a:pPr algn="ctr"/>
          </a:p>
        </p:txBody>
      </p:sp>
      <p:sp>
        <p:nvSpPr>
          <p:cNvPr id="11" name="TextBox 10"/>
          <p:cNvSpPr txBox="1"/>
          <p:nvPr/>
        </p:nvSpPr>
        <p:spPr>
          <a:xfrm>
            <a:off x="6263640" y="2072639"/>
            <a:ext cx="521208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1">
                <a:solidFill>
                  <a:srgbClr val="007C78"/>
                </a:solidFill>
                <a:latin typeface="DejaVu Sans"/>
              </a:rPr>
              <a:t>New private operation</a:t>
            </a:r>
          </a:p>
        </p:txBody>
      </p:sp>
      <p:sp>
        <p:nvSpPr>
          <p:cNvPr id="12" name="TextBox 11"/>
          <p:cNvSpPr txBox="1"/>
          <p:nvPr/>
        </p:nvSpPr>
        <p:spPr>
          <a:xfrm>
            <a:off x="6263640" y="2460955"/>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fusion-episode records private events and revises</a:t>
            </a:r>
          </a:p>
        </p:txBody>
      </p:sp>
      <p:sp>
        <p:nvSpPr>
          <p:cNvPr id="13" name="TextBox 12"/>
          <p:cNvSpPr txBox="1"/>
          <p:nvPr/>
        </p:nvSpPr>
        <p:spPr>
          <a:xfrm>
            <a:off x="6263640" y="2724302"/>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eligible evidence. It constructs no mailbox,</a:t>
            </a:r>
          </a:p>
        </p:txBody>
      </p:sp>
      <p:sp>
        <p:nvSpPr>
          <p:cNvPr id="14" name="TextBox 13"/>
          <p:cNvSpPr txBox="1"/>
          <p:nvPr/>
        </p:nvSpPr>
        <p:spPr>
          <a:xfrm>
            <a:off x="6263640" y="2987649"/>
            <a:ext cx="521208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execution or chain port.</a:t>
            </a:r>
          </a:p>
        </p:txBody>
      </p:sp>
      <p:sp>
        <p:nvSpPr>
          <p:cNvPr id="15" name="TextBox 14"/>
          <p:cNvSpPr txBox="1"/>
          <p:nvPr/>
        </p:nvSpPr>
        <p:spPr>
          <a:xfrm>
            <a:off x="670560" y="3848100"/>
            <a:ext cx="722375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PRESERVED SOURCE BOUNDARY</a:t>
            </a:r>
          </a:p>
        </p:txBody>
      </p:sp>
      <p:sp>
        <p:nvSpPr>
          <p:cNvPr id="16" name="TextBox 15"/>
          <p:cNvSpPr txBox="1"/>
          <p:nvPr/>
        </p:nvSpPr>
        <p:spPr>
          <a:xfrm>
            <a:off x="8138159" y="3848100"/>
            <a:ext cx="33832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FINAL REGRESSION</a:t>
            </a:r>
          </a:p>
        </p:txBody>
      </p:sp>
      <p:sp>
        <p:nvSpPr>
          <p:cNvPr id="17" name="Rounded Rectangle 16"/>
          <p:cNvSpPr/>
          <p:nvPr/>
        </p:nvSpPr>
        <p:spPr>
          <a:xfrm>
            <a:off x="548640" y="4168140"/>
            <a:ext cx="11094720" cy="525780"/>
          </a:xfrm>
          <a:prstGeom prst="roundRect">
            <a:avLst>
              <a:gd name="adj" fmla="val 8695"/>
            </a:avLst>
          </a:prstGeom>
          <a:solidFill>
            <a:srgbClr val="FFFFFF"/>
          </a:solidFill>
          <a:ln>
            <a:noFill/>
          </a:ln>
          <a:effectLst/>
        </p:spPr>
        <p:txBody>
          <a:bodyPr rtlCol="0" anchor="ctr"/>
          <a:lstStyle/>
          <a:p>
            <a:pPr algn="ctr"/>
          </a:p>
        </p:txBody>
      </p:sp>
      <p:sp>
        <p:nvSpPr>
          <p:cNvPr id="18" name="TextBox 17"/>
          <p:cNvSpPr txBox="1"/>
          <p:nvPr/>
        </p:nvSpPr>
        <p:spPr>
          <a:xfrm>
            <a:off x="670560" y="4297680"/>
            <a:ext cx="722375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M1 wire schemas, registry/resolver, AtomStorage, DA adapter</a:t>
            </a:r>
          </a:p>
        </p:txBody>
      </p:sp>
      <p:sp>
        <p:nvSpPr>
          <p:cNvPr id="19" name="TextBox 18"/>
          <p:cNvSpPr txBox="1"/>
          <p:nvPr/>
        </p:nvSpPr>
        <p:spPr>
          <a:xfrm>
            <a:off x="8138159" y="4297680"/>
            <a:ext cx="3383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Byte-identical to the requested M1.2</a:t>
            </a:r>
          </a:p>
        </p:txBody>
      </p:sp>
      <p:sp>
        <p:nvSpPr>
          <p:cNvPr id="20" name="TextBox 19"/>
          <p:cNvSpPr txBox="1"/>
          <p:nvPr/>
        </p:nvSpPr>
        <p:spPr>
          <a:xfrm>
            <a:off x="8138159" y="4531766"/>
            <a:ext cx="3383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baseline</a:t>
            </a:r>
          </a:p>
        </p:txBody>
      </p:sp>
      <p:sp>
        <p:nvSpPr>
          <p:cNvPr id="21" name="Rounded Rectangle 20"/>
          <p:cNvSpPr/>
          <p:nvPr/>
        </p:nvSpPr>
        <p:spPr>
          <a:xfrm>
            <a:off x="548640" y="4732020"/>
            <a:ext cx="11094720" cy="525780"/>
          </a:xfrm>
          <a:prstGeom prst="roundRect">
            <a:avLst>
              <a:gd name="adj" fmla="val 8695"/>
            </a:avLst>
          </a:prstGeom>
          <a:solidFill>
            <a:srgbClr val="FFFFFF"/>
          </a:solidFill>
          <a:ln>
            <a:noFill/>
          </a:ln>
          <a:effectLst/>
        </p:spPr>
        <p:txBody>
          <a:bodyPr rtlCol="0" anchor="ctr"/>
          <a:lstStyle/>
          <a:p>
            <a:pPr algn="ctr"/>
          </a:p>
        </p:txBody>
      </p:sp>
      <p:sp>
        <p:nvSpPr>
          <p:cNvPr id="22" name="TextBox 21"/>
          <p:cNvSpPr txBox="1"/>
          <p:nvPr/>
        </p:nvSpPr>
        <p:spPr>
          <a:xfrm>
            <a:off x="670560" y="4861560"/>
            <a:ext cx="722375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Mailbox, execution, original Hive plugin and driver</a:t>
            </a:r>
          </a:p>
        </p:txBody>
      </p:sp>
      <p:sp>
        <p:nvSpPr>
          <p:cNvPr id="23" name="TextBox 22"/>
          <p:cNvSpPr txBox="1"/>
          <p:nvPr/>
        </p:nvSpPr>
        <p:spPr>
          <a:xfrm>
            <a:off x="8138159" y="4861560"/>
            <a:ext cx="3383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Original behavior preserved</a:t>
            </a:r>
          </a:p>
        </p:txBody>
      </p:sp>
      <p:sp>
        <p:nvSpPr>
          <p:cNvPr id="24" name="Rounded Rectangle 23"/>
          <p:cNvSpPr/>
          <p:nvPr/>
        </p:nvSpPr>
        <p:spPr>
          <a:xfrm>
            <a:off x="548640" y="5295900"/>
            <a:ext cx="11094720" cy="525780"/>
          </a:xfrm>
          <a:prstGeom prst="roundRect">
            <a:avLst>
              <a:gd name="adj" fmla="val 8695"/>
            </a:avLst>
          </a:prstGeom>
          <a:solidFill>
            <a:srgbClr val="FFFFFF"/>
          </a:solidFill>
          <a:ln>
            <a:noFill/>
          </a:ln>
          <a:effectLst/>
        </p:spPr>
        <p:txBody>
          <a:bodyPr rtlCol="0" anchor="ctr"/>
          <a:lstStyle/>
          <a:p>
            <a:pPr algn="ctr"/>
          </a:p>
        </p:txBody>
      </p:sp>
      <p:sp>
        <p:nvSpPr>
          <p:cNvPr id="25" name="TextBox 24"/>
          <p:cNvSpPr txBox="1"/>
          <p:nvPr/>
        </p:nvSpPr>
        <p:spPr>
          <a:xfrm>
            <a:off x="670560" y="5425440"/>
            <a:ext cx="722375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Original native Hive integration tests</a:t>
            </a:r>
          </a:p>
        </p:txBody>
      </p:sp>
      <p:sp>
        <p:nvSpPr>
          <p:cNvPr id="26" name="TextBox 25"/>
          <p:cNvSpPr txBox="1"/>
          <p:nvPr/>
        </p:nvSpPr>
        <p:spPr>
          <a:xfrm>
            <a:off x="8138159" y="5425440"/>
            <a:ext cx="33832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13 passed; test source unchanged</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102B3F"/>
                </a:solidFill>
                <a:latin typeface="DejaVu Sans"/>
              </a:rPr>
              <a:t>Upstream guarded sources are unchanged. Application semantics remain above opaque DA.</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source-preservation.json · final/m1_2/verification.json</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23 / 38</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EVIDENCE CLASSIFICATION</a:t>
            </a:r>
          </a:p>
        </p:txBody>
      </p:sp>
      <p:sp>
        <p:nvSpPr>
          <p:cNvPr id="3" name="TextBox 2"/>
          <p:cNvSpPr txBox="1"/>
          <p:nvPr/>
        </p:nvSpPr>
        <p:spPr>
          <a:xfrm>
            <a:off x="533400" y="723900"/>
            <a:ext cx="11125200" cy="458419"/>
          </a:xfrm>
          <a:prstGeom prst="rect">
            <a:avLst/>
          </a:prstGeom>
          <a:noFill/>
        </p:spPr>
        <p:txBody>
          <a:bodyPr wrap="none" lIns="0" rIns="0" tIns="0" bIns="0" anchor="t" anchorCtr="0">
            <a:noAutofit/>
          </a:bodyPr>
          <a:lstStyle/>
          <a:p>
            <a:pPr algn="l">
              <a:lnSpc>
                <a:spcPct val="100000"/>
              </a:lnSpc>
              <a:spcBef>
                <a:spcPts val="0"/>
              </a:spcBef>
              <a:spcAft>
                <a:spcPts val="0"/>
              </a:spcAft>
            </a:pPr>
            <a:r>
              <a:rPr sz="2820" b="1">
                <a:solidFill>
                  <a:srgbClr val="102B3F"/>
                </a:solidFill>
                <a:latin typeface="DejaVu Sans"/>
              </a:rPr>
              <a:t>Real providers and fixtures answer different questions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real runtime can execute generated data. Neither label cancels the other.</a:t>
            </a:r>
          </a:p>
        </p:txBody>
      </p:sp>
      <p:sp>
        <p:nvSpPr>
          <p:cNvPr id="5" name="TextBox 4"/>
          <p:cNvSpPr txBox="1"/>
          <p:nvPr/>
        </p:nvSpPr>
        <p:spPr>
          <a:xfrm>
            <a:off x="670560" y="1790700"/>
            <a:ext cx="3794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COMPONENT</a:t>
            </a:r>
          </a:p>
        </p:txBody>
      </p:sp>
      <p:sp>
        <p:nvSpPr>
          <p:cNvPr id="6" name="TextBox 5"/>
          <p:cNvSpPr txBox="1"/>
          <p:nvPr/>
        </p:nvSpPr>
        <p:spPr>
          <a:xfrm>
            <a:off x="47091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7" name="TextBox 6"/>
          <p:cNvSpPr txBox="1"/>
          <p:nvPr/>
        </p:nvSpPr>
        <p:spPr>
          <a:xfrm>
            <a:off x="7757159" y="1790700"/>
            <a:ext cx="37642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WHAT THE EVIDENCE SUPPORTS</a:t>
            </a:r>
          </a:p>
        </p:txBody>
      </p:sp>
      <p:sp>
        <p:nvSpPr>
          <p:cNvPr id="8" name="Rounded Rectangle 7"/>
          <p:cNvSpPr/>
          <p:nvPr/>
        </p:nvSpPr>
        <p:spPr>
          <a:xfrm>
            <a:off x="548640" y="2110740"/>
            <a:ext cx="11094720" cy="571500"/>
          </a:xfrm>
          <a:prstGeom prst="roundRect">
            <a:avLst>
              <a:gd name="adj" fmla="val 8000"/>
            </a:avLst>
          </a:prstGeom>
          <a:solidFill>
            <a:srgbClr val="FFFFFF"/>
          </a:solidFill>
          <a:ln>
            <a:noFill/>
          </a:ln>
          <a:effectLst/>
        </p:spPr>
        <p:txBody>
          <a:bodyPr rtlCol="0" anchor="ctr"/>
          <a:lstStyle/>
          <a:p>
            <a:pPr algn="ctr"/>
          </a:p>
        </p:txBody>
      </p:sp>
      <p:sp>
        <p:nvSpPr>
          <p:cNvPr id="9" name="TextBox 8"/>
          <p:cNvSpPr txBox="1"/>
          <p:nvPr/>
        </p:nvSpPr>
        <p:spPr>
          <a:xfrm>
            <a:off x="670560" y="2240280"/>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Hive app / Supervisor / PeTTa</a:t>
            </a:r>
          </a:p>
        </p:txBody>
      </p:sp>
      <p:sp>
        <p:nvSpPr>
          <p:cNvPr id="10" name="TextBox 9"/>
          <p:cNvSpPr txBox="1"/>
          <p:nvPr/>
        </p:nvSpPr>
        <p:spPr>
          <a:xfrm>
            <a:off x="4709160" y="2240280"/>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NATIVE RUNTIME</a:t>
            </a:r>
          </a:p>
        </p:txBody>
      </p:sp>
      <p:sp>
        <p:nvSpPr>
          <p:cNvPr id="11" name="TextBox 10"/>
          <p:cNvSpPr txBox="1"/>
          <p:nvPr/>
        </p:nvSpPr>
        <p:spPr>
          <a:xfrm>
            <a:off x="7757159" y="2240280"/>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Actual authenticated dispatch and caller</a:t>
            </a:r>
          </a:p>
        </p:txBody>
      </p:sp>
      <p:sp>
        <p:nvSpPr>
          <p:cNvPr id="12" name="TextBox 11"/>
          <p:cNvSpPr txBox="1"/>
          <p:nvPr/>
        </p:nvSpPr>
        <p:spPr>
          <a:xfrm>
            <a:off x="7757159" y="2464612"/>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restart</a:t>
            </a:r>
          </a:p>
        </p:txBody>
      </p:sp>
      <p:sp>
        <p:nvSpPr>
          <p:cNvPr id="13" name="Rounded Rectangle 12"/>
          <p:cNvSpPr/>
          <p:nvPr/>
        </p:nvSpPr>
        <p:spPr>
          <a:xfrm>
            <a:off x="548640" y="2720340"/>
            <a:ext cx="11094720" cy="571500"/>
          </a:xfrm>
          <a:prstGeom prst="roundRect">
            <a:avLst>
              <a:gd name="adj" fmla="val 8000"/>
            </a:avLst>
          </a:prstGeom>
          <a:solidFill>
            <a:srgbClr val="FFFFFF"/>
          </a:solidFill>
          <a:ln>
            <a:noFill/>
          </a:ln>
          <a:effectLst/>
        </p:spPr>
        <p:txBody>
          <a:bodyPr rtlCol="0" anchor="ctr"/>
          <a:lstStyle/>
          <a:p>
            <a:pPr algn="ctr"/>
          </a:p>
        </p:txBody>
      </p:sp>
      <p:sp>
        <p:nvSpPr>
          <p:cNvPr id="14" name="TextBox 13"/>
          <p:cNvSpPr txBox="1"/>
          <p:nvPr/>
        </p:nvSpPr>
        <p:spPr>
          <a:xfrm>
            <a:off x="670560" y="2849880"/>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DeTTa DA + FileStorage</a:t>
            </a:r>
          </a:p>
        </p:txBody>
      </p:sp>
      <p:sp>
        <p:nvSpPr>
          <p:cNvPr id="15" name="TextBox 14"/>
          <p:cNvSpPr txBox="1"/>
          <p:nvPr/>
        </p:nvSpPr>
        <p:spPr>
          <a:xfrm>
            <a:off x="4709160" y="2849880"/>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LOCAL PROVIDER</a:t>
            </a:r>
          </a:p>
        </p:txBody>
      </p:sp>
      <p:sp>
        <p:nvSpPr>
          <p:cNvPr id="16" name="TextBox 15"/>
          <p:cNvSpPr txBox="1"/>
          <p:nvPr/>
        </p:nvSpPr>
        <p:spPr>
          <a:xfrm>
            <a:off x="7757159" y="2849880"/>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Opaque persistence, reconstruction,</a:t>
            </a:r>
          </a:p>
        </p:txBody>
      </p:sp>
      <p:sp>
        <p:nvSpPr>
          <p:cNvPr id="17" name="TextBox 16"/>
          <p:cNvSpPr txBox="1"/>
          <p:nvPr/>
        </p:nvSpPr>
        <p:spPr>
          <a:xfrm>
            <a:off x="7757159" y="3074212"/>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owner recovery</a:t>
            </a:r>
          </a:p>
        </p:txBody>
      </p:sp>
      <p:sp>
        <p:nvSpPr>
          <p:cNvPr id="18" name="Rounded Rectangle 17"/>
          <p:cNvSpPr/>
          <p:nvPr/>
        </p:nvSpPr>
        <p:spPr>
          <a:xfrm>
            <a:off x="548640" y="3329940"/>
            <a:ext cx="11094720" cy="571500"/>
          </a:xfrm>
          <a:prstGeom prst="roundRect">
            <a:avLst>
              <a:gd name="adj" fmla="val 8000"/>
            </a:avLst>
          </a:prstGeom>
          <a:solidFill>
            <a:srgbClr val="FFFFFF"/>
          </a:solidFill>
          <a:ln>
            <a:noFill/>
          </a:ln>
          <a:effectLst/>
        </p:spPr>
        <p:txBody>
          <a:bodyPr rtlCol="0" anchor="ctr"/>
          <a:lstStyle/>
          <a:p>
            <a:pPr algn="ctr"/>
          </a:p>
        </p:txBody>
      </p:sp>
      <p:sp>
        <p:nvSpPr>
          <p:cNvPr id="19" name="TextBox 18"/>
          <p:cNvSpPr txBox="1"/>
          <p:nvPr/>
        </p:nvSpPr>
        <p:spPr>
          <a:xfrm>
            <a:off x="670560" y="3459479"/>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Guarded PLN + Truth_Revision</a:t>
            </a:r>
          </a:p>
        </p:txBody>
      </p:sp>
      <p:sp>
        <p:nvSpPr>
          <p:cNvPr id="20" name="TextBox 19"/>
          <p:cNvSpPr txBox="1"/>
          <p:nvPr/>
        </p:nvSpPr>
        <p:spPr>
          <a:xfrm>
            <a:off x="4709160" y="3459479"/>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NATIVE REVISION</a:t>
            </a:r>
          </a:p>
        </p:txBody>
      </p:sp>
      <p:sp>
        <p:nvSpPr>
          <p:cNvPr id="21" name="TextBox 20"/>
          <p:cNvSpPr txBox="1"/>
          <p:nvPr/>
        </p:nvSpPr>
        <p:spPr>
          <a:xfrm>
            <a:off x="7757159" y="3459479"/>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Pinned guards + actual formula goldens</a:t>
            </a:r>
          </a:p>
        </p:txBody>
      </p:sp>
      <p:sp>
        <p:nvSpPr>
          <p:cNvPr id="22" name="Rounded Rectangle 21"/>
          <p:cNvSpPr/>
          <p:nvPr/>
        </p:nvSpPr>
        <p:spPr>
          <a:xfrm>
            <a:off x="548640" y="3939540"/>
            <a:ext cx="11094720" cy="571500"/>
          </a:xfrm>
          <a:prstGeom prst="roundRect">
            <a:avLst>
              <a:gd name="adj" fmla="val 8000"/>
            </a:avLst>
          </a:prstGeom>
          <a:solidFill>
            <a:srgbClr val="FFFFFF"/>
          </a:solidFill>
          <a:ln>
            <a:noFill/>
          </a:ln>
          <a:effectLst/>
        </p:spPr>
        <p:txBody>
          <a:bodyPr rtlCol="0" anchor="ctr"/>
          <a:lstStyle/>
          <a:p>
            <a:pPr algn="ctr"/>
          </a:p>
        </p:txBody>
      </p:sp>
      <p:sp>
        <p:nvSpPr>
          <p:cNvPr id="23" name="TextBox 22"/>
          <p:cNvSpPr txBox="1"/>
          <p:nvPr/>
        </p:nvSpPr>
        <p:spPr>
          <a:xfrm>
            <a:off x="670560" y="4069079"/>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Generated data / origin assumptions</a:t>
            </a:r>
          </a:p>
        </p:txBody>
      </p:sp>
      <p:sp>
        <p:nvSpPr>
          <p:cNvPr id="24" name="TextBox 23"/>
          <p:cNvSpPr txBox="1"/>
          <p:nvPr/>
        </p:nvSpPr>
        <p:spPr>
          <a:xfrm>
            <a:off x="4709160" y="4069079"/>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FIXTURES</a:t>
            </a:r>
          </a:p>
        </p:txBody>
      </p:sp>
      <p:sp>
        <p:nvSpPr>
          <p:cNvPr id="25" name="TextBox 24"/>
          <p:cNvSpPr txBox="1"/>
          <p:nvPr/>
        </p:nvSpPr>
        <p:spPr>
          <a:xfrm>
            <a:off x="7757159" y="4069079"/>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Deterministic scenario, not empirical truth</a:t>
            </a:r>
          </a:p>
        </p:txBody>
      </p:sp>
      <p:sp>
        <p:nvSpPr>
          <p:cNvPr id="26" name="Rounded Rectangle 25"/>
          <p:cNvSpPr/>
          <p:nvPr/>
        </p:nvSpPr>
        <p:spPr>
          <a:xfrm>
            <a:off x="548640" y="4549140"/>
            <a:ext cx="11094720" cy="571500"/>
          </a:xfrm>
          <a:prstGeom prst="roundRect">
            <a:avLst>
              <a:gd name="adj" fmla="val 8000"/>
            </a:avLst>
          </a:prstGeom>
          <a:solidFill>
            <a:srgbClr val="FFFFFF"/>
          </a:solidFill>
          <a:ln>
            <a:noFill/>
          </a:ln>
          <a:effectLst/>
        </p:spPr>
        <p:txBody>
          <a:bodyPr rtlCol="0" anchor="ctr"/>
          <a:lstStyle/>
          <a:p>
            <a:pPr algn="ctr"/>
          </a:p>
        </p:txBody>
      </p:sp>
      <p:sp>
        <p:nvSpPr>
          <p:cNvPr id="27" name="TextBox 26"/>
          <p:cNvSpPr txBox="1"/>
          <p:nvPr/>
        </p:nvSpPr>
        <p:spPr>
          <a:xfrm>
            <a:off x="670560" y="4678680"/>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File provider / RecordingRuntime /</a:t>
            </a:r>
          </a:p>
        </p:txBody>
      </p:sp>
      <p:sp>
        <p:nvSpPr>
          <p:cNvPr id="28" name="TextBox 27"/>
          <p:cNvSpPr txBox="1"/>
          <p:nvPr/>
        </p:nvSpPr>
        <p:spPr>
          <a:xfrm>
            <a:off x="670560" y="4903012"/>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injections</a:t>
            </a:r>
          </a:p>
        </p:txBody>
      </p:sp>
      <p:sp>
        <p:nvSpPr>
          <p:cNvPr id="29" name="TextBox 28"/>
          <p:cNvSpPr txBox="1"/>
          <p:nvPr/>
        </p:nvSpPr>
        <p:spPr>
          <a:xfrm>
            <a:off x="4709160" y="4678680"/>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FIXTURES</a:t>
            </a:r>
          </a:p>
        </p:txBody>
      </p:sp>
      <p:sp>
        <p:nvSpPr>
          <p:cNvPr id="30" name="TextBox 29"/>
          <p:cNvSpPr txBox="1"/>
          <p:nvPr/>
        </p:nvSpPr>
        <p:spPr>
          <a:xfrm>
            <a:off x="7757159" y="4678680"/>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Independent contracts and refusal</a:t>
            </a:r>
          </a:p>
        </p:txBody>
      </p:sp>
      <p:sp>
        <p:nvSpPr>
          <p:cNvPr id="31" name="TextBox 30"/>
          <p:cNvSpPr txBox="1"/>
          <p:nvPr/>
        </p:nvSpPr>
        <p:spPr>
          <a:xfrm>
            <a:off x="7757159" y="4903012"/>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behavior</a:t>
            </a:r>
          </a:p>
        </p:txBody>
      </p:sp>
      <p:sp>
        <p:nvSpPr>
          <p:cNvPr id="32" name="Rounded Rectangle 31"/>
          <p:cNvSpPr/>
          <p:nvPr/>
        </p:nvSpPr>
        <p:spPr>
          <a:xfrm>
            <a:off x="548640" y="5158740"/>
            <a:ext cx="11094720" cy="571500"/>
          </a:xfrm>
          <a:prstGeom prst="roundRect">
            <a:avLst>
              <a:gd name="adj" fmla="val 8000"/>
            </a:avLst>
          </a:prstGeom>
          <a:solidFill>
            <a:srgbClr val="FFFFFF"/>
          </a:solidFill>
          <a:ln>
            <a:noFill/>
          </a:ln>
          <a:effectLst/>
        </p:spPr>
        <p:txBody>
          <a:bodyPr rtlCol="0" anchor="ctr"/>
          <a:lstStyle/>
          <a:p>
            <a:pPr algn="ctr"/>
          </a:p>
        </p:txBody>
      </p:sp>
      <p:sp>
        <p:nvSpPr>
          <p:cNvPr id="33" name="TextBox 32"/>
          <p:cNvSpPr txBox="1"/>
          <p:nvPr/>
        </p:nvSpPr>
        <p:spPr>
          <a:xfrm>
            <a:off x="670560" y="5288280"/>
            <a:ext cx="3794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Fusion policy / transport / failpoints</a:t>
            </a:r>
          </a:p>
        </p:txBody>
      </p:sp>
      <p:sp>
        <p:nvSpPr>
          <p:cNvPr id="34" name="TextBox 33"/>
          <p:cNvSpPr txBox="1"/>
          <p:nvPr/>
        </p:nvSpPr>
        <p:spPr>
          <a:xfrm>
            <a:off x="4709160" y="5288280"/>
            <a:ext cx="2804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TEST SUPPORT</a:t>
            </a:r>
          </a:p>
        </p:txBody>
      </p:sp>
      <p:sp>
        <p:nvSpPr>
          <p:cNvPr id="35" name="TextBox 34"/>
          <p:cNvSpPr txBox="1"/>
          <p:nvPr/>
        </p:nvSpPr>
        <p:spPr>
          <a:xfrm>
            <a:off x="7757159" y="5288280"/>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Local grants and controlled failure</a:t>
            </a:r>
          </a:p>
        </p:txBody>
      </p:sp>
      <p:sp>
        <p:nvSpPr>
          <p:cNvPr id="36" name="TextBox 35"/>
          <p:cNvSpPr txBox="1"/>
          <p:nvPr/>
        </p:nvSpPr>
        <p:spPr>
          <a:xfrm>
            <a:off x="7757159" y="5512612"/>
            <a:ext cx="37642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placement</a:t>
            </a:r>
          </a:p>
        </p:txBody>
      </p:sp>
      <p:sp>
        <p:nvSpPr>
          <p:cNvPr id="37" name="Rounded Rectangle 3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8" name="TextBox 37"/>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Native Hive authentication is real. Downstream Fusion authorization is a local development policy.</a:t>
            </a:r>
          </a:p>
        </p:txBody>
      </p:sp>
      <p:cxnSp>
        <p:nvCxnSpPr>
          <p:cNvPr id="39" name="Connector 38"/>
          <p:cNvCxnSpPr/>
          <p:nvPr/>
        </p:nvCxnSpPr>
        <p:spPr>
          <a:xfrm>
            <a:off x="548640" y="6393180"/>
            <a:ext cx="11094720" cy="0"/>
          </a:xfrm>
          <a:prstGeom prst="line">
            <a:avLst/>
          </a:prstGeom>
          <a:ln w="7620">
            <a:solidFill>
              <a:srgbClr val="C9D2D4"/>
            </a:solidFill>
          </a:ln>
          <a:effectLst/>
        </p:spPr>
      </p:cxnSp>
      <p:sp>
        <p:nvSpPr>
          <p:cNvPr id="40" name="TextBox 3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m2/manifest.json · final/verification.json</a:t>
            </a:r>
          </a:p>
        </p:txBody>
      </p:sp>
      <p:sp>
        <p:nvSpPr>
          <p:cNvPr id="41" name="TextBox 4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24 / 38</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TESTS · RECORDED FINAL RUN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Executed suites cover distinct layers of the claim</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Counts overlap: the 51 original fixtures and 16 M2 fixtures are included in the 106-case matrix.</a:t>
            </a:r>
          </a:p>
        </p:txBody>
      </p:sp>
      <p:sp>
        <p:nvSpPr>
          <p:cNvPr id="5" name="TextBox 4"/>
          <p:cNvSpPr txBox="1"/>
          <p:nvPr/>
        </p:nvSpPr>
        <p:spPr>
          <a:xfrm>
            <a:off x="670560" y="1790700"/>
            <a:ext cx="4328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SUITE</a:t>
            </a:r>
          </a:p>
        </p:txBody>
      </p:sp>
      <p:sp>
        <p:nvSpPr>
          <p:cNvPr id="6" name="TextBox 5"/>
          <p:cNvSpPr txBox="1"/>
          <p:nvPr/>
        </p:nvSpPr>
        <p:spPr>
          <a:xfrm>
            <a:off x="5242560" y="1790700"/>
            <a:ext cx="1127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CASES</a:t>
            </a:r>
          </a:p>
        </p:txBody>
      </p:sp>
      <p:sp>
        <p:nvSpPr>
          <p:cNvPr id="7" name="TextBox 6"/>
          <p:cNvSpPr txBox="1"/>
          <p:nvPr/>
        </p:nvSpPr>
        <p:spPr>
          <a:xfrm>
            <a:off x="6614159" y="1790700"/>
            <a:ext cx="4907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 / OBSERVED USE</a:t>
            </a:r>
          </a:p>
        </p:txBody>
      </p:sp>
      <p:sp>
        <p:nvSpPr>
          <p:cNvPr id="8" name="Rounded Rectangle 7"/>
          <p:cNvSpPr/>
          <p:nvPr/>
        </p:nvSpPr>
        <p:spPr>
          <a:xfrm>
            <a:off x="548640" y="2110740"/>
            <a:ext cx="11094720" cy="563880"/>
          </a:xfrm>
          <a:prstGeom prst="roundRect">
            <a:avLst>
              <a:gd name="adj" fmla="val 8108"/>
            </a:avLst>
          </a:prstGeom>
          <a:solidFill>
            <a:srgbClr val="FFFFFF"/>
          </a:solidFill>
          <a:ln>
            <a:noFill/>
          </a:ln>
          <a:effectLst/>
        </p:spPr>
        <p:txBody>
          <a:bodyPr rtlCol="0" anchor="ctr"/>
          <a:lstStyle/>
          <a:p>
            <a:pPr algn="ctr"/>
          </a:p>
        </p:txBody>
      </p:sp>
      <p:sp>
        <p:nvSpPr>
          <p:cNvPr id="9" name="TextBox 8"/>
          <p:cNvSpPr txBox="1"/>
          <p:nvPr/>
        </p:nvSpPr>
        <p:spPr>
          <a:xfrm>
            <a:off x="670560" y="2240280"/>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Full conformance matrix</a:t>
            </a:r>
          </a:p>
        </p:txBody>
      </p:sp>
      <p:sp>
        <p:nvSpPr>
          <p:cNvPr id="10" name="TextBox 9"/>
          <p:cNvSpPr txBox="1"/>
          <p:nvPr/>
        </p:nvSpPr>
        <p:spPr>
          <a:xfrm>
            <a:off x="5242560" y="2240280"/>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106</a:t>
            </a:r>
          </a:p>
        </p:txBody>
      </p:sp>
      <p:sp>
        <p:nvSpPr>
          <p:cNvPr id="11" name="TextBox 10"/>
          <p:cNvSpPr txBox="1"/>
          <p:nvPr/>
        </p:nvSpPr>
        <p:spPr>
          <a:xfrm>
            <a:off x="6614159" y="2240280"/>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Original 90 + 16 M2 fixtures; separate 51-fixture run</a:t>
            </a:r>
          </a:p>
        </p:txBody>
      </p:sp>
      <p:sp>
        <p:nvSpPr>
          <p:cNvPr id="12" name="Rounded Rectangle 11"/>
          <p:cNvSpPr/>
          <p:nvPr/>
        </p:nvSpPr>
        <p:spPr>
          <a:xfrm>
            <a:off x="548640" y="2712720"/>
            <a:ext cx="11094720" cy="563880"/>
          </a:xfrm>
          <a:prstGeom prst="roundRect">
            <a:avLst>
              <a:gd name="adj" fmla="val 8108"/>
            </a:avLst>
          </a:prstGeom>
          <a:solidFill>
            <a:srgbClr val="FFFFFF"/>
          </a:solidFill>
          <a:ln>
            <a:noFill/>
          </a:ln>
          <a:effectLst/>
        </p:spPr>
        <p:txBody>
          <a:bodyPr rtlCol="0" anchor="ctr"/>
          <a:lstStyle/>
          <a:p>
            <a:pPr algn="ctr"/>
          </a:p>
        </p:txBody>
      </p:sp>
      <p:sp>
        <p:nvSpPr>
          <p:cNvPr id="13" name="TextBox 12"/>
          <p:cNvSpPr txBox="1"/>
          <p:nvPr/>
        </p:nvSpPr>
        <p:spPr>
          <a:xfrm>
            <a:off x="670560" y="2842260"/>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Clean DeTTa libraries</a:t>
            </a:r>
          </a:p>
        </p:txBody>
      </p:sp>
      <p:sp>
        <p:nvSpPr>
          <p:cNvPr id="14" name="TextBox 13"/>
          <p:cNvSpPr txBox="1"/>
          <p:nvPr/>
        </p:nvSpPr>
        <p:spPr>
          <a:xfrm>
            <a:off x="5242560" y="2842260"/>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62 + 38</a:t>
            </a:r>
          </a:p>
        </p:txBody>
      </p:sp>
      <p:sp>
        <p:nvSpPr>
          <p:cNvPr id="15" name="TextBox 14"/>
          <p:cNvSpPr txBox="1"/>
          <p:nvPr/>
        </p:nvSpPr>
        <p:spPr>
          <a:xfrm>
            <a:off x="6614159" y="2842260"/>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 DA and FileStorage</a:t>
            </a:r>
          </a:p>
        </p:txBody>
      </p:sp>
      <p:sp>
        <p:nvSpPr>
          <p:cNvPr id="16" name="Rounded Rectangle 15"/>
          <p:cNvSpPr/>
          <p:nvPr/>
        </p:nvSpPr>
        <p:spPr>
          <a:xfrm>
            <a:off x="548640" y="3314700"/>
            <a:ext cx="11094720" cy="563880"/>
          </a:xfrm>
          <a:prstGeom prst="roundRect">
            <a:avLst>
              <a:gd name="adj" fmla="val 8108"/>
            </a:avLst>
          </a:prstGeom>
          <a:solidFill>
            <a:srgbClr val="FFFFFF"/>
          </a:solidFill>
          <a:ln>
            <a:noFill/>
          </a:ln>
          <a:effectLst/>
        </p:spPr>
        <p:txBody>
          <a:bodyPr rtlCol="0" anchor="ctr"/>
          <a:lstStyle/>
          <a:p>
            <a:pPr algn="ctr"/>
          </a:p>
        </p:txBody>
      </p:sp>
      <p:sp>
        <p:nvSpPr>
          <p:cNvPr id="17" name="TextBox 16"/>
          <p:cNvSpPr txBox="1"/>
          <p:nvPr/>
        </p:nvSpPr>
        <p:spPr>
          <a:xfrm>
            <a:off x="670560" y="3444240"/>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Hive baseline + original native integration</a:t>
            </a:r>
          </a:p>
        </p:txBody>
      </p:sp>
      <p:sp>
        <p:nvSpPr>
          <p:cNvPr id="18" name="TextBox 17"/>
          <p:cNvSpPr txBox="1"/>
          <p:nvPr/>
        </p:nvSpPr>
        <p:spPr>
          <a:xfrm>
            <a:off x="5242560" y="3444240"/>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34 + 13</a:t>
            </a:r>
          </a:p>
        </p:txBody>
      </p:sp>
      <p:sp>
        <p:nvSpPr>
          <p:cNvPr id="19" name="TextBox 18"/>
          <p:cNvSpPr txBox="1"/>
          <p:nvPr/>
        </p:nvSpPr>
        <p:spPr>
          <a:xfrm>
            <a:off x="6614159" y="3444240"/>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Baseline fixture driver / real native caller</a:t>
            </a:r>
          </a:p>
        </p:txBody>
      </p:sp>
      <p:sp>
        <p:nvSpPr>
          <p:cNvPr id="20" name="Rounded Rectangle 19"/>
          <p:cNvSpPr/>
          <p:nvPr/>
        </p:nvSpPr>
        <p:spPr>
          <a:xfrm>
            <a:off x="548640" y="3916679"/>
            <a:ext cx="11094720" cy="563880"/>
          </a:xfrm>
          <a:prstGeom prst="roundRect">
            <a:avLst>
              <a:gd name="adj" fmla="val 8108"/>
            </a:avLst>
          </a:prstGeom>
          <a:solidFill>
            <a:srgbClr val="FFFFFF"/>
          </a:solidFill>
          <a:ln>
            <a:noFill/>
          </a:ln>
          <a:effectLst/>
        </p:spPr>
        <p:txBody>
          <a:bodyPr rtlCol="0" anchor="ctr"/>
          <a:lstStyle/>
          <a:p>
            <a:pPr algn="ctr"/>
          </a:p>
        </p:txBody>
      </p:sp>
      <p:sp>
        <p:nvSpPr>
          <p:cNvPr id="21" name="TextBox 20"/>
          <p:cNvSpPr txBox="1"/>
          <p:nvPr/>
        </p:nvSpPr>
        <p:spPr>
          <a:xfrm>
            <a:off x="670560" y="4046219"/>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M2 isolated fixtures + upstream guard</a:t>
            </a:r>
          </a:p>
        </p:txBody>
      </p:sp>
      <p:sp>
        <p:nvSpPr>
          <p:cNvPr id="22" name="TextBox 21"/>
          <p:cNvSpPr txBox="1"/>
          <p:nvPr/>
        </p:nvSpPr>
        <p:spPr>
          <a:xfrm>
            <a:off x="670560" y="4270552"/>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fixtures</a:t>
            </a:r>
          </a:p>
        </p:txBody>
      </p:sp>
      <p:sp>
        <p:nvSpPr>
          <p:cNvPr id="23" name="TextBox 22"/>
          <p:cNvSpPr txBox="1"/>
          <p:nvPr/>
        </p:nvSpPr>
        <p:spPr>
          <a:xfrm>
            <a:off x="5242560" y="4046219"/>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16 + 8</a:t>
            </a:r>
          </a:p>
        </p:txBody>
      </p:sp>
      <p:sp>
        <p:nvSpPr>
          <p:cNvPr id="24" name="TextBox 23"/>
          <p:cNvSpPr txBox="1"/>
          <p:nvPr/>
        </p:nvSpPr>
        <p:spPr>
          <a:xfrm>
            <a:off x="6614159" y="4046219"/>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Real-provider paths absent / RecordingRuntime</a:t>
            </a:r>
          </a:p>
        </p:txBody>
      </p:sp>
      <p:sp>
        <p:nvSpPr>
          <p:cNvPr id="25" name="Rounded Rectangle 24"/>
          <p:cNvSpPr/>
          <p:nvPr/>
        </p:nvSpPr>
        <p:spPr>
          <a:xfrm>
            <a:off x="548640" y="4518660"/>
            <a:ext cx="11094720" cy="563880"/>
          </a:xfrm>
          <a:prstGeom prst="roundRect">
            <a:avLst>
              <a:gd name="adj" fmla="val 8108"/>
            </a:avLst>
          </a:prstGeom>
          <a:solidFill>
            <a:srgbClr val="FFFFFF"/>
          </a:solidFill>
          <a:ln>
            <a:noFill/>
          </a:ln>
          <a:effectLst/>
        </p:spPr>
        <p:txBody>
          <a:bodyPr rtlCol="0" anchor="ctr"/>
          <a:lstStyle/>
          <a:p>
            <a:pPr algn="ctr"/>
          </a:p>
        </p:txBody>
      </p:sp>
      <p:sp>
        <p:nvSpPr>
          <p:cNvPr id="26" name="TextBox 25"/>
          <p:cNvSpPr txBox="1"/>
          <p:nvPr/>
        </p:nvSpPr>
        <p:spPr>
          <a:xfrm>
            <a:off x="670560" y="4648200"/>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M2 native revision</a:t>
            </a:r>
          </a:p>
        </p:txBody>
      </p:sp>
      <p:sp>
        <p:nvSpPr>
          <p:cNvPr id="27" name="TextBox 26"/>
          <p:cNvSpPr txBox="1"/>
          <p:nvPr/>
        </p:nvSpPr>
        <p:spPr>
          <a:xfrm>
            <a:off x="5242560" y="4648200"/>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12</a:t>
            </a:r>
          </a:p>
        </p:txBody>
      </p:sp>
      <p:sp>
        <p:nvSpPr>
          <p:cNvPr id="28" name="TextBox 27"/>
          <p:cNvSpPr txBox="1"/>
          <p:nvPr/>
        </p:nvSpPr>
        <p:spPr>
          <a:xfrm>
            <a:off x="6614159" y="4648200"/>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Actual goldens; malformed-output injections labelled</a:t>
            </a:r>
          </a:p>
        </p:txBody>
      </p:sp>
      <p:sp>
        <p:nvSpPr>
          <p:cNvPr id="29" name="Rounded Rectangle 28"/>
          <p:cNvSpPr/>
          <p:nvPr/>
        </p:nvSpPr>
        <p:spPr>
          <a:xfrm>
            <a:off x="548640" y="5120640"/>
            <a:ext cx="11094720" cy="563880"/>
          </a:xfrm>
          <a:prstGeom prst="roundRect">
            <a:avLst>
              <a:gd name="adj" fmla="val 8108"/>
            </a:avLst>
          </a:prstGeom>
          <a:solidFill>
            <a:srgbClr val="FFFFFF"/>
          </a:solidFill>
          <a:ln>
            <a:noFill/>
          </a:ln>
          <a:effectLst/>
        </p:spPr>
        <p:txBody>
          <a:bodyPr rtlCol="0" anchor="ctr"/>
          <a:lstStyle/>
          <a:p>
            <a:pPr algn="ctr"/>
          </a:p>
        </p:txBody>
      </p:sp>
      <p:sp>
        <p:nvSpPr>
          <p:cNvPr id="30" name="TextBox 29"/>
          <p:cNvSpPr txBox="1"/>
          <p:nvPr/>
        </p:nvSpPr>
        <p:spPr>
          <a:xfrm>
            <a:off x="670560" y="5250180"/>
            <a:ext cx="43281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M2 recovery / privacy + real Hive</a:t>
            </a:r>
          </a:p>
        </p:txBody>
      </p:sp>
      <p:sp>
        <p:nvSpPr>
          <p:cNvPr id="31" name="TextBox 30"/>
          <p:cNvSpPr txBox="1"/>
          <p:nvPr/>
        </p:nvSpPr>
        <p:spPr>
          <a:xfrm>
            <a:off x="5242560" y="5250180"/>
            <a:ext cx="1127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6 + 7</a:t>
            </a:r>
          </a:p>
        </p:txBody>
      </p:sp>
      <p:sp>
        <p:nvSpPr>
          <p:cNvPr id="32" name="TextBox 31"/>
          <p:cNvSpPr txBox="1"/>
          <p:nvPr/>
        </p:nvSpPr>
        <p:spPr>
          <a:xfrm>
            <a:off x="6614159" y="5250180"/>
            <a:ext cx="4907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Actual SIGKILL, CAS race, native authenticated route</a:t>
            </a:r>
          </a:p>
        </p:txBody>
      </p:sp>
      <p:sp>
        <p:nvSpPr>
          <p:cNvPr id="33" name="Rounded Rectangle 3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4" name="TextBox 33"/>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All final commands returned 0. Native suites reported zero skipped tests. No new runtime tests run for this deck.</a:t>
            </a:r>
          </a:p>
        </p:txBody>
      </p:sp>
      <p:cxnSp>
        <p:nvCxnSpPr>
          <p:cNvPr id="35" name="Connector 34"/>
          <p:cNvCxnSpPr/>
          <p:nvPr/>
        </p:nvCxnSpPr>
        <p:spPr>
          <a:xfrm>
            <a:off x="548640" y="6393180"/>
            <a:ext cx="11094720" cy="0"/>
          </a:xfrm>
          <a:prstGeom prst="line">
            <a:avLst/>
          </a:prstGeom>
          <a:ln w="7620">
            <a:solidFill>
              <a:srgbClr val="C9D2D4"/>
            </a:solidFill>
          </a:ln>
          <a:effectLst/>
        </p:spPr>
      </p:cxnSp>
      <p:sp>
        <p:nvSpPr>
          <p:cNvPr id="36" name="TextBox 3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m2/final/verification.json · final/m1_2/verification.json</a:t>
            </a:r>
          </a:p>
        </p:txBody>
      </p:sp>
      <p:sp>
        <p:nvSpPr>
          <p:cNvPr id="37" name="TextBox 3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25 / 38</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GATE-BY-GATE RESULTS · 1 OF 2</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M2 gates: contracts, memory and native revision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All required M2 gates passed for the supported local profile.</a:t>
            </a:r>
          </a:p>
        </p:txBody>
      </p:sp>
      <p:sp>
        <p:nvSpPr>
          <p:cNvPr id="5" name="TextBox 4"/>
          <p:cNvSpPr txBox="1"/>
          <p:nvPr/>
        </p:nvSpPr>
        <p:spPr>
          <a:xfrm>
            <a:off x="670560" y="1790700"/>
            <a:ext cx="23850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GATE</a:t>
            </a:r>
          </a:p>
        </p:txBody>
      </p:sp>
      <p:sp>
        <p:nvSpPr>
          <p:cNvPr id="6" name="TextBox 5"/>
          <p:cNvSpPr txBox="1"/>
          <p:nvPr/>
        </p:nvSpPr>
        <p:spPr>
          <a:xfrm>
            <a:off x="3299460" y="1790700"/>
            <a:ext cx="1203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RESULT</a:t>
            </a:r>
          </a:p>
        </p:txBody>
      </p:sp>
      <p:sp>
        <p:nvSpPr>
          <p:cNvPr id="7" name="TextBox 6"/>
          <p:cNvSpPr txBox="1"/>
          <p:nvPr/>
        </p:nvSpPr>
        <p:spPr>
          <a:xfrm>
            <a:off x="4747260" y="1790700"/>
            <a:ext cx="67741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OBLIGATION MET</a:t>
            </a:r>
          </a:p>
        </p:txBody>
      </p:sp>
      <p:sp>
        <p:nvSpPr>
          <p:cNvPr id="8" name="Rounded Rectangle 7"/>
          <p:cNvSpPr/>
          <p:nvPr/>
        </p:nvSpPr>
        <p:spPr>
          <a:xfrm>
            <a:off x="548640" y="2110740"/>
            <a:ext cx="11094720" cy="579120"/>
          </a:xfrm>
          <a:prstGeom prst="roundRect">
            <a:avLst>
              <a:gd name="adj" fmla="val 7894"/>
            </a:avLst>
          </a:prstGeom>
          <a:solidFill>
            <a:srgbClr val="FFFFFF"/>
          </a:solidFill>
          <a:ln>
            <a:noFill/>
          </a:ln>
          <a:effectLst/>
        </p:spPr>
        <p:txBody>
          <a:bodyPr rtlCol="0" anchor="ctr"/>
          <a:lstStyle/>
          <a:p>
            <a:pPr algn="ctr"/>
          </a:p>
        </p:txBody>
      </p:sp>
      <p:sp>
        <p:nvSpPr>
          <p:cNvPr id="9" name="TextBox 8"/>
          <p:cNvSpPr txBox="1"/>
          <p:nvPr/>
        </p:nvSpPr>
        <p:spPr>
          <a:xfrm>
            <a:off x="670560" y="2240280"/>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BASELINE</a:t>
            </a:r>
          </a:p>
        </p:txBody>
      </p:sp>
      <p:sp>
        <p:nvSpPr>
          <p:cNvPr id="10" name="TextBox 9"/>
          <p:cNvSpPr txBox="1"/>
          <p:nvPr/>
        </p:nvSpPr>
        <p:spPr>
          <a:xfrm>
            <a:off x="3299460" y="2240280"/>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11" name="TextBox 10"/>
          <p:cNvSpPr txBox="1"/>
          <p:nvPr/>
        </p:nvSpPr>
        <p:spPr>
          <a:xfrm>
            <a:off x="4747260" y="2240280"/>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Original behavior and native integration preserved</a:t>
            </a:r>
          </a:p>
        </p:txBody>
      </p:sp>
      <p:sp>
        <p:nvSpPr>
          <p:cNvPr id="12" name="Rounded Rectangle 11"/>
          <p:cNvSpPr/>
          <p:nvPr/>
        </p:nvSpPr>
        <p:spPr>
          <a:xfrm>
            <a:off x="548640" y="2727960"/>
            <a:ext cx="11094720" cy="579120"/>
          </a:xfrm>
          <a:prstGeom prst="roundRect">
            <a:avLst>
              <a:gd name="adj" fmla="val 7894"/>
            </a:avLst>
          </a:prstGeom>
          <a:solidFill>
            <a:srgbClr val="FFFFFF"/>
          </a:solidFill>
          <a:ln>
            <a:noFill/>
          </a:ln>
          <a:effectLst/>
        </p:spPr>
        <p:txBody>
          <a:bodyPr rtlCol="0" anchor="ctr"/>
          <a:lstStyle/>
          <a:p>
            <a:pPr algn="ctr"/>
          </a:p>
        </p:txBody>
      </p:sp>
      <p:sp>
        <p:nvSpPr>
          <p:cNvPr id="13" name="TextBox 12"/>
          <p:cNvSpPr txBox="1"/>
          <p:nvPr/>
        </p:nvSpPr>
        <p:spPr>
          <a:xfrm>
            <a:off x="670560" y="2857500"/>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CONTRACTS</a:t>
            </a:r>
          </a:p>
        </p:txBody>
      </p:sp>
      <p:sp>
        <p:nvSpPr>
          <p:cNvPr id="14" name="TextBox 13"/>
          <p:cNvSpPr txBox="1"/>
          <p:nvPr/>
        </p:nvSpPr>
        <p:spPr>
          <a:xfrm>
            <a:off x="3299460" y="2857500"/>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15" name="TextBox 14"/>
          <p:cNvSpPr txBox="1"/>
          <p:nvPr/>
        </p:nvSpPr>
        <p:spPr>
          <a:xfrm>
            <a:off x="4747260" y="2857500"/>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Closed local inputs / outputs, profiles, bounds and fingerprints</a:t>
            </a:r>
          </a:p>
        </p:txBody>
      </p:sp>
      <p:sp>
        <p:nvSpPr>
          <p:cNvPr id="16" name="Rounded Rectangle 15"/>
          <p:cNvSpPr/>
          <p:nvPr/>
        </p:nvSpPr>
        <p:spPr>
          <a:xfrm>
            <a:off x="548640" y="3345179"/>
            <a:ext cx="11094720" cy="579120"/>
          </a:xfrm>
          <a:prstGeom prst="roundRect">
            <a:avLst>
              <a:gd name="adj" fmla="val 7894"/>
            </a:avLst>
          </a:prstGeom>
          <a:solidFill>
            <a:srgbClr val="FFFFFF"/>
          </a:solidFill>
          <a:ln>
            <a:noFill/>
          </a:ln>
          <a:effectLst/>
        </p:spPr>
        <p:txBody>
          <a:bodyPr rtlCol="0" anchor="ctr"/>
          <a:lstStyle/>
          <a:p>
            <a:pPr algn="ctr"/>
          </a:p>
        </p:txBody>
      </p:sp>
      <p:sp>
        <p:nvSpPr>
          <p:cNvPr id="17" name="TextBox 16"/>
          <p:cNvSpPr txBox="1"/>
          <p:nvPr/>
        </p:nvSpPr>
        <p:spPr>
          <a:xfrm>
            <a:off x="670560" y="3474719"/>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C1</a:t>
            </a:r>
          </a:p>
        </p:txBody>
      </p:sp>
      <p:sp>
        <p:nvSpPr>
          <p:cNvPr id="18" name="TextBox 17"/>
          <p:cNvSpPr txBox="1"/>
          <p:nvPr/>
        </p:nvSpPr>
        <p:spPr>
          <a:xfrm>
            <a:off x="3299460" y="3474719"/>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19" name="TextBox 18"/>
          <p:cNvSpPr txBox="1"/>
          <p:nvPr/>
        </p:nvSpPr>
        <p:spPr>
          <a:xfrm>
            <a:off x="4747260" y="3474719"/>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Real-backed ordered history, replay, provenance and intents</a:t>
            </a:r>
          </a:p>
        </p:txBody>
      </p:sp>
      <p:sp>
        <p:nvSpPr>
          <p:cNvPr id="20" name="Rounded Rectangle 19"/>
          <p:cNvSpPr/>
          <p:nvPr/>
        </p:nvSpPr>
        <p:spPr>
          <a:xfrm>
            <a:off x="548640" y="3962400"/>
            <a:ext cx="11094720" cy="579120"/>
          </a:xfrm>
          <a:prstGeom prst="roundRect">
            <a:avLst>
              <a:gd name="adj" fmla="val 7894"/>
            </a:avLst>
          </a:prstGeom>
          <a:solidFill>
            <a:srgbClr val="FFFFFF"/>
          </a:solidFill>
          <a:ln>
            <a:noFill/>
          </a:ln>
          <a:effectLst/>
        </p:spPr>
        <p:txBody>
          <a:bodyPr rtlCol="0" anchor="ctr"/>
          <a:lstStyle/>
          <a:p>
            <a:pPr algn="ctr"/>
          </a:p>
        </p:txBody>
      </p:sp>
      <p:sp>
        <p:nvSpPr>
          <p:cNvPr id="21" name="TextBox 20"/>
          <p:cNvSpPr txBox="1"/>
          <p:nvPr/>
        </p:nvSpPr>
        <p:spPr>
          <a:xfrm>
            <a:off x="670560" y="4091940"/>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C1_INDEPENDENT</a:t>
            </a:r>
          </a:p>
        </p:txBody>
      </p:sp>
      <p:sp>
        <p:nvSpPr>
          <p:cNvPr id="22" name="TextBox 21"/>
          <p:cNvSpPr txBox="1"/>
          <p:nvPr/>
        </p:nvSpPr>
        <p:spPr>
          <a:xfrm>
            <a:off x="3299460" y="4091940"/>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23" name="TextBox 22"/>
          <p:cNvSpPr txBox="1"/>
          <p:nvPr/>
        </p:nvSpPr>
        <p:spPr>
          <a:xfrm>
            <a:off x="4747260" y="4091940"/>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AtomStorage; cognition absent; declared ports only</a:t>
            </a:r>
          </a:p>
        </p:txBody>
      </p:sp>
      <p:sp>
        <p:nvSpPr>
          <p:cNvPr id="24" name="Rounded Rectangle 23"/>
          <p:cNvSpPr/>
          <p:nvPr/>
        </p:nvSpPr>
        <p:spPr>
          <a:xfrm>
            <a:off x="548640" y="4579620"/>
            <a:ext cx="11094720" cy="579120"/>
          </a:xfrm>
          <a:prstGeom prst="roundRect">
            <a:avLst>
              <a:gd name="adj" fmla="val 7894"/>
            </a:avLst>
          </a:prstGeom>
          <a:solidFill>
            <a:srgbClr val="FFFFFF"/>
          </a:solidFill>
          <a:ln>
            <a:noFill/>
          </a:ln>
          <a:effectLst/>
        </p:spPr>
        <p:txBody>
          <a:bodyPr rtlCol="0" anchor="ctr"/>
          <a:lstStyle/>
          <a:p>
            <a:pPr algn="ctr"/>
          </a:p>
        </p:txBody>
      </p:sp>
      <p:sp>
        <p:nvSpPr>
          <p:cNvPr id="25" name="TextBox 24"/>
          <p:cNvSpPr txBox="1"/>
          <p:nvPr/>
        </p:nvSpPr>
        <p:spPr>
          <a:xfrm>
            <a:off x="670560" y="4709160"/>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C2_GUARDS</a:t>
            </a:r>
          </a:p>
        </p:txBody>
      </p:sp>
      <p:sp>
        <p:nvSpPr>
          <p:cNvPr id="26" name="TextBox 25"/>
          <p:cNvSpPr txBox="1"/>
          <p:nvPr/>
        </p:nvSpPr>
        <p:spPr>
          <a:xfrm>
            <a:off x="3299460" y="4709160"/>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27" name="TextBox 26"/>
          <p:cNvSpPr txBox="1"/>
          <p:nvPr/>
        </p:nvSpPr>
        <p:spPr>
          <a:xfrm>
            <a:off x="4747260" y="4709160"/>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Unchanged upstream guards + hostile-input refusals</a:t>
            </a:r>
          </a:p>
        </p:txBody>
      </p:sp>
      <p:sp>
        <p:nvSpPr>
          <p:cNvPr id="28" name="Rounded Rectangle 27"/>
          <p:cNvSpPr/>
          <p:nvPr/>
        </p:nvSpPr>
        <p:spPr>
          <a:xfrm>
            <a:off x="548640" y="5196840"/>
            <a:ext cx="11094720" cy="579120"/>
          </a:xfrm>
          <a:prstGeom prst="roundRect">
            <a:avLst>
              <a:gd name="adj" fmla="val 7894"/>
            </a:avLst>
          </a:prstGeom>
          <a:solidFill>
            <a:srgbClr val="FFFFFF"/>
          </a:solidFill>
          <a:ln>
            <a:noFill/>
          </a:ln>
          <a:effectLst/>
        </p:spPr>
        <p:txBody>
          <a:bodyPr rtlCol="0" anchor="ctr"/>
          <a:lstStyle/>
          <a:p>
            <a:pPr algn="ctr"/>
          </a:p>
        </p:txBody>
      </p:sp>
      <p:sp>
        <p:nvSpPr>
          <p:cNvPr id="29" name="TextBox 28"/>
          <p:cNvSpPr txBox="1"/>
          <p:nvPr/>
        </p:nvSpPr>
        <p:spPr>
          <a:xfrm>
            <a:off x="670560" y="5326380"/>
            <a:ext cx="23850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C2_NATIVE</a:t>
            </a:r>
          </a:p>
        </p:txBody>
      </p:sp>
      <p:sp>
        <p:nvSpPr>
          <p:cNvPr id="30" name="TextBox 29"/>
          <p:cNvSpPr txBox="1"/>
          <p:nvPr/>
        </p:nvSpPr>
        <p:spPr>
          <a:xfrm>
            <a:off x="3299460" y="5326380"/>
            <a:ext cx="1203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PASS</a:t>
            </a:r>
          </a:p>
        </p:txBody>
      </p:sp>
      <p:sp>
        <p:nvSpPr>
          <p:cNvPr id="31" name="TextBox 30"/>
          <p:cNvSpPr txBox="1"/>
          <p:nvPr/>
        </p:nvSpPr>
        <p:spPr>
          <a:xfrm>
            <a:off x="4747260" y="5326380"/>
            <a:ext cx="67741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Actual native equal / unequal / reversed-pair goldens</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m2/manifest.json · m2-evidence.md</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26 / 38</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GATE-BY-GATE RESULTS · 2 OF 2</a:t>
            </a:r>
          </a:p>
        </p:txBody>
      </p:sp>
      <p:sp>
        <p:nvSpPr>
          <p:cNvPr id="3" name="TextBox 2"/>
          <p:cNvSpPr txBox="1"/>
          <p:nvPr/>
        </p:nvSpPr>
        <p:spPr>
          <a:xfrm>
            <a:off x="533400" y="723900"/>
            <a:ext cx="11125200" cy="468172"/>
          </a:xfrm>
          <a:prstGeom prst="rect">
            <a:avLst/>
          </a:prstGeom>
          <a:noFill/>
        </p:spPr>
        <p:txBody>
          <a:bodyPr wrap="none" lIns="0" rIns="0" tIns="0" bIns="0" anchor="t" anchorCtr="0">
            <a:noAutofit/>
          </a:bodyPr>
          <a:lstStyle/>
          <a:p>
            <a:pPr algn="l">
              <a:lnSpc>
                <a:spcPct val="100000"/>
              </a:lnSpc>
              <a:spcBef>
                <a:spcPts val="0"/>
              </a:spcBef>
              <a:spcAft>
                <a:spcPts val="0"/>
              </a:spcAft>
            </a:pPr>
            <a:r>
              <a:rPr sz="2879" b="1">
                <a:solidFill>
                  <a:srgbClr val="102B3F"/>
                </a:solidFill>
                <a:latin typeface="DejaVu Sans"/>
              </a:rPr>
              <a:t>M2 gates: privacy, recovery, Hive and reproducibility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M2 prerequisite remains blocked. Optional or excluded work retains its own status.</a:t>
            </a:r>
          </a:p>
        </p:txBody>
      </p:sp>
      <p:sp>
        <p:nvSpPr>
          <p:cNvPr id="5" name="TextBox 4"/>
          <p:cNvSpPr txBox="1"/>
          <p:nvPr/>
        </p:nvSpPr>
        <p:spPr>
          <a:xfrm>
            <a:off x="670560" y="1790700"/>
            <a:ext cx="23850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GATE</a:t>
            </a:r>
          </a:p>
        </p:txBody>
      </p:sp>
      <p:sp>
        <p:nvSpPr>
          <p:cNvPr id="6" name="TextBox 5"/>
          <p:cNvSpPr txBox="1"/>
          <p:nvPr/>
        </p:nvSpPr>
        <p:spPr>
          <a:xfrm>
            <a:off x="3299460" y="1790700"/>
            <a:ext cx="1203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RESULT</a:t>
            </a:r>
          </a:p>
        </p:txBody>
      </p:sp>
      <p:sp>
        <p:nvSpPr>
          <p:cNvPr id="7" name="TextBox 6"/>
          <p:cNvSpPr txBox="1"/>
          <p:nvPr/>
        </p:nvSpPr>
        <p:spPr>
          <a:xfrm>
            <a:off x="4747260" y="1790700"/>
            <a:ext cx="67741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OBSERVED BOUNDARY</a:t>
            </a:r>
          </a:p>
        </p:txBody>
      </p:sp>
      <p:sp>
        <p:nvSpPr>
          <p:cNvPr id="8" name="Rounded Rectangle 7"/>
          <p:cNvSpPr/>
          <p:nvPr/>
        </p:nvSpPr>
        <p:spPr>
          <a:xfrm>
            <a:off x="548640" y="2110740"/>
            <a:ext cx="11094720" cy="563880"/>
          </a:xfrm>
          <a:prstGeom prst="roundRect">
            <a:avLst>
              <a:gd name="adj" fmla="val 8108"/>
            </a:avLst>
          </a:prstGeom>
          <a:solidFill>
            <a:srgbClr val="FFFFFF"/>
          </a:solidFill>
          <a:ln>
            <a:noFill/>
          </a:ln>
          <a:effectLst/>
        </p:spPr>
        <p:txBody>
          <a:bodyPr rtlCol="0" anchor="ctr"/>
          <a:lstStyle/>
          <a:p>
            <a:pPr algn="ctr"/>
          </a:p>
        </p:txBody>
      </p:sp>
      <p:sp>
        <p:nvSpPr>
          <p:cNvPr id="9" name="TextBox 8"/>
          <p:cNvSpPr txBox="1"/>
          <p:nvPr/>
        </p:nvSpPr>
        <p:spPr>
          <a:xfrm>
            <a:off x="670560" y="2240280"/>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PRIVACY</a:t>
            </a:r>
          </a:p>
        </p:txBody>
      </p:sp>
      <p:sp>
        <p:nvSpPr>
          <p:cNvPr id="10" name="TextBox 9"/>
          <p:cNvSpPr txBox="1"/>
          <p:nvPr/>
        </p:nvSpPr>
        <p:spPr>
          <a:xfrm>
            <a:off x="3299460" y="2240280"/>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PASS</a:t>
            </a:r>
          </a:p>
        </p:txBody>
      </p:sp>
      <p:sp>
        <p:nvSpPr>
          <p:cNvPr id="11" name="TextBox 10"/>
          <p:cNvSpPr txBox="1"/>
          <p:nvPr/>
        </p:nvSpPr>
        <p:spPr>
          <a:xfrm>
            <a:off x="4747260" y="2240280"/>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Tested private routing; cross-principal / scope and revocation</a:t>
            </a:r>
          </a:p>
        </p:txBody>
      </p:sp>
      <p:sp>
        <p:nvSpPr>
          <p:cNvPr id="12" name="Rounded Rectangle 11"/>
          <p:cNvSpPr/>
          <p:nvPr/>
        </p:nvSpPr>
        <p:spPr>
          <a:xfrm>
            <a:off x="548640" y="2712720"/>
            <a:ext cx="11094720" cy="563880"/>
          </a:xfrm>
          <a:prstGeom prst="roundRect">
            <a:avLst>
              <a:gd name="adj" fmla="val 8108"/>
            </a:avLst>
          </a:prstGeom>
          <a:solidFill>
            <a:srgbClr val="FFFFFF"/>
          </a:solidFill>
          <a:ln>
            <a:noFill/>
          </a:ln>
          <a:effectLst/>
        </p:spPr>
        <p:txBody>
          <a:bodyPr rtlCol="0" anchor="ctr"/>
          <a:lstStyle/>
          <a:p>
            <a:pPr algn="ctr"/>
          </a:p>
        </p:txBody>
      </p:sp>
      <p:sp>
        <p:nvSpPr>
          <p:cNvPr id="13" name="TextBox 12"/>
          <p:cNvSpPr txBox="1"/>
          <p:nvPr/>
        </p:nvSpPr>
        <p:spPr>
          <a:xfrm>
            <a:off x="670560" y="2842260"/>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RECOVERY</a:t>
            </a:r>
          </a:p>
        </p:txBody>
      </p:sp>
      <p:sp>
        <p:nvSpPr>
          <p:cNvPr id="14" name="TextBox 13"/>
          <p:cNvSpPr txBox="1"/>
          <p:nvPr/>
        </p:nvSpPr>
        <p:spPr>
          <a:xfrm>
            <a:off x="3299460" y="2842260"/>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PASS</a:t>
            </a:r>
          </a:p>
        </p:txBody>
      </p:sp>
      <p:sp>
        <p:nvSpPr>
          <p:cNvPr id="15" name="TextBox 14"/>
          <p:cNvSpPr txBox="1"/>
          <p:nvPr/>
        </p:nvSpPr>
        <p:spPr>
          <a:xfrm>
            <a:off x="4747260" y="2842260"/>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Four real kill boundaries, stable decisions, two-process CAS</a:t>
            </a:r>
          </a:p>
        </p:txBody>
      </p:sp>
      <p:sp>
        <p:nvSpPr>
          <p:cNvPr id="16" name="Rounded Rectangle 15"/>
          <p:cNvSpPr/>
          <p:nvPr/>
        </p:nvSpPr>
        <p:spPr>
          <a:xfrm>
            <a:off x="548640" y="3314700"/>
            <a:ext cx="11094720" cy="563880"/>
          </a:xfrm>
          <a:prstGeom prst="roundRect">
            <a:avLst>
              <a:gd name="adj" fmla="val 8108"/>
            </a:avLst>
          </a:prstGeom>
          <a:solidFill>
            <a:srgbClr val="FFFFFF"/>
          </a:solidFill>
          <a:ln>
            <a:noFill/>
          </a:ln>
          <a:effectLst/>
        </p:spPr>
        <p:txBody>
          <a:bodyPr rtlCol="0" anchor="ctr"/>
          <a:lstStyle/>
          <a:p>
            <a:pPr algn="ctr"/>
          </a:p>
        </p:txBody>
      </p:sp>
      <p:sp>
        <p:nvSpPr>
          <p:cNvPr id="17" name="TextBox 16"/>
          <p:cNvSpPr txBox="1"/>
          <p:nvPr/>
        </p:nvSpPr>
        <p:spPr>
          <a:xfrm>
            <a:off x="670560" y="3444240"/>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HIVE_M2</a:t>
            </a:r>
          </a:p>
        </p:txBody>
      </p:sp>
      <p:sp>
        <p:nvSpPr>
          <p:cNvPr id="18" name="TextBox 17"/>
          <p:cNvSpPr txBox="1"/>
          <p:nvPr/>
        </p:nvSpPr>
        <p:spPr>
          <a:xfrm>
            <a:off x="3299460" y="3444240"/>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PASS</a:t>
            </a:r>
          </a:p>
        </p:txBody>
      </p:sp>
      <p:sp>
        <p:nvSpPr>
          <p:cNvPr id="19" name="TextBox 18"/>
          <p:cNvSpPr txBox="1"/>
          <p:nvPr/>
        </p:nvSpPr>
        <p:spPr>
          <a:xfrm>
            <a:off x="4747260" y="3444240"/>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Seven actual authenticated native caller tests</a:t>
            </a:r>
          </a:p>
        </p:txBody>
      </p:sp>
      <p:sp>
        <p:nvSpPr>
          <p:cNvPr id="20" name="Rounded Rectangle 19"/>
          <p:cNvSpPr/>
          <p:nvPr/>
        </p:nvSpPr>
        <p:spPr>
          <a:xfrm>
            <a:off x="548640" y="3916679"/>
            <a:ext cx="11094720" cy="563880"/>
          </a:xfrm>
          <a:prstGeom prst="roundRect">
            <a:avLst>
              <a:gd name="adj" fmla="val 8108"/>
            </a:avLst>
          </a:prstGeom>
          <a:solidFill>
            <a:srgbClr val="FFFFFF"/>
          </a:solidFill>
          <a:ln>
            <a:noFill/>
          </a:ln>
          <a:effectLst/>
        </p:spPr>
        <p:txBody>
          <a:bodyPr rtlCol="0" anchor="ctr"/>
          <a:lstStyle/>
          <a:p>
            <a:pPr algn="ctr"/>
          </a:p>
        </p:txBody>
      </p:sp>
      <p:sp>
        <p:nvSpPr>
          <p:cNvPr id="21" name="TextBox 20"/>
          <p:cNvSpPr txBox="1"/>
          <p:nvPr/>
        </p:nvSpPr>
        <p:spPr>
          <a:xfrm>
            <a:off x="670560" y="4046219"/>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REPRO</a:t>
            </a:r>
          </a:p>
        </p:txBody>
      </p:sp>
      <p:sp>
        <p:nvSpPr>
          <p:cNvPr id="22" name="TextBox 21"/>
          <p:cNvSpPr txBox="1"/>
          <p:nvPr/>
        </p:nvSpPr>
        <p:spPr>
          <a:xfrm>
            <a:off x="3299460" y="4046219"/>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PASS</a:t>
            </a:r>
          </a:p>
        </p:txBody>
      </p:sp>
      <p:sp>
        <p:nvSpPr>
          <p:cNvPr id="23" name="TextBox 22"/>
          <p:cNvSpPr txBox="1"/>
          <p:nvPr/>
        </p:nvSpPr>
        <p:spPr>
          <a:xfrm>
            <a:off x="4747260" y="4046219"/>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Fresh providers + clean Fusion run; download caches warm</a:t>
            </a:r>
          </a:p>
        </p:txBody>
      </p:sp>
      <p:sp>
        <p:nvSpPr>
          <p:cNvPr id="24" name="Rounded Rectangle 23"/>
          <p:cNvSpPr/>
          <p:nvPr/>
        </p:nvSpPr>
        <p:spPr>
          <a:xfrm>
            <a:off x="548640" y="4518660"/>
            <a:ext cx="11094720" cy="563880"/>
          </a:xfrm>
          <a:prstGeom prst="roundRect">
            <a:avLst>
              <a:gd name="adj" fmla="val 8108"/>
            </a:avLst>
          </a:prstGeom>
          <a:solidFill>
            <a:srgbClr val="FFFFFF"/>
          </a:solidFill>
          <a:ln>
            <a:noFill/>
          </a:ln>
          <a:effectLst/>
        </p:spPr>
        <p:txBody>
          <a:bodyPr rtlCol="0" anchor="ctr"/>
          <a:lstStyle/>
          <a:p>
            <a:pPr algn="ctr"/>
          </a:p>
        </p:txBody>
      </p:sp>
      <p:sp>
        <p:nvSpPr>
          <p:cNvPr id="25" name="TextBox 24"/>
          <p:cNvSpPr txBox="1"/>
          <p:nvPr/>
        </p:nvSpPr>
        <p:spPr>
          <a:xfrm>
            <a:off x="670560" y="4648200"/>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SCOPE</a:t>
            </a:r>
          </a:p>
        </p:txBody>
      </p:sp>
      <p:sp>
        <p:nvSpPr>
          <p:cNvPr id="26" name="TextBox 25"/>
          <p:cNvSpPr txBox="1"/>
          <p:nvPr/>
        </p:nvSpPr>
        <p:spPr>
          <a:xfrm>
            <a:off x="3299460" y="4648200"/>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PASS</a:t>
            </a:r>
          </a:p>
        </p:txBody>
      </p:sp>
      <p:sp>
        <p:nvSpPr>
          <p:cNvPr id="27" name="TextBox 26"/>
          <p:cNvSpPr txBox="1"/>
          <p:nvPr/>
        </p:nvSpPr>
        <p:spPr>
          <a:xfrm>
            <a:off x="4747260" y="4648200"/>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C1 + C2 only; M1.2 and upstream guarded sources preserved</a:t>
            </a:r>
          </a:p>
        </p:txBody>
      </p:sp>
      <p:sp>
        <p:nvSpPr>
          <p:cNvPr id="28" name="Rounded Rectangle 27"/>
          <p:cNvSpPr/>
          <p:nvPr/>
        </p:nvSpPr>
        <p:spPr>
          <a:xfrm>
            <a:off x="548640" y="5120640"/>
            <a:ext cx="11094720" cy="563880"/>
          </a:xfrm>
          <a:prstGeom prst="roundRect">
            <a:avLst>
              <a:gd name="adj" fmla="val 8108"/>
            </a:avLst>
          </a:prstGeom>
          <a:solidFill>
            <a:srgbClr val="FFFFFF"/>
          </a:solidFill>
          <a:ln>
            <a:noFill/>
          </a:ln>
          <a:effectLst/>
        </p:spPr>
        <p:txBody>
          <a:bodyPr rtlCol="0" anchor="ctr"/>
          <a:lstStyle/>
          <a:p>
            <a:pPr algn="ctr"/>
          </a:p>
        </p:txBody>
      </p:sp>
      <p:sp>
        <p:nvSpPr>
          <p:cNvPr id="29" name="TextBox 28"/>
          <p:cNvSpPr txBox="1"/>
          <p:nvPr/>
        </p:nvSpPr>
        <p:spPr>
          <a:xfrm>
            <a:off x="670560" y="5250180"/>
            <a:ext cx="23850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CHAIN</a:t>
            </a:r>
          </a:p>
        </p:txBody>
      </p:sp>
      <p:sp>
        <p:nvSpPr>
          <p:cNvPr id="30" name="TextBox 29"/>
          <p:cNvSpPr txBox="1"/>
          <p:nvPr/>
        </p:nvSpPr>
        <p:spPr>
          <a:xfrm>
            <a:off x="3299460" y="5250180"/>
            <a:ext cx="120396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NOT_RUN</a:t>
            </a:r>
          </a:p>
        </p:txBody>
      </p:sp>
      <p:sp>
        <p:nvSpPr>
          <p:cNvPr id="31" name="TextBox 30"/>
          <p:cNvSpPr txBox="1"/>
          <p:nvPr/>
        </p:nvSpPr>
        <p:spPr>
          <a:xfrm>
            <a:off x="4747260" y="5250180"/>
            <a:ext cx="677418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Outside M2; no chain action or fallback</a:t>
            </a:r>
          </a:p>
        </p:txBody>
      </p:sp>
      <p:sp>
        <p:nvSpPr>
          <p:cNvPr id="32" name="Rounded Rectangle 31"/>
          <p:cNvSpPr/>
          <p:nvPr/>
        </p:nvSpPr>
        <p:spPr>
          <a:xfrm>
            <a:off x="548640" y="5829300"/>
            <a:ext cx="11094720" cy="403859"/>
          </a:xfrm>
          <a:prstGeom prst="roundRect">
            <a:avLst>
              <a:gd name="adj" fmla="val 15094"/>
            </a:avLst>
          </a:prstGeom>
          <a:solidFill>
            <a:srgbClr val="F3E7CE"/>
          </a:solidFill>
          <a:ln>
            <a:noFill/>
          </a:ln>
          <a:effectLst/>
        </p:spPr>
        <p:txBody>
          <a:bodyPr rtlCol="0" anchor="ctr"/>
          <a:lstStyle/>
          <a:p>
            <a:pPr algn="ctr"/>
          </a:p>
        </p:txBody>
      </p:sp>
      <p:sp>
        <p:nvSpPr>
          <p:cNvPr id="33" name="TextBox 32"/>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A86A15"/>
                </a:solidFill>
                <a:latin typeface="DejaVu Sans"/>
              </a:rPr>
              <a:t>Historical exact chain-source reproduction remains BLOCKED; it is not a missing M2 prerequisite.</a:t>
            </a:r>
          </a:p>
        </p:txBody>
      </p:sp>
      <p:cxnSp>
        <p:nvCxnSpPr>
          <p:cNvPr id="34" name="Connector 33"/>
          <p:cNvCxnSpPr/>
          <p:nvPr/>
        </p:nvCxnSpPr>
        <p:spPr>
          <a:xfrm>
            <a:off x="548640" y="6393180"/>
            <a:ext cx="11094720" cy="0"/>
          </a:xfrm>
          <a:prstGeom prst="line">
            <a:avLst/>
          </a:prstGeom>
          <a:ln w="7620">
            <a:solidFill>
              <a:srgbClr val="C9D2D4"/>
            </a:solidFill>
          </a:ln>
          <a:effectLst/>
        </p:spPr>
      </p:cxnSp>
      <p:sp>
        <p:nvSpPr>
          <p:cNvPr id="35" name="TextBox 3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m2/manifest.json · source-preservation.json</a:t>
            </a:r>
          </a:p>
        </p:txBody>
      </p:sp>
      <p:sp>
        <p:nvSpPr>
          <p:cNvPr id="36" name="TextBox 3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27 / 38</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REPRODUCTION EVIDENCE</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Reproducibility binds source, build and execution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final code is tested from a clean detached checkout; native inputs are independently pinned.</a:t>
            </a:r>
          </a:p>
        </p:txBody>
      </p:sp>
      <p:sp>
        <p:nvSpPr>
          <p:cNvPr id="5" name="Rounded Rectangle 4"/>
          <p:cNvSpPr/>
          <p:nvPr/>
        </p:nvSpPr>
        <p:spPr>
          <a:xfrm>
            <a:off x="548640" y="1920239"/>
            <a:ext cx="3535679" cy="2316480"/>
          </a:xfrm>
          <a:prstGeom prst="roundRect">
            <a:avLst>
              <a:gd name="adj" fmla="val 4276"/>
            </a:avLst>
          </a:prstGeom>
          <a:solidFill>
            <a:srgbClr val="FFFFFF"/>
          </a:solidFill>
          <a:ln w="7620">
            <a:solidFill>
              <a:srgbClr val="007C78"/>
            </a:solidFill>
          </a:ln>
          <a:effectLst/>
        </p:spPr>
        <p:txBody>
          <a:bodyPr rtlCol="0" anchor="ctr"/>
          <a:lstStyle/>
          <a:p>
            <a:pPr algn="ctr"/>
          </a:p>
        </p:txBody>
      </p:sp>
      <p:sp>
        <p:nvSpPr>
          <p:cNvPr id="6" name="TextBox 5"/>
          <p:cNvSpPr txBox="1"/>
          <p:nvPr/>
        </p:nvSpPr>
        <p:spPr>
          <a:xfrm>
            <a:off x="716280" y="2087880"/>
            <a:ext cx="32004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1 · Fetch exact sources</a:t>
            </a:r>
          </a:p>
        </p:txBody>
      </p:sp>
      <p:sp>
        <p:nvSpPr>
          <p:cNvPr id="7" name="TextBox 6"/>
          <p:cNvSpPr txBox="1"/>
          <p:nvPr/>
        </p:nvSpPr>
        <p:spPr>
          <a:xfrm>
            <a:off x="716280" y="2466441"/>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Hive + DeTTa via authorized</a:t>
            </a:r>
          </a:p>
        </p:txBody>
      </p:sp>
      <p:sp>
        <p:nvSpPr>
          <p:cNvPr id="8" name="TextBox 7"/>
          <p:cNvSpPr txBox="1"/>
          <p:nvPr/>
        </p:nvSpPr>
        <p:spPr>
          <a:xfrm>
            <a:off x="716280" y="2729788"/>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SSH; Reachability, PLN, PeTTa</a:t>
            </a:r>
          </a:p>
        </p:txBody>
      </p:sp>
      <p:sp>
        <p:nvSpPr>
          <p:cNvPr id="9" name="TextBox 8"/>
          <p:cNvSpPr txBox="1"/>
          <p:nvPr/>
        </p:nvSpPr>
        <p:spPr>
          <a:xfrm>
            <a:off x="716280" y="2993136"/>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and SWI at full commits.</a:t>
            </a:r>
          </a:p>
        </p:txBody>
      </p:sp>
      <p:sp>
        <p:nvSpPr>
          <p:cNvPr id="10" name="Rounded Rectangle 9"/>
          <p:cNvSpPr/>
          <p:nvPr/>
        </p:nvSpPr>
        <p:spPr>
          <a:xfrm>
            <a:off x="4328160" y="1920239"/>
            <a:ext cx="3535679" cy="2316480"/>
          </a:xfrm>
          <a:prstGeom prst="roundRect">
            <a:avLst>
              <a:gd name="adj" fmla="val 4276"/>
            </a:avLst>
          </a:prstGeom>
          <a:solidFill>
            <a:srgbClr val="FFFFFF"/>
          </a:solidFill>
          <a:ln w="7620">
            <a:solidFill>
              <a:srgbClr val="007C78"/>
            </a:solidFill>
          </a:ln>
          <a:effectLst/>
        </p:spPr>
        <p:txBody>
          <a:bodyPr rtlCol="0" anchor="ctr"/>
          <a:lstStyle/>
          <a:p>
            <a:pPr algn="ctr"/>
          </a:p>
        </p:txBody>
      </p:sp>
      <p:sp>
        <p:nvSpPr>
          <p:cNvPr id="11" name="TextBox 10"/>
          <p:cNvSpPr txBox="1"/>
          <p:nvPr/>
        </p:nvSpPr>
        <p:spPr>
          <a:xfrm>
            <a:off x="4495800" y="2087880"/>
            <a:ext cx="32004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2 · Build fresh</a:t>
            </a:r>
          </a:p>
        </p:txBody>
      </p:sp>
      <p:sp>
        <p:nvSpPr>
          <p:cNvPr id="12" name="TextBox 11"/>
          <p:cNvSpPr txBox="1"/>
          <p:nvPr/>
        </p:nvSpPr>
        <p:spPr>
          <a:xfrm>
            <a:off x="4495800" y="2390241"/>
            <a:ext cx="32004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providers</a:t>
            </a:r>
          </a:p>
        </p:txBody>
      </p:sp>
      <p:sp>
        <p:nvSpPr>
          <p:cNvPr id="13" name="TextBox 12"/>
          <p:cNvSpPr txBox="1"/>
          <p:nvPr/>
        </p:nvSpPr>
        <p:spPr>
          <a:xfrm>
            <a:off x="4495800" y="2768803"/>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New native objects, venv,</a:t>
            </a:r>
          </a:p>
        </p:txBody>
      </p:sp>
      <p:sp>
        <p:nvSpPr>
          <p:cNvPr id="14" name="TextBox 13"/>
          <p:cNvSpPr txBox="1"/>
          <p:nvPr/>
        </p:nvSpPr>
        <p:spPr>
          <a:xfrm>
            <a:off x="4495800" y="3032150"/>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Janus and DeTTa target.</a:t>
            </a:r>
          </a:p>
        </p:txBody>
      </p:sp>
      <p:sp>
        <p:nvSpPr>
          <p:cNvPr id="15" name="TextBox 14"/>
          <p:cNvSpPr txBox="1"/>
          <p:nvPr/>
        </p:nvSpPr>
        <p:spPr>
          <a:xfrm>
            <a:off x="4495800" y="3295497"/>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Download caches may be</a:t>
            </a:r>
          </a:p>
        </p:txBody>
      </p:sp>
      <p:sp>
        <p:nvSpPr>
          <p:cNvPr id="16" name="TextBox 15"/>
          <p:cNvSpPr txBox="1"/>
          <p:nvPr/>
        </p:nvSpPr>
        <p:spPr>
          <a:xfrm>
            <a:off x="4495800" y="3558844"/>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warm.</a:t>
            </a:r>
          </a:p>
        </p:txBody>
      </p:sp>
      <p:sp>
        <p:nvSpPr>
          <p:cNvPr id="17" name="Rounded Rectangle 16"/>
          <p:cNvSpPr/>
          <p:nvPr/>
        </p:nvSpPr>
        <p:spPr>
          <a:xfrm>
            <a:off x="8107680" y="1920239"/>
            <a:ext cx="3535679" cy="2316480"/>
          </a:xfrm>
          <a:prstGeom prst="roundRect">
            <a:avLst>
              <a:gd name="adj" fmla="val 4276"/>
            </a:avLst>
          </a:prstGeom>
          <a:solidFill>
            <a:srgbClr val="FFFFFF"/>
          </a:solidFill>
          <a:ln w="7620">
            <a:solidFill>
              <a:srgbClr val="007C78"/>
            </a:solidFill>
          </a:ln>
          <a:effectLst/>
        </p:spPr>
        <p:txBody>
          <a:bodyPr rtlCol="0" anchor="ctr"/>
          <a:lstStyle/>
          <a:p>
            <a:pPr algn="ctr"/>
          </a:p>
        </p:txBody>
      </p:sp>
      <p:sp>
        <p:nvSpPr>
          <p:cNvPr id="18" name="TextBox 17"/>
          <p:cNvSpPr txBox="1"/>
          <p:nvPr/>
        </p:nvSpPr>
        <p:spPr>
          <a:xfrm>
            <a:off x="8275320" y="2087880"/>
            <a:ext cx="32004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007C78"/>
                </a:solidFill>
                <a:latin typeface="DejaVu Sans"/>
              </a:rPr>
              <a:t>3 · Verify exact Fusion</a:t>
            </a:r>
          </a:p>
        </p:txBody>
      </p:sp>
      <p:sp>
        <p:nvSpPr>
          <p:cNvPr id="19" name="TextBox 18"/>
          <p:cNvSpPr txBox="1"/>
          <p:nvPr/>
        </p:nvSpPr>
        <p:spPr>
          <a:xfrm>
            <a:off x="8275320" y="2466441"/>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Clean d9e7577 checkout. All</a:t>
            </a:r>
          </a:p>
        </p:txBody>
      </p:sp>
      <p:sp>
        <p:nvSpPr>
          <p:cNvPr id="20" name="TextBox 19"/>
          <p:cNvSpPr txBox="1"/>
          <p:nvPr/>
        </p:nvSpPr>
        <p:spPr>
          <a:xfrm>
            <a:off x="8275320" y="2729788"/>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supported gates; exact</a:t>
            </a:r>
          </a:p>
        </p:txBody>
      </p:sp>
      <p:sp>
        <p:nvSpPr>
          <p:cNvPr id="21" name="TextBox 20"/>
          <p:cNvSpPr txBox="1"/>
          <p:nvPr/>
        </p:nvSpPr>
        <p:spPr>
          <a:xfrm>
            <a:off x="8275320" y="2993136"/>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commands, hashes and logs</a:t>
            </a:r>
          </a:p>
        </p:txBody>
      </p:sp>
      <p:sp>
        <p:nvSpPr>
          <p:cNvPr id="22" name="TextBox 21"/>
          <p:cNvSpPr txBox="1"/>
          <p:nvPr/>
        </p:nvSpPr>
        <p:spPr>
          <a:xfrm>
            <a:off x="8275320" y="3256483"/>
            <a:ext cx="32004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retained.</a:t>
            </a:r>
          </a:p>
        </p:txBody>
      </p:sp>
      <p:sp>
        <p:nvSpPr>
          <p:cNvPr id="23" name="Rounded Rectangle 22"/>
          <p:cNvSpPr/>
          <p:nvPr/>
        </p:nvSpPr>
        <p:spPr>
          <a:xfrm>
            <a:off x="548640" y="4587240"/>
            <a:ext cx="5364480" cy="1043940"/>
          </a:xfrm>
          <a:prstGeom prst="roundRect">
            <a:avLst>
              <a:gd name="adj" fmla="val 9489"/>
            </a:avLst>
          </a:prstGeom>
          <a:solidFill>
            <a:srgbClr val="E4EBF5"/>
          </a:solidFill>
          <a:ln w="7620">
            <a:solidFill>
              <a:srgbClr val="315E9C"/>
            </a:solidFill>
          </a:ln>
          <a:effectLst/>
        </p:spPr>
        <p:txBody>
          <a:bodyPr rtlCol="0" anchor="ctr"/>
          <a:lstStyle/>
          <a:p>
            <a:pPr algn="ctr"/>
          </a:p>
        </p:txBody>
      </p:sp>
      <p:sp>
        <p:nvSpPr>
          <p:cNvPr id="24" name="TextBox 23"/>
          <p:cNvSpPr txBox="1"/>
          <p:nvPr/>
        </p:nvSpPr>
        <p:spPr>
          <a:xfrm>
            <a:off x="716280" y="4754880"/>
            <a:ext cx="502920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Observed build: 337.325 seconds</a:t>
            </a:r>
          </a:p>
        </p:txBody>
      </p:sp>
      <p:sp>
        <p:nvSpPr>
          <p:cNvPr id="25" name="TextBox 24"/>
          <p:cNvSpPr txBox="1"/>
          <p:nvPr/>
        </p:nvSpPr>
        <p:spPr>
          <a:xfrm>
            <a:off x="716280" y="5113934"/>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 build observation on this host; no throughput or</a:t>
            </a:r>
          </a:p>
        </p:txBody>
      </p:sp>
      <p:sp>
        <p:nvSpPr>
          <p:cNvPr id="26" name="TextBox 25"/>
          <p:cNvSpPr txBox="1"/>
          <p:nvPr/>
        </p:nvSpPr>
        <p:spPr>
          <a:xfrm>
            <a:off x="716280" y="5338267"/>
            <a:ext cx="5029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latency claim.</a:t>
            </a:r>
          </a:p>
        </p:txBody>
      </p:sp>
      <p:sp>
        <p:nvSpPr>
          <p:cNvPr id="27" name="Rounded Rectangle 26"/>
          <p:cNvSpPr/>
          <p:nvPr/>
        </p:nvSpPr>
        <p:spPr>
          <a:xfrm>
            <a:off x="6096000" y="4587240"/>
            <a:ext cx="5547360" cy="1043940"/>
          </a:xfrm>
          <a:prstGeom prst="roundRect">
            <a:avLst>
              <a:gd name="adj" fmla="val 9489"/>
            </a:avLst>
          </a:prstGeom>
          <a:solidFill>
            <a:srgbClr val="E4EBF5"/>
          </a:solidFill>
          <a:ln w="7620">
            <a:solidFill>
              <a:srgbClr val="315E9C"/>
            </a:solidFill>
          </a:ln>
          <a:effectLst/>
        </p:spPr>
        <p:txBody>
          <a:bodyPr rtlCol="0" anchor="ctr"/>
          <a:lstStyle/>
          <a:p>
            <a:pPr algn="ctr"/>
          </a:p>
        </p:txBody>
      </p:sp>
      <p:sp>
        <p:nvSpPr>
          <p:cNvPr id="28" name="TextBox 27"/>
          <p:cNvSpPr txBox="1"/>
          <p:nvPr/>
        </p:nvSpPr>
        <p:spPr>
          <a:xfrm>
            <a:off x="6263640" y="4754880"/>
            <a:ext cx="521208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Evidence snapshot: f0cee24</a:t>
            </a:r>
          </a:p>
        </p:txBody>
      </p:sp>
      <p:sp>
        <p:nvSpPr>
          <p:cNvPr id="29" name="TextBox 28"/>
          <p:cNvSpPr txBox="1"/>
          <p:nvPr/>
        </p:nvSpPr>
        <p:spPr>
          <a:xfrm>
            <a:off x="6263640" y="5113934"/>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Documentation/evidence descendant with the same tested</a:t>
            </a:r>
          </a:p>
        </p:txBody>
      </p:sp>
      <p:sp>
        <p:nvSpPr>
          <p:cNvPr id="30" name="TextBox 29"/>
          <p:cNvSpPr txBox="1"/>
          <p:nvPr/>
        </p:nvSpPr>
        <p:spPr>
          <a:xfrm>
            <a:off x="6263640" y="5338267"/>
            <a:ext cx="52120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implementation.</a:t>
            </a:r>
          </a:p>
        </p:txBody>
      </p:sp>
      <p:sp>
        <p:nvSpPr>
          <p:cNvPr id="31" name="Rounded Rectangle 30"/>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2" name="TextBox 31"/>
          <p:cNvSpPr txBox="1"/>
          <p:nvPr/>
        </p:nvSpPr>
        <p:spPr>
          <a:xfrm>
            <a:off x="716280" y="5905500"/>
            <a:ext cx="107442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A reproducible source/build recipe does not promise bit-identical binaries across hosts.</a:t>
            </a:r>
          </a:p>
        </p:txBody>
      </p:sp>
      <p:cxnSp>
        <p:nvCxnSpPr>
          <p:cNvPr id="33" name="Connector 32"/>
          <p:cNvCxnSpPr/>
          <p:nvPr/>
        </p:nvCxnSpPr>
        <p:spPr>
          <a:xfrm>
            <a:off x="548640" y="6393180"/>
            <a:ext cx="11094720" cy="0"/>
          </a:xfrm>
          <a:prstGeom prst="line">
            <a:avLst/>
          </a:prstGeom>
          <a:ln w="7620">
            <a:solidFill>
              <a:srgbClr val="C9D2D4"/>
            </a:solidFill>
          </a:ln>
          <a:effectLst/>
        </p:spPr>
      </p:cxnSp>
      <p:sp>
        <p:nvSpPr>
          <p:cNvPr id="34" name="TextBox 3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m2/fresh-build.json · final/verification.json</a:t>
            </a:r>
          </a:p>
        </p:txBody>
      </p:sp>
      <p:sp>
        <p:nvSpPr>
          <p:cNvPr id="35" name="TextBox 3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28 / 38</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LIMITS AND STOPPING POINT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guarantees stop at the tested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Useful evidence is specific about the assumptions that made it possible.</a:t>
            </a:r>
          </a:p>
        </p:txBody>
      </p:sp>
      <p:sp>
        <p:nvSpPr>
          <p:cNvPr id="5" name="TextBox 4"/>
          <p:cNvSpPr txBox="1"/>
          <p:nvPr/>
        </p:nvSpPr>
        <p:spPr>
          <a:xfrm>
            <a:off x="670560" y="1790700"/>
            <a:ext cx="5318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OBSERVED GUARANTEE</a:t>
            </a:r>
          </a:p>
        </p:txBody>
      </p:sp>
      <p:sp>
        <p:nvSpPr>
          <p:cNvPr id="6" name="TextBox 5"/>
          <p:cNvSpPr txBox="1"/>
          <p:nvPr/>
        </p:nvSpPr>
        <p:spPr>
          <a:xfrm>
            <a:off x="6233159" y="1790700"/>
            <a:ext cx="5288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LIMIT OR UNRUN EXTENSION</a:t>
            </a:r>
          </a:p>
        </p:txBody>
      </p:sp>
      <p:sp>
        <p:nvSpPr>
          <p:cNvPr id="7" name="Rounded Rectangle 6"/>
          <p:cNvSpPr/>
          <p:nvPr/>
        </p:nvSpPr>
        <p:spPr>
          <a:xfrm>
            <a:off x="548640" y="2110740"/>
            <a:ext cx="11094720" cy="556260"/>
          </a:xfrm>
          <a:prstGeom prst="roundRect">
            <a:avLst>
              <a:gd name="adj" fmla="val 8219"/>
            </a:avLst>
          </a:prstGeom>
          <a:solidFill>
            <a:srgbClr val="FFFFFF"/>
          </a:solidFill>
          <a:ln>
            <a:noFill/>
          </a:ln>
          <a:effectLst/>
        </p:spPr>
        <p:txBody>
          <a:bodyPr rtlCol="0" anchor="ctr"/>
          <a:lstStyle/>
          <a:p>
            <a:pPr algn="ctr"/>
          </a:p>
        </p:txBody>
      </p:sp>
      <p:sp>
        <p:nvSpPr>
          <p:cNvPr id="8" name="TextBox 7"/>
          <p:cNvSpPr txBox="1"/>
          <p:nvPr/>
        </p:nvSpPr>
        <p:spPr>
          <a:xfrm>
            <a:off x="670560" y="224028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Duplicate-safe occurrences and numerical</a:t>
            </a:r>
          </a:p>
        </p:txBody>
      </p:sp>
      <p:sp>
        <p:nvSpPr>
          <p:cNvPr id="9" name="TextBox 8"/>
          <p:cNvSpPr txBox="1"/>
          <p:nvPr/>
        </p:nvSpPr>
        <p:spPr>
          <a:xfrm>
            <a:off x="670560" y="2464612"/>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contributions</a:t>
            </a:r>
          </a:p>
        </p:txBody>
      </p:sp>
      <p:sp>
        <p:nvSpPr>
          <p:cNvPr id="10" name="TextBox 9"/>
          <p:cNvSpPr txBox="1"/>
          <p:nvPr/>
        </p:nvSpPr>
        <p:spPr>
          <a:xfrm>
            <a:off x="6233159" y="224028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Physical formula evaluation may repeat after a crash</a:t>
            </a:r>
          </a:p>
        </p:txBody>
      </p:sp>
      <p:sp>
        <p:nvSpPr>
          <p:cNvPr id="11" name="Rounded Rectangle 10"/>
          <p:cNvSpPr/>
          <p:nvPr/>
        </p:nvSpPr>
        <p:spPr>
          <a:xfrm>
            <a:off x="548640" y="2705100"/>
            <a:ext cx="11094720" cy="556260"/>
          </a:xfrm>
          <a:prstGeom prst="roundRect">
            <a:avLst>
              <a:gd name="adj" fmla="val 8219"/>
            </a:avLst>
          </a:prstGeom>
          <a:solidFill>
            <a:srgbClr val="FFFFFF"/>
          </a:solidFill>
          <a:ln>
            <a:noFill/>
          </a:ln>
          <a:effectLst/>
        </p:spPr>
        <p:txBody>
          <a:bodyPr rtlCol="0" anchor="ctr"/>
          <a:lstStyle/>
          <a:p>
            <a:pPr algn="ctr"/>
          </a:p>
        </p:txBody>
      </p:sp>
      <p:sp>
        <p:nvSpPr>
          <p:cNvPr id="12" name="TextBox 11"/>
          <p:cNvSpPr txBox="1"/>
          <p:nvPr/>
        </p:nvSpPr>
        <p:spPr>
          <a:xfrm>
            <a:off x="670560" y="283464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Retained contrary observations and exact coverage</a:t>
            </a:r>
          </a:p>
        </p:txBody>
      </p:sp>
      <p:sp>
        <p:nvSpPr>
          <p:cNvPr id="13" name="TextBox 12"/>
          <p:cNvSpPr txBox="1"/>
          <p:nvPr/>
        </p:nvSpPr>
        <p:spPr>
          <a:xfrm>
            <a:off x="6233159" y="283464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proof of source truth; undisclosed copying is undetected</a:t>
            </a:r>
          </a:p>
        </p:txBody>
      </p:sp>
      <p:sp>
        <p:nvSpPr>
          <p:cNvPr id="14" name="Rounded Rectangle 13"/>
          <p:cNvSpPr/>
          <p:nvPr/>
        </p:nvSpPr>
        <p:spPr>
          <a:xfrm>
            <a:off x="548640" y="3299460"/>
            <a:ext cx="11094720" cy="556260"/>
          </a:xfrm>
          <a:prstGeom prst="roundRect">
            <a:avLst>
              <a:gd name="adj" fmla="val 8219"/>
            </a:avLst>
          </a:prstGeom>
          <a:solidFill>
            <a:srgbClr val="FFFFFF"/>
          </a:solidFill>
          <a:ln>
            <a:noFill/>
          </a:ln>
          <a:effectLst/>
        </p:spPr>
        <p:txBody>
          <a:bodyPr rtlCol="0" anchor="ctr"/>
          <a:lstStyle/>
          <a:p>
            <a:pPr algn="ctr"/>
          </a:p>
        </p:txBody>
      </p:sp>
      <p:sp>
        <p:nvSpPr>
          <p:cNvPr id="15" name="TextBox 14"/>
          <p:cNvSpPr txBox="1"/>
          <p:nvPr/>
        </p:nvSpPr>
        <p:spPr>
          <a:xfrm>
            <a:off x="670560" y="342900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Private local placement and tested route isolation</a:t>
            </a:r>
          </a:p>
        </p:txBody>
      </p:sp>
      <p:sp>
        <p:nvSpPr>
          <p:cNvPr id="16" name="TextBox 15"/>
          <p:cNvSpPr txBox="1"/>
          <p:nvPr/>
        </p:nvSpPr>
        <p:spPr>
          <a:xfrm>
            <a:off x="6233159" y="342900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Trusted host/operator; no encryption or admin secrecy</a:t>
            </a:r>
          </a:p>
        </p:txBody>
      </p:sp>
      <p:sp>
        <p:nvSpPr>
          <p:cNvPr id="17" name="TextBox 16"/>
          <p:cNvSpPr txBox="1"/>
          <p:nvPr/>
        </p:nvSpPr>
        <p:spPr>
          <a:xfrm>
            <a:off x="6233159" y="3653332"/>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claim</a:t>
            </a:r>
          </a:p>
        </p:txBody>
      </p:sp>
      <p:sp>
        <p:nvSpPr>
          <p:cNvPr id="18" name="Rounded Rectangle 17"/>
          <p:cNvSpPr/>
          <p:nvPr/>
        </p:nvSpPr>
        <p:spPr>
          <a:xfrm>
            <a:off x="548640" y="3893819"/>
            <a:ext cx="11094720" cy="556260"/>
          </a:xfrm>
          <a:prstGeom prst="roundRect">
            <a:avLst>
              <a:gd name="adj" fmla="val 8219"/>
            </a:avLst>
          </a:prstGeom>
          <a:solidFill>
            <a:srgbClr val="FFFFFF"/>
          </a:solidFill>
          <a:ln>
            <a:noFill/>
          </a:ln>
          <a:effectLst/>
        </p:spPr>
        <p:txBody>
          <a:bodyPr rtlCol="0" anchor="ctr"/>
          <a:lstStyle/>
          <a:p>
            <a:pPr algn="ctr"/>
          </a:p>
        </p:txBody>
      </p:sp>
      <p:sp>
        <p:nvSpPr>
          <p:cNvPr id="19" name="TextBox 18"/>
          <p:cNvSpPr txBox="1"/>
          <p:nvPr/>
        </p:nvSpPr>
        <p:spPr>
          <a:xfrm>
            <a:off x="670560" y="402336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Independent owner commits; process restart</a:t>
            </a:r>
          </a:p>
        </p:txBody>
      </p:sp>
      <p:sp>
        <p:nvSpPr>
          <p:cNvPr id="20" name="TextBox 19"/>
          <p:cNvSpPr txBox="1"/>
          <p:nvPr/>
        </p:nvSpPr>
        <p:spPr>
          <a:xfrm>
            <a:off x="670560" y="4247692"/>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recovery</a:t>
            </a:r>
          </a:p>
        </p:txBody>
      </p:sp>
      <p:sp>
        <p:nvSpPr>
          <p:cNvPr id="21" name="TextBox 20"/>
          <p:cNvSpPr txBox="1"/>
          <p:nvPr/>
        </p:nvSpPr>
        <p:spPr>
          <a:xfrm>
            <a:off x="6233159" y="402336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Power loss and distributed failover NOT_RUN</a:t>
            </a:r>
          </a:p>
        </p:txBody>
      </p:sp>
      <p:sp>
        <p:nvSpPr>
          <p:cNvPr id="22" name="Rounded Rectangle 21"/>
          <p:cNvSpPr/>
          <p:nvPr/>
        </p:nvSpPr>
        <p:spPr>
          <a:xfrm>
            <a:off x="548640" y="4488180"/>
            <a:ext cx="11094720" cy="556260"/>
          </a:xfrm>
          <a:prstGeom prst="roundRect">
            <a:avLst>
              <a:gd name="adj" fmla="val 8219"/>
            </a:avLst>
          </a:prstGeom>
          <a:solidFill>
            <a:srgbClr val="FFFFFF"/>
          </a:solidFill>
          <a:ln>
            <a:noFill/>
          </a:ln>
          <a:effectLst/>
        </p:spPr>
        <p:txBody>
          <a:bodyPr rtlCol="0" anchor="ctr"/>
          <a:lstStyle/>
          <a:p>
            <a:pPr algn="ctr"/>
          </a:p>
        </p:txBody>
      </p:sp>
      <p:sp>
        <p:nvSpPr>
          <p:cNvPr id="23" name="TextBox 22"/>
          <p:cNvSpPr txBox="1"/>
          <p:nvPr/>
        </p:nvSpPr>
        <p:spPr>
          <a:xfrm>
            <a:off x="670560" y="461772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Fresh-store substitution; explicit model/runtime</a:t>
            </a:r>
          </a:p>
        </p:txBody>
      </p:sp>
      <p:sp>
        <p:nvSpPr>
          <p:cNvPr id="24" name="TextBox 23"/>
          <p:cNvSpPr txBox="1"/>
          <p:nvPr/>
        </p:nvSpPr>
        <p:spPr>
          <a:xfrm>
            <a:off x="670560" y="4842052"/>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profiles</a:t>
            </a:r>
          </a:p>
        </p:txBody>
      </p:sp>
      <p:sp>
        <p:nvSpPr>
          <p:cNvPr id="25" name="TextBox 24"/>
          <p:cNvSpPr txBox="1"/>
          <p:nvPr/>
        </p:nvSpPr>
        <p:spPr>
          <a:xfrm>
            <a:off x="6233159" y="461772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live state migration or universal-model claim</a:t>
            </a:r>
          </a:p>
        </p:txBody>
      </p:sp>
      <p:sp>
        <p:nvSpPr>
          <p:cNvPr id="26" name="Rounded Rectangle 25"/>
          <p:cNvSpPr/>
          <p:nvPr/>
        </p:nvSpPr>
        <p:spPr>
          <a:xfrm>
            <a:off x="548640" y="5082540"/>
            <a:ext cx="11094720" cy="556260"/>
          </a:xfrm>
          <a:prstGeom prst="roundRect">
            <a:avLst>
              <a:gd name="adj" fmla="val 8219"/>
            </a:avLst>
          </a:prstGeom>
          <a:solidFill>
            <a:srgbClr val="FFFFFF"/>
          </a:solidFill>
          <a:ln>
            <a:noFill/>
          </a:ln>
          <a:effectLst/>
        </p:spPr>
        <p:txBody>
          <a:bodyPr rtlCol="0" anchor="ctr"/>
          <a:lstStyle/>
          <a:p>
            <a:pPr algn="ctr"/>
          </a:p>
        </p:txBody>
      </p:sp>
      <p:sp>
        <p:nvSpPr>
          <p:cNvPr id="27" name="TextBox 26"/>
          <p:cNvSpPr txBox="1"/>
          <p:nvPr/>
        </p:nvSpPr>
        <p:spPr>
          <a:xfrm>
            <a:off x="670560" y="5212080"/>
            <a:ext cx="53187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Fresh pinned build; selected native Hive tests</a:t>
            </a:r>
          </a:p>
        </p:txBody>
      </p:sp>
      <p:sp>
        <p:nvSpPr>
          <p:cNvPr id="28" name="TextBox 27"/>
          <p:cNvSpPr txBox="1"/>
          <p:nvPr/>
        </p:nvSpPr>
        <p:spPr>
          <a:xfrm>
            <a:off x="6233159" y="5212080"/>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Empty-cache build, historical SWI 10.0.1, full Hive suite</a:t>
            </a:r>
          </a:p>
        </p:txBody>
      </p:sp>
      <p:sp>
        <p:nvSpPr>
          <p:cNvPr id="29" name="TextBox 28"/>
          <p:cNvSpPr txBox="1"/>
          <p:nvPr/>
        </p:nvSpPr>
        <p:spPr>
          <a:xfrm>
            <a:off x="6233159" y="5436412"/>
            <a:ext cx="528828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NOT_RUN</a:t>
            </a:r>
          </a:p>
        </p:txBody>
      </p:sp>
      <p:sp>
        <p:nvSpPr>
          <p:cNvPr id="30" name="Rounded Rectangle 29"/>
          <p:cNvSpPr/>
          <p:nvPr/>
        </p:nvSpPr>
        <p:spPr>
          <a:xfrm>
            <a:off x="548640" y="5829300"/>
            <a:ext cx="11094720" cy="403859"/>
          </a:xfrm>
          <a:prstGeom prst="roundRect">
            <a:avLst>
              <a:gd name="adj" fmla="val 15094"/>
            </a:avLst>
          </a:prstGeom>
          <a:solidFill>
            <a:srgbClr val="EBE5F3"/>
          </a:solidFill>
          <a:ln>
            <a:noFill/>
          </a:ln>
          <a:effectLst/>
        </p:spPr>
        <p:txBody>
          <a:bodyPr rtlCol="0" anchor="ctr"/>
          <a:lstStyle/>
          <a:p>
            <a:pPr algn="ctr"/>
          </a:p>
        </p:txBody>
      </p:sp>
      <p:sp>
        <p:nvSpPr>
          <p:cNvPr id="31" name="TextBox 30"/>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7458A2"/>
                </a:solidFill>
                <a:latin typeface="DejaVu Sans"/>
              </a:rPr>
              <a:t>Stopped at M2: no ECAN, inference control, general rule kernel, chain action or live migration.</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m2-evidence.md · manifest.json</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29 / 38</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04 /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
            </a:r>
          </a:p>
        </p:txBody>
      </p:sp>
      <p:sp>
        <p:nvSpPr>
          <p:cNvPr id="4" name="TextBox 3"/>
          <p:cNvSpPr txBox="1"/>
          <p:nvPr/>
        </p:nvSpPr>
        <p:spPr>
          <a:xfrm>
            <a:off x="548640" y="1394460"/>
            <a:ext cx="10744200" cy="636422"/>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Remember the event.</a:t>
            </a:r>
          </a:p>
        </p:txBody>
      </p:sp>
      <p:sp>
        <p:nvSpPr>
          <p:cNvPr id="5" name="TextBox 4"/>
          <p:cNvSpPr txBox="1"/>
          <p:nvPr/>
        </p:nvSpPr>
        <p:spPr>
          <a:xfrm>
            <a:off x="548640" y="2030882"/>
            <a:ext cx="10744200" cy="636422"/>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Keep the disagreement.</a:t>
            </a:r>
          </a:p>
        </p:txBody>
      </p:sp>
      <p:sp>
        <p:nvSpPr>
          <p:cNvPr id="6" name="TextBox 5"/>
          <p:cNvSpPr txBox="1"/>
          <p:nvPr/>
        </p:nvSpPr>
        <p:spPr>
          <a:xfrm>
            <a:off x="548640" y="2667304"/>
            <a:ext cx="10744200" cy="636422"/>
          </a:xfrm>
          <a:prstGeom prst="rect">
            <a:avLst/>
          </a:prstGeom>
          <a:noFill/>
        </p:spPr>
        <p:txBody>
          <a:bodyPr wrap="none" lIns="0" rIns="0" tIns="0" bIns="0" anchor="t" anchorCtr="0">
            <a:noAutofit/>
          </a:bodyPr>
          <a:lstStyle/>
          <a:p>
            <a:pPr algn="l">
              <a:lnSpc>
                <a:spcPct val="100000"/>
              </a:lnSpc>
              <a:spcBef>
                <a:spcPts val="0"/>
              </a:spcBef>
              <a:spcAft>
                <a:spcPts val="0"/>
              </a:spcAft>
            </a:pPr>
            <a:r>
              <a:rPr sz="4320" b="1">
                <a:solidFill>
                  <a:srgbClr val="FFFFFF"/>
                </a:solidFill>
                <a:latin typeface="DejaVu Sans"/>
              </a:rPr>
              <a:t>Justify the update.</a:t>
            </a:r>
          </a:p>
        </p:txBody>
      </p:sp>
      <p:sp>
        <p:nvSpPr>
          <p:cNvPr id="7" name="TextBox 6"/>
          <p:cNvSpPr txBox="1"/>
          <p:nvPr/>
        </p:nvSpPr>
        <p:spPr>
          <a:xfrm>
            <a:off x="579120" y="3848100"/>
            <a:ext cx="10439400" cy="341376"/>
          </a:xfrm>
          <a:prstGeom prst="rect">
            <a:avLst/>
          </a:prstGeom>
          <a:noFill/>
        </p:spPr>
        <p:txBody>
          <a:bodyPr wrap="none" lIns="0" rIns="0" tIns="0" bIns="0" anchor="t" anchorCtr="0">
            <a:noAutofit/>
          </a:bodyPr>
          <a:lstStyle/>
          <a:p>
            <a:pPr algn="l">
              <a:lnSpc>
                <a:spcPct val="100000"/>
              </a:lnSpc>
              <a:spcBef>
                <a:spcPts val="0"/>
              </a:spcBef>
              <a:spcAft>
                <a:spcPts val="0"/>
              </a:spcAft>
            </a:pPr>
            <a:r>
              <a:rPr sz="2100" b="0">
                <a:solidFill>
                  <a:srgbClr val="AAC0CC"/>
                </a:solidFill>
                <a:latin typeface="DejaVu Sans"/>
              </a:rPr>
              <a:t>Each state owner commits its part. Each retry keeps its meaning.</a:t>
            </a:r>
          </a:p>
        </p:txBody>
      </p:sp>
      <p:sp>
        <p:nvSpPr>
          <p:cNvPr id="8" name="TextBox 7"/>
          <p:cNvSpPr txBox="1"/>
          <p:nvPr/>
        </p:nvSpPr>
        <p:spPr>
          <a:xfrm>
            <a:off x="579120" y="4648200"/>
            <a:ext cx="1059180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0">
                <a:solidFill>
                  <a:srgbClr val="FFFFFF"/>
                </a:solidFill>
                <a:latin typeface="DejaVu Sans"/>
              </a:rPr>
              <a:t>Real Hive · real local DeTTa · actual guarded PLN revision</a:t>
            </a:r>
          </a:p>
        </p:txBody>
      </p:sp>
      <p:sp>
        <p:nvSpPr>
          <p:cNvPr id="9" name="Rounded Rectangle 8"/>
          <p:cNvSpPr/>
          <p:nvPr/>
        </p:nvSpPr>
        <p:spPr>
          <a:xfrm>
            <a:off x="579120" y="5417820"/>
            <a:ext cx="3046950" cy="304800"/>
          </a:xfrm>
          <a:prstGeom prst="roundRect">
            <a:avLst>
              <a:gd name="adj" fmla="val 17500"/>
            </a:avLst>
          </a:prstGeom>
          <a:solidFill>
            <a:srgbClr val="DCEFE8"/>
          </a:solidFill>
          <a:ln>
            <a:noFill/>
          </a:ln>
          <a:effectLst/>
        </p:spPr>
        <p:txBody>
          <a:bodyPr rtlCol="0" anchor="ctr"/>
          <a:lstStyle/>
          <a:p>
            <a:pPr algn="ctr"/>
          </a:p>
        </p:txBody>
      </p:sp>
      <p:sp>
        <p:nvSpPr>
          <p:cNvPr id="10" name="TextBox 9"/>
          <p:cNvSpPr txBox="1"/>
          <p:nvPr/>
        </p:nvSpPr>
        <p:spPr>
          <a:xfrm>
            <a:off x="685800" y="5471160"/>
            <a:ext cx="285645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007C78"/>
                </a:solidFill>
                <a:latin typeface="DejaVu Sans"/>
              </a:rPr>
              <a:t>M2 COMPLETE · C1 + C2 ONLY</a:t>
            </a:r>
          </a:p>
        </p:txBody>
      </p:sp>
      <p:cxnSp>
        <p:nvCxnSpPr>
          <p:cNvPr id="11" name="Connector 10"/>
          <p:cNvCxnSpPr/>
          <p:nvPr/>
        </p:nvCxnSpPr>
        <p:spPr>
          <a:xfrm>
            <a:off x="548640" y="6393180"/>
            <a:ext cx="11094720" cy="0"/>
          </a:xfrm>
          <a:prstGeom prst="line">
            <a:avLst/>
          </a:prstGeom>
          <a:ln w="7620">
            <a:solidFill>
              <a:srgbClr val="536775"/>
            </a:solidFill>
          </a:ln>
          <a:effectLst/>
        </p:spPr>
      </p:cxnSp>
      <p:sp>
        <p:nvSpPr>
          <p:cNvPr id="12" name="TextBox 1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M2 / M2 tested d9e7577 · evidence f0cee24</a:t>
            </a:r>
          </a:p>
        </p:txBody>
      </p:sp>
      <p:sp>
        <p:nvSpPr>
          <p:cNvPr id="13" name="TextBox 1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30 / 38</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A / CODE NAVIGATION</a:t>
            </a:r>
          </a:p>
        </p:txBody>
      </p:sp>
      <p:sp>
        <p:nvSpPr>
          <p:cNvPr id="3" name="TextBox 2"/>
          <p:cNvSpPr txBox="1"/>
          <p:nvPr/>
        </p:nvSpPr>
        <p:spPr>
          <a:xfrm>
            <a:off x="533400" y="723900"/>
            <a:ext cx="11125200" cy="468172"/>
          </a:xfrm>
          <a:prstGeom prst="rect">
            <a:avLst/>
          </a:prstGeom>
          <a:noFill/>
        </p:spPr>
        <p:txBody>
          <a:bodyPr wrap="none" lIns="0" rIns="0" tIns="0" bIns="0" anchor="t" anchorCtr="0">
            <a:noAutofit/>
          </a:bodyPr>
          <a:lstStyle/>
          <a:p>
            <a:pPr algn="l">
              <a:lnSpc>
                <a:spcPct val="100000"/>
              </a:lnSpc>
              <a:spcBef>
                <a:spcPts val="0"/>
              </a:spcBef>
              <a:spcAft>
                <a:spcPts val="0"/>
              </a:spcAft>
            </a:pPr>
            <a:r>
              <a:rPr sz="2879" b="1">
                <a:solidFill>
                  <a:srgbClr val="102B3F"/>
                </a:solidFill>
                <a:latin typeface="DejaVu Sans"/>
              </a:rPr>
              <a:t>Implementation map: each owner has a small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Composition selects providers. Domain owners consume declared ports.</a:t>
            </a:r>
          </a:p>
        </p:txBody>
      </p:sp>
      <p:sp>
        <p:nvSpPr>
          <p:cNvPr id="5" name="TextBox 4"/>
          <p:cNvSpPr txBox="1"/>
          <p:nvPr/>
        </p:nvSpPr>
        <p:spPr>
          <a:xfrm>
            <a:off x="670560" y="1790700"/>
            <a:ext cx="4785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FILES / AREA</a:t>
            </a:r>
          </a:p>
        </p:txBody>
      </p:sp>
      <p:sp>
        <p:nvSpPr>
          <p:cNvPr id="6" name="TextBox 5"/>
          <p:cNvSpPr txBox="1"/>
          <p:nvPr/>
        </p:nvSpPr>
        <p:spPr>
          <a:xfrm>
            <a:off x="5699760" y="1790700"/>
            <a:ext cx="3108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9052560" y="1790700"/>
            <a:ext cx="24688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STATE OR EXCLUSION</a:t>
            </a:r>
          </a:p>
        </p:txBody>
      </p:sp>
      <p:sp>
        <p:nvSpPr>
          <p:cNvPr id="8" name="Rounded Rectangle 7"/>
          <p:cNvSpPr/>
          <p:nvPr/>
        </p:nvSpPr>
        <p:spPr>
          <a:xfrm>
            <a:off x="548640" y="2110740"/>
            <a:ext cx="11094720" cy="502920"/>
          </a:xfrm>
          <a:prstGeom prst="roundRect">
            <a:avLst>
              <a:gd name="adj" fmla="val 9090"/>
            </a:avLst>
          </a:prstGeom>
          <a:solidFill>
            <a:srgbClr val="FFFFFF"/>
          </a:solidFill>
          <a:ln>
            <a:noFill/>
          </a:ln>
          <a:effectLst/>
        </p:spPr>
        <p:txBody>
          <a:bodyPr rtlCol="0" anchor="ctr"/>
          <a:lstStyle/>
          <a:p>
            <a:pPr algn="ctr"/>
          </a:p>
        </p:txBody>
      </p:sp>
      <p:sp>
        <p:nvSpPr>
          <p:cNvPr id="9" name="TextBox 8"/>
          <p:cNvSpPr txBox="1"/>
          <p:nvPr/>
        </p:nvSpPr>
        <p:spPr>
          <a:xfrm>
            <a:off x="670560" y="224028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memory_types.py · memory_contracts.py · ports.py</a:t>
            </a:r>
          </a:p>
        </p:txBody>
      </p:sp>
      <p:sp>
        <p:nvSpPr>
          <p:cNvPr id="10" name="TextBox 9"/>
          <p:cNvSpPr txBox="1"/>
          <p:nvPr/>
        </p:nvSpPr>
        <p:spPr>
          <a:xfrm>
            <a:off x="5699760" y="224028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Local C1/C2 DTOs, protocols and</a:t>
            </a:r>
          </a:p>
        </p:txBody>
      </p:sp>
      <p:sp>
        <p:nvSpPr>
          <p:cNvPr id="11" name="TextBox 10"/>
          <p:cNvSpPr txBox="1"/>
          <p:nvPr/>
        </p:nvSpPr>
        <p:spPr>
          <a:xfrm>
            <a:off x="5699760" y="2445105"/>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validation</a:t>
            </a:r>
          </a:p>
        </p:txBody>
      </p:sp>
      <p:sp>
        <p:nvSpPr>
          <p:cNvPr id="12" name="TextBox 11"/>
          <p:cNvSpPr txBox="1"/>
          <p:nvPr/>
        </p:nvSpPr>
        <p:spPr>
          <a:xfrm>
            <a:off x="9052560" y="224028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No provider construction</a:t>
            </a:r>
          </a:p>
        </p:txBody>
      </p:sp>
      <p:sp>
        <p:nvSpPr>
          <p:cNvPr id="13" name="Rounded Rectangle 12"/>
          <p:cNvSpPr/>
          <p:nvPr/>
        </p:nvSpPr>
        <p:spPr>
          <a:xfrm>
            <a:off x="548640" y="2651760"/>
            <a:ext cx="11094720" cy="502920"/>
          </a:xfrm>
          <a:prstGeom prst="roundRect">
            <a:avLst>
              <a:gd name="adj" fmla="val 9090"/>
            </a:avLst>
          </a:prstGeom>
          <a:solidFill>
            <a:srgbClr val="FFFFFF"/>
          </a:solidFill>
          <a:ln>
            <a:noFill/>
          </a:ln>
          <a:effectLst/>
        </p:spPr>
        <p:txBody>
          <a:bodyPr rtlCol="0" anchor="ctr"/>
          <a:lstStyle/>
          <a:p>
            <a:pPr algn="ctr"/>
          </a:p>
        </p:txBody>
      </p:sp>
      <p:sp>
        <p:nvSpPr>
          <p:cNvPr id="14" name="TextBox 13"/>
          <p:cNvSpPr txBox="1"/>
          <p:nvPr/>
        </p:nvSpPr>
        <p:spPr>
          <a:xfrm>
            <a:off x="670560" y="278130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private.py</a:t>
            </a:r>
          </a:p>
        </p:txBody>
      </p:sp>
      <p:sp>
        <p:nvSpPr>
          <p:cNvPr id="15" name="TextBox 14"/>
          <p:cNvSpPr txBox="1"/>
          <p:nvPr/>
        </p:nvSpPr>
        <p:spPr>
          <a:xfrm>
            <a:off x="5699760" y="278130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Private placement, descriptors, live</a:t>
            </a:r>
          </a:p>
        </p:txBody>
      </p:sp>
      <p:sp>
        <p:nvSpPr>
          <p:cNvPr id="16" name="TextBox 15"/>
          <p:cNvSpPr txBox="1"/>
          <p:nvPr/>
        </p:nvSpPr>
        <p:spPr>
          <a:xfrm>
            <a:off x="5699760" y="2986125"/>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authority</a:t>
            </a:r>
          </a:p>
        </p:txBody>
      </p:sp>
      <p:sp>
        <p:nvSpPr>
          <p:cNvPr id="17" name="TextBox 16"/>
          <p:cNvSpPr txBox="1"/>
          <p:nvPr/>
        </p:nvSpPr>
        <p:spPr>
          <a:xfrm>
            <a:off x="9052560" y="278130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Only composition chooses</a:t>
            </a:r>
          </a:p>
        </p:txBody>
      </p:sp>
      <p:sp>
        <p:nvSpPr>
          <p:cNvPr id="18" name="TextBox 17"/>
          <p:cNvSpPr txBox="1"/>
          <p:nvPr/>
        </p:nvSpPr>
        <p:spPr>
          <a:xfrm>
            <a:off x="9052560" y="2986125"/>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concrete owners</a:t>
            </a:r>
          </a:p>
        </p:txBody>
      </p:sp>
      <p:sp>
        <p:nvSpPr>
          <p:cNvPr id="19" name="Rounded Rectangle 18"/>
          <p:cNvSpPr/>
          <p:nvPr/>
        </p:nvSpPr>
        <p:spPr>
          <a:xfrm>
            <a:off x="548640" y="3192779"/>
            <a:ext cx="11094720" cy="502920"/>
          </a:xfrm>
          <a:prstGeom prst="roundRect">
            <a:avLst>
              <a:gd name="adj" fmla="val 9090"/>
            </a:avLst>
          </a:prstGeom>
          <a:solidFill>
            <a:srgbClr val="FFFFFF"/>
          </a:solidFill>
          <a:ln>
            <a:noFill/>
          </a:ln>
          <a:effectLst/>
        </p:spPr>
        <p:txBody>
          <a:bodyPr rtlCol="0" anchor="ctr"/>
          <a:lstStyle/>
          <a:p>
            <a:pPr algn="ctr"/>
          </a:p>
        </p:txBody>
      </p:sp>
      <p:sp>
        <p:nvSpPr>
          <p:cNvPr id="20" name="TextBox 19"/>
          <p:cNvSpPr txBox="1"/>
          <p:nvPr/>
        </p:nvSpPr>
        <p:spPr>
          <a:xfrm>
            <a:off x="670560" y="3322319"/>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episodes.py</a:t>
            </a:r>
          </a:p>
        </p:txBody>
      </p:sp>
      <p:sp>
        <p:nvSpPr>
          <p:cNvPr id="21" name="TextBox 20"/>
          <p:cNvSpPr txBox="1"/>
          <p:nvPr/>
        </p:nvSpPr>
        <p:spPr>
          <a:xfrm>
            <a:off x="5699760" y="3322319"/>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C1 occurrences, head, replay and</a:t>
            </a:r>
          </a:p>
        </p:txBody>
      </p:sp>
      <p:sp>
        <p:nvSpPr>
          <p:cNvPr id="22" name="TextBox 21"/>
          <p:cNvSpPr txBox="1"/>
          <p:nvPr/>
        </p:nvSpPr>
        <p:spPr>
          <a:xfrm>
            <a:off x="5699760" y="3527145"/>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intents</a:t>
            </a:r>
          </a:p>
        </p:txBody>
      </p:sp>
      <p:sp>
        <p:nvSpPr>
          <p:cNvPr id="23" name="TextBox 22"/>
          <p:cNvSpPr txBox="1"/>
          <p:nvPr/>
        </p:nvSpPr>
        <p:spPr>
          <a:xfrm>
            <a:off x="9052560" y="3322319"/>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episodes.sqlite</a:t>
            </a:r>
          </a:p>
        </p:txBody>
      </p:sp>
      <p:sp>
        <p:nvSpPr>
          <p:cNvPr id="24" name="Rounded Rectangle 23"/>
          <p:cNvSpPr/>
          <p:nvPr/>
        </p:nvSpPr>
        <p:spPr>
          <a:xfrm>
            <a:off x="548640" y="3733800"/>
            <a:ext cx="11094720" cy="502920"/>
          </a:xfrm>
          <a:prstGeom prst="roundRect">
            <a:avLst>
              <a:gd name="adj" fmla="val 9090"/>
            </a:avLst>
          </a:prstGeom>
          <a:solidFill>
            <a:srgbClr val="FFFFFF"/>
          </a:solidFill>
          <a:ln>
            <a:noFill/>
          </a:ln>
          <a:effectLst/>
        </p:spPr>
        <p:txBody>
          <a:bodyPr rtlCol="0" anchor="ctr"/>
          <a:lstStyle/>
          <a:p>
            <a:pPr algn="ctr"/>
          </a:p>
        </p:txBody>
      </p:sp>
      <p:sp>
        <p:nvSpPr>
          <p:cNvPr id="25" name="TextBox 24"/>
          <p:cNvSpPr txBox="1"/>
          <p:nvPr/>
        </p:nvSpPr>
        <p:spPr>
          <a:xfrm>
            <a:off x="670560" y="386334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beliefs.py</a:t>
            </a:r>
          </a:p>
        </p:txBody>
      </p:sp>
      <p:sp>
        <p:nvSpPr>
          <p:cNvPr id="26" name="TextBox 25"/>
          <p:cNvSpPr txBox="1"/>
          <p:nvPr/>
        </p:nvSpPr>
        <p:spPr>
          <a:xfrm>
            <a:off x="5699760" y="386334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C2 snapshots and semantic attempts</a:t>
            </a:r>
          </a:p>
        </p:txBody>
      </p:sp>
      <p:sp>
        <p:nvSpPr>
          <p:cNvPr id="27" name="TextBox 26"/>
          <p:cNvSpPr txBox="1"/>
          <p:nvPr/>
        </p:nvSpPr>
        <p:spPr>
          <a:xfrm>
            <a:off x="9052560" y="386334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beliefs.sqlite</a:t>
            </a:r>
          </a:p>
        </p:txBody>
      </p:sp>
      <p:sp>
        <p:nvSpPr>
          <p:cNvPr id="28" name="Rounded Rectangle 27"/>
          <p:cNvSpPr/>
          <p:nvPr/>
        </p:nvSpPr>
        <p:spPr>
          <a:xfrm>
            <a:off x="548640" y="4274820"/>
            <a:ext cx="11094720" cy="502920"/>
          </a:xfrm>
          <a:prstGeom prst="roundRect">
            <a:avLst>
              <a:gd name="adj" fmla="val 9090"/>
            </a:avLst>
          </a:prstGeom>
          <a:solidFill>
            <a:srgbClr val="FFFFFF"/>
          </a:solidFill>
          <a:ln>
            <a:noFill/>
          </a:ln>
          <a:effectLst/>
        </p:spPr>
        <p:txBody>
          <a:bodyPr rtlCol="0" anchor="ctr"/>
          <a:lstStyle/>
          <a:p>
            <a:pPr algn="ctr"/>
          </a:p>
        </p:txBody>
      </p:sp>
      <p:sp>
        <p:nvSpPr>
          <p:cNvPr id="29" name="TextBox 28"/>
          <p:cNvSpPr txBox="1"/>
          <p:nvPr/>
        </p:nvSpPr>
        <p:spPr>
          <a:xfrm>
            <a:off x="670560" y="440436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evidence_relay.py</a:t>
            </a:r>
          </a:p>
        </p:txBody>
      </p:sp>
      <p:sp>
        <p:nvSpPr>
          <p:cNvPr id="30" name="TextBox 29"/>
          <p:cNvSpPr txBox="1"/>
          <p:nvPr/>
        </p:nvSpPr>
        <p:spPr>
          <a:xfrm>
            <a:off x="5699760" y="440436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Bounded exact evidence handoff</a:t>
            </a:r>
          </a:p>
        </p:txBody>
      </p:sp>
      <p:sp>
        <p:nvSpPr>
          <p:cNvPr id="31" name="TextBox 30"/>
          <p:cNvSpPr txBox="1"/>
          <p:nvPr/>
        </p:nvSpPr>
        <p:spPr>
          <a:xfrm>
            <a:off x="9052560" y="440436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relay.sqlite; no foreign SQL</a:t>
            </a:r>
          </a:p>
        </p:txBody>
      </p:sp>
      <p:sp>
        <p:nvSpPr>
          <p:cNvPr id="32" name="Rounded Rectangle 31"/>
          <p:cNvSpPr/>
          <p:nvPr/>
        </p:nvSpPr>
        <p:spPr>
          <a:xfrm>
            <a:off x="548640" y="4815840"/>
            <a:ext cx="11094720" cy="502920"/>
          </a:xfrm>
          <a:prstGeom prst="roundRect">
            <a:avLst>
              <a:gd name="adj" fmla="val 9090"/>
            </a:avLst>
          </a:prstGeom>
          <a:solidFill>
            <a:srgbClr val="FFFFFF"/>
          </a:solidFill>
          <a:ln>
            <a:noFill/>
          </a:ln>
          <a:effectLst/>
        </p:spPr>
        <p:txBody>
          <a:bodyPr rtlCol="0" anchor="ctr"/>
          <a:lstStyle/>
          <a:p>
            <a:pPr algn="ctr"/>
          </a:p>
        </p:txBody>
      </p:sp>
      <p:sp>
        <p:nvSpPr>
          <p:cNvPr id="33" name="TextBox 32"/>
          <p:cNvSpPr txBox="1"/>
          <p:nvPr/>
        </p:nvSpPr>
        <p:spPr>
          <a:xfrm>
            <a:off x="670560" y="494538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adapters/pln_revision.py</a:t>
            </a:r>
          </a:p>
        </p:txBody>
      </p:sp>
      <p:sp>
        <p:nvSpPr>
          <p:cNvPr id="34" name="TextBox 33"/>
          <p:cNvSpPr txBox="1"/>
          <p:nvPr/>
        </p:nvSpPr>
        <p:spPr>
          <a:xfrm>
            <a:off x="5699760" y="494538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Pinned guards + revision-only native</a:t>
            </a:r>
          </a:p>
        </p:txBody>
      </p:sp>
      <p:sp>
        <p:nvSpPr>
          <p:cNvPr id="35" name="TextBox 34"/>
          <p:cNvSpPr txBox="1"/>
          <p:nvPr/>
        </p:nvSpPr>
        <p:spPr>
          <a:xfrm>
            <a:off x="5699760" y="5150205"/>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runtime</a:t>
            </a:r>
          </a:p>
        </p:txBody>
      </p:sp>
      <p:sp>
        <p:nvSpPr>
          <p:cNvPr id="36" name="TextBox 35"/>
          <p:cNvSpPr txBox="1"/>
          <p:nvPr/>
        </p:nvSpPr>
        <p:spPr>
          <a:xfrm>
            <a:off x="9052560" y="494538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Pure proposal; no truth setter</a:t>
            </a:r>
          </a:p>
        </p:txBody>
      </p:sp>
      <p:sp>
        <p:nvSpPr>
          <p:cNvPr id="37" name="Rounded Rectangle 36"/>
          <p:cNvSpPr/>
          <p:nvPr/>
        </p:nvSpPr>
        <p:spPr>
          <a:xfrm>
            <a:off x="548640" y="5356860"/>
            <a:ext cx="11094720" cy="502920"/>
          </a:xfrm>
          <a:prstGeom prst="roundRect">
            <a:avLst>
              <a:gd name="adj" fmla="val 9090"/>
            </a:avLst>
          </a:prstGeom>
          <a:solidFill>
            <a:srgbClr val="FFFFFF"/>
          </a:solidFill>
          <a:ln>
            <a:noFill/>
          </a:ln>
          <a:effectLst/>
        </p:spPr>
        <p:txBody>
          <a:bodyPr rtlCol="0" anchor="ctr"/>
          <a:lstStyle/>
          <a:p>
            <a:pPr algn="ctr"/>
          </a:p>
        </p:txBody>
      </p:sp>
      <p:sp>
        <p:nvSpPr>
          <p:cNvPr id="38" name="TextBox 37"/>
          <p:cNvSpPr txBox="1"/>
          <p:nvPr/>
        </p:nvSpPr>
        <p:spPr>
          <a:xfrm>
            <a:off x="670560" y="5486400"/>
            <a:ext cx="47853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integration/m2_scenario.py · episode_program/</a:t>
            </a:r>
          </a:p>
        </p:txBody>
      </p:sp>
      <p:sp>
        <p:nvSpPr>
          <p:cNvPr id="39" name="TextBox 38"/>
          <p:cNvSpPr txBox="1"/>
          <p:nvPr/>
        </p:nvSpPr>
        <p:spPr>
          <a:xfrm>
            <a:off x="5699760" y="5486400"/>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Generated policy + sibling native Hive</a:t>
            </a:r>
          </a:p>
        </p:txBody>
      </p:sp>
      <p:sp>
        <p:nvSpPr>
          <p:cNvPr id="40" name="TextBox 39"/>
          <p:cNvSpPr txBox="1"/>
          <p:nvPr/>
        </p:nvSpPr>
        <p:spPr>
          <a:xfrm>
            <a:off x="5699760" y="5691225"/>
            <a:ext cx="31089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plugin</a:t>
            </a:r>
          </a:p>
        </p:txBody>
      </p:sp>
      <p:sp>
        <p:nvSpPr>
          <p:cNvPr id="41" name="TextBox 40"/>
          <p:cNvSpPr txBox="1"/>
          <p:nvPr/>
        </p:nvSpPr>
        <p:spPr>
          <a:xfrm>
            <a:off x="9052560" y="5486400"/>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Private owners; minimal</a:t>
            </a:r>
          </a:p>
        </p:txBody>
      </p:sp>
      <p:sp>
        <p:nvSpPr>
          <p:cNvPr id="42" name="TextBox 41"/>
          <p:cNvSpPr txBox="1"/>
          <p:nvPr/>
        </p:nvSpPr>
        <p:spPr>
          <a:xfrm>
            <a:off x="9052560" y="5691225"/>
            <a:ext cx="246888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public receipt</a:t>
            </a:r>
          </a:p>
        </p:txBody>
      </p:sp>
      <p:cxnSp>
        <p:nvCxnSpPr>
          <p:cNvPr id="43" name="Connector 42"/>
          <p:cNvCxnSpPr/>
          <p:nvPr/>
        </p:nvCxnSpPr>
        <p:spPr>
          <a:xfrm>
            <a:off x="548640" y="6393180"/>
            <a:ext cx="11094720" cy="0"/>
          </a:xfrm>
          <a:prstGeom prst="line">
            <a:avLst/>
          </a:prstGeom>
          <a:ln w="7620">
            <a:solidFill>
              <a:srgbClr val="C9D2D4"/>
            </a:solidFill>
          </a:ln>
          <a:effectLst/>
        </p:spPr>
      </p:cxnSp>
      <p:sp>
        <p:nvSpPr>
          <p:cNvPr id="44" name="TextBox 4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m2-evidence.md · architecture.md</a:t>
            </a:r>
          </a:p>
        </p:txBody>
      </p:sp>
      <p:sp>
        <p:nvSpPr>
          <p:cNvPr id="45" name="TextBox 4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31 / 38</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B / SOURCE LEDGER</a:t>
            </a:r>
          </a:p>
        </p:txBody>
      </p:sp>
      <p:sp>
        <p:nvSpPr>
          <p:cNvPr id="3" name="TextBox 2"/>
          <p:cNvSpPr txBox="1"/>
          <p:nvPr/>
        </p:nvSpPr>
        <p:spPr>
          <a:xfrm>
            <a:off x="533400" y="723900"/>
            <a:ext cx="11125200" cy="468172"/>
          </a:xfrm>
          <a:prstGeom prst="rect">
            <a:avLst/>
          </a:prstGeom>
          <a:noFill/>
        </p:spPr>
        <p:txBody>
          <a:bodyPr wrap="none" lIns="0" rIns="0" tIns="0" bIns="0" anchor="t" anchorCtr="0">
            <a:noAutofit/>
          </a:bodyPr>
          <a:lstStyle/>
          <a:p>
            <a:pPr algn="l">
              <a:lnSpc>
                <a:spcPct val="100000"/>
              </a:lnSpc>
              <a:spcBef>
                <a:spcPts val="0"/>
              </a:spcBef>
              <a:spcAft>
                <a:spcPts val="0"/>
              </a:spcAft>
            </a:pPr>
            <a:r>
              <a:rPr sz="2879" b="1">
                <a:solidFill>
                  <a:srgbClr val="102B3F"/>
                </a:solidFill>
                <a:latin typeface="DejaVu Sans"/>
              </a:rPr>
              <a:t>Exact sources include the explicit runtime rebaseline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Prefixes are navigation aids. Full SHAs and formula/binary digests are embedded in these notes.</a:t>
            </a:r>
          </a:p>
        </p:txBody>
      </p:sp>
      <p:sp>
        <p:nvSpPr>
          <p:cNvPr id="5" name="TextBox 4"/>
          <p:cNvSpPr txBox="1"/>
          <p:nvPr/>
        </p:nvSpPr>
        <p:spPr>
          <a:xfrm>
            <a:off x="670560" y="1790700"/>
            <a:ext cx="2499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INPUT</a:t>
            </a:r>
          </a:p>
        </p:txBody>
      </p:sp>
      <p:sp>
        <p:nvSpPr>
          <p:cNvPr id="6" name="TextBox 5"/>
          <p:cNvSpPr txBox="1"/>
          <p:nvPr/>
        </p:nvSpPr>
        <p:spPr>
          <a:xfrm>
            <a:off x="3413760" y="1790700"/>
            <a:ext cx="3566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COMMIT / VERSION</a:t>
            </a:r>
          </a:p>
        </p:txBody>
      </p:sp>
      <p:sp>
        <p:nvSpPr>
          <p:cNvPr id="7" name="TextBox 6"/>
          <p:cNvSpPr txBox="1"/>
          <p:nvPr/>
        </p:nvSpPr>
        <p:spPr>
          <a:xfrm>
            <a:off x="7223759" y="1790700"/>
            <a:ext cx="42976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ROLE</a:t>
            </a:r>
          </a:p>
        </p:txBody>
      </p:sp>
      <p:sp>
        <p:nvSpPr>
          <p:cNvPr id="8" name="Rounded Rectangle 7"/>
          <p:cNvSpPr/>
          <p:nvPr/>
        </p:nvSpPr>
        <p:spPr>
          <a:xfrm>
            <a:off x="548640" y="2110740"/>
            <a:ext cx="11094720" cy="495300"/>
          </a:xfrm>
          <a:prstGeom prst="roundRect">
            <a:avLst>
              <a:gd name="adj" fmla="val 9230"/>
            </a:avLst>
          </a:prstGeom>
          <a:solidFill>
            <a:srgbClr val="FFFFFF"/>
          </a:solidFill>
          <a:ln>
            <a:noFill/>
          </a:ln>
          <a:effectLst/>
        </p:spPr>
        <p:txBody>
          <a:bodyPr rtlCol="0" anchor="ctr"/>
          <a:lstStyle/>
          <a:p>
            <a:pPr algn="ctr"/>
          </a:p>
        </p:txBody>
      </p:sp>
      <p:sp>
        <p:nvSpPr>
          <p:cNvPr id="9" name="TextBox 8"/>
          <p:cNvSpPr txBox="1"/>
          <p:nvPr/>
        </p:nvSpPr>
        <p:spPr>
          <a:xfrm>
            <a:off x="670560" y="2240280"/>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Fusion tested / evidence</a:t>
            </a:r>
          </a:p>
        </p:txBody>
      </p:sp>
      <p:sp>
        <p:nvSpPr>
          <p:cNvPr id="10" name="TextBox 9"/>
          <p:cNvSpPr txBox="1"/>
          <p:nvPr/>
        </p:nvSpPr>
        <p:spPr>
          <a:xfrm>
            <a:off x="3413760" y="2240280"/>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d9e75773c349 / f0cee248294a</a:t>
            </a:r>
          </a:p>
        </p:txBody>
      </p:sp>
      <p:sp>
        <p:nvSpPr>
          <p:cNvPr id="11" name="TextBox 10"/>
          <p:cNvSpPr txBox="1"/>
          <p:nvPr/>
        </p:nvSpPr>
        <p:spPr>
          <a:xfrm>
            <a:off x="7223759" y="2240280"/>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Clean run / same-code evidence descendant</a:t>
            </a:r>
          </a:p>
        </p:txBody>
      </p:sp>
      <p:sp>
        <p:nvSpPr>
          <p:cNvPr id="12" name="Rounded Rectangle 11"/>
          <p:cNvSpPr/>
          <p:nvPr/>
        </p:nvSpPr>
        <p:spPr>
          <a:xfrm>
            <a:off x="548640" y="2644140"/>
            <a:ext cx="11094720" cy="495300"/>
          </a:xfrm>
          <a:prstGeom prst="roundRect">
            <a:avLst>
              <a:gd name="adj" fmla="val 9230"/>
            </a:avLst>
          </a:prstGeom>
          <a:solidFill>
            <a:srgbClr val="FFFFFF"/>
          </a:solidFill>
          <a:ln>
            <a:noFill/>
          </a:ln>
          <a:effectLst/>
        </p:spPr>
        <p:txBody>
          <a:bodyPr rtlCol="0" anchor="ctr"/>
          <a:lstStyle/>
          <a:p>
            <a:pPr algn="ctr"/>
          </a:p>
        </p:txBody>
      </p:sp>
      <p:sp>
        <p:nvSpPr>
          <p:cNvPr id="13" name="TextBox 12"/>
          <p:cNvSpPr txBox="1"/>
          <p:nvPr/>
        </p:nvSpPr>
        <p:spPr>
          <a:xfrm>
            <a:off x="670560" y="2773680"/>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Schematics → actual Hive</a:t>
            </a:r>
          </a:p>
        </p:txBody>
      </p:sp>
      <p:sp>
        <p:nvSpPr>
          <p:cNvPr id="14" name="TextBox 13"/>
          <p:cNvSpPr txBox="1"/>
          <p:nvPr/>
        </p:nvSpPr>
        <p:spPr>
          <a:xfrm>
            <a:off x="3413760" y="2773680"/>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4af00db4e395 → 34b0fb32ab38</a:t>
            </a:r>
          </a:p>
        </p:txBody>
      </p:sp>
      <p:sp>
        <p:nvSpPr>
          <p:cNvPr id="15" name="TextBox 14"/>
          <p:cNvSpPr txBox="1"/>
          <p:nvPr/>
        </p:nvSpPr>
        <p:spPr>
          <a:xfrm>
            <a:off x="7223759" y="2773680"/>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Intended native source and Programs route</a:t>
            </a:r>
          </a:p>
        </p:txBody>
      </p:sp>
      <p:sp>
        <p:nvSpPr>
          <p:cNvPr id="16" name="Rounded Rectangle 15"/>
          <p:cNvSpPr/>
          <p:nvPr/>
        </p:nvSpPr>
        <p:spPr>
          <a:xfrm>
            <a:off x="548640" y="3177540"/>
            <a:ext cx="11094720" cy="495300"/>
          </a:xfrm>
          <a:prstGeom prst="roundRect">
            <a:avLst>
              <a:gd name="adj" fmla="val 9230"/>
            </a:avLst>
          </a:prstGeom>
          <a:solidFill>
            <a:srgbClr val="FFFFFF"/>
          </a:solidFill>
          <a:ln>
            <a:noFill/>
          </a:ln>
          <a:effectLst/>
        </p:spPr>
        <p:txBody>
          <a:bodyPr rtlCol="0" anchor="ctr"/>
          <a:lstStyle/>
          <a:p>
            <a:pPr algn="ctr"/>
          </a:p>
        </p:txBody>
      </p:sp>
      <p:sp>
        <p:nvSpPr>
          <p:cNvPr id="17" name="TextBox 16"/>
          <p:cNvSpPr txBox="1"/>
          <p:nvPr/>
        </p:nvSpPr>
        <p:spPr>
          <a:xfrm>
            <a:off x="670560" y="3307079"/>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DeTTa</a:t>
            </a:r>
          </a:p>
        </p:txBody>
      </p:sp>
      <p:sp>
        <p:nvSpPr>
          <p:cNvPr id="18" name="TextBox 17"/>
          <p:cNvSpPr txBox="1"/>
          <p:nvPr/>
        </p:nvSpPr>
        <p:spPr>
          <a:xfrm>
            <a:off x="3413760" y="3307079"/>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272888f264dd</a:t>
            </a:r>
          </a:p>
        </p:txBody>
      </p:sp>
      <p:sp>
        <p:nvSpPr>
          <p:cNvPr id="19" name="TextBox 18"/>
          <p:cNvSpPr txBox="1"/>
          <p:nvPr/>
        </p:nvSpPr>
        <p:spPr>
          <a:xfrm>
            <a:off x="7223759" y="3307079"/>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Real clean local DA / FileStorage</a:t>
            </a:r>
          </a:p>
        </p:txBody>
      </p:sp>
      <p:sp>
        <p:nvSpPr>
          <p:cNvPr id="20" name="Rounded Rectangle 19"/>
          <p:cNvSpPr/>
          <p:nvPr/>
        </p:nvSpPr>
        <p:spPr>
          <a:xfrm>
            <a:off x="548640" y="3710940"/>
            <a:ext cx="11094720" cy="495300"/>
          </a:xfrm>
          <a:prstGeom prst="roundRect">
            <a:avLst>
              <a:gd name="adj" fmla="val 9230"/>
            </a:avLst>
          </a:prstGeom>
          <a:solidFill>
            <a:srgbClr val="FFFFFF"/>
          </a:solidFill>
          <a:ln>
            <a:noFill/>
          </a:ln>
          <a:effectLst/>
        </p:spPr>
        <p:txBody>
          <a:bodyPr rtlCol="0" anchor="ctr"/>
          <a:lstStyle/>
          <a:p>
            <a:pPr algn="ctr"/>
          </a:p>
        </p:txBody>
      </p:sp>
      <p:sp>
        <p:nvSpPr>
          <p:cNvPr id="21" name="TextBox 20"/>
          <p:cNvSpPr txBox="1"/>
          <p:nvPr/>
        </p:nvSpPr>
        <p:spPr>
          <a:xfrm>
            <a:off x="670560" y="3840479"/>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Reachability</a:t>
            </a:r>
          </a:p>
        </p:txBody>
      </p:sp>
      <p:sp>
        <p:nvSpPr>
          <p:cNvPr id="22" name="TextBox 21"/>
          <p:cNvSpPr txBox="1"/>
          <p:nvPr/>
        </p:nvSpPr>
        <p:spPr>
          <a:xfrm>
            <a:off x="3413760" y="3840479"/>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dd56f3f053ed</a:t>
            </a:r>
          </a:p>
        </p:txBody>
      </p:sp>
      <p:sp>
        <p:nvSpPr>
          <p:cNvPr id="23" name="TextBox 22"/>
          <p:cNvSpPr txBox="1"/>
          <p:nvPr/>
        </p:nvSpPr>
        <p:spPr>
          <a:xfrm>
            <a:off x="7223759" y="3840479"/>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Unchanged guarded PLNAdapter.revise</a:t>
            </a:r>
          </a:p>
        </p:txBody>
      </p:sp>
      <p:sp>
        <p:nvSpPr>
          <p:cNvPr id="24" name="Rounded Rectangle 23"/>
          <p:cNvSpPr/>
          <p:nvPr/>
        </p:nvSpPr>
        <p:spPr>
          <a:xfrm>
            <a:off x="548640" y="4244340"/>
            <a:ext cx="11094720" cy="495300"/>
          </a:xfrm>
          <a:prstGeom prst="roundRect">
            <a:avLst>
              <a:gd name="adj" fmla="val 9230"/>
            </a:avLst>
          </a:prstGeom>
          <a:solidFill>
            <a:srgbClr val="FFFFFF"/>
          </a:solidFill>
          <a:ln>
            <a:noFill/>
          </a:ln>
          <a:effectLst/>
        </p:spPr>
        <p:txBody>
          <a:bodyPr rtlCol="0" anchor="ctr"/>
          <a:lstStyle/>
          <a:p>
            <a:pPr algn="ctr"/>
          </a:p>
        </p:txBody>
      </p:sp>
      <p:sp>
        <p:nvSpPr>
          <p:cNvPr id="25" name="TextBox 24"/>
          <p:cNvSpPr txBox="1"/>
          <p:nvPr/>
        </p:nvSpPr>
        <p:spPr>
          <a:xfrm>
            <a:off x="670560" y="4373880"/>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PLN</a:t>
            </a:r>
          </a:p>
        </p:txBody>
      </p:sp>
      <p:sp>
        <p:nvSpPr>
          <p:cNvPr id="26" name="TextBox 25"/>
          <p:cNvSpPr txBox="1"/>
          <p:nvPr/>
        </p:nvSpPr>
        <p:spPr>
          <a:xfrm>
            <a:off x="3413760" y="4373880"/>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4405956947c4</a:t>
            </a:r>
          </a:p>
        </p:txBody>
      </p:sp>
      <p:sp>
        <p:nvSpPr>
          <p:cNvPr id="27" name="TextBox 26"/>
          <p:cNvSpPr txBox="1"/>
          <p:nvPr/>
        </p:nvSpPr>
        <p:spPr>
          <a:xfrm>
            <a:off x="7223759" y="4373880"/>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Actual Truth_Revision formula</a:t>
            </a:r>
          </a:p>
        </p:txBody>
      </p:sp>
      <p:sp>
        <p:nvSpPr>
          <p:cNvPr id="28" name="Rounded Rectangle 27"/>
          <p:cNvSpPr/>
          <p:nvPr/>
        </p:nvSpPr>
        <p:spPr>
          <a:xfrm>
            <a:off x="548640" y="4777740"/>
            <a:ext cx="11094720" cy="495300"/>
          </a:xfrm>
          <a:prstGeom prst="roundRect">
            <a:avLst>
              <a:gd name="adj" fmla="val 9230"/>
            </a:avLst>
          </a:prstGeom>
          <a:solidFill>
            <a:srgbClr val="FFFFFF"/>
          </a:solidFill>
          <a:ln>
            <a:noFill/>
          </a:ln>
          <a:effectLst/>
        </p:spPr>
        <p:txBody>
          <a:bodyPr rtlCol="0" anchor="ctr"/>
          <a:lstStyle/>
          <a:p>
            <a:pPr algn="ctr"/>
          </a:p>
        </p:txBody>
      </p:sp>
      <p:sp>
        <p:nvSpPr>
          <p:cNvPr id="29" name="TextBox 28"/>
          <p:cNvSpPr txBox="1"/>
          <p:nvPr/>
        </p:nvSpPr>
        <p:spPr>
          <a:xfrm>
            <a:off x="670560" y="4907280"/>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PeTTa / SWI source</a:t>
            </a:r>
          </a:p>
        </p:txBody>
      </p:sp>
      <p:sp>
        <p:nvSpPr>
          <p:cNvPr id="30" name="TextBox 29"/>
          <p:cNvSpPr txBox="1"/>
          <p:nvPr/>
        </p:nvSpPr>
        <p:spPr>
          <a:xfrm>
            <a:off x="3413760" y="4907280"/>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ae66fa8e41dc / 69775434c822</a:t>
            </a:r>
          </a:p>
        </p:txBody>
      </p:sp>
      <p:sp>
        <p:nvSpPr>
          <p:cNvPr id="31" name="TextBox 30"/>
          <p:cNvSpPr txBox="1"/>
          <p:nvPr/>
        </p:nvSpPr>
        <p:spPr>
          <a:xfrm>
            <a:off x="7223759" y="4907280"/>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Native runtime at explicit source pins</a:t>
            </a:r>
          </a:p>
        </p:txBody>
      </p:sp>
      <p:sp>
        <p:nvSpPr>
          <p:cNvPr id="32" name="Rounded Rectangle 31"/>
          <p:cNvSpPr/>
          <p:nvPr/>
        </p:nvSpPr>
        <p:spPr>
          <a:xfrm>
            <a:off x="548640" y="5311140"/>
            <a:ext cx="11094720" cy="495300"/>
          </a:xfrm>
          <a:prstGeom prst="roundRect">
            <a:avLst>
              <a:gd name="adj" fmla="val 9230"/>
            </a:avLst>
          </a:prstGeom>
          <a:solidFill>
            <a:srgbClr val="FFFFFF"/>
          </a:solidFill>
          <a:ln>
            <a:noFill/>
          </a:ln>
          <a:effectLst/>
        </p:spPr>
        <p:txBody>
          <a:bodyPr rtlCol="0" anchor="ctr"/>
          <a:lstStyle/>
          <a:p>
            <a:pPr algn="ctr"/>
          </a:p>
        </p:txBody>
      </p:sp>
      <p:sp>
        <p:nvSpPr>
          <p:cNvPr id="33" name="TextBox 32"/>
          <p:cNvSpPr txBox="1"/>
          <p:nvPr/>
        </p:nvSpPr>
        <p:spPr>
          <a:xfrm>
            <a:off x="670560" y="5440680"/>
            <a:ext cx="24993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102B3F"/>
                </a:solidFill>
                <a:latin typeface="DejaVu Sans"/>
              </a:rPr>
              <a:t>SWI / Python / Janus</a:t>
            </a:r>
          </a:p>
        </p:txBody>
      </p:sp>
      <p:sp>
        <p:nvSpPr>
          <p:cNvPr id="34" name="TextBox 33"/>
          <p:cNvSpPr txBox="1"/>
          <p:nvPr/>
        </p:nvSpPr>
        <p:spPr>
          <a:xfrm>
            <a:off x="3413760" y="5440680"/>
            <a:ext cx="3566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10.1.14 / 3.12.12 / 1.5.3</a:t>
            </a:r>
          </a:p>
        </p:txBody>
      </p:sp>
      <p:sp>
        <p:nvSpPr>
          <p:cNvPr id="35" name="TextBox 34"/>
          <p:cNvSpPr txBox="1"/>
          <p:nvPr/>
        </p:nvSpPr>
        <p:spPr>
          <a:xfrm>
            <a:off x="7223759" y="5440680"/>
            <a:ext cx="429768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Narrow rebaseline; historical 10.0.1 unchanged</a:t>
            </a:r>
          </a:p>
        </p:txBody>
      </p:sp>
      <p:cxnSp>
        <p:nvCxnSpPr>
          <p:cNvPr id="36" name="Connector 35"/>
          <p:cNvCxnSpPr/>
          <p:nvPr/>
        </p:nvCxnSpPr>
        <p:spPr>
          <a:xfrm>
            <a:off x="548640" y="6393180"/>
            <a:ext cx="11094720" cy="0"/>
          </a:xfrm>
          <a:prstGeom prst="line">
            <a:avLst/>
          </a:prstGeom>
          <a:ln w="7620">
            <a:solidFill>
              <a:srgbClr val="C9D2D4"/>
            </a:solidFill>
          </a:ln>
          <a:effectLst/>
        </p:spPr>
      </p:cxnSp>
      <p:sp>
        <p:nvSpPr>
          <p:cNvPr id="37" name="TextBox 3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final/verification.json · integration/pln/sources.json</a:t>
            </a:r>
          </a:p>
        </p:txBody>
      </p:sp>
      <p:sp>
        <p:nvSpPr>
          <p:cNvPr id="38" name="TextBox 3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32 / 38</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C / CONTRACT LEDGER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Profiles and bounds are part of compatibility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matching method name alone does not establish substitutability.</a:t>
            </a:r>
          </a:p>
        </p:txBody>
      </p:sp>
      <p:sp>
        <p:nvSpPr>
          <p:cNvPr id="5" name="TextBox 4"/>
          <p:cNvSpPr txBox="1"/>
          <p:nvPr/>
        </p:nvSpPr>
        <p:spPr>
          <a:xfrm>
            <a:off x="670560" y="1790700"/>
            <a:ext cx="2423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SELECTION</a:t>
            </a:r>
          </a:p>
        </p:txBody>
      </p:sp>
      <p:sp>
        <p:nvSpPr>
          <p:cNvPr id="6" name="TextBox 5"/>
          <p:cNvSpPr txBox="1"/>
          <p:nvPr/>
        </p:nvSpPr>
        <p:spPr>
          <a:xfrm>
            <a:off x="3337560" y="1790700"/>
            <a:ext cx="48615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EXACT PROFILE OR LIMIT</a:t>
            </a:r>
          </a:p>
        </p:txBody>
      </p:sp>
      <p:sp>
        <p:nvSpPr>
          <p:cNvPr id="7" name="TextBox 6"/>
          <p:cNvSpPr txBox="1"/>
          <p:nvPr/>
        </p:nvSpPr>
        <p:spPr>
          <a:xfrm>
            <a:off x="8442960" y="1790700"/>
            <a:ext cx="30784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IMPLICATION</a:t>
            </a:r>
          </a:p>
        </p:txBody>
      </p:sp>
      <p:sp>
        <p:nvSpPr>
          <p:cNvPr id="8" name="Rounded Rectangle 7"/>
          <p:cNvSpPr/>
          <p:nvPr/>
        </p:nvSpPr>
        <p:spPr>
          <a:xfrm>
            <a:off x="548640" y="2110740"/>
            <a:ext cx="11094720" cy="594360"/>
          </a:xfrm>
          <a:prstGeom prst="roundRect">
            <a:avLst>
              <a:gd name="adj" fmla="val 7692"/>
            </a:avLst>
          </a:prstGeom>
          <a:solidFill>
            <a:srgbClr val="FFFFFF"/>
          </a:solidFill>
          <a:ln>
            <a:noFill/>
          </a:ln>
          <a:effectLst/>
        </p:spPr>
        <p:txBody>
          <a:bodyPr rtlCol="0" anchor="ctr"/>
          <a:lstStyle/>
          <a:p>
            <a:pPr algn="ctr"/>
          </a:p>
        </p:txBody>
      </p:sp>
      <p:sp>
        <p:nvSpPr>
          <p:cNvPr id="9" name="TextBox 8"/>
          <p:cNvSpPr txBox="1"/>
          <p:nvPr/>
        </p:nvSpPr>
        <p:spPr>
          <a:xfrm>
            <a:off x="670560" y="224028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C1 / C2 local interface</a:t>
            </a:r>
          </a:p>
        </p:txBody>
      </p:sp>
      <p:sp>
        <p:nvSpPr>
          <p:cNvPr id="10" name="TextBox 9"/>
          <p:cNvSpPr txBox="1"/>
          <p:nvPr/>
        </p:nvSpPr>
        <p:spPr>
          <a:xfrm>
            <a:off x="3337560" y="224028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2.0.0; implementation 0.2.0</a:t>
            </a:r>
          </a:p>
        </p:txBody>
      </p:sp>
      <p:sp>
        <p:nvSpPr>
          <p:cNvPr id="11" name="TextBox 10"/>
          <p:cNvSpPr txBox="1"/>
          <p:nvPr/>
        </p:nvSpPr>
        <p:spPr>
          <a:xfrm>
            <a:off x="8442960" y="224028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No new remote cognitive wire routes</a:t>
            </a:r>
          </a:p>
        </p:txBody>
      </p:sp>
      <p:sp>
        <p:nvSpPr>
          <p:cNvPr id="12" name="Rounded Rectangle 11"/>
          <p:cNvSpPr/>
          <p:nvPr/>
        </p:nvSpPr>
        <p:spPr>
          <a:xfrm>
            <a:off x="548640" y="2743200"/>
            <a:ext cx="11094720" cy="594360"/>
          </a:xfrm>
          <a:prstGeom prst="roundRect">
            <a:avLst>
              <a:gd name="adj" fmla="val 7692"/>
            </a:avLst>
          </a:prstGeom>
          <a:solidFill>
            <a:srgbClr val="FFFFFF"/>
          </a:solidFill>
          <a:ln>
            <a:noFill/>
          </a:ln>
          <a:effectLst/>
        </p:spPr>
        <p:txBody>
          <a:bodyPr rtlCol="0" anchor="ctr"/>
          <a:lstStyle/>
          <a:p>
            <a:pPr algn="ctr"/>
          </a:p>
        </p:txBody>
      </p:sp>
      <p:sp>
        <p:nvSpPr>
          <p:cNvPr id="13" name="TextBox 12"/>
          <p:cNvSpPr txBox="1"/>
          <p:nvPr/>
        </p:nvSpPr>
        <p:spPr>
          <a:xfrm>
            <a:off x="670560" y="287274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C1 / C2 semantics</a:t>
            </a:r>
          </a:p>
        </p:txBody>
      </p:sp>
      <p:sp>
        <p:nvSpPr>
          <p:cNvPr id="14" name="TextBox 13"/>
          <p:cNvSpPr txBox="1"/>
          <p:nvPr/>
        </p:nvSpPr>
        <p:spPr>
          <a:xfrm>
            <a:off x="3337560" y="287274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episode-local-sequence/2 · pln-revision-private/1</a:t>
            </a:r>
          </a:p>
        </p:txBody>
      </p:sp>
      <p:sp>
        <p:nvSpPr>
          <p:cNvPr id="15" name="TextBox 14"/>
          <p:cNvSpPr txBox="1"/>
          <p:nvPr/>
        </p:nvSpPr>
        <p:spPr>
          <a:xfrm>
            <a:off x="8442960" y="287274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Bound identity, ordering and</a:t>
            </a:r>
          </a:p>
        </p:txBody>
      </p:sp>
      <p:sp>
        <p:nvSpPr>
          <p:cNvPr id="16" name="TextBox 15"/>
          <p:cNvSpPr txBox="1"/>
          <p:nvPr/>
        </p:nvSpPr>
        <p:spPr>
          <a:xfrm>
            <a:off x="8442960" y="3077565"/>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numerical decisions</a:t>
            </a:r>
          </a:p>
        </p:txBody>
      </p:sp>
      <p:sp>
        <p:nvSpPr>
          <p:cNvPr id="17" name="Rounded Rectangle 16"/>
          <p:cNvSpPr/>
          <p:nvPr/>
        </p:nvSpPr>
        <p:spPr>
          <a:xfrm>
            <a:off x="548640" y="3375660"/>
            <a:ext cx="11094720" cy="594360"/>
          </a:xfrm>
          <a:prstGeom prst="roundRect">
            <a:avLst>
              <a:gd name="adj" fmla="val 7692"/>
            </a:avLst>
          </a:prstGeom>
          <a:solidFill>
            <a:srgbClr val="FFFFFF"/>
          </a:solidFill>
          <a:ln>
            <a:noFill/>
          </a:ln>
          <a:effectLst/>
        </p:spPr>
        <p:txBody>
          <a:bodyPr rtlCol="0" anchor="ctr"/>
          <a:lstStyle/>
          <a:p>
            <a:pPr algn="ctr"/>
          </a:p>
        </p:txBody>
      </p:sp>
      <p:sp>
        <p:nvSpPr>
          <p:cNvPr id="18" name="TextBox 17"/>
          <p:cNvSpPr txBox="1"/>
          <p:nvPr/>
        </p:nvSpPr>
        <p:spPr>
          <a:xfrm>
            <a:off x="670560" y="350520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Numerical / runtime</a:t>
            </a:r>
          </a:p>
        </p:txBody>
      </p:sp>
      <p:sp>
        <p:nvSpPr>
          <p:cNvPr id="19" name="TextBox 18"/>
          <p:cNvSpPr txBox="1"/>
          <p:nvPr/>
        </p:nvSpPr>
        <p:spPr>
          <a:xfrm>
            <a:off x="670560" y="3710025"/>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profiles</a:t>
            </a:r>
          </a:p>
        </p:txBody>
      </p:sp>
      <p:sp>
        <p:nvSpPr>
          <p:cNvPr id="20" name="TextBox 19"/>
          <p:cNvSpPr txBox="1"/>
          <p:nvPr/>
        </p:nvSpPr>
        <p:spPr>
          <a:xfrm>
            <a:off x="3337560" y="350520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trueagi-pln-stv-finite-k1/v1</a:t>
            </a:r>
          </a:p>
        </p:txBody>
      </p:sp>
      <p:sp>
        <p:nvSpPr>
          <p:cNvPr id="21" name="TextBox 20"/>
          <p:cNvSpPr txBox="1"/>
          <p:nvPr/>
        </p:nvSpPr>
        <p:spPr>
          <a:xfrm>
            <a:off x="3337560" y="3710025"/>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fusion-petta-swi-10.1.14-revision/1</a:t>
            </a:r>
          </a:p>
        </p:txBody>
      </p:sp>
      <p:sp>
        <p:nvSpPr>
          <p:cNvPr id="22" name="TextBox 21"/>
          <p:cNvSpPr txBox="1"/>
          <p:nvPr/>
        </p:nvSpPr>
        <p:spPr>
          <a:xfrm>
            <a:off x="8442960" y="350520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Explicit model + native selection</a:t>
            </a:r>
          </a:p>
        </p:txBody>
      </p:sp>
      <p:sp>
        <p:nvSpPr>
          <p:cNvPr id="23" name="Rounded Rectangle 22"/>
          <p:cNvSpPr/>
          <p:nvPr/>
        </p:nvSpPr>
        <p:spPr>
          <a:xfrm>
            <a:off x="548640" y="4008119"/>
            <a:ext cx="11094720" cy="594360"/>
          </a:xfrm>
          <a:prstGeom prst="roundRect">
            <a:avLst>
              <a:gd name="adj" fmla="val 7692"/>
            </a:avLst>
          </a:prstGeom>
          <a:solidFill>
            <a:srgbClr val="FFFFFF"/>
          </a:solidFill>
          <a:ln>
            <a:noFill/>
          </a:ln>
          <a:effectLst/>
        </p:spPr>
        <p:txBody>
          <a:bodyPr rtlCol="0" anchor="ctr"/>
          <a:lstStyle/>
          <a:p>
            <a:pPr algn="ctr"/>
          </a:p>
        </p:txBody>
      </p:sp>
      <p:sp>
        <p:nvSpPr>
          <p:cNvPr id="24" name="TextBox 23"/>
          <p:cNvSpPr txBox="1"/>
          <p:nvPr/>
        </p:nvSpPr>
        <p:spPr>
          <a:xfrm>
            <a:off x="670560" y="413766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Private atom / event bytes</a:t>
            </a:r>
          </a:p>
        </p:txBody>
      </p:sp>
      <p:sp>
        <p:nvSpPr>
          <p:cNvPr id="25" name="TextBox 24"/>
          <p:cNvSpPr txBox="1"/>
          <p:nvPr/>
        </p:nvSpPr>
        <p:spPr>
          <a:xfrm>
            <a:off x="3337560" y="413766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65,536 / 16,384 bytes</a:t>
            </a:r>
          </a:p>
        </p:txBody>
      </p:sp>
      <p:sp>
        <p:nvSpPr>
          <p:cNvPr id="26" name="TextBox 25"/>
          <p:cNvSpPr txBox="1"/>
          <p:nvPr/>
        </p:nvSpPr>
        <p:spPr>
          <a:xfrm>
            <a:off x="8442960" y="413766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Immutable bounded records</a:t>
            </a:r>
          </a:p>
        </p:txBody>
      </p:sp>
      <p:sp>
        <p:nvSpPr>
          <p:cNvPr id="27" name="Rounded Rectangle 26"/>
          <p:cNvSpPr/>
          <p:nvPr/>
        </p:nvSpPr>
        <p:spPr>
          <a:xfrm>
            <a:off x="548640" y="4640580"/>
            <a:ext cx="11094720" cy="594360"/>
          </a:xfrm>
          <a:prstGeom prst="roundRect">
            <a:avLst>
              <a:gd name="adj" fmla="val 7692"/>
            </a:avLst>
          </a:prstGeom>
          <a:solidFill>
            <a:srgbClr val="FFFFFF"/>
          </a:solidFill>
          <a:ln>
            <a:noFill/>
          </a:ln>
          <a:effectLst/>
        </p:spPr>
        <p:txBody>
          <a:bodyPr rtlCol="0" anchor="ctr"/>
          <a:lstStyle/>
          <a:p>
            <a:pPr algn="ctr"/>
          </a:p>
        </p:txBody>
      </p:sp>
      <p:sp>
        <p:nvSpPr>
          <p:cNvPr id="28" name="TextBox 27"/>
          <p:cNvSpPr txBox="1"/>
          <p:nvPr/>
        </p:nvSpPr>
        <p:spPr>
          <a:xfrm>
            <a:off x="670560" y="477012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Episode / provenance /</a:t>
            </a:r>
          </a:p>
        </p:txBody>
      </p:sp>
      <p:sp>
        <p:nvSpPr>
          <p:cNvPr id="29" name="TextBox 28"/>
          <p:cNvSpPr txBox="1"/>
          <p:nvPr/>
        </p:nvSpPr>
        <p:spPr>
          <a:xfrm>
            <a:off x="670560" y="4974945"/>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batch</a:t>
            </a:r>
          </a:p>
        </p:txBody>
      </p:sp>
      <p:sp>
        <p:nvSpPr>
          <p:cNvPr id="30" name="TextBox 29"/>
          <p:cNvSpPr txBox="1"/>
          <p:nvPr/>
        </p:nvSpPr>
        <p:spPr>
          <a:xfrm>
            <a:off x="3337560" y="477012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256 events; 8 provenance + 8 causation; page 16</a:t>
            </a:r>
          </a:p>
        </p:txBody>
      </p:sp>
      <p:sp>
        <p:nvSpPr>
          <p:cNvPr id="31" name="TextBox 30"/>
          <p:cNvSpPr txBox="1"/>
          <p:nvPr/>
        </p:nvSpPr>
        <p:spPr>
          <a:xfrm>
            <a:off x="8442960" y="477012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No unbounded query surface</a:t>
            </a:r>
          </a:p>
        </p:txBody>
      </p:sp>
      <p:sp>
        <p:nvSpPr>
          <p:cNvPr id="32" name="Rounded Rectangle 31"/>
          <p:cNvSpPr/>
          <p:nvPr/>
        </p:nvSpPr>
        <p:spPr>
          <a:xfrm>
            <a:off x="548640" y="5273040"/>
            <a:ext cx="11094720" cy="594360"/>
          </a:xfrm>
          <a:prstGeom prst="roundRect">
            <a:avLst>
              <a:gd name="adj" fmla="val 7692"/>
            </a:avLst>
          </a:prstGeom>
          <a:solidFill>
            <a:srgbClr val="FFFFFF"/>
          </a:solidFill>
          <a:ln>
            <a:noFill/>
          </a:ln>
          <a:effectLst/>
        </p:spPr>
        <p:txBody>
          <a:bodyPr rtlCol="0" anchor="ctr"/>
          <a:lstStyle/>
          <a:p>
            <a:pPr algn="ctr"/>
          </a:p>
        </p:txBody>
      </p:sp>
      <p:sp>
        <p:nvSpPr>
          <p:cNvPr id="33" name="TextBox 32"/>
          <p:cNvSpPr txBox="1"/>
          <p:nvPr/>
        </p:nvSpPr>
        <p:spPr>
          <a:xfrm>
            <a:off x="670560" y="5402580"/>
            <a:ext cx="24231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Belief / snapshot / relay</a:t>
            </a:r>
          </a:p>
        </p:txBody>
      </p:sp>
      <p:sp>
        <p:nvSpPr>
          <p:cNvPr id="34" name="TextBox 33"/>
          <p:cNvSpPr txBox="1"/>
          <p:nvPr/>
        </p:nvSpPr>
        <p:spPr>
          <a:xfrm>
            <a:off x="3337560" y="5402580"/>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32 observations; 64 supports; 262,144 bytes</a:t>
            </a:r>
          </a:p>
        </p:txBody>
      </p:sp>
      <p:sp>
        <p:nvSpPr>
          <p:cNvPr id="35" name="TextBox 34"/>
          <p:cNvSpPr txBox="1"/>
          <p:nvPr/>
        </p:nvSpPr>
        <p:spPr>
          <a:xfrm>
            <a:off x="3337560" y="5607405"/>
            <a:ext cx="486156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3 CAS retries/drain; 32 attempts/delivery</a:t>
            </a:r>
          </a:p>
        </p:txBody>
      </p:sp>
      <p:sp>
        <p:nvSpPr>
          <p:cNvPr id="36" name="TextBox 35"/>
          <p:cNvSpPr txBox="1"/>
          <p:nvPr/>
        </p:nvSpPr>
        <p:spPr>
          <a:xfrm>
            <a:off x="8442960" y="5402580"/>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Retained history; no GC or total disk</a:t>
            </a:r>
          </a:p>
        </p:txBody>
      </p:sp>
      <p:sp>
        <p:nvSpPr>
          <p:cNvPr id="37" name="TextBox 36"/>
          <p:cNvSpPr txBox="1"/>
          <p:nvPr/>
        </p:nvSpPr>
        <p:spPr>
          <a:xfrm>
            <a:off x="8442960" y="5607405"/>
            <a:ext cx="3078479"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quota</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memory_contracts.py · contracts.md</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33 / 38</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D / PROPOSED DEPENDENCIES</a:t>
            </a:r>
          </a:p>
        </p:txBody>
      </p:sp>
      <p:sp>
        <p:nvSpPr>
          <p:cNvPr id="3" name="TextBox 2"/>
          <p:cNvSpPr txBox="1"/>
          <p:nvPr/>
        </p:nvSpPr>
        <p:spPr>
          <a:xfrm>
            <a:off x="533400" y="723900"/>
            <a:ext cx="11125200" cy="477926"/>
          </a:xfrm>
          <a:prstGeom prst="rect">
            <a:avLst/>
          </a:prstGeom>
          <a:noFill/>
        </p:spPr>
        <p:txBody>
          <a:bodyPr wrap="none" lIns="0" rIns="0" tIns="0" bIns="0" anchor="t" anchorCtr="0">
            <a:noAutofit/>
          </a:bodyPr>
          <a:lstStyle/>
          <a:p>
            <a:pPr algn="l">
              <a:lnSpc>
                <a:spcPct val="100000"/>
              </a:lnSpc>
              <a:spcBef>
                <a:spcPts val="0"/>
              </a:spcBef>
              <a:spcAft>
                <a:spcPts val="0"/>
              </a:spcAft>
            </a:pPr>
            <a:r>
              <a:rPr sz="2940" b="1">
                <a:solidFill>
                  <a:srgbClr val="102B3F"/>
                </a:solidFill>
                <a:latin typeface="DejaVu Sans"/>
              </a:rPr>
              <a:t>Future cognition remains a set of review obligations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Dashed arrows are specified future calls. The M2 owners in blue are already implemented.</a:t>
            </a:r>
          </a:p>
        </p:txBody>
      </p:sp>
      <p:sp>
        <p:nvSpPr>
          <p:cNvPr id="5" name="Rounded Rectangle 4"/>
          <p:cNvSpPr/>
          <p:nvPr/>
        </p:nvSpPr>
        <p:spPr>
          <a:xfrm>
            <a:off x="548640" y="1920239"/>
            <a:ext cx="2514600" cy="1043940"/>
          </a:xfrm>
          <a:prstGeom prst="roundRect">
            <a:avLst>
              <a:gd name="adj" fmla="val 9489"/>
            </a:avLst>
          </a:prstGeom>
          <a:solidFill>
            <a:srgbClr val="EBE5F3"/>
          </a:solidFill>
          <a:ln w="7620">
            <a:solidFill>
              <a:srgbClr val="7458A2"/>
            </a:solidFill>
            <a:prstDash val="dash"/>
          </a:ln>
          <a:effectLst/>
        </p:spPr>
        <p:txBody>
          <a:bodyPr rtlCol="0" anchor="ctr"/>
          <a:lstStyle/>
          <a:p>
            <a:pPr algn="ctr"/>
          </a:p>
        </p:txBody>
      </p:sp>
      <p:sp>
        <p:nvSpPr>
          <p:cNvPr id="6" name="TextBox 5"/>
          <p:cNvSpPr txBox="1"/>
          <p:nvPr/>
        </p:nvSpPr>
        <p:spPr>
          <a:xfrm>
            <a:off x="716280" y="2087880"/>
            <a:ext cx="2179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7458A2"/>
                </a:solidFill>
                <a:latin typeface="DejaVu Sans"/>
              </a:rPr>
              <a:t>Inference control</a:t>
            </a:r>
          </a:p>
        </p:txBody>
      </p:sp>
      <p:sp>
        <p:nvSpPr>
          <p:cNvPr id="7" name="TextBox 6"/>
          <p:cNvSpPr txBox="1"/>
          <p:nvPr/>
        </p:nvSpPr>
        <p:spPr>
          <a:xfrm>
            <a:off x="716280" y="2446934"/>
            <a:ext cx="21793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step(budget)</a:t>
            </a:r>
          </a:p>
        </p:txBody>
      </p:sp>
      <p:sp>
        <p:nvSpPr>
          <p:cNvPr id="8" name="Rounded Rectangle 7"/>
          <p:cNvSpPr/>
          <p:nvPr/>
        </p:nvSpPr>
        <p:spPr>
          <a:xfrm>
            <a:off x="4076700" y="1920239"/>
            <a:ext cx="3276600" cy="1043940"/>
          </a:xfrm>
          <a:prstGeom prst="roundRect">
            <a:avLst>
              <a:gd name="adj" fmla="val 9489"/>
            </a:avLst>
          </a:prstGeom>
          <a:solidFill>
            <a:srgbClr val="FFFFFF"/>
          </a:solidFill>
          <a:ln w="7620">
            <a:solidFill>
              <a:srgbClr val="7458A2"/>
            </a:solidFill>
            <a:prstDash val="dash"/>
          </a:ln>
          <a:effectLst/>
        </p:spPr>
        <p:txBody>
          <a:bodyPr rtlCol="0" anchor="ctr"/>
          <a:lstStyle/>
          <a:p>
            <a:pPr algn="ctr"/>
          </a:p>
        </p:txBody>
      </p:sp>
      <p:sp>
        <p:nvSpPr>
          <p:cNvPr id="9" name="TextBox 8"/>
          <p:cNvSpPr txBox="1"/>
          <p:nvPr/>
        </p:nvSpPr>
        <p:spPr>
          <a:xfrm>
            <a:off x="4244340" y="2087880"/>
            <a:ext cx="2941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7458A2"/>
                </a:solidFill>
                <a:latin typeface="DejaVu Sans"/>
              </a:rPr>
              <a:t>Search projection</a:t>
            </a:r>
          </a:p>
        </p:txBody>
      </p:sp>
      <p:sp>
        <p:nvSpPr>
          <p:cNvPr id="10" name="TextBox 9"/>
          <p:cNvSpPr txBox="1"/>
          <p:nvPr/>
        </p:nvSpPr>
        <p:spPr>
          <a:xfrm>
            <a:off x="4244340" y="2446934"/>
            <a:ext cx="29413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query(profile, watermark)</a:t>
            </a:r>
          </a:p>
        </p:txBody>
      </p:sp>
      <p:sp>
        <p:nvSpPr>
          <p:cNvPr id="11" name="Rounded Rectangle 10"/>
          <p:cNvSpPr/>
          <p:nvPr/>
        </p:nvSpPr>
        <p:spPr>
          <a:xfrm>
            <a:off x="8229600" y="1920239"/>
            <a:ext cx="3413760" cy="1043940"/>
          </a:xfrm>
          <a:prstGeom prst="roundRect">
            <a:avLst>
              <a:gd name="adj" fmla="val 9489"/>
            </a:avLst>
          </a:prstGeom>
          <a:solidFill>
            <a:srgbClr val="FFFFFF"/>
          </a:solidFill>
          <a:ln w="7620">
            <a:solidFill>
              <a:srgbClr val="7458A2"/>
            </a:solidFill>
            <a:prstDash val="dash"/>
          </a:ln>
          <a:effectLst/>
        </p:spPr>
        <p:txBody>
          <a:bodyPr rtlCol="0" anchor="ctr"/>
          <a:lstStyle/>
          <a:p>
            <a:pPr algn="ctr"/>
          </a:p>
        </p:txBody>
      </p:sp>
      <p:sp>
        <p:nvSpPr>
          <p:cNvPr id="12" name="TextBox 11"/>
          <p:cNvSpPr txBox="1"/>
          <p:nvPr/>
        </p:nvSpPr>
        <p:spPr>
          <a:xfrm>
            <a:off x="8397240" y="2087880"/>
            <a:ext cx="3078479"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7458A2"/>
                </a:solidFill>
                <a:latin typeface="DejaVu Sans"/>
              </a:rPr>
              <a:t>ECAN / attention</a:t>
            </a:r>
          </a:p>
        </p:txBody>
      </p:sp>
      <p:sp>
        <p:nvSpPr>
          <p:cNvPr id="13" name="TextBox 12"/>
          <p:cNvSpPr txBox="1"/>
          <p:nvPr/>
        </p:nvSpPr>
        <p:spPr>
          <a:xfrm>
            <a:off x="8397240" y="2446934"/>
            <a:ext cx="3078479"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select · submitStimulus</a:t>
            </a:r>
          </a:p>
        </p:txBody>
      </p:sp>
      <p:cxnSp>
        <p:nvCxnSpPr>
          <p:cNvPr id="14" name="Connector 13"/>
          <p:cNvCxnSpPr/>
          <p:nvPr/>
        </p:nvCxnSpPr>
        <p:spPr>
          <a:xfrm>
            <a:off x="3063240" y="2301240"/>
            <a:ext cx="1013460" cy="0"/>
          </a:xfrm>
          <a:prstGeom prst="line">
            <a:avLst/>
          </a:prstGeom>
          <a:ln w="15240">
            <a:solidFill>
              <a:srgbClr val="7458A2"/>
            </a:solidFill>
            <a:prstDash val="dash"/>
          </a:ln>
          <a:effectLst/>
        </p:spPr>
      </p:cxnSp>
      <p:sp>
        <p:nvSpPr>
          <p:cNvPr id="15" name="Freeform 14"/>
          <p:cNvSpPr/>
          <p:nvPr/>
        </p:nvSpPr>
        <p:spPr>
          <a:xfrm>
            <a:off x="3977640" y="2263140"/>
            <a:ext cx="99060" cy="76200"/>
          </a:xfrm>
          <a:custGeom>
            <a:avLst/>
            <a:gdLst/>
            <a:ahLst/>
            <a:cxnLst/>
            <a:rect l="l" t="t" r="r" b="b"/>
            <a:pathLst>
              <a:path w="13" h="10">
                <a:moveTo>
                  <a:pt x="13" y="5"/>
                </a:moveTo>
                <a:lnTo>
                  <a:pt x="0" y="0"/>
                </a:lnTo>
                <a:lnTo>
                  <a:pt x="0" y="10"/>
                </a:lnTo>
                <a:close/>
              </a:path>
            </a:pathLst>
          </a:custGeom>
          <a:solidFill>
            <a:srgbClr val="7458A2"/>
          </a:solidFill>
          <a:ln>
            <a:noFill/>
          </a:ln>
          <a:effectLst/>
        </p:spPr>
        <p:txBody>
          <a:bodyPr rtlCol="0" anchor="ctr"/>
          <a:lstStyle/>
          <a:p>
            <a:pPr algn="ctr"/>
          </a:p>
        </p:txBody>
      </p:sp>
      <p:cxnSp>
        <p:nvCxnSpPr>
          <p:cNvPr id="16" name="Connector 15"/>
          <p:cNvCxnSpPr/>
          <p:nvPr/>
        </p:nvCxnSpPr>
        <p:spPr>
          <a:xfrm>
            <a:off x="3063240" y="2118360"/>
            <a:ext cx="411479" cy="0"/>
          </a:xfrm>
          <a:prstGeom prst="line">
            <a:avLst/>
          </a:prstGeom>
          <a:ln w="15240">
            <a:solidFill>
              <a:srgbClr val="7458A2"/>
            </a:solidFill>
            <a:prstDash val="dash"/>
          </a:ln>
          <a:effectLst/>
        </p:spPr>
      </p:cxnSp>
      <p:cxnSp>
        <p:nvCxnSpPr>
          <p:cNvPr id="17" name="Connector 16"/>
          <p:cNvCxnSpPr/>
          <p:nvPr/>
        </p:nvCxnSpPr>
        <p:spPr>
          <a:xfrm flipV="1">
            <a:off x="3474719" y="1714500"/>
            <a:ext cx="0" cy="403860"/>
          </a:xfrm>
          <a:prstGeom prst="line">
            <a:avLst/>
          </a:prstGeom>
          <a:ln w="15240">
            <a:solidFill>
              <a:srgbClr val="7458A2"/>
            </a:solidFill>
            <a:prstDash val="dash"/>
          </a:ln>
          <a:effectLst/>
        </p:spPr>
      </p:cxnSp>
      <p:cxnSp>
        <p:nvCxnSpPr>
          <p:cNvPr id="18" name="Connector 17"/>
          <p:cNvCxnSpPr/>
          <p:nvPr/>
        </p:nvCxnSpPr>
        <p:spPr>
          <a:xfrm>
            <a:off x="3474719" y="1714500"/>
            <a:ext cx="6461761" cy="0"/>
          </a:xfrm>
          <a:prstGeom prst="line">
            <a:avLst/>
          </a:prstGeom>
          <a:ln w="15240">
            <a:solidFill>
              <a:srgbClr val="7458A2"/>
            </a:solidFill>
            <a:prstDash val="dash"/>
          </a:ln>
          <a:effectLst/>
        </p:spPr>
      </p:cxnSp>
      <p:cxnSp>
        <p:nvCxnSpPr>
          <p:cNvPr id="19" name="Connector 18"/>
          <p:cNvCxnSpPr/>
          <p:nvPr/>
        </p:nvCxnSpPr>
        <p:spPr>
          <a:xfrm>
            <a:off x="9936480" y="1714500"/>
            <a:ext cx="0" cy="205739"/>
          </a:xfrm>
          <a:prstGeom prst="line">
            <a:avLst/>
          </a:prstGeom>
          <a:ln w="15240">
            <a:solidFill>
              <a:srgbClr val="7458A2"/>
            </a:solidFill>
            <a:prstDash val="dash"/>
          </a:ln>
          <a:effectLst/>
        </p:spPr>
      </p:cxnSp>
      <p:sp>
        <p:nvSpPr>
          <p:cNvPr id="20" name="Freeform 19"/>
          <p:cNvSpPr/>
          <p:nvPr/>
        </p:nvSpPr>
        <p:spPr>
          <a:xfrm>
            <a:off x="9898380" y="1821180"/>
            <a:ext cx="76200" cy="99060"/>
          </a:xfrm>
          <a:custGeom>
            <a:avLst/>
            <a:gdLst/>
            <a:ahLst/>
            <a:cxnLst/>
            <a:rect l="l" t="t" r="r" b="b"/>
            <a:pathLst>
              <a:path w="10" h="13">
                <a:moveTo>
                  <a:pt x="5" y="13"/>
                </a:moveTo>
                <a:lnTo>
                  <a:pt x="10" y="0"/>
                </a:lnTo>
                <a:lnTo>
                  <a:pt x="0" y="0"/>
                </a:lnTo>
                <a:close/>
              </a:path>
            </a:pathLst>
          </a:custGeom>
          <a:solidFill>
            <a:srgbClr val="7458A2"/>
          </a:solidFill>
          <a:ln>
            <a:noFill/>
          </a:ln>
          <a:effectLst/>
        </p:spPr>
        <p:txBody>
          <a:bodyPr rtlCol="0" anchor="ctr"/>
          <a:lstStyle/>
          <a:p>
            <a:pPr algn="ctr"/>
          </a:p>
        </p:txBody>
      </p:sp>
      <p:sp>
        <p:nvSpPr>
          <p:cNvPr id="21" name="Rounded Rectangle 20"/>
          <p:cNvSpPr/>
          <p:nvPr/>
        </p:nvSpPr>
        <p:spPr>
          <a:xfrm>
            <a:off x="4076700" y="3710940"/>
            <a:ext cx="3276600" cy="1043940"/>
          </a:xfrm>
          <a:prstGeom prst="roundRect">
            <a:avLst>
              <a:gd name="adj" fmla="val 9489"/>
            </a:avLst>
          </a:prstGeom>
          <a:solidFill>
            <a:srgbClr val="E4EBF5"/>
          </a:solidFill>
          <a:ln w="7620">
            <a:solidFill>
              <a:srgbClr val="315E9C"/>
            </a:solidFill>
          </a:ln>
          <a:effectLst/>
        </p:spPr>
        <p:txBody>
          <a:bodyPr rtlCol="0" anchor="ctr"/>
          <a:lstStyle/>
          <a:p>
            <a:pPr algn="ctr"/>
          </a:p>
        </p:txBody>
      </p:sp>
      <p:sp>
        <p:nvSpPr>
          <p:cNvPr id="22" name="TextBox 21"/>
          <p:cNvSpPr txBox="1"/>
          <p:nvPr/>
        </p:nvSpPr>
        <p:spPr>
          <a:xfrm>
            <a:off x="4244340" y="3878579"/>
            <a:ext cx="2941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Belief revision C2</a:t>
            </a:r>
          </a:p>
        </p:txBody>
      </p:sp>
      <p:sp>
        <p:nvSpPr>
          <p:cNvPr id="23" name="TextBox 22"/>
          <p:cNvSpPr txBox="1"/>
          <p:nvPr/>
        </p:nvSpPr>
        <p:spPr>
          <a:xfrm>
            <a:off x="4244340" y="4237634"/>
            <a:ext cx="29413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readBelief · submitEvidence</a:t>
            </a:r>
          </a:p>
        </p:txBody>
      </p:sp>
      <p:sp>
        <p:nvSpPr>
          <p:cNvPr id="24" name="Rounded Rectangle 23"/>
          <p:cNvSpPr/>
          <p:nvPr/>
        </p:nvSpPr>
        <p:spPr>
          <a:xfrm>
            <a:off x="8229600" y="3710940"/>
            <a:ext cx="3413760" cy="1043940"/>
          </a:xfrm>
          <a:prstGeom prst="roundRect">
            <a:avLst>
              <a:gd name="adj" fmla="val 9489"/>
            </a:avLst>
          </a:prstGeom>
          <a:solidFill>
            <a:srgbClr val="FFFFFF"/>
          </a:solidFill>
          <a:ln w="7620">
            <a:solidFill>
              <a:srgbClr val="7458A2"/>
            </a:solidFill>
            <a:prstDash val="dash"/>
          </a:ln>
          <a:effectLst/>
        </p:spPr>
        <p:txBody>
          <a:bodyPr rtlCol="0" anchor="ctr"/>
          <a:lstStyle/>
          <a:p>
            <a:pPr algn="ctr"/>
          </a:p>
        </p:txBody>
      </p:sp>
      <p:sp>
        <p:nvSpPr>
          <p:cNvPr id="25" name="TextBox 24"/>
          <p:cNvSpPr txBox="1"/>
          <p:nvPr/>
        </p:nvSpPr>
        <p:spPr>
          <a:xfrm>
            <a:off x="8397240" y="3878579"/>
            <a:ext cx="3078479"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7458A2"/>
                </a:solidFill>
                <a:latin typeface="DejaVu Sans"/>
              </a:rPr>
              <a:t>General PLN kernel</a:t>
            </a:r>
          </a:p>
        </p:txBody>
      </p:sp>
      <p:sp>
        <p:nvSpPr>
          <p:cNvPr id="26" name="TextBox 25"/>
          <p:cNvSpPr txBox="1"/>
          <p:nvPr/>
        </p:nvSpPr>
        <p:spPr>
          <a:xfrm>
            <a:off x="8397240" y="4227880"/>
            <a:ext cx="3078479"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applyRule(premise snapshots)</a:t>
            </a:r>
          </a:p>
        </p:txBody>
      </p:sp>
      <p:cxnSp>
        <p:nvCxnSpPr>
          <p:cNvPr id="27" name="Connector 26"/>
          <p:cNvCxnSpPr/>
          <p:nvPr/>
        </p:nvCxnSpPr>
        <p:spPr>
          <a:xfrm>
            <a:off x="3063240" y="2651760"/>
            <a:ext cx="411479" cy="0"/>
          </a:xfrm>
          <a:prstGeom prst="line">
            <a:avLst/>
          </a:prstGeom>
          <a:ln w="15240">
            <a:solidFill>
              <a:srgbClr val="7458A2"/>
            </a:solidFill>
            <a:prstDash val="dash"/>
          </a:ln>
          <a:effectLst/>
        </p:spPr>
      </p:cxnSp>
      <p:cxnSp>
        <p:nvCxnSpPr>
          <p:cNvPr id="28" name="Connector 27"/>
          <p:cNvCxnSpPr/>
          <p:nvPr/>
        </p:nvCxnSpPr>
        <p:spPr>
          <a:xfrm>
            <a:off x="3474719" y="2651760"/>
            <a:ext cx="0" cy="1577340"/>
          </a:xfrm>
          <a:prstGeom prst="line">
            <a:avLst/>
          </a:prstGeom>
          <a:ln w="15240">
            <a:solidFill>
              <a:srgbClr val="7458A2"/>
            </a:solidFill>
            <a:prstDash val="dash"/>
          </a:ln>
          <a:effectLst/>
        </p:spPr>
      </p:cxnSp>
      <p:cxnSp>
        <p:nvCxnSpPr>
          <p:cNvPr id="29" name="Connector 28"/>
          <p:cNvCxnSpPr/>
          <p:nvPr/>
        </p:nvCxnSpPr>
        <p:spPr>
          <a:xfrm>
            <a:off x="3474719" y="4229100"/>
            <a:ext cx="601981" cy="0"/>
          </a:xfrm>
          <a:prstGeom prst="line">
            <a:avLst/>
          </a:prstGeom>
          <a:ln w="15240">
            <a:solidFill>
              <a:srgbClr val="7458A2"/>
            </a:solidFill>
            <a:prstDash val="dash"/>
          </a:ln>
          <a:effectLst/>
        </p:spPr>
      </p:cxnSp>
      <p:sp>
        <p:nvSpPr>
          <p:cNvPr id="30" name="Freeform 29"/>
          <p:cNvSpPr/>
          <p:nvPr/>
        </p:nvSpPr>
        <p:spPr>
          <a:xfrm>
            <a:off x="3977640" y="4191000"/>
            <a:ext cx="99060" cy="76200"/>
          </a:xfrm>
          <a:custGeom>
            <a:avLst/>
            <a:gdLst/>
            <a:ahLst/>
            <a:cxnLst/>
            <a:rect l="l" t="t" r="r" b="b"/>
            <a:pathLst>
              <a:path w="13" h="10">
                <a:moveTo>
                  <a:pt x="13" y="5"/>
                </a:moveTo>
                <a:lnTo>
                  <a:pt x="0" y="0"/>
                </a:lnTo>
                <a:lnTo>
                  <a:pt x="0" y="10"/>
                </a:lnTo>
                <a:close/>
              </a:path>
            </a:pathLst>
          </a:custGeom>
          <a:solidFill>
            <a:srgbClr val="7458A2"/>
          </a:solidFill>
          <a:ln>
            <a:noFill/>
          </a:ln>
          <a:effectLst/>
        </p:spPr>
        <p:txBody>
          <a:bodyPr rtlCol="0" anchor="ctr"/>
          <a:lstStyle/>
          <a:p>
            <a:pPr algn="ctr"/>
          </a:p>
        </p:txBody>
      </p:sp>
      <p:cxnSp>
        <p:nvCxnSpPr>
          <p:cNvPr id="31" name="Connector 30"/>
          <p:cNvCxnSpPr/>
          <p:nvPr/>
        </p:nvCxnSpPr>
        <p:spPr>
          <a:xfrm>
            <a:off x="3063240" y="2857500"/>
            <a:ext cx="190500" cy="0"/>
          </a:xfrm>
          <a:prstGeom prst="line">
            <a:avLst/>
          </a:prstGeom>
          <a:ln w="15240">
            <a:solidFill>
              <a:srgbClr val="7458A2"/>
            </a:solidFill>
            <a:prstDash val="dash"/>
          </a:ln>
          <a:effectLst/>
        </p:spPr>
      </p:cxnSp>
      <p:cxnSp>
        <p:nvCxnSpPr>
          <p:cNvPr id="32" name="Connector 31"/>
          <p:cNvCxnSpPr/>
          <p:nvPr/>
        </p:nvCxnSpPr>
        <p:spPr>
          <a:xfrm>
            <a:off x="3253740" y="2857500"/>
            <a:ext cx="0" cy="480060"/>
          </a:xfrm>
          <a:prstGeom prst="line">
            <a:avLst/>
          </a:prstGeom>
          <a:ln w="15240">
            <a:solidFill>
              <a:srgbClr val="7458A2"/>
            </a:solidFill>
            <a:prstDash val="dash"/>
          </a:ln>
          <a:effectLst/>
        </p:spPr>
      </p:cxnSp>
      <p:cxnSp>
        <p:nvCxnSpPr>
          <p:cNvPr id="33" name="Connector 32"/>
          <p:cNvCxnSpPr/>
          <p:nvPr/>
        </p:nvCxnSpPr>
        <p:spPr>
          <a:xfrm>
            <a:off x="3253740" y="3337560"/>
            <a:ext cx="6682740" cy="0"/>
          </a:xfrm>
          <a:prstGeom prst="line">
            <a:avLst/>
          </a:prstGeom>
          <a:ln w="15240">
            <a:solidFill>
              <a:srgbClr val="7458A2"/>
            </a:solidFill>
            <a:prstDash val="dash"/>
          </a:ln>
          <a:effectLst/>
        </p:spPr>
      </p:cxnSp>
      <p:cxnSp>
        <p:nvCxnSpPr>
          <p:cNvPr id="34" name="Connector 33"/>
          <p:cNvCxnSpPr/>
          <p:nvPr/>
        </p:nvCxnSpPr>
        <p:spPr>
          <a:xfrm>
            <a:off x="9936480" y="3337560"/>
            <a:ext cx="0" cy="373380"/>
          </a:xfrm>
          <a:prstGeom prst="line">
            <a:avLst/>
          </a:prstGeom>
          <a:ln w="15240">
            <a:solidFill>
              <a:srgbClr val="7458A2"/>
            </a:solidFill>
            <a:prstDash val="dash"/>
          </a:ln>
          <a:effectLst/>
        </p:spPr>
      </p:cxnSp>
      <p:sp>
        <p:nvSpPr>
          <p:cNvPr id="35" name="Freeform 34"/>
          <p:cNvSpPr/>
          <p:nvPr/>
        </p:nvSpPr>
        <p:spPr>
          <a:xfrm>
            <a:off x="9898380" y="3611880"/>
            <a:ext cx="76200" cy="99060"/>
          </a:xfrm>
          <a:custGeom>
            <a:avLst/>
            <a:gdLst/>
            <a:ahLst/>
            <a:cxnLst/>
            <a:rect l="l" t="t" r="r" b="b"/>
            <a:pathLst>
              <a:path w="10" h="13">
                <a:moveTo>
                  <a:pt x="5" y="13"/>
                </a:moveTo>
                <a:lnTo>
                  <a:pt x="10" y="0"/>
                </a:lnTo>
                <a:lnTo>
                  <a:pt x="0" y="0"/>
                </a:lnTo>
                <a:close/>
              </a:path>
            </a:pathLst>
          </a:custGeom>
          <a:solidFill>
            <a:srgbClr val="7458A2"/>
          </a:solidFill>
          <a:ln>
            <a:noFill/>
          </a:ln>
          <a:effectLst/>
        </p:spPr>
        <p:txBody>
          <a:bodyPr rtlCol="0" anchor="ctr"/>
          <a:lstStyle/>
          <a:p>
            <a:pPr algn="ctr"/>
          </a:p>
        </p:txBody>
      </p:sp>
      <p:sp>
        <p:nvSpPr>
          <p:cNvPr id="36" name="Rounded Rectangle 35"/>
          <p:cNvSpPr/>
          <p:nvPr/>
        </p:nvSpPr>
        <p:spPr>
          <a:xfrm>
            <a:off x="548640" y="3710940"/>
            <a:ext cx="2514600" cy="1043940"/>
          </a:xfrm>
          <a:prstGeom prst="roundRect">
            <a:avLst>
              <a:gd name="adj" fmla="val 9489"/>
            </a:avLst>
          </a:prstGeom>
          <a:solidFill>
            <a:srgbClr val="E4EBF5"/>
          </a:solidFill>
          <a:ln w="7620">
            <a:solidFill>
              <a:srgbClr val="315E9C"/>
            </a:solidFill>
          </a:ln>
          <a:effectLst/>
        </p:spPr>
        <p:txBody>
          <a:bodyPr rtlCol="0" anchor="ctr"/>
          <a:lstStyle/>
          <a:p>
            <a:pPr algn="ctr"/>
          </a:p>
        </p:txBody>
      </p:sp>
      <p:sp>
        <p:nvSpPr>
          <p:cNvPr id="37" name="TextBox 36"/>
          <p:cNvSpPr txBox="1"/>
          <p:nvPr/>
        </p:nvSpPr>
        <p:spPr>
          <a:xfrm>
            <a:off x="716280" y="3878579"/>
            <a:ext cx="21793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C1 episodes</a:t>
            </a:r>
          </a:p>
        </p:txBody>
      </p:sp>
      <p:sp>
        <p:nvSpPr>
          <p:cNvPr id="38" name="TextBox 37"/>
          <p:cNvSpPr txBox="1"/>
          <p:nvPr/>
        </p:nvSpPr>
        <p:spPr>
          <a:xfrm>
            <a:off x="716280" y="4237634"/>
            <a:ext cx="21793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Private ordered history</a:t>
            </a:r>
          </a:p>
        </p:txBody>
      </p:sp>
      <p:sp>
        <p:nvSpPr>
          <p:cNvPr id="39" name="TextBox 38"/>
          <p:cNvSpPr txBox="1"/>
          <p:nvPr/>
        </p:nvSpPr>
        <p:spPr>
          <a:xfrm>
            <a:off x="579120" y="515874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7458A2"/>
                </a:solidFill>
                <a:latin typeface="DejaVu Sans"/>
              </a:rPr>
              <a:t>Attention: budget, allocation, decay, tie-breaking. Rules: model, premises, golden tests.</a:t>
            </a:r>
          </a:p>
        </p:txBody>
      </p:sp>
      <p:sp>
        <p:nvSpPr>
          <p:cNvPr id="40" name="TextBox 39"/>
          <p:cNvSpPr txBox="1"/>
          <p:nvPr/>
        </p:nvSpPr>
        <p:spPr>
          <a:xfrm>
            <a:off x="579120" y="556260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7458A2"/>
                </a:solidFill>
                <a:latin typeface="DejaVu Sans"/>
              </a:rPr>
              <a:t>Control: bounded work and feedback. Search: profile and freshness watermark.</a:t>
            </a:r>
          </a:p>
        </p:txBody>
      </p:sp>
      <p:cxnSp>
        <p:nvCxnSpPr>
          <p:cNvPr id="41" name="Connector 40"/>
          <p:cNvCxnSpPr/>
          <p:nvPr/>
        </p:nvCxnSpPr>
        <p:spPr>
          <a:xfrm>
            <a:off x="548640" y="6393180"/>
            <a:ext cx="11094720" cy="0"/>
          </a:xfrm>
          <a:prstGeom prst="line">
            <a:avLst/>
          </a:prstGeom>
          <a:ln w="7620">
            <a:solidFill>
              <a:srgbClr val="C9D2D4"/>
            </a:solidFill>
          </a:ln>
          <a:effectLst/>
        </p:spPr>
      </p:cxnSp>
      <p:sp>
        <p:nvSpPr>
          <p:cNvPr id="42" name="TextBox 41"/>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ports.py · architecture.md</a:t>
            </a:r>
          </a:p>
        </p:txBody>
      </p:sp>
      <p:sp>
        <p:nvSpPr>
          <p:cNvPr id="43" name="TextBox 42"/>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34 / 38</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E / PRESERVED M1.2 SEQUENCE</a:t>
            </a:r>
          </a:p>
        </p:txBody>
      </p:sp>
      <p:sp>
        <p:nvSpPr>
          <p:cNvPr id="3" name="TextBox 2"/>
          <p:cNvSpPr txBox="1"/>
          <p:nvPr/>
        </p:nvSpPr>
        <p:spPr>
          <a:xfrm>
            <a:off x="533400" y="723900"/>
            <a:ext cx="11125200" cy="477926"/>
          </a:xfrm>
          <a:prstGeom prst="rect">
            <a:avLst/>
          </a:prstGeom>
          <a:noFill/>
        </p:spPr>
        <p:txBody>
          <a:bodyPr wrap="none" lIns="0" rIns="0" tIns="0" bIns="0" anchor="t" anchorCtr="0">
            <a:noAutofit/>
          </a:bodyPr>
          <a:lstStyle/>
          <a:p>
            <a:pPr algn="l">
              <a:lnSpc>
                <a:spcPct val="100000"/>
              </a:lnSpc>
              <a:spcBef>
                <a:spcPts val="0"/>
              </a:spcBef>
              <a:spcAft>
                <a:spcPts val="0"/>
              </a:spcAft>
            </a:pPr>
            <a:r>
              <a:rPr sz="2940" b="1">
                <a:solidFill>
                  <a:srgbClr val="102B3F"/>
                </a:solidFill>
                <a:latin typeface="DejaVu Sans"/>
              </a:rPr>
              <a:t>One native operation crosses the existing interfaces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caller stores intent; each provider commits only its own state.</a:t>
            </a:r>
          </a:p>
        </p:txBody>
      </p:sp>
      <p:sp>
        <p:nvSpPr>
          <p:cNvPr id="5" name="Rounded Rectangle 4"/>
          <p:cNvSpPr/>
          <p:nvPr/>
        </p:nvSpPr>
        <p:spPr>
          <a:xfrm>
            <a:off x="495300" y="1790700"/>
            <a:ext cx="1371600" cy="411480"/>
          </a:xfrm>
          <a:prstGeom prst="roundRect">
            <a:avLst>
              <a:gd name="adj" fmla="val 14814"/>
            </a:avLst>
          </a:prstGeom>
          <a:solidFill>
            <a:srgbClr val="DCEFE8"/>
          </a:solidFill>
          <a:ln>
            <a:noFill/>
          </a:ln>
          <a:effectLst/>
        </p:spPr>
        <p:txBody>
          <a:bodyPr rtlCol="0" anchor="ctr"/>
          <a:lstStyle/>
          <a:p>
            <a:pPr algn="ctr"/>
          </a:p>
        </p:txBody>
      </p:sp>
      <p:sp>
        <p:nvSpPr>
          <p:cNvPr id="6" name="TextBox 5"/>
          <p:cNvSpPr txBox="1"/>
          <p:nvPr/>
        </p:nvSpPr>
        <p:spPr>
          <a:xfrm>
            <a:off x="579120" y="1912620"/>
            <a:ext cx="12268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Real Hive</a:t>
            </a:r>
          </a:p>
        </p:txBody>
      </p:sp>
      <p:cxnSp>
        <p:nvCxnSpPr>
          <p:cNvPr id="7" name="Connector 6"/>
          <p:cNvCxnSpPr/>
          <p:nvPr/>
        </p:nvCxnSpPr>
        <p:spPr>
          <a:xfrm>
            <a:off x="1181100" y="2301240"/>
            <a:ext cx="0" cy="3489960"/>
          </a:xfrm>
          <a:prstGeom prst="line">
            <a:avLst/>
          </a:prstGeom>
          <a:ln w="15240">
            <a:solidFill>
              <a:srgbClr val="C9D2D4"/>
            </a:solidFill>
            <a:prstDash val="dash"/>
          </a:ln>
          <a:effectLst/>
        </p:spPr>
      </p:cxnSp>
      <p:sp>
        <p:nvSpPr>
          <p:cNvPr id="8" name="Rounded Rectangle 7"/>
          <p:cNvSpPr/>
          <p:nvPr/>
        </p:nvSpPr>
        <p:spPr>
          <a:xfrm>
            <a:off x="2971800" y="1790700"/>
            <a:ext cx="1371600" cy="411480"/>
          </a:xfrm>
          <a:prstGeom prst="roundRect">
            <a:avLst>
              <a:gd name="adj" fmla="val 14814"/>
            </a:avLst>
          </a:prstGeom>
          <a:solidFill>
            <a:srgbClr val="E4EBF5"/>
          </a:solidFill>
          <a:ln>
            <a:noFill/>
          </a:ln>
          <a:effectLst/>
        </p:spPr>
        <p:txBody>
          <a:bodyPr rtlCol="0" anchor="ctr"/>
          <a:lstStyle/>
          <a:p>
            <a:pPr algn="ctr"/>
          </a:p>
        </p:txBody>
      </p:sp>
      <p:sp>
        <p:nvSpPr>
          <p:cNvPr id="9" name="TextBox 8"/>
          <p:cNvSpPr txBox="1"/>
          <p:nvPr/>
        </p:nvSpPr>
        <p:spPr>
          <a:xfrm>
            <a:off x="3055620" y="1912620"/>
            <a:ext cx="12268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Caller receipt</a:t>
            </a:r>
          </a:p>
        </p:txBody>
      </p:sp>
      <p:cxnSp>
        <p:nvCxnSpPr>
          <p:cNvPr id="10" name="Connector 9"/>
          <p:cNvCxnSpPr/>
          <p:nvPr/>
        </p:nvCxnSpPr>
        <p:spPr>
          <a:xfrm>
            <a:off x="3657600" y="2301240"/>
            <a:ext cx="0" cy="3489960"/>
          </a:xfrm>
          <a:prstGeom prst="line">
            <a:avLst/>
          </a:prstGeom>
          <a:ln w="15240">
            <a:solidFill>
              <a:srgbClr val="C9D2D4"/>
            </a:solidFill>
            <a:prstDash val="dash"/>
          </a:ln>
          <a:effectLst/>
        </p:spPr>
      </p:cxnSp>
      <p:sp>
        <p:nvSpPr>
          <p:cNvPr id="11" name="Rounded Rectangle 10"/>
          <p:cNvSpPr/>
          <p:nvPr/>
        </p:nvSpPr>
        <p:spPr>
          <a:xfrm>
            <a:off x="5448300" y="1790700"/>
            <a:ext cx="1371600" cy="411480"/>
          </a:xfrm>
          <a:prstGeom prst="roundRect">
            <a:avLst>
              <a:gd name="adj" fmla="val 14814"/>
            </a:avLst>
          </a:prstGeom>
          <a:solidFill>
            <a:srgbClr val="DCEFE8"/>
          </a:solidFill>
          <a:ln>
            <a:noFill/>
          </a:ln>
          <a:effectLst/>
        </p:spPr>
        <p:txBody>
          <a:bodyPr rtlCol="0" anchor="ctr"/>
          <a:lstStyle/>
          <a:p>
            <a:pPr algn="ctr"/>
          </a:p>
        </p:txBody>
      </p:sp>
      <p:sp>
        <p:nvSpPr>
          <p:cNvPr id="12" name="TextBox 11"/>
          <p:cNvSpPr txBox="1"/>
          <p:nvPr/>
        </p:nvSpPr>
        <p:spPr>
          <a:xfrm>
            <a:off x="5532120" y="1912620"/>
            <a:ext cx="12268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AtomStorage</a:t>
            </a:r>
          </a:p>
        </p:txBody>
      </p:sp>
      <p:cxnSp>
        <p:nvCxnSpPr>
          <p:cNvPr id="13" name="Connector 12"/>
          <p:cNvCxnSpPr/>
          <p:nvPr/>
        </p:nvCxnSpPr>
        <p:spPr>
          <a:xfrm>
            <a:off x="6134100" y="2301240"/>
            <a:ext cx="0" cy="3489960"/>
          </a:xfrm>
          <a:prstGeom prst="line">
            <a:avLst/>
          </a:prstGeom>
          <a:ln w="15240">
            <a:solidFill>
              <a:srgbClr val="C9D2D4"/>
            </a:solidFill>
            <a:prstDash val="dash"/>
          </a:ln>
          <a:effectLst/>
        </p:spPr>
      </p:cxnSp>
      <p:sp>
        <p:nvSpPr>
          <p:cNvPr id="14" name="Rounded Rectangle 13"/>
          <p:cNvSpPr/>
          <p:nvPr/>
        </p:nvSpPr>
        <p:spPr>
          <a:xfrm>
            <a:off x="7924800" y="1790700"/>
            <a:ext cx="1371600" cy="411480"/>
          </a:xfrm>
          <a:prstGeom prst="roundRect">
            <a:avLst>
              <a:gd name="adj" fmla="val 14814"/>
            </a:avLst>
          </a:prstGeom>
          <a:solidFill>
            <a:srgbClr val="E4EBF5"/>
          </a:solidFill>
          <a:ln>
            <a:noFill/>
          </a:ln>
          <a:effectLst/>
        </p:spPr>
        <p:txBody>
          <a:bodyPr rtlCol="0" anchor="ctr"/>
          <a:lstStyle/>
          <a:p>
            <a:pPr algn="ctr"/>
          </a:p>
        </p:txBody>
      </p:sp>
      <p:sp>
        <p:nvSpPr>
          <p:cNvPr id="15" name="TextBox 14"/>
          <p:cNvSpPr txBox="1"/>
          <p:nvPr/>
        </p:nvSpPr>
        <p:spPr>
          <a:xfrm>
            <a:off x="8008620" y="1912620"/>
            <a:ext cx="12268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Execution</a:t>
            </a:r>
          </a:p>
        </p:txBody>
      </p:sp>
      <p:cxnSp>
        <p:nvCxnSpPr>
          <p:cNvPr id="16" name="Connector 15"/>
          <p:cNvCxnSpPr/>
          <p:nvPr/>
        </p:nvCxnSpPr>
        <p:spPr>
          <a:xfrm>
            <a:off x="8610600" y="2301240"/>
            <a:ext cx="0" cy="3489960"/>
          </a:xfrm>
          <a:prstGeom prst="line">
            <a:avLst/>
          </a:prstGeom>
          <a:ln w="15240">
            <a:solidFill>
              <a:srgbClr val="C9D2D4"/>
            </a:solidFill>
            <a:prstDash val="dash"/>
          </a:ln>
          <a:effectLst/>
        </p:spPr>
      </p:cxnSp>
      <p:sp>
        <p:nvSpPr>
          <p:cNvPr id="17" name="Rounded Rectangle 16"/>
          <p:cNvSpPr/>
          <p:nvPr/>
        </p:nvSpPr>
        <p:spPr>
          <a:xfrm>
            <a:off x="10401300" y="1790700"/>
            <a:ext cx="1371600" cy="411480"/>
          </a:xfrm>
          <a:prstGeom prst="roundRect">
            <a:avLst>
              <a:gd name="adj" fmla="val 14814"/>
            </a:avLst>
          </a:prstGeom>
          <a:solidFill>
            <a:srgbClr val="E4EBF5"/>
          </a:solidFill>
          <a:ln>
            <a:noFill/>
          </a:ln>
          <a:effectLst/>
        </p:spPr>
        <p:txBody>
          <a:bodyPr rtlCol="0" anchor="ctr"/>
          <a:lstStyle/>
          <a:p>
            <a:pPr algn="ctr"/>
          </a:p>
        </p:txBody>
      </p:sp>
      <p:sp>
        <p:nvSpPr>
          <p:cNvPr id="18" name="TextBox 17"/>
          <p:cNvSpPr txBox="1"/>
          <p:nvPr/>
        </p:nvSpPr>
        <p:spPr>
          <a:xfrm>
            <a:off x="10485120" y="1912620"/>
            <a:ext cx="12268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Messaging</a:t>
            </a:r>
          </a:p>
        </p:txBody>
      </p:sp>
      <p:cxnSp>
        <p:nvCxnSpPr>
          <p:cNvPr id="19" name="Connector 18"/>
          <p:cNvCxnSpPr/>
          <p:nvPr/>
        </p:nvCxnSpPr>
        <p:spPr>
          <a:xfrm>
            <a:off x="11087100" y="2301240"/>
            <a:ext cx="0" cy="3489960"/>
          </a:xfrm>
          <a:prstGeom prst="line">
            <a:avLst/>
          </a:prstGeom>
          <a:ln w="15240">
            <a:solidFill>
              <a:srgbClr val="C9D2D4"/>
            </a:solidFill>
            <a:prstDash val="dash"/>
          </a:ln>
          <a:effectLst/>
        </p:spPr>
      </p:cxnSp>
      <p:sp>
        <p:nvSpPr>
          <p:cNvPr id="20" name="Rectangle 19"/>
          <p:cNvSpPr/>
          <p:nvPr/>
        </p:nvSpPr>
        <p:spPr>
          <a:xfrm>
            <a:off x="1211580" y="2301240"/>
            <a:ext cx="1774686" cy="198120"/>
          </a:xfrm>
          <a:prstGeom prst="rect">
            <a:avLst/>
          </a:prstGeom>
          <a:solidFill>
            <a:srgbClr val="F4F2EB"/>
          </a:solidFill>
          <a:ln>
            <a:noFill/>
          </a:ln>
          <a:effectLst/>
        </p:spPr>
        <p:txBody>
          <a:bodyPr rtlCol="0" anchor="ctr"/>
          <a:lstStyle/>
          <a:p>
            <a:pPr algn="ctr"/>
          </a:p>
        </p:txBody>
      </p:sp>
      <p:sp>
        <p:nvSpPr>
          <p:cNvPr id="21" name="TextBox 20"/>
          <p:cNvSpPr txBox="1"/>
          <p:nvPr/>
        </p:nvSpPr>
        <p:spPr>
          <a:xfrm>
            <a:off x="1242060" y="230124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1 Save original intent</a:t>
            </a:r>
          </a:p>
        </p:txBody>
      </p:sp>
      <p:cxnSp>
        <p:nvCxnSpPr>
          <p:cNvPr id="22" name="Connector 21"/>
          <p:cNvCxnSpPr/>
          <p:nvPr/>
        </p:nvCxnSpPr>
        <p:spPr>
          <a:xfrm>
            <a:off x="1181100" y="2514600"/>
            <a:ext cx="2476500" cy="0"/>
          </a:xfrm>
          <a:prstGeom prst="line">
            <a:avLst/>
          </a:prstGeom>
          <a:ln w="15240">
            <a:solidFill>
              <a:srgbClr val="315E9C"/>
            </a:solidFill>
          </a:ln>
          <a:effectLst/>
        </p:spPr>
      </p:cxnSp>
      <p:sp>
        <p:nvSpPr>
          <p:cNvPr id="23" name="Freeform 22"/>
          <p:cNvSpPr/>
          <p:nvPr/>
        </p:nvSpPr>
        <p:spPr>
          <a:xfrm>
            <a:off x="3558540" y="24765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4" name="Rectangle 23"/>
          <p:cNvSpPr/>
          <p:nvPr/>
        </p:nvSpPr>
        <p:spPr>
          <a:xfrm>
            <a:off x="1211580" y="2697480"/>
            <a:ext cx="3339911" cy="198120"/>
          </a:xfrm>
          <a:prstGeom prst="rect">
            <a:avLst/>
          </a:prstGeom>
          <a:solidFill>
            <a:srgbClr val="F4F2EB"/>
          </a:solidFill>
          <a:ln>
            <a:noFill/>
          </a:ln>
          <a:effectLst/>
        </p:spPr>
        <p:txBody>
          <a:bodyPr rtlCol="0" anchor="ctr"/>
          <a:lstStyle/>
          <a:p>
            <a:pPr algn="ctr"/>
          </a:p>
        </p:txBody>
      </p:sp>
      <p:sp>
        <p:nvSpPr>
          <p:cNvPr id="25" name="TextBox 24"/>
          <p:cNvSpPr txBox="1"/>
          <p:nvPr/>
        </p:nvSpPr>
        <p:spPr>
          <a:xfrm>
            <a:off x="1242060" y="269748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2 create → real DeTTa persistence receipt</a:t>
            </a:r>
          </a:p>
        </p:txBody>
      </p:sp>
      <p:cxnSp>
        <p:nvCxnSpPr>
          <p:cNvPr id="26" name="Connector 25"/>
          <p:cNvCxnSpPr/>
          <p:nvPr/>
        </p:nvCxnSpPr>
        <p:spPr>
          <a:xfrm>
            <a:off x="1181100" y="2910840"/>
            <a:ext cx="4953000" cy="0"/>
          </a:xfrm>
          <a:prstGeom prst="line">
            <a:avLst/>
          </a:prstGeom>
          <a:ln w="15240">
            <a:solidFill>
              <a:srgbClr val="007C78"/>
            </a:solidFill>
          </a:ln>
          <a:effectLst/>
        </p:spPr>
      </p:cxnSp>
      <p:sp>
        <p:nvSpPr>
          <p:cNvPr id="27" name="Freeform 26"/>
          <p:cNvSpPr/>
          <p:nvPr/>
        </p:nvSpPr>
        <p:spPr>
          <a:xfrm>
            <a:off x="6035040" y="2872740"/>
            <a:ext cx="99060" cy="76200"/>
          </a:xfrm>
          <a:custGeom>
            <a:avLst/>
            <a:gdLst/>
            <a:ahLst/>
            <a:cxnLst/>
            <a:rect l="l" t="t" r="r" b="b"/>
            <a:pathLst>
              <a:path w="13" h="10">
                <a:moveTo>
                  <a:pt x="13" y="5"/>
                </a:moveTo>
                <a:lnTo>
                  <a:pt x="0" y="0"/>
                </a:lnTo>
                <a:lnTo>
                  <a:pt x="0" y="10"/>
                </a:lnTo>
                <a:close/>
              </a:path>
            </a:pathLst>
          </a:custGeom>
          <a:solidFill>
            <a:srgbClr val="007C78"/>
          </a:solidFill>
          <a:ln>
            <a:noFill/>
          </a:ln>
          <a:effectLst/>
        </p:spPr>
        <p:txBody>
          <a:bodyPr rtlCol="0" anchor="ctr"/>
          <a:lstStyle/>
          <a:p>
            <a:pPr algn="ctr"/>
          </a:p>
        </p:txBody>
      </p:sp>
      <p:sp>
        <p:nvSpPr>
          <p:cNvPr id="28" name="Rectangle 27"/>
          <p:cNvSpPr/>
          <p:nvPr/>
        </p:nvSpPr>
        <p:spPr>
          <a:xfrm>
            <a:off x="1211580" y="3093720"/>
            <a:ext cx="3220997" cy="198120"/>
          </a:xfrm>
          <a:prstGeom prst="rect">
            <a:avLst/>
          </a:prstGeom>
          <a:solidFill>
            <a:srgbClr val="F4F2EB"/>
          </a:solidFill>
          <a:ln>
            <a:noFill/>
          </a:ln>
          <a:effectLst/>
        </p:spPr>
        <p:txBody>
          <a:bodyPr rtlCol="0" anchor="ctr"/>
          <a:lstStyle/>
          <a:p>
            <a:pPr algn="ctr"/>
          </a:p>
        </p:txBody>
      </p:sp>
      <p:sp>
        <p:nvSpPr>
          <p:cNvPr id="29" name="TextBox 28"/>
          <p:cNvSpPr txBox="1"/>
          <p:nvPr/>
        </p:nvSpPr>
        <p:spPr>
          <a:xfrm>
            <a:off x="1242060" y="309372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3 send reference to fixture counterparty</a:t>
            </a:r>
          </a:p>
        </p:txBody>
      </p:sp>
      <p:cxnSp>
        <p:nvCxnSpPr>
          <p:cNvPr id="30" name="Connector 29"/>
          <p:cNvCxnSpPr/>
          <p:nvPr/>
        </p:nvCxnSpPr>
        <p:spPr>
          <a:xfrm>
            <a:off x="1181100" y="3307079"/>
            <a:ext cx="9906000" cy="0"/>
          </a:xfrm>
          <a:prstGeom prst="line">
            <a:avLst/>
          </a:prstGeom>
          <a:ln w="15240">
            <a:solidFill>
              <a:srgbClr val="315E9C"/>
            </a:solidFill>
          </a:ln>
          <a:effectLst/>
        </p:spPr>
      </p:cxnSp>
      <p:sp>
        <p:nvSpPr>
          <p:cNvPr id="31" name="Freeform 30"/>
          <p:cNvSpPr/>
          <p:nvPr/>
        </p:nvSpPr>
        <p:spPr>
          <a:xfrm>
            <a:off x="10988040" y="326898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2" name="Rectangle 31"/>
          <p:cNvSpPr/>
          <p:nvPr/>
        </p:nvSpPr>
        <p:spPr>
          <a:xfrm>
            <a:off x="1211580" y="3489960"/>
            <a:ext cx="3895189" cy="198120"/>
          </a:xfrm>
          <a:prstGeom prst="rect">
            <a:avLst/>
          </a:prstGeom>
          <a:solidFill>
            <a:srgbClr val="F4F2EB"/>
          </a:solidFill>
          <a:ln>
            <a:noFill/>
          </a:ln>
          <a:effectLst/>
        </p:spPr>
        <p:txBody>
          <a:bodyPr rtlCol="0" anchor="ctr"/>
          <a:lstStyle/>
          <a:p>
            <a:pPr algn="ctr"/>
          </a:p>
        </p:txBody>
      </p:sp>
      <p:sp>
        <p:nvSpPr>
          <p:cNvPr id="33" name="TextBox 32"/>
          <p:cNvSpPr txBox="1"/>
          <p:nvPr/>
        </p:nvSpPr>
        <p:spPr>
          <a:xfrm>
            <a:off x="1242060" y="348996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4 submit inspect_atom → durable job acceptance</a:t>
            </a:r>
          </a:p>
        </p:txBody>
      </p:sp>
      <p:cxnSp>
        <p:nvCxnSpPr>
          <p:cNvPr id="34" name="Connector 33"/>
          <p:cNvCxnSpPr/>
          <p:nvPr/>
        </p:nvCxnSpPr>
        <p:spPr>
          <a:xfrm>
            <a:off x="1181100" y="3703319"/>
            <a:ext cx="7429500" cy="0"/>
          </a:xfrm>
          <a:prstGeom prst="line">
            <a:avLst/>
          </a:prstGeom>
          <a:ln w="15240">
            <a:solidFill>
              <a:srgbClr val="315E9C"/>
            </a:solidFill>
          </a:ln>
          <a:effectLst/>
        </p:spPr>
      </p:cxnSp>
      <p:sp>
        <p:nvSpPr>
          <p:cNvPr id="35" name="Freeform 34"/>
          <p:cNvSpPr/>
          <p:nvPr/>
        </p:nvSpPr>
        <p:spPr>
          <a:xfrm>
            <a:off x="8511540" y="36652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6" name="Rectangle 35"/>
          <p:cNvSpPr/>
          <p:nvPr/>
        </p:nvSpPr>
        <p:spPr>
          <a:xfrm>
            <a:off x="1211580" y="3886200"/>
            <a:ext cx="2233597" cy="198120"/>
          </a:xfrm>
          <a:prstGeom prst="rect">
            <a:avLst/>
          </a:prstGeom>
          <a:solidFill>
            <a:srgbClr val="F4F2EB"/>
          </a:solidFill>
          <a:ln>
            <a:noFill/>
          </a:ln>
          <a:effectLst/>
        </p:spPr>
        <p:txBody>
          <a:bodyPr rtlCol="0" anchor="ctr"/>
          <a:lstStyle/>
          <a:p>
            <a:pPr algn="ctr"/>
          </a:p>
        </p:txBody>
      </p:sp>
      <p:sp>
        <p:nvSpPr>
          <p:cNvPr id="37" name="TextBox 36"/>
          <p:cNvSpPr txBox="1"/>
          <p:nvPr/>
        </p:nvSpPr>
        <p:spPr>
          <a:xfrm>
            <a:off x="1242060" y="388620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5 Save pending job context</a:t>
            </a:r>
          </a:p>
        </p:txBody>
      </p:sp>
      <p:cxnSp>
        <p:nvCxnSpPr>
          <p:cNvPr id="38" name="Connector 37"/>
          <p:cNvCxnSpPr/>
          <p:nvPr/>
        </p:nvCxnSpPr>
        <p:spPr>
          <a:xfrm>
            <a:off x="1181100" y="4099560"/>
            <a:ext cx="2476500" cy="0"/>
          </a:xfrm>
          <a:prstGeom prst="line">
            <a:avLst/>
          </a:prstGeom>
          <a:ln w="15240">
            <a:solidFill>
              <a:srgbClr val="315E9C"/>
            </a:solidFill>
          </a:ln>
          <a:effectLst/>
        </p:spPr>
      </p:cxnSp>
      <p:sp>
        <p:nvSpPr>
          <p:cNvPr id="39" name="Freeform 38"/>
          <p:cNvSpPr/>
          <p:nvPr/>
        </p:nvSpPr>
        <p:spPr>
          <a:xfrm>
            <a:off x="3558540" y="40614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0" name="Rectangle 39"/>
          <p:cNvSpPr/>
          <p:nvPr/>
        </p:nvSpPr>
        <p:spPr>
          <a:xfrm>
            <a:off x="3916679" y="4282440"/>
            <a:ext cx="3432854" cy="198120"/>
          </a:xfrm>
          <a:prstGeom prst="rect">
            <a:avLst/>
          </a:prstGeom>
          <a:solidFill>
            <a:srgbClr val="F4F2EB"/>
          </a:solidFill>
          <a:ln>
            <a:noFill/>
          </a:ln>
          <a:effectLst/>
        </p:spPr>
        <p:txBody>
          <a:bodyPr rtlCol="0" anchor="ctr"/>
          <a:lstStyle/>
          <a:p>
            <a:pPr algn="ctr"/>
          </a:p>
        </p:txBody>
      </p:sp>
      <p:sp>
        <p:nvSpPr>
          <p:cNvPr id="41" name="TextBox 40"/>
          <p:cNvSpPr txBox="1"/>
          <p:nvPr/>
        </p:nvSpPr>
        <p:spPr>
          <a:xfrm>
            <a:off x="3947160" y="4282440"/>
            <a:ext cx="76200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6 Worker reads input; result atom commits</a:t>
            </a:r>
          </a:p>
        </p:txBody>
      </p:sp>
      <p:cxnSp>
        <p:nvCxnSpPr>
          <p:cNvPr id="42" name="Connector 41"/>
          <p:cNvCxnSpPr/>
          <p:nvPr/>
        </p:nvCxnSpPr>
        <p:spPr>
          <a:xfrm flipH="1">
            <a:off x="6134100" y="4495800"/>
            <a:ext cx="2476500" cy="0"/>
          </a:xfrm>
          <a:prstGeom prst="line">
            <a:avLst/>
          </a:prstGeom>
          <a:ln w="15240">
            <a:solidFill>
              <a:srgbClr val="007C78"/>
            </a:solidFill>
          </a:ln>
          <a:effectLst/>
        </p:spPr>
      </p:cxnSp>
      <p:sp>
        <p:nvSpPr>
          <p:cNvPr id="43" name="Freeform 42"/>
          <p:cNvSpPr/>
          <p:nvPr/>
        </p:nvSpPr>
        <p:spPr>
          <a:xfrm>
            <a:off x="6134100" y="4457700"/>
            <a:ext cx="99060" cy="76200"/>
          </a:xfrm>
          <a:custGeom>
            <a:avLst/>
            <a:gdLst/>
            <a:ahLst/>
            <a:cxnLst/>
            <a:rect l="l" t="t" r="r" b="b"/>
            <a:pathLst>
              <a:path w="13" h="10">
                <a:moveTo>
                  <a:pt x="0" y="5"/>
                </a:moveTo>
                <a:lnTo>
                  <a:pt x="13" y="10"/>
                </a:lnTo>
                <a:lnTo>
                  <a:pt x="13" y="0"/>
                </a:lnTo>
                <a:close/>
              </a:path>
            </a:pathLst>
          </a:custGeom>
          <a:solidFill>
            <a:srgbClr val="007C78"/>
          </a:solidFill>
          <a:ln>
            <a:noFill/>
          </a:ln>
          <a:effectLst/>
        </p:spPr>
        <p:txBody>
          <a:bodyPr rtlCol="0" anchor="ctr"/>
          <a:lstStyle/>
          <a:p>
            <a:pPr algn="ctr"/>
          </a:p>
        </p:txBody>
      </p:sp>
      <p:sp>
        <p:nvSpPr>
          <p:cNvPr id="44" name="Rectangle 43"/>
          <p:cNvSpPr/>
          <p:nvPr/>
        </p:nvSpPr>
        <p:spPr>
          <a:xfrm>
            <a:off x="3916679" y="4678680"/>
            <a:ext cx="4536117" cy="198120"/>
          </a:xfrm>
          <a:prstGeom prst="rect">
            <a:avLst/>
          </a:prstGeom>
          <a:solidFill>
            <a:srgbClr val="F4F2EB"/>
          </a:solidFill>
          <a:ln>
            <a:noFill/>
          </a:ln>
          <a:effectLst/>
        </p:spPr>
        <p:txBody>
          <a:bodyPr rtlCol="0" anchor="ctr"/>
          <a:lstStyle/>
          <a:p>
            <a:pPr algn="ctr"/>
          </a:p>
        </p:txBody>
      </p:sp>
      <p:sp>
        <p:nvSpPr>
          <p:cNvPr id="45" name="TextBox 44"/>
          <p:cNvSpPr txBox="1"/>
          <p:nvPr/>
        </p:nvSpPr>
        <p:spPr>
          <a:xfrm>
            <a:off x="3947160" y="4678680"/>
            <a:ext cx="76200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7 Terminal + outbox commit; mailbox accepts separately</a:t>
            </a:r>
          </a:p>
        </p:txBody>
      </p:sp>
      <p:cxnSp>
        <p:nvCxnSpPr>
          <p:cNvPr id="46" name="Connector 45"/>
          <p:cNvCxnSpPr/>
          <p:nvPr/>
        </p:nvCxnSpPr>
        <p:spPr>
          <a:xfrm>
            <a:off x="8610600" y="4892040"/>
            <a:ext cx="2476500" cy="0"/>
          </a:xfrm>
          <a:prstGeom prst="line">
            <a:avLst/>
          </a:prstGeom>
          <a:ln w="15240">
            <a:solidFill>
              <a:srgbClr val="315E9C"/>
            </a:solidFill>
          </a:ln>
          <a:effectLst/>
        </p:spPr>
      </p:cxnSp>
      <p:sp>
        <p:nvSpPr>
          <p:cNvPr id="47" name="Freeform 46"/>
          <p:cNvSpPr/>
          <p:nvPr/>
        </p:nvSpPr>
        <p:spPr>
          <a:xfrm>
            <a:off x="10988040" y="485394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8" name="Rectangle 47"/>
          <p:cNvSpPr/>
          <p:nvPr/>
        </p:nvSpPr>
        <p:spPr>
          <a:xfrm>
            <a:off x="1211580" y="5295900"/>
            <a:ext cx="4108162" cy="198120"/>
          </a:xfrm>
          <a:prstGeom prst="rect">
            <a:avLst/>
          </a:prstGeom>
          <a:solidFill>
            <a:srgbClr val="F4F2EB"/>
          </a:solidFill>
          <a:ln>
            <a:noFill/>
          </a:ln>
          <a:effectLst/>
        </p:spPr>
        <p:txBody>
          <a:bodyPr rtlCol="0" anchor="ctr"/>
          <a:lstStyle/>
          <a:p>
            <a:pPr algn="ctr"/>
          </a:p>
        </p:txBody>
      </p:sp>
      <p:sp>
        <p:nvSpPr>
          <p:cNvPr id="49" name="TextBox 48"/>
          <p:cNvSpPr txBox="1"/>
          <p:nvPr/>
        </p:nvSpPr>
        <p:spPr>
          <a:xfrm>
            <a:off x="1242060" y="5295900"/>
            <a:ext cx="103251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0">
                <a:solidFill>
                  <a:srgbClr val="102B3F"/>
                </a:solidFill>
                <a:latin typeface="DejaVu Sans"/>
              </a:rPr>
              <a:t>8 Recover status → poll → get result → accept → ack</a:t>
            </a:r>
          </a:p>
        </p:txBody>
      </p:sp>
      <p:cxnSp>
        <p:nvCxnSpPr>
          <p:cNvPr id="50" name="Connector 49"/>
          <p:cNvCxnSpPr/>
          <p:nvPr/>
        </p:nvCxnSpPr>
        <p:spPr>
          <a:xfrm>
            <a:off x="1181100" y="5509260"/>
            <a:ext cx="9906000" cy="0"/>
          </a:xfrm>
          <a:prstGeom prst="line">
            <a:avLst/>
          </a:prstGeom>
          <a:ln w="15240">
            <a:solidFill>
              <a:srgbClr val="315E9C"/>
            </a:solidFill>
          </a:ln>
          <a:effectLst/>
        </p:spPr>
      </p:cxnSp>
      <p:sp>
        <p:nvSpPr>
          <p:cNvPr id="51" name="Freeform 50"/>
          <p:cNvSpPr/>
          <p:nvPr/>
        </p:nvSpPr>
        <p:spPr>
          <a:xfrm>
            <a:off x="10988040" y="54711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cxnSp>
        <p:nvCxnSpPr>
          <p:cNvPr id="52" name="Connector 51"/>
          <p:cNvCxnSpPr/>
          <p:nvPr/>
        </p:nvCxnSpPr>
        <p:spPr>
          <a:xfrm>
            <a:off x="548640" y="6393180"/>
            <a:ext cx="11094720" cy="0"/>
          </a:xfrm>
          <a:prstGeom prst="line">
            <a:avLst/>
          </a:prstGeom>
          <a:ln w="7620">
            <a:solidFill>
              <a:srgbClr val="C9D2D4"/>
            </a:solidFill>
          </a:ln>
          <a:effectLst/>
        </p:spPr>
      </p:cxnSp>
      <p:sp>
        <p:nvSpPr>
          <p:cNvPr id="53" name="TextBox 5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program.py · execution.py · messaging.py</a:t>
            </a:r>
          </a:p>
        </p:txBody>
      </p:sp>
      <p:sp>
        <p:nvSpPr>
          <p:cNvPr id="54" name="TextBox 5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35 / 38</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F / HISTORICAL CHAIN EVIDENCE</a:t>
            </a:r>
          </a:p>
        </p:txBody>
      </p:sp>
      <p:sp>
        <p:nvSpPr>
          <p:cNvPr id="3" name="TextBox 2"/>
          <p:cNvSpPr txBox="1"/>
          <p:nvPr/>
        </p:nvSpPr>
        <p:spPr>
          <a:xfrm>
            <a:off x="533400" y="723900"/>
            <a:ext cx="11125200" cy="487680"/>
          </a:xfrm>
          <a:prstGeom prst="rect">
            <a:avLst/>
          </a:prstGeom>
          <a:noFill/>
        </p:spPr>
        <p:txBody>
          <a:bodyPr wrap="none" lIns="0" rIns="0" tIns="0" bIns="0" anchor="t" anchorCtr="0">
            <a:noAutofit/>
          </a:bodyPr>
          <a:lstStyle/>
          <a:p>
            <a:pPr algn="l">
              <a:lnSpc>
                <a:spcPct val="100000"/>
              </a:lnSpc>
              <a:spcBef>
                <a:spcPts val="0"/>
              </a:spcBef>
              <a:spcAft>
                <a:spcPts val="0"/>
              </a:spcAft>
            </a:pPr>
            <a:r>
              <a:rPr sz="3000" b="1">
                <a:solidFill>
                  <a:srgbClr val="102B3F"/>
                </a:solidFill>
                <a:latin typeface="DejaVu Sans"/>
              </a:rPr>
              <a:t>Historical M1: one result reached an isolated chain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This is the earlier protocol-peer artifact. No M1.2 or M2 Hive result was submitted.</a:t>
            </a:r>
          </a:p>
        </p:txBody>
      </p:sp>
      <p:sp>
        <p:nvSpPr>
          <p:cNvPr id="5" name="Rounded Rectangle 4"/>
          <p:cNvSpPr/>
          <p:nvPr/>
        </p:nvSpPr>
        <p:spPr>
          <a:xfrm>
            <a:off x="548640" y="1965959"/>
            <a:ext cx="3535679" cy="1143000"/>
          </a:xfrm>
          <a:prstGeom prst="roundRect">
            <a:avLst>
              <a:gd name="adj" fmla="val 8666"/>
            </a:avLst>
          </a:prstGeom>
          <a:solidFill>
            <a:srgbClr val="F3E7CE"/>
          </a:solidFill>
          <a:ln w="7620">
            <a:solidFill>
              <a:srgbClr val="A86A15"/>
            </a:solidFill>
          </a:ln>
          <a:effectLst/>
        </p:spPr>
        <p:txBody>
          <a:bodyPr rtlCol="0" anchor="ctr"/>
          <a:lstStyle/>
          <a:p>
            <a:pPr algn="ctr"/>
          </a:p>
        </p:txBody>
      </p:sp>
      <p:sp>
        <p:nvSpPr>
          <p:cNvPr id="6" name="TextBox 5"/>
          <p:cNvSpPr txBox="1"/>
          <p:nvPr/>
        </p:nvSpPr>
        <p:spPr>
          <a:xfrm>
            <a:off x="716280" y="2133600"/>
            <a:ext cx="3200400" cy="331622"/>
          </a:xfrm>
          <a:prstGeom prst="rect">
            <a:avLst/>
          </a:prstGeom>
          <a:noFill/>
        </p:spPr>
        <p:txBody>
          <a:bodyPr wrap="none" lIns="0" rIns="0" tIns="0" bIns="0" anchor="t" anchorCtr="0">
            <a:noAutofit/>
          </a:bodyPr>
          <a:lstStyle/>
          <a:p>
            <a:pPr algn="l">
              <a:lnSpc>
                <a:spcPct val="100000"/>
              </a:lnSpc>
              <a:spcBef>
                <a:spcPts val="0"/>
              </a:spcBef>
              <a:spcAft>
                <a:spcPts val="0"/>
              </a:spcAft>
            </a:pPr>
            <a:r>
              <a:rPr sz="2039" b="1">
                <a:solidFill>
                  <a:srgbClr val="A86A15"/>
                </a:solidFill>
                <a:latin typeface="DejaVu Sans"/>
              </a:rPr>
              <a:t>PENDING</a:t>
            </a:r>
          </a:p>
        </p:txBody>
      </p:sp>
      <p:sp>
        <p:nvSpPr>
          <p:cNvPr id="7" name="TextBox 6"/>
          <p:cNvSpPr txBox="1"/>
          <p:nvPr/>
        </p:nvSpPr>
        <p:spPr>
          <a:xfrm>
            <a:off x="716280" y="2541422"/>
            <a:ext cx="32004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Signed deploy accepted</a:t>
            </a:r>
          </a:p>
        </p:txBody>
      </p:sp>
      <p:cxnSp>
        <p:nvCxnSpPr>
          <p:cNvPr id="8" name="Connector 7"/>
          <p:cNvCxnSpPr/>
          <p:nvPr/>
        </p:nvCxnSpPr>
        <p:spPr>
          <a:xfrm>
            <a:off x="4084319" y="2537460"/>
            <a:ext cx="213361" cy="0"/>
          </a:xfrm>
          <a:prstGeom prst="line">
            <a:avLst/>
          </a:prstGeom>
          <a:ln w="15240">
            <a:solidFill>
              <a:srgbClr val="536775"/>
            </a:solidFill>
          </a:ln>
          <a:effectLst/>
        </p:spPr>
      </p:cxnSp>
      <p:sp>
        <p:nvSpPr>
          <p:cNvPr id="9" name="Freeform 8"/>
          <p:cNvSpPr/>
          <p:nvPr/>
        </p:nvSpPr>
        <p:spPr>
          <a:xfrm>
            <a:off x="4198620" y="2499360"/>
            <a:ext cx="99060" cy="76200"/>
          </a:xfrm>
          <a:custGeom>
            <a:avLst/>
            <a:gdLst/>
            <a:ahLst/>
            <a:cxnLst/>
            <a:rect l="l" t="t" r="r" b="b"/>
            <a:pathLst>
              <a:path w="13" h="10">
                <a:moveTo>
                  <a:pt x="13" y="5"/>
                </a:moveTo>
                <a:lnTo>
                  <a:pt x="0" y="0"/>
                </a:lnTo>
                <a:lnTo>
                  <a:pt x="0" y="10"/>
                </a:lnTo>
                <a:close/>
              </a:path>
            </a:pathLst>
          </a:custGeom>
          <a:solidFill>
            <a:srgbClr val="536775"/>
          </a:solidFill>
          <a:ln>
            <a:noFill/>
          </a:ln>
          <a:effectLst/>
        </p:spPr>
        <p:txBody>
          <a:bodyPr rtlCol="0" anchor="ctr"/>
          <a:lstStyle/>
          <a:p>
            <a:pPr algn="ctr"/>
          </a:p>
        </p:txBody>
      </p:sp>
      <p:sp>
        <p:nvSpPr>
          <p:cNvPr id="10" name="Rounded Rectangle 9"/>
          <p:cNvSpPr/>
          <p:nvPr/>
        </p:nvSpPr>
        <p:spPr>
          <a:xfrm>
            <a:off x="4328160" y="1965959"/>
            <a:ext cx="3535679" cy="1143000"/>
          </a:xfrm>
          <a:prstGeom prst="roundRect">
            <a:avLst>
              <a:gd name="adj" fmla="val 8666"/>
            </a:avLst>
          </a:prstGeom>
          <a:solidFill>
            <a:srgbClr val="F3E7CE"/>
          </a:solidFill>
          <a:ln w="7620">
            <a:solidFill>
              <a:srgbClr val="A86A15"/>
            </a:solidFill>
          </a:ln>
          <a:effectLst/>
        </p:spPr>
        <p:txBody>
          <a:bodyPr rtlCol="0" anchor="ctr"/>
          <a:lstStyle/>
          <a:p>
            <a:pPr algn="ctr"/>
          </a:p>
        </p:txBody>
      </p:sp>
      <p:sp>
        <p:nvSpPr>
          <p:cNvPr id="11" name="TextBox 10"/>
          <p:cNvSpPr txBox="1"/>
          <p:nvPr/>
        </p:nvSpPr>
        <p:spPr>
          <a:xfrm>
            <a:off x="4495800" y="2133600"/>
            <a:ext cx="3200400" cy="331622"/>
          </a:xfrm>
          <a:prstGeom prst="rect">
            <a:avLst/>
          </a:prstGeom>
          <a:noFill/>
        </p:spPr>
        <p:txBody>
          <a:bodyPr wrap="none" lIns="0" rIns="0" tIns="0" bIns="0" anchor="t" anchorCtr="0">
            <a:noAutofit/>
          </a:bodyPr>
          <a:lstStyle/>
          <a:p>
            <a:pPr algn="l">
              <a:lnSpc>
                <a:spcPct val="100000"/>
              </a:lnSpc>
              <a:spcBef>
                <a:spcPts val="0"/>
              </a:spcBef>
              <a:spcAft>
                <a:spcPts val="0"/>
              </a:spcAft>
            </a:pPr>
            <a:r>
              <a:rPr sz="2039" b="1">
                <a:solidFill>
                  <a:srgbClr val="A86A15"/>
                </a:solidFill>
                <a:latin typeface="DejaVu Sans"/>
              </a:rPr>
              <a:t>INCLUDED</a:t>
            </a:r>
          </a:p>
        </p:txBody>
      </p:sp>
      <p:sp>
        <p:nvSpPr>
          <p:cNvPr id="12" name="TextBox 11"/>
          <p:cNvSpPr txBox="1"/>
          <p:nvPr/>
        </p:nvSpPr>
        <p:spPr>
          <a:xfrm>
            <a:off x="4495800" y="2541422"/>
            <a:ext cx="32004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Block observed; effects pending</a:t>
            </a:r>
          </a:p>
        </p:txBody>
      </p:sp>
      <p:cxnSp>
        <p:nvCxnSpPr>
          <p:cNvPr id="13" name="Connector 12"/>
          <p:cNvCxnSpPr/>
          <p:nvPr/>
        </p:nvCxnSpPr>
        <p:spPr>
          <a:xfrm>
            <a:off x="7863839" y="2537460"/>
            <a:ext cx="213361" cy="0"/>
          </a:xfrm>
          <a:prstGeom prst="line">
            <a:avLst/>
          </a:prstGeom>
          <a:ln w="15240">
            <a:solidFill>
              <a:srgbClr val="536775"/>
            </a:solidFill>
          </a:ln>
          <a:effectLst/>
        </p:spPr>
      </p:cxnSp>
      <p:sp>
        <p:nvSpPr>
          <p:cNvPr id="14" name="Freeform 13"/>
          <p:cNvSpPr/>
          <p:nvPr/>
        </p:nvSpPr>
        <p:spPr>
          <a:xfrm>
            <a:off x="7978140" y="2499360"/>
            <a:ext cx="99060" cy="76200"/>
          </a:xfrm>
          <a:custGeom>
            <a:avLst/>
            <a:gdLst/>
            <a:ahLst/>
            <a:cxnLst/>
            <a:rect l="l" t="t" r="r" b="b"/>
            <a:pathLst>
              <a:path w="13" h="10">
                <a:moveTo>
                  <a:pt x="13" y="5"/>
                </a:moveTo>
                <a:lnTo>
                  <a:pt x="0" y="0"/>
                </a:lnTo>
                <a:lnTo>
                  <a:pt x="0" y="10"/>
                </a:lnTo>
                <a:close/>
              </a:path>
            </a:pathLst>
          </a:custGeom>
          <a:solidFill>
            <a:srgbClr val="536775"/>
          </a:solidFill>
          <a:ln>
            <a:noFill/>
          </a:ln>
          <a:effectLst/>
        </p:spPr>
        <p:txBody>
          <a:bodyPr rtlCol="0" anchor="ctr"/>
          <a:lstStyle/>
          <a:p>
            <a:pPr algn="ctr"/>
          </a:p>
        </p:txBody>
      </p:sp>
      <p:sp>
        <p:nvSpPr>
          <p:cNvPr id="15" name="Rounded Rectangle 14"/>
          <p:cNvSpPr/>
          <p:nvPr/>
        </p:nvSpPr>
        <p:spPr>
          <a:xfrm>
            <a:off x="8107680" y="1965959"/>
            <a:ext cx="3535679" cy="1143000"/>
          </a:xfrm>
          <a:prstGeom prst="roundRect">
            <a:avLst>
              <a:gd name="adj" fmla="val 8666"/>
            </a:avLst>
          </a:prstGeom>
          <a:solidFill>
            <a:srgbClr val="DCEFE8"/>
          </a:solidFill>
          <a:ln w="7620">
            <a:solidFill>
              <a:srgbClr val="007C78"/>
            </a:solidFill>
          </a:ln>
          <a:effectLst/>
        </p:spPr>
        <p:txBody>
          <a:bodyPr rtlCol="0" anchor="ctr"/>
          <a:lstStyle/>
          <a:p>
            <a:pPr algn="ctr"/>
          </a:p>
        </p:txBody>
      </p:sp>
      <p:sp>
        <p:nvSpPr>
          <p:cNvPr id="16" name="TextBox 15"/>
          <p:cNvSpPr txBox="1"/>
          <p:nvPr/>
        </p:nvSpPr>
        <p:spPr>
          <a:xfrm>
            <a:off x="8275320" y="2133600"/>
            <a:ext cx="3200400" cy="331622"/>
          </a:xfrm>
          <a:prstGeom prst="rect">
            <a:avLst/>
          </a:prstGeom>
          <a:noFill/>
        </p:spPr>
        <p:txBody>
          <a:bodyPr wrap="none" lIns="0" rIns="0" tIns="0" bIns="0" anchor="t" anchorCtr="0">
            <a:noAutofit/>
          </a:bodyPr>
          <a:lstStyle/>
          <a:p>
            <a:pPr algn="l">
              <a:lnSpc>
                <a:spcPct val="100000"/>
              </a:lnSpc>
              <a:spcBef>
                <a:spcPts val="0"/>
              </a:spcBef>
              <a:spcAft>
                <a:spcPts val="0"/>
              </a:spcAft>
            </a:pPr>
            <a:r>
              <a:rPr sz="2039" b="1">
                <a:solidFill>
                  <a:srgbClr val="007C78"/>
                </a:solidFill>
                <a:latin typeface="DejaVu Sans"/>
              </a:rPr>
              <a:t>FINALIZED</a:t>
            </a:r>
          </a:p>
        </p:txBody>
      </p:sp>
      <p:sp>
        <p:nvSpPr>
          <p:cNvPr id="17" name="TextBox 16"/>
          <p:cNvSpPr txBox="1"/>
          <p:nvPr/>
        </p:nvSpPr>
        <p:spPr>
          <a:xfrm>
            <a:off x="8275320" y="2541422"/>
            <a:ext cx="32004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Deploy effects reported finalized</a:t>
            </a:r>
          </a:p>
        </p:txBody>
      </p:sp>
      <p:sp>
        <p:nvSpPr>
          <p:cNvPr id="18" name="TextBox 17"/>
          <p:cNvSpPr txBox="1"/>
          <p:nvPr/>
        </p:nvSpPr>
        <p:spPr>
          <a:xfrm>
            <a:off x="571500" y="3550919"/>
            <a:ext cx="533400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102B3F"/>
                </a:solidFill>
                <a:latin typeface="DejaVu Sans"/>
              </a:rPr>
              <a:t>M1 recorded observation</a:t>
            </a:r>
          </a:p>
        </p:txBody>
      </p:sp>
      <p:sp>
        <p:nvSpPr>
          <p:cNvPr id="19" name="TextBox 18"/>
          <p:cNvSpPr txBox="1"/>
          <p:nvPr/>
        </p:nvSpPr>
        <p:spPr>
          <a:xfrm>
            <a:off x="571500" y="3954779"/>
            <a:ext cx="24765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Block height</a:t>
            </a:r>
          </a:p>
        </p:txBody>
      </p:sp>
      <p:sp>
        <p:nvSpPr>
          <p:cNvPr id="20" name="TextBox 19"/>
          <p:cNvSpPr txBox="1"/>
          <p:nvPr/>
        </p:nvSpPr>
        <p:spPr>
          <a:xfrm>
            <a:off x="3093720" y="3954779"/>
            <a:ext cx="22098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3</a:t>
            </a:r>
          </a:p>
        </p:txBody>
      </p:sp>
      <p:sp>
        <p:nvSpPr>
          <p:cNvPr id="21" name="TextBox 20"/>
          <p:cNvSpPr txBox="1"/>
          <p:nvPr/>
        </p:nvSpPr>
        <p:spPr>
          <a:xfrm>
            <a:off x="571500" y="4305300"/>
            <a:ext cx="24765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 error</a:t>
            </a:r>
          </a:p>
        </p:txBody>
      </p:sp>
      <p:sp>
        <p:nvSpPr>
          <p:cNvPr id="22" name="TextBox 21"/>
          <p:cNvSpPr txBox="1"/>
          <p:nvPr/>
        </p:nvSpPr>
        <p:spPr>
          <a:xfrm>
            <a:off x="3093720" y="4305300"/>
            <a:ext cx="22098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false</a:t>
            </a:r>
          </a:p>
        </p:txBody>
      </p:sp>
      <p:sp>
        <p:nvSpPr>
          <p:cNvPr id="23" name="TextBox 22"/>
          <p:cNvSpPr txBox="1"/>
          <p:nvPr/>
        </p:nvSpPr>
        <p:spPr>
          <a:xfrm>
            <a:off x="571500" y="4655820"/>
            <a:ext cx="24765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Rejection count</a:t>
            </a:r>
          </a:p>
        </p:txBody>
      </p:sp>
      <p:sp>
        <p:nvSpPr>
          <p:cNvPr id="24" name="TextBox 23"/>
          <p:cNvSpPr txBox="1"/>
          <p:nvPr/>
        </p:nvSpPr>
        <p:spPr>
          <a:xfrm>
            <a:off x="3093720" y="4655820"/>
            <a:ext cx="22098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0</a:t>
            </a:r>
          </a:p>
        </p:txBody>
      </p:sp>
      <p:sp>
        <p:nvSpPr>
          <p:cNvPr id="25" name="TextBox 24"/>
          <p:cNvSpPr txBox="1"/>
          <p:nvPr/>
        </p:nvSpPr>
        <p:spPr>
          <a:xfrm>
            <a:off x="571500" y="5006340"/>
            <a:ext cx="24765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Execution cost</a:t>
            </a:r>
          </a:p>
        </p:txBody>
      </p:sp>
      <p:sp>
        <p:nvSpPr>
          <p:cNvPr id="26" name="TextBox 25"/>
          <p:cNvSpPr txBox="1"/>
          <p:nvPr/>
        </p:nvSpPr>
        <p:spPr>
          <a:xfrm>
            <a:off x="3093720" y="5006340"/>
            <a:ext cx="22098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351 phlo</a:t>
            </a:r>
          </a:p>
        </p:txBody>
      </p:sp>
      <p:sp>
        <p:nvSpPr>
          <p:cNvPr id="27" name="Rounded Rectangle 26"/>
          <p:cNvSpPr/>
          <p:nvPr/>
        </p:nvSpPr>
        <p:spPr>
          <a:xfrm>
            <a:off x="5981700" y="3444240"/>
            <a:ext cx="5661660" cy="1943100"/>
          </a:xfrm>
          <a:prstGeom prst="roundRect">
            <a:avLst>
              <a:gd name="adj" fmla="val 5098"/>
            </a:avLst>
          </a:prstGeom>
          <a:solidFill>
            <a:srgbClr val="FFFFFF"/>
          </a:solidFill>
          <a:ln>
            <a:noFill/>
          </a:ln>
          <a:effectLst/>
        </p:spPr>
        <p:txBody>
          <a:bodyPr rtlCol="0" anchor="ctr"/>
          <a:lstStyle/>
          <a:p>
            <a:pPr algn="ctr"/>
          </a:p>
        </p:txBody>
      </p:sp>
      <p:sp>
        <p:nvSpPr>
          <p:cNvPr id="28" name="TextBox 27"/>
          <p:cNvSpPr txBox="1"/>
          <p:nvPr/>
        </p:nvSpPr>
        <p:spPr>
          <a:xfrm>
            <a:off x="6179820" y="3634740"/>
            <a:ext cx="5181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102B3F"/>
                </a:solidFill>
                <a:latin typeface="DejaVu Sans"/>
              </a:rPr>
              <a:t>Historical commitment digest</a:t>
            </a:r>
          </a:p>
        </p:txBody>
      </p:sp>
      <p:sp>
        <p:nvSpPr>
          <p:cNvPr id="29" name="TextBox 28"/>
          <p:cNvSpPr txBox="1"/>
          <p:nvPr/>
        </p:nvSpPr>
        <p:spPr>
          <a:xfrm>
            <a:off x="6179820" y="4046219"/>
            <a:ext cx="51816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007C78"/>
                </a:solidFill>
                <a:latin typeface="DejaVu Sans Mono"/>
              </a:rPr>
              <a:t>f9236451ff785dc58315251cf864a3d1</a:t>
            </a:r>
          </a:p>
        </p:txBody>
      </p:sp>
      <p:sp>
        <p:nvSpPr>
          <p:cNvPr id="30" name="TextBox 29"/>
          <p:cNvSpPr txBox="1"/>
          <p:nvPr/>
        </p:nvSpPr>
        <p:spPr>
          <a:xfrm>
            <a:off x="6179820" y="4280306"/>
            <a:ext cx="51816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007C78"/>
                </a:solidFill>
                <a:latin typeface="DejaVu Sans Mono"/>
              </a:rPr>
              <a:t>0938412551cf45f448055061bc953ea1</a:t>
            </a:r>
          </a:p>
        </p:txBody>
      </p:sp>
      <p:sp>
        <p:nvSpPr>
          <p:cNvPr id="31" name="TextBox 30"/>
          <p:cNvSpPr txBox="1"/>
          <p:nvPr/>
        </p:nvSpPr>
        <p:spPr>
          <a:xfrm>
            <a:off x="6179820" y="4762500"/>
            <a:ext cx="51816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One local validator; direct node observations.</a:t>
            </a:r>
          </a:p>
        </p:txBody>
      </p:sp>
      <p:sp>
        <p:nvSpPr>
          <p:cNvPr id="32" name="TextBox 31"/>
          <p:cNvSpPr txBox="1"/>
          <p:nvPr/>
        </p:nvSpPr>
        <p:spPr>
          <a:xfrm>
            <a:off x="6179820" y="4996586"/>
            <a:ext cx="51816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Not a consensus proof or production test.</a:t>
            </a:r>
          </a:p>
        </p:txBody>
      </p:sp>
      <p:sp>
        <p:nvSpPr>
          <p:cNvPr id="33" name="Rounded Rectangle 32"/>
          <p:cNvSpPr/>
          <p:nvPr/>
        </p:nvSpPr>
        <p:spPr>
          <a:xfrm>
            <a:off x="548640" y="5829300"/>
            <a:ext cx="11094720" cy="403859"/>
          </a:xfrm>
          <a:prstGeom prst="roundRect">
            <a:avLst>
              <a:gd name="adj" fmla="val 15094"/>
            </a:avLst>
          </a:prstGeom>
          <a:solidFill>
            <a:srgbClr val="F3E7CE"/>
          </a:solidFill>
          <a:ln>
            <a:noFill/>
          </a:ln>
          <a:effectLst/>
        </p:spPr>
        <p:txBody>
          <a:bodyPr rtlCol="0" anchor="ctr"/>
          <a:lstStyle/>
          <a:p>
            <a:pPr algn="ctr"/>
          </a:p>
        </p:txBody>
      </p:sp>
      <p:sp>
        <p:nvSpPr>
          <p:cNvPr id="34" name="TextBox 33"/>
          <p:cNvSpPr txBox="1"/>
          <p:nvPr/>
        </p:nvSpPr>
        <p:spPr>
          <a:xfrm>
            <a:off x="716280" y="5905500"/>
            <a:ext cx="1074420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1">
                <a:solidFill>
                  <a:srgbClr val="A86A15"/>
                </a:solidFill>
                <a:latin typeface="DejaVu Sans"/>
              </a:rPr>
              <a:t>M2 CHAIN = NOT_RUN. Historical source reproduction requires exact F1R3 changes or a separate rebaseline.</a:t>
            </a:r>
          </a:p>
        </p:txBody>
      </p:sp>
      <p:cxnSp>
        <p:nvCxnSpPr>
          <p:cNvPr id="35" name="Connector 34"/>
          <p:cNvCxnSpPr/>
          <p:nvPr/>
        </p:nvCxnSpPr>
        <p:spPr>
          <a:xfrm>
            <a:off x="548640" y="6393180"/>
            <a:ext cx="11094720" cy="0"/>
          </a:xfrm>
          <a:prstGeom prst="line">
            <a:avLst/>
          </a:prstGeom>
          <a:ln w="7620">
            <a:solidFill>
              <a:srgbClr val="C9D2D4"/>
            </a:solidFill>
          </a:ln>
          <a:effectLst/>
        </p:spPr>
      </p:cxnSp>
      <p:sp>
        <p:nvSpPr>
          <p:cNvPr id="36" name="TextBox 3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evidence/chain-demo.json · M1 historical</a:t>
            </a:r>
          </a:p>
        </p:txBody>
      </p:sp>
      <p:sp>
        <p:nvSpPr>
          <p:cNvPr id="37" name="TextBox 3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36 / 38</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G / COMMANDS AND PREREQUISITES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Reproduce the supported M2 gates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Run from the evidence revision or a reviewed descendant. See the runbook for Linux and source access.</a:t>
            </a:r>
          </a:p>
        </p:txBody>
      </p:sp>
      <p:sp>
        <p:nvSpPr>
          <p:cNvPr id="5" name="Rounded Rectangle 4"/>
          <p:cNvSpPr/>
          <p:nvPr/>
        </p:nvSpPr>
        <p:spPr>
          <a:xfrm>
            <a:off x="548640" y="1866900"/>
            <a:ext cx="11094720" cy="1424940"/>
          </a:xfrm>
          <a:prstGeom prst="roundRect">
            <a:avLst>
              <a:gd name="adj" fmla="val 6417"/>
            </a:avLst>
          </a:prstGeom>
          <a:solidFill>
            <a:srgbClr val="0B2233"/>
          </a:solidFill>
          <a:ln>
            <a:noFill/>
          </a:ln>
          <a:effectLst/>
        </p:spPr>
        <p:txBody>
          <a:bodyPr rtlCol="0" anchor="ctr"/>
          <a:lstStyle/>
          <a:p>
            <a:pPr algn="ctr"/>
          </a:p>
        </p:txBody>
      </p:sp>
      <p:sp>
        <p:nvSpPr>
          <p:cNvPr id="6" name="TextBox 5"/>
          <p:cNvSpPr txBox="1"/>
          <p:nvPr/>
        </p:nvSpPr>
        <p:spPr>
          <a:xfrm>
            <a:off x="762000" y="2034539"/>
            <a:ext cx="10515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77DDC4"/>
                </a:solidFill>
                <a:latin typeface="DejaVu Sans"/>
              </a:rPr>
              <a:t>BUILD FRESH PINNED PROVIDERS</a:t>
            </a:r>
          </a:p>
        </p:txBody>
      </p:sp>
      <p:sp>
        <p:nvSpPr>
          <p:cNvPr id="7" name="TextBox 6"/>
          <p:cNvSpPr txBox="1"/>
          <p:nvPr/>
        </p:nvSpPr>
        <p:spPr>
          <a:xfrm>
            <a:off x="762000" y="2392680"/>
            <a:ext cx="10515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FFFFFF"/>
                </a:solidFill>
                <a:latin typeface="DejaVu Sans Mono"/>
              </a:rPr>
              <a:t>uv run --python 3.11 --locked python \</a:t>
            </a:r>
          </a:p>
        </p:txBody>
      </p:sp>
      <p:sp>
        <p:nvSpPr>
          <p:cNvPr id="8" name="TextBox 7"/>
          <p:cNvSpPr txBox="1"/>
          <p:nvPr/>
        </p:nvSpPr>
        <p:spPr>
          <a:xfrm>
            <a:off x="762000" y="2758440"/>
            <a:ext cx="10515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FFFFFF"/>
                </a:solidFill>
                <a:latin typeface="DejaVu Sans Mono"/>
              </a:rPr>
              <a:t>scripts/build_m2.py artifacts/m2-providers</a:t>
            </a:r>
          </a:p>
        </p:txBody>
      </p:sp>
      <p:sp>
        <p:nvSpPr>
          <p:cNvPr id="9" name="Rounded Rectangle 8"/>
          <p:cNvSpPr/>
          <p:nvPr/>
        </p:nvSpPr>
        <p:spPr>
          <a:xfrm>
            <a:off x="548640" y="3543300"/>
            <a:ext cx="11094720" cy="1424940"/>
          </a:xfrm>
          <a:prstGeom prst="roundRect">
            <a:avLst>
              <a:gd name="adj" fmla="val 6417"/>
            </a:avLst>
          </a:prstGeom>
          <a:solidFill>
            <a:srgbClr val="0B2233"/>
          </a:solidFill>
          <a:ln>
            <a:noFill/>
          </a:ln>
          <a:effectLst/>
        </p:spPr>
        <p:txBody>
          <a:bodyPr rtlCol="0" anchor="ctr"/>
          <a:lstStyle/>
          <a:p>
            <a:pPr algn="ctr"/>
          </a:p>
        </p:txBody>
      </p:sp>
      <p:sp>
        <p:nvSpPr>
          <p:cNvPr id="10" name="TextBox 9"/>
          <p:cNvSpPr txBox="1"/>
          <p:nvPr/>
        </p:nvSpPr>
        <p:spPr>
          <a:xfrm>
            <a:off x="762000" y="3710940"/>
            <a:ext cx="10515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77DDC4"/>
                </a:solidFill>
                <a:latin typeface="DejaVu Sans"/>
              </a:rPr>
              <a:t>VERIFY BASELINE, C1, C2, PRIVACY, RECOVERY AND REAL HIVE</a:t>
            </a:r>
          </a:p>
        </p:txBody>
      </p:sp>
      <p:sp>
        <p:nvSpPr>
          <p:cNvPr id="11" name="TextBox 10"/>
          <p:cNvSpPr txBox="1"/>
          <p:nvPr/>
        </p:nvSpPr>
        <p:spPr>
          <a:xfrm>
            <a:off x="762000" y="4069079"/>
            <a:ext cx="10515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FFFFFF"/>
                </a:solidFill>
                <a:latin typeface="DejaVu Sans Mono"/>
              </a:rPr>
              <a:t>uv run --python 3.11 --locked python \</a:t>
            </a:r>
          </a:p>
        </p:txBody>
      </p:sp>
      <p:sp>
        <p:nvSpPr>
          <p:cNvPr id="12" name="TextBox 11"/>
          <p:cNvSpPr txBox="1"/>
          <p:nvPr/>
        </p:nvSpPr>
        <p:spPr>
          <a:xfrm>
            <a:off x="762000" y="4434840"/>
            <a:ext cx="10515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FFFFFF"/>
                </a:solidFill>
                <a:latin typeface="DejaVu Sans Mono"/>
              </a:rPr>
              <a:t>scripts/verify_m2.py artifacts/m2-providers/environment.json</a:t>
            </a:r>
          </a:p>
        </p:txBody>
      </p:sp>
      <p:sp>
        <p:nvSpPr>
          <p:cNvPr id="13" name="TextBox 12"/>
          <p:cNvSpPr txBox="1"/>
          <p:nvPr/>
        </p:nvSpPr>
        <p:spPr>
          <a:xfrm>
            <a:off x="594360" y="5311140"/>
            <a:ext cx="1089660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Read: manifest.json → final/verification.json → per-suite logs → final/demo.json</a:t>
            </a:r>
          </a:p>
        </p:txBody>
      </p:sp>
      <p:sp>
        <p:nvSpPr>
          <p:cNvPr id="14" name="Rounded Rectangle 1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15" name="TextBox 1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Fixture success, native provider success, blocked historical inputs and unrun extensions remain separate.</a:t>
            </a:r>
          </a:p>
        </p:txBody>
      </p:sp>
      <p:cxnSp>
        <p:nvCxnSpPr>
          <p:cNvPr id="16" name="Connector 15"/>
          <p:cNvCxnSpPr/>
          <p:nvPr/>
        </p:nvCxnSpPr>
        <p:spPr>
          <a:xfrm>
            <a:off x="548640" y="6393180"/>
            <a:ext cx="11094720" cy="0"/>
          </a:xfrm>
          <a:prstGeom prst="line">
            <a:avLst/>
          </a:prstGeom>
          <a:ln w="7620">
            <a:solidFill>
              <a:srgbClr val="C9D2D4"/>
            </a:solidFill>
          </a:ln>
          <a:effectLst/>
        </p:spPr>
      </p:cxnSp>
      <p:sp>
        <p:nvSpPr>
          <p:cNvPr id="17" name="TextBox 1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runbook.md · build_m2.py · verify_m2.py</a:t>
            </a:r>
          </a:p>
        </p:txBody>
      </p:sp>
      <p:sp>
        <p:nvSpPr>
          <p:cNvPr id="18" name="TextBox 1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37 / 38</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APPENDIX H / OPERATIONAL SEMANTICS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Retry decisions preserve meaning across owners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Separate acceptance, numerical effect and acknowledgement before choosing a recovery action.</a:t>
            </a:r>
          </a:p>
        </p:txBody>
      </p:sp>
      <p:sp>
        <p:nvSpPr>
          <p:cNvPr id="5" name="TextBox 4"/>
          <p:cNvSpPr txBox="1"/>
          <p:nvPr/>
        </p:nvSpPr>
        <p:spPr>
          <a:xfrm>
            <a:off x="670560" y="1790700"/>
            <a:ext cx="33756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OBSERVATION</a:t>
            </a:r>
          </a:p>
        </p:txBody>
      </p:sp>
      <p:sp>
        <p:nvSpPr>
          <p:cNvPr id="6" name="TextBox 5"/>
          <p:cNvSpPr txBox="1"/>
          <p:nvPr/>
        </p:nvSpPr>
        <p:spPr>
          <a:xfrm>
            <a:off x="4290060" y="1790700"/>
            <a:ext cx="3489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MEANING</a:t>
            </a:r>
          </a:p>
        </p:txBody>
      </p:sp>
      <p:sp>
        <p:nvSpPr>
          <p:cNvPr id="7" name="TextBox 6"/>
          <p:cNvSpPr txBox="1"/>
          <p:nvPr/>
        </p:nvSpPr>
        <p:spPr>
          <a:xfrm>
            <a:off x="8023859" y="1790700"/>
            <a:ext cx="34975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NEXT ACTION</a:t>
            </a:r>
          </a:p>
        </p:txBody>
      </p:sp>
      <p:sp>
        <p:nvSpPr>
          <p:cNvPr id="8" name="Rounded Rectangle 7"/>
          <p:cNvSpPr/>
          <p:nvPr/>
        </p:nvSpPr>
        <p:spPr>
          <a:xfrm>
            <a:off x="548640" y="2110740"/>
            <a:ext cx="11094720" cy="579120"/>
          </a:xfrm>
          <a:prstGeom prst="roundRect">
            <a:avLst>
              <a:gd name="adj" fmla="val 7894"/>
            </a:avLst>
          </a:prstGeom>
          <a:solidFill>
            <a:srgbClr val="FFFFFF"/>
          </a:solidFill>
          <a:ln>
            <a:noFill/>
          </a:ln>
          <a:effectLst/>
        </p:spPr>
        <p:txBody>
          <a:bodyPr rtlCol="0" anchor="ctr"/>
          <a:lstStyle/>
          <a:p>
            <a:pPr algn="ctr"/>
          </a:p>
        </p:txBody>
      </p:sp>
      <p:sp>
        <p:nvSpPr>
          <p:cNvPr id="9" name="TextBox 8"/>
          <p:cNvSpPr txBox="1"/>
          <p:nvPr/>
        </p:nvSpPr>
        <p:spPr>
          <a:xfrm>
            <a:off x="670560" y="2240280"/>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Lost response / process death</a:t>
            </a:r>
          </a:p>
        </p:txBody>
      </p:sp>
      <p:sp>
        <p:nvSpPr>
          <p:cNvPr id="10" name="TextBox 9"/>
          <p:cNvSpPr txBox="1"/>
          <p:nvPr/>
        </p:nvSpPr>
        <p:spPr>
          <a:xfrm>
            <a:off x="4290060" y="22402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The owner may already have</a:t>
            </a:r>
          </a:p>
        </p:txBody>
      </p:sp>
      <p:sp>
        <p:nvSpPr>
          <p:cNvPr id="11" name="TextBox 10"/>
          <p:cNvSpPr txBox="1"/>
          <p:nvPr/>
        </p:nvSpPr>
        <p:spPr>
          <a:xfrm>
            <a:off x="4290060" y="2464612"/>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committed</a:t>
            </a:r>
          </a:p>
        </p:txBody>
      </p:sp>
      <p:sp>
        <p:nvSpPr>
          <p:cNvPr id="12" name="TextBox 11"/>
          <p:cNvSpPr txBox="1"/>
          <p:nvPr/>
        </p:nvSpPr>
        <p:spPr>
          <a:xfrm>
            <a:off x="8023859" y="2240280"/>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Replay exact input, key and pinned</a:t>
            </a:r>
          </a:p>
        </p:txBody>
      </p:sp>
      <p:sp>
        <p:nvSpPr>
          <p:cNvPr id="13" name="TextBox 12"/>
          <p:cNvSpPr txBox="1"/>
          <p:nvPr/>
        </p:nvSpPr>
        <p:spPr>
          <a:xfrm>
            <a:off x="8023859" y="2464612"/>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selection</a:t>
            </a:r>
          </a:p>
        </p:txBody>
      </p:sp>
      <p:sp>
        <p:nvSpPr>
          <p:cNvPr id="14" name="Rounded Rectangle 13"/>
          <p:cNvSpPr/>
          <p:nvPr/>
        </p:nvSpPr>
        <p:spPr>
          <a:xfrm>
            <a:off x="548640" y="2727960"/>
            <a:ext cx="11094720" cy="579120"/>
          </a:xfrm>
          <a:prstGeom prst="roundRect">
            <a:avLst>
              <a:gd name="adj" fmla="val 7894"/>
            </a:avLst>
          </a:prstGeom>
          <a:solidFill>
            <a:srgbClr val="FFFFFF"/>
          </a:solidFill>
          <a:ln>
            <a:noFill/>
          </a:ln>
          <a:effectLst/>
        </p:spPr>
        <p:txBody>
          <a:bodyPr rtlCol="0" anchor="ctr"/>
          <a:lstStyle/>
          <a:p>
            <a:pPr algn="ctr"/>
          </a:p>
        </p:txBody>
      </p:sp>
      <p:sp>
        <p:nvSpPr>
          <p:cNvPr id="15" name="TextBox 14"/>
          <p:cNvSpPr txBox="1"/>
          <p:nvPr/>
        </p:nvSpPr>
        <p:spPr>
          <a:xfrm>
            <a:off x="670560" y="2857500"/>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NOT_AVAILABLE / transient</a:t>
            </a:r>
          </a:p>
        </p:txBody>
      </p:sp>
      <p:sp>
        <p:nvSpPr>
          <p:cNvPr id="16" name="TextBox 15"/>
          <p:cNvSpPr txBox="1"/>
          <p:nvPr/>
        </p:nvSpPr>
        <p:spPr>
          <a:xfrm>
            <a:off x="670560" y="3081832"/>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contention</a:t>
            </a:r>
          </a:p>
        </p:txBody>
      </p:sp>
      <p:sp>
        <p:nvSpPr>
          <p:cNvPr id="17" name="TextBox 16"/>
          <p:cNvSpPr txBox="1"/>
          <p:nvPr/>
        </p:nvSpPr>
        <p:spPr>
          <a:xfrm>
            <a:off x="4290060" y="285750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No final decision yet</a:t>
            </a:r>
          </a:p>
        </p:txBody>
      </p:sp>
      <p:sp>
        <p:nvSpPr>
          <p:cNvPr id="18" name="TextBox 17"/>
          <p:cNvSpPr txBox="1"/>
          <p:nvPr/>
        </p:nvSpPr>
        <p:spPr>
          <a:xfrm>
            <a:off x="8023859" y="2857500"/>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Keep intent pending; retry unchanged</a:t>
            </a:r>
          </a:p>
        </p:txBody>
      </p:sp>
      <p:sp>
        <p:nvSpPr>
          <p:cNvPr id="19" name="Rounded Rectangle 18"/>
          <p:cNvSpPr/>
          <p:nvPr/>
        </p:nvSpPr>
        <p:spPr>
          <a:xfrm>
            <a:off x="548640" y="3345179"/>
            <a:ext cx="11094720" cy="579120"/>
          </a:xfrm>
          <a:prstGeom prst="roundRect">
            <a:avLst>
              <a:gd name="adj" fmla="val 7894"/>
            </a:avLst>
          </a:prstGeom>
          <a:solidFill>
            <a:srgbClr val="FFFFFF"/>
          </a:solidFill>
          <a:ln>
            <a:noFill/>
          </a:ln>
          <a:effectLst/>
        </p:spPr>
        <p:txBody>
          <a:bodyPr rtlCol="0" anchor="ctr"/>
          <a:lstStyle/>
          <a:p>
            <a:pPr algn="ctr"/>
          </a:p>
        </p:txBody>
      </p:sp>
      <p:sp>
        <p:nvSpPr>
          <p:cNvPr id="20" name="TextBox 19"/>
          <p:cNvSpPr txBox="1"/>
          <p:nvPr/>
        </p:nvSpPr>
        <p:spPr>
          <a:xfrm>
            <a:off x="670560" y="3474719"/>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CONFLICT: stale expected</a:t>
            </a:r>
          </a:p>
        </p:txBody>
      </p:sp>
      <p:sp>
        <p:nvSpPr>
          <p:cNvPr id="21" name="TextBox 20"/>
          <p:cNvSpPr txBox="1"/>
          <p:nvPr/>
        </p:nvSpPr>
        <p:spPr>
          <a:xfrm>
            <a:off x="670560" y="3699052"/>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revision</a:t>
            </a:r>
          </a:p>
        </p:txBody>
      </p:sp>
      <p:sp>
        <p:nvSpPr>
          <p:cNvPr id="22" name="TextBox 21"/>
          <p:cNvSpPr txBox="1"/>
          <p:nvPr/>
        </p:nvSpPr>
        <p:spPr>
          <a:xfrm>
            <a:off x="4290060" y="3474719"/>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Another owner-local update won</a:t>
            </a:r>
          </a:p>
        </p:txBody>
      </p:sp>
      <p:sp>
        <p:nvSpPr>
          <p:cNvPr id="23" name="TextBox 22"/>
          <p:cNvSpPr txBox="1"/>
          <p:nvPr/>
        </p:nvSpPr>
        <p:spPr>
          <a:xfrm>
            <a:off x="8023859" y="3474719"/>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Read current snapshot; new key for</a:t>
            </a:r>
          </a:p>
        </p:txBody>
      </p:sp>
      <p:sp>
        <p:nvSpPr>
          <p:cNvPr id="24" name="TextBox 23"/>
          <p:cNvSpPr txBox="1"/>
          <p:nvPr/>
        </p:nvSpPr>
        <p:spPr>
          <a:xfrm>
            <a:off x="8023859" y="3699052"/>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revised intent</a:t>
            </a:r>
          </a:p>
        </p:txBody>
      </p:sp>
      <p:sp>
        <p:nvSpPr>
          <p:cNvPr id="25" name="Rounded Rectangle 24"/>
          <p:cNvSpPr/>
          <p:nvPr/>
        </p:nvSpPr>
        <p:spPr>
          <a:xfrm>
            <a:off x="548640" y="3962400"/>
            <a:ext cx="11094720" cy="579120"/>
          </a:xfrm>
          <a:prstGeom prst="roundRect">
            <a:avLst>
              <a:gd name="adj" fmla="val 7894"/>
            </a:avLst>
          </a:prstGeom>
          <a:solidFill>
            <a:srgbClr val="FFFFFF"/>
          </a:solidFill>
          <a:ln>
            <a:noFill/>
          </a:ln>
          <a:effectLst/>
        </p:spPr>
        <p:txBody>
          <a:bodyPr rtlCol="0" anchor="ctr"/>
          <a:lstStyle/>
          <a:p>
            <a:pPr algn="ctr"/>
          </a:p>
        </p:txBody>
      </p:sp>
      <p:sp>
        <p:nvSpPr>
          <p:cNvPr id="26" name="TextBox 25"/>
          <p:cNvSpPr txBox="1"/>
          <p:nvPr/>
        </p:nvSpPr>
        <p:spPr>
          <a:xfrm>
            <a:off x="670560" y="4091940"/>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CONFLICT: same key, changed</a:t>
            </a:r>
          </a:p>
        </p:txBody>
      </p:sp>
      <p:sp>
        <p:nvSpPr>
          <p:cNvPr id="27" name="TextBox 26"/>
          <p:cNvSpPr txBox="1"/>
          <p:nvPr/>
        </p:nvSpPr>
        <p:spPr>
          <a:xfrm>
            <a:off x="670560" y="4316272"/>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input</a:t>
            </a:r>
          </a:p>
        </p:txBody>
      </p:sp>
      <p:sp>
        <p:nvSpPr>
          <p:cNvPr id="28" name="TextBox 27"/>
          <p:cNvSpPr txBox="1"/>
          <p:nvPr/>
        </p:nvSpPr>
        <p:spPr>
          <a:xfrm>
            <a:off x="4290060" y="409194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Replay identity no longer matches</a:t>
            </a:r>
          </a:p>
        </p:txBody>
      </p:sp>
      <p:sp>
        <p:nvSpPr>
          <p:cNvPr id="29" name="TextBox 28"/>
          <p:cNvSpPr txBox="1"/>
          <p:nvPr/>
        </p:nvSpPr>
        <p:spPr>
          <a:xfrm>
            <a:off x="8023859" y="4091940"/>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Do not overwrite the original meaning</a:t>
            </a:r>
          </a:p>
        </p:txBody>
      </p:sp>
      <p:sp>
        <p:nvSpPr>
          <p:cNvPr id="30" name="Rounded Rectangle 29"/>
          <p:cNvSpPr/>
          <p:nvPr/>
        </p:nvSpPr>
        <p:spPr>
          <a:xfrm>
            <a:off x="548640" y="4579620"/>
            <a:ext cx="11094720" cy="579120"/>
          </a:xfrm>
          <a:prstGeom prst="roundRect">
            <a:avLst>
              <a:gd name="adj" fmla="val 7894"/>
            </a:avLst>
          </a:prstGeom>
          <a:solidFill>
            <a:srgbClr val="FFFFFF"/>
          </a:solidFill>
          <a:ln>
            <a:noFill/>
          </a:ln>
          <a:effectLst/>
        </p:spPr>
        <p:txBody>
          <a:bodyPr rtlCol="0" anchor="ctr"/>
          <a:lstStyle/>
          <a:p>
            <a:pPr algn="ctr"/>
          </a:p>
        </p:txBody>
      </p:sp>
      <p:sp>
        <p:nvSpPr>
          <p:cNvPr id="31" name="TextBox 30"/>
          <p:cNvSpPr txBox="1"/>
          <p:nvPr/>
        </p:nvSpPr>
        <p:spPr>
          <a:xfrm>
            <a:off x="670560" y="4709160"/>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UNAUTHORIZED / profile</a:t>
            </a:r>
          </a:p>
        </p:txBody>
      </p:sp>
      <p:sp>
        <p:nvSpPr>
          <p:cNvPr id="32" name="TextBox 31"/>
          <p:cNvSpPr txBox="1"/>
          <p:nvPr/>
        </p:nvSpPr>
        <p:spPr>
          <a:xfrm>
            <a:off x="670560" y="4933492"/>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mismatch</a:t>
            </a:r>
          </a:p>
        </p:txBody>
      </p:sp>
      <p:sp>
        <p:nvSpPr>
          <p:cNvPr id="33" name="TextBox 32"/>
          <p:cNvSpPr txBox="1"/>
          <p:nvPr/>
        </p:nvSpPr>
        <p:spPr>
          <a:xfrm>
            <a:off x="4290060" y="470916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Access or selected semantics fail</a:t>
            </a:r>
          </a:p>
        </p:txBody>
      </p:sp>
      <p:sp>
        <p:nvSpPr>
          <p:cNvPr id="34" name="TextBox 33"/>
          <p:cNvSpPr txBox="1"/>
          <p:nvPr/>
        </p:nvSpPr>
        <p:spPr>
          <a:xfrm>
            <a:off x="8023859" y="4709160"/>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Correct authority / compatibility; no</a:t>
            </a:r>
          </a:p>
        </p:txBody>
      </p:sp>
      <p:sp>
        <p:nvSpPr>
          <p:cNvPr id="35" name="TextBox 34"/>
          <p:cNvSpPr txBox="1"/>
          <p:nvPr/>
        </p:nvSpPr>
        <p:spPr>
          <a:xfrm>
            <a:off x="8023859" y="4933492"/>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fallback</a:t>
            </a:r>
          </a:p>
        </p:txBody>
      </p:sp>
      <p:sp>
        <p:nvSpPr>
          <p:cNvPr id="36" name="Rounded Rectangle 35"/>
          <p:cNvSpPr/>
          <p:nvPr/>
        </p:nvSpPr>
        <p:spPr>
          <a:xfrm>
            <a:off x="548640" y="5196840"/>
            <a:ext cx="11094720" cy="579120"/>
          </a:xfrm>
          <a:prstGeom prst="roundRect">
            <a:avLst>
              <a:gd name="adj" fmla="val 7894"/>
            </a:avLst>
          </a:prstGeom>
          <a:solidFill>
            <a:srgbClr val="FFFFFF"/>
          </a:solidFill>
          <a:ln>
            <a:noFill/>
          </a:ln>
          <a:effectLst/>
        </p:spPr>
        <p:txBody>
          <a:bodyPr rtlCol="0" anchor="ctr"/>
          <a:lstStyle/>
          <a:p>
            <a:pPr algn="ctr"/>
          </a:p>
        </p:txBody>
      </p:sp>
      <p:sp>
        <p:nvSpPr>
          <p:cNvPr id="37" name="TextBox 36"/>
          <p:cNvSpPr txBox="1"/>
          <p:nvPr/>
        </p:nvSpPr>
        <p:spPr>
          <a:xfrm>
            <a:off x="670560" y="5326380"/>
            <a:ext cx="33756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Decision durable; ack missing</a:t>
            </a:r>
          </a:p>
        </p:txBody>
      </p:sp>
      <p:sp>
        <p:nvSpPr>
          <p:cNvPr id="38" name="TextBox 37"/>
          <p:cNvSpPr txBox="1"/>
          <p:nvPr/>
        </p:nvSpPr>
        <p:spPr>
          <a:xfrm>
            <a:off x="4290060" y="5326380"/>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C2 effect complete, C1 handoff</a:t>
            </a:r>
          </a:p>
        </p:txBody>
      </p:sp>
      <p:sp>
        <p:nvSpPr>
          <p:cNvPr id="39" name="TextBox 38"/>
          <p:cNvSpPr txBox="1"/>
          <p:nvPr/>
        </p:nvSpPr>
        <p:spPr>
          <a:xfrm>
            <a:off x="4290060" y="5550712"/>
            <a:ext cx="348996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pending</a:t>
            </a:r>
          </a:p>
        </p:txBody>
      </p:sp>
      <p:sp>
        <p:nvSpPr>
          <p:cNvPr id="40" name="TextBox 39"/>
          <p:cNvSpPr txBox="1"/>
          <p:nvPr/>
        </p:nvSpPr>
        <p:spPr>
          <a:xfrm>
            <a:off x="8023859" y="5326380"/>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Recover same decision; acknowledge</a:t>
            </a:r>
          </a:p>
        </p:txBody>
      </p:sp>
      <p:sp>
        <p:nvSpPr>
          <p:cNvPr id="41" name="TextBox 40"/>
          <p:cNvSpPr txBox="1"/>
          <p:nvPr/>
        </p:nvSpPr>
        <p:spPr>
          <a:xfrm>
            <a:off x="8023859" y="5550712"/>
            <a:ext cx="3497579"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0">
                <a:solidFill>
                  <a:srgbClr val="536775"/>
                </a:solidFill>
                <a:latin typeface="DejaVu Sans"/>
              </a:rPr>
              <a:t>full receipt</a:t>
            </a:r>
          </a:p>
        </p:txBody>
      </p:sp>
      <p:sp>
        <p:nvSpPr>
          <p:cNvPr id="42" name="Rounded Rectangle 41"/>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3" name="TextBox 42"/>
          <p:cNvSpPr txBox="1"/>
          <p:nvPr/>
        </p:nvSpPr>
        <p:spPr>
          <a:xfrm>
            <a:off x="716280" y="5905500"/>
            <a:ext cx="107442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Trusted local acknowledgement binds the complete decision; it is not a portable cryptographic proof.</a:t>
            </a:r>
          </a:p>
        </p:txBody>
      </p:sp>
      <p:cxnSp>
        <p:nvCxnSpPr>
          <p:cNvPr id="44" name="Connector 43"/>
          <p:cNvCxnSpPr/>
          <p:nvPr/>
        </p:nvCxnSpPr>
        <p:spPr>
          <a:xfrm>
            <a:off x="548640" y="6393180"/>
            <a:ext cx="11094720" cy="0"/>
          </a:xfrm>
          <a:prstGeom prst="line">
            <a:avLst/>
          </a:prstGeom>
          <a:ln w="7620">
            <a:solidFill>
              <a:srgbClr val="C9D2D4"/>
            </a:solidFill>
          </a:ln>
          <a:effectLst/>
        </p:spPr>
      </p:cxnSp>
      <p:sp>
        <p:nvSpPr>
          <p:cNvPr id="45" name="TextBox 44"/>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M2 / episodes.py · beliefs.py · evidence_relay.py</a:t>
            </a:r>
          </a:p>
        </p:txBody>
      </p:sp>
      <p:sp>
        <p:nvSpPr>
          <p:cNvPr id="46" name="TextBox 45"/>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38 / 38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Private memory and guarded belief revision</dc:title>
  <dc:subject>Through M2: private episodic memory, guarded PLN revision and real Hive recovery</dc:subject>
  <dc:creator>Omega × ASI module-interface project</dc:creator>
  <cp:keywords>Omega, ASI, M2, ELI16, Hive, DeTTa, PLN, episodic memory, belief revision, recovery</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