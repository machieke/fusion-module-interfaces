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five ELI16 executive-summary slides, then all fifteen module responsibilities and the exercised dependency maps before implementation detail. M1 establishes replaceable ports; M1.2 connects real Hive; M2 adds private memory and guarded revision; M3 adds independent STI and bounded inference; M3.1 accounts for delivery and feedback. M4 connects a generated, shareable native inspect result to an isolated real chain and checks its actual post-state effect plus matching deploy-effect finality. M5 adds four Relations operations, an authoritative commit feed and exact-attribute Search. Actual native lookup discovers roots, traverses relations and retrieves payloads without seeded answer references. The lookup, cognition and commitment paths have separate owners. Suggested delivery: 60–65 minutes through slide 54; ten appendices support discussion. Tested source bfb0ec8856c932dc2bcbc05b8949c957da8d72cd; evidence-only descendant 3dc6c1146601a0d0aa8785e61884970ec84a57c6. Presentation changes do not rerun integrations or expand their guarantees.</a:t>
            </a:r>
          </a:p>
          <a:p/>
          <a:p>
            <a:r>
              <a:t>Source: M5 evidence 3dc6c11 · tested bfb0ec8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ELI16 assumes a technically curious sixteen-year-old. The analogy explains responsibilities, not an additional experiment. C1 records occurrences and provenance. C2 distinguishes admission from numerical aggregation and retains disagreement. The pure providers reuse guarded Truth_Revision and one grounded Truth_Deduction rule. Their outputs remain model-specific heuristics, not proof of external truth or source independence. Derived conclusions inherit evidence roots and ancestry and add no observation or evidence count. Generated observations and operator assumptions remain fixtures, even when they travel through real runtimes.</a:t>
            </a:r>
          </a:p>
          <a:p/>
          <a:p>
            <a:r>
              <a:t>Source: M2 preserved · M3 derived admission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Short-term importance, or STI, is a simple deterministic priority score. It is separate from PLN truth values. C4 handles a fixed explicit workset; it does not invent new tasks or search the knowledge base. The measured two-task experiment changes initial attention to select the other task while keeping the one-attempt budget fixed. Attempts are durable physical evaluation opportunities. A crash after reservation spends the slot even if no result commits. Successful replay recovers recorded admission and feedback without extra native calls. These are local process-restart observations, not hard real-time or production-quality claims.</a:t>
            </a:r>
          </a:p>
          <a:p/>
          <a:p>
            <a:r>
              <a:t>Source: C3 attention · C4 bounded inference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means accounting for recorded effects, not guaranteeing global completion. Nine fixture methods, five real-provider methods, sixteen direct SIGKILL cases and seven native Hive cases (four with kills) support the new behavior. The 33-event episode uses real DeTTa/native PLN with generated observations. A report can be durably processed without a numerical truth value. Feedback resolution never newly applies eligible feedback: it returns an existing receipt, creates a no-credit retirement if stale or expired, or stays pending. C4 exposes progress separately from immutable execution counters. New profiles require fresh journals; old M3 pending stores are not migrated or repaired.</a:t>
            </a:r>
          </a:p>
          <a:p/>
          <a:p>
            <a:r>
              <a:t>Source: M3.1 delivery closure · owner receipts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sealed-envelope analogy describes durable signed-intent replay. M4 uses the real native fusion-inspect operation and a separate fusion-commitment action, with generated shareable input and a labelled fixture counterparty. Operator approval binds exact result reference/digest, actor, expiry, chain/genesis/profile, signer and operation. The same stored signed request survives caller/adapter kills, including a lost response after real finality. A separate reader verifies DA bytes and the chain tuple without opening a caller journal or signing key. The chain records a commitment; it neither executes PLN nor certifies off-chain reasoning. This is one real local validator, not decentralized security or a production network.</a:t>
            </a:r>
          </a:p>
          <a:p/>
          <a:p>
            <a:r>
              <a:t>Source: M4 · native Hive → isolated F1R3node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catalogue is a rebuildable projection of an AtomStorage-owned accepted commit feed. It indexes a single explicit exact-attribute profile; it is not an embedding engine or inference search. Relations owns acceptance and incidence separately from immutable payload storage. Setup writes the generated corpus through public ports and exits before actual authenticated native Hive lookup. The private request contains query attributes and a freshness barrier only. The test-only oracle is removed before consumer startup. At page size two, five roots require three Search pages. Fifteen requires edges connect them to three prerequisites, producing eight unique payloads. One new matching record later yields six roots and nine payloads. Public receipts show counts/status; full records remain private.</a:t>
            </a:r>
          </a:p>
          <a:p/>
          <a:p>
            <a:r>
              <a:t>Source: M5 · actual native fusion-lookup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fifteen responsibility groups remain visible. C1/C2 implement private memory and beliefs; M3 adds independent STI and bounded C4 plus a pure kernel for one grounded rule. M5 implements bounded Relations and exact-attribute Search with explicit private profiles. All fifteen reference families are represented; this is not full Omega requirement coverage. Attention implements a bounded reference policy, not ECAN, LTI or the coupled metta-attention algorithm. RevisionMath is separate from PLNKernel.applyRule. Hive consumes these modules; a module need not be a separate process or repository. Blue means implemented local contracts, not production readiness. Authorization uses real Hive authentication followed by local test policy. M4 selects a new explicit finality profile against clean pinned F1R3node; the required real chain gate passes. It commits only the approved generated inspect result, with no cognitive dependency. Maintainer assignments remain unassigned.</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AtomStorage owns immutable scoped references and replay metadata, while DA only persists opaque payloads and generic coordinates. AtomStorage now offers an accepted commit feed in a fresh profile. Relations owns accepted structure and incidence; Search owns only a rebuildable projection and checkpoint. All four relation operations and query/catchUp/beginRebuild are exercised through declared ports. C1 exposes recordEpisode, appendEvent, readEpisode, readEvidence and pendingEvidence. The new local v3 completion port is bound to a trusted relay context separately from the ordinary EpisodeJournal. C1 validates completion identity and selected consumer, not PLN snapshots. Original v2 remains selectable. findEpisodes is not advertised. C1 preserves committed episode-local order and admitted provenance; observed time is metadata. It can run without C2 or PLN and against an independently implemented AtomStorage fixture. Its event bytes are immutable atoms, while its episode head and delivery intents belong to C1.</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implements the bounded sti-additive-linear-decay/1 reference policy, not ECAN or the inspected metta-attention implementation. C4 owns selection and physical attempt reservations; it depends on AtomStorage, Attention, DerivedBeliefRevision and PrivateAuthority. It does not call PLNKernel directly. C2 depends on AtomStorage, C1 readEvidence, RevisionMath, PLNKernel and PrivateAuthority. The pure kernel owns no belief, agenda or attention state. M2 revision-only local v2 remains selectable; derived private C2 is a fresh local v3 profile.</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acceptance differs from delivery and acknowledgement. Execution accepts only inspect_atom and owns jobs plus its completion outbox; result atoms commit independently. The registry advertises descriptors, and the resolver matches consumer requirements. Neither grants permission. Finality owns durable logical/signed intents and verified chain observations in M4; it is not a C1/C2 dependency. Native commitment progress holds only caller mapping and receipts. Native authentication supplies trusted actor context, while local Fusion policy determines current access. The preserved M2 relay is a narrow delivery cursor between C1 and C2. M3 C4 separately owns its bounded step journal; neither grants authority.</a:t>
            </a:r>
          </a:p>
          <a:p/>
          <a:p>
            <a:r>
              <a:t>Source: 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graph shows exercised calls. Hive's scenario appends private C1 events and uses the selected relay as its only new-profile evidence-admission path. Relay calls C1 pending/ack and C2 submitEvidence; it validates the complete selected C2 decision before attesting completion to C1. C4 reads private task/workset atoms and C2 snapshots, selects through C3, reserves work and submits or recovers C2 derivations. C4 reconciliation calls only Attention.resolveFeedback on recorded intents: no task selection, C2 admission or PLN call. C2 reads evidence through C1 and calls the unchanged pure math providers. C3 requires authority and reference syntax only. Bottom cards summarize storage/authority dependencies; each owner has an independent local commit. Original M2/M3 profiles remain selectable.</a:t>
            </a:r>
          </a:p>
          <a:p/>
          <a:p>
            <a:r>
              <a:t>Source: cognition.py · ports.py · evidence_relay.py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real native dispatch into the thin plugin, which holds a caller-owned receipt and uses Subprocess/Peer through descriptor-bound validation. Direct storage, messaging and execution calls all cross the same authenticated boundary. Trusted composition supplies concrete owners; the plugin never constructs them or accesses their tables. Messaging.send validates the referenced bytes through caller-authorized AtomStorage.get; Execution.submit reads the input before accepting a new job. The worker calls declared AtomStorage get/create, then execution commits terminal state/outbox. CompletionDelivery.accept belongs to the mailbox owner and commits separately. The original M1.2 operation does not invoke chain. M4 adds a separate native sibling and caller-owned completed-result accessor after acceptance. This is a logical call map; it does not force one process per module.</a:t>
            </a:r>
          </a:p>
          <a:p/>
          <a:p>
            <a:r>
              <a:t>Source: program.py · ports.py · execution.py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Arrows show caller-to-provider dependencies, not a cross-owner transaction. Actual authenticated Programs dispatch loads the new narrow sibling fusion-commitment. Its only user parameter is original_command; operator configuration controls the approved generated workflow and selected chain. A read-only completed-result accessor lives beside the original inspect plugin and rechecks accepted/acknowledged result and live authority. The sibling also retrieves exact bytes via the selected AtomStorage interface. A typed local ConsensusFinality session validates the explicit f1r3-generated-post-state/2 profile; existing port signatures and the legacy adapter are unchanged. The adapter owns logical plan, signed request, submission and observation state. The caller owns only command/progress mapping and calls no other owner's SQL. The original inspect plugin, cognition and DA core are unchanged. Private C1/C2/C3/C4 state has no edge to the chain.</a:t>
            </a:r>
          </a:p>
          <a:p/>
          <a:p>
            <a:r>
              <a:t>Source: hive/commitment · completed.py · f1r3_m4.py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LookupConsumer depends only on ExactSearch, PagedRelations, AtomStorage and current private authority. Numbered calls show discovery, one-hop traversal including reverse-incidence verification, and payload retrieval. The caller owns its journal and retained full result. Search owns derived rows, checkpoint and generation and reads only declared source ports; it never opens another owner's database. Relations owns accepted structures, replay keys and incidence; immutable relation payload creation commits before relation acceptance. AtomStorage owns immutable envelopes plus its contiguous scoped accepted feed, above unchanged opaque DeTTa. Head/readCommits/get dependencies belong to maintenance, not query. Neither lookup nor these new owners invokes C1/C2, attention, inference or chain. Existing caller intents retain their selected provider; fresh replacement uses a new request and rebuilt derived store.</a:t>
            </a:r>
          </a:p>
          <a:p/>
          <a:p>
            <a:r>
              <a:t>Source: lookup.py · lookup_composition.py · ports.py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unchanged DA boundary is exercised against a freshly fetched clean secured-contract-spaces revision 272888f264dd2dde18b574cabb53c266b0dac2ec. No Hive-specific schema is added to DeTTa. Application references and replay semantics belong above opaque DA. Conformance removes the cached payload and two erasure shares and verifies reconstruction; three missing shares and corruption fail explicitly. This is actual local library execution, not a validator/custody network or an indefinite-retention claim. The independent atomic-file provider is an AtomStorage contract fixture, not a second DA network. The clean-source rebaseline excludes historical dirty storage-format and custody-pruning additions and reruns applicable tests.</a:t>
            </a:r>
          </a:p>
          <a:p/>
          <a:p>
            <a:r>
              <a:t>Source: adapters/detta/src/main.rs · test_contract.py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M1.1 covers two AtomStorage implementations times two bindings. M5 adds independent atomic-file feed and Search fixtures. Search shares only pure DTO validation, extraction and encoding, not primary SQL, owner transitions or the predicate helper. A regression disables the primary predicate helper while the fixture evaluates positive and empty queries. Native lookup keeps the same consumer, source, corpus and prefix across replacement; the new Search store rebuilds its derived state. Provider choice is bound to an existing caller intent, so substitution uses a fresh request. Attention retains its separately implemented transitions. File providers are labelled fixtures, not second production services. No populated-state migration is claimed.</a:t>
            </a:r>
          </a:p>
          <a:p/>
          <a:p>
            <a:r>
              <a:t>Source: M1.1 · M3 · M5 substitution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native plugin receives authenticated actor context and derives authority from operator configuration. Request parameters cannot select credentials, arbitrary scopes or private premise identities. Public parameters are generated seed, preference a/b and an absolute deadline. Privacy tests intercept shared bindings, populate shared stores and inspect native receipts/logs/state for canaries and private hashes. This is tested local placement under a trusted operator/host, not secrecy from administrators. Each journal has one owner and commits independently; there is no cross-owner SQL transaction.</a:t>
            </a:r>
          </a:p>
          <a:p/>
          <a:p>
            <a:r>
              <a:t>Source: cognition.py · inference_program/program.py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contracts use closed bounded DTOs and detach nested request inputs before authorization or foreign calls. A task binds P,Q,R,P⇒Q,Q⇒R to exact private references. Premise vectors record each belief's historical revision and support ID; the upstream knowledge revision of zero is only a local evaluation ID, not a global ledger. Derived support tags distinguish observation, two-local-premise revision and five-foreign-premise deduction. C2 local v3 is explicit and does not widen M2 v2. WorkBudget contains an absolute Unix-ms deadline, max_candidates, max_rule_applications and max_feedback_generation. Historical reads and recovered owner responses are validated against the exact request.</a:t>
            </a:r>
          </a:p>
          <a:p/>
          <a:p>
            <a:r>
              <a:t>Source: attention_contracts.py · cognition_contracts.py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illustrated event roles match the generated story. Each immutable event is referenced by an AtomRef; the episode head begins at zero and advances by one for accepted occurrences. A duplicate occurrence with the same semantic content returns its original receipt before a stale expected-head check, even under a new request key. Changed content or provenance for that occurrence conflicts. Distinct occurrences can have identical bytes. Payload persistence can precede episode commit and leave an orphan after death; replay recovers the same atom without inventing an acknowledged event. C1 exposes bounded reads, pending evidence and trusted acknowledgements, with no cognition dependency. No dynamic episode search or garbage collector is implemented.</a:t>
            </a:r>
          </a:p>
          <a:p/>
          <a:p>
            <a:r>
              <a:t>Source: episodes.py · tests/test_m2.py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commits belong to three owners; there is no cross-owner transaction. The selected adapter validates exactly one C2 profile and full response, including v3 support fields after a real deduction. C1 accepts trusted-evidence-completion/1 through a separately bound context unavailable to ordinary episode/Hive clients. A completion identifies scope, delivery, exact evidence/claim/context, selected consumer, request and decision digests. It asserts committed processing, not truth. Relay recovers its own committed intents when the C1 acknowledgment response was lost and the delivery no longer appears pending. The real-provider run drains 33 generated observations in batches 16/16/1. Capacity testing refuses append 17, then uses public drain before appending. Reports and unregistered-origin observations close as model-inapplicable with null numerical truth; contrary observations remain retained. Four evidence boundaries times two providers give eight direct kills, plus two native caller evidence kills.</a:t>
            </a:r>
          </a:p>
          <a:p/>
          <a:p>
            <a:r>
              <a:t>Source: delivery_contracts.py · evidence_relay.py · m3_1 evidence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preserved observation admission. M3 adds a separate derivation command with inherited evidence, described next. The first eligible explicit assessment initializes the aggregate. Later evidence is retained without automatic aggregation unless an exact pair assumption and guards permit revision. Unknown origins cannot initialize a justified numerical aggregate. A report without numerical assessment is model-inapplicable. The ledger retains observations, support records, immutable snapshots and exact decisions. A later authorized independence declaration may combine already admitted supports, without creating another observation. Exact successful replay returns the original historical decision even after later revisions; a new-key duplicate returns current state without adding weight. Retained-alternative is a pair outcome, so an already covered ancestor need not produce a new alternative list entry or revision. Coverage fields state the actual result.</a:t>
            </a:r>
          </a:p>
          <a:p/>
          <a:p>
            <a:r>
              <a:t>Source: beliefs.py · memory_types.py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foreign premises are not five independent observations of the output claim. local-admitted-supports/1 treats the deduction as one local support unit with its inherited evidence/root union. Logical derivation identity is independent of request/step IDs, deadlines and output CAS. A duplicate cannot gain another admission or causal feedback credit. A separately authorized independence assumption can request the unchanged guarded native revision of eligible supports. Derive → revise retains grounded ancestry; a cyclic subsequent deduction is refused. Claims remain heuristic and lineage-aware, not calibrated uncertainty or proven entailment.</a:t>
            </a:r>
          </a:p>
          <a:p/>
          <a:p>
            <a:r>
              <a:t>Source: derived_beliefs.py · pln_deduction.py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unchanged Reachability dd56f3f implementation invokes PLN 4405956 Truth_Deduction on PeTTa ae66fa8 and SWI source 6977543, version 10.1.14. The exact runtime profile is fusion-petta-swi-10.1.14-deduction/1. No PLN.Derive, PLN.Query or task search is used. The Q&gt;0.9999 branch and its assumptions remain upstream semantics and are tested. Kernel source checks and native subprocesses use the remaining absolute deadline. This pure component owns no belief, agenda or attention state. Source drift, malformed output and timeout are explicit refusals, with fault injections labelled in the native suite.</a:t>
            </a:r>
          </a:p>
          <a:p/>
          <a:p>
            <a:r>
              <a:t>Source: deduction-sources.json · integration/pln/test_deduction.py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M3 golden has five ordered premises and uses the actual native Truth_Deduction. Expected values are independent test oracles, not production mathematics. M2 revision goldens still pass in the M3 regression, including reversed unequal pairs. Native suites include actual computation plus explicitly injected malformed responses, timeouts, source-drift clones and authorization/CAS interleavings. Fifteen upstream guard-only tests use RecordingRuntime and are not counted as native numerical evaluation. Evidence_count remains null, and a derived conclusion never turns into a fresh independent observation.</a:t>
            </a:r>
          </a:p>
          <a:p/>
          <a:p>
            <a:r>
              <a:t>Source: test_deduction.py · preserved test_revision.py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policy is frozen in its identity. Bounds are 16 targets, 16 advance steps per call, eight contexts, 512 causes per context, 1024 commands per owner and feedback generation three. Capacities refuse without silent eviction of acknowledged commands. Stimulus saturation is min(amount, Smax-current); total context budget is enforced atomically. Successful replay is checked before logical clock CAS under live authorization. Causal deduplication is independent of request identity; changing a causal body conflicts. Fresh feedback follows the target's current causal parent and next generation. metta-attention 3e1c8147 was inspected but not integrated because it couples STI/LTI/VLTI, wages and shared funds. C3 has no hidden dependency on AtomStorage, C1, C2, PLN or Hive.</a:t>
            </a:r>
          </a:p>
          <a:p/>
          <a:p>
            <a:r>
              <a:t>Source: attention.py · fixture_attention.py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fresh cases use two tasks, five premises per task, ten generated observations, two episodes and twelve claim atoms. Held fixed: exact task/evidence refs, policy parameters, one-attempt/two-candidate budgets, absolute deadline and logical schedule. Separate preference cases exchange initial scores 20/10 and 10/20. Only composition chooses SQLite or the independently implemented file fixture; no consumer code changes. Every result records examined=2, reserved=1, completed=1, refused=0, unique admission=1 and feedback_applied=1, ending at rule-budget. The second candidate is counted before discovering the exhausted rule budget. Preparation takes about 11.5–11.8 seconds and is separate from the reported step time. Store sizes are 1,040,671 and 1,020,409 bytes respectively. These are one-run local measurements, not throughput or cognitive-quality evidence.</a:t>
            </a:r>
          </a:p>
          <a:p/>
          <a:p>
            <a:r>
              <a:t>Source: m3/final/comparison.json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C4 counts a candidate before resolving it, including unresolved or refused candidates. It commits reservation before dispatch and queries a prior C2 decision first during recovery. C2 persists semantic intent before evaluation, evaluates outside its commit transaction, then rechecks authority and output CAS. A killed pending attempt needs a new reserved slot/key; a committed decision is read back without evaluation. Logical derivation identity is distinct from transport request, controller step, attempt key, deadline and output CAS. Feedback is a fixed one-unit workflow signal tied to logical derivation identity, never a truth update. Absolute Unix-ms deadline survives restart; scheduling/file I/O remain cooperative, not hard real-time.</a:t>
            </a:r>
          </a:p>
          <a:p/>
          <a:p>
            <a:r>
              <a:t>Source: inference.py · deadlines.py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resolveFeedback never applies fresh eligible feedback. Existing application wins even after expiry or decay; it returns the original receipt without changing current STI. Otherwise stale/expired intent can create a no-credit tombstone atomically; eligible or unavailable/malformed responses remain pending, and revocation fails closed. Application and retirement share SQLite transaction or independent atomic-file locking. Concurrent eligible application versus clock advance/retirement and both serialized outcomes were exercised on both providers. First retirement consumes one existing cause and command slot; existing receipts/tombstones need no new slot. No capacity enlargement or eviction. C4 persists a bounded cursor and separate closure version. Same reconciliation key returns its original observation; fresh keys/readProgress can see newer closure. It never calls selection, C2 admission or PLN, refunds reservations, resets deadlines or retimes feedback. Finite exhausted capacity can leave work pending.</a:t>
            </a:r>
          </a:p>
          <a:p/>
          <a:p>
            <a:r>
              <a:t>Source: attention.py · fixture_attention.py · inference.py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native recovery methods cover ten actual SIGKILL cases: stimulus commit for both attention providers; reservation and kernel-return loss under budgets one and two; belief/feedback recovery for both providers. The real Hive suite adds five actual caller kills across the same boundaries. A one-slot loss conservatively exhausts the budget; a two-slot case may recover one logical admission after another physical calculation. Thus there is no claim of exactly one physical calculation per logical derivation. Committed admission and feedback are duplicate-safe. This is intact-local-file, same-host process restart, not reboot, power loss or distributed failover.</a:t>
            </a:r>
          </a:p>
          <a:p/>
          <a:p>
            <a:r>
              <a:t>Source: test_m3_recovery.py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records are copied before foreign calls and authorization so a malicious boundary cannot mutate the retained command. Recovered C2 and attention responses are checked against exact owner/request identities and semantics. Current principal, scope, method and descriptor permissions apply on every invocation. The assumption permission for revision remains separate. Native proposal calculation runs outside the owner commit transaction; final authorization and expected output revision are rechecked afterward. Old-profile feedback can remain CONFLICT after a clock change. The new profile lets Attention resolve recorded stale feedback by no-credit retirement; eligible or unavailable feedback stays pending. The controller never rewrites the logical schedule. These are local trusted-authority guarantees, not a production identity system.</a:t>
            </a:r>
          </a:p>
          <a:p/>
          <a:p>
            <a:r>
              <a:t>Source: cognition.py · derived_beliefs.py · tests/test_m3.py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pinned Hive create_app, authenticated Programs dispatch, default Supervisor and native PeTTa run in the integration. The narrow sibling plugin uses native assessment role, action infer-generated, and trusted actor mapping. ASGI TestClient, identities, observations and operator assumptions are fixtures; the runtime, DeTTa and formula execution are actual providers. The plugin owns caller intent/receipt and invokes the private scenario; it owns no belief, STI or controller state. The preserved M3 suite has eight native cases and five kills. The new M3.1 suite adds seven native cases, four with actual kills, covering both providers, closure progress, evidence recovery and explicit zero-conclusion execution. The new-profile scenario drains C1 evidence through the relay. The diagram summarizes the call sequence; each owner commits independently. M1 fusion-inspect and M2 fusion-episode remain supported and rerun in regression.</a:t>
            </a:r>
          </a:p>
          <a:p/>
          <a:p>
            <a:r>
              <a:t>Source: inference_program/program.py · test_m3_integration.py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summarizes the tested stale-feedback case: original execution has one admission and zero acknowledged feedback; after controlled clock advance STI is nine, and reconciliation retires the stale effect without changing that execution. The bottom row covers separate applied-before-lost-reply and expired-before-execution tests, not one combined run. The actual authenticated native Programs 0.1 dispatcher selects the existing plugin. Prepared original-command mapping is private and persisted before step. Public parameter original_command respects the unchanged Hive credential guard. The response exposes execution status/reason, admissions, original counts/remaining, evidence pending/state, feedback closure counts and version. Private episode/task/support IDs, roots, snapshots, credentials and paths are excluded. Seven native cases include four process kills; both attention providers are exercised. Same public reconciliation identifier replays the same observation; use a new one for newer progress.</a:t>
            </a:r>
          </a:p>
          <a:p/>
          <a:p>
            <a:r>
              <a:t>Source: inference_program/program.py · test_m3_1_integration.py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depicts the explicitly configured STI scores in the controlled scenarios, not a learned score or performance estimate. The comparison exercises both preferences with both providers; the real Hive tests separately exercise actual native action and replacement. A step freezes the ranked selection. Subsequent feedback affects a later step, not the order already accepted. C4 examines two candidates but reserves and executes only one attempt, so terminal reason is rule-budget. All four comparison cases recover identical receipts after reopening owners and invoke the native formula zero additional times on successful replay. Cognitive usefulness of the chosen conclusion is not measured.</a:t>
            </a:r>
          </a:p>
          <a:p/>
          <a:p>
            <a:r>
              <a:t>Source: m3/final/comparison.json · native Hive scenario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Generated command generated-m4-916416dc-1394-411e-ba8f-64420a8c4ffb. The original inspect action creates a 53-byte shared input, sends its reference to the labelled fixture counterparty, delegates inspect_atom and accepts/acknowledges the 143-byte result. The approved digest shown is public generated data, not a private cognitive identifier. Timings: storage/worker/acceptance 2.296 s; signing callback including serialization/imports 0.040513 s; submission HTTP 0.041256 s; full authorized signing/submission 2.522 s; first inclusion and finalized-effect observation 4.066 s; same-genesis node restart to readiness 1.148 s. Signed JSON request 673 bytes; node execution cost 675 phlo. Regressions ran concurrently. Inclusion/finality times include proposal and authorization overhead and are not pure consensus latency. Full exact identifiers and effect transcript are in the same-artifact JSON; a separate read-only process confirms the same digest, deploy, inclusion and post-state.</a:t>
            </a:r>
          </a:p>
          <a:p/>
          <a:p>
            <a:r>
              <a:t>Source: evidence/m4/final/same-artifact.json · readback.json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profile is f1r3-generated-post-state/2; provider f1r3-local; interface 1.0.0; implementation 0.4.0. Approval binds the exact generated operation to one native principal/swarm, scope, result, expiry, chain and signer. Chain identity is not an RPC URL. The adapter persists canonical copies of approval and binding rather than retaining nested aliases. A negative regression on 1219bb5 demonstrated that a frozen dataclass alone allowed nested mutation; 55ed540 fixes it and passes the full rerun. Current authority is checked for accepted/replayed work and before submission. Wrong result, private scope, changed profile/genesis, malformed receipt or revoked authority fails explicitly. Only this generated shareable inspect workflow is eligible; there is no generic private-state publishing service.</a:t>
            </a:r>
          </a:p>
          <a:p/>
          <a:p>
            <a:r>
              <a:t>Source: f1r3_m4.py · hive/commitment/program.py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node source was inspected, built and probed before adapter implementation. /api/prepare-deploy derives the unforgeable read name from saved public deployer and timestamp. /api/data-at-name-by-block-hash performs a non-consuming read of inclusion-block post-state. The inspected source ignores the pre-state switch, so this profile fixes usePreStateHash:false. The name must occur in that block's reductions; a later heartbeat or current-head block is not a substitute. Verification checks exact namespace/operation/digest, target signed deploy, successful inclusion/cost and matching deploy-effect Finalized state. A finalized block alone is insufficient. Inclusion block 6922353b9d0d0b7307d3f472a92e40cbe5902e61da01150986d9daa9188a1b82; post-state 351c1234a0d0793edc7c19eb33f1f1a221d659a97f325261c6dac9afcc01f8f1. The separate reader receives DA get-only authority and read RPC, and opens neither signer nor caller journal. Readback is node-observed, not a trustless attestation.</a:t>
            </a:r>
          </a:p>
          <a:p/>
          <a:p>
            <a:r>
              <a:t>Source: F1R3node 9ec1096 · f1r3-generated-post-state/2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native caller/adapter SIGKILL cases cover acceptance, durable signed intent, submission-response loss, and observation before caller progress. The last case uses the first native observation with no owner reset. The lost-response test waits for actual finality before retry, demonstrating recovery even when the chain has already completed. Signed bytes, timestamp, signature, gas limits and deploy identity are reused: no re-signing or validity extension. commit replay returns the original submission receipt; observe obtains fresh evidence without signing/submitting. A separate node SIGKILL/outage/restart preserves accepted and acknowledged off-chain state. Original counts remain one job, one outbox, two messages and two atoms. These are same-host process-restart guarantees with intact files, not a distributed transaction, global exactly-once effect or power-loss durability.</a:t>
            </a:r>
          </a:p>
          <a:p/>
          <a:p>
            <a:r>
              <a:t>Source: evidence/m4/final/recovery-*.json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F1R3node pin 9ec1096e10774926ea8e72f0823482f0bf9213e1 was obtainable from the authorized repository. The historical dirty workspace at the same SHA has eight tracked modifications and one untracked input; it was untouched and unused. M4 deliberately validates the clean source as a new baseline. Fresh node build uses nightly-2026-02-09, cargo --offline --locked -j2 -p node --bin node, debug 0, incremental 0 and RUST_MIN_STACK 8388608. Node binary SHA-256 2021389d8e1a1db0470d55ba6744124e33f2bc44f5155e6cfa662798b4ffd085. Each chain run uses disposable data/genesis within an unprivileged user/network namespace; only loopback is brought up. Live socket/route tests verify actual isolation. All generated nodes are stopped after verification. Warm downloads and possible cached upstream Rust regression binaries are explicit; fresh provider binaries were not copied.</a:t>
            </a:r>
          </a:p>
          <a:p/>
          <a:p>
            <a:r>
              <a:t>Source: evidence/m4/build/chain.json · final/isolation.json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logical operations are executable in schema-ordered-relations/2, contract 2.0.0. Structural identity excludes the transport idempotency key but includes type/schema/direction/ordered roles/scope. Same-key changed semantics fails CONFLICT. requires/1 is dependent to prerequisite; transfer/1 has sender, object and recipient roles; association/1 has symmetric incidence while retaining stored role order. Pagination fixes an accepted-head snapshot; cursors bind operation, direction, endpoint, principal, scope and owner incarnation. Tests cover ordering, repeats, self-links, symmetric and three-role semantics, malformed records, cross-scope denial and crash recovery. The four operations do not imply a general graph database or transitive traversal engine.</a:t>
            </a:r>
          </a:p>
          <a:p/>
          <a:p>
            <a:r>
              <a:t>Source: relations.py · lookup_contracts.py · m5-contracts.md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Fresh AtomStorage contract 1.1.0 selects immutable-commit-feed/1. The new owner keeps accepted envelope and feed metadata atomically, while opaque DA storage commits independently before acceptance. The feed contains reference, content type, size and sequence, not interpreted knowledge. Search retrieves and validates every envelope, even when its valid content type will be ignored. It indexes only application/fusion-knowledge-v1 under knowledge-attributes/1. No feed entry or checkpoint advances over a failed item. Rebuild clears only derived state, captures a head, changes generation and remains unavailable to queries until that prefix is complete; replay keys and bounded progress survive process kills. Source rollback is rejected. There is no pruning API or automatic repair.</a:t>
            </a:r>
          </a:p>
          <a:p/>
          <a:p>
            <a:r>
              <a:t>Source: atom_feed.py · search.py · ports.py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sole Search profile is exact-attributes/1 with knowledge-attributes/1 extraction, contract 2.0.0. Canonical UTF-8 JSON requires kind and permits topic/label, all bounded strings. Search performs exact conjunction without normalization, embeddings or numerical scoring. A genuine empty result at a sufficient prefix differs from source lag. Query neither polls the current head nor advances the index. Cursors bind semantic query, principal/scope, source identity, snapshot and generation. Rebuild invalidates old-generation cursors explicitly; pending callers do not silently reset. The consumer carries independent Search and Relations snapshots, not a fictional cross-owner transaction. A stored completed intent can replay its historical result after current authorization is checked.</a:t>
            </a:r>
          </a:p>
          <a:p/>
          <a:p>
            <a:r>
              <a:t>Source: lookup_contracts.py · m5-contracts.md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native fusion-lookup sibling uses authenticated Hive Programs dispatch and the pinned PeTTa runtime. A separate writer uses only declared ports to create five matching task records, three prerequisites, fifteen requires edges, distractors, an unrelated association, an ignored text atom and a same-match record in another scope; IDs are random and insertion order is shuffled. Two native corpus runs confirm counts and restart/rebuild/substitution. The consumer calls query, outgoing, getRelation, incoming and get/getMany through backend-independent ports. Supplemental authorized private probes compare complete reference sets and canonical payload bytes across initial, catch-up, rebuild and substitution, without publishing private identifiers. Search replacement rebuilds from the same feed rather than inheriting primary index state.</a:t>
            </a:r>
          </a:p>
          <a:p/>
          <a:p>
            <a:r>
              <a:t>Source: evidence/m5/traces/lookup-trace-1.json · lookup-trace-2.json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direct process-kill cases plus four native cases total thirteen deliberately placed M5 SIGKILL scenarios. Test hooks pause at known boundaries with SIGSTOP, then the harness kills the actual process; fixtures position the fault but recovery uses real persisted files. Provider methods also verify malformed responses, invalid source ranges and restart. The independent Search fixture uses its own atomic-file state transitions and predicate evaluation. Both providers consume the authoritative commit feed; neither uses the oracle or foreign SQL. Current authorization is checked before reads, continuation, replay and commit, including revocation. These observations cover same-host process termination with intact storage, not filesystem power failure or distributed failover.</a:t>
            </a:r>
          </a:p>
          <a:p/>
          <a:p>
            <a:r>
              <a:t>Source: test_m5_real.py · test_m5_integration.py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Hive logs native parameters, so an operator-registered opaque request label maps to private query attributes and source barrier. It contains no answer references. Credentials, private query text, atom IDs/hashes and full results remain in operator/private state. The private caller journal binds the selected provider and intent; completed historical replay requires current authority. Four populated-state attention/Search configurations confirm unchanged cognitive files, budgets and result replay. Lookup has no cognitive, formula, messaging or chain dependency. Fresh stores are required; historical tuple Relations/Query declarations remain clearly labelled specifications rather than silently widened profiles. No backfill or populated-state migration is added. The DeTTa core and adapter remain unchanged and application-neutral.</a:t>
            </a:r>
          </a:p>
          <a:p/>
          <a:p>
            <a:r>
              <a:t>Source: lookup_composition.py · hive/lookup · no-cognitive-effects.json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ledger explicitly separates module, operation and behavioral axes. The fifteen-family denominator is the reference inventory, not a complete product requirements set. Nine new operations are assertRelation/getRelation/outgoing/incoming, Search.query, AtomStorage.head/readCommits and Search.catchUp/beginRebuild. Four inherited dependencies create/get/getMany/availability bring the exercised M5 slice to thirteen. Eighteen behavioral groups comprise twelve brief scenarios plus six crash boundaries; thirteen kill instances instantiate those boundaries. No line or branch coverage percentage is measured. The new fixture, real-provider and native methods overlap repeated legacy runs and must not be summed into a false total. Human maintainers remain UNASSIGNED.</a:t>
            </a:r>
          </a:p>
          <a:p/>
          <a:p>
            <a:r>
              <a:t>Source: m5-capability-ledger.json · evidence/m5/manifest.json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Generated private records and a test-only oracle do not become real user knowledge because real providers store them. The oracle is removed before the consumer runs and never supplies answer references. Hive authentication and Programs dispatch, local DeTTa and SQLite journals are real. Alternate atomic-file providers and local grants remain fixtures. The required final M5 missing-prerequisite, executed-failure and observation-timeout arrays are separately empty. A negative verifier test deliberately confirms BLOCKED/NOT_RUN classification without fixture fallback. Earlier development failures remain archived and do not count as final passes. Historical dirty M1 chain source reproduction remains blocked; the clean pinned M4 chain is separately verified and rerun in M5.</a:t>
            </a:r>
          </a:p>
          <a:p/>
          <a:p>
            <a:r>
              <a:t>Source: evidence/m5/manifest.json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clean bfb0ec8 run executed 18 fixture methods in 27.434 seconds, four real-provider methods in 22.088 seconds and seven native Hive cases in 111.519 seconds. Nine direct kills cover atom/feed commit, relation payload/acceptance and projection checkpoint/rebuild boundaries; four native kills cover page/result commits across both Search providers. Ordinary restarts are not extra kill scenarios. Supplemental probes check four attention/Search configurations and four payload transitions. The unchanged M1–M3.1 wrapper passed in 1325.251 seconds with aggregate 156, followed by 11 M4 fixtures and six real M4 cases in a new isolated namespace/state. Reused pinned node binary is explicit. Intermediate failures and repeated subsets are excluded from final counts. This presentation update audits the recorded results; it does not rerun integrations.</a:t>
            </a:r>
          </a:p>
          <a:p/>
          <a:p>
            <a:r>
              <a:t>Source: evidence/m5/final/verification.json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are read directly from the M4 machine manifest and match the final verifier at 55ed540. Earlier M3.1's twelve supported gates remain preserved; its optional CHAIN=NOT_RUN is a historical scope field, not the M4 outcome. M4 uses the actual same-run generated native inspect artifact and mandatory real F1R3node effect. Source discovery and independent clean build/probe preceded adapter implementation. Development failures, including an initial launcher issue and a negative mutable-alias regression, remain in preparation/attempts.json and the red regression log. They were corrected and superseded by the clean final run; they are not reported as missing prerequisites. Results establish the tested local scope only.</a:t>
            </a:r>
          </a:p>
          <a:p/>
          <a:p>
            <a:r>
              <a:t>Source: evidence/m4/manifest.json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are read directly from the M4 machine manifest and match the final verifier at 55ed540. Earlier M3.1's twelve supported gates remain preserved; its optional CHAIN=NOT_RUN is a historical scope field, not the M4 outcome. M4 uses the actual same-run generated native inspect artifact and mandatory real F1R3node effect. Source discovery and independent clean build/probe preceded adapter implementation. Development failures, including an initial launcher issue and a negative mutable-alias regression, remain in preparation/attempts.json and the red regression log. They were corrected and superseded by the clean final run; they are not reported as missing prerequisites. Results establish the tested local scope only.</a:t>
            </a:r>
          </a:p>
          <a:p/>
          <a:p>
            <a:r>
              <a:t>Source: evidence/m4/manifest.json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come directly from the committed M5 manifest and match the final verifier at clean bfb0ec8. All six final suite return codes are zero. Earlier intermediate PARTIAL and corrected development failures are preserved separately and contribute no final passes. An intentional missing-environment probe verifies BLOCKED/NOT_RUN classification and no fixture fallback. Legacy real chain is rerun as existing M4 behavior, not an added M5 operation. All fifteen reference families are represented, but scope remains exact-attribute discovery and one-hop traversal over bounded fresh private stores.</a:t>
            </a:r>
          </a:p>
          <a:p/>
          <a:p>
            <a:r>
              <a:t>Source: evidence/m5/manifest.json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Gate statuses come directly from the committed M5 manifest and match the final verifier at clean bfb0ec8. All six final suite return codes are zero. Earlier intermediate PARTIAL and corrected development failures are preserved separately and contribute no final passes. An intentional missing-environment probe verifies BLOCKED/NOT_RUN classification and no fixture fallback. Legacy real chain is rerun as existing M4 behavior, not an added M5 operation. All fifteen reference families are represented, but scope remains exact-attribute discovery and one-hop traversal over bounded fresh private stores.</a:t>
            </a:r>
          </a:p>
          <a:p/>
          <a:p>
            <a:r>
              <a:t>Source: evidence/m5/manifest.json · final/verification.json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Requested ancestor 05b1c52cfa6ced6e263700753e82ad6038a3b0dd; actual start 4093301ea6b34bb8de487a4e4d9aae8a9ee6e61d; tested bfb0ec8856c932dc2bcbc05b8949c957da8d72cd; evidence-only 3dc6c1146601a0d0aa8785e61884970ec84a57c6. M5 implementation commits 0cb61d5, 9b0ed35 and bfb0ec8 precede the evidence commit. The native provider recipe recorded 4093301 because build began before implementation, but its recipe, pins and Rust adapter bytes remained identical at the tested source. Plugins loaded from clean bfb0ec8. The existing M4 Python lock was installed before the final legacy chain run. The pinned M4 node binary was reused with fresh isolated state/genesis. Earlier incorrect test DTO assumption, duplicate PYTHONPATH and missing cryptography dependency were fixed and recorded; intermediate PARTIAL does not count toward final gates. Source/build reproducibility is not cross-host bit reproducibility or an empty-cache claim.</a:t>
            </a:r>
          </a:p>
          <a:p/>
          <a:p>
            <a:r>
              <a:t>Source: evidence/m5/source-state.json · reproduction.json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Bounds are 512 atoms, 4096 bytes per atom, 128 accepted relations, 512 relation replay keys, 256 indexed records, and pages/batches of at most eight. One lookup permits eight query pages, 32 roots, 128 relations and 64 payloads; caller commands and rebuild keys cap at 64. Strings are bounded to 128 codepoints/512 UTF-8 bytes; query encoding to 1024 bytes. Search trusts the immutable source contract and does not attest cryptographically against a compromised owner. Current authorization is rechecked, including historical result replay. Recovery covers same-host process kills with intact files, not power loss/distributed failover. Old profiles stay explicit; existing stores are not migrated. Maintainership remains UNASSIGNED. These are bounded reference modules, not full Omega product coverage.</a:t>
            </a:r>
          </a:p>
          <a:p/>
          <a:p>
            <a:r>
              <a:t>Source: m5-contracts.md · m5-evidence.md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five ELI16 stories: history and support, priorities and budgets, delivery closure, approved commitments, and a library catalogue with explicit freshness. M5 completes the bounded fifteen-family inventory with four Relations operations and exact-attribute Search. The native consumer discovers five roots, fifteen relations and eight payloads without supplied answer references. Lag, catch-up, rebuild, restart and independent replacement are demonstrated through declared interfaces. M1–M4 regressions pass, including real chain; no new cognition, numerical behavior or chain work is added. Separate module, operation and behavior coverage says precisely what was demonstrated. Private data and identifiers remain private. The useful result is a tested local integration with explicit limits.</a:t>
            </a:r>
          </a:p>
          <a:p/>
          <a:p>
            <a:r>
              <a:t>Source: M5 tested bfb0ec8 · evidence 3dc6c11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Paths are relative to fusion/ unless marked hive/, which is under integration/. ports.py declares the protocols; attention_contracts.py and cognition_contracts.py enforce the executable bounded schemas. Shared DTO validators are permitted in the independent fixture, shared owner transitions are not. C2 default M2 behavior remains via its original validators and profile; the derived owner selects fresh v3 behavior. The native plugin uses integration/m3_scenario.py and holds only caller intent and public receipt. No owner reaches into another owner's private SQL. Tests and exact source hashes are indexed in the M3.1 machine manifest. Historical protocol declarations are preserved; new closure protocols are explicit.</a:t>
            </a:r>
          </a:p>
          <a:p/>
          <a:p>
            <a:r>
              <a:t>Source: architecture.md · ports.py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commit 3dc6c1146601a0d0aa8785e61884970ec84a57c6. Full inspected metta-attention revision: 3e1c8147dc17299d17ab34720334fc19277cb6a9, clean. Its coupled STI/LTI/VLTI, wages and funds are not silently adopted. Runtime profile: fusion-petta-swi-10.1.14-deduction/1; rule profile: grounded-five-premise-deduction/1; truth model: trueagi-pln-stv-finite-k1/v1. PLN library SHA-256 cdfb3f18bd7b336440fc7b4409209afddf0e64c41f17dee7eefc8f02718de433. Historical M3 SWI binary SHA-256 dcd379ed717cd4869b4ef0b4683bcb4023177b6d04f2356cddb85b1c5c666262; M4 build/binary-identities.json records the new build identities. Native Python 3.12.12, Janus 1.5.3; fixture runner Python 3.11.14. All exercised source checkouts were clean. No upstream formula or runtime implementation was patched. Historical SWI 10.0.1 remains unrun.</a:t>
            </a:r>
          </a:p>
          <a:p/>
          <a:p>
            <a:r>
              <a:t>Source: evidence/m5/source-state.json · provider-build.json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configuration selector is fusion-delivery-closure/1. C1's trusted completion DTO has profile trusted-evidence-completion/1. C3 arithmetic policy remains sti-additive-linear-decay/1 while its interface/profile explicitly adds submitFeedback and resolveFeedback. C4 adds readProgress and reconcile. Max 16 targets, 16 advance steps, eight contexts, 512 causes/context, 1024 commands/owner and feedback generation three are unchanged. First retirement consumes existing cause/command capacity; recovering an existing application or retirement does not allocate a new slot. Reconciliation has its own finite command budget and cannot reset original WorkBudget/deadline. M1 wire, M2 revision and M3 old cognition profiles remain supported. Algorithm profile, interface version, selected descriptor, runtime and current permissions all matter.</a:t>
            </a:r>
          </a:p>
          <a:p/>
          <a:p>
            <a:r>
              <a:t>Source: contracts.md · cognition.py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reproduction against clean 3b34e00 confirms the old acknowledgment/relay NOT_AVAILABLE, 16 pending then append 17 OVERLOADED, and persistent stale-feedback CONFLICT after reopen. Those expected gaps are separate from the passing baseline regression. New-profile delivery drains, including after deduction and for model-inapplicable reports. Neither this extension nor the presentation migrates existing state. Compatibility tests populate old stores, operate on disposable copies, reject new selection without modifying bytes and replay with original descriptors. Fresh profiles preserve strict time and causal semantics. This distinction must survive any claim that the seam is now closed.</a:t>
            </a:r>
          </a:p>
          <a:p/>
          <a:p>
            <a:r>
              <a:t>Source: m3_1/baseline/gaps.json · test_m3_1_compat.py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effects originate in the real native operation, not a renamed protocol demo. The caller first commits its original intent. AtomStorage persists generated bytes in actual DeTTa, then Messaging accepts a reference for the explicitly labelled fixture counterparty. DelegatedExecution accepts only inspect_atom under the original key and correlation. The caller records the accepted job. A separate real worker reads/persists through AtomStorage, then commits execution terminal state/outbox. Messaging accepts the completion in a separate transaction. The final arrow summarizes reconciliation: status /2 restores known correlation, poll and get verify the completion, caller acceptance commits, and a stable-key acknowledgement follows. This is not one distributed transaction.</a:t>
            </a:r>
          </a:p>
          <a:p/>
          <a:p>
            <a:r>
              <a:t>Source: program.py · execution.py · messaging.py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this historical result without promoting it into the new real-caller gate. The M1 chain JSON records pending, included with effect finality Pending, then finalized, at height 3 with no execution error, no rejection and cost 351 phlo. The committed digest belongs to the original protocol-peer result, not the generated native Hive result in M1.2. The M1 adapter used a registered approved digest, injected signer and durable signed intent against one isolated local node. That source had local changes and an untracked input. Exact historical reproduction remains blocked until those authorized bytes are supplied or a different clean revision is separately validated. M1.2, M2, M3 and M3.1 did not run chain. M4 now has a separate real native artifact, clean source rebaseline, post-state verification and readback. This historical protocol-peer result is not reused as M4 proof. The presentation update itself runs no chain process or transaction. Finality does not establish indefinite off-chain availability.</a:t>
            </a:r>
          </a:p>
          <a:p/>
          <a:p>
            <a:r>
              <a:t>Source: evidence/chain-demo.json · M1 historical</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runbook M4 required isolated chain reproduction section for actual paths and Linux/SSH/toolchain prerequisites. Build_m4.py obtains all pinned sources and builds providers plus a clean F1R3node with offline locked Cargo build after fetch. User/network namespaces must be available; generated keys/genesis stay inside ignored artifacts. verify_m4.py checks exact source start/end, runs full M1–M3.1 regression plus eleven commitment fixtures and six real native chain tests. It records positive observation timeouts separately from missing prerequisites and executed failures. Independent reproduction: &lt;NATIVE_PYTHON&gt; scripts/readback_m4.py &lt;PRIVATE_READ_ACCESS_JSON&gt; &lt;SAME_ARTIFACT_JSON&gt;, with reachable isolated node and retained post-state. Follow the runbook for the exact invocation and namespace access. Do not publish raw provider environments, journals or keys. Downloads may be warm; provider builds are fresh. This deck's export/check commands do not rerun integrations.</a:t>
            </a:r>
          </a:p>
          <a:p/>
          <a:p>
            <a:r>
              <a:t>Source: runbook.md · build_m4.py · verify_m4.py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derivation's logical ID excludes request/step identity, output CAS and deadline so a retry cannot manufacture new independent support. An attempt key freezes its exact semantic body and is evaluated at most once; a killed pending attempt consumes a physical reservation. Multiple physical calculations for one logical derivation remain possible under distinct reserved attempts. C2 commits its decision before C4 progress; C3 commits feedback before C4 acknowledgment. Recovery queries those owners rather than inferring success from a missing local reply. Feedback_applied counts acknowledged unique logical credits; feedback_duplicate records suppression on duplicate admission. Fixed feedback adds no truth evidence. The semantics distinguish bounded termination, successful admission and fully acknowledged work.</a:t>
            </a:r>
          </a:p>
          <a:p/>
          <a:p>
            <a:r>
              <a:t>Source: inference.py · derived_beliefs.py · attention.py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sibling exposes commit and observe, with only original_command. It gets completed accepted/acknowledged results through a caller-owned accessor beside the unchanged fusion-inspect plugin. ConsensusFinality signatures remain backend-independent. The new profile pins actual inclusion-block post-state semantics and fixed commitment format; it does not widen the legacy adapter. Logical timestamp/plan commit before signing, full signed deploy commits before HTTP. Replays retain the exact signature, serialization, gas limits, timestamp and deployment identity, without extending validity. Native progress is separate from adapter observations and cannot access other owners' tables. Observation calls are bounded and cooperative; an in-flight socket timeout may complete after the start deadline. Fresh single-operation journals only; no migration. Tests live in tests/test_m4_chain.py and integration/chain/test_m4.py. Build, verify and separate readback scripts provide the evidence workflow.</a:t>
            </a:r>
          </a:p>
          <a:p/>
          <a:p>
            <a:r>
              <a:t>Source: contracts.md · ADR-013 · f1r3_m4.py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runbook supplies concrete paths and prerequisites. build_m3.py makes fresh pinned native Hive/PeTTa/SWI/DeTTa providers; the unchanged M4 Python lock supplies legacy-chain dependencies. &lt;chain&gt; is a verified pinned M4 node build, explicitly reused in the recorded run; build_m4.py can create a fresh full build when needed. verify_m5.py supports fixtures, storage, hive, legacy or all. Fixture, real-provider, missing prerequisite, executed failure and timeout classifications remain distinct. The native writer uses declared ports then exits; the operator request map contains query attributes and source barrier only. The private caller journal retains detailed result state. Public evidence publishes sanitized counts, gate results and code/build hashes only. Reading these commands or rebuilding this deck runs no integration or chain process.</a:t>
            </a:r>
          </a:p>
          <a:p/>
          <a:p>
            <a:r>
              <a:t>Source: runbook.md · scripts/verify_m5.py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MODULE-INTERFACE ARCHITECTURE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28778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Discover the knowledge.</a:t>
            </a:r>
          </a:p>
        </p:txBody>
      </p:sp>
      <p:sp>
        <p:nvSpPr>
          <p:cNvPr id="5" name="TextBox 4"/>
          <p:cNvSpPr txBox="1"/>
          <p:nvPr/>
        </p:nvSpPr>
        <p:spPr>
          <a:xfrm>
            <a:off x="548640" y="191871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Bound the work.</a:t>
            </a:r>
          </a:p>
        </p:txBody>
      </p:sp>
      <p:sp>
        <p:nvSpPr>
          <p:cNvPr id="6" name="TextBox 5"/>
          <p:cNvSpPr txBox="1"/>
          <p:nvPr/>
        </p:nvSpPr>
        <p:spPr>
          <a:xfrm>
            <a:off x="548640" y="254965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Verify the result.</a:t>
            </a:r>
          </a:p>
        </p:txBody>
      </p:sp>
      <p:sp>
        <p:nvSpPr>
          <p:cNvPr id="7" name="TextBox 6"/>
          <p:cNvSpPr txBox="1"/>
          <p:nvPr/>
        </p:nvSpPr>
        <p:spPr>
          <a:xfrm>
            <a:off x="579120" y="3665219"/>
            <a:ext cx="9525000" cy="409651"/>
          </a:xfrm>
          <a:prstGeom prst="rect">
            <a:avLst/>
          </a:prstGeom>
          <a:noFill/>
        </p:spPr>
        <p:txBody>
          <a:bodyPr wrap="none" lIns="0" rIns="0" tIns="0" bIns="0" anchor="t" anchorCtr="0">
            <a:noAutofit/>
          </a:bodyPr>
          <a:lstStyle/>
          <a:p>
            <a:pPr algn="l">
              <a:lnSpc>
                <a:spcPct val="100000"/>
              </a:lnSpc>
              <a:spcBef>
                <a:spcPts val="0"/>
              </a:spcBef>
              <a:spcAft>
                <a:spcPts val="0"/>
              </a:spcAft>
            </a:pPr>
            <a:r>
              <a:rPr sz="2520" b="0">
                <a:solidFill>
                  <a:srgbClr val="AAC0CC"/>
                </a:solidFill>
                <a:latin typeface="DejaVu Sans"/>
              </a:rPr>
              <a:t>Omega Hive × ASI</a:t>
            </a:r>
          </a:p>
        </p:txBody>
      </p:sp>
      <p:sp>
        <p:nvSpPr>
          <p:cNvPr id="8" name="TextBox 7"/>
          <p:cNvSpPr txBox="1"/>
          <p:nvPr/>
        </p:nvSpPr>
        <p:spPr>
          <a:xfrm>
            <a:off x="579120" y="4191000"/>
            <a:ext cx="105918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0">
                <a:solidFill>
                  <a:srgbClr val="FFFFFF"/>
                </a:solidFill>
                <a:latin typeface="DejaVu Sans"/>
              </a:rPr>
              <a:t>Private lookup, bounded cognition and verified chain commitments</a:t>
            </a:r>
          </a:p>
        </p:txBody>
      </p:sp>
      <p:sp>
        <p:nvSpPr>
          <p:cNvPr id="9" name="Rounded Rectangle 8"/>
          <p:cNvSpPr/>
          <p:nvPr/>
        </p:nvSpPr>
        <p:spPr>
          <a:xfrm>
            <a:off x="579120" y="5151120"/>
            <a:ext cx="3773849" cy="289560"/>
          </a:xfrm>
          <a:prstGeom prst="roundRect">
            <a:avLst>
              <a:gd name="adj" fmla="val 18421"/>
            </a:avLst>
          </a:prstGeom>
          <a:solidFill>
            <a:srgbClr val="DCEFE8"/>
          </a:solidFill>
          <a:ln>
            <a:noFill/>
          </a:ln>
          <a:effectLst/>
        </p:spPr>
        <p:txBody>
          <a:bodyPr rtlCol="0" anchor="ctr"/>
          <a:lstStyle/>
          <a:p>
            <a:pPr algn="ctr"/>
          </a:p>
        </p:txBody>
      </p:sp>
      <p:sp>
        <p:nvSpPr>
          <p:cNvPr id="10" name="TextBox 9"/>
          <p:cNvSpPr txBox="1"/>
          <p:nvPr/>
        </p:nvSpPr>
        <p:spPr>
          <a:xfrm>
            <a:off x="685800" y="5204460"/>
            <a:ext cx="3583349"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007C78"/>
                </a:solidFill>
                <a:latin typeface="DejaVu Sans"/>
              </a:rPr>
              <a:t>THROUGH M5 · LOOKUP + C1–C4 + CHAIN</a:t>
            </a:r>
          </a:p>
        </p:txBody>
      </p:sp>
      <p:sp>
        <p:nvSpPr>
          <p:cNvPr id="11" name="Rounded Rectangle 10"/>
          <p:cNvSpPr/>
          <p:nvPr/>
        </p:nvSpPr>
        <p:spPr>
          <a:xfrm>
            <a:off x="5867400" y="5151120"/>
            <a:ext cx="2438042" cy="289560"/>
          </a:xfrm>
          <a:prstGeom prst="roundRect">
            <a:avLst>
              <a:gd name="adj" fmla="val 18421"/>
            </a:avLst>
          </a:prstGeom>
          <a:solidFill>
            <a:srgbClr val="E4EBF5"/>
          </a:solidFill>
          <a:ln>
            <a:noFill/>
          </a:ln>
          <a:effectLst/>
        </p:spPr>
        <p:txBody>
          <a:bodyPr rtlCol="0" anchor="ctr"/>
          <a:lstStyle/>
          <a:p>
            <a:pPr algn="ctr"/>
          </a:p>
        </p:txBody>
      </p:sp>
      <p:sp>
        <p:nvSpPr>
          <p:cNvPr id="12" name="TextBox 11"/>
          <p:cNvSpPr txBox="1"/>
          <p:nvPr/>
        </p:nvSpPr>
        <p:spPr>
          <a:xfrm>
            <a:off x="5974080" y="5204460"/>
            <a:ext cx="2247542"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315E9C"/>
                </a:solidFill>
                <a:latin typeface="DejaVu Sans"/>
              </a:rPr>
              <a:t>HIVE · DETTA · PLN · F1R3</a:t>
            </a:r>
          </a:p>
        </p:txBody>
      </p:sp>
      <p:sp>
        <p:nvSpPr>
          <p:cNvPr id="13" name="TextBox 12"/>
          <p:cNvSpPr txBox="1"/>
          <p:nvPr/>
        </p:nvSpPr>
        <p:spPr>
          <a:xfrm>
            <a:off x="579120" y="5745480"/>
            <a:ext cx="10287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AAC0CC"/>
                </a:solidFill>
                <a:latin typeface="DejaVu Sans"/>
              </a:rPr>
              <a:t>Architecture and evidence • 16 October 2026 • supported local scope</a:t>
            </a:r>
          </a:p>
        </p:txBody>
      </p:sp>
      <p:cxnSp>
        <p:nvCxnSpPr>
          <p:cNvPr id="14" name="Connector 13"/>
          <p:cNvCxnSpPr/>
          <p:nvPr/>
        </p:nvCxnSpPr>
        <p:spPr>
          <a:xfrm>
            <a:off x="548640" y="6393180"/>
            <a:ext cx="11094720" cy="0"/>
          </a:xfrm>
          <a:prstGeom prst="line">
            <a:avLst/>
          </a:prstGeom>
          <a:ln w="7620">
            <a:solidFill>
              <a:srgbClr val="536775"/>
            </a:solidFill>
          </a:ln>
          <a:effectLst/>
        </p:spPr>
      </p:cxnSp>
      <p:sp>
        <p:nvSpPr>
          <p:cNvPr id="15" name="TextBox 1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M5 / M5 evidence 3dc6c11 · tested bfb0ec8</a:t>
            </a:r>
          </a:p>
        </p:txBody>
      </p:sp>
      <p:sp>
        <p:nvSpPr>
          <p:cNvPr id="16" name="TextBox 1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01 / 64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1 OF 5</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ELI16: remember, weigh evidence, do the calculation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Think of a student investigating a question with a notebook, evidence ledger and calculator.</a:t>
            </a:r>
          </a:p>
        </p:txBody>
      </p:sp>
      <p:sp>
        <p:nvSpPr>
          <p:cNvPr id="5" name="Rounded Rectangle 4"/>
          <p:cNvSpPr/>
          <p:nvPr/>
        </p:nvSpPr>
        <p:spPr>
          <a:xfrm>
            <a:off x="54864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NOTEBOOK</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Keep the original story</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 what happened and</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where each report came from.</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Keep contrary observations;</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replay does not add another</a:t>
            </a:r>
          </a:p>
        </p:txBody>
      </p:sp>
      <p:sp>
        <p:nvSpPr>
          <p:cNvPr id="12" name="TextBox 11"/>
          <p:cNvSpPr txBox="1"/>
          <p:nvPr/>
        </p:nvSpPr>
        <p:spPr>
          <a:xfrm>
            <a:off x="71628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event.</a:t>
            </a:r>
          </a:p>
        </p:txBody>
      </p:sp>
      <p:sp>
        <p:nvSpPr>
          <p:cNvPr id="13" name="Rounded Rectangle 12"/>
          <p:cNvSpPr/>
          <p:nvPr/>
        </p:nvSpPr>
        <p:spPr>
          <a:xfrm>
            <a:off x="432816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14" name="TextBox 13"/>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C2 · EVIDENCE LEDGER</a:t>
            </a:r>
          </a:p>
        </p:txBody>
      </p:sp>
      <p:sp>
        <p:nvSpPr>
          <p:cNvPr id="15" name="TextBox 14"/>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Know what supports a</a:t>
            </a:r>
          </a:p>
        </p:txBody>
      </p:sp>
      <p:sp>
        <p:nvSpPr>
          <p:cNvPr id="16" name="TextBox 15"/>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belief</a:t>
            </a:r>
          </a:p>
        </p:txBody>
      </p:sp>
      <p:sp>
        <p:nvSpPr>
          <p:cNvPr id="17" name="TextBox 16"/>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copy is still the same source.</a:t>
            </a:r>
          </a:p>
        </p:txBody>
      </p:sp>
      <p:sp>
        <p:nvSpPr>
          <p:cNvPr id="18" name="TextBox 17"/>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conclusion keeps its</a:t>
            </a:r>
          </a:p>
        </p:txBody>
      </p:sp>
      <p:sp>
        <p:nvSpPr>
          <p:cNvPr id="19" name="TextBox 18"/>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parents; it does not become a</a:t>
            </a:r>
          </a:p>
        </p:txBody>
      </p:sp>
      <p:sp>
        <p:nvSpPr>
          <p:cNvPr id="20" name="TextBox 19"/>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fresh observation.</a:t>
            </a:r>
          </a:p>
        </p:txBody>
      </p:sp>
      <p:sp>
        <p:nvSpPr>
          <p:cNvPr id="21" name="Rounded Rectangle 20"/>
          <p:cNvSpPr/>
          <p:nvPr/>
        </p:nvSpPr>
        <p:spPr>
          <a:xfrm>
            <a:off x="8107680" y="1920239"/>
            <a:ext cx="3535679" cy="2895600"/>
          </a:xfrm>
          <a:prstGeom prst="roundRect">
            <a:avLst>
              <a:gd name="adj" fmla="val 3421"/>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PLN · CALCULATOR</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Apply a guarded</a:t>
            </a:r>
          </a:p>
        </p:txBody>
      </p:sp>
      <p:sp>
        <p:nvSpPr>
          <p:cNvPr id="24" name="TextBox 23"/>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formula</a:t>
            </a:r>
          </a:p>
        </p:txBody>
      </p:sp>
      <p:sp>
        <p:nvSpPr>
          <p:cNvPr id="25" name="TextBox 24"/>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Use the existing pinned</a:t>
            </a:r>
          </a:p>
        </p:txBody>
      </p:sp>
      <p:sp>
        <p:nvSpPr>
          <p:cNvPr id="26" name="TextBox 25"/>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mathematics on exact inputs.</a:t>
            </a:r>
          </a:p>
        </p:txBody>
      </p:sp>
      <p:sp>
        <p:nvSpPr>
          <p:cNvPr id="27" name="TextBox 26"/>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C2 checks and saves the</a:t>
            </a:r>
          </a:p>
        </p:txBody>
      </p:sp>
      <p:sp>
        <p:nvSpPr>
          <p:cNvPr id="28" name="TextBox 27"/>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the calculator owns no</a:t>
            </a:r>
          </a:p>
        </p:txBody>
      </p:sp>
      <p:sp>
        <p:nvSpPr>
          <p:cNvPr id="29" name="TextBox 28"/>
          <p:cNvSpPr txBox="1"/>
          <p:nvPr/>
        </p:nvSpPr>
        <p:spPr>
          <a:xfrm>
            <a:off x="827532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beliefs.</a:t>
            </a:r>
          </a:p>
        </p:txBody>
      </p:sp>
      <p:sp>
        <p:nvSpPr>
          <p:cNvPr id="30" name="Rounded Rectangle 29"/>
          <p:cNvSpPr/>
          <p:nvPr/>
        </p:nvSpPr>
        <p:spPr>
          <a:xfrm>
            <a:off x="548640" y="4953000"/>
            <a:ext cx="11094720" cy="754380"/>
          </a:xfrm>
          <a:prstGeom prst="roundRect">
            <a:avLst>
              <a:gd name="adj" fmla="val 13131"/>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What this gives us</a:t>
            </a:r>
          </a:p>
        </p:txBody>
      </p:sp>
      <p:sp>
        <p:nvSpPr>
          <p:cNvPr id="32" name="TextBox 31"/>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An inspectable trail from original observations to admitted conclusions.</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A repeated message, a new conclusion and an independent observation mean different things.</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M2 preserved · M3 derived admission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02 / 64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2 OF 5</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ELI16: a priority list and a limited attempt budget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There are two prepared questions, but time for only one calculation. Which should run first?</a:t>
            </a:r>
          </a:p>
        </p:txBody>
      </p:sp>
      <p:sp>
        <p:nvSpPr>
          <p:cNvPr id="5" name="Rounded Rectangle 4"/>
          <p:cNvSpPr/>
          <p:nvPr/>
        </p:nvSpPr>
        <p:spPr>
          <a:xfrm>
            <a:off x="548640" y="1935480"/>
            <a:ext cx="3535679" cy="2072639"/>
          </a:xfrm>
          <a:prstGeom prst="roundRect">
            <a:avLst>
              <a:gd name="adj" fmla="val 477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C3 · Priority list</a:t>
            </a:r>
          </a:p>
        </p:txBody>
      </p:sp>
      <p:sp>
        <p:nvSpPr>
          <p:cNvPr id="7" name="TextBox 6"/>
          <p:cNvSpPr txBox="1"/>
          <p:nvPr/>
        </p:nvSpPr>
        <p:spPr>
          <a:xfrm>
            <a:off x="716280" y="251094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Give each eligible task an</a:t>
            </a:r>
          </a:p>
        </p:txBody>
      </p:sp>
      <p:sp>
        <p:nvSpPr>
          <p:cNvPr id="8" name="TextBox 7"/>
          <p:cNvSpPr txBox="1"/>
          <p:nvPr/>
        </p:nvSpPr>
        <p:spPr>
          <a:xfrm>
            <a:off x="716280" y="279379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integer score. Rank it, decay</a:t>
            </a:r>
          </a:p>
        </p:txBody>
      </p:sp>
      <p:sp>
        <p:nvSpPr>
          <p:cNvPr id="9" name="TextBox 8"/>
          <p:cNvSpPr txBox="1"/>
          <p:nvPr/>
        </p:nvSpPr>
        <p:spPr>
          <a:xfrm>
            <a:off x="716280" y="307665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it explicitly, and remember</a:t>
            </a:r>
          </a:p>
        </p:txBody>
      </p:sp>
      <p:sp>
        <p:nvSpPr>
          <p:cNvPr id="10" name="TextBox 9"/>
          <p:cNvSpPr txBox="1"/>
          <p:nvPr/>
        </p:nvSpPr>
        <p:spPr>
          <a:xfrm>
            <a:off x="716280" y="335950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feedback once.</a:t>
            </a:r>
          </a:p>
        </p:txBody>
      </p:sp>
      <p:sp>
        <p:nvSpPr>
          <p:cNvPr id="11" name="Rounded Rectangle 10"/>
          <p:cNvSpPr/>
          <p:nvPr/>
        </p:nvSpPr>
        <p:spPr>
          <a:xfrm>
            <a:off x="4328160" y="1935480"/>
            <a:ext cx="3535679" cy="2072639"/>
          </a:xfrm>
          <a:prstGeom prst="roundRect">
            <a:avLst>
              <a:gd name="adj" fmla="val 4779"/>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C4 · Work</a:t>
            </a:r>
          </a:p>
        </p:txBody>
      </p:sp>
      <p:sp>
        <p:nvSpPr>
          <p:cNvPr id="13" name="TextBox 12"/>
          <p:cNvSpPr txBox="1"/>
          <p:nvPr/>
        </p:nvSpPr>
        <p:spPr>
          <a:xfrm>
            <a:off x="449580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coordinator</a:t>
            </a:r>
          </a:p>
        </p:txBody>
      </p:sp>
      <p:sp>
        <p:nvSpPr>
          <p:cNvPr id="14" name="TextBox 13"/>
          <p:cNvSpPr txBox="1"/>
          <p:nvPr/>
        </p:nvSpPr>
        <p:spPr>
          <a:xfrm>
            <a:off x="449580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Choose from that list. Save</a:t>
            </a:r>
          </a:p>
        </p:txBody>
      </p:sp>
      <p:sp>
        <p:nvSpPr>
          <p:cNvPr id="15" name="TextBox 14"/>
          <p:cNvSpPr txBox="1"/>
          <p:nvPr/>
        </p:nvSpPr>
        <p:spPr>
          <a:xfrm>
            <a:off x="449580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attempt reservation</a:t>
            </a:r>
          </a:p>
        </p:txBody>
      </p:sp>
      <p:sp>
        <p:nvSpPr>
          <p:cNvPr id="16" name="TextBox 15"/>
          <p:cNvSpPr txBox="1"/>
          <p:nvPr/>
        </p:nvSpPr>
        <p:spPr>
          <a:xfrm>
            <a:off x="449580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before calculation, then track</a:t>
            </a:r>
          </a:p>
        </p:txBody>
      </p:sp>
      <p:sp>
        <p:nvSpPr>
          <p:cNvPr id="17" name="TextBox 16"/>
          <p:cNvSpPr txBox="1"/>
          <p:nvPr/>
        </p:nvSpPr>
        <p:spPr>
          <a:xfrm>
            <a:off x="449580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admission and feedback.</a:t>
            </a:r>
          </a:p>
        </p:txBody>
      </p:sp>
      <p:sp>
        <p:nvSpPr>
          <p:cNvPr id="18" name="Rounded Rectangle 17"/>
          <p:cNvSpPr/>
          <p:nvPr/>
        </p:nvSpPr>
        <p:spPr>
          <a:xfrm>
            <a:off x="8107680" y="1935480"/>
            <a:ext cx="3535679" cy="2072639"/>
          </a:xfrm>
          <a:prstGeom prst="roundRect">
            <a:avLst>
              <a:gd name="adj" fmla="val 4779"/>
            </a:avLst>
          </a:prstGeom>
          <a:solidFill>
            <a:srgbClr val="F3E7CE"/>
          </a:solidFill>
          <a:ln w="7620">
            <a:solidFill>
              <a:srgbClr val="A86A15"/>
            </a:solidFill>
          </a:ln>
          <a:effectLst/>
        </p:spPr>
        <p:txBody>
          <a:bodyPr rtlCol="0" anchor="ctr"/>
          <a:lstStyle/>
          <a:p>
            <a:pPr algn="ctr"/>
          </a:p>
        </p:txBody>
      </p:sp>
      <p:sp>
        <p:nvSpPr>
          <p:cNvPr id="19" name="TextBox 18"/>
          <p:cNvSpPr txBox="1"/>
          <p:nvPr/>
        </p:nvSpPr>
        <p:spPr>
          <a:xfrm>
            <a:off x="8275320" y="210312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Restart · Same</a:t>
            </a:r>
          </a:p>
        </p:txBody>
      </p:sp>
      <p:sp>
        <p:nvSpPr>
          <p:cNvPr id="20" name="TextBox 19"/>
          <p:cNvSpPr txBox="1"/>
          <p:nvPr/>
        </p:nvSpPr>
        <p:spPr>
          <a:xfrm>
            <a:off x="8275320" y="2434742"/>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budget</a:t>
            </a:r>
          </a:p>
        </p:txBody>
      </p:sp>
      <p:sp>
        <p:nvSpPr>
          <p:cNvPr id="21" name="TextBox 20"/>
          <p:cNvSpPr txBox="1"/>
          <p:nvPr/>
        </p:nvSpPr>
        <p:spPr>
          <a:xfrm>
            <a:off x="8275320" y="2842564"/>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Reopening the notebook</a:t>
            </a:r>
          </a:p>
        </p:txBody>
      </p:sp>
      <p:sp>
        <p:nvSpPr>
          <p:cNvPr id="22" name="TextBox 21"/>
          <p:cNvSpPr txBox="1"/>
          <p:nvPr/>
        </p:nvSpPr>
        <p:spPr>
          <a:xfrm>
            <a:off x="8275320" y="311566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does not refill the budget.</a:t>
            </a:r>
          </a:p>
        </p:txBody>
      </p:sp>
      <p:sp>
        <p:nvSpPr>
          <p:cNvPr id="23" name="TextBox 22"/>
          <p:cNvSpPr txBox="1"/>
          <p:nvPr/>
        </p:nvSpPr>
        <p:spPr>
          <a:xfrm>
            <a:off x="8275320" y="338876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Recover a saved decision; do</a:t>
            </a:r>
          </a:p>
        </p:txBody>
      </p:sp>
      <p:sp>
        <p:nvSpPr>
          <p:cNvPr id="24" name="TextBox 23"/>
          <p:cNvSpPr txBox="1"/>
          <p:nvPr/>
        </p:nvSpPr>
        <p:spPr>
          <a:xfrm>
            <a:off x="8275320" y="366186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not credit it twice.</a:t>
            </a:r>
          </a:p>
        </p:txBody>
      </p:sp>
      <p:cxnSp>
        <p:nvCxnSpPr>
          <p:cNvPr id="25" name="Connector 24"/>
          <p:cNvCxnSpPr/>
          <p:nvPr/>
        </p:nvCxnSpPr>
        <p:spPr>
          <a:xfrm>
            <a:off x="4084319" y="2971800"/>
            <a:ext cx="243841" cy="0"/>
          </a:xfrm>
          <a:prstGeom prst="line">
            <a:avLst/>
          </a:prstGeom>
          <a:ln w="15240">
            <a:solidFill>
              <a:srgbClr val="315E9C"/>
            </a:solidFill>
          </a:ln>
          <a:effectLst/>
        </p:spPr>
      </p:cxnSp>
      <p:sp>
        <p:nvSpPr>
          <p:cNvPr id="26" name="Freeform 25"/>
          <p:cNvSpPr/>
          <p:nvPr/>
        </p:nvSpPr>
        <p:spPr>
          <a:xfrm>
            <a:off x="4229100" y="2933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27" name="Connector 26"/>
          <p:cNvCxnSpPr/>
          <p:nvPr/>
        </p:nvCxnSpPr>
        <p:spPr>
          <a:xfrm>
            <a:off x="7863839" y="2971800"/>
            <a:ext cx="243841" cy="0"/>
          </a:xfrm>
          <a:prstGeom prst="line">
            <a:avLst/>
          </a:prstGeom>
          <a:ln w="15240">
            <a:solidFill>
              <a:srgbClr val="007C78"/>
            </a:solidFill>
          </a:ln>
          <a:effectLst/>
        </p:spPr>
      </p:cxnSp>
      <p:sp>
        <p:nvSpPr>
          <p:cNvPr id="28" name="Freeform 27"/>
          <p:cNvSpPr/>
          <p:nvPr/>
        </p:nvSpPr>
        <p:spPr>
          <a:xfrm>
            <a:off x="8008620" y="2933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9" name="Rounded Rectangle 28"/>
          <p:cNvSpPr/>
          <p:nvPr/>
        </p:nvSpPr>
        <p:spPr>
          <a:xfrm>
            <a:off x="548640" y="4373880"/>
            <a:ext cx="5364480" cy="1211580"/>
          </a:xfrm>
          <a:prstGeom prst="roundRect">
            <a:avLst>
              <a:gd name="adj" fmla="val 8176"/>
            </a:avLst>
          </a:prstGeom>
          <a:solidFill>
            <a:srgbClr val="FFFFFF"/>
          </a:solidFill>
          <a:ln w="7620">
            <a:solidFill>
              <a:srgbClr val="007C78"/>
            </a:solidFill>
          </a:ln>
          <a:effectLst/>
        </p:spPr>
        <p:txBody>
          <a:bodyPr rtlCol="0" anchor="ctr"/>
          <a:lstStyle/>
          <a:p>
            <a:pPr algn="ctr"/>
          </a:p>
        </p:txBody>
      </p:sp>
      <p:sp>
        <p:nvSpPr>
          <p:cNvPr id="30" name="TextBox 29"/>
          <p:cNvSpPr txBox="1"/>
          <p:nvPr/>
        </p:nvSpPr>
        <p:spPr>
          <a:xfrm>
            <a:off x="716280" y="454152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Observed in real Hive</a:t>
            </a:r>
          </a:p>
        </p:txBody>
      </p:sp>
      <p:sp>
        <p:nvSpPr>
          <p:cNvPr id="31" name="TextBox 30"/>
          <p:cNvSpPr txBox="1"/>
          <p:nvPr/>
        </p:nvSpPr>
        <p:spPr>
          <a:xfrm>
            <a:off x="716280" y="490057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One native action, one admitted conclusion, one</a:t>
            </a:r>
          </a:p>
        </p:txBody>
      </p:sp>
      <p:sp>
        <p:nvSpPr>
          <p:cNvPr id="32" name="TextBox 31"/>
          <p:cNvSpPr txBox="1"/>
          <p:nvPr/>
        </p:nvSpPr>
        <p:spPr>
          <a:xfrm>
            <a:off x="716280" y="515416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feedback credit; restart and replay tested.</a:t>
            </a:r>
          </a:p>
        </p:txBody>
      </p:sp>
      <p:sp>
        <p:nvSpPr>
          <p:cNvPr id="33" name="Rounded Rectangle 32"/>
          <p:cNvSpPr/>
          <p:nvPr/>
        </p:nvSpPr>
        <p:spPr>
          <a:xfrm>
            <a:off x="6096000" y="4373880"/>
            <a:ext cx="5547360" cy="1211580"/>
          </a:xfrm>
          <a:prstGeom prst="roundRect">
            <a:avLst>
              <a:gd name="adj" fmla="val 8176"/>
            </a:avLst>
          </a:prstGeom>
          <a:solidFill>
            <a:srgbClr val="FFFFFF"/>
          </a:solidFill>
          <a:ln w="7620">
            <a:solidFill>
              <a:srgbClr val="A86A15"/>
            </a:solidFill>
          </a:ln>
          <a:effectLst/>
        </p:spPr>
        <p:txBody>
          <a:bodyPr rtlCol="0" anchor="ctr"/>
          <a:lstStyle/>
          <a:p>
            <a:pPr algn="ctr"/>
          </a:p>
        </p:txBody>
      </p:sp>
      <p:sp>
        <p:nvSpPr>
          <p:cNvPr id="34" name="TextBox 33"/>
          <p:cNvSpPr txBox="1"/>
          <p:nvPr/>
        </p:nvSpPr>
        <p:spPr>
          <a:xfrm>
            <a:off x="6263640" y="4541520"/>
            <a:ext cx="521208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The deliberate tradeoff</a:t>
            </a:r>
          </a:p>
        </p:txBody>
      </p:sp>
      <p:sp>
        <p:nvSpPr>
          <p:cNvPr id="35" name="TextBox 34"/>
          <p:cNvSpPr txBox="1"/>
          <p:nvPr/>
        </p:nvSpPr>
        <p:spPr>
          <a:xfrm>
            <a:off x="6263640" y="490057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 crash can spend the last attempt without</a:t>
            </a:r>
          </a:p>
        </p:txBody>
      </p:sp>
      <p:sp>
        <p:nvSpPr>
          <p:cNvPr id="36" name="TextBox 35"/>
          <p:cNvSpPr txBox="1"/>
          <p:nvPr/>
        </p:nvSpPr>
        <p:spPr>
          <a:xfrm>
            <a:off x="6263640" y="5154168"/>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producing a conclusion. The receipt says so.</a:t>
            </a:r>
          </a:p>
        </p:txBody>
      </p:sp>
      <p:sp>
        <p:nvSpPr>
          <p:cNvPr id="37" name="Rounded Rectangle 3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8" name="TextBox 37"/>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Priority is not truth. A bounded step finishing is not a promise that a conclusion was found.</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C3 attention · C4 bounded inference</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03 / 64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3 OF 5</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ELI16: finishing the job and settling its receipts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notebook entry, a calculation and a reward can finish at different times.</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C1 + RELAY</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The report was</a:t>
            </a:r>
          </a:p>
        </p:txBody>
      </p:sp>
      <p:sp>
        <p:nvSpPr>
          <p:cNvPr id="8" name="TextBox 7"/>
          <p:cNvSpPr txBox="1"/>
          <p:nvPr/>
        </p:nvSpPr>
        <p:spPr>
          <a:xfrm>
            <a:off x="71628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processed</a:t>
            </a:r>
          </a:p>
        </p:txBody>
      </p:sp>
      <p:sp>
        <p:nvSpPr>
          <p:cNvPr id="9" name="TextBox 8"/>
          <p:cNvSpPr txBox="1"/>
          <p:nvPr/>
        </p:nvSpPr>
        <p:spPr>
          <a:xfrm>
            <a:off x="71628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notebook gets a delivery</a:t>
            </a:r>
          </a:p>
        </p:txBody>
      </p:sp>
      <p:sp>
        <p:nvSpPr>
          <p:cNvPr id="10" name="TextBox 9"/>
          <p:cNvSpPr txBox="1"/>
          <p:nvPr/>
        </p:nvSpPr>
        <p:spPr>
          <a:xfrm>
            <a:off x="71628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receipt even when a report</a:t>
            </a:r>
          </a:p>
        </p:txBody>
      </p:sp>
      <p:sp>
        <p:nvSpPr>
          <p:cNvPr id="11" name="TextBox 10"/>
          <p:cNvSpPr txBox="1"/>
          <p:nvPr/>
        </p:nvSpPr>
        <p:spPr>
          <a:xfrm>
            <a:off x="71628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cannot change a number.</a:t>
            </a:r>
          </a:p>
        </p:txBody>
      </p:sp>
      <p:sp>
        <p:nvSpPr>
          <p:cNvPr id="12" name="TextBox 11"/>
          <p:cNvSpPr txBox="1"/>
          <p:nvPr/>
        </p:nvSpPr>
        <p:spPr>
          <a:xfrm>
            <a:off x="71628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Contrary evidence stays in the</a:t>
            </a:r>
          </a:p>
        </p:txBody>
      </p:sp>
      <p:sp>
        <p:nvSpPr>
          <p:cNvPr id="13" name="TextBox 12"/>
          <p:cNvSpPr txBox="1"/>
          <p:nvPr/>
        </p:nvSpPr>
        <p:spPr>
          <a:xfrm>
            <a:off x="71628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story.</a:t>
            </a:r>
          </a:p>
        </p:txBody>
      </p:sp>
      <p:sp>
        <p:nvSpPr>
          <p:cNvPr id="14" name="Rounded Rectangle 13"/>
          <p:cNvSpPr/>
          <p:nvPr/>
        </p:nvSpPr>
        <p:spPr>
          <a:xfrm>
            <a:off x="432816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15" name="TextBox 14"/>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C3 · ATTENTION</a:t>
            </a:r>
          </a:p>
        </p:txBody>
      </p:sp>
      <p:sp>
        <p:nvSpPr>
          <p:cNvPr id="16" name="TextBox 15"/>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The reward has one</a:t>
            </a:r>
          </a:p>
        </p:txBody>
      </p:sp>
      <p:sp>
        <p:nvSpPr>
          <p:cNvPr id="17" name="TextBox 16"/>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outcome</a:t>
            </a:r>
          </a:p>
        </p:txBody>
      </p:sp>
      <p:sp>
        <p:nvSpPr>
          <p:cNvPr id="18" name="TextBox 17"/>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Ask the priority-list owner:</a:t>
            </a:r>
          </a:p>
        </p:txBody>
      </p:sp>
      <p:sp>
        <p:nvSpPr>
          <p:cNvPr id="19" name="TextBox 18"/>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already credited, retired</a:t>
            </a:r>
          </a:p>
        </p:txBody>
      </p:sp>
      <p:sp>
        <p:nvSpPr>
          <p:cNvPr id="20" name="TextBox 19"/>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without credit, or still pending.</a:t>
            </a:r>
          </a:p>
        </p:txBody>
      </p:sp>
      <p:sp>
        <p:nvSpPr>
          <p:cNvPr id="21" name="TextBox 20"/>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lost reply never earns a</a:t>
            </a:r>
          </a:p>
        </p:txBody>
      </p:sp>
      <p:sp>
        <p:nvSpPr>
          <p:cNvPr id="22" name="TextBox 21"/>
          <p:cNvSpPr txBox="1"/>
          <p:nvPr/>
        </p:nvSpPr>
        <p:spPr>
          <a:xfrm>
            <a:off x="449580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second reward.</a:t>
            </a:r>
          </a:p>
        </p:txBody>
      </p:sp>
      <p:sp>
        <p:nvSpPr>
          <p:cNvPr id="23" name="Rounded Rectangle 22"/>
          <p:cNvSpPr/>
          <p:nvPr/>
        </p:nvSpPr>
        <p:spPr>
          <a:xfrm>
            <a:off x="8107680" y="1920239"/>
            <a:ext cx="3535679" cy="2971800"/>
          </a:xfrm>
          <a:prstGeom prst="roundRect">
            <a:avLst>
              <a:gd name="adj" fmla="val 3333"/>
            </a:avLst>
          </a:prstGeom>
          <a:solidFill>
            <a:srgbClr val="FFFFFF"/>
          </a:solidFill>
          <a:ln w="7620">
            <a:solidFill>
              <a:srgbClr val="A86A15"/>
            </a:solidFill>
          </a:ln>
          <a:effectLst/>
        </p:spPr>
        <p:txBody>
          <a:bodyPr rtlCol="0" anchor="ctr"/>
          <a:lstStyle/>
          <a:p>
            <a:pPr algn="ctr"/>
          </a:p>
        </p:txBody>
      </p:sp>
      <p:sp>
        <p:nvSpPr>
          <p:cNvPr id="24" name="TextBox 23"/>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C4 + HIVE</a:t>
            </a:r>
          </a:p>
        </p:txBody>
      </p:sp>
      <p:sp>
        <p:nvSpPr>
          <p:cNvPr id="25" name="TextBox 24"/>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The receipt tells both</a:t>
            </a:r>
          </a:p>
        </p:txBody>
      </p:sp>
      <p:sp>
        <p:nvSpPr>
          <p:cNvPr id="26" name="TextBox 25"/>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stories</a:t>
            </a:r>
          </a:p>
        </p:txBody>
      </p:sp>
      <p:sp>
        <p:nvSpPr>
          <p:cNvPr id="27" name="TextBox 26"/>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Show the original work result</a:t>
            </a:r>
          </a:p>
        </p:txBody>
      </p:sp>
      <p:sp>
        <p:nvSpPr>
          <p:cNvPr id="28" name="TextBox 27"/>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the later cleanup progress</a:t>
            </a:r>
          </a:p>
        </p:txBody>
      </p:sp>
      <p:sp>
        <p:nvSpPr>
          <p:cNvPr id="29" name="TextBox 28"/>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separately. Cleanup does not</a:t>
            </a:r>
          </a:p>
        </p:txBody>
      </p:sp>
      <p:sp>
        <p:nvSpPr>
          <p:cNvPr id="30" name="TextBox 29"/>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buy another attempt.</a:t>
            </a:r>
          </a:p>
        </p:txBody>
      </p:sp>
      <p:sp>
        <p:nvSpPr>
          <p:cNvPr id="31" name="Rounded Rectangle 30"/>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2" name="TextBox 31"/>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Observed</a:t>
            </a:r>
          </a:p>
        </p:txBody>
      </p:sp>
      <p:sp>
        <p:nvSpPr>
          <p:cNvPr id="33" name="TextBox 32"/>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33 observations drained; 20 new process-kill cases; no new formula calls during reconciliation.</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M3.1 settles recorded effects. It does not extend the deadline, change the past or start new thinking.</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M3.1 delivery closure · owner receipts</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04 / 64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4 OF 5</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ELI16: approve a fingerprint, then check the receipt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Imagine signing a sealed envelope containing the fingerprint of one shareable result.</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1 · APPROVE</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Name the exact result</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Hive finishes a generated task.</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operator approves that</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result, its destination and who</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may sign it.</a:t>
            </a:r>
          </a:p>
        </p:txBody>
      </p:sp>
      <p:sp>
        <p:nvSpPr>
          <p:cNvPr id="12" name="Rounded Rectangle 11"/>
          <p:cNvSpPr/>
          <p:nvPr/>
        </p:nvSpPr>
        <p:spPr>
          <a:xfrm>
            <a:off x="4328160" y="1920239"/>
            <a:ext cx="3535679" cy="2971800"/>
          </a:xfrm>
          <a:prstGeom prst="roundRect">
            <a:avLst>
              <a:gd name="adj" fmla="val 3333"/>
            </a:avLst>
          </a:prstGeom>
          <a:solidFill>
            <a:srgbClr val="FFFFFF"/>
          </a:solidFill>
          <a:ln w="7620">
            <a:solidFill>
              <a:srgbClr val="A86A15"/>
            </a:solidFill>
          </a:ln>
          <a:effectLst/>
        </p:spPr>
        <p:txBody>
          <a:bodyPr rtlCol="0" anchor="ctr"/>
          <a:lstStyle/>
          <a:p>
            <a:pPr algn="ctr"/>
          </a:p>
        </p:txBody>
      </p:sp>
      <p:sp>
        <p:nvSpPr>
          <p:cNvPr id="13" name="TextBox 12"/>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A86A15"/>
                </a:solidFill>
                <a:latin typeface="DejaVu Sans"/>
              </a:rPr>
              <a:t>2 · SAVE, THEN SEND</a:t>
            </a:r>
          </a:p>
        </p:txBody>
      </p:sp>
      <p:sp>
        <p:nvSpPr>
          <p:cNvPr id="14" name="TextBox 13"/>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Keep the same</a:t>
            </a:r>
          </a:p>
        </p:txBody>
      </p:sp>
      <p:sp>
        <p:nvSpPr>
          <p:cNvPr id="15" name="TextBox 14"/>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envelope</a:t>
            </a:r>
          </a:p>
        </p:txBody>
      </p:sp>
      <p:sp>
        <p:nvSpPr>
          <p:cNvPr id="16" name="TextBox 15"/>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the signed request</a:t>
            </a:r>
          </a:p>
        </p:txBody>
      </p:sp>
      <p:sp>
        <p:nvSpPr>
          <p:cNvPr id="17" name="TextBox 16"/>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before sending. After a crash,</a:t>
            </a:r>
          </a:p>
        </p:txBody>
      </p:sp>
      <p:sp>
        <p:nvSpPr>
          <p:cNvPr id="18" name="TextBox 17"/>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retry those same bytes; a lost</a:t>
            </a:r>
          </a:p>
        </p:txBody>
      </p:sp>
      <p:sp>
        <p:nvSpPr>
          <p:cNvPr id="19" name="TextBox 18"/>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reply does not mean a new</a:t>
            </a:r>
          </a:p>
        </p:txBody>
      </p:sp>
      <p:sp>
        <p:nvSpPr>
          <p:cNvPr id="20" name="TextBox 19"/>
          <p:cNvSpPr txBox="1"/>
          <p:nvPr/>
        </p:nvSpPr>
        <p:spPr>
          <a:xfrm>
            <a:off x="449580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request.</a:t>
            </a:r>
          </a:p>
        </p:txBody>
      </p:sp>
      <p:sp>
        <p:nvSpPr>
          <p:cNvPr id="21" name="Rounded Rectangle 20"/>
          <p:cNvSpPr/>
          <p:nvPr/>
        </p:nvSpPr>
        <p:spPr>
          <a:xfrm>
            <a:off x="810768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3 · VERIFY</a:t>
            </a:r>
          </a:p>
        </p:txBody>
      </p:sp>
      <p:sp>
        <p:nvSpPr>
          <p:cNvPr id="23" name="TextBox 22"/>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Read what was stored</a:t>
            </a:r>
          </a:p>
        </p:txBody>
      </p:sp>
      <p:sp>
        <p:nvSpPr>
          <p:cNvPr id="24" name="TextBox 23"/>
          <p:cNvSpPr txBox="1"/>
          <p:nvPr/>
        </p:nvSpPr>
        <p:spPr>
          <a:xfrm>
            <a:off x="827532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Check the fingerprint in the</a:t>
            </a:r>
          </a:p>
        </p:txBody>
      </p:sp>
      <p:sp>
        <p:nvSpPr>
          <p:cNvPr id="25" name="TextBox 24"/>
          <p:cNvSpPr txBox="1"/>
          <p:nvPr/>
        </p:nvSpPr>
        <p:spPr>
          <a:xfrm>
            <a:off x="827532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block’s resulting state and the</a:t>
            </a:r>
          </a:p>
        </p:txBody>
      </p:sp>
      <p:sp>
        <p:nvSpPr>
          <p:cNvPr id="26" name="TextBox 25"/>
          <p:cNvSpPr txBox="1"/>
          <p:nvPr/>
        </p:nvSpPr>
        <p:spPr>
          <a:xfrm>
            <a:off x="827532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matching deployment’s</a:t>
            </a:r>
          </a:p>
        </p:txBody>
      </p:sp>
      <p:sp>
        <p:nvSpPr>
          <p:cNvPr id="27" name="TextBox 26"/>
          <p:cNvSpPr txBox="1"/>
          <p:nvPr/>
        </p:nvSpPr>
        <p:spPr>
          <a:xfrm>
            <a:off x="827532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finalized effect. Repeat after</a:t>
            </a:r>
          </a:p>
        </p:txBody>
      </p:sp>
      <p:sp>
        <p:nvSpPr>
          <p:cNvPr id="28" name="TextBox 27"/>
          <p:cNvSpPr txBox="1"/>
          <p:nvPr/>
        </p:nvSpPr>
        <p:spPr>
          <a:xfrm>
            <a:off x="8275320" y="375605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restart.</a:t>
            </a:r>
          </a:p>
        </p:txBody>
      </p:sp>
      <p:sp>
        <p:nvSpPr>
          <p:cNvPr id="29" name="Rounded Rectangle 28"/>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Private notebooks stay private</a:t>
            </a:r>
          </a:p>
        </p:txBody>
      </p:sp>
      <p:sp>
        <p:nvSpPr>
          <p:cNvPr id="31" name="TextBox 30"/>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Only the approved generated workflow is eligible. Episodes, beliefs and their identifying hashes stay off-chain.</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 stored fingerprint identifies the approved result. It does not establish that the reasoning is true.</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M4 · native Hive → isolated F1R3node</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05 / 64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EXECUTIVE SUMMARY · 5 OF 5</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ELI16: a catalogue, labelled links and the actual books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Ask the library for matching records, follow their links, then read the stored content.</a:t>
            </a:r>
          </a:p>
        </p:txBody>
      </p:sp>
      <p:sp>
        <p:nvSpPr>
          <p:cNvPr id="5" name="Rounded Rectangle 4"/>
          <p:cNvSpPr/>
          <p:nvPr/>
        </p:nvSpPr>
        <p:spPr>
          <a:xfrm>
            <a:off x="54864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SEARCH · CATALOGUE</a:t>
            </a:r>
          </a:p>
        </p:txBody>
      </p:sp>
      <p:sp>
        <p:nvSpPr>
          <p:cNvPr id="7" name="TextBox 6"/>
          <p:cNvSpPr txBox="1"/>
          <p:nvPr/>
        </p:nvSpPr>
        <p:spPr>
          <a:xfrm>
            <a:off x="71628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Find matching records</a:t>
            </a:r>
          </a:p>
        </p:txBody>
      </p:sp>
      <p:sp>
        <p:nvSpPr>
          <p:cNvPr id="8" name="TextBox 7"/>
          <p:cNvSpPr txBox="1"/>
          <p:nvPr/>
        </p:nvSpPr>
        <p:spPr>
          <a:xfrm>
            <a:off x="716280" y="2702661"/>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Ask for exact attributes. The</a:t>
            </a:r>
          </a:p>
        </p:txBody>
      </p:sp>
      <p:sp>
        <p:nvSpPr>
          <p:cNvPr id="9" name="TextBox 8"/>
          <p:cNvSpPr txBox="1"/>
          <p:nvPr/>
        </p:nvSpPr>
        <p:spPr>
          <a:xfrm>
            <a:off x="716280" y="2966008"/>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catalogue returns references</a:t>
            </a:r>
          </a:p>
        </p:txBody>
      </p:sp>
      <p:sp>
        <p:nvSpPr>
          <p:cNvPr id="10" name="TextBox 9"/>
          <p:cNvSpPr txBox="1"/>
          <p:nvPr/>
        </p:nvSpPr>
        <p:spPr>
          <a:xfrm>
            <a:off x="716280" y="322935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says how far it has</a:t>
            </a:r>
          </a:p>
        </p:txBody>
      </p:sp>
      <p:sp>
        <p:nvSpPr>
          <p:cNvPr id="11" name="TextBox 10"/>
          <p:cNvSpPr txBox="1"/>
          <p:nvPr/>
        </p:nvSpPr>
        <p:spPr>
          <a:xfrm>
            <a:off x="716280" y="349270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indexed the accepted records.</a:t>
            </a:r>
          </a:p>
        </p:txBody>
      </p:sp>
      <p:sp>
        <p:nvSpPr>
          <p:cNvPr id="12" name="Rounded Rectangle 11"/>
          <p:cNvSpPr/>
          <p:nvPr/>
        </p:nvSpPr>
        <p:spPr>
          <a:xfrm>
            <a:off x="4328160" y="1920239"/>
            <a:ext cx="3535679" cy="2971800"/>
          </a:xfrm>
          <a:prstGeom prst="roundRect">
            <a:avLst>
              <a:gd name="adj" fmla="val 3333"/>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49580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007C78"/>
                </a:solidFill>
                <a:latin typeface="DejaVu Sans"/>
              </a:rPr>
              <a:t>RELATIONS · LINKS</a:t>
            </a:r>
          </a:p>
        </p:txBody>
      </p:sp>
      <p:sp>
        <p:nvSpPr>
          <p:cNvPr id="14" name="TextBox 13"/>
          <p:cNvSpPr txBox="1"/>
          <p:nvPr/>
        </p:nvSpPr>
        <p:spPr>
          <a:xfrm>
            <a:off x="449580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Follow explicit</a:t>
            </a:r>
          </a:p>
        </p:txBody>
      </p:sp>
      <p:sp>
        <p:nvSpPr>
          <p:cNvPr id="15" name="TextBox 14"/>
          <p:cNvSpPr txBox="1"/>
          <p:nvPr/>
        </p:nvSpPr>
        <p:spPr>
          <a:xfrm>
            <a:off x="449580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structure</a:t>
            </a:r>
          </a:p>
        </p:txBody>
      </p:sp>
      <p:sp>
        <p:nvSpPr>
          <p:cNvPr id="16" name="TextBox 15"/>
          <p:cNvSpPr txBox="1"/>
          <p:nvPr/>
        </p:nvSpPr>
        <p:spPr>
          <a:xfrm>
            <a:off x="449580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record may require three</a:t>
            </a:r>
          </a:p>
        </p:txBody>
      </p:sp>
      <p:sp>
        <p:nvSpPr>
          <p:cNvPr id="17" name="TextBox 16"/>
          <p:cNvSpPr txBox="1"/>
          <p:nvPr/>
        </p:nvSpPr>
        <p:spPr>
          <a:xfrm>
            <a:off x="449580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other records. Follow the</a:t>
            </a:r>
          </a:p>
        </p:txBody>
      </p:sp>
      <p:sp>
        <p:nvSpPr>
          <p:cNvPr id="18" name="TextBox 17"/>
          <p:cNvSpPr txBox="1"/>
          <p:nvPr/>
        </p:nvSpPr>
        <p:spPr>
          <a:xfrm>
            <a:off x="449580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labelled, ordered roles to</a:t>
            </a:r>
          </a:p>
        </p:txBody>
      </p:sp>
      <p:sp>
        <p:nvSpPr>
          <p:cNvPr id="19" name="TextBox 18"/>
          <p:cNvSpPr txBox="1"/>
          <p:nvPr/>
        </p:nvSpPr>
        <p:spPr>
          <a:xfrm>
            <a:off x="449580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discover their references.</a:t>
            </a:r>
          </a:p>
        </p:txBody>
      </p:sp>
      <p:sp>
        <p:nvSpPr>
          <p:cNvPr id="20" name="Rounded Rectangle 19"/>
          <p:cNvSpPr/>
          <p:nvPr/>
        </p:nvSpPr>
        <p:spPr>
          <a:xfrm>
            <a:off x="8107680" y="1920239"/>
            <a:ext cx="3535679" cy="2971800"/>
          </a:xfrm>
          <a:prstGeom prst="roundRect">
            <a:avLst>
              <a:gd name="adj" fmla="val 3333"/>
            </a:avLst>
          </a:prstGeom>
          <a:solidFill>
            <a:srgbClr val="FFFFFF"/>
          </a:solidFill>
          <a:ln w="7620">
            <a:solidFill>
              <a:srgbClr val="315E9C"/>
            </a:solidFill>
          </a:ln>
          <a:effectLst/>
        </p:spPr>
        <p:txBody>
          <a:bodyPr rtlCol="0" anchor="ctr"/>
          <a:lstStyle/>
          <a:p>
            <a:pPr algn="ctr"/>
          </a:p>
        </p:txBody>
      </p:sp>
      <p:sp>
        <p:nvSpPr>
          <p:cNvPr id="21" name="TextBox 20"/>
          <p:cNvSpPr txBox="1"/>
          <p:nvPr/>
        </p:nvSpPr>
        <p:spPr>
          <a:xfrm>
            <a:off x="8275320" y="2087880"/>
            <a:ext cx="3200400"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ATOMSTORAGE · BOOKS</a:t>
            </a:r>
          </a:p>
        </p:txBody>
      </p:sp>
      <p:sp>
        <p:nvSpPr>
          <p:cNvPr id="22" name="TextBox 21"/>
          <p:cNvSpPr txBox="1"/>
          <p:nvPr/>
        </p:nvSpPr>
        <p:spPr>
          <a:xfrm>
            <a:off x="8275320" y="2324100"/>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Retrieve the actual</a:t>
            </a:r>
          </a:p>
        </p:txBody>
      </p:sp>
      <p:sp>
        <p:nvSpPr>
          <p:cNvPr id="23" name="TextBox 22"/>
          <p:cNvSpPr txBox="1"/>
          <p:nvPr/>
        </p:nvSpPr>
        <p:spPr>
          <a:xfrm>
            <a:off x="8275320" y="2626461"/>
            <a:ext cx="32004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bytes</a:t>
            </a:r>
          </a:p>
        </p:txBody>
      </p:sp>
      <p:sp>
        <p:nvSpPr>
          <p:cNvPr id="24" name="TextBox 23"/>
          <p:cNvSpPr txBox="1"/>
          <p:nvPr/>
        </p:nvSpPr>
        <p:spPr>
          <a:xfrm>
            <a:off x="8275320" y="3005023"/>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Read the discovered</a:t>
            </a:r>
          </a:p>
        </p:txBody>
      </p:sp>
      <p:sp>
        <p:nvSpPr>
          <p:cNvPr id="25" name="TextBox 24"/>
          <p:cNvSpPr txBox="1"/>
          <p:nvPr/>
        </p:nvSpPr>
        <p:spPr>
          <a:xfrm>
            <a:off x="8275320" y="3268370"/>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references through the</a:t>
            </a:r>
          </a:p>
        </p:txBody>
      </p:sp>
      <p:sp>
        <p:nvSpPr>
          <p:cNvPr id="26" name="TextBox 25"/>
          <p:cNvSpPr txBox="1"/>
          <p:nvPr/>
        </p:nvSpPr>
        <p:spPr>
          <a:xfrm>
            <a:off x="8275320" y="3531717"/>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storage contract. The</a:t>
            </a:r>
          </a:p>
        </p:txBody>
      </p:sp>
      <p:sp>
        <p:nvSpPr>
          <p:cNvPr id="27" name="TextBox 26"/>
          <p:cNvSpPr txBox="1"/>
          <p:nvPr/>
        </p:nvSpPr>
        <p:spPr>
          <a:xfrm>
            <a:off x="8275320" y="3795064"/>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consumer was never given an</a:t>
            </a:r>
          </a:p>
        </p:txBody>
      </p:sp>
      <p:sp>
        <p:nvSpPr>
          <p:cNvPr id="28" name="TextBox 27"/>
          <p:cNvSpPr txBox="1"/>
          <p:nvPr/>
        </p:nvSpPr>
        <p:spPr>
          <a:xfrm>
            <a:off x="8275320" y="405841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answer list.</a:t>
            </a:r>
          </a:p>
        </p:txBody>
      </p:sp>
      <p:sp>
        <p:nvSpPr>
          <p:cNvPr id="29" name="Rounded Rectangle 28"/>
          <p:cNvSpPr/>
          <p:nvPr/>
        </p:nvSpPr>
        <p:spPr>
          <a:xfrm>
            <a:off x="548640" y="4953000"/>
            <a:ext cx="11094720" cy="754380"/>
          </a:xfrm>
          <a:prstGeom prst="roundRect">
            <a:avLst>
              <a:gd name="adj" fmla="val 13131"/>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1206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Observed in real Hive</a:t>
            </a:r>
          </a:p>
        </p:txBody>
      </p:sp>
      <p:sp>
        <p:nvSpPr>
          <p:cNvPr id="31" name="TextBox 30"/>
          <p:cNvSpPr txBox="1"/>
          <p:nvPr/>
        </p:nvSpPr>
        <p:spPr>
          <a:xfrm>
            <a:off x="716280" y="5440680"/>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5 matching records → 15 relations → 8 payloads. Append, catch up, rebuild, restart and replace Search.</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“No match in this indexed prefix” and “the index is too far behind” are different answers.</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M5 · actual native fusion-lookup</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06 / 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HELICOPTER VIEW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Fifteen modules; four responsibility groups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module owns a responsibility. It need not be a separate process or repository.</a:t>
            </a:r>
          </a:p>
        </p:txBody>
      </p:sp>
      <p:sp>
        <p:nvSpPr>
          <p:cNvPr id="5" name="Rounded Rectangle 4"/>
          <p:cNvSpPr/>
          <p:nvPr/>
        </p:nvSpPr>
        <p:spPr>
          <a:xfrm>
            <a:off x="548640" y="1752600"/>
            <a:ext cx="2438400" cy="3771900"/>
          </a:xfrm>
          <a:prstGeom prst="roundRect">
            <a:avLst>
              <a:gd name="adj" fmla="val 4375"/>
            </a:avLst>
          </a:prstGeom>
          <a:solidFill>
            <a:srgbClr val="EBE5F3"/>
          </a:solidFill>
          <a:ln>
            <a:noFill/>
          </a:ln>
          <a:effectLst/>
        </p:spPr>
        <p:txBody>
          <a:bodyPr rtlCol="0" anchor="ctr"/>
          <a:lstStyle/>
          <a:p>
            <a:pPr algn="ctr"/>
          </a:p>
        </p:txBody>
      </p:sp>
      <p:sp>
        <p:nvSpPr>
          <p:cNvPr id="6" name="TextBox 5"/>
          <p:cNvSpPr txBox="1"/>
          <p:nvPr/>
        </p:nvSpPr>
        <p:spPr>
          <a:xfrm>
            <a:off x="685800" y="1912620"/>
            <a:ext cx="21640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CLIENT / COGNITION</a:t>
            </a:r>
          </a:p>
        </p:txBody>
      </p:sp>
      <p:sp>
        <p:nvSpPr>
          <p:cNvPr id="7" name="Rounded Rectangle 6"/>
          <p:cNvSpPr/>
          <p:nvPr/>
        </p:nvSpPr>
        <p:spPr>
          <a:xfrm>
            <a:off x="3200400" y="1752600"/>
            <a:ext cx="3048000" cy="3771900"/>
          </a:xfrm>
          <a:prstGeom prst="roundRect">
            <a:avLst>
              <a:gd name="adj" fmla="val 3500"/>
            </a:avLst>
          </a:prstGeom>
          <a:solidFill>
            <a:srgbClr val="E4EBF5"/>
          </a:solidFill>
          <a:ln>
            <a:noFill/>
          </a:ln>
          <a:effectLst/>
        </p:spPr>
        <p:txBody>
          <a:bodyPr rtlCol="0" anchor="ctr"/>
          <a:lstStyle/>
          <a:p>
            <a:pPr algn="ctr"/>
          </a:p>
        </p:txBody>
      </p:sp>
      <p:sp>
        <p:nvSpPr>
          <p:cNvPr id="8" name="TextBox 7"/>
          <p:cNvSpPr txBox="1"/>
          <p:nvPr/>
        </p:nvSpPr>
        <p:spPr>
          <a:xfrm>
            <a:off x="3337560" y="1912620"/>
            <a:ext cx="27736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APPLICATION PORTS</a:t>
            </a:r>
          </a:p>
        </p:txBody>
      </p:sp>
      <p:sp>
        <p:nvSpPr>
          <p:cNvPr id="9" name="Rounded Rectangle 8"/>
          <p:cNvSpPr/>
          <p:nvPr/>
        </p:nvSpPr>
        <p:spPr>
          <a:xfrm>
            <a:off x="6461759" y="1752600"/>
            <a:ext cx="2453640" cy="3771900"/>
          </a:xfrm>
          <a:prstGeom prst="roundRect">
            <a:avLst>
              <a:gd name="adj" fmla="val 4347"/>
            </a:avLst>
          </a:prstGeom>
          <a:solidFill>
            <a:srgbClr val="E7ECEB"/>
          </a:solidFill>
          <a:ln>
            <a:noFill/>
          </a:ln>
          <a:effectLst/>
        </p:spPr>
        <p:txBody>
          <a:bodyPr rtlCol="0" anchor="ctr"/>
          <a:lstStyle/>
          <a:p>
            <a:pPr algn="ctr"/>
          </a:p>
        </p:txBody>
      </p:sp>
      <p:sp>
        <p:nvSpPr>
          <p:cNvPr id="10" name="TextBox 9"/>
          <p:cNvSpPr txBox="1"/>
          <p:nvPr/>
        </p:nvSpPr>
        <p:spPr>
          <a:xfrm>
            <a:off x="6598920" y="1912620"/>
            <a:ext cx="217932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CONTROL &amp; POLICY</a:t>
            </a:r>
          </a:p>
        </p:txBody>
      </p:sp>
      <p:sp>
        <p:nvSpPr>
          <p:cNvPr id="11" name="Rounded Rectangle 10"/>
          <p:cNvSpPr/>
          <p:nvPr/>
        </p:nvSpPr>
        <p:spPr>
          <a:xfrm>
            <a:off x="9128760" y="1752600"/>
            <a:ext cx="2514600" cy="3771900"/>
          </a:xfrm>
          <a:prstGeom prst="roundRect">
            <a:avLst>
              <a:gd name="adj" fmla="val 4242"/>
            </a:avLst>
          </a:prstGeom>
          <a:solidFill>
            <a:srgbClr val="DCEFE8"/>
          </a:solidFill>
          <a:ln>
            <a:noFill/>
          </a:ln>
          <a:effectLst/>
        </p:spPr>
        <p:txBody>
          <a:bodyPr rtlCol="0" anchor="ctr"/>
          <a:lstStyle/>
          <a:p>
            <a:pPr algn="ctr"/>
          </a:p>
        </p:txBody>
      </p:sp>
      <p:sp>
        <p:nvSpPr>
          <p:cNvPr id="12" name="TextBox 11"/>
          <p:cNvSpPr txBox="1"/>
          <p:nvPr/>
        </p:nvSpPr>
        <p:spPr>
          <a:xfrm>
            <a:off x="9265920" y="1912620"/>
            <a:ext cx="2240280"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102B3F"/>
                </a:solidFill>
                <a:latin typeface="DejaVu Sans"/>
              </a:rPr>
              <a:t>PROVIDER ADAPTERS</a:t>
            </a:r>
          </a:p>
        </p:txBody>
      </p:sp>
      <p:sp>
        <p:nvSpPr>
          <p:cNvPr id="13" name="Rounded Rectangle 12"/>
          <p:cNvSpPr/>
          <p:nvPr/>
        </p:nvSpPr>
        <p:spPr>
          <a:xfrm>
            <a:off x="685800" y="228600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53440" y="245364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Episodic memory</a:t>
            </a:r>
          </a:p>
        </p:txBody>
      </p:sp>
      <p:sp>
        <p:nvSpPr>
          <p:cNvPr id="15" name="Rounded Rectangle 14"/>
          <p:cNvSpPr/>
          <p:nvPr/>
        </p:nvSpPr>
        <p:spPr>
          <a:xfrm>
            <a:off x="685800" y="288036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6" name="TextBox 15"/>
          <p:cNvSpPr txBox="1"/>
          <p:nvPr/>
        </p:nvSpPr>
        <p:spPr>
          <a:xfrm>
            <a:off x="853440" y="304800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Belief revision</a:t>
            </a:r>
          </a:p>
        </p:txBody>
      </p:sp>
      <p:sp>
        <p:nvSpPr>
          <p:cNvPr id="17" name="Rounded Rectangle 16"/>
          <p:cNvSpPr/>
          <p:nvPr/>
        </p:nvSpPr>
        <p:spPr>
          <a:xfrm>
            <a:off x="685800" y="347471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18" name="TextBox 17"/>
          <p:cNvSpPr txBox="1"/>
          <p:nvPr/>
        </p:nvSpPr>
        <p:spPr>
          <a:xfrm>
            <a:off x="853440" y="364236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PLN · one rule</a:t>
            </a:r>
          </a:p>
        </p:txBody>
      </p:sp>
      <p:sp>
        <p:nvSpPr>
          <p:cNvPr id="19" name="Rounded Rectangle 18"/>
          <p:cNvSpPr/>
          <p:nvPr/>
        </p:nvSpPr>
        <p:spPr>
          <a:xfrm>
            <a:off x="685800" y="4069079"/>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0" name="TextBox 19"/>
          <p:cNvSpPr txBox="1"/>
          <p:nvPr/>
        </p:nvSpPr>
        <p:spPr>
          <a:xfrm>
            <a:off x="853440" y="423672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STI attention</a:t>
            </a:r>
          </a:p>
        </p:txBody>
      </p:sp>
      <p:sp>
        <p:nvSpPr>
          <p:cNvPr id="21" name="Rounded Rectangle 20"/>
          <p:cNvSpPr/>
          <p:nvPr/>
        </p:nvSpPr>
        <p:spPr>
          <a:xfrm>
            <a:off x="685800" y="4663440"/>
            <a:ext cx="21640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853440" y="4831080"/>
            <a:ext cx="18288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Inference control</a:t>
            </a:r>
          </a:p>
        </p:txBody>
      </p:sp>
      <p:sp>
        <p:nvSpPr>
          <p:cNvPr id="23" name="Rounded Rectangle 22"/>
          <p:cNvSpPr/>
          <p:nvPr/>
        </p:nvSpPr>
        <p:spPr>
          <a:xfrm>
            <a:off x="3337560" y="228600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3505200" y="245364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AtomStorage</a:t>
            </a:r>
          </a:p>
        </p:txBody>
      </p:sp>
      <p:sp>
        <p:nvSpPr>
          <p:cNvPr id="25" name="Rounded Rectangle 24"/>
          <p:cNvSpPr/>
          <p:nvPr/>
        </p:nvSpPr>
        <p:spPr>
          <a:xfrm>
            <a:off x="3337560" y="288036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6" name="TextBox 25"/>
          <p:cNvSpPr txBox="1"/>
          <p:nvPr/>
        </p:nvSpPr>
        <p:spPr>
          <a:xfrm>
            <a:off x="3505200" y="304800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Relations</a:t>
            </a:r>
          </a:p>
        </p:txBody>
      </p:sp>
      <p:sp>
        <p:nvSpPr>
          <p:cNvPr id="27" name="Rounded Rectangle 26"/>
          <p:cNvSpPr/>
          <p:nvPr/>
        </p:nvSpPr>
        <p:spPr>
          <a:xfrm>
            <a:off x="3337560" y="347471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28" name="TextBox 27"/>
          <p:cNvSpPr txBox="1"/>
          <p:nvPr/>
        </p:nvSpPr>
        <p:spPr>
          <a:xfrm>
            <a:off x="3505200" y="364236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Search projection</a:t>
            </a:r>
          </a:p>
        </p:txBody>
      </p:sp>
      <p:sp>
        <p:nvSpPr>
          <p:cNvPr id="29" name="Rounded Rectangle 28"/>
          <p:cNvSpPr/>
          <p:nvPr/>
        </p:nvSpPr>
        <p:spPr>
          <a:xfrm>
            <a:off x="3337560" y="4069079"/>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3505200" y="423672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Agent messaging</a:t>
            </a:r>
          </a:p>
        </p:txBody>
      </p:sp>
      <p:sp>
        <p:nvSpPr>
          <p:cNvPr id="31" name="Rounded Rectangle 30"/>
          <p:cNvSpPr/>
          <p:nvPr/>
        </p:nvSpPr>
        <p:spPr>
          <a:xfrm>
            <a:off x="3337560" y="4663440"/>
            <a:ext cx="2773680" cy="472439"/>
          </a:xfrm>
          <a:prstGeom prst="roundRect">
            <a:avLst>
              <a:gd name="adj" fmla="val 20967"/>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3505200" y="4831080"/>
            <a:ext cx="24384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Delegated execution</a:t>
            </a:r>
          </a:p>
        </p:txBody>
      </p:sp>
      <p:sp>
        <p:nvSpPr>
          <p:cNvPr id="33" name="Rounded Rectangle 32"/>
          <p:cNvSpPr/>
          <p:nvPr/>
        </p:nvSpPr>
        <p:spPr>
          <a:xfrm>
            <a:off x="6598920" y="228600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4" name="TextBox 33"/>
          <p:cNvSpPr txBox="1"/>
          <p:nvPr/>
        </p:nvSpPr>
        <p:spPr>
          <a:xfrm>
            <a:off x="6766559" y="245364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Registry</a:t>
            </a:r>
          </a:p>
        </p:txBody>
      </p:sp>
      <p:sp>
        <p:nvSpPr>
          <p:cNvPr id="35" name="Rounded Rectangle 34"/>
          <p:cNvSpPr/>
          <p:nvPr/>
        </p:nvSpPr>
        <p:spPr>
          <a:xfrm>
            <a:off x="6598920" y="3108960"/>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6" name="TextBox 35"/>
          <p:cNvSpPr txBox="1"/>
          <p:nvPr/>
        </p:nvSpPr>
        <p:spPr>
          <a:xfrm>
            <a:off x="6766559" y="327660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Compatibility</a:t>
            </a:r>
          </a:p>
        </p:txBody>
      </p:sp>
      <p:sp>
        <p:nvSpPr>
          <p:cNvPr id="37" name="TextBox 36"/>
          <p:cNvSpPr txBox="1"/>
          <p:nvPr/>
        </p:nvSpPr>
        <p:spPr>
          <a:xfrm>
            <a:off x="6766559" y="3491179"/>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resolver</a:t>
            </a:r>
          </a:p>
        </p:txBody>
      </p:sp>
      <p:sp>
        <p:nvSpPr>
          <p:cNvPr id="38" name="Rounded Rectangle 37"/>
          <p:cNvSpPr/>
          <p:nvPr/>
        </p:nvSpPr>
        <p:spPr>
          <a:xfrm>
            <a:off x="6598920" y="3931919"/>
            <a:ext cx="2179320" cy="723900"/>
          </a:xfrm>
          <a:prstGeom prst="roundRect">
            <a:avLst>
              <a:gd name="adj" fmla="val 13684"/>
            </a:avLst>
          </a:prstGeom>
          <a:solidFill>
            <a:srgbClr val="FFFFFF"/>
          </a:solidFill>
          <a:ln w="7620">
            <a:solidFill>
              <a:srgbClr val="315E9C"/>
            </a:solidFill>
          </a:ln>
          <a:effectLst/>
        </p:spPr>
        <p:txBody>
          <a:bodyPr rtlCol="0" anchor="ctr"/>
          <a:lstStyle/>
          <a:p>
            <a:pPr algn="ctr"/>
          </a:p>
        </p:txBody>
      </p:sp>
      <p:sp>
        <p:nvSpPr>
          <p:cNvPr id="39" name="TextBox 38"/>
          <p:cNvSpPr txBox="1"/>
          <p:nvPr/>
        </p:nvSpPr>
        <p:spPr>
          <a:xfrm>
            <a:off x="6766559" y="4099560"/>
            <a:ext cx="184403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Authorization</a:t>
            </a:r>
          </a:p>
        </p:txBody>
      </p:sp>
      <p:sp>
        <p:nvSpPr>
          <p:cNvPr id="40" name="Rounded Rectangle 39"/>
          <p:cNvSpPr/>
          <p:nvPr/>
        </p:nvSpPr>
        <p:spPr>
          <a:xfrm>
            <a:off x="9265920" y="2286000"/>
            <a:ext cx="2240280" cy="1097280"/>
          </a:xfrm>
          <a:prstGeom prst="roundRect">
            <a:avLst>
              <a:gd name="adj" fmla="val 9027"/>
            </a:avLst>
          </a:prstGeom>
          <a:solidFill>
            <a:srgbClr val="FFFFFF"/>
          </a:solidFill>
          <a:ln w="7620">
            <a:solidFill>
              <a:srgbClr val="007C78"/>
            </a:solidFill>
          </a:ln>
          <a:effectLst/>
        </p:spPr>
        <p:txBody>
          <a:bodyPr rtlCol="0" anchor="ctr"/>
          <a:lstStyle/>
          <a:p>
            <a:pPr algn="ctr"/>
          </a:p>
        </p:txBody>
      </p:sp>
      <p:sp>
        <p:nvSpPr>
          <p:cNvPr id="41" name="TextBox 40"/>
          <p:cNvSpPr txBox="1"/>
          <p:nvPr/>
        </p:nvSpPr>
        <p:spPr>
          <a:xfrm>
            <a:off x="9433560" y="2453640"/>
            <a:ext cx="19050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DA storage</a:t>
            </a:r>
          </a:p>
        </p:txBody>
      </p:sp>
      <p:sp>
        <p:nvSpPr>
          <p:cNvPr id="42" name="TextBox 41"/>
          <p:cNvSpPr txBox="1"/>
          <p:nvPr/>
        </p:nvSpPr>
        <p:spPr>
          <a:xfrm>
            <a:off x="9433560" y="2793187"/>
            <a:ext cx="1905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Real local DeTTa</a:t>
            </a:r>
          </a:p>
        </p:txBody>
      </p:sp>
      <p:sp>
        <p:nvSpPr>
          <p:cNvPr id="43" name="Rounded Rectangle 42"/>
          <p:cNvSpPr/>
          <p:nvPr/>
        </p:nvSpPr>
        <p:spPr>
          <a:xfrm>
            <a:off x="9265920" y="3695700"/>
            <a:ext cx="2240280" cy="1280160"/>
          </a:xfrm>
          <a:prstGeom prst="roundRect">
            <a:avLst>
              <a:gd name="adj" fmla="val 7738"/>
            </a:avLst>
          </a:prstGeom>
          <a:solidFill>
            <a:srgbClr val="FFFFFF"/>
          </a:solidFill>
          <a:ln w="7620">
            <a:solidFill>
              <a:srgbClr val="007C78"/>
            </a:solidFill>
          </a:ln>
          <a:effectLst/>
        </p:spPr>
        <p:txBody>
          <a:bodyPr rtlCol="0" anchor="ctr"/>
          <a:lstStyle/>
          <a:p>
            <a:pPr algn="ctr"/>
          </a:p>
        </p:txBody>
      </p:sp>
      <p:sp>
        <p:nvSpPr>
          <p:cNvPr id="44" name="TextBox 43"/>
          <p:cNvSpPr txBox="1"/>
          <p:nvPr/>
        </p:nvSpPr>
        <p:spPr>
          <a:xfrm>
            <a:off x="9433560" y="3863340"/>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Consensus /</a:t>
            </a:r>
          </a:p>
        </p:txBody>
      </p:sp>
      <p:sp>
        <p:nvSpPr>
          <p:cNvPr id="45" name="TextBox 44"/>
          <p:cNvSpPr txBox="1"/>
          <p:nvPr/>
        </p:nvSpPr>
        <p:spPr>
          <a:xfrm>
            <a:off x="9433560" y="4116933"/>
            <a:ext cx="19050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007C78"/>
                </a:solidFill>
                <a:latin typeface="DejaVu Sans"/>
              </a:rPr>
              <a:t>finality</a:t>
            </a:r>
          </a:p>
        </p:txBody>
      </p:sp>
      <p:sp>
        <p:nvSpPr>
          <p:cNvPr id="46" name="TextBox 45"/>
          <p:cNvSpPr txBox="1"/>
          <p:nvPr/>
        </p:nvSpPr>
        <p:spPr>
          <a:xfrm>
            <a:off x="9433560" y="4446727"/>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Real isolated</a:t>
            </a:r>
          </a:p>
        </p:txBody>
      </p:sp>
      <p:sp>
        <p:nvSpPr>
          <p:cNvPr id="47" name="TextBox 46"/>
          <p:cNvSpPr txBox="1"/>
          <p:nvPr/>
        </p:nvSpPr>
        <p:spPr>
          <a:xfrm>
            <a:off x="9433560" y="4661306"/>
            <a:ext cx="19050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F1R3node · M4</a:t>
            </a:r>
          </a:p>
        </p:txBody>
      </p:sp>
      <p:sp>
        <p:nvSpPr>
          <p:cNvPr id="48" name="TextBox 47"/>
          <p:cNvSpPr txBox="1"/>
          <p:nvPr/>
        </p:nvSpPr>
        <p:spPr>
          <a:xfrm>
            <a:off x="6598920" y="4945380"/>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Local test policy</a:t>
            </a:r>
          </a:p>
        </p:txBody>
      </p:sp>
      <p:sp>
        <p:nvSpPr>
          <p:cNvPr id="49" name="TextBox 48"/>
          <p:cNvSpPr txBox="1"/>
          <p:nvPr/>
        </p:nvSpPr>
        <p:spPr>
          <a:xfrm>
            <a:off x="6598920" y="5140452"/>
            <a:ext cx="214884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and static descriptors</a:t>
            </a:r>
          </a:p>
        </p:txBody>
      </p:sp>
      <p:sp>
        <p:nvSpPr>
          <p:cNvPr id="50" name="Rounded Rectangle 49"/>
          <p:cNvSpPr/>
          <p:nvPr/>
        </p:nvSpPr>
        <p:spPr>
          <a:xfrm>
            <a:off x="548640" y="5791200"/>
            <a:ext cx="2088772" cy="259079"/>
          </a:xfrm>
          <a:prstGeom prst="roundRect">
            <a:avLst>
              <a:gd name="adj" fmla="val 20588"/>
            </a:avLst>
          </a:prstGeom>
          <a:solidFill>
            <a:srgbClr val="E4EBF5"/>
          </a:solidFill>
          <a:ln>
            <a:noFill/>
          </a:ln>
          <a:effectLst/>
        </p:spPr>
        <p:txBody>
          <a:bodyPr rtlCol="0" anchor="ctr"/>
          <a:lstStyle/>
          <a:p>
            <a:pPr algn="ctr"/>
          </a:p>
        </p:txBody>
      </p:sp>
      <p:sp>
        <p:nvSpPr>
          <p:cNvPr id="51" name="TextBox 50"/>
          <p:cNvSpPr txBox="1"/>
          <p:nvPr/>
        </p:nvSpPr>
        <p:spPr>
          <a:xfrm>
            <a:off x="655320" y="5844540"/>
            <a:ext cx="1898272" cy="156057"/>
          </a:xfrm>
          <a:prstGeom prst="rect">
            <a:avLst/>
          </a:prstGeom>
          <a:noFill/>
        </p:spPr>
        <p:txBody>
          <a:bodyPr wrap="none" lIns="0" rIns="0" tIns="0" bIns="0" anchor="t" anchorCtr="0">
            <a:noAutofit/>
          </a:bodyPr>
          <a:lstStyle/>
          <a:p>
            <a:pPr algn="l">
              <a:lnSpc>
                <a:spcPct val="100000"/>
              </a:lnSpc>
              <a:spcBef>
                <a:spcPts val="0"/>
              </a:spcBef>
              <a:spcAft>
                <a:spcPts val="0"/>
              </a:spcAft>
            </a:pPr>
            <a:r>
              <a:rPr sz="960" b="1">
                <a:solidFill>
                  <a:srgbClr val="315E9C"/>
                </a:solidFill>
                <a:latin typeface="DejaVu Sans"/>
              </a:rPr>
              <a:t>15 / 15 BOUNDED FAMILIES</a:t>
            </a:r>
          </a:p>
        </p:txBody>
      </p:sp>
      <p:sp>
        <p:nvSpPr>
          <p:cNvPr id="52" name="Rounded Rectangle 51"/>
          <p:cNvSpPr/>
          <p:nvPr/>
        </p:nvSpPr>
        <p:spPr>
          <a:xfrm>
            <a:off x="2781300" y="5791200"/>
            <a:ext cx="1874549" cy="274320"/>
          </a:xfrm>
          <a:prstGeom prst="roundRect">
            <a:avLst>
              <a:gd name="adj" fmla="val 19444"/>
            </a:avLst>
          </a:prstGeom>
          <a:solidFill>
            <a:srgbClr val="E4EBF5"/>
          </a:solidFill>
          <a:ln>
            <a:noFill/>
          </a:ln>
          <a:effectLst/>
        </p:spPr>
        <p:txBody>
          <a:bodyPr rtlCol="0" anchor="ctr"/>
          <a:lstStyle/>
          <a:p>
            <a:pPr algn="ctr"/>
          </a:p>
        </p:txBody>
      </p:sp>
      <p:sp>
        <p:nvSpPr>
          <p:cNvPr id="53" name="TextBox 52"/>
          <p:cNvSpPr txBox="1"/>
          <p:nvPr/>
        </p:nvSpPr>
        <p:spPr>
          <a:xfrm>
            <a:off x="2887980" y="5844540"/>
            <a:ext cx="1684049"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315E9C"/>
                </a:solidFill>
                <a:latin typeface="DejaVu Sans"/>
              </a:rPr>
              <a:t>IMPLEMENTED LOCAL</a:t>
            </a:r>
          </a:p>
        </p:txBody>
      </p:sp>
      <p:sp>
        <p:nvSpPr>
          <p:cNvPr id="54" name="Rounded Rectangle 53"/>
          <p:cNvSpPr/>
          <p:nvPr/>
        </p:nvSpPr>
        <p:spPr>
          <a:xfrm>
            <a:off x="5234940" y="5791200"/>
            <a:ext cx="1447063" cy="274320"/>
          </a:xfrm>
          <a:prstGeom prst="roundRect">
            <a:avLst>
              <a:gd name="adj" fmla="val 19444"/>
            </a:avLst>
          </a:prstGeom>
          <a:solidFill>
            <a:srgbClr val="DCEFE8"/>
          </a:solidFill>
          <a:ln>
            <a:noFill/>
          </a:ln>
          <a:effectLst/>
        </p:spPr>
        <p:txBody>
          <a:bodyPr rtlCol="0" anchor="ctr"/>
          <a:lstStyle/>
          <a:p>
            <a:pPr algn="ctr"/>
          </a:p>
        </p:txBody>
      </p:sp>
      <p:sp>
        <p:nvSpPr>
          <p:cNvPr id="55" name="TextBox 54"/>
          <p:cNvSpPr txBox="1"/>
          <p:nvPr/>
        </p:nvSpPr>
        <p:spPr>
          <a:xfrm>
            <a:off x="5341620" y="5844540"/>
            <a:ext cx="1256563" cy="175564"/>
          </a:xfrm>
          <a:prstGeom prst="rect">
            <a:avLst/>
          </a:prstGeom>
          <a:noFill/>
        </p:spPr>
        <p:txBody>
          <a:bodyPr wrap="none" lIns="0" rIns="0" tIns="0" bIns="0" anchor="t" anchorCtr="0">
            <a:noAutofit/>
          </a:bodyPr>
          <a:lstStyle/>
          <a:p>
            <a:pPr algn="l">
              <a:lnSpc>
                <a:spcPct val="100000"/>
              </a:lnSpc>
              <a:spcBef>
                <a:spcPts val="0"/>
              </a:spcBef>
              <a:spcAft>
                <a:spcPts val="0"/>
              </a:spcAft>
            </a:pPr>
            <a:r>
              <a:rPr sz="1080" b="1">
                <a:solidFill>
                  <a:srgbClr val="007C78"/>
                </a:solidFill>
                <a:latin typeface="DejaVu Sans"/>
              </a:rPr>
              <a:t>REAL PROVIDER</a:t>
            </a:r>
          </a:p>
        </p:txBody>
      </p:sp>
      <p:sp>
        <p:nvSpPr>
          <p:cNvPr id="56" name="TextBox 55"/>
          <p:cNvSpPr txBox="1"/>
          <p:nvPr/>
        </p:nvSpPr>
        <p:spPr>
          <a:xfrm>
            <a:off x="7520939" y="5836920"/>
            <a:ext cx="41148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One grounded rule; no ECAN or LTI</a:t>
            </a:r>
          </a:p>
        </p:txBody>
      </p:sp>
      <p:cxnSp>
        <p:nvCxnSpPr>
          <p:cNvPr id="57" name="Connector 56"/>
          <p:cNvCxnSpPr/>
          <p:nvPr/>
        </p:nvCxnSpPr>
        <p:spPr>
          <a:xfrm>
            <a:off x="548640" y="6393180"/>
            <a:ext cx="11094720" cy="0"/>
          </a:xfrm>
          <a:prstGeom prst="line">
            <a:avLst/>
          </a:prstGeom>
          <a:ln w="7620">
            <a:solidFill>
              <a:srgbClr val="C9D2D4"/>
            </a:solidFill>
          </a:ln>
          <a:effectLst/>
        </p:spPr>
      </p:cxnSp>
      <p:sp>
        <p:nvSpPr>
          <p:cNvPr id="58" name="TextBox 5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architecture.md</a:t>
            </a:r>
          </a:p>
        </p:txBody>
      </p:sp>
      <p:sp>
        <p:nvSpPr>
          <p:cNvPr id="59" name="TextBox 5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07 / 64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1 OF 3</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Data responsibilities: bytes → references → history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Persistence, identity, structure, discovery and provenance have different owners.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328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662940"/>
          </a:xfrm>
          <a:prstGeom prst="roundRect">
            <a:avLst>
              <a:gd name="adj" fmla="val 689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DA storage</a:t>
            </a:r>
          </a:p>
        </p:txBody>
      </p:sp>
      <p:sp>
        <p:nvSpPr>
          <p:cNvPr id="10" name="TextBox 9"/>
          <p:cNvSpPr txBox="1"/>
          <p:nvPr/>
        </p:nvSpPr>
        <p:spPr>
          <a:xfrm>
            <a:off x="3185160" y="224028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Persist opaque bytes</a:t>
            </a:r>
          </a:p>
        </p:txBody>
      </p:sp>
      <p:sp>
        <p:nvSpPr>
          <p:cNvPr id="11" name="TextBox 10"/>
          <p:cNvSpPr txBox="1"/>
          <p:nvPr/>
        </p:nvSpPr>
        <p:spPr>
          <a:xfrm>
            <a:off x="3185160" y="247436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put · get · availability</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Payloads + shares</a:t>
            </a:r>
          </a:p>
        </p:txBody>
      </p:sp>
      <p:sp>
        <p:nvSpPr>
          <p:cNvPr id="13" name="TextBox 12"/>
          <p:cNvSpPr txBox="1"/>
          <p:nvPr/>
        </p:nvSpPr>
        <p:spPr>
          <a:xfrm>
            <a:off x="7757159" y="247436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REAL LOCAL PROVIDER</a:t>
            </a:r>
          </a:p>
        </p:txBody>
      </p:sp>
      <p:sp>
        <p:nvSpPr>
          <p:cNvPr id="14" name="Rounded Rectangle 13"/>
          <p:cNvSpPr/>
          <p:nvPr/>
        </p:nvSpPr>
        <p:spPr>
          <a:xfrm>
            <a:off x="548640" y="2811780"/>
            <a:ext cx="11094720" cy="662940"/>
          </a:xfrm>
          <a:prstGeom prst="roundRect">
            <a:avLst>
              <a:gd name="adj" fmla="val 6896"/>
            </a:avLst>
          </a:prstGeom>
          <a:solidFill>
            <a:srgbClr val="FFFFFF"/>
          </a:solidFill>
          <a:ln>
            <a:noFill/>
          </a:ln>
          <a:effectLst/>
        </p:spPr>
        <p:txBody>
          <a:bodyPr rtlCol="0" anchor="ctr"/>
          <a:lstStyle/>
          <a:p>
            <a:pPr algn="ctr"/>
          </a:p>
        </p:txBody>
      </p:sp>
      <p:sp>
        <p:nvSpPr>
          <p:cNvPr id="15" name="TextBox 14"/>
          <p:cNvSpPr txBox="1"/>
          <p:nvPr/>
        </p:nvSpPr>
        <p:spPr>
          <a:xfrm>
            <a:off x="670560" y="29413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AtomStorage</a:t>
            </a:r>
          </a:p>
        </p:txBody>
      </p:sp>
      <p:sp>
        <p:nvSpPr>
          <p:cNvPr id="16" name="TextBox 15"/>
          <p:cNvSpPr txBox="1"/>
          <p:nvPr/>
        </p:nvSpPr>
        <p:spPr>
          <a:xfrm>
            <a:off x="3185160" y="294132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Scoped immutable envelopes</a:t>
            </a:r>
          </a:p>
        </p:txBody>
      </p:sp>
      <p:sp>
        <p:nvSpPr>
          <p:cNvPr id="17" name="TextBox 16"/>
          <p:cNvSpPr txBox="1"/>
          <p:nvPr/>
        </p:nvSpPr>
        <p:spPr>
          <a:xfrm>
            <a:off x="3185160" y="317540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create · get/getMany · head/readCommits</a:t>
            </a:r>
          </a:p>
        </p:txBody>
      </p:sp>
      <p:sp>
        <p:nvSpPr>
          <p:cNvPr id="18" name="TextBox 17"/>
          <p:cNvSpPr txBox="1"/>
          <p:nvPr/>
        </p:nvSpPr>
        <p:spPr>
          <a:xfrm>
            <a:off x="7757159" y="294132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Reference + replay + accepted feed</a:t>
            </a:r>
          </a:p>
        </p:txBody>
      </p:sp>
      <p:sp>
        <p:nvSpPr>
          <p:cNvPr id="19" name="TextBox 18"/>
          <p:cNvSpPr txBox="1"/>
          <p:nvPr/>
        </p:nvSpPr>
        <p:spPr>
          <a:xfrm>
            <a:off x="7757159" y="317540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M5</a:t>
            </a:r>
          </a:p>
        </p:txBody>
      </p:sp>
      <p:sp>
        <p:nvSpPr>
          <p:cNvPr id="20" name="Rounded Rectangle 19"/>
          <p:cNvSpPr/>
          <p:nvPr/>
        </p:nvSpPr>
        <p:spPr>
          <a:xfrm>
            <a:off x="548640" y="3512819"/>
            <a:ext cx="11094720" cy="662940"/>
          </a:xfrm>
          <a:prstGeom prst="roundRect">
            <a:avLst>
              <a:gd name="adj" fmla="val 6896"/>
            </a:avLst>
          </a:prstGeom>
          <a:solidFill>
            <a:srgbClr val="FFFFFF"/>
          </a:solidFill>
          <a:ln>
            <a:noFill/>
          </a:ln>
          <a:effectLst/>
        </p:spPr>
        <p:txBody>
          <a:bodyPr rtlCol="0" anchor="ctr"/>
          <a:lstStyle/>
          <a:p>
            <a:pPr algn="ctr"/>
          </a:p>
        </p:txBody>
      </p:sp>
      <p:sp>
        <p:nvSpPr>
          <p:cNvPr id="21" name="TextBox 20"/>
          <p:cNvSpPr txBox="1"/>
          <p:nvPr/>
        </p:nvSpPr>
        <p:spPr>
          <a:xfrm>
            <a:off x="670560" y="36423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Relations</a:t>
            </a:r>
          </a:p>
        </p:txBody>
      </p:sp>
      <p:sp>
        <p:nvSpPr>
          <p:cNvPr id="22" name="TextBox 21"/>
          <p:cNvSpPr txBox="1"/>
          <p:nvPr/>
        </p:nvSpPr>
        <p:spPr>
          <a:xfrm>
            <a:off x="3185160" y="364236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Represent ordered structural roles</a:t>
            </a:r>
          </a:p>
        </p:txBody>
      </p:sp>
      <p:sp>
        <p:nvSpPr>
          <p:cNvPr id="23" name="TextBox 22"/>
          <p:cNvSpPr txBox="1"/>
          <p:nvPr/>
        </p:nvSpPr>
        <p:spPr>
          <a:xfrm>
            <a:off x="3185160" y="387644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assert/getRelation · outgoing/incoming</a:t>
            </a:r>
          </a:p>
        </p:txBody>
      </p:sp>
      <p:sp>
        <p:nvSpPr>
          <p:cNvPr id="24" name="TextBox 23"/>
          <p:cNvSpPr txBox="1"/>
          <p:nvPr/>
        </p:nvSpPr>
        <p:spPr>
          <a:xfrm>
            <a:off x="7757159" y="36423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Accepted structures + incidence</a:t>
            </a:r>
          </a:p>
        </p:txBody>
      </p:sp>
      <p:sp>
        <p:nvSpPr>
          <p:cNvPr id="25" name="TextBox 24"/>
          <p:cNvSpPr txBox="1"/>
          <p:nvPr/>
        </p:nvSpPr>
        <p:spPr>
          <a:xfrm>
            <a:off x="7757159" y="387644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M5</a:t>
            </a:r>
          </a:p>
        </p:txBody>
      </p:sp>
      <p:sp>
        <p:nvSpPr>
          <p:cNvPr id="26" name="Rounded Rectangle 25"/>
          <p:cNvSpPr/>
          <p:nvPr/>
        </p:nvSpPr>
        <p:spPr>
          <a:xfrm>
            <a:off x="548640" y="4213860"/>
            <a:ext cx="11094720" cy="662940"/>
          </a:xfrm>
          <a:prstGeom prst="roundRect">
            <a:avLst>
              <a:gd name="adj" fmla="val 6896"/>
            </a:avLst>
          </a:prstGeom>
          <a:solidFill>
            <a:srgbClr val="FFFFFF"/>
          </a:solidFill>
          <a:ln>
            <a:noFill/>
          </a:ln>
          <a:effectLst/>
        </p:spPr>
        <p:txBody>
          <a:bodyPr rtlCol="0" anchor="ctr"/>
          <a:lstStyle/>
          <a:p>
            <a:pPr algn="ctr"/>
          </a:p>
        </p:txBody>
      </p:sp>
      <p:sp>
        <p:nvSpPr>
          <p:cNvPr id="27" name="TextBox 26"/>
          <p:cNvSpPr txBox="1"/>
          <p:nvPr/>
        </p:nvSpPr>
        <p:spPr>
          <a:xfrm>
            <a:off x="670560" y="43434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Search projection</a:t>
            </a:r>
          </a:p>
        </p:txBody>
      </p:sp>
      <p:sp>
        <p:nvSpPr>
          <p:cNvPr id="28" name="TextBox 27"/>
          <p:cNvSpPr txBox="1"/>
          <p:nvPr/>
        </p:nvSpPr>
        <p:spPr>
          <a:xfrm>
            <a:off x="3185160" y="434340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Find refs at a known watermark</a:t>
            </a:r>
          </a:p>
        </p:txBody>
      </p:sp>
      <p:sp>
        <p:nvSpPr>
          <p:cNvPr id="29" name="TextBox 28"/>
          <p:cNvSpPr txBox="1"/>
          <p:nvPr/>
        </p:nvSpPr>
        <p:spPr>
          <a:xfrm>
            <a:off x="3185160" y="457748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query · catchUp · beginRebuild</a:t>
            </a:r>
          </a:p>
        </p:txBody>
      </p:sp>
      <p:sp>
        <p:nvSpPr>
          <p:cNvPr id="30" name="TextBox 29"/>
          <p:cNvSpPr txBox="1"/>
          <p:nvPr/>
        </p:nvSpPr>
        <p:spPr>
          <a:xfrm>
            <a:off x="7757159" y="43434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Index + checkpoint + generation</a:t>
            </a:r>
          </a:p>
        </p:txBody>
      </p:sp>
      <p:sp>
        <p:nvSpPr>
          <p:cNvPr id="31" name="TextBox 30"/>
          <p:cNvSpPr txBox="1"/>
          <p:nvPr/>
        </p:nvSpPr>
        <p:spPr>
          <a:xfrm>
            <a:off x="7757159" y="457748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M5</a:t>
            </a:r>
          </a:p>
        </p:txBody>
      </p:sp>
      <p:sp>
        <p:nvSpPr>
          <p:cNvPr id="32" name="Rounded Rectangle 31"/>
          <p:cNvSpPr/>
          <p:nvPr/>
        </p:nvSpPr>
        <p:spPr>
          <a:xfrm>
            <a:off x="548640" y="4914900"/>
            <a:ext cx="11094720" cy="662940"/>
          </a:xfrm>
          <a:prstGeom prst="roundRect">
            <a:avLst>
              <a:gd name="adj" fmla="val 6896"/>
            </a:avLst>
          </a:prstGeom>
          <a:solidFill>
            <a:srgbClr val="FFFFFF"/>
          </a:solidFill>
          <a:ln>
            <a:noFill/>
          </a:ln>
          <a:effectLst/>
        </p:spPr>
        <p:txBody>
          <a:bodyPr rtlCol="0" anchor="ctr"/>
          <a:lstStyle/>
          <a:p>
            <a:pPr algn="ctr"/>
          </a:p>
        </p:txBody>
      </p:sp>
      <p:sp>
        <p:nvSpPr>
          <p:cNvPr id="33" name="TextBox 32"/>
          <p:cNvSpPr txBox="1"/>
          <p:nvPr/>
        </p:nvSpPr>
        <p:spPr>
          <a:xfrm>
            <a:off x="670560" y="5044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Episodic memory C1</a:t>
            </a:r>
          </a:p>
        </p:txBody>
      </p:sp>
      <p:sp>
        <p:nvSpPr>
          <p:cNvPr id="34" name="TextBox 33"/>
          <p:cNvSpPr txBox="1"/>
          <p:nvPr/>
        </p:nvSpPr>
        <p:spPr>
          <a:xfrm>
            <a:off x="3185160" y="5044440"/>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Record / append / read ordered events</a:t>
            </a:r>
          </a:p>
        </p:txBody>
      </p:sp>
      <p:sp>
        <p:nvSpPr>
          <p:cNvPr id="35" name="TextBox 34"/>
          <p:cNvSpPr txBox="1"/>
          <p:nvPr/>
        </p:nvSpPr>
        <p:spPr>
          <a:xfrm>
            <a:off x="3185160" y="5278526"/>
            <a:ext cx="4328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pendingEvidence · trusted completion</a:t>
            </a:r>
          </a:p>
        </p:txBody>
      </p:sp>
      <p:sp>
        <p:nvSpPr>
          <p:cNvPr id="36" name="TextBox 35"/>
          <p:cNvSpPr txBox="1"/>
          <p:nvPr/>
        </p:nvSpPr>
        <p:spPr>
          <a:xfrm>
            <a:off x="7757159" y="50444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history + delivery intents</a:t>
            </a:r>
          </a:p>
        </p:txBody>
      </p:sp>
      <p:sp>
        <p:nvSpPr>
          <p:cNvPr id="37" name="TextBox 36"/>
          <p:cNvSpPr txBox="1"/>
          <p:nvPr/>
        </p:nvSpPr>
        <p:spPr>
          <a:xfrm>
            <a:off x="7757159" y="5278526"/>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IMPLEMENTED · M3.1</a:t>
            </a:r>
          </a:p>
        </p:txBody>
      </p:sp>
      <p:sp>
        <p:nvSpPr>
          <p:cNvPr id="38" name="Rounded Rectangle 3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9" name="TextBox 38"/>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DA persists bytes. Only the application owners interpret events, claims or beliefs.</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architecture.md</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08 / 64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2 OF 3</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Cognitive responsibilities: four separate roles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Attention, belief admission, pure mathematics and work coordination remain separate.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556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985759" y="1790700"/>
            <a:ext cx="35356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BOUNDARY</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Belief revision C2</a:t>
            </a:r>
          </a:p>
        </p:txBody>
      </p:sp>
      <p:sp>
        <p:nvSpPr>
          <p:cNvPr id="10" name="TextBox 9"/>
          <p:cNvSpPr txBox="1"/>
          <p:nvPr/>
        </p:nvSpPr>
        <p:spPr>
          <a:xfrm>
            <a:off x="3185160" y="224028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submitEvidence · readBelief</a:t>
            </a:r>
          </a:p>
        </p:txBody>
      </p:sp>
      <p:sp>
        <p:nvSpPr>
          <p:cNvPr id="11" name="TextBox 10"/>
          <p:cNvSpPr txBox="1"/>
          <p:nvPr/>
        </p:nvSpPr>
        <p:spPr>
          <a:xfrm>
            <a:off x="3185160" y="247436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submitDerivation · readDerivation</a:t>
            </a:r>
          </a:p>
        </p:txBody>
      </p:sp>
      <p:sp>
        <p:nvSpPr>
          <p:cNvPr id="12" name="TextBox 11"/>
          <p:cNvSpPr txBox="1"/>
          <p:nvPr/>
        </p:nvSpPr>
        <p:spPr>
          <a:xfrm>
            <a:off x="7985759" y="224028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Supports, snapshots, attempts</a:t>
            </a:r>
          </a:p>
        </p:txBody>
      </p:sp>
      <p:sp>
        <p:nvSpPr>
          <p:cNvPr id="13" name="TextBox 12"/>
          <p:cNvSpPr txBox="1"/>
          <p:nvPr/>
        </p:nvSpPr>
        <p:spPr>
          <a:xfrm>
            <a:off x="7985759" y="247436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Only C2 commits belief changes</a:t>
            </a:r>
          </a:p>
        </p:txBody>
      </p:sp>
      <p:sp>
        <p:nvSpPr>
          <p:cNvPr id="14" name="Rounded Rectangle 13"/>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5" name="TextBox 14"/>
          <p:cNvSpPr txBox="1"/>
          <p:nvPr/>
        </p:nvSpPr>
        <p:spPr>
          <a:xfrm>
            <a:off x="670560" y="30708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 kernel</a:t>
            </a:r>
          </a:p>
        </p:txBody>
      </p:sp>
      <p:sp>
        <p:nvSpPr>
          <p:cNvPr id="16" name="TextBox 15"/>
          <p:cNvSpPr txBox="1"/>
          <p:nvPr/>
        </p:nvSpPr>
        <p:spPr>
          <a:xfrm>
            <a:off x="3185160" y="307086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Apply one grounded rule to exact premises</a:t>
            </a:r>
          </a:p>
        </p:txBody>
      </p:sp>
      <p:sp>
        <p:nvSpPr>
          <p:cNvPr id="17" name="TextBox 16"/>
          <p:cNvSpPr txBox="1"/>
          <p:nvPr/>
        </p:nvSpPr>
        <p:spPr>
          <a:xfrm>
            <a:off x="3185160" y="330494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profiles · applyRule</a:t>
            </a:r>
          </a:p>
        </p:txBody>
      </p:sp>
      <p:sp>
        <p:nvSpPr>
          <p:cNvPr id="18" name="TextBox 17"/>
          <p:cNvSpPr txBox="1"/>
          <p:nvPr/>
        </p:nvSpPr>
        <p:spPr>
          <a:xfrm>
            <a:off x="7985759" y="307086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mutable domain state</a:t>
            </a:r>
          </a:p>
        </p:txBody>
      </p:sp>
      <p:sp>
        <p:nvSpPr>
          <p:cNvPr id="19" name="TextBox 18"/>
          <p:cNvSpPr txBox="1"/>
          <p:nvPr/>
        </p:nvSpPr>
        <p:spPr>
          <a:xfrm>
            <a:off x="7985759" y="330494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Pure native proposal</a:t>
            </a:r>
          </a:p>
        </p:txBody>
      </p:sp>
      <p:sp>
        <p:nvSpPr>
          <p:cNvPr id="20" name="Rounded Rectangle 19"/>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1" name="TextBox 20"/>
          <p:cNvSpPr txBox="1"/>
          <p:nvPr/>
        </p:nvSpPr>
        <p:spPr>
          <a:xfrm>
            <a:off x="670560" y="3901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C3</a:t>
            </a:r>
          </a:p>
        </p:txBody>
      </p:sp>
      <p:sp>
        <p:nvSpPr>
          <p:cNvPr id="22" name="TextBox 21"/>
          <p:cNvSpPr txBox="1"/>
          <p:nvPr/>
        </p:nvSpPr>
        <p:spPr>
          <a:xfrm>
            <a:off x="3185160" y="390144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 · advance · submitStimulus</a:t>
            </a:r>
          </a:p>
        </p:txBody>
      </p:sp>
      <p:sp>
        <p:nvSpPr>
          <p:cNvPr id="23" name="TextBox 22"/>
          <p:cNvSpPr txBox="1"/>
          <p:nvPr/>
        </p:nvSpPr>
        <p:spPr>
          <a:xfrm>
            <a:off x="3185160" y="413552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submitFeedback · resolveFeedback</a:t>
            </a:r>
          </a:p>
        </p:txBody>
      </p:sp>
      <p:sp>
        <p:nvSpPr>
          <p:cNvPr id="24" name="TextBox 23"/>
          <p:cNvSpPr txBox="1"/>
          <p:nvPr/>
        </p:nvSpPr>
        <p:spPr>
          <a:xfrm>
            <a:off x="7985759" y="390144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STI, clock, causal receipts / retirement</a:t>
            </a:r>
          </a:p>
        </p:txBody>
      </p:sp>
      <p:sp>
        <p:nvSpPr>
          <p:cNvPr id="25" name="TextBox 24"/>
          <p:cNvSpPr txBox="1"/>
          <p:nvPr/>
        </p:nvSpPr>
        <p:spPr>
          <a:xfrm>
            <a:off x="7985759" y="413552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cognition dependency</a:t>
            </a:r>
          </a:p>
        </p:txBody>
      </p:sp>
      <p:sp>
        <p:nvSpPr>
          <p:cNvPr id="26" name="Rounded Rectangle 25"/>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7" name="TextBox 26"/>
          <p:cNvSpPr txBox="1"/>
          <p:nvPr/>
        </p:nvSpPr>
        <p:spPr>
          <a:xfrm>
            <a:off x="670560" y="47320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Inference control C4</a:t>
            </a:r>
          </a:p>
        </p:txBody>
      </p:sp>
      <p:sp>
        <p:nvSpPr>
          <p:cNvPr id="28" name="TextBox 27"/>
          <p:cNvSpPr txBox="1"/>
          <p:nvPr/>
        </p:nvSpPr>
        <p:spPr>
          <a:xfrm>
            <a:off x="3185160" y="4732020"/>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Run one immutable workset</a:t>
            </a:r>
          </a:p>
        </p:txBody>
      </p:sp>
      <p:sp>
        <p:nvSpPr>
          <p:cNvPr id="29" name="TextBox 28"/>
          <p:cNvSpPr txBox="1"/>
          <p:nvPr/>
        </p:nvSpPr>
        <p:spPr>
          <a:xfrm>
            <a:off x="3185160" y="4966106"/>
            <a:ext cx="4556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step · readProgress · reconcile</a:t>
            </a:r>
          </a:p>
        </p:txBody>
      </p:sp>
      <p:sp>
        <p:nvSpPr>
          <p:cNvPr id="30" name="TextBox 29"/>
          <p:cNvSpPr txBox="1"/>
          <p:nvPr/>
        </p:nvSpPr>
        <p:spPr>
          <a:xfrm>
            <a:off x="7985759" y="4732020"/>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Selection, budgets, closure progress</a:t>
            </a:r>
          </a:p>
        </p:txBody>
      </p:sp>
      <p:sp>
        <p:nvSpPr>
          <p:cNvPr id="31" name="TextBox 30"/>
          <p:cNvSpPr txBox="1"/>
          <p:nvPr/>
        </p:nvSpPr>
        <p:spPr>
          <a:xfrm>
            <a:off x="7985759" y="4966106"/>
            <a:ext cx="3535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truth or attention ownership</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C4 calls C2 for admission. C2 invokes the kernel, then checks authority and commits its decision.</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architecture.md</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09 / 64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RESPONSIBILITY ATLAS · 3 OF 3</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Control responsibilities: move work, preserve authority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remaining six modules connect owners and report specific facts.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MODULE</a:t>
            </a:r>
          </a:p>
        </p:txBody>
      </p:sp>
      <p:sp>
        <p:nvSpPr>
          <p:cNvPr id="6" name="TextBox 5"/>
          <p:cNvSpPr txBox="1"/>
          <p:nvPr/>
        </p:nvSpPr>
        <p:spPr>
          <a:xfrm>
            <a:off x="31851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FUNCTION / PRIMARY OPERATIONS</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 / STATUS</a:t>
            </a:r>
          </a:p>
        </p:txBody>
      </p:sp>
      <p:sp>
        <p:nvSpPr>
          <p:cNvPr id="8" name="Rounded Rectangle 7"/>
          <p:cNvSpPr/>
          <p:nvPr/>
        </p:nvSpPr>
        <p:spPr>
          <a:xfrm>
            <a:off x="548640" y="2110740"/>
            <a:ext cx="11094720" cy="586740"/>
          </a:xfrm>
          <a:prstGeom prst="roundRect">
            <a:avLst>
              <a:gd name="adj" fmla="val 7792"/>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Messaging</a:t>
            </a:r>
          </a:p>
        </p:txBody>
      </p:sp>
      <p:sp>
        <p:nvSpPr>
          <p:cNvPr id="10" name="TextBox 9"/>
          <p:cNvSpPr txBox="1"/>
          <p:nvPr/>
        </p:nvSpPr>
        <p:spPr>
          <a:xfrm>
            <a:off x="3185160" y="22402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 deliver, acknowledge</a:t>
            </a:r>
          </a:p>
        </p:txBody>
      </p:sp>
      <p:sp>
        <p:nvSpPr>
          <p:cNvPr id="11" name="TextBox 10"/>
          <p:cNvSpPr txBox="1"/>
          <p:nvPr/>
        </p:nvSpPr>
        <p:spPr>
          <a:xfrm>
            <a:off x="3185160" y="24646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send · poll · ack</a:t>
            </a:r>
          </a:p>
        </p:txBody>
      </p:sp>
      <p:sp>
        <p:nvSpPr>
          <p:cNvPr id="12" name="TextBox 11"/>
          <p:cNvSpPr txBox="1"/>
          <p:nvPr/>
        </p:nvSpPr>
        <p:spPr>
          <a:xfrm>
            <a:off x="7680959" y="22402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Inbox + deduplication · IMPLEMENTED</a:t>
            </a:r>
          </a:p>
        </p:txBody>
      </p:sp>
      <p:sp>
        <p:nvSpPr>
          <p:cNvPr id="13" name="Rounded Rectangle 12"/>
          <p:cNvSpPr/>
          <p:nvPr/>
        </p:nvSpPr>
        <p:spPr>
          <a:xfrm>
            <a:off x="548640" y="2735580"/>
            <a:ext cx="11094720" cy="586740"/>
          </a:xfrm>
          <a:prstGeom prst="roundRect">
            <a:avLst>
              <a:gd name="adj" fmla="val 7792"/>
            </a:avLst>
          </a:prstGeom>
          <a:solidFill>
            <a:srgbClr val="FFFFFF"/>
          </a:solidFill>
          <a:ln>
            <a:noFill/>
          </a:ln>
          <a:effectLst/>
        </p:spPr>
        <p:txBody>
          <a:bodyPr rtlCol="0" anchor="ctr"/>
          <a:lstStyle/>
          <a:p>
            <a:pPr algn="ctr"/>
          </a:p>
        </p:txBody>
      </p:sp>
      <p:sp>
        <p:nvSpPr>
          <p:cNvPr id="14" name="TextBox 13"/>
          <p:cNvSpPr txBox="1"/>
          <p:nvPr/>
        </p:nvSpPr>
        <p:spPr>
          <a:xfrm>
            <a:off x="670560" y="286512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Execution</a:t>
            </a:r>
          </a:p>
        </p:txBody>
      </p:sp>
      <p:sp>
        <p:nvSpPr>
          <p:cNvPr id="15" name="TextBox 14"/>
          <p:cNvSpPr txBox="1"/>
          <p:nvPr/>
        </p:nvSpPr>
        <p:spPr>
          <a:xfrm>
            <a:off x="3185160" y="286512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Run one named operation</a:t>
            </a:r>
          </a:p>
        </p:txBody>
      </p:sp>
      <p:sp>
        <p:nvSpPr>
          <p:cNvPr id="16" name="TextBox 15"/>
          <p:cNvSpPr txBox="1"/>
          <p:nvPr/>
        </p:nvSpPr>
        <p:spPr>
          <a:xfrm>
            <a:off x="3185160" y="308945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status · result</a:t>
            </a:r>
          </a:p>
        </p:txBody>
      </p:sp>
      <p:sp>
        <p:nvSpPr>
          <p:cNvPr id="17" name="TextBox 16"/>
          <p:cNvSpPr txBox="1"/>
          <p:nvPr/>
        </p:nvSpPr>
        <p:spPr>
          <a:xfrm>
            <a:off x="7680959" y="286512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Jobs + completion outbox · IMPLEMENTED</a:t>
            </a:r>
          </a:p>
        </p:txBody>
      </p:sp>
      <p:sp>
        <p:nvSpPr>
          <p:cNvPr id="18" name="Rounded Rectangle 17"/>
          <p:cNvSpPr/>
          <p:nvPr/>
        </p:nvSpPr>
        <p:spPr>
          <a:xfrm>
            <a:off x="548640" y="3360419"/>
            <a:ext cx="11094720" cy="586740"/>
          </a:xfrm>
          <a:prstGeom prst="roundRect">
            <a:avLst>
              <a:gd name="adj" fmla="val 7792"/>
            </a:avLst>
          </a:prstGeom>
          <a:solidFill>
            <a:srgbClr val="FFFFFF"/>
          </a:solidFill>
          <a:ln>
            <a:noFill/>
          </a:ln>
          <a:effectLst/>
        </p:spPr>
        <p:txBody>
          <a:bodyPr rtlCol="0" anchor="ctr"/>
          <a:lstStyle/>
          <a:p>
            <a:pPr algn="ctr"/>
          </a:p>
        </p:txBody>
      </p:sp>
      <p:sp>
        <p:nvSpPr>
          <p:cNvPr id="19" name="TextBox 18"/>
          <p:cNvSpPr txBox="1"/>
          <p:nvPr/>
        </p:nvSpPr>
        <p:spPr>
          <a:xfrm>
            <a:off x="670560" y="34899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Registry</a:t>
            </a:r>
          </a:p>
        </p:txBody>
      </p:sp>
      <p:sp>
        <p:nvSpPr>
          <p:cNvPr id="20" name="TextBox 19"/>
          <p:cNvSpPr txBox="1"/>
          <p:nvPr/>
        </p:nvSpPr>
        <p:spPr>
          <a:xfrm>
            <a:off x="3185160" y="348996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Describe configured providers</a:t>
            </a:r>
          </a:p>
        </p:txBody>
      </p:sp>
      <p:sp>
        <p:nvSpPr>
          <p:cNvPr id="21" name="TextBox 20"/>
          <p:cNvSpPr txBox="1"/>
          <p:nvPr/>
        </p:nvSpPr>
        <p:spPr>
          <a:xfrm>
            <a:off x="3185160" y="371429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descriptors</a:t>
            </a:r>
          </a:p>
        </p:txBody>
      </p:sp>
      <p:sp>
        <p:nvSpPr>
          <p:cNvPr id="22" name="TextBox 21"/>
          <p:cNvSpPr txBox="1"/>
          <p:nvPr/>
        </p:nvSpPr>
        <p:spPr>
          <a:xfrm>
            <a:off x="7680959" y="348996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Static configuration · IMPLEMENTED</a:t>
            </a:r>
          </a:p>
        </p:txBody>
      </p:sp>
      <p:sp>
        <p:nvSpPr>
          <p:cNvPr id="23" name="Rounded Rectangle 22"/>
          <p:cNvSpPr/>
          <p:nvPr/>
        </p:nvSpPr>
        <p:spPr>
          <a:xfrm>
            <a:off x="548640" y="3985260"/>
            <a:ext cx="11094720" cy="586740"/>
          </a:xfrm>
          <a:prstGeom prst="roundRect">
            <a:avLst>
              <a:gd name="adj" fmla="val 7792"/>
            </a:avLst>
          </a:prstGeom>
          <a:solidFill>
            <a:srgbClr val="FFFFFF"/>
          </a:solidFill>
          <a:ln>
            <a:noFill/>
          </a:ln>
          <a:effectLst/>
        </p:spPr>
        <p:txBody>
          <a:bodyPr rtlCol="0" anchor="ctr"/>
          <a:lstStyle/>
          <a:p>
            <a:pPr algn="ctr"/>
          </a:p>
        </p:txBody>
      </p:sp>
      <p:sp>
        <p:nvSpPr>
          <p:cNvPr id="24" name="TextBox 23"/>
          <p:cNvSpPr txBox="1"/>
          <p:nvPr/>
        </p:nvSpPr>
        <p:spPr>
          <a:xfrm>
            <a:off x="670560" y="41148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Resolver</a:t>
            </a:r>
          </a:p>
        </p:txBody>
      </p:sp>
      <p:sp>
        <p:nvSpPr>
          <p:cNvPr id="25" name="TextBox 24"/>
          <p:cNvSpPr txBox="1"/>
          <p:nvPr/>
        </p:nvSpPr>
        <p:spPr>
          <a:xfrm>
            <a:off x="3185160" y="411480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Match required semantics</a:t>
            </a:r>
          </a:p>
        </p:txBody>
      </p:sp>
      <p:sp>
        <p:nvSpPr>
          <p:cNvPr id="26" name="TextBox 25"/>
          <p:cNvSpPr txBox="1"/>
          <p:nvPr/>
        </p:nvSpPr>
        <p:spPr>
          <a:xfrm>
            <a:off x="3185160" y="433913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resolve</a:t>
            </a:r>
          </a:p>
        </p:txBody>
      </p:sp>
      <p:sp>
        <p:nvSpPr>
          <p:cNvPr id="27" name="TextBox 26"/>
          <p:cNvSpPr txBox="1"/>
          <p:nvPr/>
        </p:nvSpPr>
        <p:spPr>
          <a:xfrm>
            <a:off x="7680959" y="411480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state · IMPLEMENTED</a:t>
            </a:r>
          </a:p>
        </p:txBody>
      </p:sp>
      <p:sp>
        <p:nvSpPr>
          <p:cNvPr id="28" name="Rounded Rectangle 27"/>
          <p:cNvSpPr/>
          <p:nvPr/>
        </p:nvSpPr>
        <p:spPr>
          <a:xfrm>
            <a:off x="548640" y="4610100"/>
            <a:ext cx="11094720" cy="586740"/>
          </a:xfrm>
          <a:prstGeom prst="roundRect">
            <a:avLst>
              <a:gd name="adj" fmla="val 7792"/>
            </a:avLst>
          </a:prstGeom>
          <a:solidFill>
            <a:srgbClr val="FFFFFF"/>
          </a:solidFill>
          <a:ln>
            <a:noFill/>
          </a:ln>
          <a:effectLst/>
        </p:spPr>
        <p:txBody>
          <a:bodyPr rtlCol="0" anchor="ctr"/>
          <a:lstStyle/>
          <a:p>
            <a:pPr algn="ctr"/>
          </a:p>
        </p:txBody>
      </p:sp>
      <p:sp>
        <p:nvSpPr>
          <p:cNvPr id="29" name="TextBox 28"/>
          <p:cNvSpPr txBox="1"/>
          <p:nvPr/>
        </p:nvSpPr>
        <p:spPr>
          <a:xfrm>
            <a:off x="670560" y="47396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 / finality</a:t>
            </a:r>
          </a:p>
        </p:txBody>
      </p:sp>
      <p:sp>
        <p:nvSpPr>
          <p:cNvPr id="30" name="TextBox 29"/>
          <p:cNvSpPr txBox="1"/>
          <p:nvPr/>
        </p:nvSpPr>
        <p:spPr>
          <a:xfrm>
            <a:off x="3185160" y="473964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approved commitment; observe</a:t>
            </a:r>
          </a:p>
        </p:txBody>
      </p:sp>
      <p:sp>
        <p:nvSpPr>
          <p:cNvPr id="31" name="TextBox 30"/>
          <p:cNvSpPr txBox="1"/>
          <p:nvPr/>
        </p:nvSpPr>
        <p:spPr>
          <a:xfrm>
            <a:off x="3185160" y="496397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submit · observe</a:t>
            </a:r>
          </a:p>
        </p:txBody>
      </p:sp>
      <p:sp>
        <p:nvSpPr>
          <p:cNvPr id="32" name="TextBox 31"/>
          <p:cNvSpPr txBox="1"/>
          <p:nvPr/>
        </p:nvSpPr>
        <p:spPr>
          <a:xfrm>
            <a:off x="7680959" y="473964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Signed intents + observations · REAL M4</a:t>
            </a:r>
          </a:p>
        </p:txBody>
      </p:sp>
      <p:sp>
        <p:nvSpPr>
          <p:cNvPr id="33" name="Rounded Rectangle 32"/>
          <p:cNvSpPr/>
          <p:nvPr/>
        </p:nvSpPr>
        <p:spPr>
          <a:xfrm>
            <a:off x="548640" y="5234940"/>
            <a:ext cx="11094720" cy="586740"/>
          </a:xfrm>
          <a:prstGeom prst="roundRect">
            <a:avLst>
              <a:gd name="adj" fmla="val 7792"/>
            </a:avLst>
          </a:prstGeom>
          <a:solidFill>
            <a:srgbClr val="FFFFFF"/>
          </a:solidFill>
          <a:ln>
            <a:noFill/>
          </a:ln>
          <a:effectLst/>
        </p:spPr>
        <p:txBody>
          <a:bodyPr rtlCol="0" anchor="ctr"/>
          <a:lstStyle/>
          <a:p>
            <a:pPr algn="ctr"/>
          </a:p>
        </p:txBody>
      </p:sp>
      <p:sp>
        <p:nvSpPr>
          <p:cNvPr id="34" name="TextBox 33"/>
          <p:cNvSpPr txBox="1"/>
          <p:nvPr/>
        </p:nvSpPr>
        <p:spPr>
          <a:xfrm>
            <a:off x="670560" y="53644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Authorization</a:t>
            </a:r>
          </a:p>
        </p:txBody>
      </p:sp>
      <p:sp>
        <p:nvSpPr>
          <p:cNvPr id="35" name="TextBox 34"/>
          <p:cNvSpPr txBox="1"/>
          <p:nvPr/>
        </p:nvSpPr>
        <p:spPr>
          <a:xfrm>
            <a:off x="3185160" y="5364480"/>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Check current caller + scope + method</a:t>
            </a:r>
          </a:p>
        </p:txBody>
      </p:sp>
      <p:sp>
        <p:nvSpPr>
          <p:cNvPr id="36" name="TextBox 35"/>
          <p:cNvSpPr txBox="1"/>
          <p:nvPr/>
        </p:nvSpPr>
        <p:spPr>
          <a:xfrm>
            <a:off x="3185160" y="5588812"/>
            <a:ext cx="4251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authorize / live policy checks</a:t>
            </a:r>
          </a:p>
        </p:txBody>
      </p:sp>
      <p:sp>
        <p:nvSpPr>
          <p:cNvPr id="37" name="TextBox 36"/>
          <p:cNvSpPr txBox="1"/>
          <p:nvPr/>
        </p:nvSpPr>
        <p:spPr>
          <a:xfrm>
            <a:off x="7680959" y="5364480"/>
            <a:ext cx="3840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Operator policy · LOCAL FIXTURE</a:t>
            </a:r>
          </a:p>
        </p:txBody>
      </p:sp>
      <p:cxnSp>
        <p:nvCxnSpPr>
          <p:cNvPr id="38" name="Connector 37"/>
          <p:cNvCxnSpPr/>
          <p:nvPr/>
        </p:nvCxnSpPr>
        <p:spPr>
          <a:xfrm>
            <a:off x="548640" y="6393180"/>
            <a:ext cx="11094720" cy="0"/>
          </a:xfrm>
          <a:prstGeom prst="line">
            <a:avLst/>
          </a:prstGeom>
          <a:ln w="7620">
            <a:solidFill>
              <a:srgbClr val="C9D2D4"/>
            </a:solidFill>
          </a:ln>
          <a:effectLst/>
        </p:spPr>
      </p:cxnSp>
      <p:sp>
        <p:nvSpPr>
          <p:cNvPr id="39" name="TextBox 3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architecture.md</a:t>
            </a:r>
          </a:p>
        </p:txBody>
      </p:sp>
      <p:sp>
        <p:nvSpPr>
          <p:cNvPr id="40" name="TextBox 3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10 / 64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PRIVATE COGNITION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exercised M3.1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Arrows point from caller to provider; the relay and every state owner commit separately.</a:t>
            </a:r>
          </a:p>
        </p:txBody>
      </p:sp>
      <p:sp>
        <p:nvSpPr>
          <p:cNvPr id="5" name="Rounded Rectangle 4"/>
          <p:cNvSpPr/>
          <p:nvPr/>
        </p:nvSpPr>
        <p:spPr>
          <a:xfrm>
            <a:off x="548640" y="1828800"/>
            <a:ext cx="2667000" cy="899160"/>
          </a:xfrm>
          <a:prstGeom prst="roundRect">
            <a:avLst>
              <a:gd name="adj" fmla="val 1101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1996439"/>
            <a:ext cx="2331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Hive plugin</a:t>
            </a:r>
          </a:p>
        </p:txBody>
      </p:sp>
      <p:sp>
        <p:nvSpPr>
          <p:cNvPr id="7" name="TextBox 6"/>
          <p:cNvSpPr txBox="1"/>
          <p:nvPr/>
        </p:nvSpPr>
        <p:spPr>
          <a:xfrm>
            <a:off x="716280" y="2355494"/>
            <a:ext cx="2331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Scenario + trusted actor</a:t>
            </a:r>
          </a:p>
        </p:txBody>
      </p:sp>
      <p:sp>
        <p:nvSpPr>
          <p:cNvPr id="8" name="Rounded Rectangle 7"/>
          <p:cNvSpPr/>
          <p:nvPr/>
        </p:nvSpPr>
        <p:spPr>
          <a:xfrm>
            <a:off x="4229100" y="1828800"/>
            <a:ext cx="33528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9" name="TextBox 8"/>
          <p:cNvSpPr txBox="1"/>
          <p:nvPr/>
        </p:nvSpPr>
        <p:spPr>
          <a:xfrm>
            <a:off x="4396740" y="1996439"/>
            <a:ext cx="30175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InferenceControl</a:t>
            </a:r>
          </a:p>
        </p:txBody>
      </p:sp>
      <p:sp>
        <p:nvSpPr>
          <p:cNvPr id="10" name="TextBox 9"/>
          <p:cNvSpPr txBox="1"/>
          <p:nvPr/>
        </p:nvSpPr>
        <p:spPr>
          <a:xfrm>
            <a:off x="4396740" y="2355494"/>
            <a:ext cx="30175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step · readProgress · reconcile</a:t>
            </a:r>
          </a:p>
        </p:txBody>
      </p:sp>
      <p:sp>
        <p:nvSpPr>
          <p:cNvPr id="11" name="Rounded Rectangle 10"/>
          <p:cNvSpPr/>
          <p:nvPr/>
        </p:nvSpPr>
        <p:spPr>
          <a:xfrm>
            <a:off x="8595360" y="1828800"/>
            <a:ext cx="3048000" cy="899160"/>
          </a:xfrm>
          <a:prstGeom prst="roundRect">
            <a:avLst>
              <a:gd name="adj" fmla="val 1101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8763000" y="1996439"/>
            <a:ext cx="27127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3" name="TextBox 12"/>
          <p:cNvSpPr txBox="1"/>
          <p:nvPr/>
        </p:nvSpPr>
        <p:spPr>
          <a:xfrm>
            <a:off x="8763000" y="2355494"/>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select · submit/resolveFeedback</a:t>
            </a:r>
          </a:p>
        </p:txBody>
      </p:sp>
      <p:cxnSp>
        <p:nvCxnSpPr>
          <p:cNvPr id="14" name="Connector 13"/>
          <p:cNvCxnSpPr/>
          <p:nvPr/>
        </p:nvCxnSpPr>
        <p:spPr>
          <a:xfrm>
            <a:off x="3215640" y="2270760"/>
            <a:ext cx="1013460" cy="0"/>
          </a:xfrm>
          <a:prstGeom prst="line">
            <a:avLst/>
          </a:prstGeom>
          <a:ln w="15240">
            <a:solidFill>
              <a:srgbClr val="007C78"/>
            </a:solidFill>
          </a:ln>
          <a:effectLst/>
        </p:spPr>
      </p:cxnSp>
      <p:sp>
        <p:nvSpPr>
          <p:cNvPr id="15" name="Freeform 14"/>
          <p:cNvSpPr/>
          <p:nvPr/>
        </p:nvSpPr>
        <p:spPr>
          <a:xfrm>
            <a:off x="4130040" y="22326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6" name="Connector 15"/>
          <p:cNvCxnSpPr/>
          <p:nvPr/>
        </p:nvCxnSpPr>
        <p:spPr>
          <a:xfrm>
            <a:off x="7581900" y="2270760"/>
            <a:ext cx="1013460" cy="0"/>
          </a:xfrm>
          <a:prstGeom prst="line">
            <a:avLst/>
          </a:prstGeom>
          <a:ln w="15240">
            <a:solidFill>
              <a:srgbClr val="315E9C"/>
            </a:solidFill>
          </a:ln>
          <a:effectLst/>
        </p:spPr>
      </p:cxnSp>
      <p:sp>
        <p:nvSpPr>
          <p:cNvPr id="17" name="Freeform 16"/>
          <p:cNvSpPr/>
          <p:nvPr/>
        </p:nvSpPr>
        <p:spPr>
          <a:xfrm>
            <a:off x="8496300" y="22326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548640" y="3657600"/>
            <a:ext cx="22860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716280" y="3825240"/>
            <a:ext cx="1950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C1 · Episodes</a:t>
            </a:r>
          </a:p>
        </p:txBody>
      </p:sp>
      <p:sp>
        <p:nvSpPr>
          <p:cNvPr id="20" name="TextBox 19"/>
          <p:cNvSpPr txBox="1"/>
          <p:nvPr/>
        </p:nvSpPr>
        <p:spPr>
          <a:xfrm>
            <a:off x="716280" y="4116019"/>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readEvidence · pending ·</a:t>
            </a:r>
          </a:p>
        </p:txBody>
      </p:sp>
      <p:sp>
        <p:nvSpPr>
          <p:cNvPr id="21" name="TextBox 20"/>
          <p:cNvSpPr txBox="1"/>
          <p:nvPr/>
        </p:nvSpPr>
        <p:spPr>
          <a:xfrm>
            <a:off x="716280" y="4311091"/>
            <a:ext cx="195072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536775"/>
                </a:solidFill>
                <a:latin typeface="DejaVu Sans"/>
              </a:rPr>
              <a:t>ack</a:t>
            </a:r>
          </a:p>
        </p:txBody>
      </p:sp>
      <p:sp>
        <p:nvSpPr>
          <p:cNvPr id="22" name="Rounded Rectangle 21"/>
          <p:cNvSpPr/>
          <p:nvPr/>
        </p:nvSpPr>
        <p:spPr>
          <a:xfrm>
            <a:off x="3383279" y="3657600"/>
            <a:ext cx="22860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3550919"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Evidence relay</a:t>
            </a:r>
          </a:p>
        </p:txBody>
      </p:sp>
      <p:sp>
        <p:nvSpPr>
          <p:cNvPr id="24" name="TextBox 23"/>
          <p:cNvSpPr txBox="1"/>
          <p:nvPr/>
        </p:nvSpPr>
        <p:spPr>
          <a:xfrm>
            <a:off x="3550919"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 → validate → ack</a:t>
            </a:r>
          </a:p>
        </p:txBody>
      </p:sp>
      <p:sp>
        <p:nvSpPr>
          <p:cNvPr id="25" name="Rounded Rectangle 24"/>
          <p:cNvSpPr/>
          <p:nvPr/>
        </p:nvSpPr>
        <p:spPr>
          <a:xfrm>
            <a:off x="6217920" y="3657600"/>
            <a:ext cx="25908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6" name="TextBox 25"/>
          <p:cNvSpPr txBox="1"/>
          <p:nvPr/>
        </p:nvSpPr>
        <p:spPr>
          <a:xfrm>
            <a:off x="6385559" y="3825240"/>
            <a:ext cx="22555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C2 · Beliefs</a:t>
            </a:r>
          </a:p>
        </p:txBody>
      </p:sp>
      <p:sp>
        <p:nvSpPr>
          <p:cNvPr id="27" name="TextBox 26"/>
          <p:cNvSpPr txBox="1"/>
          <p:nvPr/>
        </p:nvSpPr>
        <p:spPr>
          <a:xfrm>
            <a:off x="6385559" y="4164787"/>
            <a:ext cx="2255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submit/read decisions</a:t>
            </a:r>
          </a:p>
        </p:txBody>
      </p:sp>
      <p:sp>
        <p:nvSpPr>
          <p:cNvPr id="28" name="Rounded Rectangle 27"/>
          <p:cNvSpPr/>
          <p:nvPr/>
        </p:nvSpPr>
        <p:spPr>
          <a:xfrm>
            <a:off x="9357360" y="3657600"/>
            <a:ext cx="2286000" cy="914400"/>
          </a:xfrm>
          <a:prstGeom prst="roundRect">
            <a:avLst>
              <a:gd name="adj" fmla="val 10833"/>
            </a:avLst>
          </a:prstGeom>
          <a:solidFill>
            <a:srgbClr val="DCEFE8"/>
          </a:solidFill>
          <a:ln w="7620">
            <a:solidFill>
              <a:srgbClr val="007C78"/>
            </a:solidFill>
          </a:ln>
          <a:effectLst/>
        </p:spPr>
        <p:txBody>
          <a:bodyPr rtlCol="0" anchor="ctr"/>
          <a:lstStyle/>
          <a:p>
            <a:pPr algn="ctr"/>
          </a:p>
        </p:txBody>
      </p:sp>
      <p:sp>
        <p:nvSpPr>
          <p:cNvPr id="29" name="TextBox 28"/>
          <p:cNvSpPr txBox="1"/>
          <p:nvPr/>
        </p:nvSpPr>
        <p:spPr>
          <a:xfrm>
            <a:off x="9525000" y="3825240"/>
            <a:ext cx="1950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Pure PLN</a:t>
            </a:r>
          </a:p>
        </p:txBody>
      </p:sp>
      <p:sp>
        <p:nvSpPr>
          <p:cNvPr id="30" name="TextBox 29"/>
          <p:cNvSpPr txBox="1"/>
          <p:nvPr/>
        </p:nvSpPr>
        <p:spPr>
          <a:xfrm>
            <a:off x="9525000" y="4164787"/>
            <a:ext cx="19507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applyRule / revise</a:t>
            </a:r>
          </a:p>
        </p:txBody>
      </p:sp>
      <p:cxnSp>
        <p:nvCxnSpPr>
          <p:cNvPr id="31" name="Connector 30"/>
          <p:cNvCxnSpPr/>
          <p:nvPr/>
        </p:nvCxnSpPr>
        <p:spPr>
          <a:xfrm flipH="1">
            <a:off x="2834640" y="4114800"/>
            <a:ext cx="548639" cy="0"/>
          </a:xfrm>
          <a:prstGeom prst="line">
            <a:avLst/>
          </a:prstGeom>
          <a:ln w="15240">
            <a:solidFill>
              <a:srgbClr val="315E9C"/>
            </a:solidFill>
          </a:ln>
          <a:effectLst/>
        </p:spPr>
      </p:cxnSp>
      <p:sp>
        <p:nvSpPr>
          <p:cNvPr id="32" name="Freeform 31"/>
          <p:cNvSpPr/>
          <p:nvPr/>
        </p:nvSpPr>
        <p:spPr>
          <a:xfrm>
            <a:off x="2834640" y="407670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3" name="Connector 32"/>
          <p:cNvCxnSpPr/>
          <p:nvPr/>
        </p:nvCxnSpPr>
        <p:spPr>
          <a:xfrm>
            <a:off x="5669280" y="4114800"/>
            <a:ext cx="548640" cy="0"/>
          </a:xfrm>
          <a:prstGeom prst="line">
            <a:avLst/>
          </a:prstGeom>
          <a:ln w="15240">
            <a:solidFill>
              <a:srgbClr val="315E9C"/>
            </a:solidFill>
          </a:ln>
          <a:effectLst/>
        </p:spPr>
      </p:cxnSp>
      <p:sp>
        <p:nvSpPr>
          <p:cNvPr id="34" name="Freeform 33"/>
          <p:cNvSpPr/>
          <p:nvPr/>
        </p:nvSpPr>
        <p:spPr>
          <a:xfrm>
            <a:off x="6118860" y="40767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5" name="Connector 34"/>
          <p:cNvCxnSpPr/>
          <p:nvPr/>
        </p:nvCxnSpPr>
        <p:spPr>
          <a:xfrm>
            <a:off x="8808720" y="4114800"/>
            <a:ext cx="548640" cy="0"/>
          </a:xfrm>
          <a:prstGeom prst="line">
            <a:avLst/>
          </a:prstGeom>
          <a:ln w="15240">
            <a:solidFill>
              <a:srgbClr val="007C78"/>
            </a:solidFill>
          </a:ln>
          <a:effectLst/>
        </p:spPr>
      </p:cxnSp>
      <p:sp>
        <p:nvSpPr>
          <p:cNvPr id="36" name="Freeform 35"/>
          <p:cNvSpPr/>
          <p:nvPr/>
        </p:nvSpPr>
        <p:spPr>
          <a:xfrm>
            <a:off x="9258300" y="40767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37" name="Connector 36"/>
          <p:cNvCxnSpPr/>
          <p:nvPr/>
        </p:nvCxnSpPr>
        <p:spPr>
          <a:xfrm>
            <a:off x="7086600" y="2727960"/>
            <a:ext cx="0" cy="929640"/>
          </a:xfrm>
          <a:prstGeom prst="line">
            <a:avLst/>
          </a:prstGeom>
          <a:ln w="15240">
            <a:solidFill>
              <a:srgbClr val="315E9C"/>
            </a:solidFill>
          </a:ln>
          <a:effectLst/>
        </p:spPr>
      </p:cxnSp>
      <p:sp>
        <p:nvSpPr>
          <p:cNvPr id="38" name="Freeform 37"/>
          <p:cNvSpPr/>
          <p:nvPr/>
        </p:nvSpPr>
        <p:spPr>
          <a:xfrm>
            <a:off x="7048500" y="35585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39" name="TextBox 38"/>
          <p:cNvSpPr txBox="1"/>
          <p:nvPr/>
        </p:nvSpPr>
        <p:spPr>
          <a:xfrm>
            <a:off x="7414259" y="3055620"/>
            <a:ext cx="381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C4 → C2: read / submit derivation</a:t>
            </a:r>
          </a:p>
        </p:txBody>
      </p:sp>
      <p:cxnSp>
        <p:nvCxnSpPr>
          <p:cNvPr id="40" name="Connector 39"/>
          <p:cNvCxnSpPr/>
          <p:nvPr/>
        </p:nvCxnSpPr>
        <p:spPr>
          <a:xfrm>
            <a:off x="1219200" y="2727960"/>
            <a:ext cx="0" cy="480060"/>
          </a:xfrm>
          <a:prstGeom prst="line">
            <a:avLst/>
          </a:prstGeom>
          <a:ln w="15240">
            <a:solidFill>
              <a:srgbClr val="007C78"/>
            </a:solidFill>
          </a:ln>
          <a:effectLst/>
        </p:spPr>
      </p:cxnSp>
      <p:cxnSp>
        <p:nvCxnSpPr>
          <p:cNvPr id="41" name="Connector 40"/>
          <p:cNvCxnSpPr/>
          <p:nvPr/>
        </p:nvCxnSpPr>
        <p:spPr>
          <a:xfrm>
            <a:off x="1219200" y="3208020"/>
            <a:ext cx="3307080" cy="0"/>
          </a:xfrm>
          <a:prstGeom prst="line">
            <a:avLst/>
          </a:prstGeom>
          <a:ln w="15240">
            <a:solidFill>
              <a:srgbClr val="007C78"/>
            </a:solidFill>
          </a:ln>
          <a:effectLst/>
        </p:spPr>
      </p:cxnSp>
      <p:cxnSp>
        <p:nvCxnSpPr>
          <p:cNvPr id="42" name="Connector 41"/>
          <p:cNvCxnSpPr/>
          <p:nvPr/>
        </p:nvCxnSpPr>
        <p:spPr>
          <a:xfrm>
            <a:off x="4526280" y="3208020"/>
            <a:ext cx="0" cy="449580"/>
          </a:xfrm>
          <a:prstGeom prst="line">
            <a:avLst/>
          </a:prstGeom>
          <a:ln w="15240">
            <a:solidFill>
              <a:srgbClr val="007C78"/>
            </a:solidFill>
          </a:ln>
          <a:effectLst/>
        </p:spPr>
      </p:cxnSp>
      <p:sp>
        <p:nvSpPr>
          <p:cNvPr id="43" name="Freeform 42"/>
          <p:cNvSpPr/>
          <p:nvPr/>
        </p:nvSpPr>
        <p:spPr>
          <a:xfrm>
            <a:off x="4488180" y="355854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44" name="TextBox 43"/>
          <p:cNvSpPr txBox="1"/>
          <p:nvPr/>
        </p:nvSpPr>
        <p:spPr>
          <a:xfrm>
            <a:off x="1379220" y="2956560"/>
            <a:ext cx="4724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007C78"/>
                </a:solidFill>
                <a:latin typeface="DejaVu Sans"/>
              </a:rPr>
              <a:t>Scenario appends C1 events, then drains via relay</a:t>
            </a:r>
          </a:p>
        </p:txBody>
      </p:sp>
      <p:cxnSp>
        <p:nvCxnSpPr>
          <p:cNvPr id="45" name="Connector 44"/>
          <p:cNvCxnSpPr/>
          <p:nvPr/>
        </p:nvCxnSpPr>
        <p:spPr>
          <a:xfrm>
            <a:off x="7513320" y="4572000"/>
            <a:ext cx="0" cy="381000"/>
          </a:xfrm>
          <a:prstGeom prst="line">
            <a:avLst/>
          </a:prstGeom>
          <a:ln w="15240">
            <a:solidFill>
              <a:srgbClr val="315E9C"/>
            </a:solidFill>
          </a:ln>
          <a:effectLst/>
        </p:spPr>
      </p:cxnSp>
      <p:cxnSp>
        <p:nvCxnSpPr>
          <p:cNvPr id="46" name="Connector 45"/>
          <p:cNvCxnSpPr/>
          <p:nvPr/>
        </p:nvCxnSpPr>
        <p:spPr>
          <a:xfrm flipH="1">
            <a:off x="1691639" y="4953000"/>
            <a:ext cx="5821681" cy="0"/>
          </a:xfrm>
          <a:prstGeom prst="line">
            <a:avLst/>
          </a:prstGeom>
          <a:ln w="15240">
            <a:solidFill>
              <a:srgbClr val="315E9C"/>
            </a:solidFill>
          </a:ln>
          <a:effectLst/>
        </p:spPr>
      </p:cxnSp>
      <p:cxnSp>
        <p:nvCxnSpPr>
          <p:cNvPr id="47" name="Connector 46"/>
          <p:cNvCxnSpPr/>
          <p:nvPr/>
        </p:nvCxnSpPr>
        <p:spPr>
          <a:xfrm flipV="1">
            <a:off x="1691639" y="4572000"/>
            <a:ext cx="0" cy="381000"/>
          </a:xfrm>
          <a:prstGeom prst="line">
            <a:avLst/>
          </a:prstGeom>
          <a:ln w="15240">
            <a:solidFill>
              <a:srgbClr val="315E9C"/>
            </a:solidFill>
          </a:ln>
          <a:effectLst/>
        </p:spPr>
      </p:cxnSp>
      <p:sp>
        <p:nvSpPr>
          <p:cNvPr id="48" name="Freeform 47"/>
          <p:cNvSpPr/>
          <p:nvPr/>
        </p:nvSpPr>
        <p:spPr>
          <a:xfrm>
            <a:off x="1653540" y="4572000"/>
            <a:ext cx="76200" cy="99060"/>
          </a:xfrm>
          <a:custGeom>
            <a:avLst/>
            <a:gdLst/>
            <a:ahLst/>
            <a:cxnLst/>
            <a:rect l="l" t="t" r="r" b="b"/>
            <a:pathLst>
              <a:path w="10" h="13">
                <a:moveTo>
                  <a:pt x="5" y="0"/>
                </a:moveTo>
                <a:lnTo>
                  <a:pt x="0" y="13"/>
                </a:lnTo>
                <a:lnTo>
                  <a:pt x="10" y="13"/>
                </a:lnTo>
                <a:close/>
              </a:path>
            </a:pathLst>
          </a:custGeom>
          <a:solidFill>
            <a:srgbClr val="315E9C"/>
          </a:solidFill>
          <a:ln>
            <a:noFill/>
          </a:ln>
          <a:effectLst/>
        </p:spPr>
        <p:txBody>
          <a:bodyPr rtlCol="0" anchor="ctr"/>
          <a:lstStyle/>
          <a:p>
            <a:pPr algn="ctr"/>
          </a:p>
        </p:txBody>
      </p:sp>
      <p:sp>
        <p:nvSpPr>
          <p:cNvPr id="49" name="TextBox 48"/>
          <p:cNvSpPr txBox="1"/>
          <p:nvPr/>
        </p:nvSpPr>
        <p:spPr>
          <a:xfrm>
            <a:off x="3147060" y="4724400"/>
            <a:ext cx="37719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C2 → C1: readEvidence</a:t>
            </a:r>
          </a:p>
        </p:txBody>
      </p:sp>
      <p:sp>
        <p:nvSpPr>
          <p:cNvPr id="50" name="Rounded Rectangle 49"/>
          <p:cNvSpPr/>
          <p:nvPr/>
        </p:nvSpPr>
        <p:spPr>
          <a:xfrm>
            <a:off x="548640" y="5364480"/>
            <a:ext cx="7620000" cy="815340"/>
          </a:xfrm>
          <a:prstGeom prst="roundRect">
            <a:avLst>
              <a:gd name="adj" fmla="val 12149"/>
            </a:avLst>
          </a:prstGeom>
          <a:solidFill>
            <a:srgbClr val="DCEFE8"/>
          </a:solidFill>
          <a:ln w="7620">
            <a:solidFill>
              <a:srgbClr val="007C78"/>
            </a:solidFill>
          </a:ln>
          <a:effectLst/>
        </p:spPr>
        <p:txBody>
          <a:bodyPr rtlCol="0" anchor="ctr"/>
          <a:lstStyle/>
          <a:p>
            <a:pPr algn="ctr"/>
          </a:p>
        </p:txBody>
      </p:sp>
      <p:sp>
        <p:nvSpPr>
          <p:cNvPr id="51" name="TextBox 50"/>
          <p:cNvSpPr txBox="1"/>
          <p:nvPr/>
        </p:nvSpPr>
        <p:spPr>
          <a:xfrm>
            <a:off x="716280" y="5532120"/>
            <a:ext cx="728472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C1 / C2 / C4 → private AtomStorage → real DeTTa</a:t>
            </a:r>
          </a:p>
        </p:txBody>
      </p:sp>
      <p:sp>
        <p:nvSpPr>
          <p:cNvPr id="52" name="TextBox 51"/>
          <p:cNvSpPr txBox="1"/>
          <p:nvPr/>
        </p:nvSpPr>
        <p:spPr>
          <a:xfrm>
            <a:off x="716280" y="5871667"/>
            <a:ext cx="72847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Opaque bytes below the application boundary; each owner keeps its own journal.</a:t>
            </a:r>
          </a:p>
        </p:txBody>
      </p:sp>
      <p:sp>
        <p:nvSpPr>
          <p:cNvPr id="53" name="Rounded Rectangle 52"/>
          <p:cNvSpPr/>
          <p:nvPr/>
        </p:nvSpPr>
        <p:spPr>
          <a:xfrm>
            <a:off x="8595360" y="5364480"/>
            <a:ext cx="3048000" cy="815340"/>
          </a:xfrm>
          <a:prstGeom prst="roundRect">
            <a:avLst>
              <a:gd name="adj" fmla="val 12149"/>
            </a:avLst>
          </a:prstGeom>
          <a:solidFill>
            <a:srgbClr val="E7ECEB"/>
          </a:solidFill>
          <a:ln w="7620">
            <a:solidFill>
              <a:srgbClr val="315E9C"/>
            </a:solidFill>
          </a:ln>
          <a:effectLst/>
        </p:spPr>
        <p:txBody>
          <a:bodyPr rtlCol="0" anchor="ctr"/>
          <a:lstStyle/>
          <a:p>
            <a:pPr algn="ctr"/>
          </a:p>
        </p:txBody>
      </p:sp>
      <p:sp>
        <p:nvSpPr>
          <p:cNvPr id="54" name="TextBox 53"/>
          <p:cNvSpPr txBox="1"/>
          <p:nvPr/>
        </p:nvSpPr>
        <p:spPr>
          <a:xfrm>
            <a:off x="8763000" y="5532120"/>
            <a:ext cx="2712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315E9C"/>
                </a:solidFill>
                <a:latin typeface="DejaVu Sans"/>
              </a:rPr>
              <a:t>Authority + descriptors</a:t>
            </a:r>
          </a:p>
        </p:txBody>
      </p:sp>
      <p:sp>
        <p:nvSpPr>
          <p:cNvPr id="55" name="TextBox 54"/>
          <p:cNvSpPr txBox="1"/>
          <p:nvPr/>
        </p:nvSpPr>
        <p:spPr>
          <a:xfrm>
            <a:off x="8763000" y="5861913"/>
            <a:ext cx="27127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Checked at every owner port</a:t>
            </a:r>
          </a:p>
        </p:txBody>
      </p:sp>
      <p:cxnSp>
        <p:nvCxnSpPr>
          <p:cNvPr id="56" name="Connector 55"/>
          <p:cNvCxnSpPr/>
          <p:nvPr/>
        </p:nvCxnSpPr>
        <p:spPr>
          <a:xfrm>
            <a:off x="548640" y="6393180"/>
            <a:ext cx="11094720" cy="0"/>
          </a:xfrm>
          <a:prstGeom prst="line">
            <a:avLst/>
          </a:prstGeom>
          <a:ln w="7620">
            <a:solidFill>
              <a:srgbClr val="C9D2D4"/>
            </a:solidFill>
          </a:ln>
          <a:effectLst/>
        </p:spPr>
      </p:cxnSp>
      <p:sp>
        <p:nvSpPr>
          <p:cNvPr id="57" name="TextBox 5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cognition.py · ports.py · evidence_relay.py</a:t>
            </a:r>
          </a:p>
        </p:txBody>
      </p:sp>
      <p:sp>
        <p:nvSpPr>
          <p:cNvPr id="58" name="TextBox 5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11 / 64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SHARED APPLICATION PORTS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Function dependencies: the preserved M1.2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 exercised calls. Every provider effect crosses an existing validated interface.</a:t>
            </a:r>
          </a:p>
        </p:txBody>
      </p:sp>
      <p:sp>
        <p:nvSpPr>
          <p:cNvPr id="5" name="Rounded Rectangle 4"/>
          <p:cNvSpPr/>
          <p:nvPr/>
        </p:nvSpPr>
        <p:spPr>
          <a:xfrm>
            <a:off x="548640" y="1874520"/>
            <a:ext cx="2514600" cy="990600"/>
          </a:xfrm>
          <a:prstGeom prst="roundRect">
            <a:avLst>
              <a:gd name="adj" fmla="val 10000"/>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42159"/>
            <a:ext cx="2179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a:t>
            </a:r>
          </a:p>
        </p:txBody>
      </p:sp>
      <p:sp>
        <p:nvSpPr>
          <p:cNvPr id="7" name="TextBox 6"/>
          <p:cNvSpPr txBox="1"/>
          <p:nvPr/>
        </p:nvSpPr>
        <p:spPr>
          <a:xfrm>
            <a:off x="716280" y="2391460"/>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POST /programs/…/act</a:t>
            </a:r>
          </a:p>
        </p:txBody>
      </p:sp>
      <p:sp>
        <p:nvSpPr>
          <p:cNvPr id="8" name="TextBox 7"/>
          <p:cNvSpPr txBox="1"/>
          <p:nvPr/>
        </p:nvSpPr>
        <p:spPr>
          <a:xfrm>
            <a:off x="716280" y="2596286"/>
            <a:ext cx="2179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Trusted actor + command</a:t>
            </a:r>
          </a:p>
        </p:txBody>
      </p:sp>
      <p:sp>
        <p:nvSpPr>
          <p:cNvPr id="9" name="Rounded Rectangle 8"/>
          <p:cNvSpPr/>
          <p:nvPr/>
        </p:nvSpPr>
        <p:spPr>
          <a:xfrm>
            <a:off x="4076700" y="1874520"/>
            <a:ext cx="3276600" cy="990600"/>
          </a:xfrm>
          <a:prstGeom prst="roundRect">
            <a:avLst>
              <a:gd name="adj" fmla="val 10000"/>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244340" y="2042159"/>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Fusion inspect plugin</a:t>
            </a:r>
          </a:p>
        </p:txBody>
      </p:sp>
      <p:sp>
        <p:nvSpPr>
          <p:cNvPr id="11" name="TextBox 10"/>
          <p:cNvSpPr txBox="1"/>
          <p:nvPr/>
        </p:nvSpPr>
        <p:spPr>
          <a:xfrm>
            <a:off x="4244340" y="2391460"/>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Owns caller receipts</a:t>
            </a:r>
          </a:p>
        </p:txBody>
      </p:sp>
      <p:sp>
        <p:nvSpPr>
          <p:cNvPr id="12" name="TextBox 11"/>
          <p:cNvSpPr txBox="1"/>
          <p:nvPr/>
        </p:nvSpPr>
        <p:spPr>
          <a:xfrm>
            <a:off x="4244340" y="2596286"/>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Uses selected stdio binding</a:t>
            </a:r>
          </a:p>
        </p:txBody>
      </p:sp>
      <p:sp>
        <p:nvSpPr>
          <p:cNvPr id="13" name="Rounded Rectangle 12"/>
          <p:cNvSpPr/>
          <p:nvPr/>
        </p:nvSpPr>
        <p:spPr>
          <a:xfrm>
            <a:off x="8229600" y="1874520"/>
            <a:ext cx="3413760" cy="990600"/>
          </a:xfrm>
          <a:prstGeom prst="roundRect">
            <a:avLst>
              <a:gd name="adj" fmla="val 10000"/>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8397240" y="2042159"/>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Registry + resolver</a:t>
            </a:r>
          </a:p>
        </p:txBody>
      </p:sp>
      <p:sp>
        <p:nvSpPr>
          <p:cNvPr id="15" name="TextBox 14"/>
          <p:cNvSpPr txBox="1"/>
          <p:nvPr/>
        </p:nvSpPr>
        <p:spPr>
          <a:xfrm>
            <a:off x="8397240" y="239146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describe → select</a:t>
            </a:r>
          </a:p>
        </p:txBody>
      </p:sp>
      <p:sp>
        <p:nvSpPr>
          <p:cNvPr id="16" name="TextBox 15"/>
          <p:cNvSpPr txBox="1"/>
          <p:nvPr/>
        </p:nvSpPr>
        <p:spPr>
          <a:xfrm>
            <a:off x="8397240" y="259628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Pin full descriptor tokens</a:t>
            </a:r>
          </a:p>
        </p:txBody>
      </p:sp>
      <p:cxnSp>
        <p:nvCxnSpPr>
          <p:cNvPr id="17" name="Connector 16"/>
          <p:cNvCxnSpPr/>
          <p:nvPr/>
        </p:nvCxnSpPr>
        <p:spPr>
          <a:xfrm>
            <a:off x="3063240" y="2377440"/>
            <a:ext cx="1013460" cy="0"/>
          </a:xfrm>
          <a:prstGeom prst="line">
            <a:avLst/>
          </a:prstGeom>
          <a:ln w="15240">
            <a:solidFill>
              <a:srgbClr val="007C78"/>
            </a:solidFill>
          </a:ln>
          <a:effectLst/>
        </p:spPr>
      </p:cxnSp>
      <p:sp>
        <p:nvSpPr>
          <p:cNvPr id="18" name="Freeform 17"/>
          <p:cNvSpPr/>
          <p:nvPr/>
        </p:nvSpPr>
        <p:spPr>
          <a:xfrm>
            <a:off x="397764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353300" y="2377440"/>
            <a:ext cx="876300" cy="0"/>
          </a:xfrm>
          <a:prstGeom prst="line">
            <a:avLst/>
          </a:prstGeom>
          <a:ln w="15240">
            <a:solidFill>
              <a:srgbClr val="315E9C"/>
            </a:solidFill>
          </a:ln>
          <a:effectLst/>
        </p:spPr>
      </p:cxnSp>
      <p:sp>
        <p:nvSpPr>
          <p:cNvPr id="20" name="Freeform 19"/>
          <p:cNvSpPr/>
          <p:nvPr/>
        </p:nvSpPr>
        <p:spPr>
          <a:xfrm>
            <a:off x="813054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4076700" y="3467100"/>
            <a:ext cx="3276600" cy="914400"/>
          </a:xfrm>
          <a:prstGeom prst="roundRect">
            <a:avLst>
              <a:gd name="adj" fmla="val 10833"/>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4244340" y="3634740"/>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Validated binding + policy</a:t>
            </a:r>
          </a:p>
        </p:txBody>
      </p:sp>
      <p:sp>
        <p:nvSpPr>
          <p:cNvPr id="23" name="TextBox 22"/>
          <p:cNvSpPr txBox="1"/>
          <p:nvPr/>
        </p:nvSpPr>
        <p:spPr>
          <a:xfrm>
            <a:off x="4244340" y="3954779"/>
            <a:ext cx="2941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Wire/profile checks · live authority</a:t>
            </a:r>
          </a:p>
        </p:txBody>
      </p:sp>
      <p:cxnSp>
        <p:nvCxnSpPr>
          <p:cNvPr id="24" name="Connector 23"/>
          <p:cNvCxnSpPr/>
          <p:nvPr/>
        </p:nvCxnSpPr>
        <p:spPr>
          <a:xfrm>
            <a:off x="5715000" y="2865120"/>
            <a:ext cx="0" cy="601980"/>
          </a:xfrm>
          <a:prstGeom prst="line">
            <a:avLst/>
          </a:prstGeom>
          <a:ln w="15240">
            <a:solidFill>
              <a:srgbClr val="315E9C"/>
            </a:solidFill>
          </a:ln>
          <a:effectLst/>
        </p:spPr>
      </p:cxnSp>
      <p:sp>
        <p:nvSpPr>
          <p:cNvPr id="25" name="Freeform 24"/>
          <p:cNvSpPr/>
          <p:nvPr/>
        </p:nvSpPr>
        <p:spPr>
          <a:xfrm>
            <a:off x="567690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26" name="Rounded Rectangle 25"/>
          <p:cNvSpPr/>
          <p:nvPr/>
        </p:nvSpPr>
        <p:spPr>
          <a:xfrm>
            <a:off x="548640" y="3467100"/>
            <a:ext cx="251460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27" name="TextBox 26"/>
          <p:cNvSpPr txBox="1"/>
          <p:nvPr/>
        </p:nvSpPr>
        <p:spPr>
          <a:xfrm>
            <a:off x="716280" y="3634740"/>
            <a:ext cx="2179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Execution</a:t>
            </a:r>
          </a:p>
        </p:txBody>
      </p:sp>
      <p:sp>
        <p:nvSpPr>
          <p:cNvPr id="28" name="TextBox 27"/>
          <p:cNvSpPr txBox="1"/>
          <p:nvPr/>
        </p:nvSpPr>
        <p:spPr>
          <a:xfrm>
            <a:off x="716280" y="3993794"/>
            <a:ext cx="2179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submit · status · result</a:t>
            </a:r>
          </a:p>
        </p:txBody>
      </p:sp>
      <p:sp>
        <p:nvSpPr>
          <p:cNvPr id="29" name="Rounded Rectangle 28"/>
          <p:cNvSpPr/>
          <p:nvPr/>
        </p:nvSpPr>
        <p:spPr>
          <a:xfrm>
            <a:off x="8229600" y="3467100"/>
            <a:ext cx="3413760" cy="914400"/>
          </a:xfrm>
          <a:prstGeom prst="roundRect">
            <a:avLst>
              <a:gd name="adj" fmla="val 10833"/>
            </a:avLst>
          </a:prstGeom>
          <a:solidFill>
            <a:srgbClr val="FFFFFF"/>
          </a:solidFill>
          <a:ln w="7620">
            <a:solidFill>
              <a:srgbClr val="315E9C"/>
            </a:solidFill>
          </a:ln>
          <a:effectLst/>
        </p:spPr>
        <p:txBody>
          <a:bodyPr rtlCol="0" anchor="ctr"/>
          <a:lstStyle/>
          <a:p>
            <a:pPr algn="ctr"/>
          </a:p>
        </p:txBody>
      </p:sp>
      <p:sp>
        <p:nvSpPr>
          <p:cNvPr id="30" name="TextBox 29"/>
          <p:cNvSpPr txBox="1"/>
          <p:nvPr/>
        </p:nvSpPr>
        <p:spPr>
          <a:xfrm>
            <a:off x="8397240" y="3634740"/>
            <a:ext cx="3078479"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AtomStorage</a:t>
            </a:r>
          </a:p>
        </p:txBody>
      </p:sp>
      <p:sp>
        <p:nvSpPr>
          <p:cNvPr id="31" name="TextBox 30"/>
          <p:cNvSpPr txBox="1"/>
          <p:nvPr/>
        </p:nvSpPr>
        <p:spPr>
          <a:xfrm>
            <a:off x="8397240" y="3993794"/>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create · get · getMany · availability</a:t>
            </a:r>
          </a:p>
        </p:txBody>
      </p:sp>
      <p:cxnSp>
        <p:nvCxnSpPr>
          <p:cNvPr id="32" name="Connector 31"/>
          <p:cNvCxnSpPr/>
          <p:nvPr/>
        </p:nvCxnSpPr>
        <p:spPr>
          <a:xfrm flipH="1">
            <a:off x="3063240" y="3916679"/>
            <a:ext cx="1013460" cy="0"/>
          </a:xfrm>
          <a:prstGeom prst="line">
            <a:avLst/>
          </a:prstGeom>
          <a:ln w="15240">
            <a:solidFill>
              <a:srgbClr val="315E9C"/>
            </a:solidFill>
          </a:ln>
          <a:effectLst/>
        </p:spPr>
      </p:cxnSp>
      <p:sp>
        <p:nvSpPr>
          <p:cNvPr id="33" name="Freeform 32"/>
          <p:cNvSpPr/>
          <p:nvPr/>
        </p:nvSpPr>
        <p:spPr>
          <a:xfrm>
            <a:off x="3063240" y="387858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34" name="Connector 33"/>
          <p:cNvCxnSpPr/>
          <p:nvPr/>
        </p:nvCxnSpPr>
        <p:spPr>
          <a:xfrm>
            <a:off x="7353300" y="3916679"/>
            <a:ext cx="876300" cy="0"/>
          </a:xfrm>
          <a:prstGeom prst="line">
            <a:avLst/>
          </a:prstGeom>
          <a:ln w="15240">
            <a:solidFill>
              <a:srgbClr val="315E9C"/>
            </a:solidFill>
          </a:ln>
          <a:effectLst/>
        </p:spPr>
      </p:cxnSp>
      <p:sp>
        <p:nvSpPr>
          <p:cNvPr id="35" name="Freeform 34"/>
          <p:cNvSpPr/>
          <p:nvPr/>
        </p:nvSpPr>
        <p:spPr>
          <a:xfrm>
            <a:off x="8130540" y="38785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6" name="Connector 35"/>
          <p:cNvCxnSpPr/>
          <p:nvPr/>
        </p:nvCxnSpPr>
        <p:spPr>
          <a:xfrm flipV="1">
            <a:off x="1805939" y="3154679"/>
            <a:ext cx="0" cy="312421"/>
          </a:xfrm>
          <a:prstGeom prst="line">
            <a:avLst/>
          </a:prstGeom>
          <a:ln w="15240">
            <a:solidFill>
              <a:srgbClr val="315E9C"/>
            </a:solidFill>
          </a:ln>
          <a:effectLst/>
        </p:spPr>
      </p:cxnSp>
      <p:cxnSp>
        <p:nvCxnSpPr>
          <p:cNvPr id="37" name="Connector 36"/>
          <p:cNvCxnSpPr/>
          <p:nvPr/>
        </p:nvCxnSpPr>
        <p:spPr>
          <a:xfrm>
            <a:off x="1805939" y="3154679"/>
            <a:ext cx="8130541" cy="0"/>
          </a:xfrm>
          <a:prstGeom prst="line">
            <a:avLst/>
          </a:prstGeom>
          <a:ln w="15240">
            <a:solidFill>
              <a:srgbClr val="315E9C"/>
            </a:solidFill>
          </a:ln>
          <a:effectLst/>
        </p:spPr>
      </p:cxnSp>
      <p:cxnSp>
        <p:nvCxnSpPr>
          <p:cNvPr id="38" name="Connector 37"/>
          <p:cNvCxnSpPr/>
          <p:nvPr/>
        </p:nvCxnSpPr>
        <p:spPr>
          <a:xfrm>
            <a:off x="9936480" y="3154679"/>
            <a:ext cx="0" cy="312421"/>
          </a:xfrm>
          <a:prstGeom prst="line">
            <a:avLst/>
          </a:prstGeom>
          <a:ln w="15240">
            <a:solidFill>
              <a:srgbClr val="315E9C"/>
            </a:solidFill>
          </a:ln>
          <a:effectLst/>
        </p:spPr>
      </p:cxnSp>
      <p:sp>
        <p:nvSpPr>
          <p:cNvPr id="39" name="Freeform 38"/>
          <p:cNvSpPr/>
          <p:nvPr/>
        </p:nvSpPr>
        <p:spPr>
          <a:xfrm>
            <a:off x="9898380" y="33680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40" name="TextBox 39"/>
          <p:cNvSpPr txBox="1"/>
          <p:nvPr/>
        </p:nvSpPr>
        <p:spPr>
          <a:xfrm>
            <a:off x="6096000" y="29413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Submit → get(input) · worker → get / create</a:t>
            </a:r>
          </a:p>
        </p:txBody>
      </p:sp>
      <p:sp>
        <p:nvSpPr>
          <p:cNvPr id="41" name="Rounded Rectangle 40"/>
          <p:cNvSpPr/>
          <p:nvPr/>
        </p:nvSpPr>
        <p:spPr>
          <a:xfrm>
            <a:off x="4076700" y="5158740"/>
            <a:ext cx="3276600" cy="800100"/>
          </a:xfrm>
          <a:prstGeom prst="roundRect">
            <a:avLst>
              <a:gd name="adj" fmla="val 12380"/>
            </a:avLst>
          </a:prstGeom>
          <a:solidFill>
            <a:srgbClr val="FFFFFF"/>
          </a:solidFill>
          <a:ln w="7620">
            <a:solidFill>
              <a:srgbClr val="315E9C"/>
            </a:solidFill>
          </a:ln>
          <a:effectLst/>
        </p:spPr>
        <p:txBody>
          <a:bodyPr rtlCol="0" anchor="ctr"/>
          <a:lstStyle/>
          <a:p>
            <a:pPr algn="ctr"/>
          </a:p>
        </p:txBody>
      </p:sp>
      <p:sp>
        <p:nvSpPr>
          <p:cNvPr id="42" name="TextBox 41"/>
          <p:cNvSpPr txBox="1"/>
          <p:nvPr/>
        </p:nvSpPr>
        <p:spPr>
          <a:xfrm>
            <a:off x="4244340" y="5326380"/>
            <a:ext cx="2941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Messaging</a:t>
            </a:r>
          </a:p>
        </p:txBody>
      </p:sp>
      <p:sp>
        <p:nvSpPr>
          <p:cNvPr id="43" name="TextBox 42"/>
          <p:cNvSpPr txBox="1"/>
          <p:nvPr/>
        </p:nvSpPr>
        <p:spPr>
          <a:xfrm>
            <a:off x="4244340" y="5675680"/>
            <a:ext cx="29413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send · poll · ack</a:t>
            </a:r>
          </a:p>
        </p:txBody>
      </p:sp>
      <p:cxnSp>
        <p:nvCxnSpPr>
          <p:cNvPr id="44" name="Connector 43"/>
          <p:cNvCxnSpPr/>
          <p:nvPr/>
        </p:nvCxnSpPr>
        <p:spPr>
          <a:xfrm>
            <a:off x="5715000" y="4381500"/>
            <a:ext cx="0" cy="777240"/>
          </a:xfrm>
          <a:prstGeom prst="line">
            <a:avLst/>
          </a:prstGeom>
          <a:ln w="15240">
            <a:solidFill>
              <a:srgbClr val="315E9C"/>
            </a:solidFill>
          </a:ln>
          <a:effectLst/>
        </p:spPr>
      </p:cxnSp>
      <p:sp>
        <p:nvSpPr>
          <p:cNvPr id="45" name="Freeform 44"/>
          <p:cNvSpPr/>
          <p:nvPr/>
        </p:nvSpPr>
        <p:spPr>
          <a:xfrm>
            <a:off x="5676900" y="505968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46" name="Connector 45"/>
          <p:cNvCxnSpPr/>
          <p:nvPr/>
        </p:nvCxnSpPr>
        <p:spPr>
          <a:xfrm>
            <a:off x="1805939" y="4381500"/>
            <a:ext cx="0" cy="1173480"/>
          </a:xfrm>
          <a:prstGeom prst="line">
            <a:avLst/>
          </a:prstGeom>
          <a:ln w="15240">
            <a:solidFill>
              <a:srgbClr val="315E9C"/>
            </a:solidFill>
          </a:ln>
          <a:effectLst/>
        </p:spPr>
      </p:cxnSp>
      <p:cxnSp>
        <p:nvCxnSpPr>
          <p:cNvPr id="47" name="Connector 46"/>
          <p:cNvCxnSpPr/>
          <p:nvPr/>
        </p:nvCxnSpPr>
        <p:spPr>
          <a:xfrm>
            <a:off x="1805939" y="5554980"/>
            <a:ext cx="2270761" cy="0"/>
          </a:xfrm>
          <a:prstGeom prst="line">
            <a:avLst/>
          </a:prstGeom>
          <a:ln w="15240">
            <a:solidFill>
              <a:srgbClr val="315E9C"/>
            </a:solidFill>
          </a:ln>
          <a:effectLst/>
        </p:spPr>
      </p:cxnSp>
      <p:sp>
        <p:nvSpPr>
          <p:cNvPr id="48" name="Freeform 47"/>
          <p:cNvSpPr/>
          <p:nvPr/>
        </p:nvSpPr>
        <p:spPr>
          <a:xfrm>
            <a:off x="3977640" y="55168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9" name="TextBox 48"/>
          <p:cNvSpPr txBox="1"/>
          <p:nvPr/>
        </p:nvSpPr>
        <p:spPr>
          <a:xfrm>
            <a:off x="2148840" y="4770120"/>
            <a:ext cx="3276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0">
                <a:solidFill>
                  <a:srgbClr val="315E9C"/>
                </a:solidFill>
                <a:latin typeface="DejaVu Sans"/>
              </a:rPr>
              <a:t>Outbox → CompletionDelivery.accept</a:t>
            </a:r>
          </a:p>
        </p:txBody>
      </p:sp>
      <p:cxnSp>
        <p:nvCxnSpPr>
          <p:cNvPr id="50" name="Connector 49"/>
          <p:cNvCxnSpPr/>
          <p:nvPr/>
        </p:nvCxnSpPr>
        <p:spPr>
          <a:xfrm>
            <a:off x="7353300" y="5554980"/>
            <a:ext cx="419100" cy="0"/>
          </a:xfrm>
          <a:prstGeom prst="line">
            <a:avLst/>
          </a:prstGeom>
          <a:ln w="15240">
            <a:solidFill>
              <a:srgbClr val="315E9C"/>
            </a:solidFill>
          </a:ln>
          <a:effectLst/>
        </p:spPr>
      </p:cxnSp>
      <p:cxnSp>
        <p:nvCxnSpPr>
          <p:cNvPr id="51" name="Connector 50"/>
          <p:cNvCxnSpPr/>
          <p:nvPr/>
        </p:nvCxnSpPr>
        <p:spPr>
          <a:xfrm flipV="1">
            <a:off x="7772400" y="4191000"/>
            <a:ext cx="0" cy="1363980"/>
          </a:xfrm>
          <a:prstGeom prst="line">
            <a:avLst/>
          </a:prstGeom>
          <a:ln w="15240">
            <a:solidFill>
              <a:srgbClr val="315E9C"/>
            </a:solidFill>
          </a:ln>
          <a:effectLst/>
        </p:spPr>
      </p:cxnSp>
      <p:cxnSp>
        <p:nvCxnSpPr>
          <p:cNvPr id="52" name="Connector 51"/>
          <p:cNvCxnSpPr/>
          <p:nvPr/>
        </p:nvCxnSpPr>
        <p:spPr>
          <a:xfrm>
            <a:off x="7772400" y="4191000"/>
            <a:ext cx="457200" cy="0"/>
          </a:xfrm>
          <a:prstGeom prst="line">
            <a:avLst/>
          </a:prstGeom>
          <a:ln w="15240">
            <a:solidFill>
              <a:srgbClr val="315E9C"/>
            </a:solidFill>
          </a:ln>
          <a:effectLst/>
        </p:spPr>
      </p:cxnSp>
      <p:sp>
        <p:nvSpPr>
          <p:cNvPr id="53" name="Freeform 52"/>
          <p:cNvSpPr/>
          <p:nvPr/>
        </p:nvSpPr>
        <p:spPr>
          <a:xfrm>
            <a:off x="8130540" y="41529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54" name="TextBox 53"/>
          <p:cNvSpPr txBox="1"/>
          <p:nvPr/>
        </p:nvSpPr>
        <p:spPr>
          <a:xfrm>
            <a:off x="6111240" y="4770120"/>
            <a:ext cx="1600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315E9C"/>
                </a:solidFill>
                <a:latin typeface="DejaVu Sans"/>
              </a:rPr>
              <a:t>send → get(ref)</a:t>
            </a:r>
          </a:p>
        </p:txBody>
      </p:sp>
      <p:sp>
        <p:nvSpPr>
          <p:cNvPr id="55" name="Rounded Rectangle 54"/>
          <p:cNvSpPr/>
          <p:nvPr/>
        </p:nvSpPr>
        <p:spPr>
          <a:xfrm>
            <a:off x="8229600" y="5158740"/>
            <a:ext cx="34137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56" name="TextBox 55"/>
          <p:cNvSpPr txBox="1"/>
          <p:nvPr/>
        </p:nvSpPr>
        <p:spPr>
          <a:xfrm>
            <a:off x="8397240" y="5326380"/>
            <a:ext cx="30784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DeTTa DA / FileStorage</a:t>
            </a:r>
          </a:p>
        </p:txBody>
      </p:sp>
      <p:sp>
        <p:nvSpPr>
          <p:cNvPr id="57" name="TextBox 56"/>
          <p:cNvSpPr txBox="1"/>
          <p:nvPr/>
        </p:nvSpPr>
        <p:spPr>
          <a:xfrm>
            <a:off x="8397240" y="5665927"/>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Opaque put · get · availability</a:t>
            </a:r>
          </a:p>
        </p:txBody>
      </p:sp>
      <p:cxnSp>
        <p:nvCxnSpPr>
          <p:cNvPr id="58" name="Connector 57"/>
          <p:cNvCxnSpPr/>
          <p:nvPr/>
        </p:nvCxnSpPr>
        <p:spPr>
          <a:xfrm>
            <a:off x="9936480" y="4381500"/>
            <a:ext cx="0" cy="777240"/>
          </a:xfrm>
          <a:prstGeom prst="line">
            <a:avLst/>
          </a:prstGeom>
          <a:ln w="15240">
            <a:solidFill>
              <a:srgbClr val="007C78"/>
            </a:solidFill>
          </a:ln>
          <a:effectLst/>
        </p:spPr>
      </p:cxnSp>
      <p:sp>
        <p:nvSpPr>
          <p:cNvPr id="59" name="Freeform 58"/>
          <p:cNvSpPr/>
          <p:nvPr/>
        </p:nvSpPr>
        <p:spPr>
          <a:xfrm>
            <a:off x="9898380" y="50596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60" name="TextBox 59"/>
          <p:cNvSpPr txBox="1"/>
          <p:nvPr/>
        </p:nvSpPr>
        <p:spPr>
          <a:xfrm>
            <a:off x="662940" y="6065520"/>
            <a:ext cx="10363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M4 adds a separate commitment caller after acceptance; this original inspect path stays unchanged.</a:t>
            </a:r>
          </a:p>
        </p:txBody>
      </p:sp>
      <p:cxnSp>
        <p:nvCxnSpPr>
          <p:cNvPr id="61" name="Connector 60"/>
          <p:cNvCxnSpPr/>
          <p:nvPr/>
        </p:nvCxnSpPr>
        <p:spPr>
          <a:xfrm>
            <a:off x="548640" y="6393180"/>
            <a:ext cx="11094720" cy="0"/>
          </a:xfrm>
          <a:prstGeom prst="line">
            <a:avLst/>
          </a:prstGeom>
          <a:ln w="7620">
            <a:solidFill>
              <a:srgbClr val="C9D2D4"/>
            </a:solidFill>
          </a:ln>
          <a:effectLst/>
        </p:spPr>
      </p:cxnSp>
      <p:sp>
        <p:nvSpPr>
          <p:cNvPr id="62" name="TextBox 6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program.py · ports.py · execution.py</a:t>
            </a:r>
          </a:p>
        </p:txBody>
      </p:sp>
      <p:sp>
        <p:nvSpPr>
          <p:cNvPr id="63" name="TextBox 6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12 / 64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M4 SHARED WORKFLOW</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Function dependencies: an approved result reaches finality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native sibling consumes the completed inspect result; private cognition has no chain dependency.</a:t>
            </a:r>
          </a:p>
        </p:txBody>
      </p:sp>
      <p:sp>
        <p:nvSpPr>
          <p:cNvPr id="5" name="Rounded Rectangle 4"/>
          <p:cNvSpPr/>
          <p:nvPr/>
        </p:nvSpPr>
        <p:spPr>
          <a:xfrm>
            <a:off x="548640" y="1859280"/>
            <a:ext cx="3200400" cy="1036319"/>
          </a:xfrm>
          <a:prstGeom prst="roundRect">
            <a:avLst>
              <a:gd name="adj" fmla="val 9558"/>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2692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Native Hive dispatch</a:t>
            </a:r>
          </a:p>
        </p:txBody>
      </p:sp>
      <p:sp>
        <p:nvSpPr>
          <p:cNvPr id="7" name="TextBox 6"/>
          <p:cNvSpPr txBox="1"/>
          <p:nvPr/>
        </p:nvSpPr>
        <p:spPr>
          <a:xfrm>
            <a:off x="716280" y="2385974"/>
            <a:ext cx="2865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Authenticated</a:t>
            </a:r>
          </a:p>
        </p:txBody>
      </p:sp>
      <p:sp>
        <p:nvSpPr>
          <p:cNvPr id="8" name="TextBox 7"/>
          <p:cNvSpPr txBox="1"/>
          <p:nvPr/>
        </p:nvSpPr>
        <p:spPr>
          <a:xfrm>
            <a:off x="716280" y="2610307"/>
            <a:ext cx="286512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original_command</a:t>
            </a:r>
          </a:p>
        </p:txBody>
      </p:sp>
      <p:sp>
        <p:nvSpPr>
          <p:cNvPr id="9" name="Rounded Rectangle 8"/>
          <p:cNvSpPr/>
          <p:nvPr/>
        </p:nvSpPr>
        <p:spPr>
          <a:xfrm>
            <a:off x="4480560" y="1859280"/>
            <a:ext cx="3200400" cy="1036319"/>
          </a:xfrm>
          <a:prstGeom prst="roundRect">
            <a:avLst>
              <a:gd name="adj" fmla="val 9558"/>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648200" y="202692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fusion-commitment</a:t>
            </a:r>
          </a:p>
        </p:txBody>
      </p:sp>
      <p:sp>
        <p:nvSpPr>
          <p:cNvPr id="11" name="TextBox 10"/>
          <p:cNvSpPr txBox="1"/>
          <p:nvPr/>
        </p:nvSpPr>
        <p:spPr>
          <a:xfrm>
            <a:off x="4648200" y="2385974"/>
            <a:ext cx="2865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commit /</a:t>
            </a:r>
          </a:p>
        </p:txBody>
      </p:sp>
      <p:sp>
        <p:nvSpPr>
          <p:cNvPr id="12" name="TextBox 11"/>
          <p:cNvSpPr txBox="1"/>
          <p:nvPr/>
        </p:nvSpPr>
        <p:spPr>
          <a:xfrm>
            <a:off x="4648200" y="2600553"/>
            <a:ext cx="28651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observe(original_command)</a:t>
            </a:r>
          </a:p>
        </p:txBody>
      </p:sp>
      <p:sp>
        <p:nvSpPr>
          <p:cNvPr id="13" name="Rounded Rectangle 12"/>
          <p:cNvSpPr/>
          <p:nvPr/>
        </p:nvSpPr>
        <p:spPr>
          <a:xfrm>
            <a:off x="8412480" y="1859280"/>
            <a:ext cx="3230879" cy="1036319"/>
          </a:xfrm>
          <a:prstGeom prst="roundRect">
            <a:avLst>
              <a:gd name="adj" fmla="val 9558"/>
            </a:avLst>
          </a:prstGeom>
          <a:solidFill>
            <a:srgbClr val="E4EBF5"/>
          </a:solidFill>
          <a:ln w="7620">
            <a:solidFill>
              <a:srgbClr val="315E9C"/>
            </a:solidFill>
          </a:ln>
          <a:effectLst/>
        </p:spPr>
        <p:txBody>
          <a:bodyPr rtlCol="0" anchor="ctr"/>
          <a:lstStyle/>
          <a:p>
            <a:pPr algn="ctr"/>
          </a:p>
        </p:txBody>
      </p:sp>
      <p:sp>
        <p:nvSpPr>
          <p:cNvPr id="14" name="TextBox 13"/>
          <p:cNvSpPr txBox="1"/>
          <p:nvPr/>
        </p:nvSpPr>
        <p:spPr>
          <a:xfrm>
            <a:off x="8580120" y="2026920"/>
            <a:ext cx="28956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Operator policy</a:t>
            </a:r>
          </a:p>
        </p:txBody>
      </p:sp>
      <p:sp>
        <p:nvSpPr>
          <p:cNvPr id="15" name="TextBox 14"/>
          <p:cNvSpPr txBox="1"/>
          <p:nvPr/>
        </p:nvSpPr>
        <p:spPr>
          <a:xfrm>
            <a:off x="8580120" y="2385974"/>
            <a:ext cx="2895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result + actor + chain +</a:t>
            </a:r>
          </a:p>
        </p:txBody>
      </p:sp>
      <p:sp>
        <p:nvSpPr>
          <p:cNvPr id="16" name="TextBox 15"/>
          <p:cNvSpPr txBox="1"/>
          <p:nvPr/>
        </p:nvSpPr>
        <p:spPr>
          <a:xfrm>
            <a:off x="8580120" y="2610307"/>
            <a:ext cx="28956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signer</a:t>
            </a:r>
          </a:p>
        </p:txBody>
      </p:sp>
      <p:cxnSp>
        <p:nvCxnSpPr>
          <p:cNvPr id="17" name="Connector 16"/>
          <p:cNvCxnSpPr/>
          <p:nvPr/>
        </p:nvCxnSpPr>
        <p:spPr>
          <a:xfrm>
            <a:off x="3749040" y="2377440"/>
            <a:ext cx="731520" cy="0"/>
          </a:xfrm>
          <a:prstGeom prst="line">
            <a:avLst/>
          </a:prstGeom>
          <a:ln w="15240">
            <a:solidFill>
              <a:srgbClr val="007C78"/>
            </a:solidFill>
          </a:ln>
          <a:effectLst/>
        </p:spPr>
      </p:cxnSp>
      <p:sp>
        <p:nvSpPr>
          <p:cNvPr id="18" name="Freeform 17"/>
          <p:cNvSpPr/>
          <p:nvPr/>
        </p:nvSpPr>
        <p:spPr>
          <a:xfrm>
            <a:off x="4381500" y="23393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9" name="Connector 18"/>
          <p:cNvCxnSpPr/>
          <p:nvPr/>
        </p:nvCxnSpPr>
        <p:spPr>
          <a:xfrm>
            <a:off x="7680959" y="2377440"/>
            <a:ext cx="731521" cy="0"/>
          </a:xfrm>
          <a:prstGeom prst="line">
            <a:avLst/>
          </a:prstGeom>
          <a:ln w="15240">
            <a:solidFill>
              <a:srgbClr val="315E9C"/>
            </a:solidFill>
          </a:ln>
          <a:effectLst/>
        </p:spPr>
      </p:cxnSp>
      <p:sp>
        <p:nvSpPr>
          <p:cNvPr id="20" name="Freeform 19"/>
          <p:cNvSpPr/>
          <p:nvPr/>
        </p:nvSpPr>
        <p:spPr>
          <a:xfrm>
            <a:off x="8313420" y="23393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1" name="Rounded Rectangle 20"/>
          <p:cNvSpPr/>
          <p:nvPr/>
        </p:nvSpPr>
        <p:spPr>
          <a:xfrm>
            <a:off x="548640" y="3276600"/>
            <a:ext cx="3200400" cy="861060"/>
          </a:xfrm>
          <a:prstGeom prst="roundRect">
            <a:avLst>
              <a:gd name="adj" fmla="val 11504"/>
            </a:avLst>
          </a:prstGeom>
          <a:solidFill>
            <a:srgbClr val="E4EBF5"/>
          </a:solidFill>
          <a:ln w="7620">
            <a:solidFill>
              <a:srgbClr val="315E9C"/>
            </a:solidFill>
          </a:ln>
          <a:effectLst/>
        </p:spPr>
        <p:txBody>
          <a:bodyPr rtlCol="0" anchor="ctr"/>
          <a:lstStyle/>
          <a:p>
            <a:pPr algn="ctr"/>
          </a:p>
        </p:txBody>
      </p:sp>
      <p:sp>
        <p:nvSpPr>
          <p:cNvPr id="22" name="TextBox 21"/>
          <p:cNvSpPr txBox="1"/>
          <p:nvPr/>
        </p:nvSpPr>
        <p:spPr>
          <a:xfrm>
            <a:off x="716280" y="3444240"/>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Completed-result accessor</a:t>
            </a:r>
          </a:p>
        </p:txBody>
      </p:sp>
      <p:sp>
        <p:nvSpPr>
          <p:cNvPr id="23" name="TextBox 22"/>
          <p:cNvSpPr txBox="1"/>
          <p:nvPr/>
        </p:nvSpPr>
        <p:spPr>
          <a:xfrm>
            <a:off x="716280" y="3754526"/>
            <a:ext cx="28651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Read inspect acceptance + ack</a:t>
            </a:r>
          </a:p>
        </p:txBody>
      </p:sp>
      <p:sp>
        <p:nvSpPr>
          <p:cNvPr id="24" name="Rounded Rectangle 23"/>
          <p:cNvSpPr/>
          <p:nvPr/>
        </p:nvSpPr>
        <p:spPr>
          <a:xfrm>
            <a:off x="548640" y="4396740"/>
            <a:ext cx="3200400" cy="861060"/>
          </a:xfrm>
          <a:prstGeom prst="roundRect">
            <a:avLst>
              <a:gd name="adj" fmla="val 11504"/>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716280" y="456438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AtomStorage → DeTTa</a:t>
            </a:r>
          </a:p>
        </p:txBody>
      </p:sp>
      <p:sp>
        <p:nvSpPr>
          <p:cNvPr id="26" name="TextBox 25"/>
          <p:cNvSpPr txBox="1"/>
          <p:nvPr/>
        </p:nvSpPr>
        <p:spPr>
          <a:xfrm>
            <a:off x="716280" y="4923434"/>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Re-read exact shared bytes</a:t>
            </a:r>
          </a:p>
        </p:txBody>
      </p:sp>
      <p:sp>
        <p:nvSpPr>
          <p:cNvPr id="27" name="Rounded Rectangle 26"/>
          <p:cNvSpPr/>
          <p:nvPr/>
        </p:nvSpPr>
        <p:spPr>
          <a:xfrm>
            <a:off x="4480560" y="3832860"/>
            <a:ext cx="3200400" cy="1066800"/>
          </a:xfrm>
          <a:prstGeom prst="roundRect">
            <a:avLst>
              <a:gd name="adj" fmla="val 9285"/>
            </a:avLst>
          </a:prstGeom>
          <a:solidFill>
            <a:srgbClr val="E4EBF5"/>
          </a:solidFill>
          <a:ln w="7620">
            <a:solidFill>
              <a:srgbClr val="315E9C"/>
            </a:solidFill>
          </a:ln>
          <a:effectLst/>
        </p:spPr>
        <p:txBody>
          <a:bodyPr rtlCol="0" anchor="ctr"/>
          <a:lstStyle/>
          <a:p>
            <a:pPr algn="ctr"/>
          </a:p>
        </p:txBody>
      </p:sp>
      <p:sp>
        <p:nvSpPr>
          <p:cNvPr id="28" name="TextBox 27"/>
          <p:cNvSpPr txBox="1"/>
          <p:nvPr/>
        </p:nvSpPr>
        <p:spPr>
          <a:xfrm>
            <a:off x="4648200" y="4000500"/>
            <a:ext cx="28651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ConsensusFinality</a:t>
            </a:r>
          </a:p>
        </p:txBody>
      </p:sp>
      <p:sp>
        <p:nvSpPr>
          <p:cNvPr id="29" name="TextBox 28"/>
          <p:cNvSpPr txBox="1"/>
          <p:nvPr/>
        </p:nvSpPr>
        <p:spPr>
          <a:xfrm>
            <a:off x="4648200" y="4359554"/>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submit · observe</a:t>
            </a:r>
          </a:p>
        </p:txBody>
      </p:sp>
      <p:sp>
        <p:nvSpPr>
          <p:cNvPr id="30" name="TextBox 29"/>
          <p:cNvSpPr txBox="1"/>
          <p:nvPr/>
        </p:nvSpPr>
        <p:spPr>
          <a:xfrm>
            <a:off x="4648200" y="4593640"/>
            <a:ext cx="28651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Logical intent + signed journal</a:t>
            </a:r>
          </a:p>
        </p:txBody>
      </p:sp>
      <p:sp>
        <p:nvSpPr>
          <p:cNvPr id="31" name="Rounded Rectangle 30"/>
          <p:cNvSpPr/>
          <p:nvPr/>
        </p:nvSpPr>
        <p:spPr>
          <a:xfrm>
            <a:off x="8412480" y="3832860"/>
            <a:ext cx="3230879" cy="1066800"/>
          </a:xfrm>
          <a:prstGeom prst="roundRect">
            <a:avLst>
              <a:gd name="adj" fmla="val 9285"/>
            </a:avLst>
          </a:prstGeom>
          <a:solidFill>
            <a:srgbClr val="DCEFE8"/>
          </a:solidFill>
          <a:ln w="7620">
            <a:solidFill>
              <a:srgbClr val="007C78"/>
            </a:solidFill>
          </a:ln>
          <a:effectLst/>
        </p:spPr>
        <p:txBody>
          <a:bodyPr rtlCol="0" anchor="ctr"/>
          <a:lstStyle/>
          <a:p>
            <a:pPr algn="ctr"/>
          </a:p>
        </p:txBody>
      </p:sp>
      <p:sp>
        <p:nvSpPr>
          <p:cNvPr id="32" name="TextBox 31"/>
          <p:cNvSpPr txBox="1"/>
          <p:nvPr/>
        </p:nvSpPr>
        <p:spPr>
          <a:xfrm>
            <a:off x="8580120" y="4000500"/>
            <a:ext cx="28956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Real local F1R3node</a:t>
            </a:r>
          </a:p>
        </p:txBody>
      </p:sp>
      <p:sp>
        <p:nvSpPr>
          <p:cNvPr id="33" name="TextBox 32"/>
          <p:cNvSpPr txBox="1"/>
          <p:nvPr/>
        </p:nvSpPr>
        <p:spPr>
          <a:xfrm>
            <a:off x="8580120" y="4359554"/>
            <a:ext cx="28956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Fixed tuple → inclusion post-state</a:t>
            </a:r>
          </a:p>
        </p:txBody>
      </p:sp>
      <p:sp>
        <p:nvSpPr>
          <p:cNvPr id="34" name="TextBox 33"/>
          <p:cNvSpPr txBox="1"/>
          <p:nvPr/>
        </p:nvSpPr>
        <p:spPr>
          <a:xfrm>
            <a:off x="8580120" y="4574133"/>
            <a:ext cx="28956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Matching deploy-effect finality</a:t>
            </a:r>
          </a:p>
        </p:txBody>
      </p:sp>
      <p:cxnSp>
        <p:nvCxnSpPr>
          <p:cNvPr id="35" name="Connector 34"/>
          <p:cNvCxnSpPr/>
          <p:nvPr/>
        </p:nvCxnSpPr>
        <p:spPr>
          <a:xfrm>
            <a:off x="6080759" y="2895600"/>
            <a:ext cx="0" cy="937260"/>
          </a:xfrm>
          <a:prstGeom prst="line">
            <a:avLst/>
          </a:prstGeom>
          <a:ln w="15240">
            <a:solidFill>
              <a:srgbClr val="315E9C"/>
            </a:solidFill>
          </a:ln>
          <a:effectLst/>
        </p:spPr>
      </p:cxnSp>
      <p:sp>
        <p:nvSpPr>
          <p:cNvPr id="36" name="Freeform 35"/>
          <p:cNvSpPr/>
          <p:nvPr/>
        </p:nvSpPr>
        <p:spPr>
          <a:xfrm>
            <a:off x="6042660" y="373380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37" name="Connector 36"/>
          <p:cNvCxnSpPr/>
          <p:nvPr/>
        </p:nvCxnSpPr>
        <p:spPr>
          <a:xfrm>
            <a:off x="4953000" y="2895600"/>
            <a:ext cx="0" cy="342900"/>
          </a:xfrm>
          <a:prstGeom prst="line">
            <a:avLst/>
          </a:prstGeom>
          <a:ln w="15240">
            <a:solidFill>
              <a:srgbClr val="315E9C"/>
            </a:solidFill>
          </a:ln>
          <a:effectLst/>
        </p:spPr>
      </p:cxnSp>
      <p:cxnSp>
        <p:nvCxnSpPr>
          <p:cNvPr id="38" name="Connector 37"/>
          <p:cNvCxnSpPr/>
          <p:nvPr/>
        </p:nvCxnSpPr>
        <p:spPr>
          <a:xfrm flipH="1">
            <a:off x="4076700" y="3238500"/>
            <a:ext cx="876300" cy="0"/>
          </a:xfrm>
          <a:prstGeom prst="line">
            <a:avLst/>
          </a:prstGeom>
          <a:ln w="15240">
            <a:solidFill>
              <a:srgbClr val="315E9C"/>
            </a:solidFill>
          </a:ln>
          <a:effectLst/>
        </p:spPr>
      </p:cxnSp>
      <p:cxnSp>
        <p:nvCxnSpPr>
          <p:cNvPr id="39" name="Connector 38"/>
          <p:cNvCxnSpPr/>
          <p:nvPr/>
        </p:nvCxnSpPr>
        <p:spPr>
          <a:xfrm>
            <a:off x="4076700" y="3238500"/>
            <a:ext cx="0" cy="464819"/>
          </a:xfrm>
          <a:prstGeom prst="line">
            <a:avLst/>
          </a:prstGeom>
          <a:ln w="15240">
            <a:solidFill>
              <a:srgbClr val="315E9C"/>
            </a:solidFill>
          </a:ln>
          <a:effectLst/>
        </p:spPr>
      </p:cxnSp>
      <p:cxnSp>
        <p:nvCxnSpPr>
          <p:cNvPr id="40" name="Connector 39"/>
          <p:cNvCxnSpPr/>
          <p:nvPr/>
        </p:nvCxnSpPr>
        <p:spPr>
          <a:xfrm flipH="1">
            <a:off x="3749040" y="3703319"/>
            <a:ext cx="327660" cy="0"/>
          </a:xfrm>
          <a:prstGeom prst="line">
            <a:avLst/>
          </a:prstGeom>
          <a:ln w="15240">
            <a:solidFill>
              <a:srgbClr val="315E9C"/>
            </a:solidFill>
          </a:ln>
          <a:effectLst/>
        </p:spPr>
      </p:cxnSp>
      <p:sp>
        <p:nvSpPr>
          <p:cNvPr id="41" name="Freeform 40"/>
          <p:cNvSpPr/>
          <p:nvPr/>
        </p:nvSpPr>
        <p:spPr>
          <a:xfrm>
            <a:off x="3749040" y="3665220"/>
            <a:ext cx="99060" cy="76200"/>
          </a:xfrm>
          <a:custGeom>
            <a:avLst/>
            <a:gdLst/>
            <a:ahLst/>
            <a:cxnLst/>
            <a:rect l="l" t="t" r="r" b="b"/>
            <a:pathLst>
              <a:path w="13" h="10">
                <a:moveTo>
                  <a:pt x="0" y="5"/>
                </a:moveTo>
                <a:lnTo>
                  <a:pt x="13" y="10"/>
                </a:lnTo>
                <a:lnTo>
                  <a:pt x="13" y="0"/>
                </a:lnTo>
                <a:close/>
              </a:path>
            </a:pathLst>
          </a:custGeom>
          <a:solidFill>
            <a:srgbClr val="315E9C"/>
          </a:solidFill>
          <a:ln>
            <a:noFill/>
          </a:ln>
          <a:effectLst/>
        </p:spPr>
        <p:txBody>
          <a:bodyPr rtlCol="0" anchor="ctr"/>
          <a:lstStyle/>
          <a:p>
            <a:pPr algn="ctr"/>
          </a:p>
        </p:txBody>
      </p:sp>
      <p:cxnSp>
        <p:nvCxnSpPr>
          <p:cNvPr id="42" name="Connector 41"/>
          <p:cNvCxnSpPr/>
          <p:nvPr/>
        </p:nvCxnSpPr>
        <p:spPr>
          <a:xfrm>
            <a:off x="5410200" y="2895600"/>
            <a:ext cx="0" cy="624840"/>
          </a:xfrm>
          <a:prstGeom prst="line">
            <a:avLst/>
          </a:prstGeom>
          <a:ln w="15240">
            <a:solidFill>
              <a:srgbClr val="007C78"/>
            </a:solidFill>
          </a:ln>
          <a:effectLst/>
        </p:spPr>
      </p:cxnSp>
      <p:cxnSp>
        <p:nvCxnSpPr>
          <p:cNvPr id="43" name="Connector 42"/>
          <p:cNvCxnSpPr/>
          <p:nvPr/>
        </p:nvCxnSpPr>
        <p:spPr>
          <a:xfrm flipH="1">
            <a:off x="4191000" y="3520440"/>
            <a:ext cx="1219200" cy="0"/>
          </a:xfrm>
          <a:prstGeom prst="line">
            <a:avLst/>
          </a:prstGeom>
          <a:ln w="15240">
            <a:solidFill>
              <a:srgbClr val="007C78"/>
            </a:solidFill>
          </a:ln>
          <a:effectLst/>
        </p:spPr>
      </p:cxnSp>
      <p:cxnSp>
        <p:nvCxnSpPr>
          <p:cNvPr id="44" name="Connector 43"/>
          <p:cNvCxnSpPr/>
          <p:nvPr/>
        </p:nvCxnSpPr>
        <p:spPr>
          <a:xfrm>
            <a:off x="4191000" y="3520440"/>
            <a:ext cx="0" cy="1303020"/>
          </a:xfrm>
          <a:prstGeom prst="line">
            <a:avLst/>
          </a:prstGeom>
          <a:ln w="15240">
            <a:solidFill>
              <a:srgbClr val="007C78"/>
            </a:solidFill>
          </a:ln>
          <a:effectLst/>
        </p:spPr>
      </p:cxnSp>
      <p:cxnSp>
        <p:nvCxnSpPr>
          <p:cNvPr id="45" name="Connector 44"/>
          <p:cNvCxnSpPr/>
          <p:nvPr/>
        </p:nvCxnSpPr>
        <p:spPr>
          <a:xfrm flipH="1">
            <a:off x="3749040" y="4823460"/>
            <a:ext cx="441960" cy="0"/>
          </a:xfrm>
          <a:prstGeom prst="line">
            <a:avLst/>
          </a:prstGeom>
          <a:ln w="15240">
            <a:solidFill>
              <a:srgbClr val="007C78"/>
            </a:solidFill>
          </a:ln>
          <a:effectLst/>
        </p:spPr>
      </p:cxnSp>
      <p:sp>
        <p:nvSpPr>
          <p:cNvPr id="46" name="Freeform 45"/>
          <p:cNvSpPr/>
          <p:nvPr/>
        </p:nvSpPr>
        <p:spPr>
          <a:xfrm>
            <a:off x="3749040" y="478536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7" name="TextBox 46"/>
          <p:cNvSpPr txBox="1"/>
          <p:nvPr/>
        </p:nvSpPr>
        <p:spPr>
          <a:xfrm>
            <a:off x="6225540" y="3246120"/>
            <a:ext cx="53340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315E9C"/>
                </a:solidFill>
                <a:latin typeface="DejaVu Sans"/>
              </a:rPr>
              <a:t>Typed session + explicit descriptor/profile</a:t>
            </a:r>
          </a:p>
        </p:txBody>
      </p:sp>
      <p:cxnSp>
        <p:nvCxnSpPr>
          <p:cNvPr id="48" name="Connector 47"/>
          <p:cNvCxnSpPr/>
          <p:nvPr/>
        </p:nvCxnSpPr>
        <p:spPr>
          <a:xfrm>
            <a:off x="7680959" y="4366260"/>
            <a:ext cx="731521" cy="0"/>
          </a:xfrm>
          <a:prstGeom prst="line">
            <a:avLst/>
          </a:prstGeom>
          <a:ln w="15240">
            <a:solidFill>
              <a:srgbClr val="007C78"/>
            </a:solidFill>
          </a:ln>
          <a:effectLst/>
        </p:spPr>
      </p:cxnSp>
      <p:sp>
        <p:nvSpPr>
          <p:cNvPr id="49" name="Freeform 48"/>
          <p:cNvSpPr/>
          <p:nvPr/>
        </p:nvSpPr>
        <p:spPr>
          <a:xfrm>
            <a:off x="8313420" y="43281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50" name="Rounded Rectangle 49"/>
          <p:cNvSpPr/>
          <p:nvPr/>
        </p:nvSpPr>
        <p:spPr>
          <a:xfrm>
            <a:off x="548640" y="5455920"/>
            <a:ext cx="11094720" cy="800100"/>
          </a:xfrm>
          <a:prstGeom prst="roundRect">
            <a:avLst>
              <a:gd name="adj" fmla="val 12380"/>
            </a:avLst>
          </a:prstGeom>
          <a:solidFill>
            <a:srgbClr val="E7ECEB"/>
          </a:solidFill>
          <a:ln w="7620">
            <a:solidFill>
              <a:srgbClr val="315E9C"/>
            </a:solidFill>
          </a:ln>
          <a:effectLst/>
        </p:spPr>
        <p:txBody>
          <a:bodyPr rtlCol="0" anchor="ctr"/>
          <a:lstStyle/>
          <a:p>
            <a:pPr algn="ctr"/>
          </a:p>
        </p:txBody>
      </p:sp>
      <p:sp>
        <p:nvSpPr>
          <p:cNvPr id="51" name="TextBox 50"/>
          <p:cNvSpPr txBox="1"/>
          <p:nvPr/>
        </p:nvSpPr>
        <p:spPr>
          <a:xfrm>
            <a:off x="716280" y="5623560"/>
            <a:ext cx="107594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Each owner commits separately</a:t>
            </a:r>
          </a:p>
        </p:txBody>
      </p:sp>
      <p:sp>
        <p:nvSpPr>
          <p:cNvPr id="52" name="TextBox 51"/>
          <p:cNvSpPr txBox="1"/>
          <p:nvPr/>
        </p:nvSpPr>
        <p:spPr>
          <a:xfrm>
            <a:off x="716280" y="5982614"/>
            <a:ext cx="107594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DA · job/outbox · messaging · inspect acceptance/ack · signed intent/observation · native progress</a:t>
            </a:r>
          </a:p>
        </p:txBody>
      </p:sp>
      <p:cxnSp>
        <p:nvCxnSpPr>
          <p:cNvPr id="53" name="Connector 52"/>
          <p:cNvCxnSpPr/>
          <p:nvPr/>
        </p:nvCxnSpPr>
        <p:spPr>
          <a:xfrm>
            <a:off x="548640" y="6393180"/>
            <a:ext cx="11094720" cy="0"/>
          </a:xfrm>
          <a:prstGeom prst="line">
            <a:avLst/>
          </a:prstGeom>
          <a:ln w="7620">
            <a:solidFill>
              <a:srgbClr val="C9D2D4"/>
            </a:solidFill>
          </a:ln>
          <a:effectLst/>
        </p:spPr>
      </p:cxnSp>
      <p:sp>
        <p:nvSpPr>
          <p:cNvPr id="54" name="TextBox 5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hive/commitment · completed.py · f1r3_m4.py</a:t>
            </a:r>
          </a:p>
        </p:txBody>
      </p:sp>
      <p:sp>
        <p:nvSpPr>
          <p:cNvPr id="55" name="TextBox 5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13 / 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01 / DEPENDENCY MAP · M5 PRIVATE LOOKUP</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Function dependencies: discover → traverse → retrieve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Solid arrows show caller-to-provider calls; each owner commits its own state.</a:t>
            </a:r>
          </a:p>
        </p:txBody>
      </p:sp>
      <p:sp>
        <p:nvSpPr>
          <p:cNvPr id="5" name="Rounded Rectangle 4"/>
          <p:cNvSpPr/>
          <p:nvPr/>
        </p:nvSpPr>
        <p:spPr>
          <a:xfrm>
            <a:off x="548640" y="1790700"/>
            <a:ext cx="2895600" cy="960119"/>
          </a:xfrm>
          <a:prstGeom prst="roundRect">
            <a:avLst>
              <a:gd name="adj" fmla="val 10317"/>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1958339"/>
            <a:ext cx="2560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Native Hive dispatch</a:t>
            </a:r>
          </a:p>
        </p:txBody>
      </p:sp>
      <p:sp>
        <p:nvSpPr>
          <p:cNvPr id="7" name="TextBox 6"/>
          <p:cNvSpPr txBox="1"/>
          <p:nvPr/>
        </p:nvSpPr>
        <p:spPr>
          <a:xfrm>
            <a:off x="716280" y="2307640"/>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Authenticated request label</a:t>
            </a:r>
          </a:p>
        </p:txBody>
      </p:sp>
      <p:sp>
        <p:nvSpPr>
          <p:cNvPr id="8" name="Rounded Rectangle 7"/>
          <p:cNvSpPr/>
          <p:nvPr/>
        </p:nvSpPr>
        <p:spPr>
          <a:xfrm>
            <a:off x="4648200" y="1790700"/>
            <a:ext cx="3489960" cy="960119"/>
          </a:xfrm>
          <a:prstGeom prst="roundRect">
            <a:avLst>
              <a:gd name="adj" fmla="val 10317"/>
            </a:avLst>
          </a:prstGeom>
          <a:solidFill>
            <a:srgbClr val="E4EBF5"/>
          </a:solidFill>
          <a:ln w="7620">
            <a:solidFill>
              <a:srgbClr val="315E9C"/>
            </a:solidFill>
          </a:ln>
          <a:effectLst/>
        </p:spPr>
        <p:txBody>
          <a:bodyPr rtlCol="0" anchor="ctr"/>
          <a:lstStyle/>
          <a:p>
            <a:pPr algn="ctr"/>
          </a:p>
        </p:txBody>
      </p:sp>
      <p:sp>
        <p:nvSpPr>
          <p:cNvPr id="9" name="TextBox 8"/>
          <p:cNvSpPr txBox="1"/>
          <p:nvPr/>
        </p:nvSpPr>
        <p:spPr>
          <a:xfrm>
            <a:off x="4815840" y="1958339"/>
            <a:ext cx="3154679"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LookupConsumer</a:t>
            </a:r>
          </a:p>
        </p:txBody>
      </p:sp>
      <p:sp>
        <p:nvSpPr>
          <p:cNvPr id="10" name="TextBox 9"/>
          <p:cNvSpPr txBox="1"/>
          <p:nvPr/>
        </p:nvSpPr>
        <p:spPr>
          <a:xfrm>
            <a:off x="4815840" y="2327147"/>
            <a:ext cx="31546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Private pages, snapshots and result</a:t>
            </a:r>
          </a:p>
        </p:txBody>
      </p:sp>
      <p:sp>
        <p:nvSpPr>
          <p:cNvPr id="11" name="Rounded Rectangle 10"/>
          <p:cNvSpPr/>
          <p:nvPr/>
        </p:nvSpPr>
        <p:spPr>
          <a:xfrm>
            <a:off x="9067800" y="1790700"/>
            <a:ext cx="2575560" cy="960119"/>
          </a:xfrm>
          <a:prstGeom prst="roundRect">
            <a:avLst>
              <a:gd name="adj" fmla="val 10317"/>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9235440" y="1958339"/>
            <a:ext cx="22402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Current authority</a:t>
            </a:r>
          </a:p>
        </p:txBody>
      </p:sp>
      <p:sp>
        <p:nvSpPr>
          <p:cNvPr id="13" name="TextBox 12"/>
          <p:cNvSpPr txBox="1"/>
          <p:nvPr/>
        </p:nvSpPr>
        <p:spPr>
          <a:xfrm>
            <a:off x="9235440" y="2307640"/>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Scope + caller + operation</a:t>
            </a:r>
          </a:p>
        </p:txBody>
      </p:sp>
      <p:cxnSp>
        <p:nvCxnSpPr>
          <p:cNvPr id="14" name="Connector 13"/>
          <p:cNvCxnSpPr/>
          <p:nvPr/>
        </p:nvCxnSpPr>
        <p:spPr>
          <a:xfrm>
            <a:off x="3444240" y="2270760"/>
            <a:ext cx="1203960" cy="0"/>
          </a:xfrm>
          <a:prstGeom prst="line">
            <a:avLst/>
          </a:prstGeom>
          <a:ln w="15240">
            <a:solidFill>
              <a:srgbClr val="007C78"/>
            </a:solidFill>
          </a:ln>
          <a:effectLst/>
        </p:spPr>
      </p:cxnSp>
      <p:sp>
        <p:nvSpPr>
          <p:cNvPr id="15" name="Freeform 14"/>
          <p:cNvSpPr/>
          <p:nvPr/>
        </p:nvSpPr>
        <p:spPr>
          <a:xfrm>
            <a:off x="4549140" y="22326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6" name="Connector 15"/>
          <p:cNvCxnSpPr/>
          <p:nvPr/>
        </p:nvCxnSpPr>
        <p:spPr>
          <a:xfrm>
            <a:off x="8138159" y="2270760"/>
            <a:ext cx="929641" cy="0"/>
          </a:xfrm>
          <a:prstGeom prst="line">
            <a:avLst/>
          </a:prstGeom>
          <a:ln w="15240">
            <a:solidFill>
              <a:srgbClr val="315E9C"/>
            </a:solidFill>
          </a:ln>
          <a:effectLst/>
        </p:spPr>
      </p:cxnSp>
      <p:sp>
        <p:nvSpPr>
          <p:cNvPr id="17" name="Freeform 16"/>
          <p:cNvSpPr/>
          <p:nvPr/>
        </p:nvSpPr>
        <p:spPr>
          <a:xfrm>
            <a:off x="8968740" y="22326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548640" y="3352800"/>
            <a:ext cx="341376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716280" y="3520440"/>
            <a:ext cx="307847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1 · Search.query</a:t>
            </a:r>
          </a:p>
        </p:txBody>
      </p:sp>
      <p:sp>
        <p:nvSpPr>
          <p:cNvPr id="20" name="TextBox 19"/>
          <p:cNvSpPr txBox="1"/>
          <p:nvPr/>
        </p:nvSpPr>
        <p:spPr>
          <a:xfrm>
            <a:off x="716280" y="3899001"/>
            <a:ext cx="3078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attributes → discovered refs</a:t>
            </a:r>
          </a:p>
        </p:txBody>
      </p:sp>
      <p:sp>
        <p:nvSpPr>
          <p:cNvPr id="21" name="Rounded Rectangle 20"/>
          <p:cNvSpPr/>
          <p:nvPr/>
        </p:nvSpPr>
        <p:spPr>
          <a:xfrm>
            <a:off x="4389120" y="3352800"/>
            <a:ext cx="341376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22" name="TextBox 21"/>
          <p:cNvSpPr txBox="1"/>
          <p:nvPr/>
        </p:nvSpPr>
        <p:spPr>
          <a:xfrm>
            <a:off x="4556760" y="3520440"/>
            <a:ext cx="307847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2 · Relations</a:t>
            </a:r>
          </a:p>
        </p:txBody>
      </p:sp>
      <p:sp>
        <p:nvSpPr>
          <p:cNvPr id="23" name="TextBox 22"/>
          <p:cNvSpPr txBox="1"/>
          <p:nvPr/>
        </p:nvSpPr>
        <p:spPr>
          <a:xfrm>
            <a:off x="4556760" y="3899001"/>
            <a:ext cx="3078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outgoing / getRelation / incoming</a:t>
            </a:r>
          </a:p>
        </p:txBody>
      </p:sp>
      <p:sp>
        <p:nvSpPr>
          <p:cNvPr id="24" name="Rounded Rectangle 23"/>
          <p:cNvSpPr/>
          <p:nvPr/>
        </p:nvSpPr>
        <p:spPr>
          <a:xfrm>
            <a:off x="8229600" y="3352800"/>
            <a:ext cx="3413760" cy="1066800"/>
          </a:xfrm>
          <a:prstGeom prst="roundRect">
            <a:avLst>
              <a:gd name="adj" fmla="val 9285"/>
            </a:avLst>
          </a:prstGeom>
          <a:solidFill>
            <a:srgbClr val="FFFFFF"/>
          </a:solidFill>
          <a:ln w="7620">
            <a:solidFill>
              <a:srgbClr val="315E9C"/>
            </a:solidFill>
          </a:ln>
          <a:effectLst/>
        </p:spPr>
        <p:txBody>
          <a:bodyPr rtlCol="0" anchor="ctr"/>
          <a:lstStyle/>
          <a:p>
            <a:pPr algn="ctr"/>
          </a:p>
        </p:txBody>
      </p:sp>
      <p:sp>
        <p:nvSpPr>
          <p:cNvPr id="25" name="TextBox 24"/>
          <p:cNvSpPr txBox="1"/>
          <p:nvPr/>
        </p:nvSpPr>
        <p:spPr>
          <a:xfrm>
            <a:off x="8397240" y="3520440"/>
            <a:ext cx="307847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3 · AtomStorage</a:t>
            </a:r>
          </a:p>
        </p:txBody>
      </p:sp>
      <p:sp>
        <p:nvSpPr>
          <p:cNvPr id="26" name="TextBox 25"/>
          <p:cNvSpPr txBox="1"/>
          <p:nvPr/>
        </p:nvSpPr>
        <p:spPr>
          <a:xfrm>
            <a:off x="8397240" y="3899001"/>
            <a:ext cx="3078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get / getMany → authorized bytes</a:t>
            </a:r>
          </a:p>
        </p:txBody>
      </p:sp>
      <p:cxnSp>
        <p:nvCxnSpPr>
          <p:cNvPr id="27" name="Connector 26"/>
          <p:cNvCxnSpPr/>
          <p:nvPr/>
        </p:nvCxnSpPr>
        <p:spPr>
          <a:xfrm>
            <a:off x="5448300" y="2750820"/>
            <a:ext cx="0" cy="312420"/>
          </a:xfrm>
          <a:prstGeom prst="line">
            <a:avLst/>
          </a:prstGeom>
          <a:ln w="15240">
            <a:solidFill>
              <a:srgbClr val="315E9C"/>
            </a:solidFill>
          </a:ln>
          <a:effectLst/>
        </p:spPr>
      </p:cxnSp>
      <p:cxnSp>
        <p:nvCxnSpPr>
          <p:cNvPr id="28" name="Connector 27"/>
          <p:cNvCxnSpPr/>
          <p:nvPr/>
        </p:nvCxnSpPr>
        <p:spPr>
          <a:xfrm flipH="1">
            <a:off x="2255520" y="3063240"/>
            <a:ext cx="3192780" cy="0"/>
          </a:xfrm>
          <a:prstGeom prst="line">
            <a:avLst/>
          </a:prstGeom>
          <a:ln w="15240">
            <a:solidFill>
              <a:srgbClr val="315E9C"/>
            </a:solidFill>
          </a:ln>
          <a:effectLst/>
        </p:spPr>
      </p:cxnSp>
      <p:cxnSp>
        <p:nvCxnSpPr>
          <p:cNvPr id="29" name="Connector 28"/>
          <p:cNvCxnSpPr/>
          <p:nvPr/>
        </p:nvCxnSpPr>
        <p:spPr>
          <a:xfrm>
            <a:off x="2255520" y="3063240"/>
            <a:ext cx="0" cy="289560"/>
          </a:xfrm>
          <a:prstGeom prst="line">
            <a:avLst/>
          </a:prstGeom>
          <a:ln w="15240">
            <a:solidFill>
              <a:srgbClr val="315E9C"/>
            </a:solidFill>
          </a:ln>
          <a:effectLst/>
        </p:spPr>
      </p:cxnSp>
      <p:sp>
        <p:nvSpPr>
          <p:cNvPr id="30" name="Freeform 29"/>
          <p:cNvSpPr/>
          <p:nvPr/>
        </p:nvSpPr>
        <p:spPr>
          <a:xfrm>
            <a:off x="2217420" y="32537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31" name="Connector 30"/>
          <p:cNvCxnSpPr/>
          <p:nvPr/>
        </p:nvCxnSpPr>
        <p:spPr>
          <a:xfrm>
            <a:off x="6096000" y="2750820"/>
            <a:ext cx="0" cy="601980"/>
          </a:xfrm>
          <a:prstGeom prst="line">
            <a:avLst/>
          </a:prstGeom>
          <a:ln w="15240">
            <a:solidFill>
              <a:srgbClr val="315E9C"/>
            </a:solidFill>
          </a:ln>
          <a:effectLst/>
        </p:spPr>
      </p:cxnSp>
      <p:sp>
        <p:nvSpPr>
          <p:cNvPr id="32" name="Freeform 31"/>
          <p:cNvSpPr/>
          <p:nvPr/>
        </p:nvSpPr>
        <p:spPr>
          <a:xfrm>
            <a:off x="6057900" y="32537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cxnSp>
        <p:nvCxnSpPr>
          <p:cNvPr id="33" name="Connector 32"/>
          <p:cNvCxnSpPr/>
          <p:nvPr/>
        </p:nvCxnSpPr>
        <p:spPr>
          <a:xfrm>
            <a:off x="6781800" y="2750820"/>
            <a:ext cx="0" cy="312420"/>
          </a:xfrm>
          <a:prstGeom prst="line">
            <a:avLst/>
          </a:prstGeom>
          <a:ln w="15240">
            <a:solidFill>
              <a:srgbClr val="315E9C"/>
            </a:solidFill>
          </a:ln>
          <a:effectLst/>
        </p:spPr>
      </p:cxnSp>
      <p:cxnSp>
        <p:nvCxnSpPr>
          <p:cNvPr id="34" name="Connector 33"/>
          <p:cNvCxnSpPr/>
          <p:nvPr/>
        </p:nvCxnSpPr>
        <p:spPr>
          <a:xfrm>
            <a:off x="6781800" y="3063240"/>
            <a:ext cx="3154680" cy="0"/>
          </a:xfrm>
          <a:prstGeom prst="line">
            <a:avLst/>
          </a:prstGeom>
          <a:ln w="15240">
            <a:solidFill>
              <a:srgbClr val="315E9C"/>
            </a:solidFill>
          </a:ln>
          <a:effectLst/>
        </p:spPr>
      </p:cxnSp>
      <p:cxnSp>
        <p:nvCxnSpPr>
          <p:cNvPr id="35" name="Connector 34"/>
          <p:cNvCxnSpPr/>
          <p:nvPr/>
        </p:nvCxnSpPr>
        <p:spPr>
          <a:xfrm>
            <a:off x="9936480" y="3063240"/>
            <a:ext cx="0" cy="289560"/>
          </a:xfrm>
          <a:prstGeom prst="line">
            <a:avLst/>
          </a:prstGeom>
          <a:ln w="15240">
            <a:solidFill>
              <a:srgbClr val="315E9C"/>
            </a:solidFill>
          </a:ln>
          <a:effectLst/>
        </p:spPr>
      </p:cxnSp>
      <p:sp>
        <p:nvSpPr>
          <p:cNvPr id="36" name="Freeform 35"/>
          <p:cNvSpPr/>
          <p:nvPr/>
        </p:nvSpPr>
        <p:spPr>
          <a:xfrm>
            <a:off x="9898380" y="3253740"/>
            <a:ext cx="76200" cy="99060"/>
          </a:xfrm>
          <a:custGeom>
            <a:avLst/>
            <a:gdLst/>
            <a:ahLst/>
            <a:cxnLst/>
            <a:rect l="l" t="t" r="r" b="b"/>
            <a:pathLst>
              <a:path w="10" h="13">
                <a:moveTo>
                  <a:pt x="5" y="13"/>
                </a:moveTo>
                <a:lnTo>
                  <a:pt x="10" y="0"/>
                </a:lnTo>
                <a:lnTo>
                  <a:pt x="0" y="0"/>
                </a:lnTo>
                <a:close/>
              </a:path>
            </a:pathLst>
          </a:custGeom>
          <a:solidFill>
            <a:srgbClr val="315E9C"/>
          </a:solidFill>
          <a:ln>
            <a:noFill/>
          </a:ln>
          <a:effectLst/>
        </p:spPr>
        <p:txBody>
          <a:bodyPr rtlCol="0" anchor="ctr"/>
          <a:lstStyle/>
          <a:p>
            <a:pPr algn="ctr"/>
          </a:p>
        </p:txBody>
      </p:sp>
      <p:sp>
        <p:nvSpPr>
          <p:cNvPr id="37" name="Rounded Rectangle 36"/>
          <p:cNvSpPr/>
          <p:nvPr/>
        </p:nvSpPr>
        <p:spPr>
          <a:xfrm>
            <a:off x="548640" y="4892040"/>
            <a:ext cx="3413760" cy="1059180"/>
          </a:xfrm>
          <a:prstGeom prst="roundRect">
            <a:avLst>
              <a:gd name="adj" fmla="val 9352"/>
            </a:avLst>
          </a:prstGeom>
          <a:solidFill>
            <a:srgbClr val="DCEFE8"/>
          </a:solidFill>
          <a:ln w="7620">
            <a:solidFill>
              <a:srgbClr val="007C78"/>
            </a:solidFill>
          </a:ln>
          <a:effectLst/>
        </p:spPr>
        <p:txBody>
          <a:bodyPr rtlCol="0" anchor="ctr"/>
          <a:lstStyle/>
          <a:p>
            <a:pPr algn="ctr"/>
          </a:p>
        </p:txBody>
      </p:sp>
      <p:sp>
        <p:nvSpPr>
          <p:cNvPr id="38" name="TextBox 37"/>
          <p:cNvSpPr txBox="1"/>
          <p:nvPr/>
        </p:nvSpPr>
        <p:spPr>
          <a:xfrm>
            <a:off x="716280" y="5059680"/>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Projection maintenance</a:t>
            </a:r>
          </a:p>
        </p:txBody>
      </p:sp>
      <p:sp>
        <p:nvSpPr>
          <p:cNvPr id="39" name="TextBox 38"/>
          <p:cNvSpPr txBox="1"/>
          <p:nvPr/>
        </p:nvSpPr>
        <p:spPr>
          <a:xfrm>
            <a:off x="716280" y="5408980"/>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catchUp / beginRebuild</a:t>
            </a:r>
          </a:p>
        </p:txBody>
      </p:sp>
      <p:sp>
        <p:nvSpPr>
          <p:cNvPr id="40" name="TextBox 39"/>
          <p:cNvSpPr txBox="1"/>
          <p:nvPr/>
        </p:nvSpPr>
        <p:spPr>
          <a:xfrm>
            <a:off x="716280" y="5613806"/>
            <a:ext cx="307847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AtomStorage head/readCommits/get</a:t>
            </a:r>
          </a:p>
        </p:txBody>
      </p:sp>
      <p:sp>
        <p:nvSpPr>
          <p:cNvPr id="41" name="Rounded Rectangle 40"/>
          <p:cNvSpPr/>
          <p:nvPr/>
        </p:nvSpPr>
        <p:spPr>
          <a:xfrm>
            <a:off x="4389120" y="4892040"/>
            <a:ext cx="3413760" cy="1059180"/>
          </a:xfrm>
          <a:prstGeom prst="roundRect">
            <a:avLst>
              <a:gd name="adj" fmla="val 9352"/>
            </a:avLst>
          </a:prstGeom>
          <a:solidFill>
            <a:srgbClr val="E4EBF5"/>
          </a:solidFill>
          <a:ln w="7620">
            <a:solidFill>
              <a:srgbClr val="315E9C"/>
            </a:solidFill>
          </a:ln>
          <a:effectLst/>
        </p:spPr>
        <p:txBody>
          <a:bodyPr rtlCol="0" anchor="ctr"/>
          <a:lstStyle/>
          <a:p>
            <a:pPr algn="ctr"/>
          </a:p>
        </p:txBody>
      </p:sp>
      <p:sp>
        <p:nvSpPr>
          <p:cNvPr id="42" name="TextBox 41"/>
          <p:cNvSpPr txBox="1"/>
          <p:nvPr/>
        </p:nvSpPr>
        <p:spPr>
          <a:xfrm>
            <a:off x="4556760" y="5059680"/>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Relation acceptance</a:t>
            </a:r>
          </a:p>
        </p:txBody>
      </p:sp>
      <p:sp>
        <p:nvSpPr>
          <p:cNvPr id="43" name="TextBox 42"/>
          <p:cNvSpPr txBox="1"/>
          <p:nvPr/>
        </p:nvSpPr>
        <p:spPr>
          <a:xfrm>
            <a:off x="4556760" y="5408980"/>
            <a:ext cx="307847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assertRelation → AtomStorage</a:t>
            </a:r>
          </a:p>
        </p:txBody>
      </p:sp>
      <p:sp>
        <p:nvSpPr>
          <p:cNvPr id="44" name="TextBox 43"/>
          <p:cNvSpPr txBox="1"/>
          <p:nvPr/>
        </p:nvSpPr>
        <p:spPr>
          <a:xfrm>
            <a:off x="4556760" y="5623560"/>
            <a:ext cx="307847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Payload first; acceptance separately</a:t>
            </a:r>
          </a:p>
        </p:txBody>
      </p:sp>
      <p:sp>
        <p:nvSpPr>
          <p:cNvPr id="45" name="Rounded Rectangle 44"/>
          <p:cNvSpPr/>
          <p:nvPr/>
        </p:nvSpPr>
        <p:spPr>
          <a:xfrm>
            <a:off x="8229600" y="4892040"/>
            <a:ext cx="3413760" cy="1059180"/>
          </a:xfrm>
          <a:prstGeom prst="roundRect">
            <a:avLst>
              <a:gd name="adj" fmla="val 9352"/>
            </a:avLst>
          </a:prstGeom>
          <a:solidFill>
            <a:srgbClr val="DCEFE8"/>
          </a:solidFill>
          <a:ln w="7620">
            <a:solidFill>
              <a:srgbClr val="007C78"/>
            </a:solidFill>
          </a:ln>
          <a:effectLst/>
        </p:spPr>
        <p:txBody>
          <a:bodyPr rtlCol="0" anchor="ctr"/>
          <a:lstStyle/>
          <a:p>
            <a:pPr algn="ctr"/>
          </a:p>
        </p:txBody>
      </p:sp>
      <p:sp>
        <p:nvSpPr>
          <p:cNvPr id="46" name="TextBox 45"/>
          <p:cNvSpPr txBox="1"/>
          <p:nvPr/>
        </p:nvSpPr>
        <p:spPr>
          <a:xfrm>
            <a:off x="8397240" y="5059680"/>
            <a:ext cx="30784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Opaque DA · DeTTa</a:t>
            </a:r>
          </a:p>
        </p:txBody>
      </p:sp>
      <p:sp>
        <p:nvSpPr>
          <p:cNvPr id="47" name="TextBox 46"/>
          <p:cNvSpPr txBox="1"/>
          <p:nvPr/>
        </p:nvSpPr>
        <p:spPr>
          <a:xfrm>
            <a:off x="8397240" y="5408980"/>
            <a:ext cx="3078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AtomStorage calls put/get</a:t>
            </a:r>
          </a:p>
        </p:txBody>
      </p:sp>
      <p:sp>
        <p:nvSpPr>
          <p:cNvPr id="48" name="TextBox 47"/>
          <p:cNvSpPr txBox="1"/>
          <p:nvPr/>
        </p:nvSpPr>
        <p:spPr>
          <a:xfrm>
            <a:off x="8397240" y="5633313"/>
            <a:ext cx="3078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DA interprets no query or relation</a:t>
            </a:r>
          </a:p>
        </p:txBody>
      </p:sp>
      <p:cxnSp>
        <p:nvCxnSpPr>
          <p:cNvPr id="49" name="Connector 48"/>
          <p:cNvCxnSpPr/>
          <p:nvPr/>
        </p:nvCxnSpPr>
        <p:spPr>
          <a:xfrm>
            <a:off x="9936480" y="4419600"/>
            <a:ext cx="0" cy="472440"/>
          </a:xfrm>
          <a:prstGeom prst="line">
            <a:avLst/>
          </a:prstGeom>
          <a:ln w="15240">
            <a:solidFill>
              <a:srgbClr val="007C78"/>
            </a:solidFill>
          </a:ln>
          <a:effectLst/>
        </p:spPr>
      </p:cxnSp>
      <p:sp>
        <p:nvSpPr>
          <p:cNvPr id="50" name="Freeform 49"/>
          <p:cNvSpPr/>
          <p:nvPr/>
        </p:nvSpPr>
        <p:spPr>
          <a:xfrm>
            <a:off x="9898380" y="479298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51" name="TextBox 50"/>
          <p:cNvSpPr txBox="1"/>
          <p:nvPr/>
        </p:nvSpPr>
        <p:spPr>
          <a:xfrm>
            <a:off x="563880" y="4594860"/>
            <a:ext cx="106680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Setup and bounded maintenance use separate commands. Query never advances the index.</a:t>
            </a: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lookup.py · lookup_composition.py · ports.py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14 / 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BOUNDARY · APPLICATION-NEUTRAL PERSISTENCE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DA boundary remains application-neutral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external adapter translates application references into generic coordinates and opaque bytes.</a:t>
            </a:r>
          </a:p>
        </p:txBody>
      </p:sp>
      <p:sp>
        <p:nvSpPr>
          <p:cNvPr id="5" name="Rounded Rectangle 4"/>
          <p:cNvSpPr/>
          <p:nvPr/>
        </p:nvSpPr>
        <p:spPr>
          <a:xfrm>
            <a:off x="548640" y="1927859"/>
            <a:ext cx="3429000" cy="1249680"/>
          </a:xfrm>
          <a:prstGeom prst="roundRect">
            <a:avLst>
              <a:gd name="adj" fmla="val 7926"/>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95500"/>
            <a:ext cx="3093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Application contracts</a:t>
            </a:r>
          </a:p>
        </p:txBody>
      </p:sp>
      <p:sp>
        <p:nvSpPr>
          <p:cNvPr id="7" name="TextBox 6"/>
          <p:cNvSpPr txBox="1"/>
          <p:nvPr/>
        </p:nvSpPr>
        <p:spPr>
          <a:xfrm>
            <a:off x="716280" y="2464308"/>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Scope · references · replay</a:t>
            </a:r>
          </a:p>
        </p:txBody>
      </p:sp>
      <p:sp>
        <p:nvSpPr>
          <p:cNvPr id="8" name="TextBox 7"/>
          <p:cNvSpPr txBox="1"/>
          <p:nvPr/>
        </p:nvSpPr>
        <p:spPr>
          <a:xfrm>
            <a:off x="716280" y="2717901"/>
            <a:ext cx="30937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identity</a:t>
            </a:r>
          </a:p>
        </p:txBody>
      </p:sp>
      <p:sp>
        <p:nvSpPr>
          <p:cNvPr id="9" name="Rounded Rectangle 8"/>
          <p:cNvSpPr/>
          <p:nvPr/>
        </p:nvSpPr>
        <p:spPr>
          <a:xfrm>
            <a:off x="4716780" y="1927859"/>
            <a:ext cx="308610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0" name="TextBox 9"/>
          <p:cNvSpPr txBox="1"/>
          <p:nvPr/>
        </p:nvSpPr>
        <p:spPr>
          <a:xfrm>
            <a:off x="4884420" y="2095500"/>
            <a:ext cx="27508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External adapter</a:t>
            </a:r>
          </a:p>
        </p:txBody>
      </p:sp>
      <p:sp>
        <p:nvSpPr>
          <p:cNvPr id="11" name="TextBox 10"/>
          <p:cNvSpPr txBox="1"/>
          <p:nvPr/>
        </p:nvSpPr>
        <p:spPr>
          <a:xfrm>
            <a:off x="4884420" y="2464308"/>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Opaque payload + generic</a:t>
            </a:r>
          </a:p>
        </p:txBody>
      </p:sp>
      <p:sp>
        <p:nvSpPr>
          <p:cNvPr id="12" name="TextBox 11"/>
          <p:cNvSpPr txBox="1"/>
          <p:nvPr/>
        </p:nvSpPr>
        <p:spPr>
          <a:xfrm>
            <a:off x="4884420" y="2717901"/>
            <a:ext cx="275082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coordinate</a:t>
            </a:r>
          </a:p>
        </p:txBody>
      </p:sp>
      <p:sp>
        <p:nvSpPr>
          <p:cNvPr id="13" name="Rounded Rectangle 12"/>
          <p:cNvSpPr/>
          <p:nvPr/>
        </p:nvSpPr>
        <p:spPr>
          <a:xfrm>
            <a:off x="8542020" y="1927859"/>
            <a:ext cx="3101340" cy="1249680"/>
          </a:xfrm>
          <a:prstGeom prst="roundRect">
            <a:avLst>
              <a:gd name="adj" fmla="val 7926"/>
            </a:avLst>
          </a:prstGeom>
          <a:solidFill>
            <a:srgbClr val="DCEFE8"/>
          </a:solidFill>
          <a:ln w="7620">
            <a:solidFill>
              <a:srgbClr val="007C78"/>
            </a:solidFill>
          </a:ln>
          <a:effectLst/>
        </p:spPr>
        <p:txBody>
          <a:bodyPr rtlCol="0" anchor="ctr"/>
          <a:lstStyle/>
          <a:p>
            <a:pPr algn="ctr"/>
          </a:p>
        </p:txBody>
      </p:sp>
      <p:sp>
        <p:nvSpPr>
          <p:cNvPr id="14" name="TextBox 13"/>
          <p:cNvSpPr txBox="1"/>
          <p:nvPr/>
        </p:nvSpPr>
        <p:spPr>
          <a:xfrm>
            <a:off x="8709660" y="2095500"/>
            <a:ext cx="27660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DeTTa core</a:t>
            </a:r>
          </a:p>
        </p:txBody>
      </p:sp>
      <p:sp>
        <p:nvSpPr>
          <p:cNvPr id="15" name="TextBox 14"/>
          <p:cNvSpPr txBox="1"/>
          <p:nvPr/>
        </p:nvSpPr>
        <p:spPr>
          <a:xfrm>
            <a:off x="8709660" y="2464308"/>
            <a:ext cx="276606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DA encoding + FileStorage</a:t>
            </a:r>
          </a:p>
        </p:txBody>
      </p:sp>
      <p:cxnSp>
        <p:nvCxnSpPr>
          <p:cNvPr id="16" name="Connector 15"/>
          <p:cNvCxnSpPr/>
          <p:nvPr/>
        </p:nvCxnSpPr>
        <p:spPr>
          <a:xfrm>
            <a:off x="3977640" y="2552700"/>
            <a:ext cx="739140" cy="0"/>
          </a:xfrm>
          <a:prstGeom prst="line">
            <a:avLst/>
          </a:prstGeom>
          <a:ln w="15240">
            <a:solidFill>
              <a:srgbClr val="007C78"/>
            </a:solidFill>
          </a:ln>
          <a:effectLst/>
        </p:spPr>
      </p:cxnSp>
      <p:sp>
        <p:nvSpPr>
          <p:cNvPr id="17" name="Freeform 16"/>
          <p:cNvSpPr/>
          <p:nvPr/>
        </p:nvSpPr>
        <p:spPr>
          <a:xfrm>
            <a:off x="461772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8" name="Connector 17"/>
          <p:cNvCxnSpPr/>
          <p:nvPr/>
        </p:nvCxnSpPr>
        <p:spPr>
          <a:xfrm>
            <a:off x="7802880" y="2552700"/>
            <a:ext cx="739140" cy="0"/>
          </a:xfrm>
          <a:prstGeom prst="line">
            <a:avLst/>
          </a:prstGeom>
          <a:ln w="15240">
            <a:solidFill>
              <a:srgbClr val="007C78"/>
            </a:solidFill>
          </a:ln>
          <a:effectLst/>
        </p:spPr>
      </p:cxnSp>
      <p:sp>
        <p:nvSpPr>
          <p:cNvPr id="19" name="Freeform 18"/>
          <p:cNvSpPr/>
          <p:nvPr/>
        </p:nvSpPr>
        <p:spPr>
          <a:xfrm>
            <a:off x="8442960" y="25146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0" name="TextBox 19"/>
          <p:cNvSpPr txBox="1"/>
          <p:nvPr/>
        </p:nvSpPr>
        <p:spPr>
          <a:xfrm>
            <a:off x="571500" y="3634740"/>
            <a:ext cx="7620000" cy="370636"/>
          </a:xfrm>
          <a:prstGeom prst="rect">
            <a:avLst/>
          </a:prstGeom>
          <a:noFill/>
        </p:spPr>
        <p:txBody>
          <a:bodyPr wrap="none" lIns="0" rIns="0" tIns="0" bIns="0" anchor="t" anchorCtr="0">
            <a:noAutofit/>
          </a:bodyPr>
          <a:lstStyle/>
          <a:p>
            <a:pPr algn="l">
              <a:lnSpc>
                <a:spcPct val="100000"/>
              </a:lnSpc>
              <a:spcBef>
                <a:spcPts val="0"/>
              </a:spcBef>
              <a:spcAft>
                <a:spcPts val="0"/>
              </a:spcAft>
            </a:pPr>
            <a:r>
              <a:rPr sz="2280" b="1">
                <a:solidFill>
                  <a:srgbClr val="102B3F"/>
                </a:solidFill>
                <a:latin typeface="DejaVu Sans"/>
              </a:rPr>
              <a:t>4 data shares + 2 parity shares</a:t>
            </a:r>
          </a:p>
        </p:txBody>
      </p:sp>
      <p:sp>
        <p:nvSpPr>
          <p:cNvPr id="21" name="Rounded Rectangle 20"/>
          <p:cNvSpPr/>
          <p:nvPr/>
        </p:nvSpPr>
        <p:spPr>
          <a:xfrm>
            <a:off x="56388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2" name="TextBox 21"/>
          <p:cNvSpPr txBox="1"/>
          <p:nvPr/>
        </p:nvSpPr>
        <p:spPr>
          <a:xfrm>
            <a:off x="8001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S1</a:t>
            </a:r>
          </a:p>
        </p:txBody>
      </p:sp>
      <p:sp>
        <p:nvSpPr>
          <p:cNvPr id="23" name="TextBox 22"/>
          <p:cNvSpPr txBox="1"/>
          <p:nvPr/>
        </p:nvSpPr>
        <p:spPr>
          <a:xfrm>
            <a:off x="6858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4" name="Rounded Rectangle 23"/>
          <p:cNvSpPr/>
          <p:nvPr/>
        </p:nvSpPr>
        <p:spPr>
          <a:xfrm>
            <a:off x="1729739"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1965959"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S2</a:t>
            </a:r>
          </a:p>
        </p:txBody>
      </p:sp>
      <p:sp>
        <p:nvSpPr>
          <p:cNvPr id="26" name="TextBox 25"/>
          <p:cNvSpPr txBox="1"/>
          <p:nvPr/>
        </p:nvSpPr>
        <p:spPr>
          <a:xfrm>
            <a:off x="185165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27" name="Rounded Rectangle 26"/>
          <p:cNvSpPr/>
          <p:nvPr/>
        </p:nvSpPr>
        <p:spPr>
          <a:xfrm>
            <a:off x="289560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28" name="TextBox 27"/>
          <p:cNvSpPr txBox="1"/>
          <p:nvPr/>
        </p:nvSpPr>
        <p:spPr>
          <a:xfrm>
            <a:off x="313182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S3</a:t>
            </a:r>
          </a:p>
        </p:txBody>
      </p:sp>
      <p:sp>
        <p:nvSpPr>
          <p:cNvPr id="29" name="TextBox 28"/>
          <p:cNvSpPr txBox="1"/>
          <p:nvPr/>
        </p:nvSpPr>
        <p:spPr>
          <a:xfrm>
            <a:off x="301752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0" name="Rounded Rectangle 29"/>
          <p:cNvSpPr/>
          <p:nvPr/>
        </p:nvSpPr>
        <p:spPr>
          <a:xfrm>
            <a:off x="4061460" y="4229100"/>
            <a:ext cx="952500" cy="876300"/>
          </a:xfrm>
          <a:prstGeom prst="roundRect">
            <a:avLst>
              <a:gd name="adj" fmla="val 8695"/>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429768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007C78"/>
                </a:solidFill>
                <a:latin typeface="DejaVu Sans Mono"/>
              </a:rPr>
              <a:t>S4</a:t>
            </a:r>
          </a:p>
        </p:txBody>
      </p:sp>
      <p:sp>
        <p:nvSpPr>
          <p:cNvPr id="32" name="TextBox 31"/>
          <p:cNvSpPr txBox="1"/>
          <p:nvPr/>
        </p:nvSpPr>
        <p:spPr>
          <a:xfrm>
            <a:off x="4183379"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present</a:t>
            </a:r>
          </a:p>
        </p:txBody>
      </p:sp>
      <p:sp>
        <p:nvSpPr>
          <p:cNvPr id="33" name="Rounded Rectangle 32"/>
          <p:cNvSpPr/>
          <p:nvPr/>
        </p:nvSpPr>
        <p:spPr>
          <a:xfrm>
            <a:off x="522732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4" name="TextBox 33"/>
          <p:cNvSpPr txBox="1"/>
          <p:nvPr/>
        </p:nvSpPr>
        <p:spPr>
          <a:xfrm>
            <a:off x="546354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S5</a:t>
            </a:r>
          </a:p>
        </p:txBody>
      </p:sp>
      <p:sp>
        <p:nvSpPr>
          <p:cNvPr id="35" name="TextBox 34"/>
          <p:cNvSpPr txBox="1"/>
          <p:nvPr/>
        </p:nvSpPr>
        <p:spPr>
          <a:xfrm>
            <a:off x="534924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6" name="Rounded Rectangle 35"/>
          <p:cNvSpPr/>
          <p:nvPr/>
        </p:nvSpPr>
        <p:spPr>
          <a:xfrm>
            <a:off x="6393180" y="4229100"/>
            <a:ext cx="952500" cy="876300"/>
          </a:xfrm>
          <a:prstGeom prst="roundRect">
            <a:avLst>
              <a:gd name="adj" fmla="val 8695"/>
            </a:avLst>
          </a:prstGeom>
          <a:solidFill>
            <a:srgbClr val="E7ECEB"/>
          </a:solidFill>
          <a:ln w="7620">
            <a:solidFill>
              <a:srgbClr val="C9D2D4"/>
            </a:solidFill>
            <a:prstDash val="dash"/>
          </a:ln>
          <a:effectLst/>
        </p:spPr>
        <p:txBody>
          <a:bodyPr rtlCol="0" anchor="ctr"/>
          <a:lstStyle/>
          <a:p>
            <a:pPr algn="ctr"/>
          </a:p>
        </p:txBody>
      </p:sp>
      <p:sp>
        <p:nvSpPr>
          <p:cNvPr id="37" name="TextBox 36"/>
          <p:cNvSpPr txBox="1"/>
          <p:nvPr/>
        </p:nvSpPr>
        <p:spPr>
          <a:xfrm>
            <a:off x="6629400" y="4419600"/>
            <a:ext cx="685800" cy="341376"/>
          </a:xfrm>
          <a:prstGeom prst="rect">
            <a:avLst/>
          </a:prstGeom>
          <a:noFill/>
        </p:spPr>
        <p:txBody>
          <a:bodyPr wrap="none" lIns="0" rIns="0" tIns="0" bIns="0" anchor="t" anchorCtr="0">
            <a:noAutofit/>
          </a:bodyPr>
          <a:lstStyle/>
          <a:p>
            <a:pPr algn="l">
              <a:lnSpc>
                <a:spcPct val="100000"/>
              </a:lnSpc>
              <a:spcBef>
                <a:spcPts val="0"/>
              </a:spcBef>
              <a:spcAft>
                <a:spcPts val="0"/>
              </a:spcAft>
            </a:pPr>
            <a:r>
              <a:rPr sz="2100" b="0">
                <a:solidFill>
                  <a:srgbClr val="536775"/>
                </a:solidFill>
                <a:latin typeface="DejaVu Sans Mono"/>
              </a:rPr>
              <a:t>S6</a:t>
            </a:r>
          </a:p>
        </p:txBody>
      </p:sp>
      <p:sp>
        <p:nvSpPr>
          <p:cNvPr id="38" name="TextBox 37"/>
          <p:cNvSpPr txBox="1"/>
          <p:nvPr/>
        </p:nvSpPr>
        <p:spPr>
          <a:xfrm>
            <a:off x="6515100" y="4808220"/>
            <a:ext cx="83820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0">
                <a:solidFill>
                  <a:srgbClr val="536775"/>
                </a:solidFill>
                <a:latin typeface="DejaVu Sans"/>
              </a:rPr>
              <a:t>removed</a:t>
            </a:r>
          </a:p>
        </p:txBody>
      </p:sp>
      <p:sp>
        <p:nvSpPr>
          <p:cNvPr id="39" name="Rounded Rectangle 38"/>
          <p:cNvSpPr/>
          <p:nvPr/>
        </p:nvSpPr>
        <p:spPr>
          <a:xfrm>
            <a:off x="8077200" y="3855719"/>
            <a:ext cx="3566160" cy="1485900"/>
          </a:xfrm>
          <a:prstGeom prst="roundRect">
            <a:avLst>
              <a:gd name="adj" fmla="val 6666"/>
            </a:avLst>
          </a:prstGeom>
          <a:solidFill>
            <a:srgbClr val="FFFFFF"/>
          </a:solidFill>
          <a:ln w="7620">
            <a:solidFill>
              <a:srgbClr val="007C78"/>
            </a:solidFill>
          </a:ln>
          <a:effectLst/>
        </p:spPr>
        <p:txBody>
          <a:bodyPr rtlCol="0" anchor="ctr"/>
          <a:lstStyle/>
          <a:p>
            <a:pPr algn="ctr"/>
          </a:p>
        </p:txBody>
      </p:sp>
      <p:sp>
        <p:nvSpPr>
          <p:cNvPr id="40" name="TextBox 39"/>
          <p:cNvSpPr txBox="1"/>
          <p:nvPr/>
        </p:nvSpPr>
        <p:spPr>
          <a:xfrm>
            <a:off x="8244839" y="4023360"/>
            <a:ext cx="323087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Observed reconstruction</a:t>
            </a:r>
          </a:p>
        </p:txBody>
      </p:sp>
      <p:sp>
        <p:nvSpPr>
          <p:cNvPr id="41" name="TextBox 40"/>
          <p:cNvSpPr txBox="1"/>
          <p:nvPr/>
        </p:nvSpPr>
        <p:spPr>
          <a:xfrm>
            <a:off x="8244839" y="4372660"/>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Cached payload + two shares</a:t>
            </a:r>
          </a:p>
        </p:txBody>
      </p:sp>
      <p:sp>
        <p:nvSpPr>
          <p:cNvPr id="42" name="TextBox 41"/>
          <p:cNvSpPr txBox="1"/>
          <p:nvPr/>
        </p:nvSpPr>
        <p:spPr>
          <a:xfrm>
            <a:off x="8244839" y="4606747"/>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removed: exact bytes recovered. A</a:t>
            </a:r>
          </a:p>
        </p:txBody>
      </p:sp>
      <p:sp>
        <p:nvSpPr>
          <p:cNvPr id="43" name="TextBox 42"/>
          <p:cNvSpPr txBox="1"/>
          <p:nvPr/>
        </p:nvSpPr>
        <p:spPr>
          <a:xfrm>
            <a:off x="8244839" y="4840833"/>
            <a:ext cx="32308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third missing share is unavailable.</a:t>
            </a:r>
          </a:p>
        </p:txBody>
      </p:sp>
      <p:sp>
        <p:nvSpPr>
          <p:cNvPr id="44" name="Rounded Rectangle 4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5" name="TextBox 4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DA core does not interpret Hive identities, truth values, attention balances or job state.</a:t>
            </a:r>
          </a:p>
        </p:txBody>
      </p:sp>
      <p:cxnSp>
        <p:nvCxnSpPr>
          <p:cNvPr id="46" name="Connector 45"/>
          <p:cNvCxnSpPr/>
          <p:nvPr/>
        </p:nvCxnSpPr>
        <p:spPr>
          <a:xfrm>
            <a:off x="548640" y="6393180"/>
            <a:ext cx="11094720" cy="0"/>
          </a:xfrm>
          <a:prstGeom prst="line">
            <a:avLst/>
          </a:prstGeom>
          <a:ln w="7620">
            <a:solidFill>
              <a:srgbClr val="C9D2D4"/>
            </a:solidFill>
          </a:ln>
          <a:effectLst/>
        </p:spPr>
      </p:cxnSp>
      <p:sp>
        <p:nvSpPr>
          <p:cNvPr id="47" name="TextBox 4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adapters/detta/src/main.rs · test_contract.py</a:t>
            </a:r>
          </a:p>
        </p:txBody>
      </p:sp>
      <p:sp>
        <p:nvSpPr>
          <p:cNvPr id="48" name="TextBox 4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15 / 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PROVIDER REPLACEMENT</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Independent replacements preserve the caller contract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Select explicit profiles; rebuild derived state through the authoritative source.</a:t>
            </a:r>
          </a:p>
        </p:txBody>
      </p:sp>
      <p:sp>
        <p:nvSpPr>
          <p:cNvPr id="5" name="Rounded Rectangle 4"/>
          <p:cNvSpPr/>
          <p:nvPr/>
        </p:nvSpPr>
        <p:spPr>
          <a:xfrm>
            <a:off x="548640" y="1920239"/>
            <a:ext cx="3535679" cy="2819400"/>
          </a:xfrm>
          <a:prstGeom prst="roundRect">
            <a:avLst>
              <a:gd name="adj" fmla="val 351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8788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AtomStorage · M1 / M5</a:t>
            </a:r>
          </a:p>
        </p:txBody>
      </p:sp>
      <p:sp>
        <p:nvSpPr>
          <p:cNvPr id="7" name="TextBox 6"/>
          <p:cNvSpPr txBox="1"/>
          <p:nvPr/>
        </p:nvSpPr>
        <p:spPr>
          <a:xfrm>
            <a:off x="716280" y="247619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Real DeTTa-backed owner or</a:t>
            </a:r>
          </a:p>
        </p:txBody>
      </p:sp>
      <p:sp>
        <p:nvSpPr>
          <p:cNvPr id="8" name="TextBox 7"/>
          <p:cNvSpPr txBox="1"/>
          <p:nvPr/>
        </p:nvSpPr>
        <p:spPr>
          <a:xfrm>
            <a:off x="716280" y="275904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atomic-file fixture. The M5</a:t>
            </a:r>
          </a:p>
        </p:txBody>
      </p:sp>
      <p:sp>
        <p:nvSpPr>
          <p:cNvPr id="9" name="TextBox 8"/>
          <p:cNvSpPr txBox="1"/>
          <p:nvPr/>
        </p:nvSpPr>
        <p:spPr>
          <a:xfrm>
            <a:off x="716280" y="3041904"/>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 remains ordered and</a:t>
            </a:r>
          </a:p>
        </p:txBody>
      </p:sp>
      <p:sp>
        <p:nvSpPr>
          <p:cNvPr id="10" name="TextBox 9"/>
          <p:cNvSpPr txBox="1"/>
          <p:nvPr/>
        </p:nvSpPr>
        <p:spPr>
          <a:xfrm>
            <a:off x="716280" y="3324758"/>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replayable.</a:t>
            </a:r>
          </a:p>
        </p:txBody>
      </p:sp>
      <p:sp>
        <p:nvSpPr>
          <p:cNvPr id="11" name="Rounded Rectangle 10"/>
          <p:cNvSpPr/>
          <p:nvPr/>
        </p:nvSpPr>
        <p:spPr>
          <a:xfrm>
            <a:off x="4328160" y="1920239"/>
            <a:ext cx="3535679" cy="2819400"/>
          </a:xfrm>
          <a:prstGeom prst="roundRect">
            <a:avLst>
              <a:gd name="adj" fmla="val 3513"/>
            </a:avLst>
          </a:prstGeom>
          <a:solidFill>
            <a:srgbClr val="FFFFFF"/>
          </a:solidFill>
          <a:ln w="7620">
            <a:solidFill>
              <a:srgbClr val="315E9C"/>
            </a:solidFill>
          </a:ln>
          <a:effectLst/>
        </p:spPr>
        <p:txBody>
          <a:bodyPr rtlCol="0" anchor="ctr"/>
          <a:lstStyle/>
          <a:p>
            <a:pPr algn="ctr"/>
          </a:p>
        </p:txBody>
      </p:sp>
      <p:sp>
        <p:nvSpPr>
          <p:cNvPr id="12" name="TextBox 11"/>
          <p:cNvSpPr txBox="1"/>
          <p:nvPr/>
        </p:nvSpPr>
        <p:spPr>
          <a:xfrm>
            <a:off x="4495800" y="208788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Attention · M3</a:t>
            </a:r>
          </a:p>
        </p:txBody>
      </p:sp>
      <p:sp>
        <p:nvSpPr>
          <p:cNvPr id="13" name="TextBox 12"/>
          <p:cNvSpPr txBox="1"/>
          <p:nvPr/>
        </p:nvSpPr>
        <p:spPr>
          <a:xfrm>
            <a:off x="4495800" y="247619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SQLite or atomic-file fixture.</a:t>
            </a:r>
          </a:p>
        </p:txBody>
      </p:sp>
      <p:sp>
        <p:nvSpPr>
          <p:cNvPr id="14" name="TextBox 13"/>
          <p:cNvSpPr txBox="1"/>
          <p:nvPr/>
        </p:nvSpPr>
        <p:spPr>
          <a:xfrm>
            <a:off x="4495800" y="275904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Same STI policy, tasks and</a:t>
            </a:r>
          </a:p>
        </p:txBody>
      </p:sp>
      <p:sp>
        <p:nvSpPr>
          <p:cNvPr id="15" name="TextBox 14"/>
          <p:cNvSpPr txBox="1"/>
          <p:nvPr/>
        </p:nvSpPr>
        <p:spPr>
          <a:xfrm>
            <a:off x="4495800" y="3041904"/>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budgets; same consumer</a:t>
            </a:r>
          </a:p>
        </p:txBody>
      </p:sp>
      <p:sp>
        <p:nvSpPr>
          <p:cNvPr id="16" name="TextBox 15"/>
          <p:cNvSpPr txBox="1"/>
          <p:nvPr/>
        </p:nvSpPr>
        <p:spPr>
          <a:xfrm>
            <a:off x="4495800" y="3324758"/>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outcomes.</a:t>
            </a:r>
          </a:p>
        </p:txBody>
      </p:sp>
      <p:sp>
        <p:nvSpPr>
          <p:cNvPr id="17" name="Rounded Rectangle 16"/>
          <p:cNvSpPr/>
          <p:nvPr/>
        </p:nvSpPr>
        <p:spPr>
          <a:xfrm>
            <a:off x="8107680" y="1920239"/>
            <a:ext cx="3535679" cy="2819400"/>
          </a:xfrm>
          <a:prstGeom prst="roundRect">
            <a:avLst>
              <a:gd name="adj" fmla="val 3513"/>
            </a:avLst>
          </a:prstGeom>
          <a:solidFill>
            <a:srgbClr val="FFFFFF"/>
          </a:solidFill>
          <a:ln w="7620">
            <a:solidFill>
              <a:srgbClr val="007C78"/>
            </a:solidFill>
          </a:ln>
          <a:effectLst/>
        </p:spPr>
        <p:txBody>
          <a:bodyPr rtlCol="0" anchor="ctr"/>
          <a:lstStyle/>
          <a:p>
            <a:pPr algn="ctr"/>
          </a:p>
        </p:txBody>
      </p:sp>
      <p:sp>
        <p:nvSpPr>
          <p:cNvPr id="18" name="TextBox 17"/>
          <p:cNvSpPr txBox="1"/>
          <p:nvPr/>
        </p:nvSpPr>
        <p:spPr>
          <a:xfrm>
            <a:off x="8275320" y="208788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Search · M5</a:t>
            </a:r>
          </a:p>
        </p:txBody>
      </p:sp>
      <p:sp>
        <p:nvSpPr>
          <p:cNvPr id="19" name="TextBox 18"/>
          <p:cNvSpPr txBox="1"/>
          <p:nvPr/>
        </p:nvSpPr>
        <p:spPr>
          <a:xfrm>
            <a:off x="8275320" y="247619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SQLite or atomic-file fixture.</a:t>
            </a:r>
          </a:p>
        </p:txBody>
      </p:sp>
      <p:sp>
        <p:nvSpPr>
          <p:cNvPr id="20" name="TextBox 19"/>
          <p:cNvSpPr txBox="1"/>
          <p:nvPr/>
        </p:nvSpPr>
        <p:spPr>
          <a:xfrm>
            <a:off x="8275320" y="275904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Same corpus and prefix;</a:t>
            </a:r>
          </a:p>
        </p:txBody>
      </p:sp>
      <p:sp>
        <p:nvSpPr>
          <p:cNvPr id="21" name="TextBox 20"/>
          <p:cNvSpPr txBox="1"/>
          <p:nvPr/>
        </p:nvSpPr>
        <p:spPr>
          <a:xfrm>
            <a:off x="8275320" y="3041904"/>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independent predicate</a:t>
            </a:r>
          </a:p>
        </p:txBody>
      </p:sp>
      <p:sp>
        <p:nvSpPr>
          <p:cNvPr id="22" name="TextBox 21"/>
          <p:cNvSpPr txBox="1"/>
          <p:nvPr/>
        </p:nvSpPr>
        <p:spPr>
          <a:xfrm>
            <a:off x="8275320" y="3324758"/>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evaluation and persistence.</a:t>
            </a:r>
          </a:p>
        </p:txBody>
      </p:sp>
      <p:sp>
        <p:nvSpPr>
          <p:cNvPr id="23" name="TextBox 22"/>
          <p:cNvSpPr txBox="1"/>
          <p:nvPr/>
        </p:nvSpPr>
        <p:spPr>
          <a:xfrm>
            <a:off x="579120" y="50292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The Search fixture still answers when the primary predicate helper is disabled.</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Fresh stores and explicit profiles; accepted state is not migrated.</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M1.1 · M3 · M5 substitution evidence</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16 / 64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PRIVACY AND AUTHORIZATION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Private state has explicit owners and placement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trusted Hive actor maps to an operator-configured private scope and credential.</a:t>
            </a:r>
          </a:p>
        </p:txBody>
      </p:sp>
      <p:sp>
        <p:nvSpPr>
          <p:cNvPr id="5" name="Rounded Rectangle 4"/>
          <p:cNvSpPr/>
          <p:nvPr/>
        </p:nvSpPr>
        <p:spPr>
          <a:xfrm>
            <a:off x="548640" y="1851659"/>
            <a:ext cx="7162800" cy="3710940"/>
          </a:xfrm>
          <a:prstGeom prst="roundRect">
            <a:avLst>
              <a:gd name="adj" fmla="val 2874"/>
            </a:avLst>
          </a:prstGeom>
          <a:solidFill>
            <a:srgbClr val="E4EBF5"/>
          </a:solidFill>
          <a:ln>
            <a:noFill/>
          </a:ln>
          <a:effectLst/>
        </p:spPr>
        <p:txBody>
          <a:bodyPr rtlCol="0" anchor="ctr"/>
          <a:lstStyle/>
          <a:p>
            <a:pPr algn="ctr"/>
          </a:p>
        </p:txBody>
      </p:sp>
      <p:sp>
        <p:nvSpPr>
          <p:cNvPr id="6" name="TextBox 5"/>
          <p:cNvSpPr txBox="1"/>
          <p:nvPr/>
        </p:nvSpPr>
        <p:spPr>
          <a:xfrm>
            <a:off x="746760" y="2042159"/>
            <a:ext cx="67818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315E9C"/>
                </a:solidFill>
                <a:latin typeface="DejaVu Sans"/>
              </a:rPr>
              <a:t>PRIVATE LOCAL COMPOSITION</a:t>
            </a:r>
          </a:p>
        </p:txBody>
      </p:sp>
      <p:sp>
        <p:nvSpPr>
          <p:cNvPr id="7" name="Rounded Rectangle 6"/>
          <p:cNvSpPr/>
          <p:nvPr/>
        </p:nvSpPr>
        <p:spPr>
          <a:xfrm>
            <a:off x="74676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91440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C1 · Episodes</a:t>
            </a:r>
          </a:p>
        </p:txBody>
      </p:sp>
      <p:sp>
        <p:nvSpPr>
          <p:cNvPr id="9" name="TextBox 8"/>
          <p:cNvSpPr txBox="1"/>
          <p:nvPr/>
        </p:nvSpPr>
        <p:spPr>
          <a:xfrm>
            <a:off x="91440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History + delivery intents</a:t>
            </a:r>
          </a:p>
        </p:txBody>
      </p:sp>
      <p:sp>
        <p:nvSpPr>
          <p:cNvPr id="10" name="Rounded Rectangle 9"/>
          <p:cNvSpPr/>
          <p:nvPr/>
        </p:nvSpPr>
        <p:spPr>
          <a:xfrm>
            <a:off x="4229100" y="2506980"/>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1" name="TextBox 10"/>
          <p:cNvSpPr txBox="1"/>
          <p:nvPr/>
        </p:nvSpPr>
        <p:spPr>
          <a:xfrm>
            <a:off x="4396740" y="267462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C2 · Beliefs</a:t>
            </a:r>
          </a:p>
        </p:txBody>
      </p:sp>
      <p:sp>
        <p:nvSpPr>
          <p:cNvPr id="12" name="TextBox 11"/>
          <p:cNvSpPr txBox="1"/>
          <p:nvPr/>
        </p:nvSpPr>
        <p:spPr>
          <a:xfrm>
            <a:off x="4396740" y="303367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Supports + exact attempts</a:t>
            </a:r>
          </a:p>
        </p:txBody>
      </p:sp>
      <p:sp>
        <p:nvSpPr>
          <p:cNvPr id="13" name="Rounded Rectangle 12"/>
          <p:cNvSpPr/>
          <p:nvPr/>
        </p:nvSpPr>
        <p:spPr>
          <a:xfrm>
            <a:off x="74676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91440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C3 · Attention</a:t>
            </a:r>
          </a:p>
        </p:txBody>
      </p:sp>
      <p:sp>
        <p:nvSpPr>
          <p:cNvPr id="15" name="TextBox 14"/>
          <p:cNvSpPr txBox="1"/>
          <p:nvPr/>
        </p:nvSpPr>
        <p:spPr>
          <a:xfrm>
            <a:off x="91440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 + clock + causal replay</a:t>
            </a:r>
          </a:p>
        </p:txBody>
      </p:sp>
      <p:sp>
        <p:nvSpPr>
          <p:cNvPr id="16" name="Rounded Rectangle 15"/>
          <p:cNvSpPr/>
          <p:nvPr/>
        </p:nvSpPr>
        <p:spPr>
          <a:xfrm>
            <a:off x="4229100" y="3931919"/>
            <a:ext cx="3276600" cy="1143000"/>
          </a:xfrm>
          <a:prstGeom prst="roundRect">
            <a:avLst>
              <a:gd name="adj" fmla="val 8666"/>
            </a:avLst>
          </a:prstGeom>
          <a:solidFill>
            <a:srgbClr val="FFFFFF"/>
          </a:solidFill>
          <a:ln w="7620">
            <a:solidFill>
              <a:srgbClr val="315E9C"/>
            </a:solidFill>
          </a:ln>
          <a:effectLst/>
        </p:spPr>
        <p:txBody>
          <a:bodyPr rtlCol="0" anchor="ctr"/>
          <a:lstStyle/>
          <a:p>
            <a:pPr algn="ctr"/>
          </a:p>
        </p:txBody>
      </p:sp>
      <p:sp>
        <p:nvSpPr>
          <p:cNvPr id="17" name="TextBox 16"/>
          <p:cNvSpPr txBox="1"/>
          <p:nvPr/>
        </p:nvSpPr>
        <p:spPr>
          <a:xfrm>
            <a:off x="4396740" y="4099560"/>
            <a:ext cx="29413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C4 · Controller</a:t>
            </a:r>
          </a:p>
        </p:txBody>
      </p:sp>
      <p:sp>
        <p:nvSpPr>
          <p:cNvPr id="18" name="TextBox 17"/>
          <p:cNvSpPr txBox="1"/>
          <p:nvPr/>
        </p:nvSpPr>
        <p:spPr>
          <a:xfrm>
            <a:off x="4396740" y="445861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Budgets + progress +</a:t>
            </a:r>
          </a:p>
        </p:txBody>
      </p:sp>
      <p:sp>
        <p:nvSpPr>
          <p:cNvPr id="19" name="TextBox 18"/>
          <p:cNvSpPr txBox="1"/>
          <p:nvPr/>
        </p:nvSpPr>
        <p:spPr>
          <a:xfrm>
            <a:off x="4396740" y="4702454"/>
            <a:ext cx="2941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feedback</a:t>
            </a:r>
          </a:p>
        </p:txBody>
      </p:sp>
      <p:sp>
        <p:nvSpPr>
          <p:cNvPr id="20" name="Rounded Rectangle 19"/>
          <p:cNvSpPr/>
          <p:nvPr/>
        </p:nvSpPr>
        <p:spPr>
          <a:xfrm>
            <a:off x="8244839" y="1851659"/>
            <a:ext cx="3398519" cy="1615439"/>
          </a:xfrm>
          <a:prstGeom prst="roundRect">
            <a:avLst>
              <a:gd name="adj" fmla="val 6132"/>
            </a:avLst>
          </a:prstGeom>
          <a:solidFill>
            <a:srgbClr val="DCEFE8"/>
          </a:solidFill>
          <a:ln w="7620">
            <a:solidFill>
              <a:srgbClr val="007C78"/>
            </a:solidFill>
          </a:ln>
          <a:effectLst/>
        </p:spPr>
        <p:txBody>
          <a:bodyPr rtlCol="0" anchor="ctr"/>
          <a:lstStyle/>
          <a:p>
            <a:pPr algn="ctr"/>
          </a:p>
        </p:txBody>
      </p:sp>
      <p:sp>
        <p:nvSpPr>
          <p:cNvPr id="21" name="TextBox 20"/>
          <p:cNvSpPr txBox="1"/>
          <p:nvPr/>
        </p:nvSpPr>
        <p:spPr>
          <a:xfrm>
            <a:off x="8412480" y="2019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Public Hive receipt</a:t>
            </a:r>
          </a:p>
        </p:txBody>
      </p:sp>
      <p:sp>
        <p:nvSpPr>
          <p:cNvPr id="22" name="TextBox 21"/>
          <p:cNvSpPr txBox="1"/>
          <p:nvPr/>
        </p:nvSpPr>
        <p:spPr>
          <a:xfrm>
            <a:off x="8412480" y="2407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counters, status</a:t>
            </a:r>
          </a:p>
        </p:txBody>
      </p:sp>
      <p:sp>
        <p:nvSpPr>
          <p:cNvPr id="23" name="TextBox 22"/>
          <p:cNvSpPr txBox="1"/>
          <p:nvPr/>
        </p:nvSpPr>
        <p:spPr>
          <a:xfrm>
            <a:off x="8412480" y="26807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public command receipt</a:t>
            </a:r>
          </a:p>
        </p:txBody>
      </p:sp>
      <p:sp>
        <p:nvSpPr>
          <p:cNvPr id="24" name="TextBox 23"/>
          <p:cNvSpPr txBox="1"/>
          <p:nvPr/>
        </p:nvSpPr>
        <p:spPr>
          <a:xfrm>
            <a:off x="8412480" y="2953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ID.</a:t>
            </a:r>
          </a:p>
        </p:txBody>
      </p:sp>
      <p:sp>
        <p:nvSpPr>
          <p:cNvPr id="25" name="Rounded Rectangle 24"/>
          <p:cNvSpPr/>
          <p:nvPr/>
        </p:nvSpPr>
        <p:spPr>
          <a:xfrm>
            <a:off x="8244839" y="3756660"/>
            <a:ext cx="3398519" cy="1805939"/>
          </a:xfrm>
          <a:prstGeom prst="roundRect">
            <a:avLst>
              <a:gd name="adj" fmla="val 5485"/>
            </a:avLst>
          </a:prstGeom>
          <a:solidFill>
            <a:srgbClr val="F3E7CE"/>
          </a:solidFill>
          <a:ln w="7620">
            <a:solidFill>
              <a:srgbClr val="A86A15"/>
            </a:solidFill>
          </a:ln>
          <a:effectLst/>
        </p:spPr>
        <p:txBody>
          <a:bodyPr rtlCol="0" anchor="ctr"/>
          <a:lstStyle/>
          <a:p>
            <a:pPr algn="ctr"/>
          </a:p>
        </p:txBody>
      </p:sp>
      <p:sp>
        <p:nvSpPr>
          <p:cNvPr id="26" name="TextBox 25"/>
          <p:cNvSpPr txBox="1"/>
          <p:nvPr/>
        </p:nvSpPr>
        <p:spPr>
          <a:xfrm>
            <a:off x="8412480" y="3924300"/>
            <a:ext cx="306324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Private trace</a:t>
            </a:r>
          </a:p>
        </p:txBody>
      </p:sp>
      <p:sp>
        <p:nvSpPr>
          <p:cNvPr id="27" name="TextBox 26"/>
          <p:cNvSpPr txBox="1"/>
          <p:nvPr/>
        </p:nvSpPr>
        <p:spPr>
          <a:xfrm>
            <a:off x="8412480" y="4312615"/>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Task/support hashes,</a:t>
            </a:r>
          </a:p>
        </p:txBody>
      </p:sp>
      <p:sp>
        <p:nvSpPr>
          <p:cNvPr id="28" name="TextBox 27"/>
          <p:cNvSpPr txBox="1"/>
          <p:nvPr/>
        </p:nvSpPr>
        <p:spPr>
          <a:xfrm>
            <a:off x="8412480" y="45857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premises, lineage, attention</a:t>
            </a:r>
          </a:p>
        </p:txBody>
      </p:sp>
      <p:sp>
        <p:nvSpPr>
          <p:cNvPr id="29" name="TextBox 28"/>
          <p:cNvSpPr txBox="1"/>
          <p:nvPr/>
        </p:nvSpPr>
        <p:spPr>
          <a:xfrm>
            <a:off x="8412480" y="4858816"/>
            <a:ext cx="306324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payloads stay private.</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Shared M1 wire and DA contracts stay unchanged; every owner rechecks current authorization.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cognition.py · inference_program/program.py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17 / 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02 / CONTRACT DECISIONS BEFORE BEHAVIOR</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Executable contracts make the inference step finite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supported task is explicit, immutable and grounded before the controller starts.</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a:t>
            </a:r>
          </a:p>
        </p:txBody>
      </p:sp>
      <p:sp>
        <p:nvSpPr>
          <p:cNvPr id="6" name="TextBox 5"/>
          <p:cNvSpPr txBox="1"/>
          <p:nvPr/>
        </p:nvSpPr>
        <p:spPr>
          <a:xfrm>
            <a:off x="3185160" y="1790700"/>
            <a:ext cx="4518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WHAT IS FIXED</a:t>
            </a:r>
          </a:p>
        </p:txBody>
      </p:sp>
      <p:sp>
        <p:nvSpPr>
          <p:cNvPr id="7" name="TextBox 6"/>
          <p:cNvSpPr txBox="1"/>
          <p:nvPr/>
        </p:nvSpPr>
        <p:spPr>
          <a:xfrm>
            <a:off x="7947659" y="1790700"/>
            <a:ext cx="3573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MATTERS</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Context + task</a:t>
            </a:r>
          </a:p>
        </p:txBody>
      </p:sp>
      <p:sp>
        <p:nvSpPr>
          <p:cNvPr id="10" name="TextBox 9"/>
          <p:cNvSpPr txBox="1"/>
          <p:nvPr/>
        </p:nvSpPr>
        <p:spPr>
          <a:xfrm>
            <a:off x="3185160" y="224028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context; exact role references</a:t>
            </a:r>
          </a:p>
        </p:txBody>
      </p:sp>
      <p:sp>
        <p:nvSpPr>
          <p:cNvPr id="11" name="TextBox 10"/>
          <p:cNvSpPr txBox="1"/>
          <p:nvPr/>
        </p:nvSpPr>
        <p:spPr>
          <a:xfrm>
            <a:off x="7947659" y="224028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Labels cannot merge distinct identities</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Workset</a:t>
            </a:r>
          </a:p>
        </p:txBody>
      </p:sp>
      <p:sp>
        <p:nvSpPr>
          <p:cNvPr id="14" name="TextBox 13"/>
          <p:cNvSpPr txBox="1"/>
          <p:nvPr/>
        </p:nvSpPr>
        <p:spPr>
          <a:xfrm>
            <a:off x="3185160" y="293370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1–16 unique immutable tasks</a:t>
            </a:r>
          </a:p>
        </p:txBody>
      </p:sp>
      <p:sp>
        <p:nvSpPr>
          <p:cNvPr id="15" name="TextBox 14"/>
          <p:cNvSpPr txBox="1"/>
          <p:nvPr/>
        </p:nvSpPr>
        <p:spPr>
          <a:xfrm>
            <a:off x="7947659" y="293370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search or automatic task</a:t>
            </a:r>
          </a:p>
        </p:txBody>
      </p:sp>
      <p:sp>
        <p:nvSpPr>
          <p:cNvPr id="16" name="TextBox 15"/>
          <p:cNvSpPr txBox="1"/>
          <p:nvPr/>
        </p:nvSpPr>
        <p:spPr>
          <a:xfrm>
            <a:off x="7947659" y="316778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expansion</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Premise snapshot</a:t>
            </a:r>
          </a:p>
        </p:txBody>
      </p:sp>
      <p:sp>
        <p:nvSpPr>
          <p:cNvPr id="19" name="TextBox 18"/>
          <p:cNvSpPr txBox="1"/>
          <p:nvPr/>
        </p:nvSpPr>
        <p:spPr>
          <a:xfrm>
            <a:off x="3185160" y="3627119"/>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Claim / context / revision / support ID</a:t>
            </a:r>
          </a:p>
        </p:txBody>
      </p:sp>
      <p:sp>
        <p:nvSpPr>
          <p:cNvPr id="20" name="TextBox 19"/>
          <p:cNvSpPr txBox="1"/>
          <p:nvPr/>
        </p:nvSpPr>
        <p:spPr>
          <a:xfrm>
            <a:off x="7947659" y="3627119"/>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silent substitution with latest state</a:t>
            </a:r>
          </a:p>
        </p:txBody>
      </p:sp>
      <p:sp>
        <p:nvSpPr>
          <p:cNvPr id="21" name="Rounded Rectangle 20"/>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2" name="TextBox 21"/>
          <p:cNvSpPr txBox="1"/>
          <p:nvPr/>
        </p:nvSpPr>
        <p:spPr>
          <a:xfrm>
            <a:off x="670560" y="43205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Derived support</a:t>
            </a:r>
          </a:p>
        </p:txBody>
      </p:sp>
      <p:sp>
        <p:nvSpPr>
          <p:cNvPr id="23" name="TextBox 22"/>
          <p:cNvSpPr txBox="1"/>
          <p:nvPr/>
        </p:nvSpPr>
        <p:spPr>
          <a:xfrm>
            <a:off x="3185160" y="432054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Closed tag + inherited roots / ancestry</a:t>
            </a:r>
          </a:p>
        </p:txBody>
      </p:sp>
      <p:sp>
        <p:nvSpPr>
          <p:cNvPr id="24" name="TextBox 23"/>
          <p:cNvSpPr txBox="1"/>
          <p:nvPr/>
        </p:nvSpPr>
        <p:spPr>
          <a:xfrm>
            <a:off x="7947659" y="432054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fresh observation or evidence</a:t>
            </a:r>
          </a:p>
        </p:txBody>
      </p:sp>
      <p:sp>
        <p:nvSpPr>
          <p:cNvPr id="25" name="TextBox 24"/>
          <p:cNvSpPr txBox="1"/>
          <p:nvPr/>
        </p:nvSpPr>
        <p:spPr>
          <a:xfrm>
            <a:off x="7947659" y="455462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count</a:t>
            </a:r>
          </a:p>
        </p:txBody>
      </p:sp>
      <p:sp>
        <p:nvSpPr>
          <p:cNvPr id="26" name="Rounded Rectangle 25"/>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7" name="TextBox 26"/>
          <p:cNvSpPr txBox="1"/>
          <p:nvPr/>
        </p:nvSpPr>
        <p:spPr>
          <a:xfrm>
            <a:off x="670560" y="50139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Work budget</a:t>
            </a:r>
          </a:p>
        </p:txBody>
      </p:sp>
      <p:sp>
        <p:nvSpPr>
          <p:cNvPr id="28" name="TextBox 27"/>
          <p:cNvSpPr txBox="1"/>
          <p:nvPr/>
        </p:nvSpPr>
        <p:spPr>
          <a:xfrm>
            <a:off x="3185160" y="501396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Candidates, attempts, generation, deadline</a:t>
            </a:r>
          </a:p>
        </p:txBody>
      </p:sp>
      <p:sp>
        <p:nvSpPr>
          <p:cNvPr id="29" name="TextBox 28"/>
          <p:cNvSpPr txBox="1"/>
          <p:nvPr/>
        </p:nvSpPr>
        <p:spPr>
          <a:xfrm>
            <a:off x="7947659" y="501396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Restart cannot silently refill the</a:t>
            </a:r>
          </a:p>
        </p:txBody>
      </p:sp>
      <p:sp>
        <p:nvSpPr>
          <p:cNvPr id="30" name="TextBox 29"/>
          <p:cNvSpPr txBox="1"/>
          <p:nvPr/>
        </p:nvSpPr>
        <p:spPr>
          <a:xfrm>
            <a:off x="7947659" y="524804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allowance</a:t>
            </a:r>
          </a:p>
        </p:txBody>
      </p:sp>
      <p:sp>
        <p:nvSpPr>
          <p:cNvPr id="31" name="Rounded Rectangle 3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2" name="TextBox 31"/>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Profile mismatch, malformed response or changed semantic intent fails explicitly.</a:t>
            </a:r>
          </a:p>
        </p:txBody>
      </p:sp>
      <p:cxnSp>
        <p:nvCxnSpPr>
          <p:cNvPr id="33" name="Connector 32"/>
          <p:cNvCxnSpPr/>
          <p:nvPr/>
        </p:nvCxnSpPr>
        <p:spPr>
          <a:xfrm>
            <a:off x="548640" y="6393180"/>
            <a:ext cx="11094720" cy="0"/>
          </a:xfrm>
          <a:prstGeom prst="line">
            <a:avLst/>
          </a:prstGeom>
          <a:ln w="7620">
            <a:solidFill>
              <a:srgbClr val="C9D2D4"/>
            </a:solidFill>
          </a:ln>
          <a:effectLst/>
        </p:spPr>
      </p:cxnSp>
      <p:sp>
        <p:nvSpPr>
          <p:cNvPr id="34" name="TextBox 3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attention_contracts.py · cognition_contracts.py</a:t>
            </a:r>
          </a:p>
        </p:txBody>
      </p:sp>
      <p:sp>
        <p:nvSpPr>
          <p:cNvPr id="35" name="TextBox 3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18 / 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EPISODIC MEMORY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one occurrence, one position in the story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Immutable event atoms sit behind a stable episode identity and a committed sequence.</a:t>
            </a:r>
          </a:p>
        </p:txBody>
      </p:sp>
      <p:sp>
        <p:nvSpPr>
          <p:cNvPr id="5" name="Rounded Rectangle 4"/>
          <p:cNvSpPr/>
          <p:nvPr/>
        </p:nvSpPr>
        <p:spPr>
          <a:xfrm>
            <a:off x="548640" y="1798320"/>
            <a:ext cx="2533635" cy="304800"/>
          </a:xfrm>
          <a:prstGeom prst="roundRect">
            <a:avLst>
              <a:gd name="adj" fmla="val 17500"/>
            </a:avLst>
          </a:prstGeom>
          <a:solidFill>
            <a:srgbClr val="E4EBF5"/>
          </a:solidFill>
          <a:ln>
            <a:noFill/>
          </a:ln>
          <a:effectLst/>
        </p:spPr>
        <p:txBody>
          <a:bodyPr rtlCol="0" anchor="ctr"/>
          <a:lstStyle/>
          <a:p>
            <a:pPr algn="ctr"/>
          </a:p>
        </p:txBody>
      </p:sp>
      <p:sp>
        <p:nvSpPr>
          <p:cNvPr id="6" name="TextBox 5"/>
          <p:cNvSpPr txBox="1"/>
          <p:nvPr/>
        </p:nvSpPr>
        <p:spPr>
          <a:xfrm>
            <a:off x="655320" y="1851659"/>
            <a:ext cx="2343135"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315E9C"/>
                </a:solidFill>
                <a:latin typeface="DejaVu Sans"/>
              </a:rPr>
              <a:t>EpisodeRef = scope + ID</a:t>
            </a:r>
          </a:p>
        </p:txBody>
      </p:sp>
      <p:sp>
        <p:nvSpPr>
          <p:cNvPr id="7" name="Rounded Rectangle 6"/>
          <p:cNvSpPr/>
          <p:nvPr/>
        </p:nvSpPr>
        <p:spPr>
          <a:xfrm>
            <a:off x="5486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8" name="TextBox 7"/>
          <p:cNvSpPr txBox="1"/>
          <p:nvPr/>
        </p:nvSpPr>
        <p:spPr>
          <a:xfrm>
            <a:off x="7162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Report</a:t>
            </a:r>
          </a:p>
        </p:txBody>
      </p:sp>
      <p:sp>
        <p:nvSpPr>
          <p:cNvPr id="9" name="TextBox 8"/>
          <p:cNvSpPr txBox="1"/>
          <p:nvPr/>
        </p:nvSpPr>
        <p:spPr>
          <a:xfrm>
            <a:off x="7162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No numerical claim</a:t>
            </a:r>
          </a:p>
        </p:txBody>
      </p:sp>
      <p:cxnSp>
        <p:nvCxnSpPr>
          <p:cNvPr id="10" name="Connector 9"/>
          <p:cNvCxnSpPr/>
          <p:nvPr/>
        </p:nvCxnSpPr>
        <p:spPr>
          <a:xfrm>
            <a:off x="3185160" y="3147060"/>
            <a:ext cx="144780" cy="0"/>
          </a:xfrm>
          <a:prstGeom prst="line">
            <a:avLst/>
          </a:prstGeom>
          <a:ln w="15240">
            <a:solidFill>
              <a:srgbClr val="315E9C"/>
            </a:solidFill>
          </a:ln>
          <a:effectLst/>
        </p:spPr>
      </p:cxnSp>
      <p:sp>
        <p:nvSpPr>
          <p:cNvPr id="11" name="Freeform 10"/>
          <p:cNvSpPr/>
          <p:nvPr/>
        </p:nvSpPr>
        <p:spPr>
          <a:xfrm>
            <a:off x="32308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33680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3535679"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2 · Assessment</a:t>
            </a:r>
          </a:p>
        </p:txBody>
      </p:sp>
      <p:sp>
        <p:nvSpPr>
          <p:cNvPr id="14" name="TextBox 13"/>
          <p:cNvSpPr txBox="1"/>
          <p:nvPr/>
        </p:nvSpPr>
        <p:spPr>
          <a:xfrm>
            <a:off x="3535679"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Explicit strength /</a:t>
            </a:r>
          </a:p>
        </p:txBody>
      </p:sp>
      <p:sp>
        <p:nvSpPr>
          <p:cNvPr id="15" name="TextBox 14"/>
          <p:cNvSpPr txBox="1"/>
          <p:nvPr/>
        </p:nvSpPr>
        <p:spPr>
          <a:xfrm>
            <a:off x="3535679" y="3233928"/>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confidence</a:t>
            </a:r>
          </a:p>
        </p:txBody>
      </p:sp>
      <p:cxnSp>
        <p:nvCxnSpPr>
          <p:cNvPr id="16" name="Connector 15"/>
          <p:cNvCxnSpPr/>
          <p:nvPr/>
        </p:nvCxnSpPr>
        <p:spPr>
          <a:xfrm>
            <a:off x="6004559" y="3147060"/>
            <a:ext cx="144781" cy="0"/>
          </a:xfrm>
          <a:prstGeom prst="line">
            <a:avLst/>
          </a:prstGeom>
          <a:ln w="15240">
            <a:solidFill>
              <a:srgbClr val="315E9C"/>
            </a:solidFill>
          </a:ln>
          <a:effectLst/>
        </p:spPr>
      </p:cxnSp>
      <p:sp>
        <p:nvSpPr>
          <p:cNvPr id="17" name="Freeform 16"/>
          <p:cNvSpPr/>
          <p:nvPr/>
        </p:nvSpPr>
        <p:spPr>
          <a:xfrm>
            <a:off x="60502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8" name="Rounded Rectangle 17"/>
          <p:cNvSpPr/>
          <p:nvPr/>
        </p:nvSpPr>
        <p:spPr>
          <a:xfrm>
            <a:off x="61874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63550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3 · Copy</a:t>
            </a:r>
          </a:p>
        </p:txBody>
      </p:sp>
      <p:sp>
        <p:nvSpPr>
          <p:cNvPr id="20" name="TextBox 19"/>
          <p:cNvSpPr txBox="1"/>
          <p:nvPr/>
        </p:nvSpPr>
        <p:spPr>
          <a:xfrm>
            <a:off x="63550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Inherits original roots</a:t>
            </a:r>
          </a:p>
        </p:txBody>
      </p:sp>
      <p:cxnSp>
        <p:nvCxnSpPr>
          <p:cNvPr id="21" name="Connector 20"/>
          <p:cNvCxnSpPr/>
          <p:nvPr/>
        </p:nvCxnSpPr>
        <p:spPr>
          <a:xfrm>
            <a:off x="8823960" y="3147060"/>
            <a:ext cx="144780" cy="0"/>
          </a:xfrm>
          <a:prstGeom prst="line">
            <a:avLst/>
          </a:prstGeom>
          <a:ln w="15240">
            <a:solidFill>
              <a:srgbClr val="315E9C"/>
            </a:solidFill>
          </a:ln>
          <a:effectLst/>
        </p:spPr>
      </p:cxnSp>
      <p:sp>
        <p:nvSpPr>
          <p:cNvPr id="22" name="Freeform 21"/>
          <p:cNvSpPr/>
          <p:nvPr/>
        </p:nvSpPr>
        <p:spPr>
          <a:xfrm>
            <a:off x="8869680" y="31089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3" name="Rounded Rectangle 22"/>
          <p:cNvSpPr/>
          <p:nvPr/>
        </p:nvSpPr>
        <p:spPr>
          <a:xfrm>
            <a:off x="9006840" y="2453640"/>
            <a:ext cx="2636520" cy="1386840"/>
          </a:xfrm>
          <a:prstGeom prst="roundRect">
            <a:avLst>
              <a:gd name="adj" fmla="val 7142"/>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9174480" y="262128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Contrary</a:t>
            </a:r>
          </a:p>
        </p:txBody>
      </p:sp>
      <p:sp>
        <p:nvSpPr>
          <p:cNvPr id="25" name="TextBox 24"/>
          <p:cNvSpPr txBox="1"/>
          <p:nvPr/>
        </p:nvSpPr>
        <p:spPr>
          <a:xfrm>
            <a:off x="9174480" y="2980334"/>
            <a:ext cx="23012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Kept in the history</a:t>
            </a:r>
          </a:p>
        </p:txBody>
      </p:sp>
      <p:sp>
        <p:nvSpPr>
          <p:cNvPr id="26" name="Rounded Rectangle 25"/>
          <p:cNvSpPr/>
          <p:nvPr/>
        </p:nvSpPr>
        <p:spPr>
          <a:xfrm>
            <a:off x="548640" y="4236720"/>
            <a:ext cx="5364480" cy="1287780"/>
          </a:xfrm>
          <a:prstGeom prst="roundRect">
            <a:avLst>
              <a:gd name="adj" fmla="val 7692"/>
            </a:avLst>
          </a:prstGeom>
          <a:solidFill>
            <a:srgbClr val="DCEFE8"/>
          </a:solidFill>
          <a:ln w="7620">
            <a:solidFill>
              <a:srgbClr val="007C78"/>
            </a:solidFill>
          </a:ln>
          <a:effectLst/>
        </p:spPr>
        <p:txBody>
          <a:bodyPr rtlCol="0" anchor="ctr"/>
          <a:lstStyle/>
          <a:p>
            <a:pPr algn="ctr"/>
          </a:p>
        </p:txBody>
      </p:sp>
      <p:sp>
        <p:nvSpPr>
          <p:cNvPr id="27" name="TextBox 26"/>
          <p:cNvSpPr txBox="1"/>
          <p:nvPr/>
        </p:nvSpPr>
        <p:spPr>
          <a:xfrm>
            <a:off x="716280" y="440436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Same occurrence + same body</a:t>
            </a:r>
          </a:p>
        </p:txBody>
      </p:sp>
      <p:sp>
        <p:nvSpPr>
          <p:cNvPr id="28" name="TextBox 27"/>
          <p:cNvSpPr txBox="1"/>
          <p:nvPr/>
        </p:nvSpPr>
        <p:spPr>
          <a:xfrm>
            <a:off x="716280" y="4763414"/>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Return the original receipt, even under a new</a:t>
            </a:r>
          </a:p>
        </p:txBody>
      </p:sp>
      <p:sp>
        <p:nvSpPr>
          <p:cNvPr id="29" name="TextBox 28"/>
          <p:cNvSpPr txBox="1"/>
          <p:nvPr/>
        </p:nvSpPr>
        <p:spPr>
          <a:xfrm>
            <a:off x="716280" y="5017008"/>
            <a:ext cx="5029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request key. The head does not advance.</a:t>
            </a:r>
          </a:p>
        </p:txBody>
      </p:sp>
      <p:sp>
        <p:nvSpPr>
          <p:cNvPr id="30" name="Rounded Rectangle 29"/>
          <p:cNvSpPr/>
          <p:nvPr/>
        </p:nvSpPr>
        <p:spPr>
          <a:xfrm>
            <a:off x="6096000" y="4236720"/>
            <a:ext cx="5547360" cy="1287780"/>
          </a:xfrm>
          <a:prstGeom prst="roundRect">
            <a:avLst>
              <a:gd name="adj" fmla="val 7692"/>
            </a:avLst>
          </a:prstGeom>
          <a:solidFill>
            <a:srgbClr val="F3E7CE"/>
          </a:solidFill>
          <a:ln w="7620">
            <a:solidFill>
              <a:srgbClr val="A86A15"/>
            </a:solidFill>
          </a:ln>
          <a:effectLst/>
        </p:spPr>
        <p:txBody>
          <a:bodyPr rtlCol="0" anchor="ctr"/>
          <a:lstStyle/>
          <a:p>
            <a:pPr algn="ctr"/>
          </a:p>
        </p:txBody>
      </p:sp>
      <p:sp>
        <p:nvSpPr>
          <p:cNvPr id="31" name="TextBox 30"/>
          <p:cNvSpPr txBox="1"/>
          <p:nvPr/>
        </p:nvSpPr>
        <p:spPr>
          <a:xfrm>
            <a:off x="6263640" y="4404360"/>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A86A15"/>
                </a:solidFill>
                <a:latin typeface="DejaVu Sans"/>
              </a:rPr>
              <a:t>Same occurrence + changed meaning</a:t>
            </a:r>
          </a:p>
        </p:txBody>
      </p:sp>
      <p:sp>
        <p:nvSpPr>
          <p:cNvPr id="32" name="TextBox 31"/>
          <p:cNvSpPr txBox="1"/>
          <p:nvPr/>
        </p:nvSpPr>
        <p:spPr>
          <a:xfrm>
            <a:off x="6263640" y="4753660"/>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Conflict on body or provenance changes. Distinct</a:t>
            </a:r>
          </a:p>
        </p:txBody>
      </p:sp>
      <p:sp>
        <p:nvSpPr>
          <p:cNvPr id="33" name="TextBox 32"/>
          <p:cNvSpPr txBox="1"/>
          <p:nvPr/>
        </p:nvSpPr>
        <p:spPr>
          <a:xfrm>
            <a:off x="6263640" y="5007254"/>
            <a:ext cx="52120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real occurrences may share identical bytes.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C1 commits event + evidence intent together; AtomStorage has already committed independently.</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episodes.py · tests/test_m2.py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19 / 64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EVIDENCE DELIVERY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C1 delivery closes without understanding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Completion attests durable processing. Belief support and numerical truth remain C2 responsibilities.</a:t>
            </a:r>
          </a:p>
        </p:txBody>
      </p:sp>
      <p:sp>
        <p:nvSpPr>
          <p:cNvPr id="5" name="Rounded Rectangle 4"/>
          <p:cNvSpPr/>
          <p:nvPr/>
        </p:nvSpPr>
        <p:spPr>
          <a:xfrm>
            <a:off x="54864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C1 event</a:t>
            </a:r>
          </a:p>
        </p:txBody>
      </p:sp>
      <p:sp>
        <p:nvSpPr>
          <p:cNvPr id="7" name="TextBox 6"/>
          <p:cNvSpPr txBox="1"/>
          <p:nvPr/>
        </p:nvSpPr>
        <p:spPr>
          <a:xfrm>
            <a:off x="71628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Event + delivery</a:t>
            </a:r>
          </a:p>
        </p:txBody>
      </p:sp>
      <p:sp>
        <p:nvSpPr>
          <p:cNvPr id="8" name="TextBox 7"/>
          <p:cNvSpPr txBox="1"/>
          <p:nvPr/>
        </p:nvSpPr>
        <p:spPr>
          <a:xfrm>
            <a:off x="71628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intent</a:t>
            </a:r>
          </a:p>
        </p:txBody>
      </p:sp>
      <p:cxnSp>
        <p:nvCxnSpPr>
          <p:cNvPr id="9" name="Connector 8"/>
          <p:cNvCxnSpPr/>
          <p:nvPr/>
        </p:nvCxnSpPr>
        <p:spPr>
          <a:xfrm>
            <a:off x="2682240" y="2682240"/>
            <a:ext cx="83820" cy="0"/>
          </a:xfrm>
          <a:prstGeom prst="line">
            <a:avLst/>
          </a:prstGeom>
          <a:ln w="15240">
            <a:solidFill>
              <a:srgbClr val="536775"/>
            </a:solidFill>
          </a:ln>
          <a:effectLst/>
        </p:spPr>
      </p:cxnSp>
      <p:sp>
        <p:nvSpPr>
          <p:cNvPr id="10" name="Freeform 9"/>
          <p:cNvSpPr/>
          <p:nvPr/>
        </p:nvSpPr>
        <p:spPr>
          <a:xfrm>
            <a:off x="266700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1" name="Rounded Rectangle 10"/>
          <p:cNvSpPr/>
          <p:nvPr/>
        </p:nvSpPr>
        <p:spPr>
          <a:xfrm>
            <a:off x="278892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12" name="TextBox 11"/>
          <p:cNvSpPr txBox="1"/>
          <p:nvPr/>
        </p:nvSpPr>
        <p:spPr>
          <a:xfrm>
            <a:off x="295656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C2 decision</a:t>
            </a:r>
          </a:p>
        </p:txBody>
      </p:sp>
      <p:sp>
        <p:nvSpPr>
          <p:cNvPr id="13" name="TextBox 12"/>
          <p:cNvSpPr txBox="1"/>
          <p:nvPr/>
        </p:nvSpPr>
        <p:spPr>
          <a:xfrm>
            <a:off x="295656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Full</a:t>
            </a:r>
          </a:p>
        </p:txBody>
      </p:sp>
      <p:sp>
        <p:nvSpPr>
          <p:cNvPr id="14" name="TextBox 13"/>
          <p:cNvSpPr txBox="1"/>
          <p:nvPr/>
        </p:nvSpPr>
        <p:spPr>
          <a:xfrm>
            <a:off x="295656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selected-profile</a:t>
            </a:r>
          </a:p>
        </p:txBody>
      </p:sp>
      <p:sp>
        <p:nvSpPr>
          <p:cNvPr id="15" name="TextBox 14"/>
          <p:cNvSpPr txBox="1"/>
          <p:nvPr/>
        </p:nvSpPr>
        <p:spPr>
          <a:xfrm>
            <a:off x="2956560" y="2937052"/>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cxnSp>
        <p:nvCxnSpPr>
          <p:cNvPr id="16" name="Connector 15"/>
          <p:cNvCxnSpPr/>
          <p:nvPr/>
        </p:nvCxnSpPr>
        <p:spPr>
          <a:xfrm>
            <a:off x="4922520" y="2682240"/>
            <a:ext cx="83820" cy="0"/>
          </a:xfrm>
          <a:prstGeom prst="line">
            <a:avLst/>
          </a:prstGeom>
          <a:ln w="15240">
            <a:solidFill>
              <a:srgbClr val="536775"/>
            </a:solidFill>
          </a:ln>
          <a:effectLst/>
        </p:spPr>
      </p:cxnSp>
      <p:sp>
        <p:nvSpPr>
          <p:cNvPr id="17" name="Freeform 16"/>
          <p:cNvSpPr/>
          <p:nvPr/>
        </p:nvSpPr>
        <p:spPr>
          <a:xfrm>
            <a:off x="490728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8" name="Rounded Rectangle 17"/>
          <p:cNvSpPr/>
          <p:nvPr/>
        </p:nvSpPr>
        <p:spPr>
          <a:xfrm>
            <a:off x="502920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19" name="TextBox 18"/>
          <p:cNvSpPr txBox="1"/>
          <p:nvPr/>
        </p:nvSpPr>
        <p:spPr>
          <a:xfrm>
            <a:off x="519684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 decision</a:t>
            </a:r>
          </a:p>
        </p:txBody>
      </p:sp>
      <p:sp>
        <p:nvSpPr>
          <p:cNvPr id="20" name="TextBox 19"/>
          <p:cNvSpPr txBox="1"/>
          <p:nvPr/>
        </p:nvSpPr>
        <p:spPr>
          <a:xfrm>
            <a:off x="5196840" y="246888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Validate + save</a:t>
            </a:r>
          </a:p>
        </p:txBody>
      </p:sp>
      <p:sp>
        <p:nvSpPr>
          <p:cNvPr id="21" name="TextBox 20"/>
          <p:cNvSpPr txBox="1"/>
          <p:nvPr/>
        </p:nvSpPr>
        <p:spPr>
          <a:xfrm>
            <a:off x="5196840" y="270296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completion</a:t>
            </a:r>
          </a:p>
        </p:txBody>
      </p:sp>
      <p:cxnSp>
        <p:nvCxnSpPr>
          <p:cNvPr id="22" name="Connector 21"/>
          <p:cNvCxnSpPr/>
          <p:nvPr/>
        </p:nvCxnSpPr>
        <p:spPr>
          <a:xfrm>
            <a:off x="7162800" y="2682240"/>
            <a:ext cx="83820" cy="0"/>
          </a:xfrm>
          <a:prstGeom prst="line">
            <a:avLst/>
          </a:prstGeom>
          <a:ln w="15240">
            <a:solidFill>
              <a:srgbClr val="536775"/>
            </a:solidFill>
          </a:ln>
          <a:effectLst/>
        </p:spPr>
      </p:cxnSp>
      <p:sp>
        <p:nvSpPr>
          <p:cNvPr id="23" name="Freeform 22"/>
          <p:cNvSpPr/>
          <p:nvPr/>
        </p:nvSpPr>
        <p:spPr>
          <a:xfrm>
            <a:off x="714756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4" name="Rounded Rectangle 23"/>
          <p:cNvSpPr/>
          <p:nvPr/>
        </p:nvSpPr>
        <p:spPr>
          <a:xfrm>
            <a:off x="7269480" y="1981200"/>
            <a:ext cx="2133600" cy="1402080"/>
          </a:xfrm>
          <a:prstGeom prst="roundRect">
            <a:avLst>
              <a:gd name="adj" fmla="val 7065"/>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43712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C1</a:t>
            </a:r>
          </a:p>
        </p:txBody>
      </p:sp>
      <p:sp>
        <p:nvSpPr>
          <p:cNvPr id="26" name="TextBox 25"/>
          <p:cNvSpPr txBox="1"/>
          <p:nvPr/>
        </p:nvSpPr>
        <p:spPr>
          <a:xfrm>
            <a:off x="743712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007C78"/>
                </a:solidFill>
                <a:latin typeface="DejaVu Sans"/>
              </a:rPr>
              <a:t>acknowledgment</a:t>
            </a:r>
          </a:p>
        </p:txBody>
      </p:sp>
      <p:sp>
        <p:nvSpPr>
          <p:cNvPr id="27" name="TextBox 26"/>
          <p:cNvSpPr txBox="1"/>
          <p:nvPr/>
        </p:nvSpPr>
        <p:spPr>
          <a:xfrm>
            <a:off x="743712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identity +</a:t>
            </a:r>
          </a:p>
        </p:txBody>
      </p:sp>
      <p:sp>
        <p:nvSpPr>
          <p:cNvPr id="28" name="TextBox 27"/>
          <p:cNvSpPr txBox="1"/>
          <p:nvPr/>
        </p:nvSpPr>
        <p:spPr>
          <a:xfrm>
            <a:off x="743712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consumer</a:t>
            </a:r>
          </a:p>
        </p:txBody>
      </p:sp>
      <p:cxnSp>
        <p:nvCxnSpPr>
          <p:cNvPr id="29" name="Connector 28"/>
          <p:cNvCxnSpPr/>
          <p:nvPr/>
        </p:nvCxnSpPr>
        <p:spPr>
          <a:xfrm>
            <a:off x="9403080" y="2682240"/>
            <a:ext cx="83820" cy="0"/>
          </a:xfrm>
          <a:prstGeom prst="line">
            <a:avLst/>
          </a:prstGeom>
          <a:ln w="15240">
            <a:solidFill>
              <a:srgbClr val="536775"/>
            </a:solidFill>
          </a:ln>
          <a:effectLst/>
        </p:spPr>
      </p:cxnSp>
      <p:sp>
        <p:nvSpPr>
          <p:cNvPr id="30" name="Freeform 29"/>
          <p:cNvSpPr/>
          <p:nvPr/>
        </p:nvSpPr>
        <p:spPr>
          <a:xfrm>
            <a:off x="9387840" y="264414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31" name="Rounded Rectangle 30"/>
          <p:cNvSpPr/>
          <p:nvPr/>
        </p:nvSpPr>
        <p:spPr>
          <a:xfrm>
            <a:off x="9509760" y="1981200"/>
            <a:ext cx="2133600" cy="1402080"/>
          </a:xfrm>
          <a:prstGeom prst="roundRect">
            <a:avLst>
              <a:gd name="adj" fmla="val 7065"/>
            </a:avLst>
          </a:prstGeom>
          <a:solidFill>
            <a:srgbClr val="FFFFFF"/>
          </a:solidFill>
          <a:ln w="7620">
            <a:solidFill>
              <a:srgbClr val="315E9C"/>
            </a:solidFill>
          </a:ln>
          <a:effectLst/>
        </p:spPr>
        <p:txBody>
          <a:bodyPr rtlCol="0" anchor="ctr"/>
          <a:lstStyle/>
          <a:p>
            <a:pPr algn="ctr"/>
          </a:p>
        </p:txBody>
      </p:sp>
      <p:sp>
        <p:nvSpPr>
          <p:cNvPr id="32" name="TextBox 31"/>
          <p:cNvSpPr txBox="1"/>
          <p:nvPr/>
        </p:nvSpPr>
        <p:spPr>
          <a:xfrm>
            <a:off x="9677400" y="214884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Relay</a:t>
            </a:r>
          </a:p>
        </p:txBody>
      </p:sp>
      <p:sp>
        <p:nvSpPr>
          <p:cNvPr id="33" name="TextBox 32"/>
          <p:cNvSpPr txBox="1"/>
          <p:nvPr/>
        </p:nvSpPr>
        <p:spPr>
          <a:xfrm>
            <a:off x="9677400" y="2392680"/>
            <a:ext cx="17983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315E9C"/>
                </a:solidFill>
                <a:latin typeface="DejaVu Sans"/>
              </a:rPr>
              <a:t>acknowledgment</a:t>
            </a:r>
          </a:p>
        </p:txBody>
      </p:sp>
      <p:sp>
        <p:nvSpPr>
          <p:cNvPr id="34" name="TextBox 33"/>
          <p:cNvSpPr txBox="1"/>
          <p:nvPr/>
        </p:nvSpPr>
        <p:spPr>
          <a:xfrm>
            <a:off x="9677400" y="2712720"/>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Save progress;</a:t>
            </a:r>
          </a:p>
        </p:txBody>
      </p:sp>
      <p:sp>
        <p:nvSpPr>
          <p:cNvPr id="35" name="TextBox 34"/>
          <p:cNvSpPr txBox="1"/>
          <p:nvPr/>
        </p:nvSpPr>
        <p:spPr>
          <a:xfrm>
            <a:off x="9677400" y="2946806"/>
            <a:ext cx="179832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replies</a:t>
            </a:r>
          </a:p>
        </p:txBody>
      </p:sp>
      <p:sp>
        <p:nvSpPr>
          <p:cNvPr id="36" name="Rounded Rectangle 35"/>
          <p:cNvSpPr/>
          <p:nvPr/>
        </p:nvSpPr>
        <p:spPr>
          <a:xfrm>
            <a:off x="548640" y="3840479"/>
            <a:ext cx="5364480" cy="1699259"/>
          </a:xfrm>
          <a:prstGeom prst="roundRect">
            <a:avLst>
              <a:gd name="adj" fmla="val 5829"/>
            </a:avLst>
          </a:prstGeom>
          <a:solidFill>
            <a:srgbClr val="DCEFE8"/>
          </a:solidFill>
          <a:ln w="7620">
            <a:solidFill>
              <a:srgbClr val="007C78"/>
            </a:solidFill>
          </a:ln>
          <a:effectLst/>
        </p:spPr>
        <p:txBody>
          <a:bodyPr rtlCol="0" anchor="ctr"/>
          <a:lstStyle/>
          <a:p>
            <a:pPr algn="ctr"/>
          </a:p>
        </p:txBody>
      </p:sp>
      <p:sp>
        <p:nvSpPr>
          <p:cNvPr id="37" name="TextBox 36"/>
          <p:cNvSpPr txBox="1"/>
          <p:nvPr/>
        </p:nvSpPr>
        <p:spPr>
          <a:xfrm>
            <a:off x="716280" y="4008119"/>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33 events · one persistent episode</a:t>
            </a:r>
          </a:p>
        </p:txBody>
      </p:sp>
      <p:sp>
        <p:nvSpPr>
          <p:cNvPr id="38" name="TextBox 37"/>
          <p:cNvSpPr txBox="1"/>
          <p:nvPr/>
        </p:nvSpPr>
        <p:spPr>
          <a:xfrm>
            <a:off x="716280" y="4396435"/>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39" name="TextBox 38"/>
          <p:cNvSpPr txBox="1"/>
          <p:nvPr/>
        </p:nvSpPr>
        <p:spPr>
          <a:xfrm>
            <a:off x="716280" y="46695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16 → drain to 0</a:t>
            </a:r>
          </a:p>
        </p:txBody>
      </p:sp>
      <p:sp>
        <p:nvSpPr>
          <p:cNvPr id="40" name="TextBox 39"/>
          <p:cNvSpPr txBox="1"/>
          <p:nvPr/>
        </p:nvSpPr>
        <p:spPr>
          <a:xfrm>
            <a:off x="716280" y="4942636"/>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Append 1 → drain to 0</a:t>
            </a:r>
          </a:p>
        </p:txBody>
      </p:sp>
      <p:sp>
        <p:nvSpPr>
          <p:cNvPr id="41" name="Rounded Rectangle 40"/>
          <p:cNvSpPr/>
          <p:nvPr/>
        </p:nvSpPr>
        <p:spPr>
          <a:xfrm>
            <a:off x="6096000" y="3840479"/>
            <a:ext cx="5547360" cy="1699259"/>
          </a:xfrm>
          <a:prstGeom prst="roundRect">
            <a:avLst>
              <a:gd name="adj" fmla="val 5829"/>
            </a:avLst>
          </a:prstGeom>
          <a:solidFill>
            <a:srgbClr val="E4EBF5"/>
          </a:solidFill>
          <a:ln w="7620">
            <a:solidFill>
              <a:srgbClr val="315E9C"/>
            </a:solidFill>
          </a:ln>
          <a:effectLst/>
        </p:spPr>
        <p:txBody>
          <a:bodyPr rtlCol="0" anchor="ctr"/>
          <a:lstStyle/>
          <a:p>
            <a:pPr algn="ctr"/>
          </a:p>
        </p:txBody>
      </p:sp>
      <p:sp>
        <p:nvSpPr>
          <p:cNvPr id="42" name="TextBox 41"/>
          <p:cNvSpPr txBox="1"/>
          <p:nvPr/>
        </p:nvSpPr>
        <p:spPr>
          <a:xfrm>
            <a:off x="6263640" y="4008119"/>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Acknowledgment is model-independent</a:t>
            </a:r>
          </a:p>
        </p:txBody>
      </p:sp>
      <p:sp>
        <p:nvSpPr>
          <p:cNvPr id="43" name="TextBox 42"/>
          <p:cNvSpPr txBox="1"/>
          <p:nvPr/>
        </p:nvSpPr>
        <p:spPr>
          <a:xfrm>
            <a:off x="6263640" y="437692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trusted relay checks C2's full decision. C1</a:t>
            </a:r>
          </a:p>
        </p:txBody>
      </p:sp>
      <p:sp>
        <p:nvSpPr>
          <p:cNvPr id="44" name="TextBox 43"/>
          <p:cNvSpPr txBox="1"/>
          <p:nvPr/>
        </p:nvSpPr>
        <p:spPr>
          <a:xfrm>
            <a:off x="6263640" y="464027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checks its event, delivery, request and selected</a:t>
            </a:r>
          </a:p>
        </p:txBody>
      </p:sp>
      <p:sp>
        <p:nvSpPr>
          <p:cNvPr id="45" name="TextBox 44"/>
          <p:cNvSpPr txBox="1"/>
          <p:nvPr/>
        </p:nvSpPr>
        <p:spPr>
          <a:xfrm>
            <a:off x="6263640" y="490362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consumer; it parses no PLN snapshot.</a:t>
            </a:r>
          </a:p>
        </p:txBody>
      </p:sp>
      <p:sp>
        <p:nvSpPr>
          <p:cNvPr id="46" name="Rounded Rectangle 4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7" name="TextBox 46"/>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16 pending deliveries is still the bound. Draining frees pending capacity; episode lifetime stays 256 events.</a:t>
            </a:r>
          </a:p>
        </p:txBody>
      </p:sp>
      <p:cxnSp>
        <p:nvCxnSpPr>
          <p:cNvPr id="48" name="Connector 47"/>
          <p:cNvCxnSpPr/>
          <p:nvPr/>
        </p:nvCxnSpPr>
        <p:spPr>
          <a:xfrm>
            <a:off x="548640" y="6393180"/>
            <a:ext cx="11094720" cy="0"/>
          </a:xfrm>
          <a:prstGeom prst="line">
            <a:avLst/>
          </a:prstGeom>
          <a:ln w="7620">
            <a:solidFill>
              <a:srgbClr val="C9D2D4"/>
            </a:solidFill>
          </a:ln>
          <a:effectLst/>
        </p:spPr>
      </p:cxnSp>
      <p:sp>
        <p:nvSpPr>
          <p:cNvPr id="49" name="TextBox 4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delivery_contracts.py · evidence_relay.py · m3_1 evidence</a:t>
            </a:r>
          </a:p>
        </p:txBody>
      </p:sp>
      <p:sp>
        <p:nvSpPr>
          <p:cNvPr id="50" name="TextBox 4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20 / 64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BELIEF REVISION</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C2: admitting evidence and changing belief are separate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New observations remain visible even when they cannot change the current aggregate.</a:t>
            </a:r>
          </a:p>
        </p:txBody>
      </p:sp>
      <p:sp>
        <p:nvSpPr>
          <p:cNvPr id="5" name="Rounded Rectangle 4"/>
          <p:cNvSpPr/>
          <p:nvPr/>
        </p:nvSpPr>
        <p:spPr>
          <a:xfrm>
            <a:off x="548640" y="1920239"/>
            <a:ext cx="2895600" cy="1371600"/>
          </a:xfrm>
          <a:prstGeom prst="roundRect">
            <a:avLst>
              <a:gd name="adj" fmla="val 7222"/>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87880"/>
            <a:ext cx="25603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Evidence submission</a:t>
            </a:r>
          </a:p>
        </p:txBody>
      </p:sp>
      <p:sp>
        <p:nvSpPr>
          <p:cNvPr id="7" name="TextBox 6"/>
          <p:cNvSpPr txBox="1"/>
          <p:nvPr/>
        </p:nvSpPr>
        <p:spPr>
          <a:xfrm>
            <a:off x="716280" y="2437180"/>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C1 evidence reference or an</a:t>
            </a:r>
          </a:p>
        </p:txBody>
      </p:sp>
      <p:sp>
        <p:nvSpPr>
          <p:cNvPr id="8" name="TextBox 7"/>
          <p:cNvSpPr txBox="1"/>
          <p:nvPr/>
        </p:nvSpPr>
        <p:spPr>
          <a:xfrm>
            <a:off x="716280" y="2642006"/>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existing C2 support; exact</a:t>
            </a:r>
          </a:p>
        </p:txBody>
      </p:sp>
      <p:sp>
        <p:nvSpPr>
          <p:cNvPr id="9" name="TextBox 8"/>
          <p:cNvSpPr txBox="1"/>
          <p:nvPr/>
        </p:nvSpPr>
        <p:spPr>
          <a:xfrm>
            <a:off x="716280" y="2846832"/>
            <a:ext cx="25603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claim and context.</a:t>
            </a:r>
          </a:p>
        </p:txBody>
      </p:sp>
      <p:cxnSp>
        <p:nvCxnSpPr>
          <p:cNvPr id="10" name="Connector 9"/>
          <p:cNvCxnSpPr/>
          <p:nvPr/>
        </p:nvCxnSpPr>
        <p:spPr>
          <a:xfrm>
            <a:off x="3444240" y="2606040"/>
            <a:ext cx="777240" cy="0"/>
          </a:xfrm>
          <a:prstGeom prst="line">
            <a:avLst/>
          </a:prstGeom>
          <a:ln w="15240">
            <a:solidFill>
              <a:srgbClr val="315E9C"/>
            </a:solidFill>
          </a:ln>
          <a:effectLst/>
        </p:spPr>
      </p:cxnSp>
      <p:sp>
        <p:nvSpPr>
          <p:cNvPr id="11" name="Freeform 10"/>
          <p:cNvSpPr/>
          <p:nvPr/>
        </p:nvSpPr>
        <p:spPr>
          <a:xfrm>
            <a:off x="412242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2" name="Rounded Rectangle 11"/>
          <p:cNvSpPr/>
          <p:nvPr/>
        </p:nvSpPr>
        <p:spPr>
          <a:xfrm>
            <a:off x="4221480" y="1920239"/>
            <a:ext cx="3048000" cy="1371600"/>
          </a:xfrm>
          <a:prstGeom prst="roundRect">
            <a:avLst>
              <a:gd name="adj" fmla="val 7222"/>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389120" y="2087880"/>
            <a:ext cx="271272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Admission decision</a:t>
            </a:r>
          </a:p>
        </p:txBody>
      </p:sp>
      <p:sp>
        <p:nvSpPr>
          <p:cNvPr id="14" name="TextBox 13"/>
          <p:cNvSpPr txBox="1"/>
          <p:nvPr/>
        </p:nvSpPr>
        <p:spPr>
          <a:xfrm>
            <a:off x="4389120" y="245668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ADMITTED or DUPLICATE</a:t>
            </a:r>
          </a:p>
        </p:txBody>
      </p:sp>
      <p:sp>
        <p:nvSpPr>
          <p:cNvPr id="15" name="TextBox 14"/>
          <p:cNvSpPr txBox="1"/>
          <p:nvPr/>
        </p:nvSpPr>
        <p:spPr>
          <a:xfrm>
            <a:off x="4389120" y="2700528"/>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Track occurrence and</a:t>
            </a:r>
          </a:p>
        </p:txBody>
      </p:sp>
      <p:sp>
        <p:nvSpPr>
          <p:cNvPr id="16" name="TextBox 15"/>
          <p:cNvSpPr txBox="1"/>
          <p:nvPr/>
        </p:nvSpPr>
        <p:spPr>
          <a:xfrm>
            <a:off x="4389120" y="2944367"/>
            <a:ext cx="271272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provenance.</a:t>
            </a:r>
          </a:p>
        </p:txBody>
      </p:sp>
      <p:cxnSp>
        <p:nvCxnSpPr>
          <p:cNvPr id="17" name="Connector 16"/>
          <p:cNvCxnSpPr/>
          <p:nvPr/>
        </p:nvCxnSpPr>
        <p:spPr>
          <a:xfrm>
            <a:off x="7269480" y="2606040"/>
            <a:ext cx="777240" cy="0"/>
          </a:xfrm>
          <a:prstGeom prst="line">
            <a:avLst/>
          </a:prstGeom>
          <a:ln w="15240">
            <a:solidFill>
              <a:srgbClr val="315E9C"/>
            </a:solidFill>
          </a:ln>
          <a:effectLst/>
        </p:spPr>
      </p:cxnSp>
      <p:sp>
        <p:nvSpPr>
          <p:cNvPr id="18" name="Freeform 17"/>
          <p:cNvSpPr/>
          <p:nvPr/>
        </p:nvSpPr>
        <p:spPr>
          <a:xfrm>
            <a:off x="7947660" y="2567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9" name="Rounded Rectangle 18"/>
          <p:cNvSpPr/>
          <p:nvPr/>
        </p:nvSpPr>
        <p:spPr>
          <a:xfrm>
            <a:off x="8046720" y="1920239"/>
            <a:ext cx="3596640" cy="1371600"/>
          </a:xfrm>
          <a:prstGeom prst="roundRect">
            <a:avLst>
              <a:gd name="adj" fmla="val 7222"/>
            </a:avLst>
          </a:prstGeom>
          <a:solidFill>
            <a:srgbClr val="DCEFE8"/>
          </a:solidFill>
          <a:ln w="7620">
            <a:solidFill>
              <a:srgbClr val="007C78"/>
            </a:solidFill>
          </a:ln>
          <a:effectLst/>
        </p:spPr>
        <p:txBody>
          <a:bodyPr rtlCol="0" anchor="ctr"/>
          <a:lstStyle/>
          <a:p>
            <a:pPr algn="ctr"/>
          </a:p>
        </p:txBody>
      </p:sp>
      <p:sp>
        <p:nvSpPr>
          <p:cNvPr id="20" name="TextBox 19"/>
          <p:cNvSpPr txBox="1"/>
          <p:nvPr/>
        </p:nvSpPr>
        <p:spPr>
          <a:xfrm>
            <a:off x="8214359" y="2087880"/>
            <a:ext cx="326136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Numerical decision</a:t>
            </a:r>
          </a:p>
        </p:txBody>
      </p:sp>
      <p:sp>
        <p:nvSpPr>
          <p:cNvPr id="21" name="TextBox 20"/>
          <p:cNvSpPr txBox="1"/>
          <p:nvPr/>
        </p:nvSpPr>
        <p:spPr>
          <a:xfrm>
            <a:off x="8214359" y="245668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Initialize, revise, no change,</a:t>
            </a:r>
          </a:p>
        </p:txBody>
      </p:sp>
      <p:sp>
        <p:nvSpPr>
          <p:cNvPr id="22" name="TextBox 21"/>
          <p:cNvSpPr txBox="1"/>
          <p:nvPr/>
        </p:nvSpPr>
        <p:spPr>
          <a:xfrm>
            <a:off x="8214359" y="2700528"/>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retain alternative, or</a:t>
            </a:r>
          </a:p>
        </p:txBody>
      </p:sp>
      <p:sp>
        <p:nvSpPr>
          <p:cNvPr id="23" name="TextBox 22"/>
          <p:cNvSpPr txBox="1"/>
          <p:nvPr/>
        </p:nvSpPr>
        <p:spPr>
          <a:xfrm>
            <a:off x="8214359" y="2944367"/>
            <a:ext cx="32613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model-inapplicable.</a:t>
            </a:r>
          </a:p>
        </p:txBody>
      </p:sp>
      <p:sp>
        <p:nvSpPr>
          <p:cNvPr id="24" name="Rounded Rectangle 23"/>
          <p:cNvSpPr/>
          <p:nvPr/>
        </p:nvSpPr>
        <p:spPr>
          <a:xfrm>
            <a:off x="548640" y="3886200"/>
            <a:ext cx="5364480" cy="1607820"/>
          </a:xfrm>
          <a:prstGeom prst="roundRect">
            <a:avLst>
              <a:gd name="adj" fmla="val 6161"/>
            </a:avLst>
          </a:prstGeom>
          <a:solidFill>
            <a:srgbClr val="FFFFFF"/>
          </a:solidFill>
          <a:ln w="7620">
            <a:solidFill>
              <a:srgbClr val="007C78"/>
            </a:solidFill>
          </a:ln>
          <a:effectLst/>
        </p:spPr>
        <p:txBody>
          <a:bodyPr rtlCol="0" anchor="ctr"/>
          <a:lstStyle/>
          <a:p>
            <a:pPr algn="ctr"/>
          </a:p>
        </p:txBody>
      </p:sp>
      <p:sp>
        <p:nvSpPr>
          <p:cNvPr id="25" name="TextBox 24"/>
          <p:cNvSpPr txBox="1"/>
          <p:nvPr/>
        </p:nvSpPr>
        <p:spPr>
          <a:xfrm>
            <a:off x="716280" y="40538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Aggregate with exact coverage</a:t>
            </a:r>
          </a:p>
        </p:txBody>
      </p:sp>
      <p:sp>
        <p:nvSpPr>
          <p:cNvPr id="26" name="TextBox 25"/>
          <p:cNvSpPr txBox="1"/>
          <p:nvPr/>
        </p:nvSpPr>
        <p:spPr>
          <a:xfrm>
            <a:off x="716280" y="44324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Every numerical result names the contributing</a:t>
            </a:r>
          </a:p>
        </p:txBody>
      </p:sp>
      <p:sp>
        <p:nvSpPr>
          <p:cNvPr id="27" name="TextBox 26"/>
          <p:cNvSpPr txBox="1"/>
          <p:nvPr/>
        </p:nvSpPr>
        <p:spPr>
          <a:xfrm>
            <a:off x="716280" y="46957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leaves, origins, premises, formula and</a:t>
            </a:r>
          </a:p>
        </p:txBody>
      </p:sp>
      <p:sp>
        <p:nvSpPr>
          <p:cNvPr id="28" name="TextBox 27"/>
          <p:cNvSpPr txBox="1"/>
          <p:nvPr/>
        </p:nvSpPr>
        <p:spPr>
          <a:xfrm>
            <a:off x="716280" y="4959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assumption.</a:t>
            </a:r>
          </a:p>
        </p:txBody>
      </p:sp>
      <p:sp>
        <p:nvSpPr>
          <p:cNvPr id="29" name="Rounded Rectangle 28"/>
          <p:cNvSpPr/>
          <p:nvPr/>
        </p:nvSpPr>
        <p:spPr>
          <a:xfrm>
            <a:off x="6096000" y="3886200"/>
            <a:ext cx="5547360" cy="1607820"/>
          </a:xfrm>
          <a:prstGeom prst="roundRect">
            <a:avLst>
              <a:gd name="adj" fmla="val 6161"/>
            </a:avLst>
          </a:prstGeom>
          <a:solidFill>
            <a:srgbClr val="F3E7CE"/>
          </a:solidFill>
          <a:ln w="7620">
            <a:solidFill>
              <a:srgbClr val="A86A15"/>
            </a:solidFill>
          </a:ln>
          <a:effectLst/>
        </p:spPr>
        <p:txBody>
          <a:bodyPr rtlCol="0" anchor="ctr"/>
          <a:lstStyle/>
          <a:p>
            <a:pPr algn="ctr"/>
          </a:p>
        </p:txBody>
      </p:sp>
      <p:sp>
        <p:nvSpPr>
          <p:cNvPr id="30" name="TextBox 29"/>
          <p:cNvSpPr txBox="1"/>
          <p:nvPr/>
        </p:nvSpPr>
        <p:spPr>
          <a:xfrm>
            <a:off x="6263640" y="40538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Unaggregated alternatives</a:t>
            </a:r>
          </a:p>
        </p:txBody>
      </p:sp>
      <p:sp>
        <p:nvSpPr>
          <p:cNvPr id="31" name="TextBox 30"/>
          <p:cNvSpPr txBox="1"/>
          <p:nvPr/>
        </p:nvSpPr>
        <p:spPr>
          <a:xfrm>
            <a:off x="6263640" y="44226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Copied or contrary observations remain in the</a:t>
            </a:r>
          </a:p>
        </p:txBody>
      </p:sp>
      <p:sp>
        <p:nvSpPr>
          <p:cNvPr id="32" name="TextBox 31"/>
          <p:cNvSpPr txBox="1"/>
          <p:nvPr/>
        </p:nvSpPr>
        <p:spPr>
          <a:xfrm>
            <a:off x="6263640" y="46859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snapshot. Later eligible assumptions can combine</a:t>
            </a:r>
          </a:p>
        </p:txBody>
      </p:sp>
      <p:sp>
        <p:nvSpPr>
          <p:cNvPr id="33" name="TextBox 32"/>
          <p:cNvSpPr txBox="1"/>
          <p:nvPr/>
        </p:nvSpPr>
        <p:spPr>
          <a:xfrm>
            <a:off x="6263640" y="4949342"/>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existing supports.</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One saved truth value is not a summary of every observation. Read its coverage and alternatives.</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beliefs.py · memory_types.py</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21 / 64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DERIVED-SUPPORT ADMISSION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derived conclusion inherits its evidence trail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result is a new support record, while its original observations and ancestry remain the same.</a:t>
            </a:r>
          </a:p>
        </p:txBody>
      </p:sp>
      <p:sp>
        <p:nvSpPr>
          <p:cNvPr id="5" name="Rounded Rectangle 4"/>
          <p:cNvSpPr/>
          <p:nvPr/>
        </p:nvSpPr>
        <p:spPr>
          <a:xfrm>
            <a:off x="54864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a:t>
            </a:r>
          </a:p>
        </p:txBody>
      </p:sp>
      <p:sp>
        <p:nvSpPr>
          <p:cNvPr id="7" name="TextBox 6"/>
          <p:cNvSpPr txBox="1"/>
          <p:nvPr/>
        </p:nvSpPr>
        <p:spPr>
          <a:xfrm>
            <a:off x="71628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8" name="TextBox 7"/>
          <p:cNvSpPr txBox="1"/>
          <p:nvPr/>
        </p:nvSpPr>
        <p:spPr>
          <a:xfrm>
            <a:off x="71628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9" name="Connector 8"/>
          <p:cNvCxnSpPr/>
          <p:nvPr/>
        </p:nvCxnSpPr>
        <p:spPr>
          <a:xfrm>
            <a:off x="1584960" y="2926079"/>
            <a:ext cx="0" cy="342900"/>
          </a:xfrm>
          <a:prstGeom prst="line">
            <a:avLst/>
          </a:prstGeom>
          <a:ln w="15240">
            <a:solidFill>
              <a:srgbClr val="315E9C"/>
            </a:solidFill>
          </a:ln>
          <a:effectLst/>
        </p:spPr>
      </p:cxnSp>
      <p:cxnSp>
        <p:nvCxnSpPr>
          <p:cNvPr id="10" name="Connector 9"/>
          <p:cNvCxnSpPr/>
          <p:nvPr/>
        </p:nvCxnSpPr>
        <p:spPr>
          <a:xfrm>
            <a:off x="1584960" y="3268979"/>
            <a:ext cx="4511040" cy="0"/>
          </a:xfrm>
          <a:prstGeom prst="line">
            <a:avLst/>
          </a:prstGeom>
          <a:ln w="15240">
            <a:solidFill>
              <a:srgbClr val="315E9C"/>
            </a:solidFill>
          </a:ln>
          <a:effectLst/>
        </p:spPr>
      </p:cxnSp>
      <p:sp>
        <p:nvSpPr>
          <p:cNvPr id="11" name="Rounded Rectangle 10"/>
          <p:cNvSpPr/>
          <p:nvPr/>
        </p:nvSpPr>
        <p:spPr>
          <a:xfrm>
            <a:off x="280416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297180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a:t>
            </a:r>
          </a:p>
        </p:txBody>
      </p:sp>
      <p:sp>
        <p:nvSpPr>
          <p:cNvPr id="13" name="TextBox 12"/>
          <p:cNvSpPr txBox="1"/>
          <p:nvPr/>
        </p:nvSpPr>
        <p:spPr>
          <a:xfrm>
            <a:off x="297180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14" name="TextBox 13"/>
          <p:cNvSpPr txBox="1"/>
          <p:nvPr/>
        </p:nvSpPr>
        <p:spPr>
          <a:xfrm>
            <a:off x="297180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15" name="Connector 14"/>
          <p:cNvCxnSpPr/>
          <p:nvPr/>
        </p:nvCxnSpPr>
        <p:spPr>
          <a:xfrm>
            <a:off x="3840479" y="2926079"/>
            <a:ext cx="0" cy="342900"/>
          </a:xfrm>
          <a:prstGeom prst="line">
            <a:avLst/>
          </a:prstGeom>
          <a:ln w="15240">
            <a:solidFill>
              <a:srgbClr val="315E9C"/>
            </a:solidFill>
          </a:ln>
          <a:effectLst/>
        </p:spPr>
      </p:cxnSp>
      <p:cxnSp>
        <p:nvCxnSpPr>
          <p:cNvPr id="16" name="Connector 15"/>
          <p:cNvCxnSpPr/>
          <p:nvPr/>
        </p:nvCxnSpPr>
        <p:spPr>
          <a:xfrm>
            <a:off x="3840479" y="3268979"/>
            <a:ext cx="2255521" cy="0"/>
          </a:xfrm>
          <a:prstGeom prst="line">
            <a:avLst/>
          </a:prstGeom>
          <a:ln w="15240">
            <a:solidFill>
              <a:srgbClr val="315E9C"/>
            </a:solidFill>
          </a:ln>
          <a:effectLst/>
        </p:spPr>
      </p:cxnSp>
      <p:sp>
        <p:nvSpPr>
          <p:cNvPr id="17" name="Rounded Rectangle 16"/>
          <p:cNvSpPr/>
          <p:nvPr/>
        </p:nvSpPr>
        <p:spPr>
          <a:xfrm>
            <a:off x="505968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522732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R</a:t>
            </a:r>
          </a:p>
        </p:txBody>
      </p:sp>
      <p:sp>
        <p:nvSpPr>
          <p:cNvPr id="19" name="TextBox 18"/>
          <p:cNvSpPr txBox="1"/>
          <p:nvPr/>
        </p:nvSpPr>
        <p:spPr>
          <a:xfrm>
            <a:off x="522732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0" name="TextBox 19"/>
          <p:cNvSpPr txBox="1"/>
          <p:nvPr/>
        </p:nvSpPr>
        <p:spPr>
          <a:xfrm>
            <a:off x="522732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1" name="Connector 20"/>
          <p:cNvCxnSpPr/>
          <p:nvPr/>
        </p:nvCxnSpPr>
        <p:spPr>
          <a:xfrm>
            <a:off x="6096000" y="2926079"/>
            <a:ext cx="0" cy="342900"/>
          </a:xfrm>
          <a:prstGeom prst="line">
            <a:avLst/>
          </a:prstGeom>
          <a:ln w="15240">
            <a:solidFill>
              <a:srgbClr val="315E9C"/>
            </a:solidFill>
          </a:ln>
          <a:effectLst/>
        </p:spPr>
      </p:cxnSp>
      <p:cxnSp>
        <p:nvCxnSpPr>
          <p:cNvPr id="22" name="Connector 21"/>
          <p:cNvCxnSpPr/>
          <p:nvPr/>
        </p:nvCxnSpPr>
        <p:spPr>
          <a:xfrm>
            <a:off x="6096000" y="3268979"/>
            <a:ext cx="0" cy="0"/>
          </a:xfrm>
          <a:prstGeom prst="line">
            <a:avLst/>
          </a:prstGeom>
          <a:ln w="15240">
            <a:solidFill>
              <a:srgbClr val="315E9C"/>
            </a:solidFill>
          </a:ln>
          <a:effectLst/>
        </p:spPr>
      </p:cxnSp>
      <p:sp>
        <p:nvSpPr>
          <p:cNvPr id="23" name="Rounded Rectangle 22"/>
          <p:cNvSpPr/>
          <p:nvPr/>
        </p:nvSpPr>
        <p:spPr>
          <a:xfrm>
            <a:off x="731520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24" name="TextBox 23"/>
          <p:cNvSpPr txBox="1"/>
          <p:nvPr/>
        </p:nvSpPr>
        <p:spPr>
          <a:xfrm>
            <a:off x="7482839"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P ⇒ Q</a:t>
            </a:r>
          </a:p>
        </p:txBody>
      </p:sp>
      <p:sp>
        <p:nvSpPr>
          <p:cNvPr id="25" name="TextBox 24"/>
          <p:cNvSpPr txBox="1"/>
          <p:nvPr/>
        </p:nvSpPr>
        <p:spPr>
          <a:xfrm>
            <a:off x="7482839"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26" name="TextBox 25"/>
          <p:cNvSpPr txBox="1"/>
          <p:nvPr/>
        </p:nvSpPr>
        <p:spPr>
          <a:xfrm>
            <a:off x="7482839"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27" name="Connector 26"/>
          <p:cNvCxnSpPr/>
          <p:nvPr/>
        </p:nvCxnSpPr>
        <p:spPr>
          <a:xfrm>
            <a:off x="8351520" y="2926079"/>
            <a:ext cx="0" cy="342900"/>
          </a:xfrm>
          <a:prstGeom prst="line">
            <a:avLst/>
          </a:prstGeom>
          <a:ln w="15240">
            <a:solidFill>
              <a:srgbClr val="315E9C"/>
            </a:solidFill>
          </a:ln>
          <a:effectLst/>
        </p:spPr>
      </p:cxnSp>
      <p:cxnSp>
        <p:nvCxnSpPr>
          <p:cNvPr id="28" name="Connector 27"/>
          <p:cNvCxnSpPr/>
          <p:nvPr/>
        </p:nvCxnSpPr>
        <p:spPr>
          <a:xfrm flipH="1">
            <a:off x="6096000" y="3268979"/>
            <a:ext cx="2255520" cy="0"/>
          </a:xfrm>
          <a:prstGeom prst="line">
            <a:avLst/>
          </a:prstGeom>
          <a:ln w="15240">
            <a:solidFill>
              <a:srgbClr val="315E9C"/>
            </a:solidFill>
          </a:ln>
          <a:effectLst/>
        </p:spPr>
      </p:cxnSp>
      <p:sp>
        <p:nvSpPr>
          <p:cNvPr id="29" name="Rounded Rectangle 28"/>
          <p:cNvSpPr/>
          <p:nvPr/>
        </p:nvSpPr>
        <p:spPr>
          <a:xfrm>
            <a:off x="9570720" y="1897380"/>
            <a:ext cx="2072639" cy="1028700"/>
          </a:xfrm>
          <a:prstGeom prst="roundRect">
            <a:avLst>
              <a:gd name="adj" fmla="val 9629"/>
            </a:avLst>
          </a:prstGeom>
          <a:solidFill>
            <a:srgbClr val="E4EBF5"/>
          </a:solidFill>
          <a:ln w="7620">
            <a:solidFill>
              <a:srgbClr val="315E9C"/>
            </a:solidFill>
          </a:ln>
          <a:effectLst/>
        </p:spPr>
        <p:txBody>
          <a:bodyPr rtlCol="0" anchor="ctr"/>
          <a:lstStyle/>
          <a:p>
            <a:pPr algn="ctr"/>
          </a:p>
        </p:txBody>
      </p:sp>
      <p:sp>
        <p:nvSpPr>
          <p:cNvPr id="30" name="TextBox 29"/>
          <p:cNvSpPr txBox="1"/>
          <p:nvPr/>
        </p:nvSpPr>
        <p:spPr>
          <a:xfrm>
            <a:off x="9738360" y="2065020"/>
            <a:ext cx="1737359"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Q ⇒ R</a:t>
            </a:r>
          </a:p>
        </p:txBody>
      </p:sp>
      <p:sp>
        <p:nvSpPr>
          <p:cNvPr id="31" name="TextBox 30"/>
          <p:cNvSpPr txBox="1"/>
          <p:nvPr/>
        </p:nvSpPr>
        <p:spPr>
          <a:xfrm>
            <a:off x="9738360" y="2453335"/>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Exact historical</a:t>
            </a:r>
          </a:p>
        </p:txBody>
      </p:sp>
      <p:sp>
        <p:nvSpPr>
          <p:cNvPr id="32" name="TextBox 31"/>
          <p:cNvSpPr txBox="1"/>
          <p:nvPr/>
        </p:nvSpPr>
        <p:spPr>
          <a:xfrm>
            <a:off x="9738360" y="2658160"/>
            <a:ext cx="1737359"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support</a:t>
            </a:r>
          </a:p>
        </p:txBody>
      </p:sp>
      <p:cxnSp>
        <p:nvCxnSpPr>
          <p:cNvPr id="33" name="Connector 32"/>
          <p:cNvCxnSpPr/>
          <p:nvPr/>
        </p:nvCxnSpPr>
        <p:spPr>
          <a:xfrm>
            <a:off x="10607040" y="2926079"/>
            <a:ext cx="0" cy="342900"/>
          </a:xfrm>
          <a:prstGeom prst="line">
            <a:avLst/>
          </a:prstGeom>
          <a:ln w="15240">
            <a:solidFill>
              <a:srgbClr val="315E9C"/>
            </a:solidFill>
          </a:ln>
          <a:effectLst/>
        </p:spPr>
      </p:cxnSp>
      <p:cxnSp>
        <p:nvCxnSpPr>
          <p:cNvPr id="34" name="Connector 33"/>
          <p:cNvCxnSpPr/>
          <p:nvPr/>
        </p:nvCxnSpPr>
        <p:spPr>
          <a:xfrm flipH="1">
            <a:off x="6096000" y="3268979"/>
            <a:ext cx="4511040" cy="0"/>
          </a:xfrm>
          <a:prstGeom prst="line">
            <a:avLst/>
          </a:prstGeom>
          <a:ln w="15240">
            <a:solidFill>
              <a:srgbClr val="315E9C"/>
            </a:solidFill>
          </a:ln>
          <a:effectLst/>
        </p:spPr>
      </p:cxnSp>
      <p:cxnSp>
        <p:nvCxnSpPr>
          <p:cNvPr id="35" name="Connector 34"/>
          <p:cNvCxnSpPr/>
          <p:nvPr/>
        </p:nvCxnSpPr>
        <p:spPr>
          <a:xfrm>
            <a:off x="6096000" y="3268979"/>
            <a:ext cx="0" cy="457200"/>
          </a:xfrm>
          <a:prstGeom prst="line">
            <a:avLst/>
          </a:prstGeom>
          <a:ln w="15240">
            <a:solidFill>
              <a:srgbClr val="007C78"/>
            </a:solidFill>
          </a:ln>
          <a:effectLst/>
        </p:spPr>
      </p:cxnSp>
      <p:sp>
        <p:nvSpPr>
          <p:cNvPr id="36" name="Freeform 35"/>
          <p:cNvSpPr/>
          <p:nvPr/>
        </p:nvSpPr>
        <p:spPr>
          <a:xfrm>
            <a:off x="6057900" y="3627120"/>
            <a:ext cx="76200" cy="99060"/>
          </a:xfrm>
          <a:custGeom>
            <a:avLst/>
            <a:gdLst/>
            <a:ahLst/>
            <a:cxnLst/>
            <a:rect l="l" t="t" r="r" b="b"/>
            <a:pathLst>
              <a:path w="10" h="13">
                <a:moveTo>
                  <a:pt x="5" y="13"/>
                </a:moveTo>
                <a:lnTo>
                  <a:pt x="10" y="0"/>
                </a:lnTo>
                <a:lnTo>
                  <a:pt x="0" y="0"/>
                </a:lnTo>
                <a:close/>
              </a:path>
            </a:pathLst>
          </a:custGeom>
          <a:solidFill>
            <a:srgbClr val="007C78"/>
          </a:solidFill>
          <a:ln>
            <a:noFill/>
          </a:ln>
          <a:effectLst/>
        </p:spPr>
        <p:txBody>
          <a:bodyPr rtlCol="0" anchor="ctr"/>
          <a:lstStyle/>
          <a:p>
            <a:pPr algn="ctr"/>
          </a:p>
        </p:txBody>
      </p:sp>
      <p:sp>
        <p:nvSpPr>
          <p:cNvPr id="37" name="Rounded Rectangle 36"/>
          <p:cNvSpPr/>
          <p:nvPr/>
        </p:nvSpPr>
        <p:spPr>
          <a:xfrm>
            <a:off x="3208020" y="3726179"/>
            <a:ext cx="5775960" cy="1082040"/>
          </a:xfrm>
          <a:prstGeom prst="roundRect">
            <a:avLst>
              <a:gd name="adj" fmla="val 9154"/>
            </a:avLst>
          </a:prstGeom>
          <a:solidFill>
            <a:srgbClr val="DCEFE8"/>
          </a:solidFill>
          <a:ln w="7620">
            <a:solidFill>
              <a:srgbClr val="007C78"/>
            </a:solidFill>
          </a:ln>
          <a:effectLst/>
        </p:spPr>
        <p:txBody>
          <a:bodyPr rtlCol="0" anchor="ctr"/>
          <a:lstStyle/>
          <a:p>
            <a:pPr algn="ctr"/>
          </a:p>
        </p:txBody>
      </p:sp>
      <p:sp>
        <p:nvSpPr>
          <p:cNvPr id="38" name="TextBox 37"/>
          <p:cNvSpPr txBox="1"/>
          <p:nvPr/>
        </p:nvSpPr>
        <p:spPr>
          <a:xfrm>
            <a:off x="3375660" y="3893819"/>
            <a:ext cx="544068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Derived P ⇒ R</a:t>
            </a:r>
          </a:p>
        </p:txBody>
      </p:sp>
      <p:sp>
        <p:nvSpPr>
          <p:cNvPr id="39" name="TextBox 38"/>
          <p:cNvSpPr txBox="1"/>
          <p:nvPr/>
        </p:nvSpPr>
        <p:spPr>
          <a:xfrm>
            <a:off x="3375660" y="4301642"/>
            <a:ext cx="544068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Inherited evidence roots + actual grounded ancestry</a:t>
            </a:r>
          </a:p>
        </p:txBody>
      </p:sp>
      <p:sp>
        <p:nvSpPr>
          <p:cNvPr id="40" name="TextBox 39"/>
          <p:cNvSpPr txBox="1"/>
          <p:nvPr/>
        </p:nvSpPr>
        <p:spPr>
          <a:xfrm>
            <a:off x="594360" y="518160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Unknown target: initialize inferential support. Existing truth: keep the alternative.</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No new observation, root, independence assertion or evidence count is created.</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derived_beliefs.py · pln_deduction.py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22 / 64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KERNEL AND RUNTIME COMPATIBILITY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grounded rule reuses the actual native PLN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replacement arithmetic and no general search loop: five explicit premises produce one proposal.</a:t>
            </a:r>
          </a:p>
        </p:txBody>
      </p:sp>
      <p:sp>
        <p:nvSpPr>
          <p:cNvPr id="5" name="Rounded Rectangle 4"/>
          <p:cNvSpPr/>
          <p:nvPr/>
        </p:nvSpPr>
        <p:spPr>
          <a:xfrm>
            <a:off x="54864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Fusion PLNKernel</a:t>
            </a:r>
          </a:p>
        </p:txBody>
      </p:sp>
      <p:sp>
        <p:nvSpPr>
          <p:cNvPr id="7" name="TextBox 6"/>
          <p:cNvSpPr txBox="1"/>
          <p:nvPr/>
        </p:nvSpPr>
        <p:spPr>
          <a:xfrm>
            <a:off x="71628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Exact bindings,</a:t>
            </a:r>
          </a:p>
        </p:txBody>
      </p:sp>
      <p:sp>
        <p:nvSpPr>
          <p:cNvPr id="8" name="TextBox 7"/>
          <p:cNvSpPr txBox="1"/>
          <p:nvPr/>
        </p:nvSpPr>
        <p:spPr>
          <a:xfrm>
            <a:off x="71628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checks and</a:t>
            </a:r>
          </a:p>
        </p:txBody>
      </p:sp>
      <p:sp>
        <p:nvSpPr>
          <p:cNvPr id="9" name="TextBox 8"/>
          <p:cNvSpPr txBox="1"/>
          <p:nvPr/>
        </p:nvSpPr>
        <p:spPr>
          <a:xfrm>
            <a:off x="716280" y="3073603"/>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remaining deadline</a:t>
            </a:r>
          </a:p>
        </p:txBody>
      </p:sp>
      <p:sp>
        <p:nvSpPr>
          <p:cNvPr id="10" name="Rounded Rectangle 9"/>
          <p:cNvSpPr/>
          <p:nvPr/>
        </p:nvSpPr>
        <p:spPr>
          <a:xfrm>
            <a:off x="4267200" y="1981200"/>
            <a:ext cx="36576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4434840" y="2148840"/>
            <a:ext cx="3322319"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Pinned Reachability</a:t>
            </a:r>
          </a:p>
        </p:txBody>
      </p:sp>
      <p:sp>
        <p:nvSpPr>
          <p:cNvPr id="12" name="TextBox 11"/>
          <p:cNvSpPr txBox="1"/>
          <p:nvPr/>
        </p:nvSpPr>
        <p:spPr>
          <a:xfrm>
            <a:off x="4434840" y="2527401"/>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PLNAdapter.apply_rule</a:t>
            </a:r>
          </a:p>
        </p:txBody>
      </p:sp>
      <p:sp>
        <p:nvSpPr>
          <p:cNvPr id="13" name="TextBox 12"/>
          <p:cNvSpPr txBox="1"/>
          <p:nvPr/>
        </p:nvSpPr>
        <p:spPr>
          <a:xfrm>
            <a:off x="4434840" y="2800502"/>
            <a:ext cx="3322319"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DeductionRule + guards</a:t>
            </a:r>
          </a:p>
        </p:txBody>
      </p:sp>
      <p:sp>
        <p:nvSpPr>
          <p:cNvPr id="14" name="Rounded Rectangle 13"/>
          <p:cNvSpPr/>
          <p:nvPr/>
        </p:nvSpPr>
        <p:spPr>
          <a:xfrm>
            <a:off x="8442960" y="1981200"/>
            <a:ext cx="3200400" cy="1706880"/>
          </a:xfrm>
          <a:prstGeom prst="roundRect">
            <a:avLst>
              <a:gd name="adj" fmla="val 5803"/>
            </a:avLst>
          </a:prstGeom>
          <a:solidFill>
            <a:srgbClr val="DCEFE8"/>
          </a:solidFill>
          <a:ln w="7620">
            <a:solidFill>
              <a:srgbClr val="007C78"/>
            </a:solidFill>
          </a:ln>
          <a:effectLst/>
        </p:spPr>
        <p:txBody>
          <a:bodyPr rtlCol="0" anchor="ctr"/>
          <a:lstStyle/>
          <a:p>
            <a:pPr algn="ctr"/>
          </a:p>
        </p:txBody>
      </p:sp>
      <p:sp>
        <p:nvSpPr>
          <p:cNvPr id="15" name="TextBox 14"/>
          <p:cNvSpPr txBox="1"/>
          <p:nvPr/>
        </p:nvSpPr>
        <p:spPr>
          <a:xfrm>
            <a:off x="8610600" y="2148840"/>
            <a:ext cx="28651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Native PLN / PeTTa</a:t>
            </a:r>
          </a:p>
        </p:txBody>
      </p:sp>
      <p:sp>
        <p:nvSpPr>
          <p:cNvPr id="16" name="TextBox 15"/>
          <p:cNvSpPr txBox="1"/>
          <p:nvPr/>
        </p:nvSpPr>
        <p:spPr>
          <a:xfrm>
            <a:off x="8610600" y="2527401"/>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Truth_Deduction</a:t>
            </a:r>
          </a:p>
        </p:txBody>
      </p:sp>
      <p:sp>
        <p:nvSpPr>
          <p:cNvPr id="17" name="TextBox 16"/>
          <p:cNvSpPr txBox="1"/>
          <p:nvPr/>
        </p:nvSpPr>
        <p:spPr>
          <a:xfrm>
            <a:off x="8610600" y="2800502"/>
            <a:ext cx="28651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SWI 10.1.14 + Janus</a:t>
            </a:r>
          </a:p>
        </p:txBody>
      </p:sp>
      <p:cxnSp>
        <p:nvCxnSpPr>
          <p:cNvPr id="18" name="Connector 17"/>
          <p:cNvCxnSpPr/>
          <p:nvPr/>
        </p:nvCxnSpPr>
        <p:spPr>
          <a:xfrm>
            <a:off x="3749040" y="2834640"/>
            <a:ext cx="518160" cy="0"/>
          </a:xfrm>
          <a:prstGeom prst="line">
            <a:avLst/>
          </a:prstGeom>
          <a:ln w="15240">
            <a:solidFill>
              <a:srgbClr val="007C78"/>
            </a:solidFill>
          </a:ln>
          <a:effectLst/>
        </p:spPr>
      </p:cxnSp>
      <p:sp>
        <p:nvSpPr>
          <p:cNvPr id="19" name="Freeform 18"/>
          <p:cNvSpPr/>
          <p:nvPr/>
        </p:nvSpPr>
        <p:spPr>
          <a:xfrm>
            <a:off x="416814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20" name="Connector 19"/>
          <p:cNvCxnSpPr/>
          <p:nvPr/>
        </p:nvCxnSpPr>
        <p:spPr>
          <a:xfrm>
            <a:off x="7924800" y="2834640"/>
            <a:ext cx="518160" cy="0"/>
          </a:xfrm>
          <a:prstGeom prst="line">
            <a:avLst/>
          </a:prstGeom>
          <a:ln w="15240">
            <a:solidFill>
              <a:srgbClr val="007C78"/>
            </a:solidFill>
          </a:ln>
          <a:effectLst/>
        </p:spPr>
      </p:cxnSp>
      <p:sp>
        <p:nvSpPr>
          <p:cNvPr id="21" name="Freeform 20"/>
          <p:cNvSpPr/>
          <p:nvPr/>
        </p:nvSpPr>
        <p:spPr>
          <a:xfrm>
            <a:off x="8343900" y="27965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2" name="Rounded Rectangle 21"/>
          <p:cNvSpPr/>
          <p:nvPr/>
        </p:nvSpPr>
        <p:spPr>
          <a:xfrm>
            <a:off x="548640" y="4175760"/>
            <a:ext cx="536448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3" name="TextBox 22"/>
          <p:cNvSpPr txBox="1"/>
          <p:nvPr/>
        </p:nvSpPr>
        <p:spPr>
          <a:xfrm>
            <a:off x="716280" y="434340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Two probability checks</a:t>
            </a:r>
          </a:p>
        </p:txBody>
      </p:sp>
      <p:sp>
        <p:nvSpPr>
          <p:cNvPr id="24" name="TextBox 23"/>
          <p:cNvSpPr txBox="1"/>
          <p:nvPr/>
        </p:nvSpPr>
        <p:spPr>
          <a:xfrm>
            <a:off x="716280" y="471220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Upstream exact Python precheck and the native</a:t>
            </a:r>
          </a:p>
        </p:txBody>
      </p:sp>
      <p:sp>
        <p:nvSpPr>
          <p:cNvPr id="25" name="TextBox 24"/>
          <p:cNvSpPr txBox="1"/>
          <p:nvPr/>
        </p:nvSpPr>
        <p:spPr>
          <a:xfrm>
            <a:off x="716280" y="497555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consistency guard both apply.</a:t>
            </a:r>
          </a:p>
        </p:txBody>
      </p:sp>
      <p:sp>
        <p:nvSpPr>
          <p:cNvPr id="26" name="Rounded Rectangle 25"/>
          <p:cNvSpPr/>
          <p:nvPr/>
        </p:nvSpPr>
        <p:spPr>
          <a:xfrm>
            <a:off x="6096000" y="4175760"/>
            <a:ext cx="5547360" cy="1394460"/>
          </a:xfrm>
          <a:prstGeom prst="roundRect">
            <a:avLst>
              <a:gd name="adj" fmla="val 7103"/>
            </a:avLst>
          </a:prstGeom>
          <a:solidFill>
            <a:srgbClr val="E4EBF5"/>
          </a:solidFill>
          <a:ln w="7620">
            <a:solidFill>
              <a:srgbClr val="315E9C"/>
            </a:solidFill>
          </a:ln>
          <a:effectLst/>
        </p:spPr>
        <p:txBody>
          <a:bodyPr rtlCol="0" anchor="ctr"/>
          <a:lstStyle/>
          <a:p>
            <a:pPr algn="ctr"/>
          </a:p>
        </p:txBody>
      </p:sp>
      <p:sp>
        <p:nvSpPr>
          <p:cNvPr id="27" name="TextBox 26"/>
          <p:cNvSpPr txBox="1"/>
          <p:nvPr/>
        </p:nvSpPr>
        <p:spPr>
          <a:xfrm>
            <a:off x="6263640" y="434340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Separate compatibility profile</a:t>
            </a:r>
          </a:p>
        </p:txBody>
      </p:sp>
      <p:sp>
        <p:nvSpPr>
          <p:cNvPr id="28" name="TextBox 27"/>
          <p:cNvSpPr txBox="1"/>
          <p:nvPr/>
        </p:nvSpPr>
        <p:spPr>
          <a:xfrm>
            <a:off x="6263640" y="4712208"/>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Deduction has its own source/runtime allowlist;</a:t>
            </a:r>
          </a:p>
        </p:txBody>
      </p:sp>
      <p:sp>
        <p:nvSpPr>
          <p:cNvPr id="29" name="TextBox 28"/>
          <p:cNvSpPr txBox="1"/>
          <p:nvPr/>
        </p:nvSpPr>
        <p:spPr>
          <a:xfrm>
            <a:off x="6263640" y="497555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the revision-only profile stays intact.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102B3F"/>
                </a:solidFill>
                <a:latin typeface="DejaVu Sans"/>
              </a:rPr>
              <a:t>Kernel output is a proposal. C2 performs final authorization, CAS and admission.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deduction-sources.json · integration/pln/test_deduction.py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23 / 64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NUMERICAL EVIDENCE</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Native goldens check deduction and preserved revision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Independent expected values check pinned native formulas; no replacement math runs in the owners.</a:t>
            </a:r>
          </a:p>
        </p:txBody>
      </p:sp>
      <p:sp>
        <p:nvSpPr>
          <p:cNvPr id="5" name="Rounded Rectangle 4"/>
          <p:cNvSpPr/>
          <p:nvPr/>
        </p:nvSpPr>
        <p:spPr>
          <a:xfrm>
            <a:off x="548640" y="1889759"/>
            <a:ext cx="5364480" cy="2644140"/>
          </a:xfrm>
          <a:prstGeom prst="roundRect">
            <a:avLst>
              <a:gd name="adj" fmla="val 3746"/>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16280" y="2057400"/>
            <a:ext cx="5029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M3 · Grounded deduction</a:t>
            </a:r>
          </a:p>
        </p:txBody>
      </p:sp>
      <p:sp>
        <p:nvSpPr>
          <p:cNvPr id="7" name="TextBox 6"/>
          <p:cNvSpPr txBox="1"/>
          <p:nvPr/>
        </p:nvSpPr>
        <p:spPr>
          <a:xfrm>
            <a:off x="716280" y="2445715"/>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 Q, R = (0.5, 0.8)</a:t>
            </a:r>
          </a:p>
        </p:txBody>
      </p:sp>
      <p:sp>
        <p:nvSpPr>
          <p:cNvPr id="8" name="TextBox 7"/>
          <p:cNvSpPr txBox="1"/>
          <p:nvPr/>
        </p:nvSpPr>
        <p:spPr>
          <a:xfrm>
            <a:off x="716280" y="2728569"/>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P⇒Q, Q⇒R = (0.8, 0.7)</a:t>
            </a:r>
          </a:p>
        </p:txBody>
      </p:sp>
      <p:sp>
        <p:nvSpPr>
          <p:cNvPr id="9" name="TextBox 8"/>
          <p:cNvSpPr txBox="1"/>
          <p:nvPr/>
        </p:nvSpPr>
        <p:spPr>
          <a:xfrm>
            <a:off x="716280" y="301142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a:r>
          </a:p>
        </p:txBody>
      </p:sp>
      <p:sp>
        <p:nvSpPr>
          <p:cNvPr id="10" name="TextBox 9"/>
          <p:cNvSpPr txBox="1"/>
          <p:nvPr/>
        </p:nvSpPr>
        <p:spPr>
          <a:xfrm>
            <a:off x="716280" y="329427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Expected P⇒R: (0.68, 0.3136)</a:t>
            </a:r>
          </a:p>
        </p:txBody>
      </p:sp>
      <p:sp>
        <p:nvSpPr>
          <p:cNvPr id="11" name="Rounded Rectangle 10"/>
          <p:cNvSpPr/>
          <p:nvPr/>
        </p:nvSpPr>
        <p:spPr>
          <a:xfrm>
            <a:off x="6096000" y="1889759"/>
            <a:ext cx="5547360" cy="2644140"/>
          </a:xfrm>
          <a:prstGeom prst="roundRect">
            <a:avLst>
              <a:gd name="adj" fmla="val 3746"/>
            </a:avLst>
          </a:prstGeom>
          <a:solidFill>
            <a:srgbClr val="E4EBF5"/>
          </a:solidFill>
          <a:ln w="7620">
            <a:solidFill>
              <a:srgbClr val="315E9C"/>
            </a:solidFill>
          </a:ln>
          <a:effectLst/>
        </p:spPr>
        <p:txBody>
          <a:bodyPr rtlCol="0" anchor="ctr"/>
          <a:lstStyle/>
          <a:p>
            <a:pPr algn="ctr"/>
          </a:p>
        </p:txBody>
      </p:sp>
      <p:sp>
        <p:nvSpPr>
          <p:cNvPr id="12" name="TextBox 11"/>
          <p:cNvSpPr txBox="1"/>
          <p:nvPr/>
        </p:nvSpPr>
        <p:spPr>
          <a:xfrm>
            <a:off x="6263640" y="2057400"/>
            <a:ext cx="521208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M2 · Guarded revision</a:t>
            </a:r>
          </a:p>
        </p:txBody>
      </p:sp>
      <p:sp>
        <p:nvSpPr>
          <p:cNvPr id="13" name="TextBox 12"/>
          <p:cNvSpPr txBox="1"/>
          <p:nvPr/>
        </p:nvSpPr>
        <p:spPr>
          <a:xfrm>
            <a:off x="6263640" y="24457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(0.75, 0.50) + (0.25, 0.50)</a:t>
            </a:r>
          </a:p>
        </p:txBody>
      </p:sp>
      <p:sp>
        <p:nvSpPr>
          <p:cNvPr id="14" name="TextBox 13"/>
          <p:cNvSpPr txBox="1"/>
          <p:nvPr/>
        </p:nvSpPr>
        <p:spPr>
          <a:xfrm>
            <a:off x="6263640" y="2718815"/>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(0.50, 2/3)</a:t>
            </a:r>
          </a:p>
        </p:txBody>
      </p:sp>
      <p:sp>
        <p:nvSpPr>
          <p:cNvPr id="15" name="TextBox 14"/>
          <p:cNvSpPr txBox="1"/>
          <p:nvPr/>
        </p:nvSpPr>
        <p:spPr>
          <a:xfrm>
            <a:off x="6263640" y="2991916"/>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a:r>
          </a:p>
        </p:txBody>
      </p:sp>
      <p:sp>
        <p:nvSpPr>
          <p:cNvPr id="16" name="TextBox 15"/>
          <p:cNvSpPr txBox="1"/>
          <p:nvPr/>
        </p:nvSpPr>
        <p:spPr>
          <a:xfrm>
            <a:off x="6263640" y="3265017"/>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Unequal confidence 0.50 / 0.75</a:t>
            </a:r>
          </a:p>
        </p:txBody>
      </p:sp>
      <p:sp>
        <p:nvSpPr>
          <p:cNvPr id="17" name="TextBox 16"/>
          <p:cNvSpPr txBox="1"/>
          <p:nvPr/>
        </p:nvSpPr>
        <p:spPr>
          <a:xfrm>
            <a:off x="6263640" y="3538118"/>
            <a:ext cx="521208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(0.375, 0.80)</a:t>
            </a:r>
          </a:p>
        </p:txBody>
      </p:sp>
      <p:sp>
        <p:nvSpPr>
          <p:cNvPr id="18" name="TextBox 17"/>
          <p:cNvSpPr txBox="1"/>
          <p:nvPr/>
        </p:nvSpPr>
        <p:spPr>
          <a:xfrm>
            <a:off x="594360" y="4892040"/>
            <a:ext cx="10896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102B3F"/>
                </a:solidFill>
                <a:latin typeface="DejaVu Sans Mono"/>
              </a:rPr>
              <a:t>Observed deduction: 0.6800000000000002 / 0.31360000000000005</a:t>
            </a:r>
          </a:p>
        </p:txBody>
      </p:sp>
      <p:sp>
        <p:nvSpPr>
          <p:cNvPr id="19" name="TextBox 18"/>
          <p:cNvSpPr txBox="1"/>
          <p:nvPr/>
        </p:nvSpPr>
        <p:spPr>
          <a:xfrm>
            <a:off x="594360" y="5318760"/>
            <a:ext cx="108966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102B3F"/>
                </a:solidFill>
                <a:latin typeface="DejaVu Sans"/>
              </a:rPr>
              <a:t>Absolute tolerance 1e−12; finite-domain and lineage guards remain active.</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These are model-specific heuristics, not calibrated real-world confidence or proven entailment.</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test_deduction.py · preserved test_revision.py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24 / 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SHORT-TERM IMPORTANCE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 small, independent attention policy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sti-additive-linear-decay/1 · integer STI · explicit logical time · persistent causal identity</a:t>
            </a:r>
          </a:p>
        </p:txBody>
      </p:sp>
      <p:sp>
        <p:nvSpPr>
          <p:cNvPr id="5" name="Rounded Rectangle 4"/>
          <p:cNvSpPr/>
          <p:nvPr/>
        </p:nvSpPr>
        <p:spPr>
          <a:xfrm>
            <a:off x="54864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Stimulate</a:t>
            </a:r>
          </a:p>
        </p:txBody>
      </p:sp>
      <p:sp>
        <p:nvSpPr>
          <p:cNvPr id="7" name="TextBox 6"/>
          <p:cNvSpPr txBox="1"/>
          <p:nvPr/>
        </p:nvSpPr>
        <p:spPr>
          <a:xfrm>
            <a:off x="71628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Add within per-target</a:t>
            </a:r>
          </a:p>
        </p:txBody>
      </p:sp>
      <p:sp>
        <p:nvSpPr>
          <p:cNvPr id="8" name="TextBox 7"/>
          <p:cNvSpPr txBox="1"/>
          <p:nvPr/>
        </p:nvSpPr>
        <p:spPr>
          <a:xfrm>
            <a:off x="71628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saturation. Refuse the whole</a:t>
            </a:r>
          </a:p>
        </p:txBody>
      </p:sp>
      <p:sp>
        <p:nvSpPr>
          <p:cNvPr id="9" name="TextBox 8"/>
          <p:cNvSpPr txBox="1"/>
          <p:nvPr/>
        </p:nvSpPr>
        <p:spPr>
          <a:xfrm>
            <a:off x="71628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change if the context</a:t>
            </a:r>
          </a:p>
        </p:txBody>
      </p:sp>
      <p:sp>
        <p:nvSpPr>
          <p:cNvPr id="10" name="TextBox 9"/>
          <p:cNvSpPr txBox="1"/>
          <p:nvPr/>
        </p:nvSpPr>
        <p:spPr>
          <a:xfrm>
            <a:off x="71628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budget would be exceeded.</a:t>
            </a:r>
          </a:p>
        </p:txBody>
      </p:sp>
      <p:sp>
        <p:nvSpPr>
          <p:cNvPr id="11" name="Rounded Rectangle 10"/>
          <p:cNvSpPr/>
          <p:nvPr/>
        </p:nvSpPr>
        <p:spPr>
          <a:xfrm>
            <a:off x="4328160" y="1905000"/>
            <a:ext cx="3535679" cy="2522220"/>
          </a:xfrm>
          <a:prstGeom prst="roundRect">
            <a:avLst>
              <a:gd name="adj" fmla="val 3927"/>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449580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Select</a:t>
            </a:r>
          </a:p>
        </p:txBody>
      </p:sp>
      <p:sp>
        <p:nvSpPr>
          <p:cNvPr id="13" name="TextBox 12"/>
          <p:cNvSpPr txBox="1"/>
          <p:nvPr/>
        </p:nvSpPr>
        <p:spPr>
          <a:xfrm>
            <a:off x="449580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Rank positive eligible</a:t>
            </a:r>
          </a:p>
        </p:txBody>
      </p:sp>
      <p:sp>
        <p:nvSpPr>
          <p:cNvPr id="14" name="TextBox 13"/>
          <p:cNvSpPr txBox="1"/>
          <p:nvPr/>
        </p:nvSpPr>
        <p:spPr>
          <a:xfrm>
            <a:off x="449580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targets by descending STI,</a:t>
            </a:r>
          </a:p>
        </p:txBody>
      </p:sp>
      <p:sp>
        <p:nvSpPr>
          <p:cNvPr id="15" name="TextBox 14"/>
          <p:cNvSpPr txBox="1"/>
          <p:nvPr/>
        </p:nvSpPr>
        <p:spPr>
          <a:xfrm>
            <a:off x="449580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then the full canonical</a:t>
            </a:r>
          </a:p>
        </p:txBody>
      </p:sp>
      <p:sp>
        <p:nvSpPr>
          <p:cNvPr id="16" name="TextBox 15"/>
          <p:cNvSpPr txBox="1"/>
          <p:nvPr/>
        </p:nvSpPr>
        <p:spPr>
          <a:xfrm>
            <a:off x="449580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reference. Reads do not</a:t>
            </a:r>
          </a:p>
        </p:txBody>
      </p:sp>
      <p:sp>
        <p:nvSpPr>
          <p:cNvPr id="17" name="TextBox 16"/>
          <p:cNvSpPr txBox="1"/>
          <p:nvPr/>
        </p:nvSpPr>
        <p:spPr>
          <a:xfrm>
            <a:off x="449580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decay state.</a:t>
            </a:r>
          </a:p>
        </p:txBody>
      </p:sp>
      <p:sp>
        <p:nvSpPr>
          <p:cNvPr id="18" name="Rounded Rectangle 17"/>
          <p:cNvSpPr/>
          <p:nvPr/>
        </p:nvSpPr>
        <p:spPr>
          <a:xfrm>
            <a:off x="8107680" y="1905000"/>
            <a:ext cx="3535679" cy="2522220"/>
          </a:xfrm>
          <a:prstGeom prst="roundRect">
            <a:avLst>
              <a:gd name="adj" fmla="val 3927"/>
            </a:avLst>
          </a:prstGeom>
          <a:solidFill>
            <a:srgbClr val="E4EBF5"/>
          </a:solidFill>
          <a:ln w="7620">
            <a:solidFill>
              <a:srgbClr val="315E9C"/>
            </a:solidFill>
          </a:ln>
          <a:effectLst/>
        </p:spPr>
        <p:txBody>
          <a:bodyPr rtlCol="0" anchor="ctr"/>
          <a:lstStyle/>
          <a:p>
            <a:pPr algn="ctr"/>
          </a:p>
        </p:txBody>
      </p:sp>
      <p:sp>
        <p:nvSpPr>
          <p:cNvPr id="19" name="TextBox 18"/>
          <p:cNvSpPr txBox="1"/>
          <p:nvPr/>
        </p:nvSpPr>
        <p:spPr>
          <a:xfrm>
            <a:off x="8275320" y="2072639"/>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Advance</a:t>
            </a:r>
          </a:p>
        </p:txBody>
      </p:sp>
      <p:sp>
        <p:nvSpPr>
          <p:cNvPr id="20" name="TextBox 19"/>
          <p:cNvSpPr txBox="1"/>
          <p:nvPr/>
        </p:nvSpPr>
        <p:spPr>
          <a:xfrm>
            <a:off x="8275320" y="2480462"/>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Explicitly decay by logical</a:t>
            </a:r>
          </a:p>
        </p:txBody>
      </p:sp>
      <p:sp>
        <p:nvSpPr>
          <p:cNvPr id="21" name="TextBox 20"/>
          <p:cNvSpPr txBox="1"/>
          <p:nvPr/>
        </p:nvSpPr>
        <p:spPr>
          <a:xfrm>
            <a:off x="8275320" y="2763316"/>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steps. Stored causal</a:t>
            </a:r>
          </a:p>
        </p:txBody>
      </p:sp>
      <p:sp>
        <p:nvSpPr>
          <p:cNvPr id="22" name="TextBox 21"/>
          <p:cNvSpPr txBox="1"/>
          <p:nvPr/>
        </p:nvSpPr>
        <p:spPr>
          <a:xfrm>
            <a:off x="8275320" y="3046171"/>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generation survives decay,</a:t>
            </a:r>
          </a:p>
        </p:txBody>
      </p:sp>
      <p:sp>
        <p:nvSpPr>
          <p:cNvPr id="23" name="TextBox 22"/>
          <p:cNvSpPr txBox="1"/>
          <p:nvPr/>
        </p:nvSpPr>
        <p:spPr>
          <a:xfrm>
            <a:off x="8275320" y="332902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new ingress and new step</a:t>
            </a:r>
          </a:p>
        </p:txBody>
      </p:sp>
      <p:sp>
        <p:nvSpPr>
          <p:cNvPr id="24" name="TextBox 23"/>
          <p:cNvSpPr txBox="1"/>
          <p:nvPr/>
        </p:nvSpPr>
        <p:spPr>
          <a:xfrm>
            <a:off x="8275320" y="361187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IDs.</a:t>
            </a:r>
          </a:p>
        </p:txBody>
      </p:sp>
      <p:sp>
        <p:nvSpPr>
          <p:cNvPr id="25" name="TextBox 24"/>
          <p:cNvSpPr txBox="1"/>
          <p:nvPr/>
        </p:nvSpPr>
        <p:spPr>
          <a:xfrm>
            <a:off x="586740" y="4785360"/>
            <a:ext cx="109728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Default limits: 100 STI per target · 300 per context · decay 1 per logical step</a:t>
            </a:r>
          </a:p>
        </p:txBody>
      </p:sp>
      <p:sp>
        <p:nvSpPr>
          <p:cNvPr id="26" name="TextBox 25"/>
          <p:cNvSpPr txBox="1"/>
          <p:nvPr/>
        </p:nvSpPr>
        <p:spPr>
          <a:xfrm>
            <a:off x="586740" y="526542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Only authority and opaque-reference syntax are required; no Hive, storage or PLN runtime.</a:t>
            </a:r>
          </a:p>
        </p:txBody>
      </p:sp>
      <p:sp>
        <p:nvSpPr>
          <p:cNvPr id="27" name="Rounded Rectangle 2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8" name="TextBox 27"/>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This reference policy is implemented. ECAN, LTI, diffusion and new attention research are out of scope.</a:t>
            </a:r>
          </a:p>
        </p:txBody>
      </p:sp>
      <p:cxnSp>
        <p:nvCxnSpPr>
          <p:cNvPr id="29" name="Connector 28"/>
          <p:cNvCxnSpPr/>
          <p:nvPr/>
        </p:nvCxnSpPr>
        <p:spPr>
          <a:xfrm>
            <a:off x="548640" y="6393180"/>
            <a:ext cx="11094720" cy="0"/>
          </a:xfrm>
          <a:prstGeom prst="line">
            <a:avLst/>
          </a:prstGeom>
          <a:ln w="7620">
            <a:solidFill>
              <a:srgbClr val="C9D2D4"/>
            </a:solidFill>
          </a:ln>
          <a:effectLst/>
        </p:spPr>
      </p:cxnSp>
      <p:sp>
        <p:nvSpPr>
          <p:cNvPr id="30" name="TextBox 2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attention.py · fixture_attention.py</a:t>
            </a:r>
          </a:p>
        </p:txBody>
      </p:sp>
      <p:sp>
        <p:nvSpPr>
          <p:cNvPr id="31" name="TextBox 3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25 / 64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CONTROLLED SUBSTITUTION EXPERIMENT</a:t>
            </a:r>
          </a:p>
        </p:txBody>
      </p:sp>
      <p:sp>
        <p:nvSpPr>
          <p:cNvPr id="3" name="TextBox 2"/>
          <p:cNvSpPr txBox="1"/>
          <p:nvPr/>
        </p:nvSpPr>
        <p:spPr>
          <a:xfrm>
            <a:off x="533400" y="723900"/>
            <a:ext cx="11125200" cy="438912"/>
          </a:xfrm>
          <a:prstGeom prst="rect">
            <a:avLst/>
          </a:prstGeom>
          <a:noFill/>
        </p:spPr>
        <p:txBody>
          <a:bodyPr wrap="none" lIns="0" rIns="0" tIns="0" bIns="0" anchor="t" anchorCtr="0">
            <a:noAutofit/>
          </a:bodyPr>
          <a:lstStyle/>
          <a:p>
            <a:pPr algn="l">
              <a:lnSpc>
                <a:spcPct val="100000"/>
              </a:lnSpc>
              <a:spcBef>
                <a:spcPts val="0"/>
              </a:spcBef>
              <a:spcAft>
                <a:spcPts val="0"/>
              </a:spcAft>
            </a:pPr>
            <a:r>
              <a:rPr sz="2700" b="1">
                <a:solidFill>
                  <a:srgbClr val="102B3F"/>
                </a:solidFill>
                <a:latin typeface="DejaVu Sans"/>
              </a:rPr>
              <a:t>Attention replacement preserves the measured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Recorded M3 comparison: same tasks, evidence, policy and budgets; provider and preference vary.</a:t>
            </a:r>
          </a:p>
        </p:txBody>
      </p:sp>
      <p:sp>
        <p:nvSpPr>
          <p:cNvPr id="5" name="TextBox 4"/>
          <p:cNvSpPr txBox="1"/>
          <p:nvPr/>
        </p:nvSpPr>
        <p:spPr>
          <a:xfrm>
            <a:off x="670560" y="1790700"/>
            <a:ext cx="4251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ATTENTION PROVIDER</a:t>
            </a:r>
          </a:p>
        </p:txBody>
      </p:sp>
      <p:sp>
        <p:nvSpPr>
          <p:cNvPr id="6" name="TextBox 5"/>
          <p:cNvSpPr txBox="1"/>
          <p:nvPr/>
        </p:nvSpPr>
        <p:spPr>
          <a:xfrm>
            <a:off x="5166360" y="1790700"/>
            <a:ext cx="1203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PREFER</a:t>
            </a:r>
          </a:p>
        </p:txBody>
      </p:sp>
      <p:sp>
        <p:nvSpPr>
          <p:cNvPr id="7" name="TextBox 6"/>
          <p:cNvSpPr txBox="1"/>
          <p:nvPr/>
        </p:nvSpPr>
        <p:spPr>
          <a:xfrm>
            <a:off x="6614159" y="1790700"/>
            <a:ext cx="23926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SELECTION ORDER</a:t>
            </a:r>
          </a:p>
        </p:txBody>
      </p:sp>
      <p:sp>
        <p:nvSpPr>
          <p:cNvPr id="8" name="TextBox 7"/>
          <p:cNvSpPr txBox="1"/>
          <p:nvPr/>
        </p:nvSpPr>
        <p:spPr>
          <a:xfrm>
            <a:off x="925068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STEP TIME</a:t>
            </a:r>
          </a:p>
        </p:txBody>
      </p:sp>
      <p:sp>
        <p:nvSpPr>
          <p:cNvPr id="9" name="Rounded Rectangle 8"/>
          <p:cNvSpPr/>
          <p:nvPr/>
        </p:nvSpPr>
        <p:spPr>
          <a:xfrm>
            <a:off x="548640" y="2110740"/>
            <a:ext cx="11094720" cy="632460"/>
          </a:xfrm>
          <a:prstGeom prst="roundRect">
            <a:avLst>
              <a:gd name="adj" fmla="val 7228"/>
            </a:avLst>
          </a:prstGeom>
          <a:solidFill>
            <a:srgbClr val="FFFFFF"/>
          </a:solidFill>
          <a:ln>
            <a:noFill/>
          </a:ln>
          <a:effectLst/>
        </p:spPr>
        <p:txBody>
          <a:bodyPr rtlCol="0" anchor="ctr"/>
          <a:lstStyle/>
          <a:p>
            <a:pPr algn="ctr"/>
          </a:p>
        </p:txBody>
      </p:sp>
      <p:sp>
        <p:nvSpPr>
          <p:cNvPr id="10" name="TextBox 9"/>
          <p:cNvSpPr txBox="1"/>
          <p:nvPr/>
        </p:nvSpPr>
        <p:spPr>
          <a:xfrm>
            <a:off x="670560" y="224028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1" name="TextBox 10"/>
          <p:cNvSpPr txBox="1"/>
          <p:nvPr/>
        </p:nvSpPr>
        <p:spPr>
          <a:xfrm>
            <a:off x="5166360" y="224028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12" name="TextBox 11"/>
          <p:cNvSpPr txBox="1"/>
          <p:nvPr/>
        </p:nvSpPr>
        <p:spPr>
          <a:xfrm>
            <a:off x="6614159" y="224028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13" name="TextBox 12"/>
          <p:cNvSpPr txBox="1"/>
          <p:nvPr/>
        </p:nvSpPr>
        <p:spPr>
          <a:xfrm>
            <a:off x="9250680" y="224028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0.744361 s</a:t>
            </a:r>
          </a:p>
        </p:txBody>
      </p:sp>
      <p:sp>
        <p:nvSpPr>
          <p:cNvPr id="14" name="Rounded Rectangle 13"/>
          <p:cNvSpPr/>
          <p:nvPr/>
        </p:nvSpPr>
        <p:spPr>
          <a:xfrm>
            <a:off x="548640" y="2781300"/>
            <a:ext cx="11094720" cy="632460"/>
          </a:xfrm>
          <a:prstGeom prst="roundRect">
            <a:avLst>
              <a:gd name="adj" fmla="val 7228"/>
            </a:avLst>
          </a:prstGeom>
          <a:solidFill>
            <a:srgbClr val="FFFFFF"/>
          </a:solidFill>
          <a:ln>
            <a:noFill/>
          </a:ln>
          <a:effectLst/>
        </p:spPr>
        <p:txBody>
          <a:bodyPr rtlCol="0" anchor="ctr"/>
          <a:lstStyle/>
          <a:p>
            <a:pPr algn="ctr"/>
          </a:p>
        </p:txBody>
      </p:sp>
      <p:sp>
        <p:nvSpPr>
          <p:cNvPr id="15" name="TextBox 14"/>
          <p:cNvSpPr txBox="1"/>
          <p:nvPr/>
        </p:nvSpPr>
        <p:spPr>
          <a:xfrm>
            <a:off x="670560" y="291084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SQLite</a:t>
            </a:r>
          </a:p>
        </p:txBody>
      </p:sp>
      <p:sp>
        <p:nvSpPr>
          <p:cNvPr id="16" name="TextBox 15"/>
          <p:cNvSpPr txBox="1"/>
          <p:nvPr/>
        </p:nvSpPr>
        <p:spPr>
          <a:xfrm>
            <a:off x="5166360" y="291084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17" name="TextBox 16"/>
          <p:cNvSpPr txBox="1"/>
          <p:nvPr/>
        </p:nvSpPr>
        <p:spPr>
          <a:xfrm>
            <a:off x="6614159" y="291084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18" name="TextBox 17"/>
          <p:cNvSpPr txBox="1"/>
          <p:nvPr/>
        </p:nvSpPr>
        <p:spPr>
          <a:xfrm>
            <a:off x="9250680" y="291084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0.677157 s</a:t>
            </a:r>
          </a:p>
        </p:txBody>
      </p:sp>
      <p:sp>
        <p:nvSpPr>
          <p:cNvPr id="19" name="Rounded Rectangle 18"/>
          <p:cNvSpPr/>
          <p:nvPr/>
        </p:nvSpPr>
        <p:spPr>
          <a:xfrm>
            <a:off x="548640" y="3451860"/>
            <a:ext cx="11094720" cy="632460"/>
          </a:xfrm>
          <a:prstGeom prst="roundRect">
            <a:avLst>
              <a:gd name="adj" fmla="val 7228"/>
            </a:avLst>
          </a:prstGeom>
          <a:solidFill>
            <a:srgbClr val="FFFFFF"/>
          </a:solidFill>
          <a:ln>
            <a:noFill/>
          </a:ln>
          <a:effectLst/>
        </p:spPr>
        <p:txBody>
          <a:bodyPr rtlCol="0" anchor="ctr"/>
          <a:lstStyle/>
          <a:p>
            <a:pPr algn="ctr"/>
          </a:p>
        </p:txBody>
      </p:sp>
      <p:sp>
        <p:nvSpPr>
          <p:cNvPr id="20" name="TextBox 19"/>
          <p:cNvSpPr txBox="1"/>
          <p:nvPr/>
        </p:nvSpPr>
        <p:spPr>
          <a:xfrm>
            <a:off x="670560" y="358140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1" name="TextBox 20"/>
          <p:cNvSpPr txBox="1"/>
          <p:nvPr/>
        </p:nvSpPr>
        <p:spPr>
          <a:xfrm>
            <a:off x="5166360" y="358140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a:t>
            </a:r>
          </a:p>
        </p:txBody>
      </p:sp>
      <p:sp>
        <p:nvSpPr>
          <p:cNvPr id="22" name="TextBox 21"/>
          <p:cNvSpPr txBox="1"/>
          <p:nvPr/>
        </p:nvSpPr>
        <p:spPr>
          <a:xfrm>
            <a:off x="6614159" y="358140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b → a</a:t>
            </a:r>
          </a:p>
        </p:txBody>
      </p:sp>
      <p:sp>
        <p:nvSpPr>
          <p:cNvPr id="23" name="TextBox 22"/>
          <p:cNvSpPr txBox="1"/>
          <p:nvPr/>
        </p:nvSpPr>
        <p:spPr>
          <a:xfrm>
            <a:off x="9250680" y="358140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0.726126 s</a:t>
            </a:r>
          </a:p>
        </p:txBody>
      </p:sp>
      <p:sp>
        <p:nvSpPr>
          <p:cNvPr id="24" name="Rounded Rectangle 23"/>
          <p:cNvSpPr/>
          <p:nvPr/>
        </p:nvSpPr>
        <p:spPr>
          <a:xfrm>
            <a:off x="548640" y="4122419"/>
            <a:ext cx="11094720" cy="632460"/>
          </a:xfrm>
          <a:prstGeom prst="roundRect">
            <a:avLst>
              <a:gd name="adj" fmla="val 7228"/>
            </a:avLst>
          </a:prstGeom>
          <a:solidFill>
            <a:srgbClr val="FFFFFF"/>
          </a:solidFill>
          <a:ln>
            <a:noFill/>
          </a:ln>
          <a:effectLst/>
        </p:spPr>
        <p:txBody>
          <a:bodyPr rtlCol="0" anchor="ctr"/>
          <a:lstStyle/>
          <a:p>
            <a:pPr algn="ctr"/>
          </a:p>
        </p:txBody>
      </p:sp>
      <p:sp>
        <p:nvSpPr>
          <p:cNvPr id="25" name="TextBox 24"/>
          <p:cNvSpPr txBox="1"/>
          <p:nvPr/>
        </p:nvSpPr>
        <p:spPr>
          <a:xfrm>
            <a:off x="670560" y="4251960"/>
            <a:ext cx="4251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Atomic-file fixture</a:t>
            </a:r>
          </a:p>
        </p:txBody>
      </p:sp>
      <p:sp>
        <p:nvSpPr>
          <p:cNvPr id="26" name="TextBox 25"/>
          <p:cNvSpPr txBox="1"/>
          <p:nvPr/>
        </p:nvSpPr>
        <p:spPr>
          <a:xfrm>
            <a:off x="5166360" y="4251960"/>
            <a:ext cx="12039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a:t>
            </a:r>
          </a:p>
        </p:txBody>
      </p:sp>
      <p:sp>
        <p:nvSpPr>
          <p:cNvPr id="27" name="TextBox 26"/>
          <p:cNvSpPr txBox="1"/>
          <p:nvPr/>
        </p:nvSpPr>
        <p:spPr>
          <a:xfrm>
            <a:off x="6614159" y="4251960"/>
            <a:ext cx="23926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 → b</a:t>
            </a:r>
          </a:p>
        </p:txBody>
      </p:sp>
      <p:sp>
        <p:nvSpPr>
          <p:cNvPr id="28" name="TextBox 27"/>
          <p:cNvSpPr txBox="1"/>
          <p:nvPr/>
        </p:nvSpPr>
        <p:spPr>
          <a:xfrm>
            <a:off x="9250680" y="4251960"/>
            <a:ext cx="227076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0.641150 s</a:t>
            </a:r>
          </a:p>
        </p:txBody>
      </p:sp>
      <p:sp>
        <p:nvSpPr>
          <p:cNvPr id="29" name="Rounded Rectangle 28"/>
          <p:cNvSpPr/>
          <p:nvPr/>
        </p:nvSpPr>
        <p:spPr>
          <a:xfrm>
            <a:off x="548640" y="4914900"/>
            <a:ext cx="536448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0" name="TextBox 29"/>
          <p:cNvSpPr txBox="1"/>
          <p:nvPr/>
        </p:nvSpPr>
        <p:spPr>
          <a:xfrm>
            <a:off x="716280" y="508254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Every case</a:t>
            </a:r>
          </a:p>
        </p:txBody>
      </p:sp>
      <p:sp>
        <p:nvSpPr>
          <p:cNvPr id="31" name="TextBox 30"/>
          <p:cNvSpPr txBox="1"/>
          <p:nvPr/>
        </p:nvSpPr>
        <p:spPr>
          <a:xfrm>
            <a:off x="716280" y="539282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native call · 1 unique admission · 1 feedback credit</a:t>
            </a:r>
          </a:p>
        </p:txBody>
      </p:sp>
      <p:sp>
        <p:nvSpPr>
          <p:cNvPr id="32" name="Rounded Rectangle 31"/>
          <p:cNvSpPr/>
          <p:nvPr/>
        </p:nvSpPr>
        <p:spPr>
          <a:xfrm>
            <a:off x="6096000" y="4914900"/>
            <a:ext cx="5547360" cy="800100"/>
          </a:xfrm>
          <a:prstGeom prst="roundRect">
            <a:avLst>
              <a:gd name="adj" fmla="val 12380"/>
            </a:avLst>
          </a:prstGeom>
          <a:solidFill>
            <a:srgbClr val="DCEFE8"/>
          </a:solidFill>
          <a:ln w="7620">
            <a:solidFill>
              <a:srgbClr val="007C78"/>
            </a:solidFill>
          </a:ln>
          <a:effectLst/>
        </p:spPr>
        <p:txBody>
          <a:bodyPr rtlCol="0" anchor="ctr"/>
          <a:lstStyle/>
          <a:p>
            <a:pPr algn="ctr"/>
          </a:p>
        </p:txBody>
      </p:sp>
      <p:sp>
        <p:nvSpPr>
          <p:cNvPr id="33" name="TextBox 32"/>
          <p:cNvSpPr txBox="1"/>
          <p:nvPr/>
        </p:nvSpPr>
        <p:spPr>
          <a:xfrm>
            <a:off x="6263640" y="5082540"/>
            <a:ext cx="52120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Reopen all owners</a:t>
            </a:r>
          </a:p>
        </p:txBody>
      </p:sp>
      <p:sp>
        <p:nvSpPr>
          <p:cNvPr id="34" name="TextBox 33"/>
          <p:cNvSpPr txBox="1"/>
          <p:nvPr/>
        </p:nvSpPr>
        <p:spPr>
          <a:xfrm>
            <a:off x="6263640" y="5392826"/>
            <a:ext cx="52120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Same receipt · zero additional native calls</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Four local observations demonstrate substitution and selection effect; they are not a performance ranking.</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m3/final/comparison.json</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26 / 64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BOUNDED INFERENCE CONTROL</a:t>
            </a:r>
          </a:p>
        </p:txBody>
      </p:sp>
      <p:sp>
        <p:nvSpPr>
          <p:cNvPr id="3" name="TextBox 2"/>
          <p:cNvSpPr txBox="1"/>
          <p:nvPr/>
        </p:nvSpPr>
        <p:spPr>
          <a:xfrm>
            <a:off x="533400" y="723900"/>
            <a:ext cx="11125200" cy="497433"/>
          </a:xfrm>
          <a:prstGeom prst="rect">
            <a:avLst/>
          </a:prstGeom>
          <a:noFill/>
        </p:spPr>
        <p:txBody>
          <a:bodyPr wrap="none" lIns="0" rIns="0" tIns="0" bIns="0" anchor="t" anchorCtr="0">
            <a:noAutofit/>
          </a:bodyPr>
          <a:lstStyle/>
          <a:p>
            <a:pPr algn="l">
              <a:lnSpc>
                <a:spcPct val="100000"/>
              </a:lnSpc>
              <a:spcBef>
                <a:spcPts val="0"/>
              </a:spcBef>
              <a:spcAft>
                <a:spcPts val="0"/>
              </a:spcAft>
            </a:pPr>
            <a:r>
              <a:rPr sz="3060" b="1">
                <a:solidFill>
                  <a:srgbClr val="102B3F"/>
                </a:solidFill>
                <a:latin typeface="DejaVu Sans"/>
              </a:rPr>
              <a:t>C4: reserve work durably before invoking the rule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work budget limits physical evaluation opportunities, even when the process dies.</a:t>
            </a:r>
          </a:p>
        </p:txBody>
      </p:sp>
      <p:sp>
        <p:nvSpPr>
          <p:cNvPr id="5" name="Rounded Rectangle 4"/>
          <p:cNvSpPr/>
          <p:nvPr/>
        </p:nvSpPr>
        <p:spPr>
          <a:xfrm>
            <a:off x="5486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1 · Freeze</a:t>
            </a:r>
          </a:p>
        </p:txBody>
      </p:sp>
      <p:sp>
        <p:nvSpPr>
          <p:cNvPr id="7" name="TextBox 6"/>
          <p:cNvSpPr txBox="1"/>
          <p:nvPr/>
        </p:nvSpPr>
        <p:spPr>
          <a:xfrm>
            <a:off x="716280"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selection</a:t>
            </a:r>
          </a:p>
        </p:txBody>
      </p:sp>
      <p:sp>
        <p:nvSpPr>
          <p:cNvPr id="8" name="TextBox 7"/>
          <p:cNvSpPr txBox="1"/>
          <p:nvPr/>
        </p:nvSpPr>
        <p:spPr>
          <a:xfrm>
            <a:off x="716280"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Read the immutable</a:t>
            </a:r>
          </a:p>
        </p:txBody>
      </p:sp>
      <p:sp>
        <p:nvSpPr>
          <p:cNvPr id="9" name="TextBox 8"/>
          <p:cNvSpPr txBox="1"/>
          <p:nvPr/>
        </p:nvSpPr>
        <p:spPr>
          <a:xfrm>
            <a:off x="716280"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workset and exact</a:t>
            </a:r>
          </a:p>
        </p:txBody>
      </p:sp>
      <p:sp>
        <p:nvSpPr>
          <p:cNvPr id="10" name="TextBox 9"/>
          <p:cNvSpPr txBox="1"/>
          <p:nvPr/>
        </p:nvSpPr>
        <p:spPr>
          <a:xfrm>
            <a:off x="716280"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attention order.</a:t>
            </a:r>
          </a:p>
        </p:txBody>
      </p:sp>
      <p:cxnSp>
        <p:nvCxnSpPr>
          <p:cNvPr id="11" name="Connector 10"/>
          <p:cNvCxnSpPr/>
          <p:nvPr/>
        </p:nvCxnSpPr>
        <p:spPr>
          <a:xfrm>
            <a:off x="3185160" y="2933700"/>
            <a:ext cx="160019" cy="0"/>
          </a:xfrm>
          <a:prstGeom prst="line">
            <a:avLst/>
          </a:prstGeom>
          <a:ln w="15240">
            <a:solidFill>
              <a:srgbClr val="536775"/>
            </a:solidFill>
          </a:ln>
          <a:effectLst/>
        </p:spPr>
      </p:cxnSp>
      <p:sp>
        <p:nvSpPr>
          <p:cNvPr id="12" name="Freeform 11"/>
          <p:cNvSpPr/>
          <p:nvPr/>
        </p:nvSpPr>
        <p:spPr>
          <a:xfrm>
            <a:off x="32461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3" name="Rounded Rectangle 12"/>
          <p:cNvSpPr/>
          <p:nvPr/>
        </p:nvSpPr>
        <p:spPr>
          <a:xfrm>
            <a:off x="3368040" y="2019300"/>
            <a:ext cx="2636520" cy="1828800"/>
          </a:xfrm>
          <a:prstGeom prst="roundRect">
            <a:avLst>
              <a:gd name="adj" fmla="val 5416"/>
            </a:avLst>
          </a:prstGeom>
          <a:solidFill>
            <a:srgbClr val="FFFFFF"/>
          </a:solidFill>
          <a:ln w="7620">
            <a:solidFill>
              <a:srgbClr val="A86A15"/>
            </a:solidFill>
          </a:ln>
          <a:effectLst/>
        </p:spPr>
        <p:txBody>
          <a:bodyPr rtlCol="0" anchor="ctr"/>
          <a:lstStyle/>
          <a:p>
            <a:pPr algn="ctr"/>
          </a:p>
        </p:txBody>
      </p:sp>
      <p:sp>
        <p:nvSpPr>
          <p:cNvPr id="14" name="TextBox 13"/>
          <p:cNvSpPr txBox="1"/>
          <p:nvPr/>
        </p:nvSpPr>
        <p:spPr>
          <a:xfrm>
            <a:off x="3535679"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2 · Reserve</a:t>
            </a:r>
          </a:p>
        </p:txBody>
      </p:sp>
      <p:sp>
        <p:nvSpPr>
          <p:cNvPr id="15" name="TextBox 14"/>
          <p:cNvSpPr txBox="1"/>
          <p:nvPr/>
        </p:nvSpPr>
        <p:spPr>
          <a:xfrm>
            <a:off x="3535679" y="2469794"/>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attempt</a:t>
            </a:r>
          </a:p>
        </p:txBody>
      </p:sp>
      <p:sp>
        <p:nvSpPr>
          <p:cNvPr id="16" name="TextBox 15"/>
          <p:cNvSpPr txBox="1"/>
          <p:nvPr/>
        </p:nvSpPr>
        <p:spPr>
          <a:xfrm>
            <a:off x="3535679" y="282884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Commit candidate</a:t>
            </a:r>
          </a:p>
        </p:txBody>
      </p:sp>
      <p:sp>
        <p:nvSpPr>
          <p:cNvPr id="17" name="TextBox 16"/>
          <p:cNvSpPr txBox="1"/>
          <p:nvPr/>
        </p:nvSpPr>
        <p:spPr>
          <a:xfrm>
            <a:off x="3535679" y="3092196"/>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progress and a</a:t>
            </a:r>
          </a:p>
        </p:txBody>
      </p:sp>
      <p:sp>
        <p:nvSpPr>
          <p:cNvPr id="18" name="TextBox 17"/>
          <p:cNvSpPr txBox="1"/>
          <p:nvPr/>
        </p:nvSpPr>
        <p:spPr>
          <a:xfrm>
            <a:off x="3535679" y="3355543"/>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physical attempt slot.</a:t>
            </a:r>
          </a:p>
        </p:txBody>
      </p:sp>
      <p:cxnSp>
        <p:nvCxnSpPr>
          <p:cNvPr id="19" name="Connector 18"/>
          <p:cNvCxnSpPr/>
          <p:nvPr/>
        </p:nvCxnSpPr>
        <p:spPr>
          <a:xfrm>
            <a:off x="6004559" y="2933700"/>
            <a:ext cx="160021" cy="0"/>
          </a:xfrm>
          <a:prstGeom prst="line">
            <a:avLst/>
          </a:prstGeom>
          <a:ln w="15240">
            <a:solidFill>
              <a:srgbClr val="536775"/>
            </a:solidFill>
          </a:ln>
          <a:effectLst/>
        </p:spPr>
      </p:cxnSp>
      <p:sp>
        <p:nvSpPr>
          <p:cNvPr id="20" name="Freeform 19"/>
          <p:cNvSpPr/>
          <p:nvPr/>
        </p:nvSpPr>
        <p:spPr>
          <a:xfrm>
            <a:off x="60655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1" name="Rounded Rectangle 20"/>
          <p:cNvSpPr/>
          <p:nvPr/>
        </p:nvSpPr>
        <p:spPr>
          <a:xfrm>
            <a:off x="6187440" y="2019300"/>
            <a:ext cx="2636520" cy="1828800"/>
          </a:xfrm>
          <a:prstGeom prst="roundRect">
            <a:avLst>
              <a:gd name="adj" fmla="val 5416"/>
            </a:avLst>
          </a:prstGeom>
          <a:solidFill>
            <a:srgbClr val="FFFFFF"/>
          </a:solidFill>
          <a:ln w="7620">
            <a:solidFill>
              <a:srgbClr val="007C78"/>
            </a:solidFill>
          </a:ln>
          <a:effectLst/>
        </p:spPr>
        <p:txBody>
          <a:bodyPr rtlCol="0" anchor="ctr"/>
          <a:lstStyle/>
          <a:p>
            <a:pPr algn="ctr"/>
          </a:p>
        </p:txBody>
      </p:sp>
      <p:sp>
        <p:nvSpPr>
          <p:cNvPr id="22" name="TextBox 21"/>
          <p:cNvSpPr txBox="1"/>
          <p:nvPr/>
        </p:nvSpPr>
        <p:spPr>
          <a:xfrm>
            <a:off x="63550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3 · Ask C2</a:t>
            </a:r>
          </a:p>
        </p:txBody>
      </p:sp>
      <p:sp>
        <p:nvSpPr>
          <p:cNvPr id="23" name="TextBox 22"/>
          <p:cNvSpPr txBox="1"/>
          <p:nvPr/>
        </p:nvSpPr>
        <p:spPr>
          <a:xfrm>
            <a:off x="63550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a decision or</a:t>
            </a:r>
          </a:p>
        </p:txBody>
      </p:sp>
      <p:sp>
        <p:nvSpPr>
          <p:cNvPr id="24" name="TextBox 23"/>
          <p:cNvSpPr txBox="1"/>
          <p:nvPr/>
        </p:nvSpPr>
        <p:spPr>
          <a:xfrm>
            <a:off x="63550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dispatch the exact</a:t>
            </a:r>
          </a:p>
        </p:txBody>
      </p:sp>
      <p:sp>
        <p:nvSpPr>
          <p:cNvPr id="25" name="TextBox 24"/>
          <p:cNvSpPr txBox="1"/>
          <p:nvPr/>
        </p:nvSpPr>
        <p:spPr>
          <a:xfrm>
            <a:off x="63550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derivation attempt.</a:t>
            </a:r>
          </a:p>
        </p:txBody>
      </p:sp>
      <p:cxnSp>
        <p:nvCxnSpPr>
          <p:cNvPr id="26" name="Connector 25"/>
          <p:cNvCxnSpPr/>
          <p:nvPr/>
        </p:nvCxnSpPr>
        <p:spPr>
          <a:xfrm>
            <a:off x="8823960" y="2933700"/>
            <a:ext cx="160020" cy="0"/>
          </a:xfrm>
          <a:prstGeom prst="line">
            <a:avLst/>
          </a:prstGeom>
          <a:ln w="15240">
            <a:solidFill>
              <a:srgbClr val="536775"/>
            </a:solidFill>
          </a:ln>
          <a:effectLst/>
        </p:spPr>
      </p:cxnSp>
      <p:sp>
        <p:nvSpPr>
          <p:cNvPr id="27" name="Freeform 26"/>
          <p:cNvSpPr/>
          <p:nvPr/>
        </p:nvSpPr>
        <p:spPr>
          <a:xfrm>
            <a:off x="8884920" y="28956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28" name="Rounded Rectangle 27"/>
          <p:cNvSpPr/>
          <p:nvPr/>
        </p:nvSpPr>
        <p:spPr>
          <a:xfrm>
            <a:off x="9006840" y="2019300"/>
            <a:ext cx="2636520" cy="1828800"/>
          </a:xfrm>
          <a:prstGeom prst="roundRect">
            <a:avLst>
              <a:gd name="adj" fmla="val 5416"/>
            </a:avLst>
          </a:prstGeom>
          <a:solidFill>
            <a:srgbClr val="FFFFFF"/>
          </a:solidFill>
          <a:ln w="7620">
            <a:solidFill>
              <a:srgbClr val="315E9C"/>
            </a:solidFill>
          </a:ln>
          <a:effectLst/>
        </p:spPr>
        <p:txBody>
          <a:bodyPr rtlCol="0" anchor="ctr"/>
          <a:lstStyle/>
          <a:p>
            <a:pPr algn="ctr"/>
          </a:p>
        </p:txBody>
      </p:sp>
      <p:sp>
        <p:nvSpPr>
          <p:cNvPr id="29" name="TextBox 28"/>
          <p:cNvSpPr txBox="1"/>
          <p:nvPr/>
        </p:nvSpPr>
        <p:spPr>
          <a:xfrm>
            <a:off x="9174480" y="2186940"/>
            <a:ext cx="23012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4 · Reconcile</a:t>
            </a:r>
          </a:p>
        </p:txBody>
      </p:sp>
      <p:sp>
        <p:nvSpPr>
          <p:cNvPr id="30" name="TextBox 29"/>
          <p:cNvSpPr txBox="1"/>
          <p:nvPr/>
        </p:nvSpPr>
        <p:spPr>
          <a:xfrm>
            <a:off x="9174480" y="2545994"/>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Save decision and</a:t>
            </a:r>
          </a:p>
        </p:txBody>
      </p:sp>
      <p:sp>
        <p:nvSpPr>
          <p:cNvPr id="31" name="TextBox 30"/>
          <p:cNvSpPr txBox="1"/>
          <p:nvPr/>
        </p:nvSpPr>
        <p:spPr>
          <a:xfrm>
            <a:off x="9174480" y="2809341"/>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causal feedback</a:t>
            </a:r>
          </a:p>
        </p:txBody>
      </p:sp>
      <p:sp>
        <p:nvSpPr>
          <p:cNvPr id="32" name="TextBox 31"/>
          <p:cNvSpPr txBox="1"/>
          <p:nvPr/>
        </p:nvSpPr>
        <p:spPr>
          <a:xfrm>
            <a:off x="9174480" y="3072688"/>
            <a:ext cx="230124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acknowledgment.</a:t>
            </a:r>
          </a:p>
        </p:txBody>
      </p:sp>
      <p:sp>
        <p:nvSpPr>
          <p:cNvPr id="33" name="Rounded Rectangle 32"/>
          <p:cNvSpPr/>
          <p:nvPr/>
        </p:nvSpPr>
        <p:spPr>
          <a:xfrm>
            <a:off x="548640" y="4305300"/>
            <a:ext cx="5364480" cy="1264920"/>
          </a:xfrm>
          <a:prstGeom prst="roundRect">
            <a:avLst>
              <a:gd name="adj" fmla="val 7831"/>
            </a:avLst>
          </a:prstGeom>
          <a:solidFill>
            <a:srgbClr val="F3E7CE"/>
          </a:solidFill>
          <a:ln w="7620">
            <a:solidFill>
              <a:srgbClr val="A86A15"/>
            </a:solidFill>
          </a:ln>
          <a:effectLst/>
        </p:spPr>
        <p:txBody>
          <a:bodyPr rtlCol="0" anchor="ctr"/>
          <a:lstStyle/>
          <a:p>
            <a:pPr algn="ctr"/>
          </a:p>
        </p:txBody>
      </p:sp>
      <p:sp>
        <p:nvSpPr>
          <p:cNvPr id="34" name="TextBox 33"/>
          <p:cNvSpPr txBox="1"/>
          <p:nvPr/>
        </p:nvSpPr>
        <p:spPr>
          <a:xfrm>
            <a:off x="716280" y="44729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A86A15"/>
                </a:solidFill>
                <a:latin typeface="DejaVu Sans"/>
              </a:rPr>
              <a:t>Budget survives restart</a:t>
            </a:r>
          </a:p>
        </p:txBody>
      </p:sp>
      <p:sp>
        <p:nvSpPr>
          <p:cNvPr id="35" name="TextBox 34"/>
          <p:cNvSpPr txBox="1"/>
          <p:nvPr/>
        </p:nvSpPr>
        <p:spPr>
          <a:xfrm>
            <a:off x="716280" y="4841747"/>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Candidate count, reserved attempts, generation</a:t>
            </a:r>
          </a:p>
        </p:txBody>
      </p:sp>
      <p:sp>
        <p:nvSpPr>
          <p:cNvPr id="36" name="TextBox 35"/>
          <p:cNvSpPr txBox="1"/>
          <p:nvPr/>
        </p:nvSpPr>
        <p:spPr>
          <a:xfrm>
            <a:off x="716280" y="5105095"/>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limit and absolute deadline are persisted.</a:t>
            </a:r>
          </a:p>
        </p:txBody>
      </p:sp>
      <p:sp>
        <p:nvSpPr>
          <p:cNvPr id="37" name="Rounded Rectangle 36"/>
          <p:cNvSpPr/>
          <p:nvPr/>
        </p:nvSpPr>
        <p:spPr>
          <a:xfrm>
            <a:off x="6096000" y="4305300"/>
            <a:ext cx="5547360" cy="1264920"/>
          </a:xfrm>
          <a:prstGeom prst="roundRect">
            <a:avLst>
              <a:gd name="adj" fmla="val 7831"/>
            </a:avLst>
          </a:prstGeom>
          <a:solidFill>
            <a:srgbClr val="E4EBF5"/>
          </a:solidFill>
          <a:ln w="7620">
            <a:solidFill>
              <a:srgbClr val="315E9C"/>
            </a:solidFill>
          </a:ln>
          <a:effectLst/>
        </p:spPr>
        <p:txBody>
          <a:bodyPr rtlCol="0" anchor="ctr"/>
          <a:lstStyle/>
          <a:p>
            <a:pPr algn="ctr"/>
          </a:p>
        </p:txBody>
      </p:sp>
      <p:sp>
        <p:nvSpPr>
          <p:cNvPr id="38" name="TextBox 37"/>
          <p:cNvSpPr txBox="1"/>
          <p:nvPr/>
        </p:nvSpPr>
        <p:spPr>
          <a:xfrm>
            <a:off x="6263640" y="4472940"/>
            <a:ext cx="521208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Selection changes next step</a:t>
            </a:r>
          </a:p>
        </p:txBody>
      </p:sp>
      <p:sp>
        <p:nvSpPr>
          <p:cNvPr id="39" name="TextBox 38"/>
          <p:cNvSpPr txBox="1"/>
          <p:nvPr/>
        </p:nvSpPr>
        <p:spPr>
          <a:xfrm>
            <a:off x="6263640" y="4841747"/>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Current selection is frozen. A unique admission</a:t>
            </a:r>
          </a:p>
        </p:txBody>
      </p:sp>
      <p:sp>
        <p:nvSpPr>
          <p:cNvPr id="40" name="TextBox 39"/>
          <p:cNvSpPr txBox="1"/>
          <p:nvPr/>
        </p:nvSpPr>
        <p:spPr>
          <a:xfrm>
            <a:off x="6263640" y="5105095"/>
            <a:ext cx="52120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records one causal feedback intent.</a:t>
            </a:r>
          </a:p>
        </p:txBody>
      </p:sp>
      <p:sp>
        <p:nvSpPr>
          <p:cNvPr id="41" name="Rounded Rectangle 4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2" name="TextBox 41"/>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refund for a lost pending attempt. A new evaluation needs another slot and attempt identity.</a:t>
            </a:r>
          </a:p>
        </p:txBody>
      </p:sp>
      <p:cxnSp>
        <p:nvCxnSpPr>
          <p:cNvPr id="43" name="Connector 42"/>
          <p:cNvCxnSpPr/>
          <p:nvPr/>
        </p:nvCxnSpPr>
        <p:spPr>
          <a:xfrm>
            <a:off x="548640" y="6393180"/>
            <a:ext cx="11094720" cy="0"/>
          </a:xfrm>
          <a:prstGeom prst="line">
            <a:avLst/>
          </a:prstGeom>
          <a:ln w="7620">
            <a:solidFill>
              <a:srgbClr val="C9D2D4"/>
            </a:solidFill>
          </a:ln>
          <a:effectLst/>
        </p:spPr>
      </p:cxnSp>
      <p:sp>
        <p:nvSpPr>
          <p:cNvPr id="44" name="TextBox 4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inference.py · deadlines.py</a:t>
            </a:r>
          </a:p>
        </p:txBody>
      </p:sp>
      <p:sp>
        <p:nvSpPr>
          <p:cNvPr id="45" name="TextBox 4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27 / 64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M3.1 BOUNDED RECONCILIATION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C3 alone settles the feedback outcome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C4 asks about the exact recorded intent. Attention serializes application and retirement.</a:t>
            </a:r>
          </a:p>
        </p:txBody>
      </p:sp>
      <p:sp>
        <p:nvSpPr>
          <p:cNvPr id="5" name="Rounded Rectangle 4"/>
          <p:cNvSpPr/>
          <p:nvPr/>
        </p:nvSpPr>
        <p:spPr>
          <a:xfrm>
            <a:off x="548640" y="2057400"/>
            <a:ext cx="297180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225040"/>
            <a:ext cx="263652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Exact feedback intent</a:t>
            </a:r>
          </a:p>
        </p:txBody>
      </p:sp>
      <p:sp>
        <p:nvSpPr>
          <p:cNvPr id="7" name="TextBox 6"/>
          <p:cNvSpPr txBox="1"/>
          <p:nvPr/>
        </p:nvSpPr>
        <p:spPr>
          <a:xfrm>
            <a:off x="716280" y="2574340"/>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Original clock, cause, parent,</a:t>
            </a:r>
          </a:p>
        </p:txBody>
      </p:sp>
      <p:sp>
        <p:nvSpPr>
          <p:cNvPr id="8" name="TextBox 7"/>
          <p:cNvSpPr txBox="1"/>
          <p:nvPr/>
        </p:nvSpPr>
        <p:spPr>
          <a:xfrm>
            <a:off x="716280" y="2779166"/>
            <a:ext cx="26365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generation and effect deadline</a:t>
            </a:r>
          </a:p>
        </p:txBody>
      </p:sp>
      <p:sp>
        <p:nvSpPr>
          <p:cNvPr id="9" name="Rounded Rectangle 8"/>
          <p:cNvSpPr/>
          <p:nvPr/>
        </p:nvSpPr>
        <p:spPr>
          <a:xfrm>
            <a:off x="4572000" y="2057400"/>
            <a:ext cx="2575560" cy="1257300"/>
          </a:xfrm>
          <a:prstGeom prst="roundRect">
            <a:avLst>
              <a:gd name="adj" fmla="val 7878"/>
            </a:avLst>
          </a:prstGeom>
          <a:solidFill>
            <a:srgbClr val="E4EBF5"/>
          </a:solidFill>
          <a:ln w="7620">
            <a:solidFill>
              <a:srgbClr val="315E9C"/>
            </a:solidFill>
          </a:ln>
          <a:effectLst/>
        </p:spPr>
        <p:txBody>
          <a:bodyPr rtlCol="0" anchor="ctr"/>
          <a:lstStyle/>
          <a:p>
            <a:pPr algn="ctr"/>
          </a:p>
        </p:txBody>
      </p:sp>
      <p:sp>
        <p:nvSpPr>
          <p:cNvPr id="10" name="TextBox 9"/>
          <p:cNvSpPr txBox="1"/>
          <p:nvPr/>
        </p:nvSpPr>
        <p:spPr>
          <a:xfrm>
            <a:off x="4739640" y="2225040"/>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C3 ·</a:t>
            </a:r>
          </a:p>
        </p:txBody>
      </p:sp>
      <p:sp>
        <p:nvSpPr>
          <p:cNvPr id="11" name="TextBox 10"/>
          <p:cNvSpPr txBox="1"/>
          <p:nvPr/>
        </p:nvSpPr>
        <p:spPr>
          <a:xfrm>
            <a:off x="4739640" y="2488387"/>
            <a:ext cx="224028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resolveFeedback</a:t>
            </a:r>
          </a:p>
        </p:txBody>
      </p:sp>
      <p:sp>
        <p:nvSpPr>
          <p:cNvPr id="12" name="TextBox 11"/>
          <p:cNvSpPr txBox="1"/>
          <p:nvPr/>
        </p:nvSpPr>
        <p:spPr>
          <a:xfrm>
            <a:off x="4739640" y="2827934"/>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One owner transaction</a:t>
            </a:r>
          </a:p>
        </p:txBody>
      </p:sp>
      <p:sp>
        <p:nvSpPr>
          <p:cNvPr id="13" name="TextBox 12"/>
          <p:cNvSpPr txBox="1"/>
          <p:nvPr/>
        </p:nvSpPr>
        <p:spPr>
          <a:xfrm>
            <a:off x="4739640" y="3032760"/>
            <a:ext cx="224028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or one file-owner lock</a:t>
            </a:r>
          </a:p>
        </p:txBody>
      </p:sp>
      <p:cxnSp>
        <p:nvCxnSpPr>
          <p:cNvPr id="14" name="Connector 13"/>
          <p:cNvCxnSpPr/>
          <p:nvPr/>
        </p:nvCxnSpPr>
        <p:spPr>
          <a:xfrm>
            <a:off x="3520440" y="2682240"/>
            <a:ext cx="1051560" cy="0"/>
          </a:xfrm>
          <a:prstGeom prst="line">
            <a:avLst/>
          </a:prstGeom>
          <a:ln w="15240">
            <a:solidFill>
              <a:srgbClr val="315E9C"/>
            </a:solidFill>
          </a:ln>
          <a:effectLst/>
        </p:spPr>
      </p:cxnSp>
      <p:sp>
        <p:nvSpPr>
          <p:cNvPr id="15" name="Freeform 14"/>
          <p:cNvSpPr/>
          <p:nvPr/>
        </p:nvSpPr>
        <p:spPr>
          <a:xfrm>
            <a:off x="4472940" y="26441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16" name="Rounded Rectangle 15"/>
          <p:cNvSpPr/>
          <p:nvPr/>
        </p:nvSpPr>
        <p:spPr>
          <a:xfrm>
            <a:off x="8153400" y="1813559"/>
            <a:ext cx="3489960" cy="1089660"/>
          </a:xfrm>
          <a:prstGeom prst="roundRect">
            <a:avLst>
              <a:gd name="adj" fmla="val 9090"/>
            </a:avLst>
          </a:prstGeom>
          <a:solidFill>
            <a:srgbClr val="DCEFE8"/>
          </a:solidFill>
          <a:ln w="7620">
            <a:solidFill>
              <a:srgbClr val="007C78"/>
            </a:solidFill>
          </a:ln>
          <a:effectLst/>
        </p:spPr>
        <p:txBody>
          <a:bodyPr rtlCol="0" anchor="ctr"/>
          <a:lstStyle/>
          <a:p>
            <a:pPr algn="ctr"/>
          </a:p>
        </p:txBody>
      </p:sp>
      <p:sp>
        <p:nvSpPr>
          <p:cNvPr id="17" name="TextBox 16"/>
          <p:cNvSpPr txBox="1"/>
          <p:nvPr/>
        </p:nvSpPr>
        <p:spPr>
          <a:xfrm>
            <a:off x="8321039" y="198120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007C78"/>
                </a:solidFill>
                <a:latin typeface="DejaVu Sans"/>
              </a:rPr>
              <a:t>APPLIED</a:t>
            </a:r>
          </a:p>
        </p:txBody>
      </p:sp>
      <p:sp>
        <p:nvSpPr>
          <p:cNvPr id="18" name="TextBox 17"/>
          <p:cNvSpPr txBox="1"/>
          <p:nvPr/>
        </p:nvSpPr>
        <p:spPr>
          <a:xfrm>
            <a:off x="8321039" y="232074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Return original durable receipt</a:t>
            </a:r>
          </a:p>
        </p:txBody>
      </p:sp>
      <p:cxnSp>
        <p:nvCxnSpPr>
          <p:cNvPr id="19" name="Connector 18"/>
          <p:cNvCxnSpPr/>
          <p:nvPr/>
        </p:nvCxnSpPr>
        <p:spPr>
          <a:xfrm>
            <a:off x="7147559" y="2682240"/>
            <a:ext cx="472441" cy="0"/>
          </a:xfrm>
          <a:prstGeom prst="line">
            <a:avLst/>
          </a:prstGeom>
          <a:ln w="15240">
            <a:solidFill>
              <a:srgbClr val="007C78"/>
            </a:solidFill>
          </a:ln>
          <a:effectLst/>
        </p:spPr>
      </p:cxnSp>
      <p:cxnSp>
        <p:nvCxnSpPr>
          <p:cNvPr id="20" name="Connector 19"/>
          <p:cNvCxnSpPr/>
          <p:nvPr/>
        </p:nvCxnSpPr>
        <p:spPr>
          <a:xfrm flipV="1">
            <a:off x="7620000" y="2362200"/>
            <a:ext cx="0" cy="320040"/>
          </a:xfrm>
          <a:prstGeom prst="line">
            <a:avLst/>
          </a:prstGeom>
          <a:ln w="15240">
            <a:solidFill>
              <a:srgbClr val="007C78"/>
            </a:solidFill>
          </a:ln>
          <a:effectLst/>
        </p:spPr>
      </p:cxnSp>
      <p:cxnSp>
        <p:nvCxnSpPr>
          <p:cNvPr id="21" name="Connector 20"/>
          <p:cNvCxnSpPr/>
          <p:nvPr/>
        </p:nvCxnSpPr>
        <p:spPr>
          <a:xfrm>
            <a:off x="7620000" y="2362200"/>
            <a:ext cx="533400" cy="0"/>
          </a:xfrm>
          <a:prstGeom prst="line">
            <a:avLst/>
          </a:prstGeom>
          <a:ln w="15240">
            <a:solidFill>
              <a:srgbClr val="007C78"/>
            </a:solidFill>
          </a:ln>
          <a:effectLst/>
        </p:spPr>
      </p:cxnSp>
      <p:sp>
        <p:nvSpPr>
          <p:cNvPr id="22" name="Freeform 21"/>
          <p:cNvSpPr/>
          <p:nvPr/>
        </p:nvSpPr>
        <p:spPr>
          <a:xfrm>
            <a:off x="8054340" y="23241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ounded Rectangle 22"/>
          <p:cNvSpPr/>
          <p:nvPr/>
        </p:nvSpPr>
        <p:spPr>
          <a:xfrm>
            <a:off x="8153400" y="3086100"/>
            <a:ext cx="3489960" cy="1089660"/>
          </a:xfrm>
          <a:prstGeom prst="roundRect">
            <a:avLst>
              <a:gd name="adj" fmla="val 9090"/>
            </a:avLst>
          </a:prstGeom>
          <a:solidFill>
            <a:srgbClr val="F3E7CE"/>
          </a:solidFill>
          <a:ln w="7620">
            <a:solidFill>
              <a:srgbClr val="A86A15"/>
            </a:solidFill>
          </a:ln>
          <a:effectLst/>
        </p:spPr>
        <p:txBody>
          <a:bodyPr rtlCol="0" anchor="ctr"/>
          <a:lstStyle/>
          <a:p>
            <a:pPr algn="ctr"/>
          </a:p>
        </p:txBody>
      </p:sp>
      <p:sp>
        <p:nvSpPr>
          <p:cNvPr id="24" name="TextBox 23"/>
          <p:cNvSpPr txBox="1"/>
          <p:nvPr/>
        </p:nvSpPr>
        <p:spPr>
          <a:xfrm>
            <a:off x="8321039" y="325374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A86A15"/>
                </a:solidFill>
                <a:latin typeface="DejaVu Sans"/>
              </a:rPr>
              <a:t>RETIRED · NO CREDIT</a:t>
            </a:r>
          </a:p>
        </p:txBody>
      </p:sp>
      <p:sp>
        <p:nvSpPr>
          <p:cNvPr id="25" name="TextBox 24"/>
          <p:cNvSpPr txBox="1"/>
          <p:nvPr/>
        </p:nvSpPr>
        <p:spPr>
          <a:xfrm>
            <a:off x="8321039" y="359328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Expired or obsolete clock / parent</a:t>
            </a:r>
          </a:p>
        </p:txBody>
      </p:sp>
      <p:cxnSp>
        <p:nvCxnSpPr>
          <p:cNvPr id="26" name="Connector 25"/>
          <p:cNvCxnSpPr/>
          <p:nvPr/>
        </p:nvCxnSpPr>
        <p:spPr>
          <a:xfrm>
            <a:off x="7147559" y="2682240"/>
            <a:ext cx="472441" cy="0"/>
          </a:xfrm>
          <a:prstGeom prst="line">
            <a:avLst/>
          </a:prstGeom>
          <a:ln w="15240">
            <a:solidFill>
              <a:srgbClr val="A86A15"/>
            </a:solidFill>
          </a:ln>
          <a:effectLst/>
        </p:spPr>
      </p:cxnSp>
      <p:cxnSp>
        <p:nvCxnSpPr>
          <p:cNvPr id="27" name="Connector 26"/>
          <p:cNvCxnSpPr/>
          <p:nvPr/>
        </p:nvCxnSpPr>
        <p:spPr>
          <a:xfrm>
            <a:off x="7620000" y="2682240"/>
            <a:ext cx="0" cy="952500"/>
          </a:xfrm>
          <a:prstGeom prst="line">
            <a:avLst/>
          </a:prstGeom>
          <a:ln w="15240">
            <a:solidFill>
              <a:srgbClr val="A86A15"/>
            </a:solidFill>
          </a:ln>
          <a:effectLst/>
        </p:spPr>
      </p:cxnSp>
      <p:cxnSp>
        <p:nvCxnSpPr>
          <p:cNvPr id="28" name="Connector 27"/>
          <p:cNvCxnSpPr/>
          <p:nvPr/>
        </p:nvCxnSpPr>
        <p:spPr>
          <a:xfrm>
            <a:off x="7620000" y="3634740"/>
            <a:ext cx="533400" cy="0"/>
          </a:xfrm>
          <a:prstGeom prst="line">
            <a:avLst/>
          </a:prstGeom>
          <a:ln w="15240">
            <a:solidFill>
              <a:srgbClr val="A86A15"/>
            </a:solidFill>
          </a:ln>
          <a:effectLst/>
        </p:spPr>
      </p:cxnSp>
      <p:sp>
        <p:nvSpPr>
          <p:cNvPr id="29" name="Freeform 28"/>
          <p:cNvSpPr/>
          <p:nvPr/>
        </p:nvSpPr>
        <p:spPr>
          <a:xfrm>
            <a:off x="8054340" y="3596640"/>
            <a:ext cx="99060" cy="76200"/>
          </a:xfrm>
          <a:custGeom>
            <a:avLst/>
            <a:gdLst/>
            <a:ahLst/>
            <a:cxnLst/>
            <a:rect l="l" t="t" r="r" b="b"/>
            <a:pathLst>
              <a:path w="13" h="10">
                <a:moveTo>
                  <a:pt x="13" y="5"/>
                </a:moveTo>
                <a:lnTo>
                  <a:pt x="0" y="0"/>
                </a:lnTo>
                <a:lnTo>
                  <a:pt x="0" y="10"/>
                </a:lnTo>
                <a:close/>
              </a:path>
            </a:pathLst>
          </a:custGeom>
          <a:solidFill>
            <a:srgbClr val="A86A15"/>
          </a:solidFill>
          <a:ln>
            <a:noFill/>
          </a:ln>
          <a:effectLst/>
        </p:spPr>
        <p:txBody>
          <a:bodyPr rtlCol="0" anchor="ctr"/>
          <a:lstStyle/>
          <a:p>
            <a:pPr algn="ctr"/>
          </a:p>
        </p:txBody>
      </p:sp>
      <p:sp>
        <p:nvSpPr>
          <p:cNvPr id="30" name="Rounded Rectangle 29"/>
          <p:cNvSpPr/>
          <p:nvPr/>
        </p:nvSpPr>
        <p:spPr>
          <a:xfrm>
            <a:off x="8153400" y="4358640"/>
            <a:ext cx="3489960" cy="1089660"/>
          </a:xfrm>
          <a:prstGeom prst="roundRect">
            <a:avLst>
              <a:gd name="adj" fmla="val 9090"/>
            </a:avLst>
          </a:prstGeom>
          <a:solidFill>
            <a:srgbClr val="E4EBF5"/>
          </a:solidFill>
          <a:ln w="7620">
            <a:solidFill>
              <a:srgbClr val="315E9C"/>
            </a:solidFill>
          </a:ln>
          <a:effectLst/>
        </p:spPr>
        <p:txBody>
          <a:bodyPr rtlCol="0" anchor="ctr"/>
          <a:lstStyle/>
          <a:p>
            <a:pPr algn="ctr"/>
          </a:p>
        </p:txBody>
      </p:sp>
      <p:sp>
        <p:nvSpPr>
          <p:cNvPr id="31" name="TextBox 30"/>
          <p:cNvSpPr txBox="1"/>
          <p:nvPr/>
        </p:nvSpPr>
        <p:spPr>
          <a:xfrm>
            <a:off x="8321039" y="4526280"/>
            <a:ext cx="3154679"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315E9C"/>
                </a:solidFill>
                <a:latin typeface="DejaVu Sans"/>
              </a:rPr>
              <a:t>PENDING</a:t>
            </a:r>
          </a:p>
        </p:txBody>
      </p:sp>
      <p:sp>
        <p:nvSpPr>
          <p:cNvPr id="32" name="TextBox 31"/>
          <p:cNvSpPr txBox="1"/>
          <p:nvPr/>
        </p:nvSpPr>
        <p:spPr>
          <a:xfrm>
            <a:off x="8321039" y="4865827"/>
            <a:ext cx="31546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Eligible, unavailable or malformed</a:t>
            </a:r>
          </a:p>
        </p:txBody>
      </p:sp>
      <p:cxnSp>
        <p:nvCxnSpPr>
          <p:cNvPr id="33" name="Connector 32"/>
          <p:cNvCxnSpPr/>
          <p:nvPr/>
        </p:nvCxnSpPr>
        <p:spPr>
          <a:xfrm>
            <a:off x="7147559" y="2682240"/>
            <a:ext cx="472441" cy="0"/>
          </a:xfrm>
          <a:prstGeom prst="line">
            <a:avLst/>
          </a:prstGeom>
          <a:ln w="15240">
            <a:solidFill>
              <a:srgbClr val="315E9C"/>
            </a:solidFill>
          </a:ln>
          <a:effectLst/>
        </p:spPr>
      </p:cxnSp>
      <p:cxnSp>
        <p:nvCxnSpPr>
          <p:cNvPr id="34" name="Connector 33"/>
          <p:cNvCxnSpPr/>
          <p:nvPr/>
        </p:nvCxnSpPr>
        <p:spPr>
          <a:xfrm>
            <a:off x="7620000" y="2682240"/>
            <a:ext cx="0" cy="2225040"/>
          </a:xfrm>
          <a:prstGeom prst="line">
            <a:avLst/>
          </a:prstGeom>
          <a:ln w="15240">
            <a:solidFill>
              <a:srgbClr val="315E9C"/>
            </a:solidFill>
          </a:ln>
          <a:effectLst/>
        </p:spPr>
      </p:cxnSp>
      <p:cxnSp>
        <p:nvCxnSpPr>
          <p:cNvPr id="35" name="Connector 34"/>
          <p:cNvCxnSpPr/>
          <p:nvPr/>
        </p:nvCxnSpPr>
        <p:spPr>
          <a:xfrm>
            <a:off x="7620000" y="4907280"/>
            <a:ext cx="533400" cy="0"/>
          </a:xfrm>
          <a:prstGeom prst="line">
            <a:avLst/>
          </a:prstGeom>
          <a:ln w="15240">
            <a:solidFill>
              <a:srgbClr val="315E9C"/>
            </a:solidFill>
          </a:ln>
          <a:effectLst/>
        </p:spPr>
      </p:cxnSp>
      <p:sp>
        <p:nvSpPr>
          <p:cNvPr id="36" name="Freeform 35"/>
          <p:cNvSpPr/>
          <p:nvPr/>
        </p:nvSpPr>
        <p:spPr>
          <a:xfrm>
            <a:off x="8054340" y="48691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7" name="Rounded Rectangle 36"/>
          <p:cNvSpPr/>
          <p:nvPr/>
        </p:nvSpPr>
        <p:spPr>
          <a:xfrm>
            <a:off x="548640" y="3832860"/>
            <a:ext cx="6598920" cy="1615439"/>
          </a:xfrm>
          <a:prstGeom prst="roundRect">
            <a:avLst>
              <a:gd name="adj" fmla="val 6132"/>
            </a:avLst>
          </a:prstGeom>
          <a:solidFill>
            <a:srgbClr val="FFFFFF"/>
          </a:solidFill>
          <a:ln w="7620">
            <a:solidFill>
              <a:srgbClr val="007C78"/>
            </a:solidFill>
          </a:ln>
          <a:effectLst/>
        </p:spPr>
        <p:txBody>
          <a:bodyPr rtlCol="0" anchor="ctr"/>
          <a:lstStyle/>
          <a:p>
            <a:pPr algn="ctr"/>
          </a:p>
        </p:txBody>
      </p:sp>
      <p:sp>
        <p:nvSpPr>
          <p:cNvPr id="38" name="TextBox 37"/>
          <p:cNvSpPr txBox="1"/>
          <p:nvPr/>
        </p:nvSpPr>
        <p:spPr>
          <a:xfrm>
            <a:off x="716280" y="4000500"/>
            <a:ext cx="626364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C4 keeps a separate closure journal</a:t>
            </a:r>
          </a:p>
        </p:txBody>
      </p:sp>
      <p:sp>
        <p:nvSpPr>
          <p:cNvPr id="39" name="TextBox 38"/>
          <p:cNvSpPr txBox="1"/>
          <p:nvPr/>
        </p:nvSpPr>
        <p:spPr>
          <a:xfrm>
            <a:off x="716280" y="4379061"/>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1–16 resolutions per call · 128 commands per step</a:t>
            </a:r>
          </a:p>
        </p:txBody>
      </p:sp>
      <p:sp>
        <p:nvSpPr>
          <p:cNvPr id="40" name="TextBox 39"/>
          <p:cNvSpPr txBox="1"/>
          <p:nvPr/>
        </p:nvSpPr>
        <p:spPr>
          <a:xfrm>
            <a:off x="716280" y="4632655"/>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Original execution, spent budget and deadline stay fixed.</a:t>
            </a:r>
          </a:p>
        </p:txBody>
      </p:sp>
      <p:sp>
        <p:nvSpPr>
          <p:cNvPr id="41" name="TextBox 40"/>
          <p:cNvSpPr txBox="1"/>
          <p:nvPr/>
        </p:nvSpPr>
        <p:spPr>
          <a:xfrm>
            <a:off x="716280" y="4886248"/>
            <a:ext cx="626364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Reconciliation makes zero new native formula calls.</a:t>
            </a:r>
          </a:p>
        </p:txBody>
      </p:sp>
      <p:sp>
        <p:nvSpPr>
          <p:cNvPr id="42" name="Rounded Rectangle 4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3" name="TextBox 4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Applied before a lost reply → recover once. Retired first → delayed delivery cannot award credit.</a:t>
            </a:r>
          </a:p>
        </p:txBody>
      </p:sp>
      <p:cxnSp>
        <p:nvCxnSpPr>
          <p:cNvPr id="44" name="Connector 43"/>
          <p:cNvCxnSpPr/>
          <p:nvPr/>
        </p:nvCxnSpPr>
        <p:spPr>
          <a:xfrm>
            <a:off x="548640" y="6393180"/>
            <a:ext cx="11094720" cy="0"/>
          </a:xfrm>
          <a:prstGeom prst="line">
            <a:avLst/>
          </a:prstGeom>
          <a:ln w="7620">
            <a:solidFill>
              <a:srgbClr val="C9D2D4"/>
            </a:solidFill>
          </a:ln>
          <a:effectLst/>
        </p:spPr>
      </p:cxnSp>
      <p:sp>
        <p:nvSpPr>
          <p:cNvPr id="45" name="TextBox 4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attention.py · fixture_attention.py · inference.py</a:t>
            </a:r>
          </a:p>
        </p:txBody>
      </p:sp>
      <p:sp>
        <p:nvSpPr>
          <p:cNvPr id="46" name="TextBox 4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28 / 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RECOVERY · ACTUAL SIGKILL</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Five crash boundaries, independent owner commits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10 direct boundary cases + 5 actual Hive caller boundary cases in the recorded M3 run.</a:t>
            </a:r>
          </a:p>
        </p:txBody>
      </p:sp>
      <p:sp>
        <p:nvSpPr>
          <p:cNvPr id="5" name="TextBox 4"/>
          <p:cNvSpPr txBox="1"/>
          <p:nvPr/>
        </p:nvSpPr>
        <p:spPr>
          <a:xfrm>
            <a:off x="670560" y="1790700"/>
            <a:ext cx="3566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PROCESS DIES AFTER…</a:t>
            </a:r>
          </a:p>
        </p:txBody>
      </p:sp>
      <p:sp>
        <p:nvSpPr>
          <p:cNvPr id="6" name="TextBox 5"/>
          <p:cNvSpPr txBox="1"/>
          <p:nvPr/>
        </p:nvSpPr>
        <p:spPr>
          <a:xfrm>
            <a:off x="448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FACT</a:t>
            </a:r>
          </a:p>
        </p:txBody>
      </p:sp>
      <p:sp>
        <p:nvSpPr>
          <p:cNvPr id="7" name="TextBox 6"/>
          <p:cNvSpPr txBox="1"/>
          <p:nvPr/>
        </p:nvSpPr>
        <p:spPr>
          <a:xfrm>
            <a:off x="7680959" y="1790700"/>
            <a:ext cx="3840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RESULT</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Attention stimulus commit</a:t>
            </a:r>
          </a:p>
        </p:txBody>
      </p:sp>
      <p:sp>
        <p:nvSpPr>
          <p:cNvPr id="10" name="TextBox 9"/>
          <p:cNvSpPr txBox="1"/>
          <p:nvPr/>
        </p:nvSpPr>
        <p:spPr>
          <a:xfrm>
            <a:off x="4480560" y="224028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C3 causal receipt</a:t>
            </a:r>
          </a:p>
        </p:txBody>
      </p:sp>
      <p:sp>
        <p:nvSpPr>
          <p:cNvPr id="11" name="TextBox 10"/>
          <p:cNvSpPr txBox="1"/>
          <p:nvPr/>
        </p:nvSpPr>
        <p:spPr>
          <a:xfrm>
            <a:off x="7680959" y="224028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does not add STI again</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C4 attempt reservation</a:t>
            </a:r>
          </a:p>
        </p:txBody>
      </p:sp>
      <p:sp>
        <p:nvSpPr>
          <p:cNvPr id="14" name="TextBox 13"/>
          <p:cNvSpPr txBox="1"/>
          <p:nvPr/>
        </p:nvSpPr>
        <p:spPr>
          <a:xfrm>
            <a:off x="4480560" y="293370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Slot already spent</a:t>
            </a:r>
          </a:p>
        </p:txBody>
      </p:sp>
      <p:sp>
        <p:nvSpPr>
          <p:cNvPr id="15" name="TextBox 14"/>
          <p:cNvSpPr txBox="1"/>
          <p:nvPr/>
        </p:nvSpPr>
        <p:spPr>
          <a:xfrm>
            <a:off x="7680959" y="293370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One-slot budget can end without a result</a:t>
            </a:r>
          </a:p>
        </p:txBody>
      </p:sp>
      <p:sp>
        <p:nvSpPr>
          <p:cNvPr id="16" name="Rounded Rectangle 15"/>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7" name="TextBox 16"/>
          <p:cNvSpPr txBox="1"/>
          <p:nvPr/>
        </p:nvSpPr>
        <p:spPr>
          <a:xfrm>
            <a:off x="670560" y="3627119"/>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Kernel return; before C2 commit</a:t>
            </a:r>
          </a:p>
        </p:txBody>
      </p:sp>
      <p:sp>
        <p:nvSpPr>
          <p:cNvPr id="18" name="TextBox 17"/>
          <p:cNvSpPr txBox="1"/>
          <p:nvPr/>
        </p:nvSpPr>
        <p:spPr>
          <a:xfrm>
            <a:off x="4480560" y="3627119"/>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Pending attempt; no admission</a:t>
            </a:r>
          </a:p>
        </p:txBody>
      </p:sp>
      <p:sp>
        <p:nvSpPr>
          <p:cNvPr id="19" name="TextBox 18"/>
          <p:cNvSpPr txBox="1"/>
          <p:nvPr/>
        </p:nvSpPr>
        <p:spPr>
          <a:xfrm>
            <a:off x="7680959" y="3627119"/>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Another evaluation needs another slot</a:t>
            </a:r>
          </a:p>
        </p:txBody>
      </p:sp>
      <p:sp>
        <p:nvSpPr>
          <p:cNvPr id="20" name="Rounded Rectangle 19"/>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1" name="TextBox 20"/>
          <p:cNvSpPr txBox="1"/>
          <p:nvPr/>
        </p:nvSpPr>
        <p:spPr>
          <a:xfrm>
            <a:off x="670560" y="432054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C2 belief commit</a:t>
            </a:r>
          </a:p>
        </p:txBody>
      </p:sp>
      <p:sp>
        <p:nvSpPr>
          <p:cNvPr id="22" name="TextBox 21"/>
          <p:cNvSpPr txBox="1"/>
          <p:nvPr/>
        </p:nvSpPr>
        <p:spPr>
          <a:xfrm>
            <a:off x="4480560" y="432054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Authoritative saved decision</a:t>
            </a:r>
          </a:p>
        </p:txBody>
      </p:sp>
      <p:sp>
        <p:nvSpPr>
          <p:cNvPr id="23" name="TextBox 22"/>
          <p:cNvSpPr txBox="1"/>
          <p:nvPr/>
        </p:nvSpPr>
        <p:spPr>
          <a:xfrm>
            <a:off x="7680959" y="432054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without another native call</a:t>
            </a:r>
          </a:p>
        </p:txBody>
      </p:sp>
      <p:sp>
        <p:nvSpPr>
          <p:cNvPr id="24" name="Rounded Rectangle 23"/>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5" name="TextBox 24"/>
          <p:cNvSpPr txBox="1"/>
          <p:nvPr/>
        </p:nvSpPr>
        <p:spPr>
          <a:xfrm>
            <a:off x="670560" y="5013960"/>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C3 feedback commit; before C4</a:t>
            </a:r>
          </a:p>
        </p:txBody>
      </p:sp>
      <p:sp>
        <p:nvSpPr>
          <p:cNvPr id="26" name="TextBox 25"/>
          <p:cNvSpPr txBox="1"/>
          <p:nvPr/>
        </p:nvSpPr>
        <p:spPr>
          <a:xfrm>
            <a:off x="670560" y="5248046"/>
            <a:ext cx="3566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ack</a:t>
            </a:r>
          </a:p>
        </p:txBody>
      </p:sp>
      <p:sp>
        <p:nvSpPr>
          <p:cNvPr id="27" name="TextBox 26"/>
          <p:cNvSpPr txBox="1"/>
          <p:nvPr/>
        </p:nvSpPr>
        <p:spPr>
          <a:xfrm>
            <a:off x="4480560" y="501396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Credit recorded by logical</a:t>
            </a:r>
          </a:p>
        </p:txBody>
      </p:sp>
      <p:sp>
        <p:nvSpPr>
          <p:cNvPr id="28" name="TextBox 27"/>
          <p:cNvSpPr txBox="1"/>
          <p:nvPr/>
        </p:nvSpPr>
        <p:spPr>
          <a:xfrm>
            <a:off x="4480560" y="524804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cause</a:t>
            </a:r>
          </a:p>
        </p:txBody>
      </p:sp>
      <p:sp>
        <p:nvSpPr>
          <p:cNvPr id="29" name="TextBox 28"/>
          <p:cNvSpPr txBox="1"/>
          <p:nvPr/>
        </p:nvSpPr>
        <p:spPr>
          <a:xfrm>
            <a:off x="7680959" y="5013960"/>
            <a:ext cx="38404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Recover ack without a second credit</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 evidence proves tested local process recovery, not a distributed transaction or power-loss durability.</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test_m3_recovery.py · test_m3_integration.py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29 / 64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03 / BOUNDARY GUARANTEES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Authorization, replay and profiles remain live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Cached success does not bypass current authority, and compatibility is never silently widened.</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TRIGGER</a:t>
            </a:r>
          </a:p>
        </p:txBody>
      </p:sp>
      <p:sp>
        <p:nvSpPr>
          <p:cNvPr id="6" name="TextBox 5"/>
          <p:cNvSpPr txBox="1"/>
          <p:nvPr/>
        </p:nvSpPr>
        <p:spPr>
          <a:xfrm>
            <a:off x="4556760" y="1790700"/>
            <a:ext cx="3337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DECISION</a:t>
            </a:r>
          </a:p>
        </p:txBody>
      </p:sp>
      <p:sp>
        <p:nvSpPr>
          <p:cNvPr id="7" name="TextBox 6"/>
          <p:cNvSpPr txBox="1"/>
          <p:nvPr/>
        </p:nvSpPr>
        <p:spPr>
          <a:xfrm>
            <a:off x="8138159" y="1790700"/>
            <a:ext cx="3383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PRESERVED 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Same key, altered nested request</a:t>
            </a:r>
          </a:p>
        </p:txBody>
      </p:sp>
      <p:sp>
        <p:nvSpPr>
          <p:cNvPr id="10" name="TextBox 9"/>
          <p:cNvSpPr txBox="1"/>
          <p:nvPr/>
        </p:nvSpPr>
        <p:spPr>
          <a:xfrm>
            <a:off x="4556760" y="224028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CONFLICT / validation refusal</a:t>
            </a:r>
          </a:p>
        </p:txBody>
      </p:sp>
      <p:sp>
        <p:nvSpPr>
          <p:cNvPr id="11" name="TextBox 10"/>
          <p:cNvSpPr txBox="1"/>
          <p:nvPr/>
        </p:nvSpPr>
        <p:spPr>
          <a:xfrm>
            <a:off x="8138159" y="224028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semantic intent</a:t>
            </a:r>
          </a:p>
        </p:txBody>
      </p:sp>
      <p:sp>
        <p:nvSpPr>
          <p:cNvPr id="12" name="Rounded Rectangle 11"/>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3" name="TextBox 12"/>
          <p:cNvSpPr txBox="1"/>
          <p:nvPr/>
        </p:nvSpPr>
        <p:spPr>
          <a:xfrm>
            <a:off x="670560" y="293370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Permission revoked before replay</a:t>
            </a:r>
          </a:p>
        </p:txBody>
      </p:sp>
      <p:sp>
        <p:nvSpPr>
          <p:cNvPr id="14" name="TextBox 13"/>
          <p:cNvSpPr txBox="1"/>
          <p:nvPr/>
        </p:nvSpPr>
        <p:spPr>
          <a:xfrm>
            <a:off x="4556760" y="293370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DENIED</a:t>
            </a:r>
          </a:p>
        </p:txBody>
      </p:sp>
      <p:sp>
        <p:nvSpPr>
          <p:cNvPr id="15" name="TextBox 14"/>
          <p:cNvSpPr txBox="1"/>
          <p:nvPr/>
        </p:nvSpPr>
        <p:spPr>
          <a:xfrm>
            <a:off x="8138159" y="293370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authority even for cached</a:t>
            </a:r>
          </a:p>
        </p:txBody>
      </p:sp>
      <p:sp>
        <p:nvSpPr>
          <p:cNvPr id="16" name="TextBox 15"/>
          <p:cNvSpPr txBox="1"/>
          <p:nvPr/>
        </p:nvSpPr>
        <p:spPr>
          <a:xfrm>
            <a:off x="8138159" y="316778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receipts</a:t>
            </a:r>
          </a:p>
        </p:txBody>
      </p:sp>
      <p:sp>
        <p:nvSpPr>
          <p:cNvPr id="17" name="Rounded Rectangle 16"/>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18" name="TextBox 17"/>
          <p:cNvSpPr txBox="1"/>
          <p:nvPr/>
        </p:nvSpPr>
        <p:spPr>
          <a:xfrm>
            <a:off x="670560" y="3627119"/>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Authority / CAS changes during</a:t>
            </a:r>
          </a:p>
        </p:txBody>
      </p:sp>
      <p:sp>
        <p:nvSpPr>
          <p:cNvPr id="19" name="TextBox 18"/>
          <p:cNvSpPr txBox="1"/>
          <p:nvPr/>
        </p:nvSpPr>
        <p:spPr>
          <a:xfrm>
            <a:off x="670560" y="386120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math</a:t>
            </a:r>
          </a:p>
        </p:txBody>
      </p:sp>
      <p:sp>
        <p:nvSpPr>
          <p:cNvPr id="20" name="TextBox 19"/>
          <p:cNvSpPr txBox="1"/>
          <p:nvPr/>
        </p:nvSpPr>
        <p:spPr>
          <a:xfrm>
            <a:off x="4556760" y="3627119"/>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Refuse final admission</a:t>
            </a:r>
          </a:p>
        </p:txBody>
      </p:sp>
      <p:sp>
        <p:nvSpPr>
          <p:cNvPr id="21" name="TextBox 20"/>
          <p:cNvSpPr txBox="1"/>
          <p:nvPr/>
        </p:nvSpPr>
        <p:spPr>
          <a:xfrm>
            <a:off x="8138159" y="3627119"/>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C2 rechecks before its own commit</a:t>
            </a:r>
          </a:p>
        </p:txBody>
      </p:sp>
      <p:sp>
        <p:nvSpPr>
          <p:cNvPr id="22" name="Rounded Rectangle 21"/>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3" name="TextBox 22"/>
          <p:cNvSpPr txBox="1"/>
          <p:nvPr/>
        </p:nvSpPr>
        <p:spPr>
          <a:xfrm>
            <a:off x="670560" y="432054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Runtime or response binding</a:t>
            </a:r>
          </a:p>
        </p:txBody>
      </p:sp>
      <p:sp>
        <p:nvSpPr>
          <p:cNvPr id="24" name="TextBox 23"/>
          <p:cNvSpPr txBox="1"/>
          <p:nvPr/>
        </p:nvSpPr>
        <p:spPr>
          <a:xfrm>
            <a:off x="670560" y="4554626"/>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changes</a:t>
            </a:r>
          </a:p>
        </p:txBody>
      </p:sp>
      <p:sp>
        <p:nvSpPr>
          <p:cNvPr id="25" name="TextBox 24"/>
          <p:cNvSpPr txBox="1"/>
          <p:nvPr/>
        </p:nvSpPr>
        <p:spPr>
          <a:xfrm>
            <a:off x="4556760" y="432054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Explicit compatibility failure</a:t>
            </a:r>
          </a:p>
        </p:txBody>
      </p:sp>
      <p:sp>
        <p:nvSpPr>
          <p:cNvPr id="26" name="TextBox 25"/>
          <p:cNvSpPr txBox="1"/>
          <p:nvPr/>
        </p:nvSpPr>
        <p:spPr>
          <a:xfrm>
            <a:off x="8138159" y="432054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weaker fallback or invented</a:t>
            </a:r>
          </a:p>
        </p:txBody>
      </p:sp>
      <p:sp>
        <p:nvSpPr>
          <p:cNvPr id="27" name="TextBox 26"/>
          <p:cNvSpPr txBox="1"/>
          <p:nvPr/>
        </p:nvSpPr>
        <p:spPr>
          <a:xfrm>
            <a:off x="8138159" y="455462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result</a:t>
            </a:r>
          </a:p>
        </p:txBody>
      </p:sp>
      <p:sp>
        <p:nvSpPr>
          <p:cNvPr id="28" name="Rounded Rectangle 27"/>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29" name="TextBox 28"/>
          <p:cNvSpPr txBox="1"/>
          <p:nvPr/>
        </p:nvSpPr>
        <p:spPr>
          <a:xfrm>
            <a:off x="670560" y="5013960"/>
            <a:ext cx="36423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Clock advances before feedback</a:t>
            </a:r>
          </a:p>
        </p:txBody>
      </p:sp>
      <p:sp>
        <p:nvSpPr>
          <p:cNvPr id="30" name="TextBox 29"/>
          <p:cNvSpPr txBox="1"/>
          <p:nvPr/>
        </p:nvSpPr>
        <p:spPr>
          <a:xfrm>
            <a:off x="4556760" y="5013960"/>
            <a:ext cx="3337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Retire without credit via owner</a:t>
            </a:r>
          </a:p>
        </p:txBody>
      </p:sp>
      <p:sp>
        <p:nvSpPr>
          <p:cNvPr id="31" name="TextBox 30"/>
          <p:cNvSpPr txBox="1"/>
          <p:nvPr/>
        </p:nvSpPr>
        <p:spPr>
          <a:xfrm>
            <a:off x="8138159" y="5013960"/>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clock, parent and</a:t>
            </a:r>
          </a:p>
        </p:txBody>
      </p:sp>
      <p:sp>
        <p:nvSpPr>
          <p:cNvPr id="32" name="TextBox 31"/>
          <p:cNvSpPr txBox="1"/>
          <p:nvPr/>
        </p:nvSpPr>
        <p:spPr>
          <a:xfrm>
            <a:off x="8138159" y="5248046"/>
            <a:ext cx="3383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generation retained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Attention ingress and feedback have distinct trusted bindings; selection never grants authority.</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cognition.py · derived_beliefs.py · tests/test_m3.py</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30 / 64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NATIVE INTEGRATION</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real Hive action reaches the entire private path</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authenticated Programs runtime → fusion-inference / infer-generated.</a:t>
            </a:r>
          </a:p>
        </p:txBody>
      </p:sp>
      <p:sp>
        <p:nvSpPr>
          <p:cNvPr id="5" name="Rounded Rectangle 4"/>
          <p:cNvSpPr/>
          <p:nvPr/>
        </p:nvSpPr>
        <p:spPr>
          <a:xfrm>
            <a:off x="548640" y="1790700"/>
            <a:ext cx="11094720" cy="647700"/>
          </a:xfrm>
          <a:prstGeom prst="roundRect">
            <a:avLst>
              <a:gd name="adj" fmla="val 14117"/>
            </a:avLst>
          </a:prstGeom>
          <a:solidFill>
            <a:srgbClr val="0B2233"/>
          </a:solidFill>
          <a:ln>
            <a:noFill/>
          </a:ln>
          <a:effectLst/>
        </p:spPr>
        <p:txBody>
          <a:bodyPr rtlCol="0" anchor="ctr"/>
          <a:lstStyle/>
          <a:p>
            <a:pPr algn="ctr"/>
          </a:p>
        </p:txBody>
      </p:sp>
      <p:sp>
        <p:nvSpPr>
          <p:cNvPr id="6" name="TextBox 5"/>
          <p:cNvSpPr txBox="1"/>
          <p:nvPr/>
        </p:nvSpPr>
        <p:spPr>
          <a:xfrm>
            <a:off x="762000" y="1973580"/>
            <a:ext cx="105918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0">
                <a:solidFill>
                  <a:srgbClr val="FFFFFF"/>
                </a:solidFill>
                <a:latin typeface="DejaVu Sans Mono"/>
              </a:rPr>
              <a:t>POST /api/programs/fusion-inference/act</a:t>
            </a:r>
          </a:p>
        </p:txBody>
      </p:sp>
      <p:sp>
        <p:nvSpPr>
          <p:cNvPr id="7" name="Rounded Rectangle 6"/>
          <p:cNvSpPr/>
          <p:nvPr/>
        </p:nvSpPr>
        <p:spPr>
          <a:xfrm>
            <a:off x="54864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8" name="TextBox 7"/>
          <p:cNvSpPr txBox="1"/>
          <p:nvPr/>
        </p:nvSpPr>
        <p:spPr>
          <a:xfrm>
            <a:off x="63246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Hive</a:t>
            </a:r>
          </a:p>
        </p:txBody>
      </p:sp>
      <p:cxnSp>
        <p:nvCxnSpPr>
          <p:cNvPr id="9" name="Connector 8"/>
          <p:cNvCxnSpPr/>
          <p:nvPr/>
        </p:nvCxnSpPr>
        <p:spPr>
          <a:xfrm>
            <a:off x="1310640" y="3291840"/>
            <a:ext cx="0" cy="2232660"/>
          </a:xfrm>
          <a:prstGeom prst="line">
            <a:avLst/>
          </a:prstGeom>
          <a:ln w="15240">
            <a:solidFill>
              <a:srgbClr val="C9D2D4"/>
            </a:solidFill>
            <a:prstDash val="dash"/>
          </a:ln>
          <a:effectLst/>
        </p:spPr>
      </p:cxnSp>
      <p:sp>
        <p:nvSpPr>
          <p:cNvPr id="10" name="Rounded Rectangle 9"/>
          <p:cNvSpPr/>
          <p:nvPr/>
        </p:nvSpPr>
        <p:spPr>
          <a:xfrm>
            <a:off x="373380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1" name="TextBox 10"/>
          <p:cNvSpPr txBox="1"/>
          <p:nvPr/>
        </p:nvSpPr>
        <p:spPr>
          <a:xfrm>
            <a:off x="3817619"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Scenario + relay</a:t>
            </a:r>
          </a:p>
        </p:txBody>
      </p:sp>
      <p:cxnSp>
        <p:nvCxnSpPr>
          <p:cNvPr id="12" name="Connector 11"/>
          <p:cNvCxnSpPr/>
          <p:nvPr/>
        </p:nvCxnSpPr>
        <p:spPr>
          <a:xfrm>
            <a:off x="4495800" y="3291840"/>
            <a:ext cx="0" cy="2232660"/>
          </a:xfrm>
          <a:prstGeom prst="line">
            <a:avLst/>
          </a:prstGeom>
          <a:ln w="15240">
            <a:solidFill>
              <a:srgbClr val="C9D2D4"/>
            </a:solidFill>
            <a:prstDash val="dash"/>
          </a:ln>
          <a:effectLst/>
        </p:spPr>
      </p:cxnSp>
      <p:sp>
        <p:nvSpPr>
          <p:cNvPr id="13" name="Rounded Rectangle 12"/>
          <p:cNvSpPr/>
          <p:nvPr/>
        </p:nvSpPr>
        <p:spPr>
          <a:xfrm>
            <a:off x="6918959"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4" name="TextBox 13"/>
          <p:cNvSpPr txBox="1"/>
          <p:nvPr/>
        </p:nvSpPr>
        <p:spPr>
          <a:xfrm>
            <a:off x="700278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C4 / C3 / C2</a:t>
            </a:r>
          </a:p>
        </p:txBody>
      </p:sp>
      <p:cxnSp>
        <p:nvCxnSpPr>
          <p:cNvPr id="15" name="Connector 14"/>
          <p:cNvCxnSpPr/>
          <p:nvPr/>
        </p:nvCxnSpPr>
        <p:spPr>
          <a:xfrm>
            <a:off x="7680959" y="3291840"/>
            <a:ext cx="0" cy="2232660"/>
          </a:xfrm>
          <a:prstGeom prst="line">
            <a:avLst/>
          </a:prstGeom>
          <a:ln w="15240">
            <a:solidFill>
              <a:srgbClr val="C9D2D4"/>
            </a:solidFill>
            <a:prstDash val="dash"/>
          </a:ln>
          <a:effectLst/>
        </p:spPr>
      </p:cxnSp>
      <p:sp>
        <p:nvSpPr>
          <p:cNvPr id="16" name="Rounded Rectangle 15"/>
          <p:cNvSpPr/>
          <p:nvPr/>
        </p:nvSpPr>
        <p:spPr>
          <a:xfrm>
            <a:off x="10104120" y="2788920"/>
            <a:ext cx="1524000" cy="403859"/>
          </a:xfrm>
          <a:prstGeom prst="roundRect">
            <a:avLst>
              <a:gd name="adj" fmla="val 13207"/>
            </a:avLst>
          </a:prstGeom>
          <a:solidFill>
            <a:srgbClr val="DCEFE8"/>
          </a:solidFill>
          <a:ln>
            <a:noFill/>
          </a:ln>
          <a:effectLst/>
        </p:spPr>
        <p:txBody>
          <a:bodyPr rtlCol="0" anchor="ctr"/>
          <a:lstStyle/>
          <a:p>
            <a:pPr algn="ctr"/>
          </a:p>
        </p:txBody>
      </p:sp>
      <p:sp>
        <p:nvSpPr>
          <p:cNvPr id="17" name="TextBox 16"/>
          <p:cNvSpPr txBox="1"/>
          <p:nvPr/>
        </p:nvSpPr>
        <p:spPr>
          <a:xfrm>
            <a:off x="10187940" y="2910840"/>
            <a:ext cx="137922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Native PLN</a:t>
            </a:r>
          </a:p>
        </p:txBody>
      </p:sp>
      <p:cxnSp>
        <p:nvCxnSpPr>
          <p:cNvPr id="18" name="Connector 17"/>
          <p:cNvCxnSpPr/>
          <p:nvPr/>
        </p:nvCxnSpPr>
        <p:spPr>
          <a:xfrm>
            <a:off x="10866120" y="3291840"/>
            <a:ext cx="0" cy="2232660"/>
          </a:xfrm>
          <a:prstGeom prst="line">
            <a:avLst/>
          </a:prstGeom>
          <a:ln w="15240">
            <a:solidFill>
              <a:srgbClr val="C9D2D4"/>
            </a:solidFill>
            <a:prstDash val="dash"/>
          </a:ln>
          <a:effectLst/>
        </p:spPr>
      </p:cxnSp>
      <p:sp>
        <p:nvSpPr>
          <p:cNvPr id="19" name="Rectangle 18"/>
          <p:cNvSpPr/>
          <p:nvPr/>
        </p:nvSpPr>
        <p:spPr>
          <a:xfrm>
            <a:off x="1341120" y="3337560"/>
            <a:ext cx="3663315" cy="205740"/>
          </a:xfrm>
          <a:prstGeom prst="rect">
            <a:avLst/>
          </a:prstGeom>
          <a:solidFill>
            <a:srgbClr val="F4F2EB"/>
          </a:solidFill>
          <a:ln>
            <a:noFill/>
          </a:ln>
          <a:effectLst/>
        </p:spPr>
        <p:txBody>
          <a:bodyPr rtlCol="0" anchor="ctr"/>
          <a:lstStyle/>
          <a:p>
            <a:pPr algn="ctr"/>
          </a:p>
        </p:txBody>
      </p:sp>
      <p:sp>
        <p:nvSpPr>
          <p:cNvPr id="20" name="TextBox 19"/>
          <p:cNvSpPr txBox="1"/>
          <p:nvPr/>
        </p:nvSpPr>
        <p:spPr>
          <a:xfrm>
            <a:off x="1371600" y="333756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Trusted actor; generated seed + preference</a:t>
            </a:r>
          </a:p>
        </p:txBody>
      </p:sp>
      <p:cxnSp>
        <p:nvCxnSpPr>
          <p:cNvPr id="21" name="Connector 20"/>
          <p:cNvCxnSpPr/>
          <p:nvPr/>
        </p:nvCxnSpPr>
        <p:spPr>
          <a:xfrm>
            <a:off x="1310640" y="3558540"/>
            <a:ext cx="3185160" cy="0"/>
          </a:xfrm>
          <a:prstGeom prst="line">
            <a:avLst/>
          </a:prstGeom>
          <a:ln w="15240">
            <a:solidFill>
              <a:srgbClr val="007C78"/>
            </a:solidFill>
          </a:ln>
          <a:effectLst/>
        </p:spPr>
      </p:cxnSp>
      <p:sp>
        <p:nvSpPr>
          <p:cNvPr id="22" name="Freeform 21"/>
          <p:cNvSpPr/>
          <p:nvPr/>
        </p:nvSpPr>
        <p:spPr>
          <a:xfrm>
            <a:off x="4396740" y="35204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3" name="Rectangle 22"/>
          <p:cNvSpPr/>
          <p:nvPr/>
        </p:nvSpPr>
        <p:spPr>
          <a:xfrm>
            <a:off x="4526280" y="3779519"/>
            <a:ext cx="3390140" cy="205740"/>
          </a:xfrm>
          <a:prstGeom prst="rect">
            <a:avLst/>
          </a:prstGeom>
          <a:solidFill>
            <a:srgbClr val="F4F2EB"/>
          </a:solidFill>
          <a:ln>
            <a:noFill/>
          </a:ln>
          <a:effectLst/>
        </p:spPr>
        <p:txBody>
          <a:bodyPr rtlCol="0" anchor="ctr"/>
          <a:lstStyle/>
          <a:p>
            <a:pPr algn="ctr"/>
          </a:p>
        </p:txBody>
      </p:sp>
      <p:sp>
        <p:nvSpPr>
          <p:cNvPr id="24" name="TextBox 23"/>
          <p:cNvSpPr txBox="1"/>
          <p:nvPr/>
        </p:nvSpPr>
        <p:spPr>
          <a:xfrm>
            <a:off x="4556760" y="3779519"/>
            <a:ext cx="70104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C1 → relay → C2; two tasks, one attempt</a:t>
            </a:r>
          </a:p>
        </p:txBody>
      </p:sp>
      <p:cxnSp>
        <p:nvCxnSpPr>
          <p:cNvPr id="25" name="Connector 24"/>
          <p:cNvCxnSpPr/>
          <p:nvPr/>
        </p:nvCxnSpPr>
        <p:spPr>
          <a:xfrm>
            <a:off x="4495800" y="4000500"/>
            <a:ext cx="3185159" cy="0"/>
          </a:xfrm>
          <a:prstGeom prst="line">
            <a:avLst/>
          </a:prstGeom>
          <a:ln w="15240">
            <a:solidFill>
              <a:srgbClr val="007C78"/>
            </a:solidFill>
          </a:ln>
          <a:effectLst/>
        </p:spPr>
      </p:cxnSp>
      <p:sp>
        <p:nvSpPr>
          <p:cNvPr id="26" name="Freeform 25"/>
          <p:cNvSpPr/>
          <p:nvPr/>
        </p:nvSpPr>
        <p:spPr>
          <a:xfrm>
            <a:off x="7581900" y="39624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7" name="Rectangle 26"/>
          <p:cNvSpPr/>
          <p:nvPr/>
        </p:nvSpPr>
        <p:spPr>
          <a:xfrm>
            <a:off x="5631180" y="4221480"/>
            <a:ext cx="3339985" cy="205740"/>
          </a:xfrm>
          <a:prstGeom prst="rect">
            <a:avLst/>
          </a:prstGeom>
          <a:solidFill>
            <a:srgbClr val="F4F2EB"/>
          </a:solidFill>
          <a:ln>
            <a:noFill/>
          </a:ln>
          <a:effectLst/>
        </p:spPr>
        <p:txBody>
          <a:bodyPr rtlCol="0" anchor="ctr"/>
          <a:lstStyle/>
          <a:p>
            <a:pPr algn="ctr"/>
          </a:p>
        </p:txBody>
      </p:sp>
      <p:sp>
        <p:nvSpPr>
          <p:cNvPr id="28" name="TextBox 27"/>
          <p:cNvSpPr txBox="1"/>
          <p:nvPr/>
        </p:nvSpPr>
        <p:spPr>
          <a:xfrm>
            <a:off x="5661660" y="422148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Reserve → C2 → actual Truth_Deduction</a:t>
            </a:r>
          </a:p>
        </p:txBody>
      </p:sp>
      <p:cxnSp>
        <p:nvCxnSpPr>
          <p:cNvPr id="29" name="Connector 28"/>
          <p:cNvCxnSpPr/>
          <p:nvPr/>
        </p:nvCxnSpPr>
        <p:spPr>
          <a:xfrm>
            <a:off x="7680959" y="4442460"/>
            <a:ext cx="3185161" cy="0"/>
          </a:xfrm>
          <a:prstGeom prst="line">
            <a:avLst/>
          </a:prstGeom>
          <a:ln w="15240">
            <a:solidFill>
              <a:srgbClr val="007C78"/>
            </a:solidFill>
          </a:ln>
          <a:effectLst/>
        </p:spPr>
      </p:cxnSp>
      <p:sp>
        <p:nvSpPr>
          <p:cNvPr id="30" name="Freeform 29"/>
          <p:cNvSpPr/>
          <p:nvPr/>
        </p:nvSpPr>
        <p:spPr>
          <a:xfrm>
            <a:off x="10767060" y="44043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1" name="Rectangle 30"/>
          <p:cNvSpPr/>
          <p:nvPr/>
        </p:nvSpPr>
        <p:spPr>
          <a:xfrm>
            <a:off x="5631180" y="4663440"/>
            <a:ext cx="3678867" cy="205740"/>
          </a:xfrm>
          <a:prstGeom prst="rect">
            <a:avLst/>
          </a:prstGeom>
          <a:solidFill>
            <a:srgbClr val="F4F2EB"/>
          </a:solidFill>
          <a:ln>
            <a:noFill/>
          </a:ln>
          <a:effectLst/>
        </p:spPr>
        <p:txBody>
          <a:bodyPr rtlCol="0" anchor="ctr"/>
          <a:lstStyle/>
          <a:p>
            <a:pPr algn="ctr"/>
          </a:p>
        </p:txBody>
      </p:sp>
      <p:sp>
        <p:nvSpPr>
          <p:cNvPr id="32" name="TextBox 31"/>
          <p:cNvSpPr txBox="1"/>
          <p:nvPr/>
        </p:nvSpPr>
        <p:spPr>
          <a:xfrm>
            <a:off x="5661660" y="4663440"/>
            <a:ext cx="59055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Proposal → admission → one feedback credit</a:t>
            </a:r>
          </a:p>
        </p:txBody>
      </p:sp>
      <p:cxnSp>
        <p:nvCxnSpPr>
          <p:cNvPr id="33" name="Connector 32"/>
          <p:cNvCxnSpPr/>
          <p:nvPr/>
        </p:nvCxnSpPr>
        <p:spPr>
          <a:xfrm flipH="1">
            <a:off x="7680959" y="4884420"/>
            <a:ext cx="3185161" cy="0"/>
          </a:xfrm>
          <a:prstGeom prst="line">
            <a:avLst/>
          </a:prstGeom>
          <a:ln w="15240">
            <a:solidFill>
              <a:srgbClr val="007C78"/>
            </a:solidFill>
          </a:ln>
          <a:effectLst/>
        </p:spPr>
      </p:cxnSp>
      <p:sp>
        <p:nvSpPr>
          <p:cNvPr id="34" name="Freeform 33"/>
          <p:cNvSpPr/>
          <p:nvPr/>
        </p:nvSpPr>
        <p:spPr>
          <a:xfrm>
            <a:off x="7680960" y="48463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5" name="Rectangle 34"/>
          <p:cNvSpPr/>
          <p:nvPr/>
        </p:nvSpPr>
        <p:spPr>
          <a:xfrm>
            <a:off x="1341120" y="5196840"/>
            <a:ext cx="3347724" cy="205740"/>
          </a:xfrm>
          <a:prstGeom prst="rect">
            <a:avLst/>
          </a:prstGeom>
          <a:solidFill>
            <a:srgbClr val="F4F2EB"/>
          </a:solidFill>
          <a:ln>
            <a:noFill/>
          </a:ln>
          <a:effectLst/>
        </p:spPr>
        <p:txBody>
          <a:bodyPr rtlCol="0" anchor="ctr"/>
          <a:lstStyle/>
          <a:p>
            <a:pPr algn="ctr"/>
          </a:p>
        </p:txBody>
      </p:sp>
      <p:sp>
        <p:nvSpPr>
          <p:cNvPr id="36" name="TextBox 35"/>
          <p:cNvSpPr txBox="1"/>
          <p:nvPr/>
        </p:nvSpPr>
        <p:spPr>
          <a:xfrm>
            <a:off x="1371600" y="5196840"/>
            <a:ext cx="1019556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Record result; return counters + receipt</a:t>
            </a:r>
          </a:p>
        </p:txBody>
      </p:sp>
      <p:cxnSp>
        <p:nvCxnSpPr>
          <p:cNvPr id="37" name="Connector 36"/>
          <p:cNvCxnSpPr/>
          <p:nvPr/>
        </p:nvCxnSpPr>
        <p:spPr>
          <a:xfrm flipH="1">
            <a:off x="1310640" y="5417820"/>
            <a:ext cx="3185160" cy="0"/>
          </a:xfrm>
          <a:prstGeom prst="line">
            <a:avLst/>
          </a:prstGeom>
          <a:ln w="15240">
            <a:solidFill>
              <a:srgbClr val="007C78"/>
            </a:solidFill>
          </a:ln>
          <a:effectLst/>
        </p:spPr>
      </p:cxnSp>
      <p:sp>
        <p:nvSpPr>
          <p:cNvPr id="38" name="Freeform 37"/>
          <p:cNvSpPr/>
          <p:nvPr/>
        </p:nvSpPr>
        <p:spPr>
          <a:xfrm>
            <a:off x="1310640" y="537972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39" name="Rounded Rectangle 3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40" name="TextBox 3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One private episode: 10 generated observations + action + result. Public receipt contains no private trace.</a:t>
            </a:r>
          </a:p>
        </p:txBody>
      </p:sp>
      <p:cxnSp>
        <p:nvCxnSpPr>
          <p:cNvPr id="41" name="Connector 40"/>
          <p:cNvCxnSpPr/>
          <p:nvPr/>
        </p:nvCxnSpPr>
        <p:spPr>
          <a:xfrm>
            <a:off x="548640" y="6393180"/>
            <a:ext cx="11094720" cy="0"/>
          </a:xfrm>
          <a:prstGeom prst="line">
            <a:avLst/>
          </a:prstGeom>
          <a:ln w="7620">
            <a:solidFill>
              <a:srgbClr val="C9D2D4"/>
            </a:solidFill>
          </a:ln>
          <a:effectLst/>
        </p:spPr>
      </p:cxnSp>
      <p:sp>
        <p:nvSpPr>
          <p:cNvPr id="42" name="TextBox 4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inference_program/program.py · test_m3_integration.py</a:t>
            </a:r>
          </a:p>
        </p:txBody>
      </p:sp>
      <p:sp>
        <p:nvSpPr>
          <p:cNvPr id="43" name="TextBox 4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31 / 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M3.1 ACTUAL CALLER PROGRESS</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Native Hive exposes execution and closure separately</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infer-generated → restart → reconcile-generated(original_command, limit)</a:t>
            </a:r>
          </a:p>
        </p:txBody>
      </p:sp>
      <p:sp>
        <p:nvSpPr>
          <p:cNvPr id="5" name="Rounded Rectangle 4"/>
          <p:cNvSpPr/>
          <p:nvPr/>
        </p:nvSpPr>
        <p:spPr>
          <a:xfrm>
            <a:off x="548640" y="1905000"/>
            <a:ext cx="5364480" cy="1836420"/>
          </a:xfrm>
          <a:prstGeom prst="roundRect">
            <a:avLst>
              <a:gd name="adj" fmla="val 5394"/>
            </a:avLst>
          </a:prstGeom>
          <a:solidFill>
            <a:srgbClr val="E4EBF5"/>
          </a:solidFill>
          <a:ln w="7620">
            <a:solidFill>
              <a:srgbClr val="315E9C"/>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Original execution · immutable</a:t>
            </a:r>
          </a:p>
        </p:txBody>
      </p:sp>
      <p:sp>
        <p:nvSpPr>
          <p:cNvPr id="7" name="TextBox 6"/>
          <p:cNvSpPr txBox="1"/>
          <p:nvPr/>
        </p:nvSpPr>
        <p:spPr>
          <a:xfrm>
            <a:off x="71628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examined candidate</a:t>
            </a:r>
          </a:p>
        </p:txBody>
      </p:sp>
      <p:sp>
        <p:nvSpPr>
          <p:cNvPr id="8" name="TextBox 7"/>
          <p:cNvSpPr txBox="1"/>
          <p:nvPr/>
        </p:nvSpPr>
        <p:spPr>
          <a:xfrm>
            <a:off x="71628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reserved / completed attempt</a:t>
            </a:r>
          </a:p>
        </p:txBody>
      </p:sp>
      <p:sp>
        <p:nvSpPr>
          <p:cNvPr id="9" name="TextBox 8"/>
          <p:cNvSpPr txBox="1"/>
          <p:nvPr/>
        </p:nvSpPr>
        <p:spPr>
          <a:xfrm>
            <a:off x="71628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One unique admission · zero feedback applied</a:t>
            </a:r>
          </a:p>
        </p:txBody>
      </p:sp>
      <p:sp>
        <p:nvSpPr>
          <p:cNvPr id="10" name="Rounded Rectangle 9"/>
          <p:cNvSpPr/>
          <p:nvPr/>
        </p:nvSpPr>
        <p:spPr>
          <a:xfrm>
            <a:off x="6278880" y="1905000"/>
            <a:ext cx="5364480" cy="1836420"/>
          </a:xfrm>
          <a:prstGeom prst="roundRect">
            <a:avLst>
              <a:gd name="adj" fmla="val 5394"/>
            </a:avLst>
          </a:prstGeom>
          <a:solidFill>
            <a:srgbClr val="DCEFE8"/>
          </a:solidFill>
          <a:ln w="7620">
            <a:solidFill>
              <a:srgbClr val="007C78"/>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Later closure · versioned</a:t>
            </a:r>
          </a:p>
        </p:txBody>
      </p:sp>
      <p:sp>
        <p:nvSpPr>
          <p:cNvPr id="12" name="TextBox 11"/>
          <p:cNvSpPr txBox="1"/>
          <p:nvPr/>
        </p:nvSpPr>
        <p:spPr>
          <a:xfrm>
            <a:off x="6446520" y="245120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Same original result and counters</a:t>
            </a:r>
          </a:p>
        </p:txBody>
      </p:sp>
      <p:sp>
        <p:nvSpPr>
          <p:cNvPr id="13" name="TextBox 12"/>
          <p:cNvSpPr txBox="1"/>
          <p:nvPr/>
        </p:nvSpPr>
        <p:spPr>
          <a:xfrm>
            <a:off x="6446520" y="271454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Evidence backlog and feedback outcomes</a:t>
            </a:r>
          </a:p>
        </p:txBody>
      </p:sp>
      <p:sp>
        <p:nvSpPr>
          <p:cNvPr id="14" name="TextBox 13"/>
          <p:cNvSpPr txBox="1"/>
          <p:nvPr/>
        </p:nvSpPr>
        <p:spPr>
          <a:xfrm>
            <a:off x="6446520" y="2977896"/>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Stale feedback retired without credit</a:t>
            </a:r>
          </a:p>
        </p:txBody>
      </p:sp>
      <p:cxnSp>
        <p:nvCxnSpPr>
          <p:cNvPr id="15" name="Connector 14"/>
          <p:cNvCxnSpPr/>
          <p:nvPr/>
        </p:nvCxnSpPr>
        <p:spPr>
          <a:xfrm>
            <a:off x="5913120" y="2819400"/>
            <a:ext cx="365760" cy="0"/>
          </a:xfrm>
          <a:prstGeom prst="line">
            <a:avLst/>
          </a:prstGeom>
          <a:ln w="15240">
            <a:solidFill>
              <a:srgbClr val="007C78"/>
            </a:solidFill>
          </a:ln>
          <a:effectLst/>
        </p:spPr>
      </p:cxnSp>
      <p:sp>
        <p:nvSpPr>
          <p:cNvPr id="16" name="Freeform 15"/>
          <p:cNvSpPr/>
          <p:nvPr/>
        </p:nvSpPr>
        <p:spPr>
          <a:xfrm>
            <a:off x="6179820" y="278130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7" name="Rounded Rectangle 16"/>
          <p:cNvSpPr/>
          <p:nvPr/>
        </p:nvSpPr>
        <p:spPr>
          <a:xfrm>
            <a:off x="548640" y="4076700"/>
            <a:ext cx="5364480" cy="1508760"/>
          </a:xfrm>
          <a:prstGeom prst="roundRect">
            <a:avLst>
              <a:gd name="adj" fmla="val 6565"/>
            </a:avLst>
          </a:prstGeom>
          <a:solidFill>
            <a:srgbClr val="FFFFFF"/>
          </a:solidFill>
          <a:ln w="7620">
            <a:solidFill>
              <a:srgbClr val="007C78"/>
            </a:solidFill>
          </a:ln>
          <a:effectLst/>
        </p:spPr>
        <p:txBody>
          <a:bodyPr rtlCol="0" anchor="ctr"/>
          <a:lstStyle/>
          <a:p>
            <a:pPr algn="ctr"/>
          </a:p>
        </p:txBody>
      </p:sp>
      <p:sp>
        <p:nvSpPr>
          <p:cNvPr id="18" name="TextBox 17"/>
          <p:cNvSpPr txBox="1"/>
          <p:nvPr/>
        </p:nvSpPr>
        <p:spPr>
          <a:xfrm>
            <a:off x="71628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007C78"/>
                </a:solidFill>
                <a:latin typeface="DejaVu Sans"/>
              </a:rPr>
              <a:t>Lost reply after feedback applied</a:t>
            </a:r>
          </a:p>
        </p:txBody>
      </p:sp>
      <p:sp>
        <p:nvSpPr>
          <p:cNvPr id="19" name="TextBox 18"/>
          <p:cNvSpPr txBox="1"/>
          <p:nvPr/>
        </p:nvSpPr>
        <p:spPr>
          <a:xfrm>
            <a:off x="71628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Recover the original receipt after expiry or</a:t>
            </a:r>
          </a:p>
        </p:txBody>
      </p:sp>
      <p:sp>
        <p:nvSpPr>
          <p:cNvPr id="20" name="TextBox 19"/>
          <p:cNvSpPr txBox="1"/>
          <p:nvPr/>
        </p:nvSpPr>
        <p:spPr>
          <a:xfrm>
            <a:off x="71628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decay, even when current STI has reached zero.</a:t>
            </a:r>
          </a:p>
        </p:txBody>
      </p:sp>
      <p:sp>
        <p:nvSpPr>
          <p:cNvPr id="21" name="Rounded Rectangle 20"/>
          <p:cNvSpPr/>
          <p:nvPr/>
        </p:nvSpPr>
        <p:spPr>
          <a:xfrm>
            <a:off x="6278880" y="4076700"/>
            <a:ext cx="5364480" cy="1508760"/>
          </a:xfrm>
          <a:prstGeom prst="roundRect">
            <a:avLst>
              <a:gd name="adj" fmla="val 6565"/>
            </a:avLst>
          </a:prstGeom>
          <a:solidFill>
            <a:srgbClr val="F3E7CE"/>
          </a:solidFill>
          <a:ln w="7620">
            <a:solidFill>
              <a:srgbClr val="A86A15"/>
            </a:solidFill>
          </a:ln>
          <a:effectLst/>
        </p:spPr>
        <p:txBody>
          <a:bodyPr rtlCol="0" anchor="ctr"/>
          <a:lstStyle/>
          <a:p>
            <a:pPr algn="ctr"/>
          </a:p>
        </p:txBody>
      </p:sp>
      <p:sp>
        <p:nvSpPr>
          <p:cNvPr id="22" name="TextBox 21"/>
          <p:cNvSpPr txBox="1"/>
          <p:nvPr/>
        </p:nvSpPr>
        <p:spPr>
          <a:xfrm>
            <a:off x="6446520" y="4244340"/>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A86A15"/>
                </a:solidFill>
                <a:latin typeface="DejaVu Sans"/>
              </a:rPr>
              <a:t>Expired before execution</a:t>
            </a:r>
          </a:p>
        </p:txBody>
      </p:sp>
      <p:sp>
        <p:nvSpPr>
          <p:cNvPr id="23" name="TextBox 22"/>
          <p:cNvSpPr txBox="1"/>
          <p:nvPr/>
        </p:nvSpPr>
        <p:spPr>
          <a:xfrm>
            <a:off x="6446520" y="4603394"/>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Hive can finish the action with zero admissions</a:t>
            </a:r>
          </a:p>
        </p:txBody>
      </p:sp>
      <p:sp>
        <p:nvSpPr>
          <p:cNvPr id="24" name="TextBox 23"/>
          <p:cNvSpPr txBox="1"/>
          <p:nvPr/>
        </p:nvSpPr>
        <p:spPr>
          <a:xfrm>
            <a:off x="6446520" y="4866741"/>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and zero reservations. Those counts stay</a:t>
            </a:r>
          </a:p>
        </p:txBody>
      </p:sp>
      <p:sp>
        <p:nvSpPr>
          <p:cNvPr id="25" name="TextBox 24"/>
          <p:cNvSpPr txBox="1"/>
          <p:nvPr/>
        </p:nvSpPr>
        <p:spPr>
          <a:xfrm>
            <a:off x="6446520" y="5130088"/>
            <a:ext cx="5029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explicit.</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Public done / committed means the action returned. Detail reports execution, evidence and feedback closure.</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inference_program/program.py · test_m3_1_integration.py</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32 / 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04 / DEMONSTRATED BEHAVIOR</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The same one-attempt budget makes attention visible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Two eligible tasks have exact premises. Initial STI selects which one can consume the attempt.</a:t>
            </a:r>
          </a:p>
        </p:txBody>
      </p:sp>
      <p:sp>
        <p:nvSpPr>
          <p:cNvPr id="5" name="Rounded Rectangle 4"/>
          <p:cNvSpPr/>
          <p:nvPr/>
        </p:nvSpPr>
        <p:spPr>
          <a:xfrm>
            <a:off x="54864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6" name="TextBox 5"/>
          <p:cNvSpPr txBox="1"/>
          <p:nvPr/>
        </p:nvSpPr>
        <p:spPr>
          <a:xfrm>
            <a:off x="74676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A</a:t>
            </a:r>
          </a:p>
        </p:txBody>
      </p:sp>
      <p:sp>
        <p:nvSpPr>
          <p:cNvPr id="7" name="TextBox 6"/>
          <p:cNvSpPr txBox="1"/>
          <p:nvPr/>
        </p:nvSpPr>
        <p:spPr>
          <a:xfrm>
            <a:off x="77724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8" name="Rounded Rectangle 7"/>
          <p:cNvSpPr/>
          <p:nvPr/>
        </p:nvSpPr>
        <p:spPr>
          <a:xfrm>
            <a:off x="1386840" y="2781300"/>
            <a:ext cx="3200400" cy="426720"/>
          </a:xfrm>
          <a:prstGeom prst="roundRect">
            <a:avLst>
              <a:gd name="adj" fmla="val 12500"/>
            </a:avLst>
          </a:prstGeom>
          <a:solidFill>
            <a:srgbClr val="E4EBF5"/>
          </a:solidFill>
          <a:ln>
            <a:noFill/>
          </a:ln>
          <a:effectLst/>
        </p:spPr>
        <p:txBody>
          <a:bodyPr rtlCol="0" anchor="ctr"/>
          <a:lstStyle/>
          <a:p>
            <a:pPr algn="ctr"/>
          </a:p>
        </p:txBody>
      </p:sp>
      <p:sp>
        <p:nvSpPr>
          <p:cNvPr id="9" name="TextBox 8"/>
          <p:cNvSpPr txBox="1"/>
          <p:nvPr/>
        </p:nvSpPr>
        <p:spPr>
          <a:xfrm>
            <a:off x="1493520"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20</a:t>
            </a:r>
          </a:p>
        </p:txBody>
      </p:sp>
      <p:sp>
        <p:nvSpPr>
          <p:cNvPr id="10" name="TextBox 9"/>
          <p:cNvSpPr txBox="1"/>
          <p:nvPr/>
        </p:nvSpPr>
        <p:spPr>
          <a:xfrm>
            <a:off x="77724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11" name="Rounded Rectangle 10"/>
          <p:cNvSpPr/>
          <p:nvPr/>
        </p:nvSpPr>
        <p:spPr>
          <a:xfrm>
            <a:off x="1386840" y="3451860"/>
            <a:ext cx="1600200" cy="426720"/>
          </a:xfrm>
          <a:prstGeom prst="roundRect">
            <a:avLst>
              <a:gd name="adj" fmla="val 12500"/>
            </a:avLst>
          </a:prstGeom>
          <a:solidFill>
            <a:srgbClr val="DCEFE8"/>
          </a:solidFill>
          <a:ln>
            <a:noFill/>
          </a:ln>
          <a:effectLst/>
        </p:spPr>
        <p:txBody>
          <a:bodyPr rtlCol="0" anchor="ctr"/>
          <a:lstStyle/>
          <a:p>
            <a:pPr algn="ctr"/>
          </a:p>
        </p:txBody>
      </p:sp>
      <p:sp>
        <p:nvSpPr>
          <p:cNvPr id="12" name="TextBox 11"/>
          <p:cNvSpPr txBox="1"/>
          <p:nvPr/>
        </p:nvSpPr>
        <p:spPr>
          <a:xfrm>
            <a:off x="1493520"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10</a:t>
            </a:r>
          </a:p>
        </p:txBody>
      </p:sp>
      <p:sp>
        <p:nvSpPr>
          <p:cNvPr id="13" name="TextBox 12"/>
          <p:cNvSpPr txBox="1"/>
          <p:nvPr/>
        </p:nvSpPr>
        <p:spPr>
          <a:xfrm>
            <a:off x="76200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A</a:t>
            </a:r>
          </a:p>
        </p:txBody>
      </p:sp>
      <p:sp>
        <p:nvSpPr>
          <p:cNvPr id="14" name="Rounded Rectangle 13"/>
          <p:cNvSpPr/>
          <p:nvPr/>
        </p:nvSpPr>
        <p:spPr>
          <a:xfrm>
            <a:off x="6278880" y="1905000"/>
            <a:ext cx="5364480" cy="2872740"/>
          </a:xfrm>
          <a:prstGeom prst="roundRect">
            <a:avLst>
              <a:gd name="adj" fmla="val 3713"/>
            </a:avLst>
          </a:prstGeom>
          <a:solidFill>
            <a:srgbClr val="FFFFFF"/>
          </a:solidFill>
          <a:ln w="7620">
            <a:solidFill>
              <a:srgbClr val="C9D2D4"/>
            </a:solidFill>
          </a:ln>
          <a:effectLst/>
        </p:spPr>
        <p:txBody>
          <a:bodyPr rtlCol="0" anchor="ctr"/>
          <a:lstStyle/>
          <a:p>
            <a:pPr algn="ctr"/>
          </a:p>
        </p:txBody>
      </p:sp>
      <p:sp>
        <p:nvSpPr>
          <p:cNvPr id="15" name="TextBox 14"/>
          <p:cNvSpPr txBox="1"/>
          <p:nvPr/>
        </p:nvSpPr>
        <p:spPr>
          <a:xfrm>
            <a:off x="6477000" y="2110740"/>
            <a:ext cx="49530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102B3F"/>
                </a:solidFill>
                <a:latin typeface="DejaVu Sans"/>
              </a:rPr>
              <a:t>Prefer task B</a:t>
            </a:r>
          </a:p>
        </p:txBody>
      </p:sp>
      <p:sp>
        <p:nvSpPr>
          <p:cNvPr id="16" name="TextBox 15"/>
          <p:cNvSpPr txBox="1"/>
          <p:nvPr/>
        </p:nvSpPr>
        <p:spPr>
          <a:xfrm>
            <a:off x="6507480" y="2842260"/>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a:t>
            </a:r>
          </a:p>
        </p:txBody>
      </p:sp>
      <p:sp>
        <p:nvSpPr>
          <p:cNvPr id="17" name="Rounded Rectangle 16"/>
          <p:cNvSpPr/>
          <p:nvPr/>
        </p:nvSpPr>
        <p:spPr>
          <a:xfrm>
            <a:off x="7117080" y="2781300"/>
            <a:ext cx="1600200" cy="426720"/>
          </a:xfrm>
          <a:prstGeom prst="roundRect">
            <a:avLst>
              <a:gd name="adj" fmla="val 12500"/>
            </a:avLst>
          </a:prstGeom>
          <a:solidFill>
            <a:srgbClr val="E4EBF5"/>
          </a:solidFill>
          <a:ln>
            <a:noFill/>
          </a:ln>
          <a:effectLst/>
        </p:spPr>
        <p:txBody>
          <a:bodyPr rtlCol="0" anchor="ctr"/>
          <a:lstStyle/>
          <a:p>
            <a:pPr algn="ctr"/>
          </a:p>
        </p:txBody>
      </p:sp>
      <p:sp>
        <p:nvSpPr>
          <p:cNvPr id="18" name="TextBox 17"/>
          <p:cNvSpPr txBox="1"/>
          <p:nvPr/>
        </p:nvSpPr>
        <p:spPr>
          <a:xfrm>
            <a:off x="7223759" y="285750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315E9C"/>
                </a:solidFill>
                <a:latin typeface="DejaVu Sans"/>
              </a:rPr>
              <a:t>10</a:t>
            </a:r>
          </a:p>
        </p:txBody>
      </p:sp>
      <p:sp>
        <p:nvSpPr>
          <p:cNvPr id="19" name="TextBox 18"/>
          <p:cNvSpPr txBox="1"/>
          <p:nvPr/>
        </p:nvSpPr>
        <p:spPr>
          <a:xfrm>
            <a:off x="6507480" y="3512819"/>
            <a:ext cx="4572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a:t>
            </a:r>
          </a:p>
        </p:txBody>
      </p:sp>
      <p:sp>
        <p:nvSpPr>
          <p:cNvPr id="20" name="Rounded Rectangle 19"/>
          <p:cNvSpPr/>
          <p:nvPr/>
        </p:nvSpPr>
        <p:spPr>
          <a:xfrm>
            <a:off x="7117080" y="3451860"/>
            <a:ext cx="3200400" cy="426720"/>
          </a:xfrm>
          <a:prstGeom prst="roundRect">
            <a:avLst>
              <a:gd name="adj" fmla="val 12500"/>
            </a:avLst>
          </a:prstGeom>
          <a:solidFill>
            <a:srgbClr val="DCEFE8"/>
          </a:solidFill>
          <a:ln>
            <a:noFill/>
          </a:ln>
          <a:effectLst/>
        </p:spPr>
        <p:txBody>
          <a:bodyPr rtlCol="0" anchor="ctr"/>
          <a:lstStyle/>
          <a:p>
            <a:pPr algn="ctr"/>
          </a:p>
        </p:txBody>
      </p:sp>
      <p:sp>
        <p:nvSpPr>
          <p:cNvPr id="21" name="TextBox 20"/>
          <p:cNvSpPr txBox="1"/>
          <p:nvPr/>
        </p:nvSpPr>
        <p:spPr>
          <a:xfrm>
            <a:off x="7223759" y="3528060"/>
            <a:ext cx="838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1">
                <a:solidFill>
                  <a:srgbClr val="007C78"/>
                </a:solidFill>
                <a:latin typeface="DejaVu Sans"/>
              </a:rPr>
              <a:t>20</a:t>
            </a:r>
          </a:p>
        </p:txBody>
      </p:sp>
      <p:sp>
        <p:nvSpPr>
          <p:cNvPr id="22" name="TextBox 21"/>
          <p:cNvSpPr txBox="1"/>
          <p:nvPr/>
        </p:nvSpPr>
        <p:spPr>
          <a:xfrm>
            <a:off x="6492240" y="4229100"/>
            <a:ext cx="49530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First attempt → B</a:t>
            </a:r>
          </a:p>
        </p:txBody>
      </p:sp>
      <p:sp>
        <p:nvSpPr>
          <p:cNvPr id="23" name="TextBox 22"/>
          <p:cNvSpPr txBox="1"/>
          <p:nvPr/>
        </p:nvSpPr>
        <p:spPr>
          <a:xfrm>
            <a:off x="594360" y="5143500"/>
            <a:ext cx="109728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Both attention providers preserve this effect; replay adds no native call and no second credit.</a:t>
            </a:r>
          </a:p>
        </p:txBody>
      </p:sp>
      <p:sp>
        <p:nvSpPr>
          <p:cNvPr id="24" name="Rounded Rectangle 2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5" name="TextBox 2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Attention changes scheduling. It does not alter premise truth values or manufacture independent evidence.</a:t>
            </a:r>
          </a:p>
        </p:txBody>
      </p:sp>
      <p:cxnSp>
        <p:nvCxnSpPr>
          <p:cNvPr id="26" name="Connector 25"/>
          <p:cNvCxnSpPr/>
          <p:nvPr/>
        </p:nvCxnSpPr>
        <p:spPr>
          <a:xfrm>
            <a:off x="548640" y="6393180"/>
            <a:ext cx="11094720" cy="0"/>
          </a:xfrm>
          <a:prstGeom prst="line">
            <a:avLst/>
          </a:prstGeom>
          <a:ln w="7620">
            <a:solidFill>
              <a:srgbClr val="C9D2D4"/>
            </a:solidFill>
          </a:ln>
          <a:effectLst/>
        </p:spPr>
      </p:cxnSp>
      <p:sp>
        <p:nvSpPr>
          <p:cNvPr id="27" name="TextBox 2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m3/final/comparison.json · native Hive scenario</a:t>
            </a:r>
          </a:p>
        </p:txBody>
      </p:sp>
      <p:sp>
        <p:nvSpPr>
          <p:cNvPr id="28" name="TextBox 2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33 / 64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MEASURED NATIVE WORKFLOW</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One artifact connects Hive, DA and the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approved result is the exact result retrieved, committed and independently read back.</a:t>
            </a:r>
          </a:p>
        </p:txBody>
      </p:sp>
      <p:sp>
        <p:nvSpPr>
          <p:cNvPr id="5" name="Rounded Rectangle 4"/>
          <p:cNvSpPr/>
          <p:nvPr/>
        </p:nvSpPr>
        <p:spPr>
          <a:xfrm>
            <a:off x="548640" y="1920239"/>
            <a:ext cx="3535679" cy="1577339"/>
          </a:xfrm>
          <a:prstGeom prst="roundRect">
            <a:avLst>
              <a:gd name="adj" fmla="val 6280"/>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315E9C"/>
                </a:solidFill>
                <a:latin typeface="DejaVu Sans"/>
              </a:rPr>
              <a:t>53-byte input</a:t>
            </a:r>
          </a:p>
        </p:txBody>
      </p:sp>
      <p:sp>
        <p:nvSpPr>
          <p:cNvPr id="7" name="TextBox 6"/>
          <p:cNvSpPr txBox="1"/>
          <p:nvPr/>
        </p:nvSpPr>
        <p:spPr>
          <a:xfrm>
            <a:off x="716280" y="249570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Generated and explicitly</a:t>
            </a:r>
          </a:p>
        </p:txBody>
      </p:sp>
      <p:sp>
        <p:nvSpPr>
          <p:cNvPr id="8" name="TextBox 7"/>
          <p:cNvSpPr txBox="1"/>
          <p:nvPr/>
        </p:nvSpPr>
        <p:spPr>
          <a:xfrm>
            <a:off x="716280" y="275904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shareable</a:t>
            </a:r>
          </a:p>
        </p:txBody>
      </p:sp>
      <p:sp>
        <p:nvSpPr>
          <p:cNvPr id="9" name="TextBox 8"/>
          <p:cNvSpPr txBox="1"/>
          <p:nvPr/>
        </p:nvSpPr>
        <p:spPr>
          <a:xfrm>
            <a:off x="716280" y="302239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Real native fusion-inspect</a:t>
            </a:r>
          </a:p>
        </p:txBody>
      </p:sp>
      <p:cxnSp>
        <p:nvCxnSpPr>
          <p:cNvPr id="10" name="Connector 9"/>
          <p:cNvCxnSpPr/>
          <p:nvPr/>
        </p:nvCxnSpPr>
        <p:spPr>
          <a:xfrm>
            <a:off x="4084319" y="2697480"/>
            <a:ext cx="213361" cy="0"/>
          </a:xfrm>
          <a:prstGeom prst="line">
            <a:avLst/>
          </a:prstGeom>
          <a:ln w="15240">
            <a:solidFill>
              <a:srgbClr val="007C78"/>
            </a:solidFill>
          </a:ln>
          <a:effectLst/>
        </p:spPr>
      </p:cxnSp>
      <p:sp>
        <p:nvSpPr>
          <p:cNvPr id="11" name="Freeform 10"/>
          <p:cNvSpPr/>
          <p:nvPr/>
        </p:nvSpPr>
        <p:spPr>
          <a:xfrm>
            <a:off x="4198620" y="26593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2" name="Rounded Rectangle 11"/>
          <p:cNvSpPr/>
          <p:nvPr/>
        </p:nvSpPr>
        <p:spPr>
          <a:xfrm>
            <a:off x="4328160" y="1920239"/>
            <a:ext cx="3535679" cy="1577339"/>
          </a:xfrm>
          <a:prstGeom prst="roundRect">
            <a:avLst>
              <a:gd name="adj" fmla="val 6280"/>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49580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143-byte result</a:t>
            </a:r>
          </a:p>
        </p:txBody>
      </p:sp>
      <p:sp>
        <p:nvSpPr>
          <p:cNvPr id="14" name="TextBox 13"/>
          <p:cNvSpPr txBox="1"/>
          <p:nvPr/>
        </p:nvSpPr>
        <p:spPr>
          <a:xfrm>
            <a:off x="4495800" y="2495702"/>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Real worker + real DeTTa</a:t>
            </a:r>
          </a:p>
        </p:txBody>
      </p:sp>
      <p:sp>
        <p:nvSpPr>
          <p:cNvPr id="15" name="TextBox 14"/>
          <p:cNvSpPr txBox="1"/>
          <p:nvPr/>
        </p:nvSpPr>
        <p:spPr>
          <a:xfrm>
            <a:off x="4495800" y="2759049"/>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Caller accepts and</a:t>
            </a:r>
          </a:p>
        </p:txBody>
      </p:sp>
      <p:sp>
        <p:nvSpPr>
          <p:cNvPr id="16" name="TextBox 15"/>
          <p:cNvSpPr txBox="1"/>
          <p:nvPr/>
        </p:nvSpPr>
        <p:spPr>
          <a:xfrm>
            <a:off x="4495800" y="3022396"/>
            <a:ext cx="32004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536775"/>
                </a:solidFill>
                <a:latin typeface="DejaVu Sans"/>
              </a:rPr>
              <a:t>acknowledges</a:t>
            </a:r>
          </a:p>
        </p:txBody>
      </p:sp>
      <p:cxnSp>
        <p:nvCxnSpPr>
          <p:cNvPr id="17" name="Connector 16"/>
          <p:cNvCxnSpPr/>
          <p:nvPr/>
        </p:nvCxnSpPr>
        <p:spPr>
          <a:xfrm>
            <a:off x="7863839" y="2697480"/>
            <a:ext cx="213361" cy="0"/>
          </a:xfrm>
          <a:prstGeom prst="line">
            <a:avLst/>
          </a:prstGeom>
          <a:ln w="15240">
            <a:solidFill>
              <a:srgbClr val="007C78"/>
            </a:solidFill>
          </a:ln>
          <a:effectLst/>
        </p:spPr>
      </p:cxnSp>
      <p:sp>
        <p:nvSpPr>
          <p:cNvPr id="18" name="Freeform 17"/>
          <p:cNvSpPr/>
          <p:nvPr/>
        </p:nvSpPr>
        <p:spPr>
          <a:xfrm>
            <a:off x="7978140" y="26593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9" name="Rounded Rectangle 18"/>
          <p:cNvSpPr/>
          <p:nvPr/>
        </p:nvSpPr>
        <p:spPr>
          <a:xfrm>
            <a:off x="8107680" y="1920239"/>
            <a:ext cx="3535679" cy="1577339"/>
          </a:xfrm>
          <a:prstGeom prst="roundRect">
            <a:avLst>
              <a:gd name="adj" fmla="val 6280"/>
            </a:avLst>
          </a:prstGeom>
          <a:solidFill>
            <a:srgbClr val="FFFFFF"/>
          </a:solidFill>
          <a:ln w="7620">
            <a:solidFill>
              <a:srgbClr val="007C78"/>
            </a:solidFill>
          </a:ln>
          <a:effectLst/>
        </p:spPr>
        <p:txBody>
          <a:bodyPr rtlCol="0" anchor="ctr"/>
          <a:lstStyle/>
          <a:p>
            <a:pPr algn="ctr"/>
          </a:p>
        </p:txBody>
      </p:sp>
      <p:sp>
        <p:nvSpPr>
          <p:cNvPr id="20" name="TextBox 19"/>
          <p:cNvSpPr txBox="1"/>
          <p:nvPr/>
        </p:nvSpPr>
        <p:spPr>
          <a:xfrm>
            <a:off x="8275320" y="208788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One commitment</a:t>
            </a:r>
          </a:p>
        </p:txBody>
      </p:sp>
      <p:sp>
        <p:nvSpPr>
          <p:cNvPr id="21" name="TextBox 20"/>
          <p:cNvSpPr txBox="1"/>
          <p:nvPr/>
        </p:nvSpPr>
        <p:spPr>
          <a:xfrm>
            <a:off x="8275320" y="2495702"/>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Approved digest in real</a:t>
            </a:r>
          </a:p>
        </p:txBody>
      </p:sp>
      <p:sp>
        <p:nvSpPr>
          <p:cNvPr id="22" name="TextBox 21"/>
          <p:cNvSpPr txBox="1"/>
          <p:nvPr/>
        </p:nvSpPr>
        <p:spPr>
          <a:xfrm>
            <a:off x="8275320" y="2749295"/>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post-state</a:t>
            </a:r>
          </a:p>
        </p:txBody>
      </p:sp>
      <p:sp>
        <p:nvSpPr>
          <p:cNvPr id="23" name="TextBox 22"/>
          <p:cNvSpPr txBox="1"/>
          <p:nvPr/>
        </p:nvSpPr>
        <p:spPr>
          <a:xfrm>
            <a:off x="8275320" y="3002889"/>
            <a:ext cx="32004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0">
                <a:solidFill>
                  <a:srgbClr val="536775"/>
                </a:solidFill>
                <a:latin typeface="DejaVu Sans"/>
              </a:rPr>
              <a:t>Matching finalized deploy effect</a:t>
            </a:r>
          </a:p>
        </p:txBody>
      </p:sp>
      <p:sp>
        <p:nvSpPr>
          <p:cNvPr id="24" name="Rounded Rectangle 23"/>
          <p:cNvSpPr/>
          <p:nvPr/>
        </p:nvSpPr>
        <p:spPr>
          <a:xfrm>
            <a:off x="548640" y="3794760"/>
            <a:ext cx="11094720" cy="990600"/>
          </a:xfrm>
          <a:prstGeom prst="roundRect">
            <a:avLst>
              <a:gd name="adj" fmla="val 9230"/>
            </a:avLst>
          </a:prstGeom>
          <a:solidFill>
            <a:srgbClr val="0B2233"/>
          </a:solidFill>
          <a:ln>
            <a:noFill/>
          </a:ln>
          <a:effectLst/>
        </p:spPr>
        <p:txBody>
          <a:bodyPr rtlCol="0" anchor="ctr"/>
          <a:lstStyle/>
          <a:p>
            <a:pPr algn="ctr"/>
          </a:p>
        </p:txBody>
      </p:sp>
      <p:sp>
        <p:nvSpPr>
          <p:cNvPr id="25" name="TextBox 24"/>
          <p:cNvSpPr txBox="1"/>
          <p:nvPr/>
        </p:nvSpPr>
        <p:spPr>
          <a:xfrm>
            <a:off x="754380" y="3947160"/>
            <a:ext cx="103632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1">
                <a:solidFill>
                  <a:srgbClr val="AAC0CC"/>
                </a:solidFill>
                <a:latin typeface="DejaVu Sans"/>
              </a:rPr>
              <a:t>APPROVED RESULT SHA-256 · SAME VALUE AT EVERY STAGE</a:t>
            </a:r>
          </a:p>
        </p:txBody>
      </p:sp>
      <p:sp>
        <p:nvSpPr>
          <p:cNvPr id="26" name="TextBox 25"/>
          <p:cNvSpPr txBox="1"/>
          <p:nvPr/>
        </p:nvSpPr>
        <p:spPr>
          <a:xfrm>
            <a:off x="754380" y="4297680"/>
            <a:ext cx="10363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cd2f727689b41e243ee78207d058d00b8be64932abbfd86a02851dfcbac400bb</a:t>
            </a:r>
          </a:p>
        </p:txBody>
      </p:sp>
      <p:sp>
        <p:nvSpPr>
          <p:cNvPr id="27" name="Rounded Rectangle 26"/>
          <p:cNvSpPr/>
          <p:nvPr/>
        </p:nvSpPr>
        <p:spPr>
          <a:xfrm>
            <a:off x="548640" y="4899660"/>
            <a:ext cx="5364480" cy="792480"/>
          </a:xfrm>
          <a:prstGeom prst="roundRect">
            <a:avLst>
              <a:gd name="adj" fmla="val 12500"/>
            </a:avLst>
          </a:prstGeom>
          <a:solidFill>
            <a:srgbClr val="E4EBF5"/>
          </a:solidFill>
          <a:ln w="7620">
            <a:solidFill>
              <a:srgbClr val="315E9C"/>
            </a:solidFill>
          </a:ln>
          <a:effectLst/>
        </p:spPr>
        <p:txBody>
          <a:bodyPr rtlCol="0" anchor="ctr"/>
          <a:lstStyle/>
          <a:p>
            <a:pPr algn="ctr"/>
          </a:p>
        </p:txBody>
      </p:sp>
      <p:sp>
        <p:nvSpPr>
          <p:cNvPr id="28" name="TextBox 27"/>
          <p:cNvSpPr txBox="1"/>
          <p:nvPr/>
        </p:nvSpPr>
        <p:spPr>
          <a:xfrm>
            <a:off x="716280" y="506730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315E9C"/>
                </a:solidFill>
                <a:latin typeface="DejaVu Sans"/>
              </a:rPr>
              <a:t>Counts remain stable</a:t>
            </a:r>
          </a:p>
        </p:txBody>
      </p:sp>
      <p:sp>
        <p:nvSpPr>
          <p:cNvPr id="29" name="TextBox 28"/>
          <p:cNvSpPr txBox="1"/>
          <p:nvPr/>
        </p:nvSpPr>
        <p:spPr>
          <a:xfrm>
            <a:off x="716280" y="537758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1 job · 1 outbox · 2 messages · 2 shared atoms</a:t>
            </a:r>
          </a:p>
        </p:txBody>
      </p:sp>
      <p:sp>
        <p:nvSpPr>
          <p:cNvPr id="30" name="Rounded Rectangle 29"/>
          <p:cNvSpPr/>
          <p:nvPr/>
        </p:nvSpPr>
        <p:spPr>
          <a:xfrm>
            <a:off x="6278880" y="4899660"/>
            <a:ext cx="5364480" cy="792480"/>
          </a:xfrm>
          <a:prstGeom prst="roundRect">
            <a:avLst>
              <a:gd name="adj" fmla="val 12500"/>
            </a:avLst>
          </a:prstGeom>
          <a:solidFill>
            <a:srgbClr val="DCEFE8"/>
          </a:solidFill>
          <a:ln w="7620">
            <a:solidFill>
              <a:srgbClr val="007C78"/>
            </a:solidFill>
          </a:ln>
          <a:effectLst/>
        </p:spPr>
        <p:txBody>
          <a:bodyPr rtlCol="0" anchor="ctr"/>
          <a:lstStyle/>
          <a:p>
            <a:pPr algn="ctr"/>
          </a:p>
        </p:txBody>
      </p:sp>
      <p:sp>
        <p:nvSpPr>
          <p:cNvPr id="31" name="TextBox 30"/>
          <p:cNvSpPr txBox="1"/>
          <p:nvPr/>
        </p:nvSpPr>
        <p:spPr>
          <a:xfrm>
            <a:off x="6446520" y="5067300"/>
            <a:ext cx="5029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007C78"/>
                </a:solidFill>
                <a:latin typeface="DejaVu Sans"/>
              </a:rPr>
              <a:t>First finalized-effect observation</a:t>
            </a:r>
          </a:p>
        </p:txBody>
      </p:sp>
      <p:sp>
        <p:nvSpPr>
          <p:cNvPr id="32" name="TextBox 31"/>
          <p:cNvSpPr txBox="1"/>
          <p:nvPr/>
        </p:nvSpPr>
        <p:spPr>
          <a:xfrm>
            <a:off x="6446520" y="5377586"/>
            <a:ext cx="5029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4.066 s · one native observe call · 675 phlo</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These are local observations from one run, including proposal/observation overhead; no throughput claim.</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evidence/m4/final/same-artifact.json · readback.json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34 / 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CURRENT AUTHORITY + EXACT INTENT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Approval freezes the result and its destination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public action accepts only original_command. Trusted composition supplies all sensitive choices.</a:t>
            </a:r>
          </a:p>
        </p:txBody>
      </p:sp>
      <p:sp>
        <p:nvSpPr>
          <p:cNvPr id="5" name="Rounded Rectangle 4"/>
          <p:cNvSpPr/>
          <p:nvPr/>
        </p:nvSpPr>
        <p:spPr>
          <a:xfrm>
            <a:off x="548640" y="1897380"/>
            <a:ext cx="5364480" cy="1661159"/>
          </a:xfrm>
          <a:prstGeom prst="roundRect">
            <a:avLst>
              <a:gd name="adj" fmla="val 596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16280" y="206502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Exact result</a:t>
            </a:r>
          </a:p>
        </p:txBody>
      </p:sp>
      <p:sp>
        <p:nvSpPr>
          <p:cNvPr id="7" name="TextBox 6"/>
          <p:cNvSpPr txBox="1"/>
          <p:nvPr/>
        </p:nvSpPr>
        <p:spPr>
          <a:xfrm>
            <a:off x="716280" y="2463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Generated command + seed + shared scope</a:t>
            </a:r>
          </a:p>
        </p:txBody>
      </p:sp>
      <p:sp>
        <p:nvSpPr>
          <p:cNvPr id="8" name="TextBox 7"/>
          <p:cNvSpPr txBox="1"/>
          <p:nvPr/>
        </p:nvSpPr>
        <p:spPr>
          <a:xfrm>
            <a:off x="716280" y="2736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Accepted result reference and digest</a:t>
            </a:r>
          </a:p>
        </p:txBody>
      </p:sp>
      <p:sp>
        <p:nvSpPr>
          <p:cNvPr id="9" name="Rounded Rectangle 8"/>
          <p:cNvSpPr/>
          <p:nvPr/>
        </p:nvSpPr>
        <p:spPr>
          <a:xfrm>
            <a:off x="6278880" y="1897380"/>
            <a:ext cx="5364480" cy="1661159"/>
          </a:xfrm>
          <a:prstGeom prst="roundRect">
            <a:avLst>
              <a:gd name="adj" fmla="val 5963"/>
            </a:avLst>
          </a:prstGeom>
          <a:solidFill>
            <a:srgbClr val="FFFFFF"/>
          </a:solidFill>
          <a:ln w="7620">
            <a:solidFill>
              <a:srgbClr val="315E9C"/>
            </a:solidFill>
          </a:ln>
          <a:effectLst/>
        </p:spPr>
        <p:txBody>
          <a:bodyPr rtlCol="0" anchor="ctr"/>
          <a:lstStyle/>
          <a:p>
            <a:pPr algn="ctr"/>
          </a:p>
        </p:txBody>
      </p:sp>
      <p:sp>
        <p:nvSpPr>
          <p:cNvPr id="10" name="TextBox 9"/>
          <p:cNvSpPr txBox="1"/>
          <p:nvPr/>
        </p:nvSpPr>
        <p:spPr>
          <a:xfrm>
            <a:off x="6446520" y="206502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Exact authority</a:t>
            </a:r>
          </a:p>
        </p:txBody>
      </p:sp>
      <p:sp>
        <p:nvSpPr>
          <p:cNvPr id="11" name="TextBox 10"/>
          <p:cNvSpPr txBox="1"/>
          <p:nvPr/>
        </p:nvSpPr>
        <p:spPr>
          <a:xfrm>
            <a:off x="6446520" y="2463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Authenticated actor + swarm + expiry</a:t>
            </a:r>
          </a:p>
        </p:txBody>
      </p:sp>
      <p:sp>
        <p:nvSpPr>
          <p:cNvPr id="12" name="TextBox 11"/>
          <p:cNvSpPr txBox="1"/>
          <p:nvPr/>
        </p:nvSpPr>
        <p:spPr>
          <a:xfrm>
            <a:off x="6446520" y="2736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Live checks on new calls, replay and send</a:t>
            </a:r>
          </a:p>
        </p:txBody>
      </p:sp>
      <p:sp>
        <p:nvSpPr>
          <p:cNvPr id="13" name="Rounded Rectangle 12"/>
          <p:cNvSpPr/>
          <p:nvPr/>
        </p:nvSpPr>
        <p:spPr>
          <a:xfrm>
            <a:off x="548640" y="3802379"/>
            <a:ext cx="5364480" cy="1661159"/>
          </a:xfrm>
          <a:prstGeom prst="roundRect">
            <a:avLst>
              <a:gd name="adj" fmla="val 5963"/>
            </a:avLst>
          </a:prstGeom>
          <a:solidFill>
            <a:srgbClr val="FFFFFF"/>
          </a:solidFill>
          <a:ln w="7620">
            <a:solidFill>
              <a:srgbClr val="315E9C"/>
            </a:solidFill>
          </a:ln>
          <a:effectLst/>
        </p:spPr>
        <p:txBody>
          <a:bodyPr rtlCol="0" anchor="ctr"/>
          <a:lstStyle/>
          <a:p>
            <a:pPr algn="ctr"/>
          </a:p>
        </p:txBody>
      </p:sp>
      <p:sp>
        <p:nvSpPr>
          <p:cNvPr id="14" name="TextBox 13"/>
          <p:cNvSpPr txBox="1"/>
          <p:nvPr/>
        </p:nvSpPr>
        <p:spPr>
          <a:xfrm>
            <a:off x="716280" y="3970019"/>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Exact destination</a:t>
            </a:r>
          </a:p>
        </p:txBody>
      </p:sp>
      <p:sp>
        <p:nvSpPr>
          <p:cNvPr id="15" name="TextBox 14"/>
          <p:cNvSpPr txBox="1"/>
          <p:nvPr/>
        </p:nvSpPr>
        <p:spPr>
          <a:xfrm>
            <a:off x="716280" y="4368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Source/profile + network + shard + genesis</a:t>
            </a:r>
          </a:p>
        </p:txBody>
      </p:sp>
      <p:sp>
        <p:nvSpPr>
          <p:cNvPr id="16" name="TextBox 15"/>
          <p:cNvSpPr txBox="1"/>
          <p:nvPr/>
        </p:nvSpPr>
        <p:spPr>
          <a:xfrm>
            <a:off x="716280" y="4641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Registered signer and protobuf identity</a:t>
            </a:r>
          </a:p>
        </p:txBody>
      </p:sp>
      <p:sp>
        <p:nvSpPr>
          <p:cNvPr id="17" name="Rounded Rectangle 16"/>
          <p:cNvSpPr/>
          <p:nvPr/>
        </p:nvSpPr>
        <p:spPr>
          <a:xfrm>
            <a:off x="6278880" y="3802379"/>
            <a:ext cx="5364480" cy="1661159"/>
          </a:xfrm>
          <a:prstGeom prst="roundRect">
            <a:avLst>
              <a:gd name="adj" fmla="val 5963"/>
            </a:avLst>
          </a:prstGeom>
          <a:solidFill>
            <a:srgbClr val="FFFFFF"/>
          </a:solidFill>
          <a:ln w="7620">
            <a:solidFill>
              <a:srgbClr val="A86A15"/>
            </a:solidFill>
          </a:ln>
          <a:effectLst/>
        </p:spPr>
        <p:txBody>
          <a:bodyPr rtlCol="0" anchor="ctr"/>
          <a:lstStyle/>
          <a:p>
            <a:pPr algn="ctr"/>
          </a:p>
        </p:txBody>
      </p:sp>
      <p:sp>
        <p:nvSpPr>
          <p:cNvPr id="18" name="TextBox 17"/>
          <p:cNvSpPr txBox="1"/>
          <p:nvPr/>
        </p:nvSpPr>
        <p:spPr>
          <a:xfrm>
            <a:off x="6446520" y="3970019"/>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Exact operation</a:t>
            </a:r>
          </a:p>
        </p:txBody>
      </p:sp>
      <p:sp>
        <p:nvSpPr>
          <p:cNvPr id="19" name="TextBox 18"/>
          <p:cNvSpPr txBox="1"/>
          <p:nvPr/>
        </p:nvSpPr>
        <p:spPr>
          <a:xfrm>
            <a:off x="6446520" y="436808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Fixed tuple and gas limits</a:t>
            </a:r>
          </a:p>
        </p:txBody>
      </p:sp>
      <p:sp>
        <p:nvSpPr>
          <p:cNvPr id="20" name="TextBox 19"/>
          <p:cNvSpPr txBox="1"/>
          <p:nvPr/>
        </p:nvSpPr>
        <p:spPr>
          <a:xfrm>
            <a:off x="6446520" y="4641189"/>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Canonical copies detach mutable inputs</a:t>
            </a:r>
          </a:p>
        </p:txBody>
      </p:sp>
      <p:sp>
        <p:nvSpPr>
          <p:cNvPr id="21" name="Rounded Rectangle 20"/>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2" name="TextBox 21"/>
          <p:cNvSpPr txBox="1"/>
          <p:nvPr/>
        </p:nvSpPr>
        <p:spPr>
          <a:xfrm>
            <a:off x="716280" y="5905500"/>
            <a:ext cx="107442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No caller-supplied code, digest, endpoint, signer or approval; revocation also blocks cached replies.</a:t>
            </a:r>
          </a:p>
        </p:txBody>
      </p:sp>
      <p:cxnSp>
        <p:nvCxnSpPr>
          <p:cNvPr id="23" name="Connector 22"/>
          <p:cNvCxnSpPr/>
          <p:nvPr/>
        </p:nvCxnSpPr>
        <p:spPr>
          <a:xfrm>
            <a:off x="548640" y="6393180"/>
            <a:ext cx="11094720" cy="0"/>
          </a:xfrm>
          <a:prstGeom prst="line">
            <a:avLst/>
          </a:prstGeom>
          <a:ln w="7620">
            <a:solidFill>
              <a:srgbClr val="C9D2D4"/>
            </a:solidFill>
          </a:ln>
          <a:effectLst/>
        </p:spPr>
      </p:cxnSp>
      <p:sp>
        <p:nvSpPr>
          <p:cNvPr id="24" name="TextBox 23"/>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f1r3_m4.py · hive/commitment/program.py</a:t>
            </a:r>
          </a:p>
        </p:txBody>
      </p:sp>
      <p:sp>
        <p:nvSpPr>
          <p:cNvPr id="25" name="TextBox 24"/>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35 / 64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SOURCE-VERIFIED READBACK</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Finality is tied to the actual stored effect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Submission, inclusion and verified finalized effect are different observations.</a:t>
            </a:r>
          </a:p>
        </p:txBody>
      </p:sp>
      <p:sp>
        <p:nvSpPr>
          <p:cNvPr id="5" name="Rounded Rectangle 4"/>
          <p:cNvSpPr/>
          <p:nvPr/>
        </p:nvSpPr>
        <p:spPr>
          <a:xfrm>
            <a:off x="548640" y="1920239"/>
            <a:ext cx="3535679" cy="1927859"/>
          </a:xfrm>
          <a:prstGeom prst="roundRect">
            <a:avLst>
              <a:gd name="adj" fmla="val 5138"/>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1 · Submission</a:t>
            </a:r>
          </a:p>
        </p:txBody>
      </p:sp>
      <p:sp>
        <p:nvSpPr>
          <p:cNvPr id="7" name="TextBox 6"/>
          <p:cNvSpPr txBox="1"/>
          <p:nvPr/>
        </p:nvSpPr>
        <p:spPr>
          <a:xfrm>
            <a:off x="71628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node accepts the saved</a:t>
            </a:r>
          </a:p>
        </p:txBody>
      </p:sp>
      <p:sp>
        <p:nvSpPr>
          <p:cNvPr id="8" name="TextBox 7"/>
          <p:cNvSpPr txBox="1"/>
          <p:nvPr/>
        </p:nvSpPr>
        <p:spPr>
          <a:xfrm>
            <a:off x="71628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signed deploy. The effect is</a:t>
            </a:r>
          </a:p>
        </p:txBody>
      </p:sp>
      <p:sp>
        <p:nvSpPr>
          <p:cNvPr id="9" name="TextBox 8"/>
          <p:cNvSpPr txBox="1"/>
          <p:nvPr/>
        </p:nvSpPr>
        <p:spPr>
          <a:xfrm>
            <a:off x="71628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still pending.</a:t>
            </a:r>
          </a:p>
        </p:txBody>
      </p:sp>
      <p:cxnSp>
        <p:nvCxnSpPr>
          <p:cNvPr id="10" name="Connector 9"/>
          <p:cNvCxnSpPr/>
          <p:nvPr/>
        </p:nvCxnSpPr>
        <p:spPr>
          <a:xfrm>
            <a:off x="4084319" y="2895600"/>
            <a:ext cx="213361" cy="0"/>
          </a:xfrm>
          <a:prstGeom prst="line">
            <a:avLst/>
          </a:prstGeom>
          <a:ln w="15240">
            <a:solidFill>
              <a:srgbClr val="536775"/>
            </a:solidFill>
          </a:ln>
          <a:effectLst/>
        </p:spPr>
      </p:cxnSp>
      <p:sp>
        <p:nvSpPr>
          <p:cNvPr id="11" name="Freeform 10"/>
          <p:cNvSpPr/>
          <p:nvPr/>
        </p:nvSpPr>
        <p:spPr>
          <a:xfrm>
            <a:off x="4198620" y="28575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2" name="Rounded Rectangle 11"/>
          <p:cNvSpPr/>
          <p:nvPr/>
        </p:nvSpPr>
        <p:spPr>
          <a:xfrm>
            <a:off x="4328160" y="1920239"/>
            <a:ext cx="3535679" cy="1927859"/>
          </a:xfrm>
          <a:prstGeom prst="roundRect">
            <a:avLst>
              <a:gd name="adj" fmla="val 5138"/>
            </a:avLst>
          </a:prstGeom>
          <a:solidFill>
            <a:srgbClr val="FFFFFF"/>
          </a:solidFill>
          <a:ln w="7620">
            <a:solidFill>
              <a:srgbClr val="315E9C"/>
            </a:solidFill>
          </a:ln>
          <a:effectLst/>
        </p:spPr>
        <p:txBody>
          <a:bodyPr rtlCol="0" anchor="ctr"/>
          <a:lstStyle/>
          <a:p>
            <a:pPr algn="ctr"/>
          </a:p>
        </p:txBody>
      </p:sp>
      <p:sp>
        <p:nvSpPr>
          <p:cNvPr id="13" name="TextBox 12"/>
          <p:cNvSpPr txBox="1"/>
          <p:nvPr/>
        </p:nvSpPr>
        <p:spPr>
          <a:xfrm>
            <a:off x="449580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315E9C"/>
                </a:solidFill>
                <a:latin typeface="DejaVu Sans"/>
              </a:rPr>
              <a:t>2 · Inclusion</a:t>
            </a:r>
          </a:p>
        </p:txBody>
      </p:sp>
      <p:sp>
        <p:nvSpPr>
          <p:cNvPr id="14" name="TextBox 13"/>
          <p:cNvSpPr txBox="1"/>
          <p:nvPr/>
        </p:nvSpPr>
        <p:spPr>
          <a:xfrm>
            <a:off x="449580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The exact deploy appears in</a:t>
            </a:r>
          </a:p>
        </p:txBody>
      </p:sp>
      <p:sp>
        <p:nvSpPr>
          <p:cNvPr id="15" name="TextBox 14"/>
          <p:cNvSpPr txBox="1"/>
          <p:nvPr/>
        </p:nvSpPr>
        <p:spPr>
          <a:xfrm>
            <a:off x="449580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 block with successful</a:t>
            </a:r>
          </a:p>
        </p:txBody>
      </p:sp>
      <p:sp>
        <p:nvSpPr>
          <p:cNvPr id="16" name="TextBox 15"/>
          <p:cNvSpPr txBox="1"/>
          <p:nvPr/>
        </p:nvSpPr>
        <p:spPr>
          <a:xfrm>
            <a:off x="449580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execution and cost.</a:t>
            </a:r>
          </a:p>
        </p:txBody>
      </p:sp>
      <p:cxnSp>
        <p:nvCxnSpPr>
          <p:cNvPr id="17" name="Connector 16"/>
          <p:cNvCxnSpPr/>
          <p:nvPr/>
        </p:nvCxnSpPr>
        <p:spPr>
          <a:xfrm>
            <a:off x="7863839" y="2895600"/>
            <a:ext cx="213361" cy="0"/>
          </a:xfrm>
          <a:prstGeom prst="line">
            <a:avLst/>
          </a:prstGeom>
          <a:ln w="15240">
            <a:solidFill>
              <a:srgbClr val="536775"/>
            </a:solidFill>
          </a:ln>
          <a:effectLst/>
        </p:spPr>
      </p:cxnSp>
      <p:sp>
        <p:nvSpPr>
          <p:cNvPr id="18" name="Freeform 17"/>
          <p:cNvSpPr/>
          <p:nvPr/>
        </p:nvSpPr>
        <p:spPr>
          <a:xfrm>
            <a:off x="7978140" y="285750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9" name="Rounded Rectangle 18"/>
          <p:cNvSpPr/>
          <p:nvPr/>
        </p:nvSpPr>
        <p:spPr>
          <a:xfrm>
            <a:off x="8107680" y="1920239"/>
            <a:ext cx="3535679" cy="1927859"/>
          </a:xfrm>
          <a:prstGeom prst="roundRect">
            <a:avLst>
              <a:gd name="adj" fmla="val 5138"/>
            </a:avLst>
          </a:prstGeom>
          <a:solidFill>
            <a:srgbClr val="FFFFFF"/>
          </a:solidFill>
          <a:ln w="7620">
            <a:solidFill>
              <a:srgbClr val="007C78"/>
            </a:solidFill>
          </a:ln>
          <a:effectLst/>
        </p:spPr>
        <p:txBody>
          <a:bodyPr rtlCol="0" anchor="ctr"/>
          <a:lstStyle/>
          <a:p>
            <a:pPr algn="ctr"/>
          </a:p>
        </p:txBody>
      </p:sp>
      <p:sp>
        <p:nvSpPr>
          <p:cNvPr id="20" name="TextBox 19"/>
          <p:cNvSpPr txBox="1"/>
          <p:nvPr/>
        </p:nvSpPr>
        <p:spPr>
          <a:xfrm>
            <a:off x="8275320" y="2087880"/>
            <a:ext cx="32004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3 · Verified effect</a:t>
            </a:r>
          </a:p>
        </p:txBody>
      </p:sp>
      <p:sp>
        <p:nvSpPr>
          <p:cNvPr id="21" name="TextBox 20"/>
          <p:cNvSpPr txBox="1"/>
          <p:nvPr/>
        </p:nvSpPr>
        <p:spPr>
          <a:xfrm>
            <a:off x="8275320" y="248594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Read the exact tuple in that</a:t>
            </a:r>
          </a:p>
        </p:txBody>
      </p:sp>
      <p:sp>
        <p:nvSpPr>
          <p:cNvPr id="22" name="TextBox 21"/>
          <p:cNvSpPr txBox="1"/>
          <p:nvPr/>
        </p:nvSpPr>
        <p:spPr>
          <a:xfrm>
            <a:off x="8275320" y="275904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block’s post-state; match the</a:t>
            </a:r>
          </a:p>
        </p:txBody>
      </p:sp>
      <p:sp>
        <p:nvSpPr>
          <p:cNvPr id="23" name="TextBox 22"/>
          <p:cNvSpPr txBox="1"/>
          <p:nvPr/>
        </p:nvSpPr>
        <p:spPr>
          <a:xfrm>
            <a:off x="8275320" y="3032150"/>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deploy’s finalized effect.</a:t>
            </a:r>
          </a:p>
        </p:txBody>
      </p:sp>
      <p:sp>
        <p:nvSpPr>
          <p:cNvPr id="24" name="Rounded Rectangle 23"/>
          <p:cNvSpPr/>
          <p:nvPr/>
        </p:nvSpPr>
        <p:spPr>
          <a:xfrm>
            <a:off x="548640" y="4191000"/>
            <a:ext cx="5364480" cy="1348740"/>
          </a:xfrm>
          <a:prstGeom prst="roundRect">
            <a:avLst>
              <a:gd name="adj" fmla="val 7344"/>
            </a:avLst>
          </a:prstGeom>
          <a:solidFill>
            <a:srgbClr val="DCEFE8"/>
          </a:solidFill>
          <a:ln w="7620">
            <a:solidFill>
              <a:srgbClr val="007C78"/>
            </a:solidFill>
          </a:ln>
          <a:effectLst/>
        </p:spPr>
        <p:txBody>
          <a:bodyPr rtlCol="0" anchor="ctr"/>
          <a:lstStyle/>
          <a:p>
            <a:pPr algn="ctr"/>
          </a:p>
        </p:txBody>
      </p:sp>
      <p:sp>
        <p:nvSpPr>
          <p:cNvPr id="25" name="TextBox 24"/>
          <p:cNvSpPr txBox="1"/>
          <p:nvPr/>
        </p:nvSpPr>
        <p:spPr>
          <a:xfrm>
            <a:off x="716280" y="43586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Fixed on-chain value</a:t>
            </a:r>
          </a:p>
        </p:txBody>
      </p:sp>
      <p:sp>
        <p:nvSpPr>
          <p:cNvPr id="26" name="TextBox 25"/>
          <p:cNvSpPr txBox="1"/>
          <p:nvPr/>
        </p:nvSpPr>
        <p:spPr>
          <a:xfrm>
            <a:off x="716280" y="4727447"/>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(namespace, generated operation ID,</a:t>
            </a:r>
          </a:p>
        </p:txBody>
      </p:sp>
      <p:sp>
        <p:nvSpPr>
          <p:cNvPr id="27" name="TextBox 26"/>
          <p:cNvSpPr txBox="1"/>
          <p:nvPr/>
        </p:nvSpPr>
        <p:spPr>
          <a:xfrm>
            <a:off x="716280" y="500054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approved result digest)</a:t>
            </a:r>
          </a:p>
        </p:txBody>
      </p:sp>
      <p:sp>
        <p:nvSpPr>
          <p:cNvPr id="28" name="Rounded Rectangle 27"/>
          <p:cNvSpPr/>
          <p:nvPr/>
        </p:nvSpPr>
        <p:spPr>
          <a:xfrm>
            <a:off x="6278880" y="4191000"/>
            <a:ext cx="5364480" cy="1348740"/>
          </a:xfrm>
          <a:prstGeom prst="roundRect">
            <a:avLst>
              <a:gd name="adj" fmla="val 7344"/>
            </a:avLst>
          </a:prstGeom>
          <a:solidFill>
            <a:srgbClr val="E4EBF5"/>
          </a:solidFill>
          <a:ln w="7620">
            <a:solidFill>
              <a:srgbClr val="315E9C"/>
            </a:solidFill>
          </a:ln>
          <a:effectLst/>
        </p:spPr>
        <p:txBody>
          <a:bodyPr rtlCol="0" anchor="ctr"/>
          <a:lstStyle/>
          <a:p>
            <a:pPr algn="ctr"/>
          </a:p>
        </p:txBody>
      </p:sp>
      <p:sp>
        <p:nvSpPr>
          <p:cNvPr id="29" name="TextBox 28"/>
          <p:cNvSpPr txBox="1"/>
          <p:nvPr/>
        </p:nvSpPr>
        <p:spPr>
          <a:xfrm>
            <a:off x="6446520" y="4358640"/>
            <a:ext cx="502920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315E9C"/>
                </a:solidFill>
                <a:latin typeface="DejaVu Sans"/>
              </a:rPr>
              <a:t>Independent verification</a:t>
            </a:r>
          </a:p>
        </p:txBody>
      </p:sp>
      <p:sp>
        <p:nvSpPr>
          <p:cNvPr id="30" name="TextBox 29"/>
          <p:cNvSpPr txBox="1"/>
          <p:nvPr/>
        </p:nvSpPr>
        <p:spPr>
          <a:xfrm>
            <a:off x="6446520" y="4727447"/>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Same digest + deploy + block + post-state</a:t>
            </a:r>
          </a:p>
        </p:txBody>
      </p:sp>
      <p:sp>
        <p:nvSpPr>
          <p:cNvPr id="31" name="TextBox 30"/>
          <p:cNvSpPr txBox="1"/>
          <p:nvPr/>
        </p:nvSpPr>
        <p:spPr>
          <a:xfrm>
            <a:off x="6446520" y="5000548"/>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after node restart; no caller journal or signer.</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adapter verifies node-observed evidence. The chain does not certify off-chain PLN reasoning.</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F1R3node 9ec1096 · f1r3-generated-post-state/2</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36 / 64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FOUR NATIVE SIGKILL BOUNDARIES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lost reply reuses the same signed request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 the logical plan before signing, then persist the complete signed deploy before HTTP submission.</a:t>
            </a:r>
          </a:p>
        </p:txBody>
      </p:sp>
      <p:sp>
        <p:nvSpPr>
          <p:cNvPr id="5" name="TextBox 4"/>
          <p:cNvSpPr txBox="1"/>
          <p:nvPr/>
        </p:nvSpPr>
        <p:spPr>
          <a:xfrm>
            <a:off x="670560" y="1790700"/>
            <a:ext cx="3413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KILL BOUNDARY</a:t>
            </a:r>
          </a:p>
        </p:txBody>
      </p:sp>
      <p:sp>
        <p:nvSpPr>
          <p:cNvPr id="6" name="TextBox 5"/>
          <p:cNvSpPr txBox="1"/>
          <p:nvPr/>
        </p:nvSpPr>
        <p:spPr>
          <a:xfrm>
            <a:off x="4328160" y="1790700"/>
            <a:ext cx="3185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AUTHORITATIVE DURABLE FACT</a:t>
            </a:r>
          </a:p>
        </p:txBody>
      </p:sp>
      <p:sp>
        <p:nvSpPr>
          <p:cNvPr id="7" name="TextBox 6"/>
          <p:cNvSpPr txBox="1"/>
          <p:nvPr/>
        </p:nvSpPr>
        <p:spPr>
          <a:xfrm>
            <a:off x="7757159" y="1790700"/>
            <a:ext cx="37642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RECOVERY</a:t>
            </a:r>
          </a:p>
        </p:txBody>
      </p:sp>
      <p:sp>
        <p:nvSpPr>
          <p:cNvPr id="8" name="Rounded Rectangle 7"/>
          <p:cNvSpPr/>
          <p:nvPr/>
        </p:nvSpPr>
        <p:spPr>
          <a:xfrm>
            <a:off x="548640" y="2110740"/>
            <a:ext cx="11094720" cy="784860"/>
          </a:xfrm>
          <a:prstGeom prst="roundRect">
            <a:avLst>
              <a:gd name="adj" fmla="val 5825"/>
            </a:avLst>
          </a:prstGeom>
          <a:solidFill>
            <a:srgbClr val="FFFFFF"/>
          </a:solidFill>
          <a:ln>
            <a:noFill/>
          </a:ln>
          <a:effectLst/>
        </p:spPr>
        <p:txBody>
          <a:bodyPr rtlCol="0" anchor="ctr"/>
          <a:lstStyle/>
          <a:p>
            <a:pPr algn="ctr"/>
          </a:p>
        </p:txBody>
      </p:sp>
      <p:sp>
        <p:nvSpPr>
          <p:cNvPr id="9" name="TextBox 8"/>
          <p:cNvSpPr txBox="1"/>
          <p:nvPr/>
        </p:nvSpPr>
        <p:spPr>
          <a:xfrm>
            <a:off x="670560" y="224028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result acceptance</a:t>
            </a:r>
          </a:p>
        </p:txBody>
      </p:sp>
      <p:sp>
        <p:nvSpPr>
          <p:cNvPr id="10" name="TextBox 9"/>
          <p:cNvSpPr txBox="1"/>
          <p:nvPr/>
        </p:nvSpPr>
        <p:spPr>
          <a:xfrm>
            <a:off x="4328160" y="224028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Caller acceptance; completion</a:t>
            </a:r>
          </a:p>
        </p:txBody>
      </p:sp>
      <p:sp>
        <p:nvSpPr>
          <p:cNvPr id="11" name="TextBox 10"/>
          <p:cNvSpPr txBox="1"/>
          <p:nvPr/>
        </p:nvSpPr>
        <p:spPr>
          <a:xfrm>
            <a:off x="4328160" y="2474366"/>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may need ack</a:t>
            </a:r>
          </a:p>
        </p:txBody>
      </p:sp>
      <p:sp>
        <p:nvSpPr>
          <p:cNvPr id="12" name="TextBox 11"/>
          <p:cNvSpPr txBox="1"/>
          <p:nvPr/>
        </p:nvSpPr>
        <p:spPr>
          <a:xfrm>
            <a:off x="7757159" y="224028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Acknowledge same result, then approve</a:t>
            </a:r>
          </a:p>
        </p:txBody>
      </p:sp>
      <p:sp>
        <p:nvSpPr>
          <p:cNvPr id="13" name="Rounded Rectangle 12"/>
          <p:cNvSpPr/>
          <p:nvPr/>
        </p:nvSpPr>
        <p:spPr>
          <a:xfrm>
            <a:off x="548640" y="2933700"/>
            <a:ext cx="11094720" cy="784860"/>
          </a:xfrm>
          <a:prstGeom prst="roundRect">
            <a:avLst>
              <a:gd name="adj" fmla="val 5825"/>
            </a:avLst>
          </a:prstGeom>
          <a:solidFill>
            <a:srgbClr val="FFFFFF"/>
          </a:solidFill>
          <a:ln>
            <a:noFill/>
          </a:ln>
          <a:effectLst/>
        </p:spPr>
        <p:txBody>
          <a:bodyPr rtlCol="0" anchor="ctr"/>
          <a:lstStyle/>
          <a:p>
            <a:pPr algn="ctr"/>
          </a:p>
        </p:txBody>
      </p:sp>
      <p:sp>
        <p:nvSpPr>
          <p:cNvPr id="14" name="TextBox 13"/>
          <p:cNvSpPr txBox="1"/>
          <p:nvPr/>
        </p:nvSpPr>
        <p:spPr>
          <a:xfrm>
            <a:off x="670560" y="306324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signed-intent commit</a:t>
            </a:r>
          </a:p>
        </p:txBody>
      </p:sp>
      <p:sp>
        <p:nvSpPr>
          <p:cNvPr id="15" name="TextBox 14"/>
          <p:cNvSpPr txBox="1"/>
          <p:nvPr/>
        </p:nvSpPr>
        <p:spPr>
          <a:xfrm>
            <a:off x="4328160" y="306324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signed bytes and timestamp</a:t>
            </a:r>
          </a:p>
        </p:txBody>
      </p:sp>
      <p:sp>
        <p:nvSpPr>
          <p:cNvPr id="16" name="TextBox 15"/>
          <p:cNvSpPr txBox="1"/>
          <p:nvPr/>
        </p:nvSpPr>
        <p:spPr>
          <a:xfrm>
            <a:off x="7757159" y="306324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Replay with signing key unavailable</a:t>
            </a:r>
          </a:p>
        </p:txBody>
      </p:sp>
      <p:sp>
        <p:nvSpPr>
          <p:cNvPr id="17" name="Rounded Rectangle 16"/>
          <p:cNvSpPr/>
          <p:nvPr/>
        </p:nvSpPr>
        <p:spPr>
          <a:xfrm>
            <a:off x="548640" y="3756660"/>
            <a:ext cx="11094720" cy="784860"/>
          </a:xfrm>
          <a:prstGeom prst="roundRect">
            <a:avLst>
              <a:gd name="adj" fmla="val 5825"/>
            </a:avLst>
          </a:prstGeom>
          <a:solidFill>
            <a:srgbClr val="FFFFFF"/>
          </a:solidFill>
          <a:ln>
            <a:noFill/>
          </a:ln>
          <a:effectLst/>
        </p:spPr>
        <p:txBody>
          <a:bodyPr rtlCol="0" anchor="ctr"/>
          <a:lstStyle/>
          <a:p>
            <a:pPr algn="ctr"/>
          </a:p>
        </p:txBody>
      </p:sp>
      <p:sp>
        <p:nvSpPr>
          <p:cNvPr id="18" name="TextBox 17"/>
          <p:cNvSpPr txBox="1"/>
          <p:nvPr/>
        </p:nvSpPr>
        <p:spPr>
          <a:xfrm>
            <a:off x="670560" y="388620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node send, before receipt</a:t>
            </a:r>
          </a:p>
        </p:txBody>
      </p:sp>
      <p:sp>
        <p:nvSpPr>
          <p:cNvPr id="19" name="TextBox 18"/>
          <p:cNvSpPr txBox="1"/>
          <p:nvPr/>
        </p:nvSpPr>
        <p:spPr>
          <a:xfrm>
            <a:off x="4328160" y="388620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signed deploy identity</a:t>
            </a:r>
          </a:p>
        </p:txBody>
      </p:sp>
      <p:sp>
        <p:nvSpPr>
          <p:cNvPr id="20" name="TextBox 19"/>
          <p:cNvSpPr txBox="1"/>
          <p:nvPr/>
        </p:nvSpPr>
        <p:spPr>
          <a:xfrm>
            <a:off x="7757159" y="388620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Retry after real finality; same request</a:t>
            </a:r>
          </a:p>
        </p:txBody>
      </p:sp>
      <p:sp>
        <p:nvSpPr>
          <p:cNvPr id="21" name="Rounded Rectangle 20"/>
          <p:cNvSpPr/>
          <p:nvPr/>
        </p:nvSpPr>
        <p:spPr>
          <a:xfrm>
            <a:off x="548640" y="4579620"/>
            <a:ext cx="11094720" cy="784860"/>
          </a:xfrm>
          <a:prstGeom prst="roundRect">
            <a:avLst>
              <a:gd name="adj" fmla="val 5825"/>
            </a:avLst>
          </a:prstGeom>
          <a:solidFill>
            <a:srgbClr val="FFFFFF"/>
          </a:solidFill>
          <a:ln>
            <a:noFill/>
          </a:ln>
          <a:effectLst/>
        </p:spPr>
        <p:txBody>
          <a:bodyPr rtlCol="0" anchor="ctr"/>
          <a:lstStyle/>
          <a:p>
            <a:pPr algn="ctr"/>
          </a:p>
        </p:txBody>
      </p:sp>
      <p:sp>
        <p:nvSpPr>
          <p:cNvPr id="22" name="TextBox 21"/>
          <p:cNvSpPr txBox="1"/>
          <p:nvPr/>
        </p:nvSpPr>
        <p:spPr>
          <a:xfrm>
            <a:off x="670560" y="4709160"/>
            <a:ext cx="3413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After effect, before progress</a:t>
            </a:r>
          </a:p>
        </p:txBody>
      </p:sp>
      <p:sp>
        <p:nvSpPr>
          <p:cNvPr id="23" name="TextBox 22"/>
          <p:cNvSpPr txBox="1"/>
          <p:nvPr/>
        </p:nvSpPr>
        <p:spPr>
          <a:xfrm>
            <a:off x="4328160" y="4709160"/>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Chain observation committed</a:t>
            </a:r>
          </a:p>
        </p:txBody>
      </p:sp>
      <p:sp>
        <p:nvSpPr>
          <p:cNvPr id="24" name="TextBox 23"/>
          <p:cNvSpPr txBox="1"/>
          <p:nvPr/>
        </p:nvSpPr>
        <p:spPr>
          <a:xfrm>
            <a:off x="4328160" y="4943246"/>
            <a:ext cx="3185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separately</a:t>
            </a:r>
          </a:p>
        </p:txBody>
      </p:sp>
      <p:sp>
        <p:nvSpPr>
          <p:cNvPr id="25" name="TextBox 24"/>
          <p:cNvSpPr txBox="1"/>
          <p:nvPr/>
        </p:nvSpPr>
        <p:spPr>
          <a:xfrm>
            <a:off x="7757159" y="4709160"/>
            <a:ext cx="37642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caller recovers that observation</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Node outage preserves the off-chain result. Restart the same genesis/data and read the same finalized effect.</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evidence/m4/final/recovery-*.json</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37 / 64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05 / M4 · REPRODUCIBLE SOURCE + SAFE ISOLATION</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The real chain ran in a disposable isolated network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Clean pinned F1R3node source; no public connection, upstream patch or consensus rewrite.</a:t>
            </a:r>
          </a:p>
        </p:txBody>
      </p:sp>
      <p:sp>
        <p:nvSpPr>
          <p:cNvPr id="5" name="Rounded Rectangle 4"/>
          <p:cNvSpPr/>
          <p:nvPr/>
        </p:nvSpPr>
        <p:spPr>
          <a:xfrm>
            <a:off x="548640" y="1851659"/>
            <a:ext cx="7010400" cy="3718560"/>
          </a:xfrm>
          <a:prstGeom prst="roundRect">
            <a:avLst>
              <a:gd name="adj" fmla="val 2868"/>
            </a:avLst>
          </a:prstGeom>
          <a:solidFill>
            <a:srgbClr val="DCEFE8"/>
          </a:solidFill>
          <a:ln w="7620">
            <a:solidFill>
              <a:srgbClr val="007C78"/>
            </a:solidFill>
          </a:ln>
          <a:effectLst/>
        </p:spPr>
        <p:txBody>
          <a:bodyPr rtlCol="0" anchor="ctr"/>
          <a:lstStyle/>
          <a:p>
            <a:pPr algn="ctr"/>
          </a:p>
        </p:txBody>
      </p:sp>
      <p:sp>
        <p:nvSpPr>
          <p:cNvPr id="6" name="TextBox 5"/>
          <p:cNvSpPr txBox="1"/>
          <p:nvPr/>
        </p:nvSpPr>
        <p:spPr>
          <a:xfrm>
            <a:off x="754380" y="2049780"/>
            <a:ext cx="659892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UNPRIVILEGED NETWORK NAMESPACE · LOOPBACK ONLY</a:t>
            </a:r>
          </a:p>
        </p:txBody>
      </p:sp>
      <p:sp>
        <p:nvSpPr>
          <p:cNvPr id="7" name="Rounded Rectangle 6"/>
          <p:cNvSpPr/>
          <p:nvPr/>
        </p:nvSpPr>
        <p:spPr>
          <a:xfrm>
            <a:off x="800100" y="2567940"/>
            <a:ext cx="2941320" cy="1333500"/>
          </a:xfrm>
          <a:prstGeom prst="roundRect">
            <a:avLst>
              <a:gd name="adj" fmla="val 7428"/>
            </a:avLst>
          </a:prstGeom>
          <a:solidFill>
            <a:srgbClr val="FFFFFF"/>
          </a:solidFill>
          <a:ln w="7620">
            <a:solidFill>
              <a:srgbClr val="007C78"/>
            </a:solidFill>
          </a:ln>
          <a:effectLst/>
        </p:spPr>
        <p:txBody>
          <a:bodyPr rtlCol="0" anchor="ctr"/>
          <a:lstStyle/>
          <a:p>
            <a:pPr algn="ctr"/>
          </a:p>
        </p:txBody>
      </p:sp>
      <p:sp>
        <p:nvSpPr>
          <p:cNvPr id="8" name="TextBox 7"/>
          <p:cNvSpPr txBox="1"/>
          <p:nvPr/>
        </p:nvSpPr>
        <p:spPr>
          <a:xfrm>
            <a:off x="967740" y="2735580"/>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Generated test</a:t>
            </a:r>
          </a:p>
        </p:txBody>
      </p:sp>
      <p:sp>
        <p:nvSpPr>
          <p:cNvPr id="9" name="TextBox 8"/>
          <p:cNvSpPr txBox="1"/>
          <p:nvPr/>
        </p:nvSpPr>
        <p:spPr>
          <a:xfrm>
            <a:off x="967740" y="3028187"/>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genesis</a:t>
            </a:r>
          </a:p>
        </p:txBody>
      </p:sp>
      <p:sp>
        <p:nvSpPr>
          <p:cNvPr id="10" name="TextBox 9"/>
          <p:cNvSpPr txBox="1"/>
          <p:nvPr/>
        </p:nvSpPr>
        <p:spPr>
          <a:xfrm>
            <a:off x="967740" y="3396996"/>
            <a:ext cx="26060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One validator</a:t>
            </a:r>
          </a:p>
        </p:txBody>
      </p:sp>
      <p:sp>
        <p:nvSpPr>
          <p:cNvPr id="11" name="TextBox 10"/>
          <p:cNvSpPr txBox="1"/>
          <p:nvPr/>
        </p:nvSpPr>
        <p:spPr>
          <a:xfrm>
            <a:off x="967740" y="3601821"/>
            <a:ext cx="260604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a:rPr>
              <a:t>Generated stake, wallet and key</a:t>
            </a:r>
          </a:p>
        </p:txBody>
      </p:sp>
      <p:sp>
        <p:nvSpPr>
          <p:cNvPr id="12" name="Rounded Rectangle 11"/>
          <p:cNvSpPr/>
          <p:nvPr/>
        </p:nvSpPr>
        <p:spPr>
          <a:xfrm>
            <a:off x="4366260" y="2567940"/>
            <a:ext cx="2941320" cy="1333500"/>
          </a:xfrm>
          <a:prstGeom prst="roundRect">
            <a:avLst>
              <a:gd name="adj" fmla="val 7428"/>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533900" y="2735580"/>
            <a:ext cx="26060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007C78"/>
                </a:solidFill>
                <a:latin typeface="DejaVu Sans"/>
              </a:rPr>
              <a:t>Real F1R3node</a:t>
            </a:r>
          </a:p>
        </p:txBody>
      </p:sp>
      <p:sp>
        <p:nvSpPr>
          <p:cNvPr id="14" name="TextBox 13"/>
          <p:cNvSpPr txBox="1"/>
          <p:nvPr/>
        </p:nvSpPr>
        <p:spPr>
          <a:xfrm>
            <a:off x="4533900" y="3104387"/>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9ec1096e1077…</a:t>
            </a:r>
          </a:p>
        </p:txBody>
      </p:sp>
      <p:sp>
        <p:nvSpPr>
          <p:cNvPr id="15" name="TextBox 14"/>
          <p:cNvSpPr txBox="1"/>
          <p:nvPr/>
        </p:nvSpPr>
        <p:spPr>
          <a:xfrm>
            <a:off x="4533900" y="3348228"/>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Fresh source and local</a:t>
            </a:r>
          </a:p>
        </p:txBody>
      </p:sp>
      <p:sp>
        <p:nvSpPr>
          <p:cNvPr id="16" name="TextBox 15"/>
          <p:cNvSpPr txBox="1"/>
          <p:nvPr/>
        </p:nvSpPr>
        <p:spPr>
          <a:xfrm>
            <a:off x="4533900" y="3592067"/>
            <a:ext cx="26060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build</a:t>
            </a:r>
          </a:p>
        </p:txBody>
      </p:sp>
      <p:cxnSp>
        <p:nvCxnSpPr>
          <p:cNvPr id="17" name="Connector 16"/>
          <p:cNvCxnSpPr/>
          <p:nvPr/>
        </p:nvCxnSpPr>
        <p:spPr>
          <a:xfrm>
            <a:off x="3741419" y="3223260"/>
            <a:ext cx="624841" cy="0"/>
          </a:xfrm>
          <a:prstGeom prst="line">
            <a:avLst/>
          </a:prstGeom>
          <a:ln w="15240">
            <a:solidFill>
              <a:srgbClr val="007C78"/>
            </a:solidFill>
          </a:ln>
          <a:effectLst/>
        </p:spPr>
      </p:cxnSp>
      <p:sp>
        <p:nvSpPr>
          <p:cNvPr id="18" name="Freeform 17"/>
          <p:cNvSpPr/>
          <p:nvPr/>
        </p:nvSpPr>
        <p:spPr>
          <a:xfrm>
            <a:off x="4267200" y="318516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9" name="Rounded Rectangle 18"/>
          <p:cNvSpPr/>
          <p:nvPr/>
        </p:nvSpPr>
        <p:spPr>
          <a:xfrm>
            <a:off x="800100" y="4267200"/>
            <a:ext cx="6507480" cy="1021079"/>
          </a:xfrm>
          <a:prstGeom prst="roundRect">
            <a:avLst>
              <a:gd name="adj" fmla="val 9701"/>
            </a:avLst>
          </a:prstGeom>
          <a:solidFill>
            <a:srgbClr val="E4EBF5"/>
          </a:solidFill>
          <a:ln w="7620">
            <a:solidFill>
              <a:srgbClr val="315E9C"/>
            </a:solidFill>
          </a:ln>
          <a:effectLst/>
        </p:spPr>
        <p:txBody>
          <a:bodyPr rtlCol="0" anchor="ctr"/>
          <a:lstStyle/>
          <a:p>
            <a:pPr algn="ctr"/>
          </a:p>
        </p:txBody>
      </p:sp>
      <p:sp>
        <p:nvSpPr>
          <p:cNvPr id="20" name="TextBox 19"/>
          <p:cNvSpPr txBox="1"/>
          <p:nvPr/>
        </p:nvSpPr>
        <p:spPr>
          <a:xfrm>
            <a:off x="967740" y="4434840"/>
            <a:ext cx="6172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Observed sockets stay inside</a:t>
            </a:r>
          </a:p>
        </p:txBody>
      </p:sp>
      <p:sp>
        <p:nvSpPr>
          <p:cNvPr id="21" name="TextBox 20"/>
          <p:cNvSpPr txBox="1"/>
          <p:nvPr/>
        </p:nvSpPr>
        <p:spPr>
          <a:xfrm>
            <a:off x="967740" y="4793894"/>
            <a:ext cx="6172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P2P and gRPC wildcard listeners exist only in the namespace; no route to</a:t>
            </a:r>
          </a:p>
        </p:txBody>
      </p:sp>
      <p:sp>
        <p:nvSpPr>
          <p:cNvPr id="22" name="TextBox 21"/>
          <p:cNvSpPr txBox="1"/>
          <p:nvPr/>
        </p:nvSpPr>
        <p:spPr>
          <a:xfrm>
            <a:off x="967740" y="5008473"/>
            <a:ext cx="6172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an external network.</a:t>
            </a:r>
          </a:p>
        </p:txBody>
      </p:sp>
      <p:sp>
        <p:nvSpPr>
          <p:cNvPr id="23" name="Rounded Rectangle 22"/>
          <p:cNvSpPr/>
          <p:nvPr/>
        </p:nvSpPr>
        <p:spPr>
          <a:xfrm>
            <a:off x="8107680" y="1851659"/>
            <a:ext cx="3535679" cy="1706880"/>
          </a:xfrm>
          <a:prstGeom prst="roundRect">
            <a:avLst>
              <a:gd name="adj" fmla="val 5803"/>
            </a:avLst>
          </a:prstGeom>
          <a:solidFill>
            <a:srgbClr val="FFFFFF"/>
          </a:solidFill>
          <a:ln w="7620">
            <a:solidFill>
              <a:srgbClr val="315E9C"/>
            </a:solidFill>
          </a:ln>
          <a:effectLst/>
        </p:spPr>
        <p:txBody>
          <a:bodyPr rtlCol="0" anchor="ctr"/>
          <a:lstStyle/>
          <a:p>
            <a:pPr algn="ctr"/>
          </a:p>
        </p:txBody>
      </p:sp>
      <p:sp>
        <p:nvSpPr>
          <p:cNvPr id="24" name="TextBox 23"/>
          <p:cNvSpPr txBox="1"/>
          <p:nvPr/>
        </p:nvSpPr>
        <p:spPr>
          <a:xfrm>
            <a:off x="8275320" y="201930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From the host</a:t>
            </a:r>
          </a:p>
        </p:txBody>
      </p:sp>
      <p:sp>
        <p:nvSpPr>
          <p:cNvPr id="25" name="TextBox 24"/>
          <p:cNvSpPr txBox="1"/>
          <p:nvPr/>
        </p:nvSpPr>
        <p:spPr>
          <a:xfrm>
            <a:off x="8275320" y="240761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All six probed ports refused</a:t>
            </a:r>
          </a:p>
        </p:txBody>
      </p:sp>
      <p:sp>
        <p:nvSpPr>
          <p:cNvPr id="26" name="TextBox 25"/>
          <p:cNvSpPr txBox="1"/>
          <p:nvPr/>
        </p:nvSpPr>
        <p:spPr>
          <a:xfrm>
            <a:off x="8275320" y="269046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connections while the node</a:t>
            </a:r>
          </a:p>
        </p:txBody>
      </p:sp>
      <p:sp>
        <p:nvSpPr>
          <p:cNvPr id="27" name="TextBox 26"/>
          <p:cNvSpPr txBox="1"/>
          <p:nvPr/>
        </p:nvSpPr>
        <p:spPr>
          <a:xfrm>
            <a:off x="8275320" y="2973323"/>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was ready.</a:t>
            </a:r>
          </a:p>
        </p:txBody>
      </p:sp>
      <p:sp>
        <p:nvSpPr>
          <p:cNvPr id="28" name="Rounded Rectangle 27"/>
          <p:cNvSpPr/>
          <p:nvPr/>
        </p:nvSpPr>
        <p:spPr>
          <a:xfrm>
            <a:off x="8107680" y="3863340"/>
            <a:ext cx="3535679" cy="1706880"/>
          </a:xfrm>
          <a:prstGeom prst="roundRect">
            <a:avLst>
              <a:gd name="adj" fmla="val 5803"/>
            </a:avLst>
          </a:prstGeom>
          <a:solidFill>
            <a:srgbClr val="F3E7CE"/>
          </a:solidFill>
          <a:ln w="7620">
            <a:solidFill>
              <a:srgbClr val="A86A15"/>
            </a:solidFill>
          </a:ln>
          <a:effectLst/>
        </p:spPr>
        <p:txBody>
          <a:bodyPr rtlCol="0" anchor="ctr"/>
          <a:lstStyle/>
          <a:p>
            <a:pPr algn="ctr"/>
          </a:p>
        </p:txBody>
      </p:sp>
      <p:sp>
        <p:nvSpPr>
          <p:cNvPr id="29" name="TextBox 28"/>
          <p:cNvSpPr txBox="1"/>
          <p:nvPr/>
        </p:nvSpPr>
        <p:spPr>
          <a:xfrm>
            <a:off x="8275320" y="4030979"/>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A86A15"/>
                </a:solidFill>
                <a:latin typeface="DejaVu Sans"/>
              </a:rPr>
              <a:t>From the namespace</a:t>
            </a:r>
          </a:p>
        </p:txBody>
      </p:sp>
      <p:sp>
        <p:nvSpPr>
          <p:cNvPr id="30" name="TextBox 29"/>
          <p:cNvSpPr txBox="1"/>
          <p:nvPr/>
        </p:nvSpPr>
        <p:spPr>
          <a:xfrm>
            <a:off x="8275320" y="4419295"/>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External connection failed:</a:t>
            </a:r>
          </a:p>
        </p:txBody>
      </p:sp>
      <p:sp>
        <p:nvSpPr>
          <p:cNvPr id="31" name="TextBox 30"/>
          <p:cNvSpPr txBox="1"/>
          <p:nvPr/>
        </p:nvSpPr>
        <p:spPr>
          <a:xfrm>
            <a:off x="8275320" y="4702149"/>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ENETUNREACH. Host firewall</a:t>
            </a:r>
          </a:p>
        </p:txBody>
      </p:sp>
      <p:sp>
        <p:nvSpPr>
          <p:cNvPr id="32" name="TextBox 31"/>
          <p:cNvSpPr txBox="1"/>
          <p:nvPr/>
        </p:nvSpPr>
        <p:spPr>
          <a:xfrm>
            <a:off x="8275320" y="4985004"/>
            <a:ext cx="32004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unchanged.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Single-validator evidence establishes this local integration; multi-validator safety remains unrun.</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evidence/m4/build/chain.json · final/isolation.json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38 / 64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RELATIONS</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Four Relations operations expose accepted structure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Relation meaning includes schema, direction, ordered roles and private scope.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OPERATION</a:t>
            </a:r>
          </a:p>
        </p:txBody>
      </p:sp>
      <p:sp>
        <p:nvSpPr>
          <p:cNvPr id="6" name="TextBox 5"/>
          <p:cNvSpPr txBox="1"/>
          <p:nvPr/>
        </p:nvSpPr>
        <p:spPr>
          <a:xfrm>
            <a:off x="3185160" y="1790700"/>
            <a:ext cx="3870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7" name="TextBox 6"/>
          <p:cNvSpPr txBox="1"/>
          <p:nvPr/>
        </p:nvSpPr>
        <p:spPr>
          <a:xfrm>
            <a:off x="7299959" y="1790700"/>
            <a:ext cx="42214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OBSERVED SEMANTICS</a:t>
            </a:r>
          </a:p>
        </p:txBody>
      </p:sp>
      <p:sp>
        <p:nvSpPr>
          <p:cNvPr id="8" name="Rounded Rectangle 7"/>
          <p:cNvSpPr/>
          <p:nvPr/>
        </p:nvSpPr>
        <p:spPr>
          <a:xfrm>
            <a:off x="548640" y="2110740"/>
            <a:ext cx="11094720" cy="754380"/>
          </a:xfrm>
          <a:prstGeom prst="roundRect">
            <a:avLst>
              <a:gd name="adj" fmla="val 6060"/>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assertRelation</a:t>
            </a:r>
          </a:p>
        </p:txBody>
      </p:sp>
      <p:sp>
        <p:nvSpPr>
          <p:cNvPr id="10" name="TextBox 9"/>
          <p:cNvSpPr txBox="1"/>
          <p:nvPr/>
        </p:nvSpPr>
        <p:spPr>
          <a:xfrm>
            <a:off x="3185160" y="2240280"/>
            <a:ext cx="3870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Persist payload, then accept structure</a:t>
            </a:r>
          </a:p>
        </p:txBody>
      </p:sp>
      <p:sp>
        <p:nvSpPr>
          <p:cNvPr id="11" name="TextBox 10"/>
          <p:cNvSpPr txBox="1"/>
          <p:nvPr/>
        </p:nvSpPr>
        <p:spPr>
          <a:xfrm>
            <a:off x="7299959" y="224028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Semantic duplicates converge; changed</a:t>
            </a:r>
          </a:p>
        </p:txBody>
      </p:sp>
      <p:sp>
        <p:nvSpPr>
          <p:cNvPr id="12" name="TextBox 11"/>
          <p:cNvSpPr txBox="1"/>
          <p:nvPr/>
        </p:nvSpPr>
        <p:spPr>
          <a:xfrm>
            <a:off x="7299959" y="248412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replay intent conflicts</a:t>
            </a:r>
          </a:p>
        </p:txBody>
      </p:sp>
      <p:sp>
        <p:nvSpPr>
          <p:cNvPr id="13" name="Rounded Rectangle 12"/>
          <p:cNvSpPr/>
          <p:nvPr/>
        </p:nvSpPr>
        <p:spPr>
          <a:xfrm>
            <a:off x="548640" y="2903220"/>
            <a:ext cx="11094720" cy="754380"/>
          </a:xfrm>
          <a:prstGeom prst="roundRect">
            <a:avLst>
              <a:gd name="adj" fmla="val 6060"/>
            </a:avLst>
          </a:prstGeom>
          <a:solidFill>
            <a:srgbClr val="FFFFFF"/>
          </a:solidFill>
          <a:ln>
            <a:noFill/>
          </a:ln>
          <a:effectLst/>
        </p:spPr>
        <p:txBody>
          <a:bodyPr rtlCol="0" anchor="ctr"/>
          <a:lstStyle/>
          <a:p>
            <a:pPr algn="ctr"/>
          </a:p>
        </p:txBody>
      </p:sp>
      <p:sp>
        <p:nvSpPr>
          <p:cNvPr id="14" name="TextBox 13"/>
          <p:cNvSpPr txBox="1"/>
          <p:nvPr/>
        </p:nvSpPr>
        <p:spPr>
          <a:xfrm>
            <a:off x="670560" y="303276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getRelation</a:t>
            </a:r>
          </a:p>
        </p:txBody>
      </p:sp>
      <p:sp>
        <p:nvSpPr>
          <p:cNvPr id="15" name="TextBox 14"/>
          <p:cNvSpPr txBox="1"/>
          <p:nvPr/>
        </p:nvSpPr>
        <p:spPr>
          <a:xfrm>
            <a:off x="3185160" y="3032760"/>
            <a:ext cx="3870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Read an accepted relation</a:t>
            </a:r>
          </a:p>
        </p:txBody>
      </p:sp>
      <p:sp>
        <p:nvSpPr>
          <p:cNvPr id="16" name="TextBox 15"/>
          <p:cNvSpPr txBox="1"/>
          <p:nvPr/>
        </p:nvSpPr>
        <p:spPr>
          <a:xfrm>
            <a:off x="7299959" y="303276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payload orphan alone is never an</a:t>
            </a:r>
          </a:p>
        </p:txBody>
      </p:sp>
      <p:sp>
        <p:nvSpPr>
          <p:cNvPr id="17" name="TextBox 16"/>
          <p:cNvSpPr txBox="1"/>
          <p:nvPr/>
        </p:nvSpPr>
        <p:spPr>
          <a:xfrm>
            <a:off x="7299959" y="327660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accepted relation</a:t>
            </a:r>
          </a:p>
        </p:txBody>
      </p:sp>
      <p:sp>
        <p:nvSpPr>
          <p:cNvPr id="18" name="Rounded Rectangle 17"/>
          <p:cNvSpPr/>
          <p:nvPr/>
        </p:nvSpPr>
        <p:spPr>
          <a:xfrm>
            <a:off x="548640" y="3695700"/>
            <a:ext cx="11094720" cy="754380"/>
          </a:xfrm>
          <a:prstGeom prst="roundRect">
            <a:avLst>
              <a:gd name="adj" fmla="val 6060"/>
            </a:avLst>
          </a:prstGeom>
          <a:solidFill>
            <a:srgbClr val="FFFFFF"/>
          </a:solidFill>
          <a:ln>
            <a:noFill/>
          </a:ln>
          <a:effectLst/>
        </p:spPr>
        <p:txBody>
          <a:bodyPr rtlCol="0" anchor="ctr"/>
          <a:lstStyle/>
          <a:p>
            <a:pPr algn="ctr"/>
          </a:p>
        </p:txBody>
      </p:sp>
      <p:sp>
        <p:nvSpPr>
          <p:cNvPr id="19" name="TextBox 18"/>
          <p:cNvSpPr txBox="1"/>
          <p:nvPr/>
        </p:nvSpPr>
        <p:spPr>
          <a:xfrm>
            <a:off x="670560" y="382524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outgoing</a:t>
            </a:r>
          </a:p>
        </p:txBody>
      </p:sp>
      <p:sp>
        <p:nvSpPr>
          <p:cNvPr id="20" name="TextBox 19"/>
          <p:cNvSpPr txBox="1"/>
          <p:nvPr/>
        </p:nvSpPr>
        <p:spPr>
          <a:xfrm>
            <a:off x="3185160" y="3825240"/>
            <a:ext cx="3870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Page source-role incidence</a:t>
            </a:r>
          </a:p>
        </p:txBody>
      </p:sp>
      <p:sp>
        <p:nvSpPr>
          <p:cNvPr id="21" name="TextBox 20"/>
          <p:cNvSpPr txBox="1"/>
          <p:nvPr/>
        </p:nvSpPr>
        <p:spPr>
          <a:xfrm>
            <a:off x="7299959" y="382524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Fixed accepted head; query-bound</a:t>
            </a:r>
          </a:p>
        </p:txBody>
      </p:sp>
      <p:sp>
        <p:nvSpPr>
          <p:cNvPr id="22" name="TextBox 21"/>
          <p:cNvSpPr txBox="1"/>
          <p:nvPr/>
        </p:nvSpPr>
        <p:spPr>
          <a:xfrm>
            <a:off x="7299959" y="4069079"/>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continuation</a:t>
            </a:r>
          </a:p>
        </p:txBody>
      </p:sp>
      <p:sp>
        <p:nvSpPr>
          <p:cNvPr id="23" name="Rounded Rectangle 22"/>
          <p:cNvSpPr/>
          <p:nvPr/>
        </p:nvSpPr>
        <p:spPr>
          <a:xfrm>
            <a:off x="548640" y="4488180"/>
            <a:ext cx="11094720" cy="754380"/>
          </a:xfrm>
          <a:prstGeom prst="roundRect">
            <a:avLst>
              <a:gd name="adj" fmla="val 6060"/>
            </a:avLst>
          </a:prstGeom>
          <a:solidFill>
            <a:srgbClr val="FFFFFF"/>
          </a:solidFill>
          <a:ln>
            <a:noFill/>
          </a:ln>
          <a:effectLst/>
        </p:spPr>
        <p:txBody>
          <a:bodyPr rtlCol="0" anchor="ctr"/>
          <a:lstStyle/>
          <a:p>
            <a:pPr algn="ctr"/>
          </a:p>
        </p:txBody>
      </p:sp>
      <p:sp>
        <p:nvSpPr>
          <p:cNvPr id="24" name="TextBox 23"/>
          <p:cNvSpPr txBox="1"/>
          <p:nvPr/>
        </p:nvSpPr>
        <p:spPr>
          <a:xfrm>
            <a:off x="670560" y="4617720"/>
            <a:ext cx="2270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incoming</a:t>
            </a:r>
          </a:p>
        </p:txBody>
      </p:sp>
      <p:sp>
        <p:nvSpPr>
          <p:cNvPr id="25" name="TextBox 24"/>
          <p:cNvSpPr txBox="1"/>
          <p:nvPr/>
        </p:nvSpPr>
        <p:spPr>
          <a:xfrm>
            <a:off x="3185160" y="4617720"/>
            <a:ext cx="38709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Page target-role incidence</a:t>
            </a:r>
          </a:p>
        </p:txBody>
      </p:sp>
      <p:sp>
        <p:nvSpPr>
          <p:cNvPr id="26" name="TextBox 25"/>
          <p:cNvSpPr txBox="1"/>
          <p:nvPr/>
        </p:nvSpPr>
        <p:spPr>
          <a:xfrm>
            <a:off x="7299959" y="461772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Reverse incidence verified by the native</a:t>
            </a:r>
          </a:p>
        </p:txBody>
      </p:sp>
      <p:sp>
        <p:nvSpPr>
          <p:cNvPr id="27" name="TextBox 26"/>
          <p:cNvSpPr txBox="1"/>
          <p:nvPr/>
        </p:nvSpPr>
        <p:spPr>
          <a:xfrm>
            <a:off x="7299959" y="4861560"/>
            <a:ext cx="422148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consumer</a:t>
            </a:r>
          </a:p>
        </p:txBody>
      </p:sp>
      <p:sp>
        <p:nvSpPr>
          <p:cNvPr id="28" name="TextBox 27"/>
          <p:cNvSpPr txBox="1"/>
          <p:nvPr/>
        </p:nvSpPr>
        <p:spPr>
          <a:xfrm>
            <a:off x="670560" y="547116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requires: dependent → prerequisite · transfer: 3 roles · association: symmetric</a:t>
            </a:r>
          </a:p>
        </p:txBody>
      </p:sp>
      <p:sp>
        <p:nvSpPr>
          <p:cNvPr id="29" name="Rounded Rectangle 28"/>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0" name="TextBox 29"/>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Role order is preserved. Repeated endpoints and self-links are explicit, with each incidence returned once.</a:t>
            </a:r>
          </a:p>
        </p:txBody>
      </p:sp>
      <p:cxnSp>
        <p:nvCxnSpPr>
          <p:cNvPr id="31" name="Connector 30"/>
          <p:cNvCxnSpPr/>
          <p:nvPr/>
        </p:nvCxnSpPr>
        <p:spPr>
          <a:xfrm>
            <a:off x="548640" y="6393180"/>
            <a:ext cx="11094720" cy="0"/>
          </a:xfrm>
          <a:prstGeom prst="line">
            <a:avLst/>
          </a:prstGeom>
          <a:ln w="7620">
            <a:solidFill>
              <a:srgbClr val="C9D2D4"/>
            </a:solidFill>
          </a:ln>
          <a:effectLst/>
        </p:spPr>
      </p:cxnSp>
      <p:sp>
        <p:nvSpPr>
          <p:cNvPr id="32" name="TextBox 3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relations.py · lookup_contracts.py · m5-contracts.md</a:t>
            </a:r>
          </a:p>
        </p:txBody>
      </p:sp>
      <p:sp>
        <p:nvSpPr>
          <p:cNvPr id="33" name="TextBox 3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39 / 64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AUTHORITATIVE SOURCE</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A committed source makes the index rebuildable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source enumerates accepted immutable envelopes; Search interprets one declared content type.</a:t>
            </a:r>
          </a:p>
        </p:txBody>
      </p:sp>
      <p:sp>
        <p:nvSpPr>
          <p:cNvPr id="5" name="Rounded Rectangle 4"/>
          <p:cNvSpPr/>
          <p:nvPr/>
        </p:nvSpPr>
        <p:spPr>
          <a:xfrm>
            <a:off x="548640" y="1943100"/>
            <a:ext cx="3535679" cy="2804160"/>
          </a:xfrm>
          <a:prstGeom prst="roundRect">
            <a:avLst>
              <a:gd name="adj" fmla="val 3532"/>
            </a:avLst>
          </a:prstGeom>
          <a:solidFill>
            <a:srgbClr val="FFFFFF"/>
          </a:solidFill>
          <a:ln w="7620">
            <a:solidFill>
              <a:srgbClr val="315E9C"/>
            </a:solidFill>
          </a:ln>
          <a:effectLst/>
        </p:spPr>
        <p:txBody>
          <a:bodyPr rtlCol="0" anchor="ctr"/>
          <a:lstStyle/>
          <a:p>
            <a:pPr algn="ctr"/>
          </a:p>
        </p:txBody>
      </p:sp>
      <p:sp>
        <p:nvSpPr>
          <p:cNvPr id="6" name="TextBox 5"/>
          <p:cNvSpPr txBox="1"/>
          <p:nvPr/>
        </p:nvSpPr>
        <p:spPr>
          <a:xfrm>
            <a:off x="716280" y="211074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AtomStorage owner</a:t>
            </a:r>
          </a:p>
        </p:txBody>
      </p:sp>
      <p:sp>
        <p:nvSpPr>
          <p:cNvPr id="7" name="TextBox 6"/>
          <p:cNvSpPr txBox="1"/>
          <p:nvPr/>
        </p:nvSpPr>
        <p:spPr>
          <a:xfrm>
            <a:off x="716280" y="24990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Accept immutable envelope</a:t>
            </a:r>
          </a:p>
        </p:txBody>
      </p:sp>
      <p:sp>
        <p:nvSpPr>
          <p:cNvPr id="8" name="TextBox 7"/>
          <p:cNvSpPr txBox="1"/>
          <p:nvPr/>
        </p:nvSpPr>
        <p:spPr>
          <a:xfrm>
            <a:off x="716280" y="27721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 feed metadata in one local</a:t>
            </a:r>
          </a:p>
        </p:txBody>
      </p:sp>
      <p:sp>
        <p:nvSpPr>
          <p:cNvPr id="9" name="TextBox 8"/>
          <p:cNvSpPr txBox="1"/>
          <p:nvPr/>
        </p:nvSpPr>
        <p:spPr>
          <a:xfrm>
            <a:off x="716280" y="304525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commit. Source UUID, scope</a:t>
            </a:r>
          </a:p>
        </p:txBody>
      </p:sp>
      <p:sp>
        <p:nvSpPr>
          <p:cNvPr id="10" name="TextBox 9"/>
          <p:cNvSpPr txBox="1"/>
          <p:nvPr/>
        </p:nvSpPr>
        <p:spPr>
          <a:xfrm>
            <a:off x="716280" y="331835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contiguous sequence</a:t>
            </a:r>
          </a:p>
        </p:txBody>
      </p:sp>
      <p:sp>
        <p:nvSpPr>
          <p:cNvPr id="11" name="TextBox 10"/>
          <p:cNvSpPr txBox="1"/>
          <p:nvPr/>
        </p:nvSpPr>
        <p:spPr>
          <a:xfrm>
            <a:off x="716280" y="359145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identify the prefix.</a:t>
            </a:r>
          </a:p>
        </p:txBody>
      </p:sp>
      <p:sp>
        <p:nvSpPr>
          <p:cNvPr id="12" name="Rounded Rectangle 11"/>
          <p:cNvSpPr/>
          <p:nvPr/>
        </p:nvSpPr>
        <p:spPr>
          <a:xfrm>
            <a:off x="4328160" y="1943100"/>
            <a:ext cx="3535679" cy="2804160"/>
          </a:xfrm>
          <a:prstGeom prst="roundRect">
            <a:avLst>
              <a:gd name="adj" fmla="val 3532"/>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495800" y="211074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007C78"/>
                </a:solidFill>
                <a:latin typeface="DejaVu Sans"/>
              </a:rPr>
              <a:t>Bounded maintenance</a:t>
            </a:r>
          </a:p>
        </p:txBody>
      </p:sp>
      <p:sp>
        <p:nvSpPr>
          <p:cNvPr id="14" name="TextBox 13"/>
          <p:cNvSpPr txBox="1"/>
          <p:nvPr/>
        </p:nvSpPr>
        <p:spPr>
          <a:xfrm>
            <a:off x="4495800" y="24990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Read head/readCommits,</a:t>
            </a:r>
          </a:p>
        </p:txBody>
      </p:sp>
      <p:sp>
        <p:nvSpPr>
          <p:cNvPr id="15" name="TextBox 14"/>
          <p:cNvSpPr txBox="1"/>
          <p:nvPr/>
        </p:nvSpPr>
        <p:spPr>
          <a:xfrm>
            <a:off x="4495800" y="27721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retrieve bytes with get,</a:t>
            </a:r>
          </a:p>
        </p:txBody>
      </p:sp>
      <p:sp>
        <p:nvSpPr>
          <p:cNvPr id="16" name="TextBox 15"/>
          <p:cNvSpPr txBox="1"/>
          <p:nvPr/>
        </p:nvSpPr>
        <p:spPr>
          <a:xfrm>
            <a:off x="4495800" y="304525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validate each envelope, then</a:t>
            </a:r>
          </a:p>
        </p:txBody>
      </p:sp>
      <p:sp>
        <p:nvSpPr>
          <p:cNvPr id="17" name="TextBox 16"/>
          <p:cNvSpPr txBox="1"/>
          <p:nvPr/>
        </p:nvSpPr>
        <p:spPr>
          <a:xfrm>
            <a:off x="4495800" y="331835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extract exact attributes. At</a:t>
            </a:r>
          </a:p>
        </p:txBody>
      </p:sp>
      <p:sp>
        <p:nvSpPr>
          <p:cNvPr id="18" name="TextBox 17"/>
          <p:cNvSpPr txBox="1"/>
          <p:nvPr/>
        </p:nvSpPr>
        <p:spPr>
          <a:xfrm>
            <a:off x="4495800" y="359145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most eight new records per</a:t>
            </a:r>
          </a:p>
        </p:txBody>
      </p:sp>
      <p:sp>
        <p:nvSpPr>
          <p:cNvPr id="19" name="TextBox 18"/>
          <p:cNvSpPr txBox="1"/>
          <p:nvPr/>
        </p:nvSpPr>
        <p:spPr>
          <a:xfrm>
            <a:off x="4495800" y="386455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call.</a:t>
            </a:r>
          </a:p>
        </p:txBody>
      </p:sp>
      <p:sp>
        <p:nvSpPr>
          <p:cNvPr id="20" name="Rounded Rectangle 19"/>
          <p:cNvSpPr/>
          <p:nvPr/>
        </p:nvSpPr>
        <p:spPr>
          <a:xfrm>
            <a:off x="8107680" y="1943100"/>
            <a:ext cx="3535679" cy="2804160"/>
          </a:xfrm>
          <a:prstGeom prst="roundRect">
            <a:avLst>
              <a:gd name="adj" fmla="val 3532"/>
            </a:avLst>
          </a:prstGeom>
          <a:solidFill>
            <a:srgbClr val="FFFFFF"/>
          </a:solidFill>
          <a:ln w="7620">
            <a:solidFill>
              <a:srgbClr val="315E9C"/>
            </a:solidFill>
          </a:ln>
          <a:effectLst/>
        </p:spPr>
        <p:txBody>
          <a:bodyPr rtlCol="0" anchor="ctr"/>
          <a:lstStyle/>
          <a:p>
            <a:pPr algn="ctr"/>
          </a:p>
        </p:txBody>
      </p:sp>
      <p:sp>
        <p:nvSpPr>
          <p:cNvPr id="21" name="TextBox 20"/>
          <p:cNvSpPr txBox="1"/>
          <p:nvPr/>
        </p:nvSpPr>
        <p:spPr>
          <a:xfrm>
            <a:off x="8275320" y="2110740"/>
            <a:ext cx="3200400" cy="312115"/>
          </a:xfrm>
          <a:prstGeom prst="rect">
            <a:avLst/>
          </a:prstGeom>
          <a:noFill/>
        </p:spPr>
        <p:txBody>
          <a:bodyPr wrap="none" lIns="0" rIns="0" tIns="0" bIns="0" anchor="t" anchorCtr="0">
            <a:noAutofit/>
          </a:bodyPr>
          <a:lstStyle/>
          <a:p>
            <a:pPr algn="l">
              <a:lnSpc>
                <a:spcPct val="100000"/>
              </a:lnSpc>
              <a:spcBef>
                <a:spcPts val="0"/>
              </a:spcBef>
              <a:spcAft>
                <a:spcPts val="0"/>
              </a:spcAft>
            </a:pPr>
            <a:r>
              <a:rPr sz="1920" b="1">
                <a:solidFill>
                  <a:srgbClr val="315E9C"/>
                </a:solidFill>
                <a:latin typeface="DejaVu Sans"/>
              </a:rPr>
              <a:t>Search owner</a:t>
            </a:r>
          </a:p>
        </p:txBody>
      </p:sp>
      <p:sp>
        <p:nvSpPr>
          <p:cNvPr id="22" name="TextBox 21"/>
          <p:cNvSpPr txBox="1"/>
          <p:nvPr/>
        </p:nvSpPr>
        <p:spPr>
          <a:xfrm>
            <a:off x="8275320" y="24990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Commit derived index rows +</a:t>
            </a:r>
          </a:p>
        </p:txBody>
      </p:sp>
      <p:sp>
        <p:nvSpPr>
          <p:cNvPr id="23" name="TextBox 22"/>
          <p:cNvSpPr txBox="1"/>
          <p:nvPr/>
        </p:nvSpPr>
        <p:spPr>
          <a:xfrm>
            <a:off x="8275320" y="2772155"/>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checkpoint together. Replay</a:t>
            </a:r>
          </a:p>
        </p:txBody>
      </p:sp>
      <p:sp>
        <p:nvSpPr>
          <p:cNvPr id="24" name="TextBox 23"/>
          <p:cNvSpPr txBox="1"/>
          <p:nvPr/>
        </p:nvSpPr>
        <p:spPr>
          <a:xfrm>
            <a:off x="8275320" y="3045256"/>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resumes from that</a:t>
            </a:r>
          </a:p>
        </p:txBody>
      </p:sp>
      <p:sp>
        <p:nvSpPr>
          <p:cNvPr id="25" name="TextBox 24"/>
          <p:cNvSpPr txBox="1"/>
          <p:nvPr/>
        </p:nvSpPr>
        <p:spPr>
          <a:xfrm>
            <a:off x="8275320" y="3318357"/>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committed prefix.</a:t>
            </a:r>
          </a:p>
        </p:txBody>
      </p:sp>
      <p:sp>
        <p:nvSpPr>
          <p:cNvPr id="26" name="TextBox 25"/>
          <p:cNvSpPr txBox="1"/>
          <p:nvPr/>
        </p:nvSpPr>
        <p:spPr>
          <a:xfrm>
            <a:off x="8275320" y="3591458"/>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beginRebuild creates a new</a:t>
            </a:r>
          </a:p>
        </p:txBody>
      </p:sp>
      <p:sp>
        <p:nvSpPr>
          <p:cNvPr id="27" name="TextBox 26"/>
          <p:cNvSpPr txBox="1"/>
          <p:nvPr/>
        </p:nvSpPr>
        <p:spPr>
          <a:xfrm>
            <a:off x="8275320" y="3864559"/>
            <a:ext cx="32004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generation.</a:t>
            </a:r>
          </a:p>
        </p:txBody>
      </p:sp>
      <p:cxnSp>
        <p:nvCxnSpPr>
          <p:cNvPr id="28" name="Connector 27"/>
          <p:cNvCxnSpPr/>
          <p:nvPr/>
        </p:nvCxnSpPr>
        <p:spPr>
          <a:xfrm>
            <a:off x="4084319" y="3291840"/>
            <a:ext cx="243841" cy="0"/>
          </a:xfrm>
          <a:prstGeom prst="line">
            <a:avLst/>
          </a:prstGeom>
          <a:ln w="15240">
            <a:solidFill>
              <a:srgbClr val="315E9C"/>
            </a:solidFill>
          </a:ln>
          <a:effectLst/>
        </p:spPr>
      </p:cxnSp>
      <p:sp>
        <p:nvSpPr>
          <p:cNvPr id="29" name="Freeform 28"/>
          <p:cNvSpPr/>
          <p:nvPr/>
        </p:nvSpPr>
        <p:spPr>
          <a:xfrm>
            <a:off x="4229100" y="32537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30" name="Connector 29"/>
          <p:cNvCxnSpPr/>
          <p:nvPr/>
        </p:nvCxnSpPr>
        <p:spPr>
          <a:xfrm>
            <a:off x="7863839" y="3291840"/>
            <a:ext cx="243841" cy="0"/>
          </a:xfrm>
          <a:prstGeom prst="line">
            <a:avLst/>
          </a:prstGeom>
          <a:ln w="15240">
            <a:solidFill>
              <a:srgbClr val="007C78"/>
            </a:solidFill>
          </a:ln>
          <a:effectLst/>
        </p:spPr>
      </p:cxnSp>
      <p:sp>
        <p:nvSpPr>
          <p:cNvPr id="31" name="Freeform 30"/>
          <p:cNvSpPr/>
          <p:nvPr/>
        </p:nvSpPr>
        <p:spPr>
          <a:xfrm>
            <a:off x="8008620" y="3253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32" name="Rounded Rectangle 31"/>
          <p:cNvSpPr/>
          <p:nvPr/>
        </p:nvSpPr>
        <p:spPr>
          <a:xfrm>
            <a:off x="548640" y="4914900"/>
            <a:ext cx="11094720" cy="822960"/>
          </a:xfrm>
          <a:prstGeom prst="roundRect">
            <a:avLst>
              <a:gd name="adj" fmla="val 12037"/>
            </a:avLst>
          </a:prstGeom>
          <a:solidFill>
            <a:srgbClr val="F3E7CE"/>
          </a:solidFill>
          <a:ln w="7620">
            <a:solidFill>
              <a:srgbClr val="A86A15"/>
            </a:solidFill>
          </a:ln>
          <a:effectLst/>
        </p:spPr>
        <p:txBody>
          <a:bodyPr rtlCol="0" anchor="ctr"/>
          <a:lstStyle/>
          <a:p>
            <a:pPr algn="ctr"/>
          </a:p>
        </p:txBody>
      </p:sp>
      <p:sp>
        <p:nvSpPr>
          <p:cNvPr id="33" name="TextBox 32"/>
          <p:cNvSpPr txBox="1"/>
          <p:nvPr/>
        </p:nvSpPr>
        <p:spPr>
          <a:xfrm>
            <a:off x="716280" y="5082540"/>
            <a:ext cx="1075944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A86A15"/>
                </a:solidFill>
                <a:latin typeface="DejaVu Sans"/>
              </a:rPr>
              <a:t>Fail without advancing</a:t>
            </a:r>
          </a:p>
        </p:txBody>
      </p:sp>
      <p:sp>
        <p:nvSpPr>
          <p:cNvPr id="34" name="TextBox 33"/>
          <p:cNvSpPr txBox="1"/>
          <p:nvPr/>
        </p:nvSpPr>
        <p:spPr>
          <a:xfrm>
            <a:off x="716280" y="5402580"/>
            <a:ext cx="1075944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Gaps, unavailable bytes, forged metadata or changed anchors block the batch; no invented prefix.</a:t>
            </a:r>
          </a:p>
        </p:txBody>
      </p:sp>
      <p:sp>
        <p:nvSpPr>
          <p:cNvPr id="35" name="Rounded Rectangle 34"/>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6" name="TextBox 35"/>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foreign owner database is read. The alternate provider consumes the same declared source.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atom_feed.py · search.py · ports.py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40 / 64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EXACT QUERY + FRESHNESS</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A complete page is not a promise of current knowledge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Search returns separate, inspectable claims about what it has actually indexed.</a:t>
            </a:r>
          </a:p>
        </p:txBody>
      </p:sp>
      <p:sp>
        <p:nvSpPr>
          <p:cNvPr id="5" name="TextBox 4"/>
          <p:cNvSpPr txBox="1"/>
          <p:nvPr/>
        </p:nvSpPr>
        <p:spPr>
          <a:xfrm>
            <a:off x="670560" y="1790700"/>
            <a:ext cx="2575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CLAIM</a:t>
            </a:r>
          </a:p>
        </p:txBody>
      </p:sp>
      <p:sp>
        <p:nvSpPr>
          <p:cNvPr id="6" name="TextBox 5"/>
          <p:cNvSpPr txBox="1"/>
          <p:nvPr/>
        </p:nvSpPr>
        <p:spPr>
          <a:xfrm>
            <a:off x="3489960" y="1790700"/>
            <a:ext cx="4175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909559" y="1790700"/>
            <a:ext cx="3611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WHY IT IS SEPARATE</a:t>
            </a:r>
          </a:p>
        </p:txBody>
      </p:sp>
      <p:sp>
        <p:nvSpPr>
          <p:cNvPr id="8" name="Rounded Rectangle 7"/>
          <p:cNvSpPr/>
          <p:nvPr/>
        </p:nvSpPr>
        <p:spPr>
          <a:xfrm>
            <a:off x="548640" y="2110740"/>
            <a:ext cx="11094720" cy="754380"/>
          </a:xfrm>
          <a:prstGeom prst="roundRect">
            <a:avLst>
              <a:gd name="adj" fmla="val 6060"/>
            </a:avLst>
          </a:prstGeom>
          <a:solidFill>
            <a:srgbClr val="FFFFFF"/>
          </a:solidFill>
          <a:ln>
            <a:noFill/>
          </a:ln>
          <a:effectLst/>
        </p:spPr>
        <p:txBody>
          <a:bodyPr rtlCol="0" anchor="ctr"/>
          <a:lstStyle/>
          <a:p>
            <a:pPr algn="ctr"/>
          </a:p>
        </p:txBody>
      </p:sp>
      <p:sp>
        <p:nvSpPr>
          <p:cNvPr id="9" name="TextBox 8"/>
          <p:cNvSpPr txBox="1"/>
          <p:nvPr/>
        </p:nvSpPr>
        <p:spPr>
          <a:xfrm>
            <a:off x="670560" y="2240280"/>
            <a:ext cx="2575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Indexed prefix W</a:t>
            </a:r>
          </a:p>
        </p:txBody>
      </p:sp>
      <p:sp>
        <p:nvSpPr>
          <p:cNvPr id="10" name="TextBox 9"/>
          <p:cNvSpPr txBox="1"/>
          <p:nvPr/>
        </p:nvSpPr>
        <p:spPr>
          <a:xfrm>
            <a:off x="3489960" y="224028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Every accepted source item through W</a:t>
            </a:r>
          </a:p>
        </p:txBody>
      </p:sp>
      <p:sp>
        <p:nvSpPr>
          <p:cNvPr id="11" name="TextBox 10"/>
          <p:cNvSpPr txBox="1"/>
          <p:nvPr/>
        </p:nvSpPr>
        <p:spPr>
          <a:xfrm>
            <a:off x="3489960" y="248412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processed</a:t>
            </a:r>
          </a:p>
        </p:txBody>
      </p:sp>
      <p:sp>
        <p:nvSpPr>
          <p:cNvPr id="12" name="TextBox 11"/>
          <p:cNvSpPr txBox="1"/>
          <p:nvPr/>
        </p:nvSpPr>
        <p:spPr>
          <a:xfrm>
            <a:off x="7909559" y="2240280"/>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Later source commits may exist</a:t>
            </a:r>
          </a:p>
        </p:txBody>
      </p:sp>
      <p:sp>
        <p:nvSpPr>
          <p:cNvPr id="13" name="Rounded Rectangle 12"/>
          <p:cNvSpPr/>
          <p:nvPr/>
        </p:nvSpPr>
        <p:spPr>
          <a:xfrm>
            <a:off x="548640" y="2903220"/>
            <a:ext cx="11094720" cy="754380"/>
          </a:xfrm>
          <a:prstGeom prst="roundRect">
            <a:avLst>
              <a:gd name="adj" fmla="val 6060"/>
            </a:avLst>
          </a:prstGeom>
          <a:solidFill>
            <a:srgbClr val="FFFFFF"/>
          </a:solidFill>
          <a:ln>
            <a:noFill/>
          </a:ln>
          <a:effectLst/>
        </p:spPr>
        <p:txBody>
          <a:bodyPr rtlCol="0" anchor="ctr"/>
          <a:lstStyle/>
          <a:p>
            <a:pPr algn="ctr"/>
          </a:p>
        </p:txBody>
      </p:sp>
      <p:sp>
        <p:nvSpPr>
          <p:cNvPr id="14" name="TextBox 13"/>
          <p:cNvSpPr txBox="1"/>
          <p:nvPr/>
        </p:nvSpPr>
        <p:spPr>
          <a:xfrm>
            <a:off x="670560" y="3032760"/>
            <a:ext cx="2575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Complete page</a:t>
            </a:r>
          </a:p>
        </p:txBody>
      </p:sp>
      <p:sp>
        <p:nvSpPr>
          <p:cNvPr id="15" name="TextBox 14"/>
          <p:cNvSpPr txBox="1"/>
          <p:nvPr/>
        </p:nvSpPr>
        <p:spPr>
          <a:xfrm>
            <a:off x="3489960" y="303276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matches for this page at its fixed prefix</a:t>
            </a:r>
          </a:p>
        </p:txBody>
      </p:sp>
      <p:sp>
        <p:nvSpPr>
          <p:cNvPr id="16" name="TextBox 15"/>
          <p:cNvSpPr txBox="1"/>
          <p:nvPr/>
        </p:nvSpPr>
        <p:spPr>
          <a:xfrm>
            <a:off x="7909559" y="3032760"/>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continuation can still be required</a:t>
            </a:r>
          </a:p>
        </p:txBody>
      </p:sp>
      <p:sp>
        <p:nvSpPr>
          <p:cNvPr id="17" name="Rounded Rectangle 16"/>
          <p:cNvSpPr/>
          <p:nvPr/>
        </p:nvSpPr>
        <p:spPr>
          <a:xfrm>
            <a:off x="548640" y="3695700"/>
            <a:ext cx="11094720" cy="754380"/>
          </a:xfrm>
          <a:prstGeom prst="roundRect">
            <a:avLst>
              <a:gd name="adj" fmla="val 6060"/>
            </a:avLst>
          </a:prstGeom>
          <a:solidFill>
            <a:srgbClr val="FFFFFF"/>
          </a:solidFill>
          <a:ln>
            <a:noFill/>
          </a:ln>
          <a:effectLst/>
        </p:spPr>
        <p:txBody>
          <a:bodyPr rtlCol="0" anchor="ctr"/>
          <a:lstStyle/>
          <a:p>
            <a:pPr algn="ctr"/>
          </a:p>
        </p:txBody>
      </p:sp>
      <p:sp>
        <p:nvSpPr>
          <p:cNvPr id="18" name="TextBox 17"/>
          <p:cNvSpPr txBox="1"/>
          <p:nvPr/>
        </p:nvSpPr>
        <p:spPr>
          <a:xfrm>
            <a:off x="670560" y="3825240"/>
            <a:ext cx="2575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Requested minimum</a:t>
            </a:r>
          </a:p>
        </p:txBody>
      </p:sp>
      <p:sp>
        <p:nvSpPr>
          <p:cNvPr id="19" name="TextBox 18"/>
          <p:cNvSpPr txBox="1"/>
          <p:nvPr/>
        </p:nvSpPr>
        <p:spPr>
          <a:xfrm>
            <a:off x="3489960" y="382524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W meets the caller’s source barrier</a:t>
            </a:r>
          </a:p>
        </p:txBody>
      </p:sp>
      <p:sp>
        <p:nvSpPr>
          <p:cNvPr id="20" name="TextBox 19"/>
          <p:cNvSpPr txBox="1"/>
          <p:nvPr/>
        </p:nvSpPr>
        <p:spPr>
          <a:xfrm>
            <a:off x="7909559" y="3825240"/>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Too far behind → NOT_AVAILABLE</a:t>
            </a:r>
          </a:p>
        </p:txBody>
      </p:sp>
      <p:sp>
        <p:nvSpPr>
          <p:cNvPr id="21" name="Rounded Rectangle 20"/>
          <p:cNvSpPr/>
          <p:nvPr/>
        </p:nvSpPr>
        <p:spPr>
          <a:xfrm>
            <a:off x="548640" y="4488180"/>
            <a:ext cx="11094720" cy="754380"/>
          </a:xfrm>
          <a:prstGeom prst="roundRect">
            <a:avLst>
              <a:gd name="adj" fmla="val 6060"/>
            </a:avLst>
          </a:prstGeom>
          <a:solidFill>
            <a:srgbClr val="FFFFFF"/>
          </a:solidFill>
          <a:ln>
            <a:noFill/>
          </a:ln>
          <a:effectLst/>
        </p:spPr>
        <p:txBody>
          <a:bodyPr rtlCol="0" anchor="ctr"/>
          <a:lstStyle/>
          <a:p>
            <a:pPr algn="ctr"/>
          </a:p>
        </p:txBody>
      </p:sp>
      <p:sp>
        <p:nvSpPr>
          <p:cNvPr id="22" name="TextBox 21"/>
          <p:cNvSpPr txBox="1"/>
          <p:nvPr/>
        </p:nvSpPr>
        <p:spPr>
          <a:xfrm>
            <a:off x="670560" y="4617720"/>
            <a:ext cx="2575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Observed source head</a:t>
            </a:r>
          </a:p>
        </p:txBody>
      </p:sp>
      <p:sp>
        <p:nvSpPr>
          <p:cNvPr id="23" name="TextBox 22"/>
          <p:cNvSpPr txBox="1"/>
          <p:nvPr/>
        </p:nvSpPr>
        <p:spPr>
          <a:xfrm>
            <a:off x="670560" y="4861560"/>
            <a:ext cx="25755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H</a:t>
            </a:r>
          </a:p>
        </p:txBody>
      </p:sp>
      <p:sp>
        <p:nvSpPr>
          <p:cNvPr id="24" name="TextBox 23"/>
          <p:cNvSpPr txBox="1"/>
          <p:nvPr/>
        </p:nvSpPr>
        <p:spPr>
          <a:xfrm>
            <a:off x="3489960" y="461772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Whether W equals H, with observation</a:t>
            </a:r>
          </a:p>
        </p:txBody>
      </p:sp>
      <p:sp>
        <p:nvSpPr>
          <p:cNvPr id="25" name="TextBox 24"/>
          <p:cNvSpPr txBox="1"/>
          <p:nvPr/>
        </p:nvSpPr>
        <p:spPr>
          <a:xfrm>
            <a:off x="3489960" y="4861560"/>
            <a:ext cx="417576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context</a:t>
            </a:r>
          </a:p>
        </p:txBody>
      </p:sp>
      <p:sp>
        <p:nvSpPr>
          <p:cNvPr id="26" name="TextBox 25"/>
          <p:cNvSpPr txBox="1"/>
          <p:nvPr/>
        </p:nvSpPr>
        <p:spPr>
          <a:xfrm>
            <a:off x="7909559" y="4617720"/>
            <a:ext cx="3611879"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No query-side head poll or ingestion</a:t>
            </a:r>
          </a:p>
        </p:txBody>
      </p:sp>
      <p:sp>
        <p:nvSpPr>
          <p:cNvPr id="27" name="TextBox 26"/>
          <p:cNvSpPr txBox="1"/>
          <p:nvPr/>
        </p:nvSpPr>
        <p:spPr>
          <a:xfrm>
            <a:off x="678180" y="547116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Exact conjunction: 1–3 distinct fields from kind / topic / label; equality only.</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Case and Unicode are exact; missing fields do not match. Search W and Relations R are separate snapshots.</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lookup_contracts.py · m5-contracts.md</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41 / 64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NATIVE LOOKUP DEMONSTRATION</a:t>
            </a:r>
          </a:p>
        </p:txBody>
      </p:sp>
      <p:sp>
        <p:nvSpPr>
          <p:cNvPr id="3" name="TextBox 2"/>
          <p:cNvSpPr txBox="1"/>
          <p:nvPr/>
        </p:nvSpPr>
        <p:spPr>
          <a:xfrm>
            <a:off x="533400" y="723900"/>
            <a:ext cx="11125200" cy="429158"/>
          </a:xfrm>
          <a:prstGeom prst="rect">
            <a:avLst/>
          </a:prstGeom>
          <a:noFill/>
        </p:spPr>
        <p:txBody>
          <a:bodyPr wrap="none" lIns="0" rIns="0" tIns="0" bIns="0" anchor="t" anchorCtr="0">
            <a:noAutofit/>
          </a:bodyPr>
          <a:lstStyle/>
          <a:p>
            <a:pPr algn="l">
              <a:lnSpc>
                <a:spcPct val="100000"/>
              </a:lnSpc>
              <a:spcBef>
                <a:spcPts val="0"/>
              </a:spcBef>
              <a:spcAft>
                <a:spcPts val="0"/>
              </a:spcAft>
            </a:pPr>
            <a:r>
              <a:rPr sz="2640" b="1">
                <a:solidFill>
                  <a:srgbClr val="102B3F"/>
                </a:solidFill>
                <a:latin typeface="DejaVu Sans"/>
              </a:rPr>
              <a:t>Actual Hive discovers the answers through the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Setup exits before lookup; the consumer receives query attributes and a freshness barrier only.</a:t>
            </a:r>
          </a:p>
        </p:txBody>
      </p:sp>
      <p:sp>
        <p:nvSpPr>
          <p:cNvPr id="5" name="Rounded Rectangle 4"/>
          <p:cNvSpPr/>
          <p:nvPr/>
        </p:nvSpPr>
        <p:spPr>
          <a:xfrm>
            <a:off x="548640" y="1889759"/>
            <a:ext cx="3535679" cy="1691639"/>
          </a:xfrm>
          <a:prstGeom prst="roundRect">
            <a:avLst>
              <a:gd name="adj" fmla="val 6306"/>
            </a:avLst>
          </a:prstGeom>
          <a:solidFill>
            <a:srgbClr val="DCEFE8"/>
          </a:solidFill>
          <a:ln>
            <a:noFill/>
          </a:ln>
          <a:effectLst/>
        </p:spPr>
        <p:txBody>
          <a:bodyPr rtlCol="0" anchor="ctr"/>
          <a:lstStyle/>
          <a:p>
            <a:pPr algn="ctr"/>
          </a:p>
        </p:txBody>
      </p:sp>
      <p:sp>
        <p:nvSpPr>
          <p:cNvPr id="6" name="TextBox 5"/>
          <p:cNvSpPr txBox="1"/>
          <p:nvPr/>
        </p:nvSpPr>
        <p:spPr>
          <a:xfrm>
            <a:off x="746760" y="2026920"/>
            <a:ext cx="3139440" cy="809548"/>
          </a:xfrm>
          <a:prstGeom prst="rect">
            <a:avLst/>
          </a:prstGeom>
          <a:noFill/>
        </p:spPr>
        <p:txBody>
          <a:bodyPr wrap="none" lIns="0" rIns="0" tIns="0" bIns="0" anchor="t" anchorCtr="0">
            <a:noAutofit/>
          </a:bodyPr>
          <a:lstStyle/>
          <a:p>
            <a:pPr algn="l">
              <a:lnSpc>
                <a:spcPct val="100000"/>
              </a:lnSpc>
              <a:spcBef>
                <a:spcPts val="0"/>
              </a:spcBef>
              <a:spcAft>
                <a:spcPts val="0"/>
              </a:spcAft>
            </a:pPr>
            <a:r>
              <a:rPr sz="4980" b="1">
                <a:solidFill>
                  <a:srgbClr val="007C78"/>
                </a:solidFill>
                <a:latin typeface="DejaVu Sans"/>
              </a:rPr>
              <a:t>5</a:t>
            </a:r>
          </a:p>
        </p:txBody>
      </p:sp>
      <p:sp>
        <p:nvSpPr>
          <p:cNvPr id="7" name="TextBox 6"/>
          <p:cNvSpPr txBox="1"/>
          <p:nvPr/>
        </p:nvSpPr>
        <p:spPr>
          <a:xfrm>
            <a:off x="746760" y="2933700"/>
            <a:ext cx="31394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matching roots</a:t>
            </a:r>
          </a:p>
        </p:txBody>
      </p:sp>
      <p:sp>
        <p:nvSpPr>
          <p:cNvPr id="8" name="Rounded Rectangle 7"/>
          <p:cNvSpPr/>
          <p:nvPr/>
        </p:nvSpPr>
        <p:spPr>
          <a:xfrm>
            <a:off x="4328160" y="1889759"/>
            <a:ext cx="3535679" cy="1691639"/>
          </a:xfrm>
          <a:prstGeom prst="roundRect">
            <a:avLst>
              <a:gd name="adj" fmla="val 6306"/>
            </a:avLst>
          </a:prstGeom>
          <a:solidFill>
            <a:srgbClr val="DCEFE8"/>
          </a:solidFill>
          <a:ln>
            <a:noFill/>
          </a:ln>
          <a:effectLst/>
        </p:spPr>
        <p:txBody>
          <a:bodyPr rtlCol="0" anchor="ctr"/>
          <a:lstStyle/>
          <a:p>
            <a:pPr algn="ctr"/>
          </a:p>
        </p:txBody>
      </p:sp>
      <p:sp>
        <p:nvSpPr>
          <p:cNvPr id="9" name="TextBox 8"/>
          <p:cNvSpPr txBox="1"/>
          <p:nvPr/>
        </p:nvSpPr>
        <p:spPr>
          <a:xfrm>
            <a:off x="4526280" y="2026920"/>
            <a:ext cx="3139440" cy="809548"/>
          </a:xfrm>
          <a:prstGeom prst="rect">
            <a:avLst/>
          </a:prstGeom>
          <a:noFill/>
        </p:spPr>
        <p:txBody>
          <a:bodyPr wrap="none" lIns="0" rIns="0" tIns="0" bIns="0" anchor="t" anchorCtr="0">
            <a:noAutofit/>
          </a:bodyPr>
          <a:lstStyle/>
          <a:p>
            <a:pPr algn="l">
              <a:lnSpc>
                <a:spcPct val="100000"/>
              </a:lnSpc>
              <a:spcBef>
                <a:spcPts val="0"/>
              </a:spcBef>
              <a:spcAft>
                <a:spcPts val="0"/>
              </a:spcAft>
            </a:pPr>
            <a:r>
              <a:rPr sz="4980" b="1">
                <a:solidFill>
                  <a:srgbClr val="007C78"/>
                </a:solidFill>
                <a:latin typeface="DejaVu Sans"/>
              </a:rPr>
              <a:t>15</a:t>
            </a:r>
          </a:p>
        </p:txBody>
      </p:sp>
      <p:sp>
        <p:nvSpPr>
          <p:cNvPr id="10" name="TextBox 9"/>
          <p:cNvSpPr txBox="1"/>
          <p:nvPr/>
        </p:nvSpPr>
        <p:spPr>
          <a:xfrm>
            <a:off x="4526280" y="2933700"/>
            <a:ext cx="31394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accepted relations</a:t>
            </a:r>
          </a:p>
        </p:txBody>
      </p:sp>
      <p:sp>
        <p:nvSpPr>
          <p:cNvPr id="11" name="Rounded Rectangle 10"/>
          <p:cNvSpPr/>
          <p:nvPr/>
        </p:nvSpPr>
        <p:spPr>
          <a:xfrm>
            <a:off x="8107680" y="1889759"/>
            <a:ext cx="3535679" cy="1691639"/>
          </a:xfrm>
          <a:prstGeom prst="roundRect">
            <a:avLst>
              <a:gd name="adj" fmla="val 6306"/>
            </a:avLst>
          </a:prstGeom>
          <a:solidFill>
            <a:srgbClr val="DCEFE8"/>
          </a:solidFill>
          <a:ln>
            <a:noFill/>
          </a:ln>
          <a:effectLst/>
        </p:spPr>
        <p:txBody>
          <a:bodyPr rtlCol="0" anchor="ctr"/>
          <a:lstStyle/>
          <a:p>
            <a:pPr algn="ctr"/>
          </a:p>
        </p:txBody>
      </p:sp>
      <p:sp>
        <p:nvSpPr>
          <p:cNvPr id="12" name="TextBox 11"/>
          <p:cNvSpPr txBox="1"/>
          <p:nvPr/>
        </p:nvSpPr>
        <p:spPr>
          <a:xfrm>
            <a:off x="8305800" y="2026920"/>
            <a:ext cx="3139440" cy="809548"/>
          </a:xfrm>
          <a:prstGeom prst="rect">
            <a:avLst/>
          </a:prstGeom>
          <a:noFill/>
        </p:spPr>
        <p:txBody>
          <a:bodyPr wrap="none" lIns="0" rIns="0" tIns="0" bIns="0" anchor="t" anchorCtr="0">
            <a:noAutofit/>
          </a:bodyPr>
          <a:lstStyle/>
          <a:p>
            <a:pPr algn="l">
              <a:lnSpc>
                <a:spcPct val="100000"/>
              </a:lnSpc>
              <a:spcBef>
                <a:spcPts val="0"/>
              </a:spcBef>
              <a:spcAft>
                <a:spcPts val="0"/>
              </a:spcAft>
            </a:pPr>
            <a:r>
              <a:rPr sz="4980" b="1">
                <a:solidFill>
                  <a:srgbClr val="007C78"/>
                </a:solidFill>
                <a:latin typeface="DejaVu Sans"/>
              </a:rPr>
              <a:t>8</a:t>
            </a:r>
          </a:p>
        </p:txBody>
      </p:sp>
      <p:sp>
        <p:nvSpPr>
          <p:cNvPr id="13" name="TextBox 12"/>
          <p:cNvSpPr txBox="1"/>
          <p:nvPr/>
        </p:nvSpPr>
        <p:spPr>
          <a:xfrm>
            <a:off x="8305800" y="2933700"/>
            <a:ext cx="3139440" cy="292608"/>
          </a:xfrm>
          <a:prstGeom prst="rect">
            <a:avLst/>
          </a:prstGeom>
          <a:noFill/>
        </p:spPr>
        <p:txBody>
          <a:bodyPr wrap="none" lIns="0" rIns="0" tIns="0" bIns="0" anchor="t" anchorCtr="0">
            <a:noAutofit/>
          </a:bodyPr>
          <a:lstStyle/>
          <a:p>
            <a:pPr algn="l">
              <a:lnSpc>
                <a:spcPct val="100000"/>
              </a:lnSpc>
              <a:spcBef>
                <a:spcPts val="0"/>
              </a:spcBef>
              <a:spcAft>
                <a:spcPts val="0"/>
              </a:spcAft>
            </a:pPr>
            <a:r>
              <a:rPr sz="1800" b="1">
                <a:solidFill>
                  <a:srgbClr val="102B3F"/>
                </a:solidFill>
                <a:latin typeface="DejaVu Sans"/>
              </a:rPr>
              <a:t>unique payloads</a:t>
            </a:r>
          </a:p>
        </p:txBody>
      </p:sp>
      <p:cxnSp>
        <p:nvCxnSpPr>
          <p:cNvPr id="14" name="Connector 13"/>
          <p:cNvCxnSpPr/>
          <p:nvPr/>
        </p:nvCxnSpPr>
        <p:spPr>
          <a:xfrm>
            <a:off x="4084319" y="2735580"/>
            <a:ext cx="243841" cy="0"/>
          </a:xfrm>
          <a:prstGeom prst="line">
            <a:avLst/>
          </a:prstGeom>
          <a:ln w="15240">
            <a:solidFill>
              <a:srgbClr val="007C78"/>
            </a:solidFill>
          </a:ln>
          <a:effectLst/>
        </p:spPr>
      </p:cxnSp>
      <p:sp>
        <p:nvSpPr>
          <p:cNvPr id="15" name="Freeform 14"/>
          <p:cNvSpPr/>
          <p:nvPr/>
        </p:nvSpPr>
        <p:spPr>
          <a:xfrm>
            <a:off x="4229100" y="26974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cxnSp>
        <p:nvCxnSpPr>
          <p:cNvPr id="16" name="Connector 15"/>
          <p:cNvCxnSpPr/>
          <p:nvPr/>
        </p:nvCxnSpPr>
        <p:spPr>
          <a:xfrm>
            <a:off x="7863839" y="2735580"/>
            <a:ext cx="243841" cy="0"/>
          </a:xfrm>
          <a:prstGeom prst="line">
            <a:avLst/>
          </a:prstGeom>
          <a:ln w="15240">
            <a:solidFill>
              <a:srgbClr val="007C78"/>
            </a:solidFill>
          </a:ln>
          <a:effectLst/>
        </p:spPr>
      </p:cxnSp>
      <p:sp>
        <p:nvSpPr>
          <p:cNvPr id="17" name="Freeform 16"/>
          <p:cNvSpPr/>
          <p:nvPr/>
        </p:nvSpPr>
        <p:spPr>
          <a:xfrm>
            <a:off x="8008620" y="269748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18" name="TextBox 17"/>
          <p:cNvSpPr txBox="1"/>
          <p:nvPr/>
        </p:nvSpPr>
        <p:spPr>
          <a:xfrm>
            <a:off x="670560" y="383286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TRANSITION</a:t>
            </a:r>
          </a:p>
        </p:txBody>
      </p:sp>
      <p:sp>
        <p:nvSpPr>
          <p:cNvPr id="19" name="TextBox 18"/>
          <p:cNvSpPr txBox="1"/>
          <p:nvPr/>
        </p:nvSpPr>
        <p:spPr>
          <a:xfrm>
            <a:off x="3528060" y="3832860"/>
            <a:ext cx="36804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NATIVE BEHAVIOR</a:t>
            </a:r>
          </a:p>
        </p:txBody>
      </p:sp>
      <p:sp>
        <p:nvSpPr>
          <p:cNvPr id="20" name="TextBox 19"/>
          <p:cNvSpPr txBox="1"/>
          <p:nvPr/>
        </p:nvSpPr>
        <p:spPr>
          <a:xfrm>
            <a:off x="7452359" y="3832860"/>
            <a:ext cx="4069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EVIDENCE</a:t>
            </a:r>
          </a:p>
        </p:txBody>
      </p:sp>
      <p:sp>
        <p:nvSpPr>
          <p:cNvPr id="21" name="Rounded Rectangle 20"/>
          <p:cNvSpPr/>
          <p:nvPr/>
        </p:nvSpPr>
        <p:spPr>
          <a:xfrm>
            <a:off x="548640" y="4152900"/>
            <a:ext cx="11094720" cy="510539"/>
          </a:xfrm>
          <a:prstGeom prst="roundRect">
            <a:avLst>
              <a:gd name="adj" fmla="val 8955"/>
            </a:avLst>
          </a:prstGeom>
          <a:solidFill>
            <a:srgbClr val="FFFFFF"/>
          </a:solidFill>
          <a:ln>
            <a:noFill/>
          </a:ln>
          <a:effectLst/>
        </p:spPr>
        <p:txBody>
          <a:bodyPr rtlCol="0" anchor="ctr"/>
          <a:lstStyle/>
          <a:p>
            <a:pPr algn="ctr"/>
          </a:p>
        </p:txBody>
      </p:sp>
      <p:sp>
        <p:nvSpPr>
          <p:cNvPr id="22" name="TextBox 21"/>
          <p:cNvSpPr txBox="1"/>
          <p:nvPr/>
        </p:nvSpPr>
        <p:spPr>
          <a:xfrm>
            <a:off x="670560" y="428244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Initial query</a:t>
            </a:r>
          </a:p>
        </p:txBody>
      </p:sp>
      <p:sp>
        <p:nvSpPr>
          <p:cNvPr id="23" name="TextBox 22"/>
          <p:cNvSpPr txBox="1"/>
          <p:nvPr/>
        </p:nvSpPr>
        <p:spPr>
          <a:xfrm>
            <a:off x="3528060" y="4282440"/>
            <a:ext cx="36804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3 pages at page size 2</a:t>
            </a:r>
          </a:p>
        </p:txBody>
      </p:sp>
      <p:sp>
        <p:nvSpPr>
          <p:cNvPr id="24" name="TextBox 23"/>
          <p:cNvSpPr txBox="1"/>
          <p:nvPr/>
        </p:nvSpPr>
        <p:spPr>
          <a:xfrm>
            <a:off x="7452359" y="4282440"/>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Distractors and another private scope</a:t>
            </a:r>
          </a:p>
        </p:txBody>
      </p:sp>
      <p:sp>
        <p:nvSpPr>
          <p:cNvPr id="25" name="TextBox 24"/>
          <p:cNvSpPr txBox="1"/>
          <p:nvPr/>
        </p:nvSpPr>
        <p:spPr>
          <a:xfrm>
            <a:off x="7452359" y="4506772"/>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excluded</a:t>
            </a:r>
          </a:p>
        </p:txBody>
      </p:sp>
      <p:sp>
        <p:nvSpPr>
          <p:cNvPr id="26" name="Rounded Rectangle 25"/>
          <p:cNvSpPr/>
          <p:nvPr/>
        </p:nvSpPr>
        <p:spPr>
          <a:xfrm>
            <a:off x="548640" y="4701540"/>
            <a:ext cx="11094720" cy="510539"/>
          </a:xfrm>
          <a:prstGeom prst="roundRect">
            <a:avLst>
              <a:gd name="adj" fmla="val 8955"/>
            </a:avLst>
          </a:prstGeom>
          <a:solidFill>
            <a:srgbClr val="FFFFFF"/>
          </a:solidFill>
          <a:ln>
            <a:noFill/>
          </a:ln>
          <a:effectLst/>
        </p:spPr>
        <p:txBody>
          <a:bodyPr rtlCol="0" anchor="ctr"/>
          <a:lstStyle/>
          <a:p>
            <a:pPr algn="ctr"/>
          </a:p>
        </p:txBody>
      </p:sp>
      <p:sp>
        <p:nvSpPr>
          <p:cNvPr id="27" name="TextBox 26"/>
          <p:cNvSpPr txBox="1"/>
          <p:nvPr/>
        </p:nvSpPr>
        <p:spPr>
          <a:xfrm>
            <a:off x="670560" y="48310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Append → lag → catch up</a:t>
            </a:r>
          </a:p>
        </p:txBody>
      </p:sp>
      <p:sp>
        <p:nvSpPr>
          <p:cNvPr id="28" name="TextBox 27"/>
          <p:cNvSpPr txBox="1"/>
          <p:nvPr/>
        </p:nvSpPr>
        <p:spPr>
          <a:xfrm>
            <a:off x="3528060" y="4831080"/>
            <a:ext cx="36804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NOT_AVAILABLE → 6 roots / 9 payloads</a:t>
            </a:r>
          </a:p>
        </p:txBody>
      </p:sp>
      <p:sp>
        <p:nvSpPr>
          <p:cNvPr id="29" name="TextBox 28"/>
          <p:cNvSpPr txBox="1"/>
          <p:nvPr/>
        </p:nvSpPr>
        <p:spPr>
          <a:xfrm>
            <a:off x="7452359" y="4831080"/>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Query did not ingest; maintenance advanced</a:t>
            </a:r>
          </a:p>
        </p:txBody>
      </p:sp>
      <p:sp>
        <p:nvSpPr>
          <p:cNvPr id="30" name="TextBox 29"/>
          <p:cNvSpPr txBox="1"/>
          <p:nvPr/>
        </p:nvSpPr>
        <p:spPr>
          <a:xfrm>
            <a:off x="7452359" y="5055412"/>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prefix</a:t>
            </a:r>
          </a:p>
        </p:txBody>
      </p:sp>
      <p:sp>
        <p:nvSpPr>
          <p:cNvPr id="31" name="Rounded Rectangle 30"/>
          <p:cNvSpPr/>
          <p:nvPr/>
        </p:nvSpPr>
        <p:spPr>
          <a:xfrm>
            <a:off x="548640" y="5250180"/>
            <a:ext cx="11094720" cy="510539"/>
          </a:xfrm>
          <a:prstGeom prst="roundRect">
            <a:avLst>
              <a:gd name="adj" fmla="val 8955"/>
            </a:avLst>
          </a:prstGeom>
          <a:solidFill>
            <a:srgbClr val="FFFFFF"/>
          </a:solidFill>
          <a:ln>
            <a:noFill/>
          </a:ln>
          <a:effectLst/>
        </p:spPr>
        <p:txBody>
          <a:bodyPr rtlCol="0" anchor="ctr"/>
          <a:lstStyle/>
          <a:p>
            <a:pPr algn="ctr"/>
          </a:p>
        </p:txBody>
      </p:sp>
      <p:sp>
        <p:nvSpPr>
          <p:cNvPr id="32" name="TextBox 31"/>
          <p:cNvSpPr txBox="1"/>
          <p:nvPr/>
        </p:nvSpPr>
        <p:spPr>
          <a:xfrm>
            <a:off x="670560" y="537972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Rebuild → restart →</a:t>
            </a:r>
          </a:p>
        </p:txBody>
      </p:sp>
      <p:sp>
        <p:nvSpPr>
          <p:cNvPr id="33" name="TextBox 32"/>
          <p:cNvSpPr txBox="1"/>
          <p:nvPr/>
        </p:nvSpPr>
        <p:spPr>
          <a:xfrm>
            <a:off x="670560" y="560405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substitute</a:t>
            </a:r>
          </a:p>
        </p:txBody>
      </p:sp>
      <p:sp>
        <p:nvSpPr>
          <p:cNvPr id="34" name="TextBox 33"/>
          <p:cNvSpPr txBox="1"/>
          <p:nvPr/>
        </p:nvSpPr>
        <p:spPr>
          <a:xfrm>
            <a:off x="3528060" y="5379720"/>
            <a:ext cx="36804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discovery and canonical bytes</a:t>
            </a:r>
          </a:p>
        </p:txBody>
      </p:sp>
      <p:sp>
        <p:nvSpPr>
          <p:cNvPr id="35" name="TextBox 34"/>
          <p:cNvSpPr txBox="1"/>
          <p:nvPr/>
        </p:nvSpPr>
        <p:spPr>
          <a:xfrm>
            <a:off x="7452359" y="5379720"/>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New generation; independent file Search</a:t>
            </a:r>
          </a:p>
        </p:txBody>
      </p:sp>
      <p:sp>
        <p:nvSpPr>
          <p:cNvPr id="36" name="TextBox 35"/>
          <p:cNvSpPr txBox="1"/>
          <p:nvPr/>
        </p:nvSpPr>
        <p:spPr>
          <a:xfrm>
            <a:off x="7452359" y="5604052"/>
            <a:ext cx="4069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fixture</a:t>
            </a:r>
          </a:p>
        </p:txBody>
      </p:sp>
      <p:sp>
        <p:nvSpPr>
          <p:cNvPr id="37" name="Rounded Rectangle 36"/>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8" name="TextBox 37"/>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The oracle is test-only and removed before startup. No answer references are supplied to Hive.</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evidence/m5/traces/lookup-trace-1.json · lookup-trace-2.json</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42 / 64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RECOVERY + REPLACEMENT</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Thirteen process kills exercise separate commit boundaries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 lost response does not merge owner transactions or erase accepted work.</a:t>
            </a:r>
          </a:p>
        </p:txBody>
      </p:sp>
      <p:sp>
        <p:nvSpPr>
          <p:cNvPr id="5" name="TextBox 4"/>
          <p:cNvSpPr txBox="1"/>
          <p:nvPr/>
        </p:nvSpPr>
        <p:spPr>
          <a:xfrm>
            <a:off x="670560" y="1790700"/>
            <a:ext cx="2956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6" name="TextBox 5"/>
          <p:cNvSpPr txBox="1"/>
          <p:nvPr/>
        </p:nvSpPr>
        <p:spPr>
          <a:xfrm>
            <a:off x="3870960" y="1790700"/>
            <a:ext cx="2994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DELIBERATE SIGKILL CASES</a:t>
            </a:r>
          </a:p>
        </p:txBody>
      </p:sp>
      <p:sp>
        <p:nvSpPr>
          <p:cNvPr id="7" name="TextBox 6"/>
          <p:cNvSpPr txBox="1"/>
          <p:nvPr/>
        </p:nvSpPr>
        <p:spPr>
          <a:xfrm>
            <a:off x="7109459" y="1790700"/>
            <a:ext cx="44119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RECOVERED FACT</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 / feed acceptance</a:t>
            </a:r>
          </a:p>
        </p:txBody>
      </p:sp>
      <p:sp>
        <p:nvSpPr>
          <p:cNvPr id="10" name="TextBox 9"/>
          <p:cNvSpPr txBox="1"/>
          <p:nvPr/>
        </p:nvSpPr>
        <p:spPr>
          <a:xfrm>
            <a:off x="3870960" y="2240280"/>
            <a:ext cx="2994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1</a:t>
            </a:r>
          </a:p>
        </p:txBody>
      </p:sp>
      <p:sp>
        <p:nvSpPr>
          <p:cNvPr id="11" name="TextBox 10"/>
          <p:cNvSpPr txBox="1"/>
          <p:nvPr/>
        </p:nvSpPr>
        <p:spPr>
          <a:xfrm>
            <a:off x="7109459" y="2240280"/>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Accepted envelope and contiguous feed stay</a:t>
            </a:r>
          </a:p>
        </p:txBody>
      </p:sp>
      <p:sp>
        <p:nvSpPr>
          <p:cNvPr id="12" name="TextBox 11"/>
          <p:cNvSpPr txBox="1"/>
          <p:nvPr/>
        </p:nvSpPr>
        <p:spPr>
          <a:xfrm>
            <a:off x="7109459" y="2474366"/>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together</a:t>
            </a:r>
          </a:p>
        </p:txBody>
      </p:sp>
      <p:sp>
        <p:nvSpPr>
          <p:cNvPr id="13" name="Rounded Rectangle 12"/>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4" name="TextBox 13"/>
          <p:cNvSpPr txBox="1"/>
          <p:nvPr/>
        </p:nvSpPr>
        <p:spPr>
          <a:xfrm>
            <a:off x="670560" y="307086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 payload /</a:t>
            </a:r>
          </a:p>
        </p:txBody>
      </p:sp>
      <p:sp>
        <p:nvSpPr>
          <p:cNvPr id="15" name="TextBox 14"/>
          <p:cNvSpPr txBox="1"/>
          <p:nvPr/>
        </p:nvSpPr>
        <p:spPr>
          <a:xfrm>
            <a:off x="670560" y="330494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acceptance</a:t>
            </a:r>
          </a:p>
        </p:txBody>
      </p:sp>
      <p:sp>
        <p:nvSpPr>
          <p:cNvPr id="16" name="TextBox 15"/>
          <p:cNvSpPr txBox="1"/>
          <p:nvPr/>
        </p:nvSpPr>
        <p:spPr>
          <a:xfrm>
            <a:off x="3870960" y="3070860"/>
            <a:ext cx="2994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2</a:t>
            </a:r>
          </a:p>
        </p:txBody>
      </p:sp>
      <p:sp>
        <p:nvSpPr>
          <p:cNvPr id="17" name="TextBox 16"/>
          <p:cNvSpPr txBox="1"/>
          <p:nvPr/>
        </p:nvSpPr>
        <p:spPr>
          <a:xfrm>
            <a:off x="7109459" y="3070860"/>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Orphan is invisible; accepted relation replays</a:t>
            </a:r>
          </a:p>
        </p:txBody>
      </p:sp>
      <p:sp>
        <p:nvSpPr>
          <p:cNvPr id="18" name="TextBox 17"/>
          <p:cNvSpPr txBox="1"/>
          <p:nvPr/>
        </p:nvSpPr>
        <p:spPr>
          <a:xfrm>
            <a:off x="7109459" y="3304946"/>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once</a:t>
            </a:r>
          </a:p>
        </p:txBody>
      </p:sp>
      <p:sp>
        <p:nvSpPr>
          <p:cNvPr id="19" name="Rounded Rectangle 18"/>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20" name="TextBox 19"/>
          <p:cNvSpPr txBox="1"/>
          <p:nvPr/>
        </p:nvSpPr>
        <p:spPr>
          <a:xfrm>
            <a:off x="670560" y="390144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Projection checkpoint /</a:t>
            </a:r>
          </a:p>
        </p:txBody>
      </p:sp>
      <p:sp>
        <p:nvSpPr>
          <p:cNvPr id="21" name="TextBox 20"/>
          <p:cNvSpPr txBox="1"/>
          <p:nvPr/>
        </p:nvSpPr>
        <p:spPr>
          <a:xfrm>
            <a:off x="670560" y="413552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rebuild</a:t>
            </a:r>
          </a:p>
        </p:txBody>
      </p:sp>
      <p:sp>
        <p:nvSpPr>
          <p:cNvPr id="22" name="TextBox 21"/>
          <p:cNvSpPr txBox="1"/>
          <p:nvPr/>
        </p:nvSpPr>
        <p:spPr>
          <a:xfrm>
            <a:off x="3870960" y="3901440"/>
            <a:ext cx="2994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6 · both Search providers</a:t>
            </a:r>
          </a:p>
        </p:txBody>
      </p:sp>
      <p:sp>
        <p:nvSpPr>
          <p:cNvPr id="23" name="TextBox 22"/>
          <p:cNvSpPr txBox="1"/>
          <p:nvPr/>
        </p:nvSpPr>
        <p:spPr>
          <a:xfrm>
            <a:off x="7109459" y="3901440"/>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Before/after checkpoint and rebuild intent</a:t>
            </a:r>
          </a:p>
        </p:txBody>
      </p:sp>
      <p:sp>
        <p:nvSpPr>
          <p:cNvPr id="24" name="TextBox 23"/>
          <p:cNvSpPr txBox="1"/>
          <p:nvPr/>
        </p:nvSpPr>
        <p:spPr>
          <a:xfrm>
            <a:off x="7109459" y="4135526"/>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resume</a:t>
            </a:r>
          </a:p>
        </p:txBody>
      </p:sp>
      <p:sp>
        <p:nvSpPr>
          <p:cNvPr id="25" name="Rounded Rectangle 24"/>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6" name="TextBox 25"/>
          <p:cNvSpPr txBox="1"/>
          <p:nvPr/>
        </p:nvSpPr>
        <p:spPr>
          <a:xfrm>
            <a:off x="670560" y="4732020"/>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Native page / result</a:t>
            </a:r>
          </a:p>
        </p:txBody>
      </p:sp>
      <p:sp>
        <p:nvSpPr>
          <p:cNvPr id="27" name="TextBox 26"/>
          <p:cNvSpPr txBox="1"/>
          <p:nvPr/>
        </p:nvSpPr>
        <p:spPr>
          <a:xfrm>
            <a:off x="670560" y="4966106"/>
            <a:ext cx="2956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progress</a:t>
            </a:r>
          </a:p>
        </p:txBody>
      </p:sp>
      <p:sp>
        <p:nvSpPr>
          <p:cNvPr id="28" name="TextBox 27"/>
          <p:cNvSpPr txBox="1"/>
          <p:nvPr/>
        </p:nvSpPr>
        <p:spPr>
          <a:xfrm>
            <a:off x="3870960" y="4732020"/>
            <a:ext cx="2994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4 · both Search providers</a:t>
            </a:r>
          </a:p>
        </p:txBody>
      </p:sp>
      <p:sp>
        <p:nvSpPr>
          <p:cNvPr id="29" name="TextBox 28"/>
          <p:cNvSpPr txBox="1"/>
          <p:nvPr/>
        </p:nvSpPr>
        <p:spPr>
          <a:xfrm>
            <a:off x="7109459" y="4732020"/>
            <a:ext cx="44119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Page continuation and completed result survive</a:t>
            </a:r>
          </a:p>
        </p:txBody>
      </p:sp>
      <p:sp>
        <p:nvSpPr>
          <p:cNvPr id="30" name="Rounded Rectangle 2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1" name="TextBox 30"/>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Same profile, independent Search implementation, unchanged consumer; fresh derived store for substitution.</a:t>
            </a:r>
          </a:p>
        </p:txBody>
      </p:sp>
      <p:cxnSp>
        <p:nvCxnSpPr>
          <p:cNvPr id="32" name="Connector 31"/>
          <p:cNvCxnSpPr/>
          <p:nvPr/>
        </p:nvCxnSpPr>
        <p:spPr>
          <a:xfrm>
            <a:off x="548640" y="6393180"/>
            <a:ext cx="11094720" cy="0"/>
          </a:xfrm>
          <a:prstGeom prst="line">
            <a:avLst/>
          </a:prstGeom>
          <a:ln w="7620">
            <a:solidFill>
              <a:srgbClr val="C9D2D4"/>
            </a:solidFill>
          </a:ln>
          <a:effectLst/>
        </p:spPr>
      </p:cxnSp>
      <p:sp>
        <p:nvSpPr>
          <p:cNvPr id="33" name="TextBox 3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test_m5_real.py · test_m5_integration.py</a:t>
            </a:r>
          </a:p>
        </p:txBody>
      </p:sp>
      <p:sp>
        <p:nvSpPr>
          <p:cNvPr id="34" name="TextBox 3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43 / 64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06 / M5 · PLACEMENT AND PROFILES</a:t>
            </a:r>
          </a:p>
        </p:txBody>
      </p:sp>
      <p:sp>
        <p:nvSpPr>
          <p:cNvPr id="3" name="TextBox 2"/>
          <p:cNvSpPr txBox="1"/>
          <p:nvPr/>
        </p:nvSpPr>
        <p:spPr>
          <a:xfrm>
            <a:off x="533400" y="723900"/>
            <a:ext cx="11125200" cy="458419"/>
          </a:xfrm>
          <a:prstGeom prst="rect">
            <a:avLst/>
          </a:prstGeom>
          <a:noFill/>
        </p:spPr>
        <p:txBody>
          <a:bodyPr wrap="none" lIns="0" rIns="0" tIns="0" bIns="0" anchor="t" anchorCtr="0">
            <a:noAutofit/>
          </a:bodyPr>
          <a:lstStyle/>
          <a:p>
            <a:pPr algn="l">
              <a:lnSpc>
                <a:spcPct val="100000"/>
              </a:lnSpc>
              <a:spcBef>
                <a:spcPts val="0"/>
              </a:spcBef>
              <a:spcAft>
                <a:spcPts val="0"/>
              </a:spcAft>
            </a:pPr>
            <a:r>
              <a:rPr sz="2820" b="1">
                <a:solidFill>
                  <a:srgbClr val="102B3F"/>
                </a:solidFill>
                <a:latin typeface="DejaVu Sans"/>
              </a:rPr>
              <a:t>Private ownership extends without changing cognition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Each new profile is explicit; old M1–M4 owners and behavior remain selectable.</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OWNER</a:t>
            </a:r>
          </a:p>
        </p:txBody>
      </p:sp>
      <p:sp>
        <p:nvSpPr>
          <p:cNvPr id="6" name="TextBox 5"/>
          <p:cNvSpPr txBox="1"/>
          <p:nvPr/>
        </p:nvSpPr>
        <p:spPr>
          <a:xfrm>
            <a:off x="3185160" y="1790700"/>
            <a:ext cx="4518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STATE AND COMPATIBILITY</a:t>
            </a:r>
          </a:p>
        </p:txBody>
      </p:sp>
      <p:sp>
        <p:nvSpPr>
          <p:cNvPr id="7" name="TextBox 6"/>
          <p:cNvSpPr txBox="1"/>
          <p:nvPr/>
        </p:nvSpPr>
        <p:spPr>
          <a:xfrm>
            <a:off x="7947659" y="1790700"/>
            <a:ext cx="35737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PRIVATE BOUNDARY</a:t>
            </a:r>
          </a:p>
        </p:txBody>
      </p:sp>
      <p:sp>
        <p:nvSpPr>
          <p:cNvPr id="8" name="Rounded Rectangle 7"/>
          <p:cNvSpPr/>
          <p:nvPr/>
        </p:nvSpPr>
        <p:spPr>
          <a:xfrm>
            <a:off x="548640" y="2110740"/>
            <a:ext cx="11094720" cy="792480"/>
          </a:xfrm>
          <a:prstGeom prst="roundRect">
            <a:avLst>
              <a:gd name="adj" fmla="val 5769"/>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AtomStorage</a:t>
            </a:r>
          </a:p>
        </p:txBody>
      </p:sp>
      <p:sp>
        <p:nvSpPr>
          <p:cNvPr id="10" name="TextBox 9"/>
          <p:cNvSpPr txBox="1"/>
          <p:nvPr/>
        </p:nvSpPr>
        <p:spPr>
          <a:xfrm>
            <a:off x="3185160" y="224028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immutable-commit-feed/1 · contract 1.1.0</a:t>
            </a:r>
          </a:p>
        </p:txBody>
      </p:sp>
      <p:sp>
        <p:nvSpPr>
          <p:cNvPr id="11" name="TextBox 10"/>
          <p:cNvSpPr txBox="1"/>
          <p:nvPr/>
        </p:nvSpPr>
        <p:spPr>
          <a:xfrm>
            <a:off x="7947659" y="224028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Envelopes + accepted source</a:t>
            </a:r>
          </a:p>
        </p:txBody>
      </p:sp>
      <p:sp>
        <p:nvSpPr>
          <p:cNvPr id="12" name="TextBox 11"/>
          <p:cNvSpPr txBox="1"/>
          <p:nvPr/>
        </p:nvSpPr>
        <p:spPr>
          <a:xfrm>
            <a:off x="7947659" y="247436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metadata</a:t>
            </a:r>
          </a:p>
        </p:txBody>
      </p:sp>
      <p:sp>
        <p:nvSpPr>
          <p:cNvPr id="13" name="Rounded Rectangle 12"/>
          <p:cNvSpPr/>
          <p:nvPr/>
        </p:nvSpPr>
        <p:spPr>
          <a:xfrm>
            <a:off x="548640" y="2941320"/>
            <a:ext cx="11094720" cy="792480"/>
          </a:xfrm>
          <a:prstGeom prst="roundRect">
            <a:avLst>
              <a:gd name="adj" fmla="val 5769"/>
            </a:avLst>
          </a:prstGeom>
          <a:solidFill>
            <a:srgbClr val="FFFFFF"/>
          </a:solidFill>
          <a:ln>
            <a:noFill/>
          </a:ln>
          <a:effectLst/>
        </p:spPr>
        <p:txBody>
          <a:bodyPr rtlCol="0" anchor="ctr"/>
          <a:lstStyle/>
          <a:p>
            <a:pPr algn="ctr"/>
          </a:p>
        </p:txBody>
      </p:sp>
      <p:sp>
        <p:nvSpPr>
          <p:cNvPr id="14" name="TextBox 13"/>
          <p:cNvSpPr txBox="1"/>
          <p:nvPr/>
        </p:nvSpPr>
        <p:spPr>
          <a:xfrm>
            <a:off x="670560" y="307086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Relations</a:t>
            </a:r>
          </a:p>
        </p:txBody>
      </p:sp>
      <p:sp>
        <p:nvSpPr>
          <p:cNvPr id="15" name="TextBox 14"/>
          <p:cNvSpPr txBox="1"/>
          <p:nvPr/>
        </p:nvSpPr>
        <p:spPr>
          <a:xfrm>
            <a:off x="3185160" y="307086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schema-ordered-relations/2 · contract 2.0.0</a:t>
            </a:r>
          </a:p>
        </p:txBody>
      </p:sp>
      <p:sp>
        <p:nvSpPr>
          <p:cNvPr id="16" name="TextBox 15"/>
          <p:cNvSpPr txBox="1"/>
          <p:nvPr/>
        </p:nvSpPr>
        <p:spPr>
          <a:xfrm>
            <a:off x="7947659" y="307086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Accepted structures + replay +</a:t>
            </a:r>
          </a:p>
        </p:txBody>
      </p:sp>
      <p:sp>
        <p:nvSpPr>
          <p:cNvPr id="17" name="TextBox 16"/>
          <p:cNvSpPr txBox="1"/>
          <p:nvPr/>
        </p:nvSpPr>
        <p:spPr>
          <a:xfrm>
            <a:off x="7947659" y="330494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incidence</a:t>
            </a:r>
          </a:p>
        </p:txBody>
      </p:sp>
      <p:sp>
        <p:nvSpPr>
          <p:cNvPr id="18" name="Rounded Rectangle 17"/>
          <p:cNvSpPr/>
          <p:nvPr/>
        </p:nvSpPr>
        <p:spPr>
          <a:xfrm>
            <a:off x="548640" y="3771900"/>
            <a:ext cx="11094720" cy="792480"/>
          </a:xfrm>
          <a:prstGeom prst="roundRect">
            <a:avLst>
              <a:gd name="adj" fmla="val 5769"/>
            </a:avLst>
          </a:prstGeom>
          <a:solidFill>
            <a:srgbClr val="FFFFFF"/>
          </a:solidFill>
          <a:ln>
            <a:noFill/>
          </a:ln>
          <a:effectLst/>
        </p:spPr>
        <p:txBody>
          <a:bodyPr rtlCol="0" anchor="ctr"/>
          <a:lstStyle/>
          <a:p>
            <a:pPr algn="ctr"/>
          </a:p>
        </p:txBody>
      </p:sp>
      <p:sp>
        <p:nvSpPr>
          <p:cNvPr id="19" name="TextBox 18"/>
          <p:cNvSpPr txBox="1"/>
          <p:nvPr/>
        </p:nvSpPr>
        <p:spPr>
          <a:xfrm>
            <a:off x="670560" y="390144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Search</a:t>
            </a:r>
          </a:p>
        </p:txBody>
      </p:sp>
      <p:sp>
        <p:nvSpPr>
          <p:cNvPr id="20" name="TextBox 19"/>
          <p:cNvSpPr txBox="1"/>
          <p:nvPr/>
        </p:nvSpPr>
        <p:spPr>
          <a:xfrm>
            <a:off x="3185160" y="390144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exact-attributes/1 · contract 2.0.0</a:t>
            </a:r>
          </a:p>
        </p:txBody>
      </p:sp>
      <p:sp>
        <p:nvSpPr>
          <p:cNvPr id="21" name="TextBox 20"/>
          <p:cNvSpPr txBox="1"/>
          <p:nvPr/>
        </p:nvSpPr>
        <p:spPr>
          <a:xfrm>
            <a:off x="7947659" y="390144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Derived index + checkpoint +</a:t>
            </a:r>
          </a:p>
        </p:txBody>
      </p:sp>
      <p:sp>
        <p:nvSpPr>
          <p:cNvPr id="22" name="TextBox 21"/>
          <p:cNvSpPr txBox="1"/>
          <p:nvPr/>
        </p:nvSpPr>
        <p:spPr>
          <a:xfrm>
            <a:off x="7947659" y="413552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generation</a:t>
            </a:r>
          </a:p>
        </p:txBody>
      </p:sp>
      <p:sp>
        <p:nvSpPr>
          <p:cNvPr id="23" name="Rounded Rectangle 22"/>
          <p:cNvSpPr/>
          <p:nvPr/>
        </p:nvSpPr>
        <p:spPr>
          <a:xfrm>
            <a:off x="548640" y="4602480"/>
            <a:ext cx="11094720" cy="792480"/>
          </a:xfrm>
          <a:prstGeom prst="roundRect">
            <a:avLst>
              <a:gd name="adj" fmla="val 5769"/>
            </a:avLst>
          </a:prstGeom>
          <a:solidFill>
            <a:srgbClr val="FFFFFF"/>
          </a:solidFill>
          <a:ln>
            <a:noFill/>
          </a:ln>
          <a:effectLst/>
        </p:spPr>
        <p:txBody>
          <a:bodyPr rtlCol="0" anchor="ctr"/>
          <a:lstStyle/>
          <a:p>
            <a:pPr algn="ctr"/>
          </a:p>
        </p:txBody>
      </p:sp>
      <p:sp>
        <p:nvSpPr>
          <p:cNvPr id="24" name="TextBox 23"/>
          <p:cNvSpPr txBox="1"/>
          <p:nvPr/>
        </p:nvSpPr>
        <p:spPr>
          <a:xfrm>
            <a:off x="670560" y="4732020"/>
            <a:ext cx="2270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Native lookup caller</a:t>
            </a:r>
          </a:p>
        </p:txBody>
      </p:sp>
      <p:sp>
        <p:nvSpPr>
          <p:cNvPr id="25" name="TextBox 24"/>
          <p:cNvSpPr txBox="1"/>
          <p:nvPr/>
        </p:nvSpPr>
        <p:spPr>
          <a:xfrm>
            <a:off x="3185160" y="4732020"/>
            <a:ext cx="4518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Request + pages + full authorized result</a:t>
            </a:r>
          </a:p>
        </p:txBody>
      </p:sp>
      <p:sp>
        <p:nvSpPr>
          <p:cNvPr id="26" name="TextBox 25"/>
          <p:cNvSpPr txBox="1"/>
          <p:nvPr/>
        </p:nvSpPr>
        <p:spPr>
          <a:xfrm>
            <a:off x="7947659" y="4732020"/>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Operator request label; ordinary</a:t>
            </a:r>
          </a:p>
        </p:txBody>
      </p:sp>
      <p:sp>
        <p:nvSpPr>
          <p:cNvPr id="27" name="TextBox 26"/>
          <p:cNvSpPr txBox="1"/>
          <p:nvPr/>
        </p:nvSpPr>
        <p:spPr>
          <a:xfrm>
            <a:off x="7947659" y="4966106"/>
            <a:ext cx="35737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receipt = counts/status</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Lookup has no runtime dependency on C1/C2, attention, inference or chain; no private identifiers are exported.</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lookup_composition.py · hive/lookup · no-cognitive-effects.json</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44 / 64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M5 · CAPABILITY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Coverage has three denominators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Module representation, exercised operations and behavioral coverage answer different questions.</a:t>
            </a:r>
          </a:p>
        </p:txBody>
      </p:sp>
      <p:sp>
        <p:nvSpPr>
          <p:cNvPr id="5" name="Rounded Rectangle 4"/>
          <p:cNvSpPr/>
          <p:nvPr/>
        </p:nvSpPr>
        <p:spPr>
          <a:xfrm>
            <a:off x="548640" y="1905000"/>
            <a:ext cx="3535679" cy="3383279"/>
          </a:xfrm>
          <a:prstGeom prst="roundRect">
            <a:avLst>
              <a:gd name="adj" fmla="val 3153"/>
            </a:avLst>
          </a:prstGeom>
          <a:solidFill>
            <a:srgbClr val="FFFFFF"/>
          </a:solidFill>
          <a:ln w="7620">
            <a:solidFill>
              <a:srgbClr val="007C78"/>
            </a:solidFill>
          </a:ln>
          <a:effectLst/>
        </p:spPr>
        <p:txBody>
          <a:bodyPr rtlCol="0" anchor="ctr"/>
          <a:lstStyle/>
          <a:p>
            <a:pPr algn="ctr"/>
          </a:p>
        </p:txBody>
      </p:sp>
      <p:sp>
        <p:nvSpPr>
          <p:cNvPr id="6" name="TextBox 5"/>
          <p:cNvSpPr txBox="1"/>
          <p:nvPr/>
        </p:nvSpPr>
        <p:spPr>
          <a:xfrm>
            <a:off x="731519" y="2095500"/>
            <a:ext cx="3169920" cy="633984"/>
          </a:xfrm>
          <a:prstGeom prst="rect">
            <a:avLst/>
          </a:prstGeom>
          <a:noFill/>
        </p:spPr>
        <p:txBody>
          <a:bodyPr wrap="none" lIns="0" rIns="0" tIns="0" bIns="0" anchor="t" anchorCtr="0">
            <a:noAutofit/>
          </a:bodyPr>
          <a:lstStyle/>
          <a:p>
            <a:pPr algn="l">
              <a:lnSpc>
                <a:spcPct val="100000"/>
              </a:lnSpc>
              <a:spcBef>
                <a:spcPts val="0"/>
              </a:spcBef>
              <a:spcAft>
                <a:spcPts val="0"/>
              </a:spcAft>
            </a:pPr>
            <a:r>
              <a:rPr sz="3900" b="1">
                <a:solidFill>
                  <a:srgbClr val="007C78"/>
                </a:solidFill>
                <a:latin typeface="DejaVu Sans"/>
              </a:rPr>
              <a:t>15 / 15</a:t>
            </a:r>
          </a:p>
        </p:txBody>
      </p:sp>
      <p:sp>
        <p:nvSpPr>
          <p:cNvPr id="7" name="TextBox 6"/>
          <p:cNvSpPr txBox="1"/>
          <p:nvPr/>
        </p:nvSpPr>
        <p:spPr>
          <a:xfrm>
            <a:off x="731519" y="2880360"/>
            <a:ext cx="31699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Module families</a:t>
            </a:r>
          </a:p>
        </p:txBody>
      </p:sp>
      <p:sp>
        <p:nvSpPr>
          <p:cNvPr id="8" name="TextBox 7"/>
          <p:cNvSpPr txBox="1"/>
          <p:nvPr/>
        </p:nvSpPr>
        <p:spPr>
          <a:xfrm>
            <a:off x="731519" y="3390900"/>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Up from 13. All bounded</a:t>
            </a:r>
          </a:p>
        </p:txBody>
      </p:sp>
      <p:sp>
        <p:nvSpPr>
          <p:cNvPr id="9" name="TextBox 8"/>
          <p:cNvSpPr txBox="1"/>
          <p:nvPr/>
        </p:nvSpPr>
        <p:spPr>
          <a:xfrm>
            <a:off x="731519" y="3673754"/>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reference families now have</a:t>
            </a:r>
          </a:p>
        </p:txBody>
      </p:sp>
      <p:sp>
        <p:nvSpPr>
          <p:cNvPr id="10" name="TextBox 9"/>
          <p:cNvSpPr txBox="1"/>
          <p:nvPr/>
        </p:nvSpPr>
        <p:spPr>
          <a:xfrm>
            <a:off x="731519" y="3956608"/>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 represented</a:t>
            </a:r>
          </a:p>
        </p:txBody>
      </p:sp>
      <p:sp>
        <p:nvSpPr>
          <p:cNvPr id="11" name="TextBox 10"/>
          <p:cNvSpPr txBox="1"/>
          <p:nvPr/>
        </p:nvSpPr>
        <p:spPr>
          <a:xfrm>
            <a:off x="731519" y="4239463"/>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implementation.</a:t>
            </a:r>
          </a:p>
        </p:txBody>
      </p:sp>
      <p:sp>
        <p:nvSpPr>
          <p:cNvPr id="12" name="Rounded Rectangle 11"/>
          <p:cNvSpPr/>
          <p:nvPr/>
        </p:nvSpPr>
        <p:spPr>
          <a:xfrm>
            <a:off x="4328160" y="1905000"/>
            <a:ext cx="3535679" cy="3383279"/>
          </a:xfrm>
          <a:prstGeom prst="roundRect">
            <a:avLst>
              <a:gd name="adj" fmla="val 3153"/>
            </a:avLst>
          </a:prstGeom>
          <a:solidFill>
            <a:srgbClr val="FFFFFF"/>
          </a:solidFill>
          <a:ln w="7620">
            <a:solidFill>
              <a:srgbClr val="007C78"/>
            </a:solidFill>
          </a:ln>
          <a:effectLst/>
        </p:spPr>
        <p:txBody>
          <a:bodyPr rtlCol="0" anchor="ctr"/>
          <a:lstStyle/>
          <a:p>
            <a:pPr algn="ctr"/>
          </a:p>
        </p:txBody>
      </p:sp>
      <p:sp>
        <p:nvSpPr>
          <p:cNvPr id="13" name="TextBox 12"/>
          <p:cNvSpPr txBox="1"/>
          <p:nvPr/>
        </p:nvSpPr>
        <p:spPr>
          <a:xfrm>
            <a:off x="4511040" y="2095500"/>
            <a:ext cx="3169920" cy="633984"/>
          </a:xfrm>
          <a:prstGeom prst="rect">
            <a:avLst/>
          </a:prstGeom>
          <a:noFill/>
        </p:spPr>
        <p:txBody>
          <a:bodyPr wrap="none" lIns="0" rIns="0" tIns="0" bIns="0" anchor="t" anchorCtr="0">
            <a:noAutofit/>
          </a:bodyPr>
          <a:lstStyle/>
          <a:p>
            <a:pPr algn="l">
              <a:lnSpc>
                <a:spcPct val="100000"/>
              </a:lnSpc>
              <a:spcBef>
                <a:spcPts val="0"/>
              </a:spcBef>
              <a:spcAft>
                <a:spcPts val="0"/>
              </a:spcAft>
            </a:pPr>
            <a:r>
              <a:rPr sz="3900" b="1">
                <a:solidFill>
                  <a:srgbClr val="007C78"/>
                </a:solidFill>
                <a:latin typeface="DejaVu Sans"/>
              </a:rPr>
              <a:t>9 / 9</a:t>
            </a:r>
          </a:p>
        </p:txBody>
      </p:sp>
      <p:sp>
        <p:nvSpPr>
          <p:cNvPr id="14" name="TextBox 13"/>
          <p:cNvSpPr txBox="1"/>
          <p:nvPr/>
        </p:nvSpPr>
        <p:spPr>
          <a:xfrm>
            <a:off x="4511040" y="2880360"/>
            <a:ext cx="31699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New operations</a:t>
            </a:r>
          </a:p>
        </p:txBody>
      </p:sp>
      <p:sp>
        <p:nvSpPr>
          <p:cNvPr id="15" name="TextBox 14"/>
          <p:cNvSpPr txBox="1"/>
          <p:nvPr/>
        </p:nvSpPr>
        <p:spPr>
          <a:xfrm>
            <a:off x="4511040" y="3390900"/>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4 Relations + query + 2</a:t>
            </a:r>
          </a:p>
        </p:txBody>
      </p:sp>
      <p:sp>
        <p:nvSpPr>
          <p:cNvPr id="16" name="TextBox 15"/>
          <p:cNvSpPr txBox="1"/>
          <p:nvPr/>
        </p:nvSpPr>
        <p:spPr>
          <a:xfrm>
            <a:off x="4511040" y="3673754"/>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feed + 2 maintenance. With</a:t>
            </a:r>
          </a:p>
        </p:txBody>
      </p:sp>
      <p:sp>
        <p:nvSpPr>
          <p:cNvPr id="17" name="TextBox 16"/>
          <p:cNvSpPr txBox="1"/>
          <p:nvPr/>
        </p:nvSpPr>
        <p:spPr>
          <a:xfrm>
            <a:off x="4511040" y="3956608"/>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inherited storage: 13 / 13 in</a:t>
            </a:r>
          </a:p>
        </p:txBody>
      </p:sp>
      <p:sp>
        <p:nvSpPr>
          <p:cNvPr id="18" name="TextBox 17"/>
          <p:cNvSpPr txBox="1"/>
          <p:nvPr/>
        </p:nvSpPr>
        <p:spPr>
          <a:xfrm>
            <a:off x="4511040" y="4239463"/>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this slice.</a:t>
            </a:r>
          </a:p>
        </p:txBody>
      </p:sp>
      <p:sp>
        <p:nvSpPr>
          <p:cNvPr id="19" name="Rounded Rectangle 18"/>
          <p:cNvSpPr/>
          <p:nvPr/>
        </p:nvSpPr>
        <p:spPr>
          <a:xfrm>
            <a:off x="8107680" y="1905000"/>
            <a:ext cx="3535679" cy="3383279"/>
          </a:xfrm>
          <a:prstGeom prst="roundRect">
            <a:avLst>
              <a:gd name="adj" fmla="val 3153"/>
            </a:avLst>
          </a:prstGeom>
          <a:solidFill>
            <a:srgbClr val="FFFFFF"/>
          </a:solidFill>
          <a:ln w="7620">
            <a:solidFill>
              <a:srgbClr val="007C78"/>
            </a:solidFill>
          </a:ln>
          <a:effectLst/>
        </p:spPr>
        <p:txBody>
          <a:bodyPr rtlCol="0" anchor="ctr"/>
          <a:lstStyle/>
          <a:p>
            <a:pPr algn="ctr"/>
          </a:p>
        </p:txBody>
      </p:sp>
      <p:sp>
        <p:nvSpPr>
          <p:cNvPr id="20" name="TextBox 19"/>
          <p:cNvSpPr txBox="1"/>
          <p:nvPr/>
        </p:nvSpPr>
        <p:spPr>
          <a:xfrm>
            <a:off x="8290559" y="2095500"/>
            <a:ext cx="3169920" cy="633984"/>
          </a:xfrm>
          <a:prstGeom prst="rect">
            <a:avLst/>
          </a:prstGeom>
          <a:noFill/>
        </p:spPr>
        <p:txBody>
          <a:bodyPr wrap="none" lIns="0" rIns="0" tIns="0" bIns="0" anchor="t" anchorCtr="0">
            <a:noAutofit/>
          </a:bodyPr>
          <a:lstStyle/>
          <a:p>
            <a:pPr algn="l">
              <a:lnSpc>
                <a:spcPct val="100000"/>
              </a:lnSpc>
              <a:spcBef>
                <a:spcPts val="0"/>
              </a:spcBef>
              <a:spcAft>
                <a:spcPts val="0"/>
              </a:spcAft>
            </a:pPr>
            <a:r>
              <a:rPr sz="3900" b="1">
                <a:solidFill>
                  <a:srgbClr val="007C78"/>
                </a:solidFill>
                <a:latin typeface="DejaVu Sans"/>
              </a:rPr>
              <a:t>18 / 18</a:t>
            </a:r>
          </a:p>
        </p:txBody>
      </p:sp>
      <p:sp>
        <p:nvSpPr>
          <p:cNvPr id="21" name="TextBox 20"/>
          <p:cNvSpPr txBox="1"/>
          <p:nvPr/>
        </p:nvSpPr>
        <p:spPr>
          <a:xfrm>
            <a:off x="8290559" y="2880360"/>
            <a:ext cx="316992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102B3F"/>
                </a:solidFill>
                <a:latin typeface="DejaVu Sans"/>
              </a:rPr>
              <a:t>Behavioral groups</a:t>
            </a:r>
          </a:p>
        </p:txBody>
      </p:sp>
      <p:sp>
        <p:nvSpPr>
          <p:cNvPr id="22" name="TextBox 21"/>
          <p:cNvSpPr txBox="1"/>
          <p:nvPr/>
        </p:nvSpPr>
        <p:spPr>
          <a:xfrm>
            <a:off x="8290559" y="3390900"/>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12 required scenario groups</a:t>
            </a:r>
          </a:p>
        </p:txBody>
      </p:sp>
      <p:sp>
        <p:nvSpPr>
          <p:cNvPr id="23" name="TextBox 22"/>
          <p:cNvSpPr txBox="1"/>
          <p:nvPr/>
        </p:nvSpPr>
        <p:spPr>
          <a:xfrm>
            <a:off x="8290559" y="3673754"/>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+ 6 crash-boundary groups.</a:t>
            </a:r>
          </a:p>
        </p:txBody>
      </p:sp>
      <p:sp>
        <p:nvSpPr>
          <p:cNvPr id="24" name="TextBox 23"/>
          <p:cNvSpPr txBox="1"/>
          <p:nvPr/>
        </p:nvSpPr>
        <p:spPr>
          <a:xfrm>
            <a:off x="8290559" y="3956608"/>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Separate from test-method</a:t>
            </a:r>
          </a:p>
        </p:txBody>
      </p:sp>
      <p:sp>
        <p:nvSpPr>
          <p:cNvPr id="25" name="TextBox 24"/>
          <p:cNvSpPr txBox="1"/>
          <p:nvPr/>
        </p:nvSpPr>
        <p:spPr>
          <a:xfrm>
            <a:off x="8290559" y="4239463"/>
            <a:ext cx="316992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counts.</a:t>
            </a:r>
          </a:p>
        </p:txBody>
      </p:sp>
      <p:sp>
        <p:nvSpPr>
          <p:cNvPr id="26" name="Rounded Rectangle 25"/>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7" name="TextBox 26"/>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This is bounded reference coverage, not full Omega completeness. Line/branch coverage: NOT_MEASURED.</a:t>
            </a:r>
          </a:p>
        </p:txBody>
      </p:sp>
      <p:cxnSp>
        <p:nvCxnSpPr>
          <p:cNvPr id="28" name="Connector 27"/>
          <p:cNvCxnSpPr/>
          <p:nvPr/>
        </p:nvCxnSpPr>
        <p:spPr>
          <a:xfrm>
            <a:off x="548640" y="6393180"/>
            <a:ext cx="11094720" cy="0"/>
          </a:xfrm>
          <a:prstGeom prst="line">
            <a:avLst/>
          </a:prstGeom>
          <a:ln w="7620">
            <a:solidFill>
              <a:srgbClr val="C9D2D4"/>
            </a:solidFill>
          </a:ln>
          <a:effectLst/>
        </p:spPr>
      </p:cxnSp>
      <p:sp>
        <p:nvSpPr>
          <p:cNvPr id="29" name="TextBox 28"/>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m5-capability-ledger.json · evidence/m5/manifest.json</a:t>
            </a:r>
          </a:p>
        </p:txBody>
      </p:sp>
      <p:sp>
        <p:nvSpPr>
          <p:cNvPr id="30" name="TextBox 29"/>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45 / 64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EVIDENCE CLASSIFICATION</a:t>
            </a:r>
          </a:p>
        </p:txBody>
      </p:sp>
      <p:sp>
        <p:nvSpPr>
          <p:cNvPr id="3" name="TextBox 2"/>
          <p:cNvSpPr txBox="1"/>
          <p:nvPr/>
        </p:nvSpPr>
        <p:spPr>
          <a:xfrm>
            <a:off x="533400" y="723900"/>
            <a:ext cx="11125200" cy="468172"/>
          </a:xfrm>
          <a:prstGeom prst="rect">
            <a:avLst/>
          </a:prstGeom>
          <a:noFill/>
        </p:spPr>
        <p:txBody>
          <a:bodyPr wrap="none" lIns="0" rIns="0" tIns="0" bIns="0" anchor="t" anchorCtr="0">
            <a:noAutofit/>
          </a:bodyPr>
          <a:lstStyle/>
          <a:p>
            <a:pPr algn="l">
              <a:lnSpc>
                <a:spcPct val="100000"/>
              </a:lnSpc>
              <a:spcBef>
                <a:spcPts val="0"/>
              </a:spcBef>
              <a:spcAft>
                <a:spcPts val="0"/>
              </a:spcAft>
            </a:pPr>
            <a:r>
              <a:rPr sz="2879" b="1">
                <a:solidFill>
                  <a:srgbClr val="102B3F"/>
                </a:solidFill>
                <a:latin typeface="DejaVu Sans"/>
              </a:rPr>
              <a:t>Real providers, fixtures and unrun work stay distinct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required M5 gates pass; each claim retains its actual provider and source label.</a:t>
            </a:r>
          </a:p>
        </p:txBody>
      </p:sp>
      <p:sp>
        <p:nvSpPr>
          <p:cNvPr id="5" name="TextBox 4"/>
          <p:cNvSpPr txBox="1"/>
          <p:nvPr/>
        </p:nvSpPr>
        <p:spPr>
          <a:xfrm>
            <a:off x="670560" y="1790700"/>
            <a:ext cx="2232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CLASSIFICATION</a:t>
            </a:r>
          </a:p>
        </p:txBody>
      </p:sp>
      <p:sp>
        <p:nvSpPr>
          <p:cNvPr id="6" name="TextBox 5"/>
          <p:cNvSpPr txBox="1"/>
          <p:nvPr/>
        </p:nvSpPr>
        <p:spPr>
          <a:xfrm>
            <a:off x="3147060" y="1790700"/>
            <a:ext cx="4861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M5 EVIDENCE</a:t>
            </a:r>
          </a:p>
        </p:txBody>
      </p:sp>
      <p:sp>
        <p:nvSpPr>
          <p:cNvPr id="7" name="TextBox 6"/>
          <p:cNvSpPr txBox="1"/>
          <p:nvPr/>
        </p:nvSpPr>
        <p:spPr>
          <a:xfrm>
            <a:off x="8252459" y="1790700"/>
            <a:ext cx="32689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8" name="Rounded Rectangle 7"/>
          <p:cNvSpPr/>
          <p:nvPr/>
        </p:nvSpPr>
        <p:spPr>
          <a:xfrm>
            <a:off x="548640" y="2110740"/>
            <a:ext cx="11094720" cy="815340"/>
          </a:xfrm>
          <a:prstGeom prst="roundRect">
            <a:avLst>
              <a:gd name="adj" fmla="val 5607"/>
            </a:avLst>
          </a:prstGeom>
          <a:solidFill>
            <a:srgbClr val="FFFFFF"/>
          </a:solidFill>
          <a:ln>
            <a:noFill/>
          </a:ln>
          <a:effectLst/>
        </p:spPr>
        <p:txBody>
          <a:bodyPr rtlCol="0" anchor="ctr"/>
          <a:lstStyle/>
          <a:p>
            <a:pPr algn="ctr"/>
          </a:p>
        </p:txBody>
      </p:sp>
      <p:sp>
        <p:nvSpPr>
          <p:cNvPr id="9" name="TextBox 8"/>
          <p:cNvSpPr txBox="1"/>
          <p:nvPr/>
        </p:nvSpPr>
        <p:spPr>
          <a:xfrm>
            <a:off x="670560" y="2240280"/>
            <a:ext cx="2232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 PROVIDERS</a:t>
            </a:r>
          </a:p>
        </p:txBody>
      </p:sp>
      <p:sp>
        <p:nvSpPr>
          <p:cNvPr id="10" name="TextBox 9"/>
          <p:cNvSpPr txBox="1"/>
          <p:nvPr/>
        </p:nvSpPr>
        <p:spPr>
          <a:xfrm>
            <a:off x="3147060" y="2240280"/>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Authenticated native Hive / PeTTa · DeTTa</a:t>
            </a:r>
          </a:p>
        </p:txBody>
      </p:sp>
      <p:sp>
        <p:nvSpPr>
          <p:cNvPr id="11" name="TextBox 10"/>
          <p:cNvSpPr txBox="1"/>
          <p:nvPr/>
        </p:nvSpPr>
        <p:spPr>
          <a:xfrm>
            <a:off x="3147060" y="2474366"/>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SQLite AtomStorage, Relations and Search</a:t>
            </a:r>
          </a:p>
        </p:txBody>
      </p:sp>
      <p:sp>
        <p:nvSpPr>
          <p:cNvPr id="12" name="TextBox 11"/>
          <p:cNvSpPr txBox="1"/>
          <p:nvPr/>
        </p:nvSpPr>
        <p:spPr>
          <a:xfrm>
            <a:off x="8252459" y="2240280"/>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dispatch, persistence,</a:t>
            </a:r>
          </a:p>
        </p:txBody>
      </p:sp>
      <p:sp>
        <p:nvSpPr>
          <p:cNvPr id="13" name="TextBox 12"/>
          <p:cNvSpPr txBox="1"/>
          <p:nvPr/>
        </p:nvSpPr>
        <p:spPr>
          <a:xfrm>
            <a:off x="8252459" y="2474366"/>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discovery and restart</a:t>
            </a:r>
          </a:p>
        </p:txBody>
      </p:sp>
      <p:sp>
        <p:nvSpPr>
          <p:cNvPr id="14" name="Rounded Rectangle 13"/>
          <p:cNvSpPr/>
          <p:nvPr/>
        </p:nvSpPr>
        <p:spPr>
          <a:xfrm>
            <a:off x="548640" y="2964179"/>
            <a:ext cx="11094720" cy="815340"/>
          </a:xfrm>
          <a:prstGeom prst="roundRect">
            <a:avLst>
              <a:gd name="adj" fmla="val 5607"/>
            </a:avLst>
          </a:prstGeom>
          <a:solidFill>
            <a:srgbClr val="FFFFFF"/>
          </a:solidFill>
          <a:ln>
            <a:noFill/>
          </a:ln>
          <a:effectLst/>
        </p:spPr>
        <p:txBody>
          <a:bodyPr rtlCol="0" anchor="ctr"/>
          <a:lstStyle/>
          <a:p>
            <a:pPr algn="ctr"/>
          </a:p>
        </p:txBody>
      </p:sp>
      <p:sp>
        <p:nvSpPr>
          <p:cNvPr id="15" name="TextBox 14"/>
          <p:cNvSpPr txBox="1"/>
          <p:nvPr/>
        </p:nvSpPr>
        <p:spPr>
          <a:xfrm>
            <a:off x="670560" y="3093720"/>
            <a:ext cx="2232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FIXTURES</a:t>
            </a:r>
          </a:p>
        </p:txBody>
      </p:sp>
      <p:sp>
        <p:nvSpPr>
          <p:cNvPr id="16" name="TextBox 15"/>
          <p:cNvSpPr txBox="1"/>
          <p:nvPr/>
        </p:nvSpPr>
        <p:spPr>
          <a:xfrm>
            <a:off x="3147060" y="3093720"/>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Generated corpus / oracle / local policy</a:t>
            </a:r>
          </a:p>
        </p:txBody>
      </p:sp>
      <p:sp>
        <p:nvSpPr>
          <p:cNvPr id="17" name="TextBox 16"/>
          <p:cNvSpPr txBox="1"/>
          <p:nvPr/>
        </p:nvSpPr>
        <p:spPr>
          <a:xfrm>
            <a:off x="3147060" y="3327806"/>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Independent atomic-file providers; injected faults</a:t>
            </a:r>
          </a:p>
        </p:txBody>
      </p:sp>
      <p:sp>
        <p:nvSpPr>
          <p:cNvPr id="18" name="TextBox 17"/>
          <p:cNvSpPr txBox="1"/>
          <p:nvPr/>
        </p:nvSpPr>
        <p:spPr>
          <a:xfrm>
            <a:off x="8252459" y="3093720"/>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Controlled inputs and substitutions;</a:t>
            </a:r>
          </a:p>
        </p:txBody>
      </p:sp>
      <p:sp>
        <p:nvSpPr>
          <p:cNvPr id="19" name="TextBox 18"/>
          <p:cNvSpPr txBox="1"/>
          <p:nvPr/>
        </p:nvSpPr>
        <p:spPr>
          <a:xfrm>
            <a:off x="8252459" y="3327806"/>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production data or services</a:t>
            </a:r>
          </a:p>
        </p:txBody>
      </p:sp>
      <p:sp>
        <p:nvSpPr>
          <p:cNvPr id="20" name="Rounded Rectangle 19"/>
          <p:cNvSpPr/>
          <p:nvPr/>
        </p:nvSpPr>
        <p:spPr>
          <a:xfrm>
            <a:off x="548640" y="3817619"/>
            <a:ext cx="11094720" cy="815340"/>
          </a:xfrm>
          <a:prstGeom prst="roundRect">
            <a:avLst>
              <a:gd name="adj" fmla="val 5607"/>
            </a:avLst>
          </a:prstGeom>
          <a:solidFill>
            <a:srgbClr val="FFFFFF"/>
          </a:solidFill>
          <a:ln>
            <a:noFill/>
          </a:ln>
          <a:effectLst/>
        </p:spPr>
        <p:txBody>
          <a:bodyPr rtlCol="0" anchor="ctr"/>
          <a:lstStyle/>
          <a:p>
            <a:pPr algn="ctr"/>
          </a:p>
        </p:txBody>
      </p:sp>
      <p:sp>
        <p:nvSpPr>
          <p:cNvPr id="21" name="TextBox 20"/>
          <p:cNvSpPr txBox="1"/>
          <p:nvPr/>
        </p:nvSpPr>
        <p:spPr>
          <a:xfrm>
            <a:off x="670560" y="3947160"/>
            <a:ext cx="2232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BLOCKED</a:t>
            </a:r>
          </a:p>
        </p:txBody>
      </p:sp>
      <p:sp>
        <p:nvSpPr>
          <p:cNvPr id="22" name="TextBox 21"/>
          <p:cNvSpPr txBox="1"/>
          <p:nvPr/>
        </p:nvSpPr>
        <p:spPr>
          <a:xfrm>
            <a:off x="3147060" y="3947160"/>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required M5 prerequisite</a:t>
            </a:r>
          </a:p>
        </p:txBody>
      </p:sp>
      <p:sp>
        <p:nvSpPr>
          <p:cNvPr id="23" name="TextBox 22"/>
          <p:cNvSpPr txBox="1"/>
          <p:nvPr/>
        </p:nvSpPr>
        <p:spPr>
          <a:xfrm>
            <a:off x="3147060" y="4181246"/>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Historical dirty M1 chain source unavailable</a:t>
            </a:r>
          </a:p>
        </p:txBody>
      </p:sp>
      <p:sp>
        <p:nvSpPr>
          <p:cNvPr id="24" name="TextBox 23"/>
          <p:cNvSpPr txBox="1"/>
          <p:nvPr/>
        </p:nvSpPr>
        <p:spPr>
          <a:xfrm>
            <a:off x="8252459" y="3947160"/>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Historical blocker remains separate</a:t>
            </a:r>
          </a:p>
        </p:txBody>
      </p:sp>
      <p:sp>
        <p:nvSpPr>
          <p:cNvPr id="25" name="TextBox 24"/>
          <p:cNvSpPr txBox="1"/>
          <p:nvPr/>
        </p:nvSpPr>
        <p:spPr>
          <a:xfrm>
            <a:off x="8252459" y="4181246"/>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from the clean M4 rebaseline</a:t>
            </a:r>
          </a:p>
        </p:txBody>
      </p:sp>
      <p:sp>
        <p:nvSpPr>
          <p:cNvPr id="26" name="Rounded Rectangle 25"/>
          <p:cNvSpPr/>
          <p:nvPr/>
        </p:nvSpPr>
        <p:spPr>
          <a:xfrm>
            <a:off x="548640" y="4671060"/>
            <a:ext cx="11094720" cy="815340"/>
          </a:xfrm>
          <a:prstGeom prst="roundRect">
            <a:avLst>
              <a:gd name="adj" fmla="val 5607"/>
            </a:avLst>
          </a:prstGeom>
          <a:solidFill>
            <a:srgbClr val="FFFFFF"/>
          </a:solidFill>
          <a:ln>
            <a:noFill/>
          </a:ln>
          <a:effectLst/>
        </p:spPr>
        <p:txBody>
          <a:bodyPr rtlCol="0" anchor="ctr"/>
          <a:lstStyle/>
          <a:p>
            <a:pPr algn="ctr"/>
          </a:p>
        </p:txBody>
      </p:sp>
      <p:sp>
        <p:nvSpPr>
          <p:cNvPr id="27" name="TextBox 26"/>
          <p:cNvSpPr txBox="1"/>
          <p:nvPr/>
        </p:nvSpPr>
        <p:spPr>
          <a:xfrm>
            <a:off x="670560" y="4800600"/>
            <a:ext cx="2232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UNRUN / OUT OF</a:t>
            </a:r>
          </a:p>
        </p:txBody>
      </p:sp>
      <p:sp>
        <p:nvSpPr>
          <p:cNvPr id="28" name="TextBox 27"/>
          <p:cNvSpPr txBox="1"/>
          <p:nvPr/>
        </p:nvSpPr>
        <p:spPr>
          <a:xfrm>
            <a:off x="670560" y="5034686"/>
            <a:ext cx="2232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SCOPE</a:t>
            </a:r>
          </a:p>
        </p:txBody>
      </p:sp>
      <p:sp>
        <p:nvSpPr>
          <p:cNvPr id="29" name="TextBox 28"/>
          <p:cNvSpPr txBox="1"/>
          <p:nvPr/>
        </p:nvSpPr>
        <p:spPr>
          <a:xfrm>
            <a:off x="3147060" y="4800600"/>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Power loss, distributed failover, empty caches</a:t>
            </a:r>
          </a:p>
        </p:txBody>
      </p:sp>
      <p:sp>
        <p:nvSpPr>
          <p:cNvPr id="30" name="TextBox 29"/>
          <p:cNvSpPr txBox="1"/>
          <p:nvPr/>
        </p:nvSpPr>
        <p:spPr>
          <a:xfrm>
            <a:off x="3147060" y="5034686"/>
            <a:ext cx="48615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Live migration, public networks, new chain work</a:t>
            </a:r>
          </a:p>
        </p:txBody>
      </p:sp>
      <p:sp>
        <p:nvSpPr>
          <p:cNvPr id="31" name="TextBox 30"/>
          <p:cNvSpPr txBox="1"/>
          <p:nvPr/>
        </p:nvSpPr>
        <p:spPr>
          <a:xfrm>
            <a:off x="8252459" y="4800600"/>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 claims for these scenarios;</a:t>
            </a:r>
          </a:p>
        </p:txBody>
      </p:sp>
      <p:sp>
        <p:nvSpPr>
          <p:cNvPr id="32" name="TextBox 31"/>
          <p:cNvSpPr txBox="1"/>
          <p:nvPr/>
        </p:nvSpPr>
        <p:spPr>
          <a:xfrm>
            <a:off x="8252459" y="5034686"/>
            <a:ext cx="32689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code coverage not measured</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The six real M4 chain cases passed again as legacy regression; M5 adds no chain operation.</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evidence/m5/manifest.json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46 / 64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M5 FINAL VERIFICATION</a:t>
            </a:r>
          </a:p>
        </p:txBody>
      </p:sp>
      <p:sp>
        <p:nvSpPr>
          <p:cNvPr id="3" name="TextBox 2"/>
          <p:cNvSpPr txBox="1"/>
          <p:nvPr/>
        </p:nvSpPr>
        <p:spPr>
          <a:xfrm>
            <a:off x="533400" y="723900"/>
            <a:ext cx="11125200" cy="429158"/>
          </a:xfrm>
          <a:prstGeom prst="rect">
            <a:avLst/>
          </a:prstGeom>
          <a:noFill/>
        </p:spPr>
        <p:txBody>
          <a:bodyPr wrap="none" lIns="0" rIns="0" tIns="0" bIns="0" anchor="t" anchorCtr="0">
            <a:noAutofit/>
          </a:bodyPr>
          <a:lstStyle/>
          <a:p>
            <a:pPr algn="l">
              <a:lnSpc>
                <a:spcPct val="100000"/>
              </a:lnSpc>
              <a:spcBef>
                <a:spcPts val="0"/>
              </a:spcBef>
              <a:spcAft>
                <a:spcPts val="0"/>
              </a:spcAft>
            </a:pPr>
            <a:r>
              <a:rPr sz="2640" b="1">
                <a:solidFill>
                  <a:srgbClr val="102B3F"/>
                </a:solidFill>
                <a:latin typeface="DejaVu Sans"/>
              </a:rPr>
              <a:t>Executed tests cover discovery, recovery and regressions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Repeated subsets overlap. These counts must not be added into a unique test total.</a:t>
            </a:r>
          </a:p>
        </p:txBody>
      </p:sp>
      <p:sp>
        <p:nvSpPr>
          <p:cNvPr id="5" name="TextBox 4"/>
          <p:cNvSpPr txBox="1"/>
          <p:nvPr/>
        </p:nvSpPr>
        <p:spPr>
          <a:xfrm>
            <a:off x="670560" y="1790700"/>
            <a:ext cx="3642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LAYER</a:t>
            </a:r>
          </a:p>
        </p:txBody>
      </p:sp>
      <p:sp>
        <p:nvSpPr>
          <p:cNvPr id="6" name="TextBox 5"/>
          <p:cNvSpPr txBox="1"/>
          <p:nvPr/>
        </p:nvSpPr>
        <p:spPr>
          <a:xfrm>
            <a:off x="4556760" y="1790700"/>
            <a:ext cx="19659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CASES / GROUPS</a:t>
            </a:r>
          </a:p>
        </p:txBody>
      </p:sp>
      <p:sp>
        <p:nvSpPr>
          <p:cNvPr id="7" name="TextBox 6"/>
          <p:cNvSpPr txBox="1"/>
          <p:nvPr/>
        </p:nvSpPr>
        <p:spPr>
          <a:xfrm>
            <a:off x="6766559" y="1790700"/>
            <a:ext cx="47548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OUTCOME</a:t>
            </a:r>
          </a:p>
        </p:txBody>
      </p:sp>
      <p:sp>
        <p:nvSpPr>
          <p:cNvPr id="8" name="Rounded Rectangle 7"/>
          <p:cNvSpPr/>
          <p:nvPr/>
        </p:nvSpPr>
        <p:spPr>
          <a:xfrm>
            <a:off x="548640" y="2110740"/>
            <a:ext cx="11094720" cy="563880"/>
          </a:xfrm>
          <a:prstGeom prst="roundRect">
            <a:avLst>
              <a:gd name="adj" fmla="val 8108"/>
            </a:avLst>
          </a:prstGeom>
          <a:solidFill>
            <a:srgbClr val="FFFFFF"/>
          </a:solidFill>
          <a:ln>
            <a:noFill/>
          </a:ln>
          <a:effectLst/>
        </p:spPr>
        <p:txBody>
          <a:bodyPr rtlCol="0" anchor="ctr"/>
          <a:lstStyle/>
          <a:p>
            <a:pPr algn="ctr"/>
          </a:p>
        </p:txBody>
      </p:sp>
      <p:sp>
        <p:nvSpPr>
          <p:cNvPr id="9" name="TextBox 8"/>
          <p:cNvSpPr txBox="1"/>
          <p:nvPr/>
        </p:nvSpPr>
        <p:spPr>
          <a:xfrm>
            <a:off x="670560" y="2240280"/>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New contract / fixture methods</a:t>
            </a:r>
          </a:p>
        </p:txBody>
      </p:sp>
      <p:sp>
        <p:nvSpPr>
          <p:cNvPr id="10" name="TextBox 9"/>
          <p:cNvSpPr txBox="1"/>
          <p:nvPr/>
        </p:nvSpPr>
        <p:spPr>
          <a:xfrm>
            <a:off x="4556760" y="2240280"/>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18</a:t>
            </a:r>
          </a:p>
        </p:txBody>
      </p:sp>
      <p:sp>
        <p:nvSpPr>
          <p:cNvPr id="11" name="TextBox 10"/>
          <p:cNvSpPr txBox="1"/>
          <p:nvPr/>
        </p:nvSpPr>
        <p:spPr>
          <a:xfrm>
            <a:off x="6766559" y="2240280"/>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 · pagination, freshness, auth, independent</a:t>
            </a:r>
          </a:p>
        </p:txBody>
      </p:sp>
      <p:sp>
        <p:nvSpPr>
          <p:cNvPr id="12" name="TextBox 11"/>
          <p:cNvSpPr txBox="1"/>
          <p:nvPr/>
        </p:nvSpPr>
        <p:spPr>
          <a:xfrm>
            <a:off x="6766559" y="2464612"/>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providers</a:t>
            </a:r>
          </a:p>
        </p:txBody>
      </p:sp>
      <p:sp>
        <p:nvSpPr>
          <p:cNvPr id="13" name="Rounded Rectangle 12"/>
          <p:cNvSpPr/>
          <p:nvPr/>
        </p:nvSpPr>
        <p:spPr>
          <a:xfrm>
            <a:off x="548640" y="2712720"/>
            <a:ext cx="11094720" cy="563880"/>
          </a:xfrm>
          <a:prstGeom prst="roundRect">
            <a:avLst>
              <a:gd name="adj" fmla="val 8108"/>
            </a:avLst>
          </a:prstGeom>
          <a:solidFill>
            <a:srgbClr val="FFFFFF"/>
          </a:solidFill>
          <a:ln>
            <a:noFill/>
          </a:ln>
          <a:effectLst/>
        </p:spPr>
        <p:txBody>
          <a:bodyPr rtlCol="0" anchor="ctr"/>
          <a:lstStyle/>
          <a:p>
            <a:pPr algn="ctr"/>
          </a:p>
        </p:txBody>
      </p:sp>
      <p:sp>
        <p:nvSpPr>
          <p:cNvPr id="14" name="TextBox 13"/>
          <p:cNvSpPr txBox="1"/>
          <p:nvPr/>
        </p:nvSpPr>
        <p:spPr>
          <a:xfrm>
            <a:off x="670560" y="2842260"/>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Real DeTTa + owners</a:t>
            </a:r>
          </a:p>
        </p:txBody>
      </p:sp>
      <p:sp>
        <p:nvSpPr>
          <p:cNvPr id="15" name="TextBox 14"/>
          <p:cNvSpPr txBox="1"/>
          <p:nvPr/>
        </p:nvSpPr>
        <p:spPr>
          <a:xfrm>
            <a:off x="4556760" y="2842260"/>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4 methods</a:t>
            </a:r>
          </a:p>
        </p:txBody>
      </p:sp>
      <p:sp>
        <p:nvSpPr>
          <p:cNvPr id="16" name="TextBox 15"/>
          <p:cNvSpPr txBox="1"/>
          <p:nvPr/>
        </p:nvSpPr>
        <p:spPr>
          <a:xfrm>
            <a:off x="6766559" y="2842260"/>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 · includes nine direct SIGKILL cases</a:t>
            </a:r>
          </a:p>
        </p:txBody>
      </p:sp>
      <p:sp>
        <p:nvSpPr>
          <p:cNvPr id="17" name="Rounded Rectangle 16"/>
          <p:cNvSpPr/>
          <p:nvPr/>
        </p:nvSpPr>
        <p:spPr>
          <a:xfrm>
            <a:off x="548640" y="3314700"/>
            <a:ext cx="11094720" cy="563880"/>
          </a:xfrm>
          <a:prstGeom prst="roundRect">
            <a:avLst>
              <a:gd name="adj" fmla="val 8108"/>
            </a:avLst>
          </a:prstGeom>
          <a:solidFill>
            <a:srgbClr val="FFFFFF"/>
          </a:solidFill>
          <a:ln>
            <a:noFill/>
          </a:ln>
          <a:effectLst/>
        </p:spPr>
        <p:txBody>
          <a:bodyPr rtlCol="0" anchor="ctr"/>
          <a:lstStyle/>
          <a:p>
            <a:pPr algn="ctr"/>
          </a:p>
        </p:txBody>
      </p:sp>
      <p:sp>
        <p:nvSpPr>
          <p:cNvPr id="18" name="TextBox 17"/>
          <p:cNvSpPr txBox="1"/>
          <p:nvPr/>
        </p:nvSpPr>
        <p:spPr>
          <a:xfrm>
            <a:off x="670560" y="3444240"/>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Actual authenticated Hive</a:t>
            </a:r>
          </a:p>
        </p:txBody>
      </p:sp>
      <p:sp>
        <p:nvSpPr>
          <p:cNvPr id="19" name="TextBox 18"/>
          <p:cNvSpPr txBox="1"/>
          <p:nvPr/>
        </p:nvSpPr>
        <p:spPr>
          <a:xfrm>
            <a:off x="4556760" y="3444240"/>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7 cases</a:t>
            </a:r>
          </a:p>
        </p:txBody>
      </p:sp>
      <p:sp>
        <p:nvSpPr>
          <p:cNvPr id="20" name="TextBox 19"/>
          <p:cNvSpPr txBox="1"/>
          <p:nvPr/>
        </p:nvSpPr>
        <p:spPr>
          <a:xfrm>
            <a:off x="6766559" y="3444240"/>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 · includes four native SIGKILL cases</a:t>
            </a:r>
          </a:p>
        </p:txBody>
      </p:sp>
      <p:sp>
        <p:nvSpPr>
          <p:cNvPr id="21" name="Rounded Rectangle 20"/>
          <p:cNvSpPr/>
          <p:nvPr/>
        </p:nvSpPr>
        <p:spPr>
          <a:xfrm>
            <a:off x="548640" y="3916679"/>
            <a:ext cx="11094720" cy="563880"/>
          </a:xfrm>
          <a:prstGeom prst="roundRect">
            <a:avLst>
              <a:gd name="adj" fmla="val 8108"/>
            </a:avLst>
          </a:prstGeom>
          <a:solidFill>
            <a:srgbClr val="FFFFFF"/>
          </a:solidFill>
          <a:ln>
            <a:noFill/>
          </a:ln>
          <a:effectLst/>
        </p:spPr>
        <p:txBody>
          <a:bodyPr rtlCol="0" anchor="ctr"/>
          <a:lstStyle/>
          <a:p>
            <a:pPr algn="ctr"/>
          </a:p>
        </p:txBody>
      </p:sp>
      <p:sp>
        <p:nvSpPr>
          <p:cNvPr id="22" name="TextBox 21"/>
          <p:cNvSpPr txBox="1"/>
          <p:nvPr/>
        </p:nvSpPr>
        <p:spPr>
          <a:xfrm>
            <a:off x="670560" y="4046219"/>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Supplemental private probes</a:t>
            </a:r>
          </a:p>
        </p:txBody>
      </p:sp>
      <p:sp>
        <p:nvSpPr>
          <p:cNvPr id="23" name="TextBox 22"/>
          <p:cNvSpPr txBox="1"/>
          <p:nvPr/>
        </p:nvSpPr>
        <p:spPr>
          <a:xfrm>
            <a:off x="4556760" y="4046219"/>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4 + 4</a:t>
            </a:r>
          </a:p>
        </p:txBody>
      </p:sp>
      <p:sp>
        <p:nvSpPr>
          <p:cNvPr id="24" name="TextBox 23"/>
          <p:cNvSpPr txBox="1"/>
          <p:nvPr/>
        </p:nvSpPr>
        <p:spPr>
          <a:xfrm>
            <a:off x="6766559" y="4046219"/>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cognitive effects; complete payload comparisons</a:t>
            </a:r>
          </a:p>
        </p:txBody>
      </p:sp>
      <p:sp>
        <p:nvSpPr>
          <p:cNvPr id="25" name="Rounded Rectangle 24"/>
          <p:cNvSpPr/>
          <p:nvPr/>
        </p:nvSpPr>
        <p:spPr>
          <a:xfrm>
            <a:off x="548640" y="4518660"/>
            <a:ext cx="11094720" cy="563880"/>
          </a:xfrm>
          <a:prstGeom prst="roundRect">
            <a:avLst>
              <a:gd name="adj" fmla="val 8108"/>
            </a:avLst>
          </a:prstGeom>
          <a:solidFill>
            <a:srgbClr val="FFFFFF"/>
          </a:solidFill>
          <a:ln>
            <a:noFill/>
          </a:ln>
          <a:effectLst/>
        </p:spPr>
        <p:txBody>
          <a:bodyPr rtlCol="0" anchor="ctr"/>
          <a:lstStyle/>
          <a:p>
            <a:pPr algn="ctr"/>
          </a:p>
        </p:txBody>
      </p:sp>
      <p:sp>
        <p:nvSpPr>
          <p:cNvPr id="26" name="TextBox 25"/>
          <p:cNvSpPr txBox="1"/>
          <p:nvPr/>
        </p:nvSpPr>
        <p:spPr>
          <a:xfrm>
            <a:off x="670560" y="4648200"/>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M1–M3.1 regression</a:t>
            </a:r>
          </a:p>
        </p:txBody>
      </p:sp>
      <p:sp>
        <p:nvSpPr>
          <p:cNvPr id="27" name="TextBox 26"/>
          <p:cNvSpPr txBox="1"/>
          <p:nvPr/>
        </p:nvSpPr>
        <p:spPr>
          <a:xfrm>
            <a:off x="4556760" y="4648200"/>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156 aggregate</a:t>
            </a:r>
          </a:p>
        </p:txBody>
      </p:sp>
      <p:sp>
        <p:nvSpPr>
          <p:cNvPr id="28" name="TextBox 27"/>
          <p:cNvSpPr txBox="1"/>
          <p:nvPr/>
        </p:nvSpPr>
        <p:spPr>
          <a:xfrm>
            <a:off x="6766559" y="4648200"/>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 · includes old 138 plus new 18 methods</a:t>
            </a:r>
          </a:p>
        </p:txBody>
      </p:sp>
      <p:sp>
        <p:nvSpPr>
          <p:cNvPr id="29" name="Rounded Rectangle 28"/>
          <p:cNvSpPr/>
          <p:nvPr/>
        </p:nvSpPr>
        <p:spPr>
          <a:xfrm>
            <a:off x="548640" y="5120640"/>
            <a:ext cx="11094720" cy="563880"/>
          </a:xfrm>
          <a:prstGeom prst="roundRect">
            <a:avLst>
              <a:gd name="adj" fmla="val 8108"/>
            </a:avLst>
          </a:prstGeom>
          <a:solidFill>
            <a:srgbClr val="FFFFFF"/>
          </a:solidFill>
          <a:ln>
            <a:noFill/>
          </a:ln>
          <a:effectLst/>
        </p:spPr>
        <p:txBody>
          <a:bodyPr rtlCol="0" anchor="ctr"/>
          <a:lstStyle/>
          <a:p>
            <a:pPr algn="ctr"/>
          </a:p>
        </p:txBody>
      </p:sp>
      <p:sp>
        <p:nvSpPr>
          <p:cNvPr id="30" name="TextBox 29"/>
          <p:cNvSpPr txBox="1"/>
          <p:nvPr/>
        </p:nvSpPr>
        <p:spPr>
          <a:xfrm>
            <a:off x="670560" y="5250180"/>
            <a:ext cx="3642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Unchanged M4 suites</a:t>
            </a:r>
          </a:p>
        </p:txBody>
      </p:sp>
      <p:sp>
        <p:nvSpPr>
          <p:cNvPr id="31" name="TextBox 30"/>
          <p:cNvSpPr txBox="1"/>
          <p:nvPr/>
        </p:nvSpPr>
        <p:spPr>
          <a:xfrm>
            <a:off x="4556760" y="5250180"/>
            <a:ext cx="196595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 fixtures + 6 real</a:t>
            </a:r>
          </a:p>
        </p:txBody>
      </p:sp>
      <p:sp>
        <p:nvSpPr>
          <p:cNvPr id="32" name="TextBox 31"/>
          <p:cNvSpPr txBox="1"/>
          <p:nvPr/>
        </p:nvSpPr>
        <p:spPr>
          <a:xfrm>
            <a:off x="6766559" y="5250180"/>
            <a:ext cx="47548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 · real isolated chain and independent readback</a:t>
            </a:r>
          </a:p>
        </p:txBody>
      </p:sp>
      <p:sp>
        <p:nvSpPr>
          <p:cNvPr id="33" name="Rounded Rectangle 32"/>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4" name="TextBox 33"/>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Tested bfb0ec8 · 13 deliberate M5 SIGKILL cases · zero final failures, blockers or timeouts.</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evidence/m5/final/verification.json</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47 / 64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PRESERVED M4 GATE EVIDENCE · 1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M4 gates: native result to verified chain effect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10 required gates passed. CHAIN is required and real in this milestone.</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89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09160" y="1790700"/>
            <a:ext cx="68122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647700"/>
          </a:xfrm>
          <a:prstGeom prst="roundRect">
            <a:avLst>
              <a:gd name="adj" fmla="val 7058"/>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BASELINE</a:t>
            </a:r>
          </a:p>
        </p:txBody>
      </p:sp>
      <p:sp>
        <p:nvSpPr>
          <p:cNvPr id="10" name="TextBox 9"/>
          <p:cNvSpPr txBox="1"/>
          <p:nvPr/>
        </p:nvSpPr>
        <p:spPr>
          <a:xfrm>
            <a:off x="3566160" y="22402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1" name="TextBox 10"/>
          <p:cNvSpPr txBox="1"/>
          <p:nvPr/>
        </p:nvSpPr>
        <p:spPr>
          <a:xfrm>
            <a:off x="4709160" y="22402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Full M1–M3.1 regression; both attention providers and old profiles</a:t>
            </a:r>
          </a:p>
        </p:txBody>
      </p:sp>
      <p:sp>
        <p:nvSpPr>
          <p:cNvPr id="12" name="Rounded Rectangle 11"/>
          <p:cNvSpPr/>
          <p:nvPr/>
        </p:nvSpPr>
        <p:spPr>
          <a:xfrm>
            <a:off x="548640" y="2796540"/>
            <a:ext cx="11094720" cy="647700"/>
          </a:xfrm>
          <a:prstGeom prst="roundRect">
            <a:avLst>
              <a:gd name="adj" fmla="val 7058"/>
            </a:avLst>
          </a:prstGeom>
          <a:solidFill>
            <a:srgbClr val="FFFFFF"/>
          </a:solidFill>
          <a:ln>
            <a:noFill/>
          </a:ln>
          <a:effectLst/>
        </p:spPr>
        <p:txBody>
          <a:bodyPr rtlCol="0" anchor="ctr"/>
          <a:lstStyle/>
          <a:p>
            <a:pPr algn="ctr"/>
          </a:p>
        </p:txBody>
      </p:sp>
      <p:sp>
        <p:nvSpPr>
          <p:cNvPr id="13" name="TextBox 12"/>
          <p:cNvSpPr txBox="1"/>
          <p:nvPr/>
        </p:nvSpPr>
        <p:spPr>
          <a:xfrm>
            <a:off x="670560" y="29260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CHAIN_SOURCE_BUILD</a:t>
            </a:r>
          </a:p>
        </p:txBody>
      </p:sp>
      <p:sp>
        <p:nvSpPr>
          <p:cNvPr id="14" name="TextBox 13"/>
          <p:cNvSpPr txBox="1"/>
          <p:nvPr/>
        </p:nvSpPr>
        <p:spPr>
          <a:xfrm>
            <a:off x="3566160" y="29260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5" name="TextBox 14"/>
          <p:cNvSpPr txBox="1"/>
          <p:nvPr/>
        </p:nvSpPr>
        <p:spPr>
          <a:xfrm>
            <a:off x="4709160" y="29260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Clean pinned build; loopback-only namespace; live socket probes</a:t>
            </a:r>
          </a:p>
        </p:txBody>
      </p:sp>
      <p:sp>
        <p:nvSpPr>
          <p:cNvPr id="16" name="Rounded Rectangle 15"/>
          <p:cNvSpPr/>
          <p:nvPr/>
        </p:nvSpPr>
        <p:spPr>
          <a:xfrm>
            <a:off x="548640" y="3482340"/>
            <a:ext cx="11094720" cy="647700"/>
          </a:xfrm>
          <a:prstGeom prst="roundRect">
            <a:avLst>
              <a:gd name="adj" fmla="val 7058"/>
            </a:avLst>
          </a:prstGeom>
          <a:solidFill>
            <a:srgbClr val="FFFFFF"/>
          </a:solidFill>
          <a:ln>
            <a:noFill/>
          </a:ln>
          <a:effectLst/>
        </p:spPr>
        <p:txBody>
          <a:bodyPr rtlCol="0" anchor="ctr"/>
          <a:lstStyle/>
          <a:p>
            <a:pPr algn="ctr"/>
          </a:p>
        </p:txBody>
      </p:sp>
      <p:sp>
        <p:nvSpPr>
          <p:cNvPr id="17" name="TextBox 16"/>
          <p:cNvSpPr txBox="1"/>
          <p:nvPr/>
        </p:nvSpPr>
        <p:spPr>
          <a:xfrm>
            <a:off x="670560" y="36118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NATIVE_HIVE_DA</a:t>
            </a:r>
          </a:p>
        </p:txBody>
      </p:sp>
      <p:sp>
        <p:nvSpPr>
          <p:cNvPr id="18" name="TextBox 17"/>
          <p:cNvSpPr txBox="1"/>
          <p:nvPr/>
        </p:nvSpPr>
        <p:spPr>
          <a:xfrm>
            <a:off x="3566160" y="36118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9" name="TextBox 18"/>
          <p:cNvSpPr txBox="1"/>
          <p:nvPr/>
        </p:nvSpPr>
        <p:spPr>
          <a:xfrm>
            <a:off x="4709160" y="36118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inspect dispatch + real DeTTa + labelled fixture counterparty</a:t>
            </a:r>
          </a:p>
        </p:txBody>
      </p:sp>
      <p:sp>
        <p:nvSpPr>
          <p:cNvPr id="20" name="Rounded Rectangle 19"/>
          <p:cNvSpPr/>
          <p:nvPr/>
        </p:nvSpPr>
        <p:spPr>
          <a:xfrm>
            <a:off x="548640" y="4168140"/>
            <a:ext cx="11094720" cy="647700"/>
          </a:xfrm>
          <a:prstGeom prst="roundRect">
            <a:avLst>
              <a:gd name="adj" fmla="val 7058"/>
            </a:avLst>
          </a:prstGeom>
          <a:solidFill>
            <a:srgbClr val="FFFFFF"/>
          </a:solidFill>
          <a:ln>
            <a:noFill/>
          </a:ln>
          <a:effectLst/>
        </p:spPr>
        <p:txBody>
          <a:bodyPr rtlCol="0" anchor="ctr"/>
          <a:lstStyle/>
          <a:p>
            <a:pPr algn="ctr"/>
          </a:p>
        </p:txBody>
      </p:sp>
      <p:sp>
        <p:nvSpPr>
          <p:cNvPr id="21" name="TextBox 20"/>
          <p:cNvSpPr txBox="1"/>
          <p:nvPr/>
        </p:nvSpPr>
        <p:spPr>
          <a:xfrm>
            <a:off x="670560" y="42976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APPROVAL_BINDING</a:t>
            </a:r>
          </a:p>
        </p:txBody>
      </p:sp>
      <p:sp>
        <p:nvSpPr>
          <p:cNvPr id="22" name="TextBox 21"/>
          <p:cNvSpPr txBox="1"/>
          <p:nvPr/>
        </p:nvSpPr>
        <p:spPr>
          <a:xfrm>
            <a:off x="3566160" y="42976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3" name="TextBox 22"/>
          <p:cNvSpPr txBox="1"/>
          <p:nvPr/>
        </p:nvSpPr>
        <p:spPr>
          <a:xfrm>
            <a:off x="4709160" y="42976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Exact immutable result/chain/profile; current authority and refusal cases</a:t>
            </a:r>
          </a:p>
        </p:txBody>
      </p:sp>
      <p:sp>
        <p:nvSpPr>
          <p:cNvPr id="24" name="Rounded Rectangle 23"/>
          <p:cNvSpPr/>
          <p:nvPr/>
        </p:nvSpPr>
        <p:spPr>
          <a:xfrm>
            <a:off x="548640" y="4853940"/>
            <a:ext cx="11094720" cy="647700"/>
          </a:xfrm>
          <a:prstGeom prst="roundRect">
            <a:avLst>
              <a:gd name="adj" fmla="val 7058"/>
            </a:avLst>
          </a:prstGeom>
          <a:solidFill>
            <a:srgbClr val="FFFFFF"/>
          </a:solidFill>
          <a:ln>
            <a:noFill/>
          </a:ln>
          <a:effectLst/>
        </p:spPr>
        <p:txBody>
          <a:bodyPr rtlCol="0" anchor="ctr"/>
          <a:lstStyle/>
          <a:p>
            <a:pPr algn="ctr"/>
          </a:p>
        </p:txBody>
      </p:sp>
      <p:sp>
        <p:nvSpPr>
          <p:cNvPr id="25" name="TextBox 24"/>
          <p:cNvSpPr txBox="1"/>
          <p:nvPr/>
        </p:nvSpPr>
        <p:spPr>
          <a:xfrm>
            <a:off x="670560" y="49834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REAL_CHAIN_EFFECT</a:t>
            </a:r>
          </a:p>
        </p:txBody>
      </p:sp>
      <p:sp>
        <p:nvSpPr>
          <p:cNvPr id="26" name="TextBox 25"/>
          <p:cNvSpPr txBox="1"/>
          <p:nvPr/>
        </p:nvSpPr>
        <p:spPr>
          <a:xfrm>
            <a:off x="3566160" y="49834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7" name="TextBox 26"/>
          <p:cNvSpPr txBox="1"/>
          <p:nvPr/>
        </p:nvSpPr>
        <p:spPr>
          <a:xfrm>
            <a:off x="4709160" y="49834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Actual inclusion post-state tuple + matching finalized deploy effect</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missing prerequisite, final executed failure or positive observation timeout is hidden in PASS.</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evidence/m4/manifest.json</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48 / 64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PRESERVED M4 GATE EVIDENCE · 2 OF 2</a:t>
            </a:r>
          </a:p>
        </p:txBody>
      </p:sp>
      <p:sp>
        <p:nvSpPr>
          <p:cNvPr id="3" name="TextBox 2"/>
          <p:cNvSpPr txBox="1"/>
          <p:nvPr/>
        </p:nvSpPr>
        <p:spPr>
          <a:xfrm>
            <a:off x="533400" y="723900"/>
            <a:ext cx="11125200" cy="448665"/>
          </a:xfrm>
          <a:prstGeom prst="rect">
            <a:avLst/>
          </a:prstGeom>
          <a:noFill/>
        </p:spPr>
        <p:txBody>
          <a:bodyPr wrap="none" lIns="0" rIns="0" tIns="0" bIns="0" anchor="t" anchorCtr="0">
            <a:noAutofit/>
          </a:bodyPr>
          <a:lstStyle/>
          <a:p>
            <a:pPr algn="l">
              <a:lnSpc>
                <a:spcPct val="100000"/>
              </a:lnSpc>
              <a:spcBef>
                <a:spcPts val="0"/>
              </a:spcBef>
              <a:spcAft>
                <a:spcPts val="0"/>
              </a:spcAft>
            </a:pPr>
            <a:r>
              <a:rPr sz="2760" b="1">
                <a:solidFill>
                  <a:srgbClr val="102B3F"/>
                </a:solidFill>
                <a:latin typeface="DejaVu Sans"/>
              </a:rPr>
              <a:t>M4 gates: recovery, privacy and independent readback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10 required gates passed. CHAIN is required and real in this milestone.</a:t>
            </a:r>
          </a:p>
        </p:txBody>
      </p:sp>
      <p:sp>
        <p:nvSpPr>
          <p:cNvPr id="5" name="TextBox 4"/>
          <p:cNvSpPr txBox="1"/>
          <p:nvPr/>
        </p:nvSpPr>
        <p:spPr>
          <a:xfrm>
            <a:off x="670560" y="1790700"/>
            <a:ext cx="2651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566160" y="1790700"/>
            <a:ext cx="899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09160" y="1790700"/>
            <a:ext cx="68122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647700"/>
          </a:xfrm>
          <a:prstGeom prst="roundRect">
            <a:avLst>
              <a:gd name="adj" fmla="val 7058"/>
            </a:avLst>
          </a:prstGeom>
          <a:solidFill>
            <a:srgbClr val="FFFFFF"/>
          </a:solidFill>
          <a:ln>
            <a:noFill/>
          </a:ln>
          <a:effectLst/>
        </p:spPr>
        <p:txBody>
          <a:bodyPr rtlCol="0" anchor="ctr"/>
          <a:lstStyle/>
          <a:p>
            <a:pPr algn="ctr"/>
          </a:p>
        </p:txBody>
      </p:sp>
      <p:sp>
        <p:nvSpPr>
          <p:cNvPr id="9" name="TextBox 8"/>
          <p:cNvSpPr txBox="1"/>
          <p:nvPr/>
        </p:nvSpPr>
        <p:spPr>
          <a:xfrm>
            <a:off x="670560" y="22402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RECOVERY</a:t>
            </a:r>
          </a:p>
        </p:txBody>
      </p:sp>
      <p:sp>
        <p:nvSpPr>
          <p:cNvPr id="10" name="TextBox 9"/>
          <p:cNvSpPr txBox="1"/>
          <p:nvPr/>
        </p:nvSpPr>
        <p:spPr>
          <a:xfrm>
            <a:off x="3566160" y="22402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1" name="TextBox 10"/>
          <p:cNvSpPr txBox="1"/>
          <p:nvPr/>
        </p:nvSpPr>
        <p:spPr>
          <a:xfrm>
            <a:off x="4709160" y="22402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Four caller/adapter kill boundaries; real node outage and restart</a:t>
            </a:r>
          </a:p>
        </p:txBody>
      </p:sp>
      <p:sp>
        <p:nvSpPr>
          <p:cNvPr id="12" name="Rounded Rectangle 11"/>
          <p:cNvSpPr/>
          <p:nvPr/>
        </p:nvSpPr>
        <p:spPr>
          <a:xfrm>
            <a:off x="548640" y="2796540"/>
            <a:ext cx="11094720" cy="647700"/>
          </a:xfrm>
          <a:prstGeom prst="roundRect">
            <a:avLst>
              <a:gd name="adj" fmla="val 7058"/>
            </a:avLst>
          </a:prstGeom>
          <a:solidFill>
            <a:srgbClr val="FFFFFF"/>
          </a:solidFill>
          <a:ln>
            <a:noFill/>
          </a:ln>
          <a:effectLst/>
        </p:spPr>
        <p:txBody>
          <a:bodyPr rtlCol="0" anchor="ctr"/>
          <a:lstStyle/>
          <a:p>
            <a:pPr algn="ctr"/>
          </a:p>
        </p:txBody>
      </p:sp>
      <p:sp>
        <p:nvSpPr>
          <p:cNvPr id="13" name="TextBox 12"/>
          <p:cNvSpPr txBox="1"/>
          <p:nvPr/>
        </p:nvSpPr>
        <p:spPr>
          <a:xfrm>
            <a:off x="670560" y="29260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PRIVACY_ISOLATION</a:t>
            </a:r>
          </a:p>
        </p:txBody>
      </p:sp>
      <p:sp>
        <p:nvSpPr>
          <p:cNvPr id="14" name="TextBox 13"/>
          <p:cNvSpPr txBox="1"/>
          <p:nvPr/>
        </p:nvSpPr>
        <p:spPr>
          <a:xfrm>
            <a:off x="3566160" y="29260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5" name="TextBox 14"/>
          <p:cNvSpPr txBox="1"/>
          <p:nvPr/>
        </p:nvSpPr>
        <p:spPr>
          <a:xfrm>
            <a:off x="4709160" y="29260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Private canaries and identifying derivatives absent; live isolation</a:t>
            </a:r>
          </a:p>
        </p:txBody>
      </p:sp>
      <p:sp>
        <p:nvSpPr>
          <p:cNvPr id="16" name="Rounded Rectangle 15"/>
          <p:cNvSpPr/>
          <p:nvPr/>
        </p:nvSpPr>
        <p:spPr>
          <a:xfrm>
            <a:off x="548640" y="3482340"/>
            <a:ext cx="11094720" cy="647700"/>
          </a:xfrm>
          <a:prstGeom prst="roundRect">
            <a:avLst>
              <a:gd name="adj" fmla="val 7058"/>
            </a:avLst>
          </a:prstGeom>
          <a:solidFill>
            <a:srgbClr val="FFFFFF"/>
          </a:solidFill>
          <a:ln>
            <a:noFill/>
          </a:ln>
          <a:effectLst/>
        </p:spPr>
        <p:txBody>
          <a:bodyPr rtlCol="0" anchor="ctr"/>
          <a:lstStyle/>
          <a:p>
            <a:pPr algn="ctr"/>
          </a:p>
        </p:txBody>
      </p:sp>
      <p:sp>
        <p:nvSpPr>
          <p:cNvPr id="17" name="TextBox 16"/>
          <p:cNvSpPr txBox="1"/>
          <p:nvPr/>
        </p:nvSpPr>
        <p:spPr>
          <a:xfrm>
            <a:off x="670560" y="3611879"/>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REPRO_READBACK</a:t>
            </a:r>
          </a:p>
        </p:txBody>
      </p:sp>
      <p:sp>
        <p:nvSpPr>
          <p:cNvPr id="18" name="TextBox 17"/>
          <p:cNvSpPr txBox="1"/>
          <p:nvPr/>
        </p:nvSpPr>
        <p:spPr>
          <a:xfrm>
            <a:off x="3566160" y="3611879"/>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19" name="TextBox 18"/>
          <p:cNvSpPr txBox="1"/>
          <p:nvPr/>
        </p:nvSpPr>
        <p:spPr>
          <a:xfrm>
            <a:off x="4709160" y="3611879"/>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Fresh pinned builds + independent reader checking the same artifact</a:t>
            </a:r>
          </a:p>
        </p:txBody>
      </p:sp>
      <p:sp>
        <p:nvSpPr>
          <p:cNvPr id="20" name="Rounded Rectangle 19"/>
          <p:cNvSpPr/>
          <p:nvPr/>
        </p:nvSpPr>
        <p:spPr>
          <a:xfrm>
            <a:off x="548640" y="4168140"/>
            <a:ext cx="11094720" cy="647700"/>
          </a:xfrm>
          <a:prstGeom prst="roundRect">
            <a:avLst>
              <a:gd name="adj" fmla="val 7058"/>
            </a:avLst>
          </a:prstGeom>
          <a:solidFill>
            <a:srgbClr val="FFFFFF"/>
          </a:solidFill>
          <a:ln>
            <a:noFill/>
          </a:ln>
          <a:effectLst/>
        </p:spPr>
        <p:txBody>
          <a:bodyPr rtlCol="0" anchor="ctr"/>
          <a:lstStyle/>
          <a:p>
            <a:pPr algn="ctr"/>
          </a:p>
        </p:txBody>
      </p:sp>
      <p:sp>
        <p:nvSpPr>
          <p:cNvPr id="21" name="TextBox 20"/>
          <p:cNvSpPr txBox="1"/>
          <p:nvPr/>
        </p:nvSpPr>
        <p:spPr>
          <a:xfrm>
            <a:off x="670560" y="42976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DEMO_HANDOFF</a:t>
            </a:r>
          </a:p>
        </p:txBody>
      </p:sp>
      <p:sp>
        <p:nvSpPr>
          <p:cNvPr id="22" name="TextBox 21"/>
          <p:cNvSpPr txBox="1"/>
          <p:nvPr/>
        </p:nvSpPr>
        <p:spPr>
          <a:xfrm>
            <a:off x="3566160" y="42976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3" name="TextBox 22"/>
          <p:cNvSpPr txBox="1"/>
          <p:nvPr/>
        </p:nvSpPr>
        <p:spPr>
          <a:xfrm>
            <a:off x="4709160" y="42976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Native receipts/progress, runnable commands and sanitized trace</a:t>
            </a:r>
          </a:p>
        </p:txBody>
      </p:sp>
      <p:sp>
        <p:nvSpPr>
          <p:cNvPr id="24" name="Rounded Rectangle 23"/>
          <p:cNvSpPr/>
          <p:nvPr/>
        </p:nvSpPr>
        <p:spPr>
          <a:xfrm>
            <a:off x="548640" y="4853940"/>
            <a:ext cx="11094720" cy="647700"/>
          </a:xfrm>
          <a:prstGeom prst="roundRect">
            <a:avLst>
              <a:gd name="adj" fmla="val 7058"/>
            </a:avLst>
          </a:prstGeom>
          <a:solidFill>
            <a:srgbClr val="FFFFFF"/>
          </a:solidFill>
          <a:ln>
            <a:noFill/>
          </a:ln>
          <a:effectLst/>
        </p:spPr>
        <p:txBody>
          <a:bodyPr rtlCol="0" anchor="ctr"/>
          <a:lstStyle/>
          <a:p>
            <a:pPr algn="ctr"/>
          </a:p>
        </p:txBody>
      </p:sp>
      <p:sp>
        <p:nvSpPr>
          <p:cNvPr id="25" name="TextBox 24"/>
          <p:cNvSpPr txBox="1"/>
          <p:nvPr/>
        </p:nvSpPr>
        <p:spPr>
          <a:xfrm>
            <a:off x="670560" y="4983480"/>
            <a:ext cx="26517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SCOPE</a:t>
            </a:r>
          </a:p>
        </p:txBody>
      </p:sp>
      <p:sp>
        <p:nvSpPr>
          <p:cNvPr id="26" name="TextBox 25"/>
          <p:cNvSpPr txBox="1"/>
          <p:nvPr/>
        </p:nvSpPr>
        <p:spPr>
          <a:xfrm>
            <a:off x="3566160" y="4983480"/>
            <a:ext cx="899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PASS</a:t>
            </a:r>
          </a:p>
        </p:txBody>
      </p:sp>
      <p:sp>
        <p:nvSpPr>
          <p:cNvPr id="27" name="TextBox 26"/>
          <p:cNvSpPr txBox="1"/>
          <p:nvPr/>
        </p:nvSpPr>
        <p:spPr>
          <a:xfrm>
            <a:off x="4709160" y="4983480"/>
            <a:ext cx="681228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Original DA, cognition, math, ports and inspect plugin preserved</a:t>
            </a:r>
          </a:p>
        </p:txBody>
      </p:sp>
      <p:sp>
        <p:nvSpPr>
          <p:cNvPr id="28" name="Rounded Rectangle 27"/>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9" name="TextBox 28"/>
          <p:cNvSpPr txBox="1"/>
          <p:nvPr/>
        </p:nvSpPr>
        <p:spPr>
          <a:xfrm>
            <a:off x="716280" y="5905500"/>
            <a:ext cx="107442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No missing prerequisite, final executed failure or positive observation timeout is hidden in PASS.</a:t>
            </a:r>
          </a:p>
        </p:txBody>
      </p:sp>
      <p:cxnSp>
        <p:nvCxnSpPr>
          <p:cNvPr id="30" name="Connector 29"/>
          <p:cNvCxnSpPr/>
          <p:nvPr/>
        </p:nvCxnSpPr>
        <p:spPr>
          <a:xfrm>
            <a:off x="548640" y="6393180"/>
            <a:ext cx="11094720" cy="0"/>
          </a:xfrm>
          <a:prstGeom prst="line">
            <a:avLst/>
          </a:prstGeom>
          <a:ln w="7620">
            <a:solidFill>
              <a:srgbClr val="C9D2D4"/>
            </a:solidFill>
          </a:ln>
          <a:effectLst/>
        </p:spPr>
      </p:cxnSp>
      <p:sp>
        <p:nvSpPr>
          <p:cNvPr id="31" name="TextBox 3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evidence/m4/manifest.json</a:t>
            </a:r>
          </a:p>
        </p:txBody>
      </p:sp>
      <p:sp>
        <p:nvSpPr>
          <p:cNvPr id="32" name="TextBox 3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49 / 64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M5 GATE-BY-GATE RESULTS · 1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M5 gates: contracts, real storage and rebuild</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12 required gates pass on the exact final tested implementation.</a:t>
            </a:r>
          </a:p>
        </p:txBody>
      </p:sp>
      <p:sp>
        <p:nvSpPr>
          <p:cNvPr id="5" name="TextBox 4"/>
          <p:cNvSpPr txBox="1"/>
          <p:nvPr/>
        </p:nvSpPr>
        <p:spPr>
          <a:xfrm>
            <a:off x="670560" y="1790700"/>
            <a:ext cx="2804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718560" y="1790700"/>
            <a:ext cx="822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85360" y="1790700"/>
            <a:ext cx="67360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556260"/>
          </a:xfrm>
          <a:prstGeom prst="roundRect">
            <a:avLst>
              <a:gd name="adj" fmla="val 8219"/>
            </a:avLst>
          </a:prstGeom>
          <a:solidFill>
            <a:srgbClr val="FFFFFF"/>
          </a:solidFill>
          <a:ln>
            <a:noFill/>
          </a:ln>
          <a:effectLst/>
        </p:spPr>
        <p:txBody>
          <a:bodyPr rtlCol="0" anchor="ctr"/>
          <a:lstStyle/>
          <a:p>
            <a:pPr algn="ctr"/>
          </a:p>
        </p:txBody>
      </p:sp>
      <p:sp>
        <p:nvSpPr>
          <p:cNvPr id="9" name="TextBox 8"/>
          <p:cNvSpPr txBox="1"/>
          <p:nvPr/>
        </p:nvSpPr>
        <p:spPr>
          <a:xfrm>
            <a:off x="670560" y="224028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BASELINE_AND_SCOPE</a:t>
            </a:r>
          </a:p>
        </p:txBody>
      </p:sp>
      <p:sp>
        <p:nvSpPr>
          <p:cNvPr id="10" name="TextBox 9"/>
          <p:cNvSpPr txBox="1"/>
          <p:nvPr/>
        </p:nvSpPr>
        <p:spPr>
          <a:xfrm>
            <a:off x="3718560" y="224028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785360" y="224028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Requested ancestry; clean source; preserved M1–M4 boundaries</a:t>
            </a:r>
          </a:p>
        </p:txBody>
      </p:sp>
      <p:sp>
        <p:nvSpPr>
          <p:cNvPr id="12" name="Rounded Rectangle 11"/>
          <p:cNvSpPr/>
          <p:nvPr/>
        </p:nvSpPr>
        <p:spPr>
          <a:xfrm>
            <a:off x="548640" y="2705100"/>
            <a:ext cx="11094720" cy="556260"/>
          </a:xfrm>
          <a:prstGeom prst="roundRect">
            <a:avLst>
              <a:gd name="adj" fmla="val 8219"/>
            </a:avLst>
          </a:prstGeom>
          <a:solidFill>
            <a:srgbClr val="FFFFFF"/>
          </a:solidFill>
          <a:ln>
            <a:noFill/>
          </a:ln>
          <a:effectLst/>
        </p:spPr>
        <p:txBody>
          <a:bodyPr rtlCol="0" anchor="ctr"/>
          <a:lstStyle/>
          <a:p>
            <a:pPr algn="ctr"/>
          </a:p>
        </p:txBody>
      </p:sp>
      <p:sp>
        <p:nvSpPr>
          <p:cNvPr id="13" name="TextBox 12"/>
          <p:cNvSpPr txBox="1"/>
          <p:nvPr/>
        </p:nvSpPr>
        <p:spPr>
          <a:xfrm>
            <a:off x="670560" y="283464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RELATIONS_CONTRACT</a:t>
            </a:r>
          </a:p>
        </p:txBody>
      </p:sp>
      <p:sp>
        <p:nvSpPr>
          <p:cNvPr id="14" name="TextBox 13"/>
          <p:cNvSpPr txBox="1"/>
          <p:nvPr/>
        </p:nvSpPr>
        <p:spPr>
          <a:xfrm>
            <a:off x="3718560" y="283464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785360" y="283464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All four operations; ordered roles, schemas and fixed-head pages</a:t>
            </a:r>
          </a:p>
        </p:txBody>
      </p:sp>
      <p:sp>
        <p:nvSpPr>
          <p:cNvPr id="16" name="Rounded Rectangle 15"/>
          <p:cNvSpPr/>
          <p:nvPr/>
        </p:nvSpPr>
        <p:spPr>
          <a:xfrm>
            <a:off x="548640" y="3299460"/>
            <a:ext cx="11094720" cy="556260"/>
          </a:xfrm>
          <a:prstGeom prst="roundRect">
            <a:avLst>
              <a:gd name="adj" fmla="val 8219"/>
            </a:avLst>
          </a:prstGeom>
          <a:solidFill>
            <a:srgbClr val="FFFFFF"/>
          </a:solidFill>
          <a:ln>
            <a:noFill/>
          </a:ln>
          <a:effectLst/>
        </p:spPr>
        <p:txBody>
          <a:bodyPr rtlCol="0" anchor="ctr"/>
          <a:lstStyle/>
          <a:p>
            <a:pPr algn="ctr"/>
          </a:p>
        </p:txBody>
      </p:sp>
      <p:sp>
        <p:nvSpPr>
          <p:cNvPr id="17" name="TextBox 16"/>
          <p:cNvSpPr txBox="1"/>
          <p:nvPr/>
        </p:nvSpPr>
        <p:spPr>
          <a:xfrm>
            <a:off x="670560" y="342900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RELATIONS_REAL</a:t>
            </a:r>
          </a:p>
        </p:txBody>
      </p:sp>
      <p:sp>
        <p:nvSpPr>
          <p:cNvPr id="18" name="TextBox 17"/>
          <p:cNvSpPr txBox="1"/>
          <p:nvPr/>
        </p:nvSpPr>
        <p:spPr>
          <a:xfrm>
            <a:off x="3718560" y="342900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785360" y="342900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Accepted relations and payloads through actual local DeTTa</a:t>
            </a:r>
          </a:p>
        </p:txBody>
      </p:sp>
      <p:sp>
        <p:nvSpPr>
          <p:cNvPr id="20" name="Rounded Rectangle 19"/>
          <p:cNvSpPr/>
          <p:nvPr/>
        </p:nvSpPr>
        <p:spPr>
          <a:xfrm>
            <a:off x="548640" y="3893819"/>
            <a:ext cx="11094720" cy="556260"/>
          </a:xfrm>
          <a:prstGeom prst="roundRect">
            <a:avLst>
              <a:gd name="adj" fmla="val 8219"/>
            </a:avLst>
          </a:prstGeom>
          <a:solidFill>
            <a:srgbClr val="FFFFFF"/>
          </a:solidFill>
          <a:ln>
            <a:noFill/>
          </a:ln>
          <a:effectLst/>
        </p:spPr>
        <p:txBody>
          <a:bodyPr rtlCol="0" anchor="ctr"/>
          <a:lstStyle/>
          <a:p>
            <a:pPr algn="ctr"/>
          </a:p>
        </p:txBody>
      </p:sp>
      <p:sp>
        <p:nvSpPr>
          <p:cNvPr id="21" name="TextBox 20"/>
          <p:cNvSpPr txBox="1"/>
          <p:nvPr/>
        </p:nvSpPr>
        <p:spPr>
          <a:xfrm>
            <a:off x="670560" y="402336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COMMITTED_SOURCE</a:t>
            </a:r>
          </a:p>
        </p:txBody>
      </p:sp>
      <p:sp>
        <p:nvSpPr>
          <p:cNvPr id="22" name="TextBox 21"/>
          <p:cNvSpPr txBox="1"/>
          <p:nvPr/>
        </p:nvSpPr>
        <p:spPr>
          <a:xfrm>
            <a:off x="3718560" y="402336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785360" y="402336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Replayable, scoped AtomStorage-owned contiguous feed</a:t>
            </a:r>
          </a:p>
        </p:txBody>
      </p:sp>
      <p:sp>
        <p:nvSpPr>
          <p:cNvPr id="24" name="Rounded Rectangle 23"/>
          <p:cNvSpPr/>
          <p:nvPr/>
        </p:nvSpPr>
        <p:spPr>
          <a:xfrm>
            <a:off x="548640" y="4488180"/>
            <a:ext cx="11094720" cy="556260"/>
          </a:xfrm>
          <a:prstGeom prst="roundRect">
            <a:avLst>
              <a:gd name="adj" fmla="val 8219"/>
            </a:avLst>
          </a:prstGeom>
          <a:solidFill>
            <a:srgbClr val="FFFFFF"/>
          </a:solidFill>
          <a:ln>
            <a:noFill/>
          </a:ln>
          <a:effectLst/>
        </p:spPr>
        <p:txBody>
          <a:bodyPr rtlCol="0" anchor="ctr"/>
          <a:lstStyle/>
          <a:p>
            <a:pPr algn="ctr"/>
          </a:p>
        </p:txBody>
      </p:sp>
      <p:sp>
        <p:nvSpPr>
          <p:cNvPr id="25" name="TextBox 24"/>
          <p:cNvSpPr txBox="1"/>
          <p:nvPr/>
        </p:nvSpPr>
        <p:spPr>
          <a:xfrm>
            <a:off x="670560" y="461772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SEARCH_CONTRACT</a:t>
            </a:r>
          </a:p>
        </p:txBody>
      </p:sp>
      <p:sp>
        <p:nvSpPr>
          <p:cNvPr id="26" name="TextBox 25"/>
          <p:cNvSpPr txBox="1"/>
          <p:nvPr/>
        </p:nvSpPr>
        <p:spPr>
          <a:xfrm>
            <a:off x="3718560" y="461772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785360" y="461772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attributes; explicit freshness, pagination and error semantics</a:t>
            </a:r>
          </a:p>
        </p:txBody>
      </p:sp>
      <p:sp>
        <p:nvSpPr>
          <p:cNvPr id="28" name="Rounded Rectangle 27"/>
          <p:cNvSpPr/>
          <p:nvPr/>
        </p:nvSpPr>
        <p:spPr>
          <a:xfrm>
            <a:off x="548640" y="5082540"/>
            <a:ext cx="11094720" cy="556260"/>
          </a:xfrm>
          <a:prstGeom prst="roundRect">
            <a:avLst>
              <a:gd name="adj" fmla="val 8219"/>
            </a:avLst>
          </a:prstGeom>
          <a:solidFill>
            <a:srgbClr val="FFFFFF"/>
          </a:solidFill>
          <a:ln>
            <a:noFill/>
          </a:ln>
          <a:effectLst/>
        </p:spPr>
        <p:txBody>
          <a:bodyPr rtlCol="0" anchor="ctr"/>
          <a:lstStyle/>
          <a:p>
            <a:pPr algn="ctr"/>
          </a:p>
        </p:txBody>
      </p:sp>
      <p:sp>
        <p:nvSpPr>
          <p:cNvPr id="29" name="TextBox 28"/>
          <p:cNvSpPr txBox="1"/>
          <p:nvPr/>
        </p:nvSpPr>
        <p:spPr>
          <a:xfrm>
            <a:off x="670560" y="521208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SEARCH_REAL_REBUILD</a:t>
            </a:r>
          </a:p>
        </p:txBody>
      </p:sp>
      <p:sp>
        <p:nvSpPr>
          <p:cNvPr id="30" name="TextBox 29"/>
          <p:cNvSpPr txBox="1"/>
          <p:nvPr/>
        </p:nvSpPr>
        <p:spPr>
          <a:xfrm>
            <a:off x="3718560" y="521208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785360" y="521208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Bounded catch-up and generation rebuild from real source</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Final missing prerequisites: 0 · executed failures: 0 · observation timeouts: 0.</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evidence/m5/manifest.json · final/verification.json</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50 / 64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M5 GATE-BY-GATE RESULTS · 2 OF 2</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M5 gates: substitution, recovery and actual Hive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All 12 required gates pass on the exact final tested implementation.</a:t>
            </a:r>
          </a:p>
        </p:txBody>
      </p:sp>
      <p:sp>
        <p:nvSpPr>
          <p:cNvPr id="5" name="TextBox 4"/>
          <p:cNvSpPr txBox="1"/>
          <p:nvPr/>
        </p:nvSpPr>
        <p:spPr>
          <a:xfrm>
            <a:off x="670560" y="1790700"/>
            <a:ext cx="2804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GATE</a:t>
            </a:r>
          </a:p>
        </p:txBody>
      </p:sp>
      <p:sp>
        <p:nvSpPr>
          <p:cNvPr id="6" name="TextBox 5"/>
          <p:cNvSpPr txBox="1"/>
          <p:nvPr/>
        </p:nvSpPr>
        <p:spPr>
          <a:xfrm>
            <a:off x="3718560" y="1790700"/>
            <a:ext cx="8229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RESULT</a:t>
            </a:r>
          </a:p>
        </p:txBody>
      </p:sp>
      <p:sp>
        <p:nvSpPr>
          <p:cNvPr id="7" name="TextBox 6"/>
          <p:cNvSpPr txBox="1"/>
          <p:nvPr/>
        </p:nvSpPr>
        <p:spPr>
          <a:xfrm>
            <a:off x="4785360" y="1790700"/>
            <a:ext cx="67360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EVIDENCE</a:t>
            </a:r>
          </a:p>
        </p:txBody>
      </p:sp>
      <p:sp>
        <p:nvSpPr>
          <p:cNvPr id="8" name="Rounded Rectangle 7"/>
          <p:cNvSpPr/>
          <p:nvPr/>
        </p:nvSpPr>
        <p:spPr>
          <a:xfrm>
            <a:off x="548640" y="2110740"/>
            <a:ext cx="11094720" cy="556260"/>
          </a:xfrm>
          <a:prstGeom prst="roundRect">
            <a:avLst>
              <a:gd name="adj" fmla="val 8219"/>
            </a:avLst>
          </a:prstGeom>
          <a:solidFill>
            <a:srgbClr val="FFFFFF"/>
          </a:solidFill>
          <a:ln>
            <a:noFill/>
          </a:ln>
          <a:effectLst/>
        </p:spPr>
        <p:txBody>
          <a:bodyPr rtlCol="0" anchor="ctr"/>
          <a:lstStyle/>
          <a:p>
            <a:pPr algn="ctr"/>
          </a:p>
        </p:txBody>
      </p:sp>
      <p:sp>
        <p:nvSpPr>
          <p:cNvPr id="9" name="TextBox 8"/>
          <p:cNvSpPr txBox="1"/>
          <p:nvPr/>
        </p:nvSpPr>
        <p:spPr>
          <a:xfrm>
            <a:off x="670560" y="224028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SUBSTITUTION</a:t>
            </a:r>
          </a:p>
        </p:txBody>
      </p:sp>
      <p:sp>
        <p:nvSpPr>
          <p:cNvPr id="10" name="TextBox 9"/>
          <p:cNvSpPr txBox="1"/>
          <p:nvPr/>
        </p:nvSpPr>
        <p:spPr>
          <a:xfrm>
            <a:off x="3718560" y="224028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1" name="TextBox 10"/>
          <p:cNvSpPr txBox="1"/>
          <p:nvPr/>
        </p:nvSpPr>
        <p:spPr>
          <a:xfrm>
            <a:off x="4785360" y="224028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Independent feed/Search fixtures; unchanged declared-port consumer</a:t>
            </a:r>
          </a:p>
        </p:txBody>
      </p:sp>
      <p:sp>
        <p:nvSpPr>
          <p:cNvPr id="12" name="Rounded Rectangle 11"/>
          <p:cNvSpPr/>
          <p:nvPr/>
        </p:nvSpPr>
        <p:spPr>
          <a:xfrm>
            <a:off x="548640" y="2705100"/>
            <a:ext cx="11094720" cy="556260"/>
          </a:xfrm>
          <a:prstGeom prst="roundRect">
            <a:avLst>
              <a:gd name="adj" fmla="val 8219"/>
            </a:avLst>
          </a:prstGeom>
          <a:solidFill>
            <a:srgbClr val="FFFFFF"/>
          </a:solidFill>
          <a:ln>
            <a:noFill/>
          </a:ln>
          <a:effectLst/>
        </p:spPr>
        <p:txBody>
          <a:bodyPr rtlCol="0" anchor="ctr"/>
          <a:lstStyle/>
          <a:p>
            <a:pPr algn="ctr"/>
          </a:p>
        </p:txBody>
      </p:sp>
      <p:sp>
        <p:nvSpPr>
          <p:cNvPr id="13" name="TextBox 12"/>
          <p:cNvSpPr txBox="1"/>
          <p:nvPr/>
        </p:nvSpPr>
        <p:spPr>
          <a:xfrm>
            <a:off x="670560" y="283464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RECOVERY</a:t>
            </a:r>
          </a:p>
        </p:txBody>
      </p:sp>
      <p:sp>
        <p:nvSpPr>
          <p:cNvPr id="14" name="TextBox 13"/>
          <p:cNvSpPr txBox="1"/>
          <p:nvPr/>
        </p:nvSpPr>
        <p:spPr>
          <a:xfrm>
            <a:off x="3718560" y="283464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5" name="TextBox 14"/>
          <p:cNvSpPr txBox="1"/>
          <p:nvPr/>
        </p:nvSpPr>
        <p:spPr>
          <a:xfrm>
            <a:off x="4785360" y="283464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13 deliberate process kills, replay and durable owner boundaries</a:t>
            </a:r>
          </a:p>
        </p:txBody>
      </p:sp>
      <p:sp>
        <p:nvSpPr>
          <p:cNvPr id="16" name="Rounded Rectangle 15"/>
          <p:cNvSpPr/>
          <p:nvPr/>
        </p:nvSpPr>
        <p:spPr>
          <a:xfrm>
            <a:off x="548640" y="3299460"/>
            <a:ext cx="11094720" cy="556260"/>
          </a:xfrm>
          <a:prstGeom prst="roundRect">
            <a:avLst>
              <a:gd name="adj" fmla="val 8219"/>
            </a:avLst>
          </a:prstGeom>
          <a:solidFill>
            <a:srgbClr val="FFFFFF"/>
          </a:solidFill>
          <a:ln>
            <a:noFill/>
          </a:ln>
          <a:effectLst/>
        </p:spPr>
        <p:txBody>
          <a:bodyPr rtlCol="0" anchor="ctr"/>
          <a:lstStyle/>
          <a:p>
            <a:pPr algn="ctr"/>
          </a:p>
        </p:txBody>
      </p:sp>
      <p:sp>
        <p:nvSpPr>
          <p:cNvPr id="17" name="TextBox 16"/>
          <p:cNvSpPr txBox="1"/>
          <p:nvPr/>
        </p:nvSpPr>
        <p:spPr>
          <a:xfrm>
            <a:off x="670560" y="342900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AUTH_PRIVACY</a:t>
            </a:r>
          </a:p>
        </p:txBody>
      </p:sp>
      <p:sp>
        <p:nvSpPr>
          <p:cNvPr id="18" name="TextBox 17"/>
          <p:cNvSpPr txBox="1"/>
          <p:nvPr/>
        </p:nvSpPr>
        <p:spPr>
          <a:xfrm>
            <a:off x="3718560" y="342900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19" name="TextBox 18"/>
          <p:cNvSpPr txBox="1"/>
          <p:nvPr/>
        </p:nvSpPr>
        <p:spPr>
          <a:xfrm>
            <a:off x="4785360" y="342900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Live authorization, private placement and refusal coverage</a:t>
            </a:r>
          </a:p>
        </p:txBody>
      </p:sp>
      <p:sp>
        <p:nvSpPr>
          <p:cNvPr id="20" name="Rounded Rectangle 19"/>
          <p:cNvSpPr/>
          <p:nvPr/>
        </p:nvSpPr>
        <p:spPr>
          <a:xfrm>
            <a:off x="548640" y="3893819"/>
            <a:ext cx="11094720" cy="556260"/>
          </a:xfrm>
          <a:prstGeom prst="roundRect">
            <a:avLst>
              <a:gd name="adj" fmla="val 8219"/>
            </a:avLst>
          </a:prstGeom>
          <a:solidFill>
            <a:srgbClr val="FFFFFF"/>
          </a:solidFill>
          <a:ln>
            <a:noFill/>
          </a:ln>
          <a:effectLst/>
        </p:spPr>
        <p:txBody>
          <a:bodyPr rtlCol="0" anchor="ctr"/>
          <a:lstStyle/>
          <a:p>
            <a:pPr algn="ctr"/>
          </a:p>
        </p:txBody>
      </p:sp>
      <p:sp>
        <p:nvSpPr>
          <p:cNvPr id="21" name="TextBox 20"/>
          <p:cNvSpPr txBox="1"/>
          <p:nvPr/>
        </p:nvSpPr>
        <p:spPr>
          <a:xfrm>
            <a:off x="670560" y="402336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HIVE_LOOKUP</a:t>
            </a:r>
          </a:p>
        </p:txBody>
      </p:sp>
      <p:sp>
        <p:nvSpPr>
          <p:cNvPr id="22" name="TextBox 21"/>
          <p:cNvSpPr txBox="1"/>
          <p:nvPr/>
        </p:nvSpPr>
        <p:spPr>
          <a:xfrm>
            <a:off x="3718560" y="402336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3" name="TextBox 22"/>
          <p:cNvSpPr txBox="1"/>
          <p:nvPr/>
        </p:nvSpPr>
        <p:spPr>
          <a:xfrm>
            <a:off x="4785360" y="402336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Actual authenticated native query → traversal → payload retrieval</a:t>
            </a:r>
          </a:p>
        </p:txBody>
      </p:sp>
      <p:sp>
        <p:nvSpPr>
          <p:cNvPr id="24" name="Rounded Rectangle 23"/>
          <p:cNvSpPr/>
          <p:nvPr/>
        </p:nvSpPr>
        <p:spPr>
          <a:xfrm>
            <a:off x="548640" y="4488180"/>
            <a:ext cx="11094720" cy="556260"/>
          </a:xfrm>
          <a:prstGeom prst="roundRect">
            <a:avLst>
              <a:gd name="adj" fmla="val 8219"/>
            </a:avLst>
          </a:prstGeom>
          <a:solidFill>
            <a:srgbClr val="FFFFFF"/>
          </a:solidFill>
          <a:ln>
            <a:noFill/>
          </a:ln>
          <a:effectLst/>
        </p:spPr>
        <p:txBody>
          <a:bodyPr rtlCol="0" anchor="ctr"/>
          <a:lstStyle/>
          <a:p>
            <a:pPr algn="ctr"/>
          </a:p>
        </p:txBody>
      </p:sp>
      <p:sp>
        <p:nvSpPr>
          <p:cNvPr id="25" name="TextBox 24"/>
          <p:cNvSpPr txBox="1"/>
          <p:nvPr/>
        </p:nvSpPr>
        <p:spPr>
          <a:xfrm>
            <a:off x="670560" y="461772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REPRO_AND_LEDGER</a:t>
            </a:r>
          </a:p>
        </p:txBody>
      </p:sp>
      <p:sp>
        <p:nvSpPr>
          <p:cNvPr id="26" name="TextBox 25"/>
          <p:cNvSpPr txBox="1"/>
          <p:nvPr/>
        </p:nvSpPr>
        <p:spPr>
          <a:xfrm>
            <a:off x="3718560" y="461772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27" name="TextBox 26"/>
          <p:cNvSpPr txBox="1"/>
          <p:nvPr/>
        </p:nvSpPr>
        <p:spPr>
          <a:xfrm>
            <a:off x="4785360" y="461772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Pinned recipes; separate module/operation/behavior coverage</a:t>
            </a:r>
          </a:p>
        </p:txBody>
      </p:sp>
      <p:sp>
        <p:nvSpPr>
          <p:cNvPr id="28" name="Rounded Rectangle 27"/>
          <p:cNvSpPr/>
          <p:nvPr/>
        </p:nvSpPr>
        <p:spPr>
          <a:xfrm>
            <a:off x="548640" y="5082540"/>
            <a:ext cx="11094720" cy="556260"/>
          </a:xfrm>
          <a:prstGeom prst="roundRect">
            <a:avLst>
              <a:gd name="adj" fmla="val 8219"/>
            </a:avLst>
          </a:prstGeom>
          <a:solidFill>
            <a:srgbClr val="FFFFFF"/>
          </a:solidFill>
          <a:ln>
            <a:noFill/>
          </a:ln>
          <a:effectLst/>
        </p:spPr>
        <p:txBody>
          <a:bodyPr rtlCol="0" anchor="ctr"/>
          <a:lstStyle/>
          <a:p>
            <a:pPr algn="ctr"/>
          </a:p>
        </p:txBody>
      </p:sp>
      <p:sp>
        <p:nvSpPr>
          <p:cNvPr id="29" name="TextBox 28"/>
          <p:cNvSpPr txBox="1"/>
          <p:nvPr/>
        </p:nvSpPr>
        <p:spPr>
          <a:xfrm>
            <a:off x="670560" y="5212080"/>
            <a:ext cx="2804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LEGACY_REGRESSION</a:t>
            </a:r>
          </a:p>
        </p:txBody>
      </p:sp>
      <p:sp>
        <p:nvSpPr>
          <p:cNvPr id="30" name="TextBox 29"/>
          <p:cNvSpPr txBox="1"/>
          <p:nvPr/>
        </p:nvSpPr>
        <p:spPr>
          <a:xfrm>
            <a:off x="3718560" y="5212080"/>
            <a:ext cx="8229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PASS</a:t>
            </a:r>
          </a:p>
        </p:txBody>
      </p:sp>
      <p:sp>
        <p:nvSpPr>
          <p:cNvPr id="31" name="TextBox 30"/>
          <p:cNvSpPr txBox="1"/>
          <p:nvPr/>
        </p:nvSpPr>
        <p:spPr>
          <a:xfrm>
            <a:off x="4785360" y="5212080"/>
            <a:ext cx="673608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M1–M3.1 and unchanged M4 fixture + real-chain suites pass</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Final missing prerequisites: 0 · executed failures: 0 · observation timeouts: 0.</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evidence/m5/manifest.json · final/verification.json</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51 / 64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M5 SOURCE LEDGER</a:t>
            </a:r>
          </a:p>
        </p:txBody>
      </p:sp>
      <p:sp>
        <p:nvSpPr>
          <p:cNvPr id="3" name="TextBox 2"/>
          <p:cNvSpPr txBox="1"/>
          <p:nvPr/>
        </p:nvSpPr>
        <p:spPr>
          <a:xfrm>
            <a:off x="533400" y="723900"/>
            <a:ext cx="11125200" cy="419404"/>
          </a:xfrm>
          <a:prstGeom prst="rect">
            <a:avLst/>
          </a:prstGeom>
          <a:noFill/>
        </p:spPr>
        <p:txBody>
          <a:bodyPr wrap="none" lIns="0" rIns="0" tIns="0" bIns="0" anchor="t" anchorCtr="0">
            <a:noAutofit/>
          </a:bodyPr>
          <a:lstStyle/>
          <a:p>
            <a:pPr algn="l">
              <a:lnSpc>
                <a:spcPct val="100000"/>
              </a:lnSpc>
              <a:spcBef>
                <a:spcPts val="0"/>
              </a:spcBef>
              <a:spcAft>
                <a:spcPts val="0"/>
              </a:spcAft>
            </a:pPr>
            <a:r>
              <a:rPr sz="2580" b="1">
                <a:solidFill>
                  <a:srgbClr val="102B3F"/>
                </a:solidFill>
                <a:latin typeface="DejaVu Sans"/>
              </a:rPr>
              <a:t>Source, build and outcome remain independently traceable</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final tested implementation and evidence-only descendant are explicit.</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LAYER</a:t>
            </a:r>
          </a:p>
        </p:txBody>
      </p:sp>
      <p:sp>
        <p:nvSpPr>
          <p:cNvPr id="6" name="TextBox 5"/>
          <p:cNvSpPr txBox="1"/>
          <p:nvPr/>
        </p:nvSpPr>
        <p:spPr>
          <a:xfrm>
            <a:off x="3337560" y="1790700"/>
            <a:ext cx="3756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RECORDED STATE</a:t>
            </a:r>
          </a:p>
        </p:txBody>
      </p:sp>
      <p:sp>
        <p:nvSpPr>
          <p:cNvPr id="7" name="TextBox 6"/>
          <p:cNvSpPr txBox="1"/>
          <p:nvPr/>
        </p:nvSpPr>
        <p:spPr>
          <a:xfrm>
            <a:off x="7338059" y="1790700"/>
            <a:ext cx="41833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BOUNDARY</a:t>
            </a:r>
          </a:p>
        </p:txBody>
      </p:sp>
      <p:sp>
        <p:nvSpPr>
          <p:cNvPr id="8" name="Rounded Rectangle 7"/>
          <p:cNvSpPr/>
          <p:nvPr/>
        </p:nvSpPr>
        <p:spPr>
          <a:xfrm>
            <a:off x="548640" y="2110740"/>
            <a:ext cx="11094720" cy="655320"/>
          </a:xfrm>
          <a:prstGeom prst="roundRect">
            <a:avLst>
              <a:gd name="adj" fmla="val 6976"/>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Requested / actual</a:t>
            </a:r>
          </a:p>
        </p:txBody>
      </p:sp>
      <p:sp>
        <p:nvSpPr>
          <p:cNvPr id="10" name="TextBox 9"/>
          <p:cNvSpPr txBox="1"/>
          <p:nvPr/>
        </p:nvSpPr>
        <p:spPr>
          <a:xfrm>
            <a:off x="670560" y="247436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start</a:t>
            </a:r>
          </a:p>
        </p:txBody>
      </p:sp>
      <p:sp>
        <p:nvSpPr>
          <p:cNvPr id="11" name="TextBox 10"/>
          <p:cNvSpPr txBox="1"/>
          <p:nvPr/>
        </p:nvSpPr>
        <p:spPr>
          <a:xfrm>
            <a:off x="3337560" y="2240280"/>
            <a:ext cx="3756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05b1c52 → 4093301</a:t>
            </a:r>
          </a:p>
        </p:txBody>
      </p:sp>
      <p:sp>
        <p:nvSpPr>
          <p:cNvPr id="12" name="TextBox 11"/>
          <p:cNvSpPr txBox="1"/>
          <p:nvPr/>
        </p:nvSpPr>
        <p:spPr>
          <a:xfrm>
            <a:off x="7338059" y="2240280"/>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Presentation-only descendant before M5</a:t>
            </a:r>
          </a:p>
        </p:txBody>
      </p:sp>
      <p:sp>
        <p:nvSpPr>
          <p:cNvPr id="13" name="Rounded Rectangle 12"/>
          <p:cNvSpPr/>
          <p:nvPr/>
        </p:nvSpPr>
        <p:spPr>
          <a:xfrm>
            <a:off x="548640" y="2804160"/>
            <a:ext cx="11094720" cy="655320"/>
          </a:xfrm>
          <a:prstGeom prst="roundRect">
            <a:avLst>
              <a:gd name="adj" fmla="val 6976"/>
            </a:avLst>
          </a:prstGeom>
          <a:solidFill>
            <a:srgbClr val="FFFFFF"/>
          </a:solidFill>
          <a:ln>
            <a:noFill/>
          </a:ln>
          <a:effectLst/>
        </p:spPr>
        <p:txBody>
          <a:bodyPr rtlCol="0" anchor="ctr"/>
          <a:lstStyle/>
          <a:p>
            <a:pPr algn="ctr"/>
          </a:p>
        </p:txBody>
      </p:sp>
      <p:sp>
        <p:nvSpPr>
          <p:cNvPr id="14" name="TextBox 13"/>
          <p:cNvSpPr txBox="1"/>
          <p:nvPr/>
        </p:nvSpPr>
        <p:spPr>
          <a:xfrm>
            <a:off x="670560" y="293370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Clean tested</a:t>
            </a:r>
          </a:p>
        </p:txBody>
      </p:sp>
      <p:sp>
        <p:nvSpPr>
          <p:cNvPr id="15" name="TextBox 14"/>
          <p:cNvSpPr txBox="1"/>
          <p:nvPr/>
        </p:nvSpPr>
        <p:spPr>
          <a:xfrm>
            <a:off x="670560" y="316778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implementation</a:t>
            </a:r>
          </a:p>
        </p:txBody>
      </p:sp>
      <p:sp>
        <p:nvSpPr>
          <p:cNvPr id="16" name="TextBox 15"/>
          <p:cNvSpPr txBox="1"/>
          <p:nvPr/>
        </p:nvSpPr>
        <p:spPr>
          <a:xfrm>
            <a:off x="3337560" y="2933700"/>
            <a:ext cx="3756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bfb0ec8856c9</a:t>
            </a:r>
          </a:p>
        </p:txBody>
      </p:sp>
      <p:sp>
        <p:nvSpPr>
          <p:cNvPr id="17" name="TextBox 16"/>
          <p:cNvSpPr txBox="1"/>
          <p:nvPr/>
        </p:nvSpPr>
        <p:spPr>
          <a:xfrm>
            <a:off x="7338059" y="2933700"/>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Final native plugin and Python loaded from</a:t>
            </a:r>
          </a:p>
        </p:txBody>
      </p:sp>
      <p:sp>
        <p:nvSpPr>
          <p:cNvPr id="18" name="TextBox 17"/>
          <p:cNvSpPr txBox="1"/>
          <p:nvPr/>
        </p:nvSpPr>
        <p:spPr>
          <a:xfrm>
            <a:off x="7338059" y="3167786"/>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this source</a:t>
            </a:r>
          </a:p>
        </p:txBody>
      </p:sp>
      <p:sp>
        <p:nvSpPr>
          <p:cNvPr id="19" name="Rounded Rectangle 18"/>
          <p:cNvSpPr/>
          <p:nvPr/>
        </p:nvSpPr>
        <p:spPr>
          <a:xfrm>
            <a:off x="548640" y="3497579"/>
            <a:ext cx="11094720" cy="655320"/>
          </a:xfrm>
          <a:prstGeom prst="roundRect">
            <a:avLst>
              <a:gd name="adj" fmla="val 6976"/>
            </a:avLst>
          </a:prstGeom>
          <a:solidFill>
            <a:srgbClr val="FFFFFF"/>
          </a:solidFill>
          <a:ln>
            <a:noFill/>
          </a:ln>
          <a:effectLst/>
        </p:spPr>
        <p:txBody>
          <a:bodyPr rtlCol="0" anchor="ctr"/>
          <a:lstStyle/>
          <a:p>
            <a:pPr algn="ctr"/>
          </a:p>
        </p:txBody>
      </p:sp>
      <p:sp>
        <p:nvSpPr>
          <p:cNvPr id="20" name="TextBox 19"/>
          <p:cNvSpPr txBox="1"/>
          <p:nvPr/>
        </p:nvSpPr>
        <p:spPr>
          <a:xfrm>
            <a:off x="670560" y="3627119"/>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Evidence snapshot</a:t>
            </a:r>
          </a:p>
        </p:txBody>
      </p:sp>
      <p:sp>
        <p:nvSpPr>
          <p:cNvPr id="21" name="TextBox 20"/>
          <p:cNvSpPr txBox="1"/>
          <p:nvPr/>
        </p:nvSpPr>
        <p:spPr>
          <a:xfrm>
            <a:off x="3337560" y="3627119"/>
            <a:ext cx="3756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3dc6c1146601</a:t>
            </a:r>
          </a:p>
        </p:txBody>
      </p:sp>
      <p:sp>
        <p:nvSpPr>
          <p:cNvPr id="22" name="TextBox 21"/>
          <p:cNvSpPr txBox="1"/>
          <p:nvPr/>
        </p:nvSpPr>
        <p:spPr>
          <a:xfrm>
            <a:off x="7338059" y="3627119"/>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Docs/evidence only; runtime and tests</a:t>
            </a:r>
          </a:p>
        </p:txBody>
      </p:sp>
      <p:sp>
        <p:nvSpPr>
          <p:cNvPr id="23" name="TextBox 22"/>
          <p:cNvSpPr txBox="1"/>
          <p:nvPr/>
        </p:nvSpPr>
        <p:spPr>
          <a:xfrm>
            <a:off x="7338059" y="3861206"/>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unchanged</a:t>
            </a:r>
          </a:p>
        </p:txBody>
      </p:sp>
      <p:sp>
        <p:nvSpPr>
          <p:cNvPr id="24" name="Rounded Rectangle 23"/>
          <p:cNvSpPr/>
          <p:nvPr/>
        </p:nvSpPr>
        <p:spPr>
          <a:xfrm>
            <a:off x="548640" y="4191000"/>
            <a:ext cx="11094720" cy="655320"/>
          </a:xfrm>
          <a:prstGeom prst="roundRect">
            <a:avLst>
              <a:gd name="adj" fmla="val 6976"/>
            </a:avLst>
          </a:prstGeom>
          <a:solidFill>
            <a:srgbClr val="FFFFFF"/>
          </a:solidFill>
          <a:ln>
            <a:noFill/>
          </a:ln>
          <a:effectLst/>
        </p:spPr>
        <p:txBody>
          <a:bodyPr rtlCol="0" anchor="ctr"/>
          <a:lstStyle/>
          <a:p>
            <a:pPr algn="ctr"/>
          </a:p>
        </p:txBody>
      </p:sp>
      <p:sp>
        <p:nvSpPr>
          <p:cNvPr id="25" name="TextBox 24"/>
          <p:cNvSpPr txBox="1"/>
          <p:nvPr/>
        </p:nvSpPr>
        <p:spPr>
          <a:xfrm>
            <a:off x="670560" y="432054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Fresh native provider</a:t>
            </a:r>
          </a:p>
        </p:txBody>
      </p:sp>
      <p:sp>
        <p:nvSpPr>
          <p:cNvPr id="26" name="TextBox 25"/>
          <p:cNvSpPr txBox="1"/>
          <p:nvPr/>
        </p:nvSpPr>
        <p:spPr>
          <a:xfrm>
            <a:off x="670560" y="4554626"/>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build</a:t>
            </a:r>
          </a:p>
        </p:txBody>
      </p:sp>
      <p:sp>
        <p:nvSpPr>
          <p:cNvPr id="27" name="TextBox 26"/>
          <p:cNvSpPr txBox="1"/>
          <p:nvPr/>
        </p:nvSpPr>
        <p:spPr>
          <a:xfrm>
            <a:off x="3337560" y="4320540"/>
            <a:ext cx="3756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Hive 34b0fb3 · DeTTa 272888f</a:t>
            </a:r>
          </a:p>
        </p:txBody>
      </p:sp>
      <p:sp>
        <p:nvSpPr>
          <p:cNvPr id="28" name="TextBox 27"/>
          <p:cNvSpPr txBox="1"/>
          <p:nvPr/>
        </p:nvSpPr>
        <p:spPr>
          <a:xfrm>
            <a:off x="7338059" y="4320540"/>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Fresh sources, venv and native objects;</a:t>
            </a:r>
          </a:p>
        </p:txBody>
      </p:sp>
      <p:sp>
        <p:nvSpPr>
          <p:cNvPr id="29" name="TextBox 28"/>
          <p:cNvSpPr txBox="1"/>
          <p:nvPr/>
        </p:nvSpPr>
        <p:spPr>
          <a:xfrm>
            <a:off x="7338059" y="4554626"/>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warm caches</a:t>
            </a:r>
          </a:p>
        </p:txBody>
      </p:sp>
      <p:sp>
        <p:nvSpPr>
          <p:cNvPr id="30" name="Rounded Rectangle 29"/>
          <p:cNvSpPr/>
          <p:nvPr/>
        </p:nvSpPr>
        <p:spPr>
          <a:xfrm>
            <a:off x="548640" y="4884420"/>
            <a:ext cx="11094720" cy="655320"/>
          </a:xfrm>
          <a:prstGeom prst="roundRect">
            <a:avLst>
              <a:gd name="adj" fmla="val 6976"/>
            </a:avLst>
          </a:prstGeom>
          <a:solidFill>
            <a:srgbClr val="FFFFFF"/>
          </a:solidFill>
          <a:ln>
            <a:noFill/>
          </a:ln>
          <a:effectLst/>
        </p:spPr>
        <p:txBody>
          <a:bodyPr rtlCol="0" anchor="ctr"/>
          <a:lstStyle/>
          <a:p>
            <a:pPr algn="ctr"/>
          </a:p>
        </p:txBody>
      </p:sp>
      <p:sp>
        <p:nvSpPr>
          <p:cNvPr id="31" name="TextBox 30"/>
          <p:cNvSpPr txBox="1"/>
          <p:nvPr/>
        </p:nvSpPr>
        <p:spPr>
          <a:xfrm>
            <a:off x="670560" y="5013960"/>
            <a:ext cx="24231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Preserved math / chain</a:t>
            </a:r>
          </a:p>
        </p:txBody>
      </p:sp>
      <p:sp>
        <p:nvSpPr>
          <p:cNvPr id="32" name="TextBox 31"/>
          <p:cNvSpPr txBox="1"/>
          <p:nvPr/>
        </p:nvSpPr>
        <p:spPr>
          <a:xfrm>
            <a:off x="3337560" y="5013960"/>
            <a:ext cx="375666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PLN 4405956 · F1R3node 9ec1096</a:t>
            </a:r>
          </a:p>
        </p:txBody>
      </p:sp>
      <p:sp>
        <p:nvSpPr>
          <p:cNvPr id="33" name="TextBox 32"/>
          <p:cNvSpPr txBox="1"/>
          <p:nvPr/>
        </p:nvSpPr>
        <p:spPr>
          <a:xfrm>
            <a:off x="7338059" y="5013960"/>
            <a:ext cx="4183379"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Same formulas; reused pinned node binary</a:t>
            </a:r>
          </a:p>
        </p:txBody>
      </p:sp>
      <p:sp>
        <p:nvSpPr>
          <p:cNvPr id="34" name="Rounded Rectangle 3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5" name="TextBox 3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M5 archives final passes, corrected development failures and intentional negative classification separately.</a:t>
            </a:r>
          </a:p>
        </p:txBody>
      </p:sp>
      <p:cxnSp>
        <p:nvCxnSpPr>
          <p:cNvPr id="36" name="Connector 35"/>
          <p:cNvCxnSpPr/>
          <p:nvPr/>
        </p:nvCxnSpPr>
        <p:spPr>
          <a:xfrm>
            <a:off x="548640" y="6393180"/>
            <a:ext cx="11094720" cy="0"/>
          </a:xfrm>
          <a:prstGeom prst="line">
            <a:avLst/>
          </a:prstGeom>
          <a:ln w="7620">
            <a:solidFill>
              <a:srgbClr val="C9D2D4"/>
            </a:solidFill>
          </a:ln>
          <a:effectLst/>
        </p:spPr>
      </p:cxnSp>
      <p:sp>
        <p:nvSpPr>
          <p:cNvPr id="37" name="TextBox 3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evidence/m5/source-state.json · reproduction.json</a:t>
            </a:r>
          </a:p>
        </p:txBody>
      </p:sp>
      <p:sp>
        <p:nvSpPr>
          <p:cNvPr id="38" name="TextBox 3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52 / 64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07 / GUARANTEES AND STOPPING POINT</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The limitations are part of the contract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M5 adds bounded private discovery while preserving the prior cognition and chain limits.</a:t>
            </a:r>
          </a:p>
        </p:txBody>
      </p:sp>
      <p:sp>
        <p:nvSpPr>
          <p:cNvPr id="5" name="Rounded Rectangle 4"/>
          <p:cNvSpPr/>
          <p:nvPr/>
        </p:nvSpPr>
        <p:spPr>
          <a:xfrm>
            <a:off x="548640" y="1905000"/>
            <a:ext cx="5364480" cy="1668780"/>
          </a:xfrm>
          <a:prstGeom prst="roundRect">
            <a:avLst>
              <a:gd name="adj" fmla="val 5936"/>
            </a:avLst>
          </a:prstGeom>
          <a:solidFill>
            <a:srgbClr val="E4EBF5"/>
          </a:solidFill>
          <a:ln w="7620">
            <a:solidFill>
              <a:srgbClr val="007C78"/>
            </a:solidFill>
          </a:ln>
          <a:effectLst/>
        </p:spPr>
        <p:txBody>
          <a:bodyPr rtlCol="0" anchor="ctr"/>
          <a:lstStyle/>
          <a:p>
            <a:pPr algn="ctr"/>
          </a:p>
        </p:txBody>
      </p:sp>
      <p:sp>
        <p:nvSpPr>
          <p:cNvPr id="6" name="TextBox 5"/>
          <p:cNvSpPr txBox="1"/>
          <p:nvPr/>
        </p:nvSpPr>
        <p:spPr>
          <a:xfrm>
            <a:off x="71628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007C78"/>
                </a:solidFill>
                <a:latin typeface="DejaVu Sans"/>
              </a:rPr>
              <a:t>Exact attributes; one-hop lookup</a:t>
            </a:r>
          </a:p>
        </p:txBody>
      </p:sp>
      <p:sp>
        <p:nvSpPr>
          <p:cNvPr id="7" name="TextBox 6"/>
          <p:cNvSpPr txBox="1"/>
          <p:nvPr/>
        </p:nvSpPr>
        <p:spPr>
          <a:xfrm>
            <a:off x="71628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Case-sensitive conjunction over kind, topic</a:t>
            </a:r>
          </a:p>
        </p:txBody>
      </p:sp>
      <p:sp>
        <p:nvSpPr>
          <p:cNvPr id="8" name="TextBox 7"/>
          <p:cNvSpPr txBox="1"/>
          <p:nvPr/>
        </p:nvSpPr>
        <p:spPr>
          <a:xfrm>
            <a:off x="71628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and label. No embeddings, semantic search or</a:t>
            </a:r>
          </a:p>
        </p:txBody>
      </p:sp>
      <p:sp>
        <p:nvSpPr>
          <p:cNvPr id="9" name="TextBox 8"/>
          <p:cNvSpPr txBox="1"/>
          <p:nvPr/>
        </p:nvSpPr>
        <p:spPr>
          <a:xfrm>
            <a:off x="71628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task generation.</a:t>
            </a:r>
          </a:p>
        </p:txBody>
      </p:sp>
      <p:sp>
        <p:nvSpPr>
          <p:cNvPr id="10" name="Rounded Rectangle 9"/>
          <p:cNvSpPr/>
          <p:nvPr/>
        </p:nvSpPr>
        <p:spPr>
          <a:xfrm>
            <a:off x="6278880" y="1905000"/>
            <a:ext cx="5364480" cy="1668780"/>
          </a:xfrm>
          <a:prstGeom prst="roundRect">
            <a:avLst>
              <a:gd name="adj" fmla="val 593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6446520" y="2072639"/>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A86A15"/>
                </a:solidFill>
                <a:latin typeface="DejaVu Sans"/>
              </a:rPr>
              <a:t>Fresh profiles and intact files</a:t>
            </a:r>
          </a:p>
        </p:txBody>
      </p:sp>
      <p:sp>
        <p:nvSpPr>
          <p:cNvPr id="12" name="TextBox 11"/>
          <p:cNvSpPr txBox="1"/>
          <p:nvPr/>
        </p:nvSpPr>
        <p:spPr>
          <a:xfrm>
            <a:off x="6446520" y="24512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Finite local stores. No migration, eviction or</a:t>
            </a:r>
          </a:p>
        </p:txBody>
      </p:sp>
      <p:sp>
        <p:nvSpPr>
          <p:cNvPr id="13" name="TextBox 12"/>
          <p:cNvSpPr txBox="1"/>
          <p:nvPr/>
        </p:nvSpPr>
        <p:spPr>
          <a:xfrm>
            <a:off x="6446520" y="27243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automatic repair; unavailable source bytes</a:t>
            </a:r>
          </a:p>
        </p:txBody>
      </p:sp>
      <p:sp>
        <p:nvSpPr>
          <p:cNvPr id="14" name="TextBox 13"/>
          <p:cNvSpPr txBox="1"/>
          <p:nvPr/>
        </p:nvSpPr>
        <p:spPr>
          <a:xfrm>
            <a:off x="6446520" y="29974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block indexing.</a:t>
            </a:r>
          </a:p>
        </p:txBody>
      </p:sp>
      <p:sp>
        <p:nvSpPr>
          <p:cNvPr id="15" name="Rounded Rectangle 14"/>
          <p:cNvSpPr/>
          <p:nvPr/>
        </p:nvSpPr>
        <p:spPr>
          <a:xfrm>
            <a:off x="54864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16" name="TextBox 15"/>
          <p:cNvSpPr txBox="1"/>
          <p:nvPr/>
        </p:nvSpPr>
        <p:spPr>
          <a:xfrm>
            <a:off x="71628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Independent snapshots</a:t>
            </a:r>
          </a:p>
        </p:txBody>
      </p:sp>
      <p:sp>
        <p:nvSpPr>
          <p:cNvPr id="17" name="TextBox 16"/>
          <p:cNvSpPr txBox="1"/>
          <p:nvPr/>
        </p:nvSpPr>
        <p:spPr>
          <a:xfrm>
            <a:off x="71628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Search prefix W and Relations head R are</a:t>
            </a:r>
          </a:p>
        </p:txBody>
      </p:sp>
      <p:sp>
        <p:nvSpPr>
          <p:cNvPr id="18" name="TextBox 17"/>
          <p:cNvSpPr txBox="1"/>
          <p:nvPr/>
        </p:nvSpPr>
        <p:spPr>
          <a:xfrm>
            <a:off x="71628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explicit. They do not form a global atomic</a:t>
            </a:r>
          </a:p>
        </p:txBody>
      </p:sp>
      <p:sp>
        <p:nvSpPr>
          <p:cNvPr id="19" name="TextBox 18"/>
          <p:cNvSpPr txBox="1"/>
          <p:nvPr/>
        </p:nvSpPr>
        <p:spPr>
          <a:xfrm>
            <a:off x="71628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snapshot.</a:t>
            </a:r>
          </a:p>
        </p:txBody>
      </p:sp>
      <p:sp>
        <p:nvSpPr>
          <p:cNvPr id="20" name="Rounded Rectangle 19"/>
          <p:cNvSpPr/>
          <p:nvPr/>
        </p:nvSpPr>
        <p:spPr>
          <a:xfrm>
            <a:off x="6278880" y="3848100"/>
            <a:ext cx="5364480" cy="1668780"/>
          </a:xfrm>
          <a:prstGeom prst="roundRect">
            <a:avLst>
              <a:gd name="adj" fmla="val 5936"/>
            </a:avLst>
          </a:prstGeom>
          <a:solidFill>
            <a:srgbClr val="E4EBF5"/>
          </a:solidFill>
          <a:ln w="7620">
            <a:solidFill>
              <a:srgbClr val="315E9C"/>
            </a:solidFill>
          </a:ln>
          <a:effectLst/>
        </p:spPr>
        <p:txBody>
          <a:bodyPr rtlCol="0" anchor="ctr"/>
          <a:lstStyle/>
          <a:p>
            <a:pPr algn="ctr"/>
          </a:p>
        </p:txBody>
      </p:sp>
      <p:sp>
        <p:nvSpPr>
          <p:cNvPr id="21" name="TextBox 20"/>
          <p:cNvSpPr txBox="1"/>
          <p:nvPr/>
        </p:nvSpPr>
        <p:spPr>
          <a:xfrm>
            <a:off x="6446520" y="4015740"/>
            <a:ext cx="5029200" cy="302361"/>
          </a:xfrm>
          <a:prstGeom prst="rect">
            <a:avLst/>
          </a:prstGeom>
          <a:noFill/>
        </p:spPr>
        <p:txBody>
          <a:bodyPr wrap="none" lIns="0" rIns="0" tIns="0" bIns="0" anchor="t" anchorCtr="0">
            <a:noAutofit/>
          </a:bodyPr>
          <a:lstStyle/>
          <a:p>
            <a:pPr algn="l">
              <a:lnSpc>
                <a:spcPct val="100000"/>
              </a:lnSpc>
              <a:spcBef>
                <a:spcPts val="0"/>
              </a:spcBef>
              <a:spcAft>
                <a:spcPts val="0"/>
              </a:spcAft>
            </a:pPr>
            <a:r>
              <a:rPr sz="1859" b="1">
                <a:solidFill>
                  <a:srgbClr val="315E9C"/>
                </a:solidFill>
                <a:latin typeface="DejaVu Sans"/>
              </a:rPr>
              <a:t>Earlier guarantees retain their limits</a:t>
            </a:r>
          </a:p>
        </p:txBody>
      </p:sp>
      <p:sp>
        <p:nvSpPr>
          <p:cNvPr id="22" name="TextBox 21"/>
          <p:cNvSpPr txBox="1"/>
          <p:nvPr/>
        </p:nvSpPr>
        <p:spPr>
          <a:xfrm>
            <a:off x="6446520" y="4394301"/>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Cognitive budgets stay spent; closure can</a:t>
            </a:r>
          </a:p>
        </p:txBody>
      </p:sp>
      <p:sp>
        <p:nvSpPr>
          <p:cNvPr id="23" name="TextBox 22"/>
          <p:cNvSpPr txBox="1"/>
          <p:nvPr/>
        </p:nvSpPr>
        <p:spPr>
          <a:xfrm>
            <a:off x="6446520" y="4667402"/>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remain pending. Chain proof remains one local</a:t>
            </a:r>
          </a:p>
        </p:txBody>
      </p:sp>
      <p:sp>
        <p:nvSpPr>
          <p:cNvPr id="24" name="TextBox 23"/>
          <p:cNvSpPr txBox="1"/>
          <p:nvPr/>
        </p:nvSpPr>
        <p:spPr>
          <a:xfrm>
            <a:off x="6446520" y="4940503"/>
            <a:ext cx="5029200" cy="273100"/>
          </a:xfrm>
          <a:prstGeom prst="rect">
            <a:avLst/>
          </a:prstGeom>
          <a:noFill/>
        </p:spPr>
        <p:txBody>
          <a:bodyPr wrap="none" lIns="0" rIns="0" tIns="0" bIns="0" anchor="t" anchorCtr="0">
            <a:noAutofit/>
          </a:bodyPr>
          <a:lstStyle/>
          <a:p>
            <a:pPr algn="l">
              <a:lnSpc>
                <a:spcPct val="100000"/>
              </a:lnSpc>
              <a:spcBef>
                <a:spcPts val="0"/>
              </a:spcBef>
              <a:spcAft>
                <a:spcPts val="0"/>
              </a:spcAft>
            </a:pPr>
            <a:r>
              <a:rPr sz="1680" b="0">
                <a:solidFill>
                  <a:srgbClr val="536775"/>
                </a:solidFill>
                <a:latin typeface="DejaVu Sans"/>
              </a:rPr>
              <a:t>validator.</a:t>
            </a:r>
          </a:p>
        </p:txBody>
      </p:sp>
      <p:sp>
        <p:nvSpPr>
          <p:cNvPr id="25" name="Rounded Rectangle 24"/>
          <p:cNvSpPr/>
          <p:nvPr/>
        </p:nvSpPr>
        <p:spPr>
          <a:xfrm>
            <a:off x="548640" y="5829300"/>
            <a:ext cx="11094720" cy="403859"/>
          </a:xfrm>
          <a:prstGeom prst="roundRect">
            <a:avLst>
              <a:gd name="adj" fmla="val 15094"/>
            </a:avLst>
          </a:prstGeom>
          <a:solidFill>
            <a:srgbClr val="EBE5F3"/>
          </a:solidFill>
          <a:ln>
            <a:noFill/>
          </a:ln>
          <a:effectLst/>
        </p:spPr>
        <p:txBody>
          <a:bodyPr rtlCol="0" anchor="ctr"/>
          <a:lstStyle/>
          <a:p>
            <a:pPr algn="ctr"/>
          </a:p>
        </p:txBody>
      </p:sp>
      <p:sp>
        <p:nvSpPr>
          <p:cNvPr id="26" name="TextBox 25"/>
          <p:cNvSpPr txBox="1"/>
          <p:nvPr/>
        </p:nvSpPr>
        <p:spPr>
          <a:xfrm>
            <a:off x="716280" y="5905500"/>
            <a:ext cx="107442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7458A2"/>
                </a:solidFill>
                <a:latin typeface="DejaVu Sans"/>
              </a:rPr>
              <a:t>Stopped at M5: no new cognition, embeddings, scheduler, migration or chain operation.</a:t>
            </a:r>
          </a:p>
        </p:txBody>
      </p:sp>
      <p:cxnSp>
        <p:nvCxnSpPr>
          <p:cNvPr id="27" name="Connector 26"/>
          <p:cNvCxnSpPr/>
          <p:nvPr/>
        </p:nvCxnSpPr>
        <p:spPr>
          <a:xfrm>
            <a:off x="548640" y="6393180"/>
            <a:ext cx="11094720" cy="0"/>
          </a:xfrm>
          <a:prstGeom prst="line">
            <a:avLst/>
          </a:prstGeom>
          <a:ln w="7620">
            <a:solidFill>
              <a:srgbClr val="C9D2D4"/>
            </a:solidFill>
          </a:ln>
          <a:effectLst/>
        </p:spPr>
      </p:cxnSp>
      <p:sp>
        <p:nvSpPr>
          <p:cNvPr id="28" name="TextBox 2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m5-contracts.md · m5-evidence.md</a:t>
            </a:r>
          </a:p>
        </p:txBody>
      </p:sp>
      <p:sp>
        <p:nvSpPr>
          <p:cNvPr id="29" name="TextBox 2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53 / 64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233"/>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AAC0CC"/>
                </a:solidFill>
                <a:latin typeface="DejaVu Sans"/>
              </a:rPr>
              <a:t>07 / TAKEAWAY</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FFFFFF"/>
                </a:solidFill>
                <a:latin typeface="DejaVu Sans"/>
              </a:rPr>
              <a:t/>
            </a:r>
          </a:p>
        </p:txBody>
      </p:sp>
      <p:sp>
        <p:nvSpPr>
          <p:cNvPr id="4" name="TextBox 3"/>
          <p:cNvSpPr txBox="1"/>
          <p:nvPr/>
        </p:nvSpPr>
        <p:spPr>
          <a:xfrm>
            <a:off x="548640" y="1348740"/>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Discover the knowledge.</a:t>
            </a:r>
          </a:p>
        </p:txBody>
      </p:sp>
      <p:sp>
        <p:nvSpPr>
          <p:cNvPr id="5" name="TextBox 4"/>
          <p:cNvSpPr txBox="1"/>
          <p:nvPr/>
        </p:nvSpPr>
        <p:spPr>
          <a:xfrm>
            <a:off x="548640" y="1979676"/>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Preserve the boundaries.</a:t>
            </a:r>
          </a:p>
        </p:txBody>
      </p:sp>
      <p:sp>
        <p:nvSpPr>
          <p:cNvPr id="6" name="TextBox 5"/>
          <p:cNvSpPr txBox="1"/>
          <p:nvPr/>
        </p:nvSpPr>
        <p:spPr>
          <a:xfrm>
            <a:off x="548640" y="2610612"/>
            <a:ext cx="10896600" cy="630936"/>
          </a:xfrm>
          <a:prstGeom prst="rect">
            <a:avLst/>
          </a:prstGeom>
          <a:noFill/>
        </p:spPr>
        <p:txBody>
          <a:bodyPr wrap="none" lIns="0" rIns="0" tIns="0" bIns="0" anchor="t" anchorCtr="0">
            <a:noAutofit/>
          </a:bodyPr>
          <a:lstStyle/>
          <a:p>
            <a:pPr algn="l">
              <a:lnSpc>
                <a:spcPct val="100000"/>
              </a:lnSpc>
              <a:spcBef>
                <a:spcPts val="0"/>
              </a:spcBef>
              <a:spcAft>
                <a:spcPts val="0"/>
              </a:spcAft>
            </a:pPr>
            <a:r>
              <a:rPr sz="4320" b="1">
                <a:solidFill>
                  <a:srgbClr val="FFFFFF"/>
                </a:solidFill>
                <a:latin typeface="DejaVu Sans"/>
              </a:rPr>
              <a:t>Check the evidence.</a:t>
            </a:r>
          </a:p>
        </p:txBody>
      </p:sp>
      <p:sp>
        <p:nvSpPr>
          <p:cNvPr id="7" name="TextBox 6"/>
          <p:cNvSpPr txBox="1"/>
          <p:nvPr/>
        </p:nvSpPr>
        <p:spPr>
          <a:xfrm>
            <a:off x="586740" y="3870960"/>
            <a:ext cx="10439400" cy="349758"/>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AAC0CC"/>
                </a:solidFill>
                <a:latin typeface="DejaVu Sans"/>
              </a:rPr>
              <a:t>Real Hive → exact query → relations → real DeTTa payloads</a:t>
            </a:r>
          </a:p>
        </p:txBody>
      </p:sp>
      <p:sp>
        <p:nvSpPr>
          <p:cNvPr id="8" name="TextBox 7"/>
          <p:cNvSpPr txBox="1"/>
          <p:nvPr/>
        </p:nvSpPr>
        <p:spPr>
          <a:xfrm>
            <a:off x="586740" y="4220718"/>
            <a:ext cx="10439400" cy="349758"/>
          </a:xfrm>
          <a:prstGeom prst="rect">
            <a:avLst/>
          </a:prstGeom>
          <a:noFill/>
        </p:spPr>
        <p:txBody>
          <a:bodyPr wrap="none" lIns="0" rIns="0" tIns="0" bIns="0" anchor="t" anchorCtr="0">
            <a:noAutofit/>
          </a:bodyPr>
          <a:lstStyle/>
          <a:p>
            <a:pPr algn="l">
              <a:lnSpc>
                <a:spcPct val="100000"/>
              </a:lnSpc>
              <a:spcBef>
                <a:spcPts val="0"/>
              </a:spcBef>
              <a:spcAft>
                <a:spcPts val="0"/>
              </a:spcAft>
            </a:pPr>
            <a:r>
              <a:rPr sz="2039" b="0">
                <a:solidFill>
                  <a:srgbClr val="AAC0CC"/>
                </a:solidFill>
                <a:latin typeface="DejaVu Sans"/>
              </a:rPr>
              <a:t>with explicit freshness, independent owners and restart.</a:t>
            </a:r>
          </a:p>
        </p:txBody>
      </p:sp>
      <p:sp>
        <p:nvSpPr>
          <p:cNvPr id="9" name="Rounded Rectangle 8"/>
          <p:cNvSpPr/>
          <p:nvPr/>
        </p:nvSpPr>
        <p:spPr>
          <a:xfrm>
            <a:off x="579120" y="5417820"/>
            <a:ext cx="4629544" cy="304800"/>
          </a:xfrm>
          <a:prstGeom prst="roundRect">
            <a:avLst>
              <a:gd name="adj" fmla="val 17500"/>
            </a:avLst>
          </a:prstGeom>
          <a:solidFill>
            <a:srgbClr val="DCEFE8"/>
          </a:solidFill>
          <a:ln>
            <a:noFill/>
          </a:ln>
          <a:effectLst/>
        </p:spPr>
        <p:txBody>
          <a:bodyPr rtlCol="0" anchor="ctr"/>
          <a:lstStyle/>
          <a:p>
            <a:pPr algn="ctr"/>
          </a:p>
        </p:txBody>
      </p:sp>
      <p:sp>
        <p:nvSpPr>
          <p:cNvPr id="10" name="TextBox 9"/>
          <p:cNvSpPr txBox="1"/>
          <p:nvPr/>
        </p:nvSpPr>
        <p:spPr>
          <a:xfrm>
            <a:off x="685800" y="5471160"/>
            <a:ext cx="4439044"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007C78"/>
                </a:solidFill>
                <a:latin typeface="DejaVu Sans"/>
              </a:rPr>
              <a:t>M5 COMPLETE · ALL 12 REQUIRED GATES PASS</a:t>
            </a:r>
          </a:p>
        </p:txBody>
      </p:sp>
      <p:cxnSp>
        <p:nvCxnSpPr>
          <p:cNvPr id="11" name="Connector 10"/>
          <p:cNvCxnSpPr/>
          <p:nvPr/>
        </p:nvCxnSpPr>
        <p:spPr>
          <a:xfrm>
            <a:off x="548640" y="6393180"/>
            <a:ext cx="11094720" cy="0"/>
          </a:xfrm>
          <a:prstGeom prst="line">
            <a:avLst/>
          </a:prstGeom>
          <a:ln w="7620">
            <a:solidFill>
              <a:srgbClr val="536775"/>
            </a:solidFill>
          </a:ln>
          <a:effectLst/>
        </p:spPr>
      </p:cxnSp>
      <p:sp>
        <p:nvSpPr>
          <p:cNvPr id="12" name="TextBox 11"/>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AAC0CC"/>
                </a:solidFill>
                <a:latin typeface="DejaVu Sans"/>
              </a:rPr>
              <a:t>OMEGA × ASI / THROUGH M5 / M5 tested bfb0ec8 · evidence 3dc6c11</a:t>
            </a:r>
          </a:p>
        </p:txBody>
      </p:sp>
      <p:sp>
        <p:nvSpPr>
          <p:cNvPr id="13" name="TextBox 12"/>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AAC0CC"/>
                </a:solidFill>
                <a:latin typeface="DejaVu Sans Mono"/>
              </a:rPr>
              <a:t>54 / 64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A / CODE NAVIGATION</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Implementation map: responsibilities stay local</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Follow interfaces and owner journals before following concrete provider classes.</a:t>
            </a:r>
          </a:p>
        </p:txBody>
      </p:sp>
      <p:sp>
        <p:nvSpPr>
          <p:cNvPr id="5" name="TextBox 4"/>
          <p:cNvSpPr txBox="1"/>
          <p:nvPr/>
        </p:nvSpPr>
        <p:spPr>
          <a:xfrm>
            <a:off x="670560" y="1790700"/>
            <a:ext cx="2194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6" name="TextBox 5"/>
          <p:cNvSpPr txBox="1"/>
          <p:nvPr/>
        </p:nvSpPr>
        <p:spPr>
          <a:xfrm>
            <a:off x="3108960" y="1790700"/>
            <a:ext cx="4861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FILES / SURFACE</a:t>
            </a:r>
          </a:p>
        </p:txBody>
      </p:sp>
      <p:sp>
        <p:nvSpPr>
          <p:cNvPr id="7" name="TextBox 6"/>
          <p:cNvSpPr txBox="1"/>
          <p:nvPr/>
        </p:nvSpPr>
        <p:spPr>
          <a:xfrm>
            <a:off x="8214359" y="1790700"/>
            <a:ext cx="3307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OWNED STATE</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relay / original C2</a:t>
            </a:r>
          </a:p>
        </p:txBody>
      </p:sp>
      <p:sp>
        <p:nvSpPr>
          <p:cNvPr id="10" name="TextBox 9"/>
          <p:cNvSpPr txBox="1"/>
          <p:nvPr/>
        </p:nvSpPr>
        <p:spPr>
          <a:xfrm>
            <a:off x="3108960" y="22402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episodes.py · evidence_relay.py · delivery_contracts.py</a:t>
            </a:r>
          </a:p>
        </p:txBody>
      </p:sp>
      <p:sp>
        <p:nvSpPr>
          <p:cNvPr id="11" name="TextBox 10"/>
          <p:cNvSpPr txBox="1"/>
          <p:nvPr/>
        </p:nvSpPr>
        <p:spPr>
          <a:xfrm>
            <a:off x="8214359" y="22402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History; delivery + trusted</a:t>
            </a:r>
          </a:p>
        </p:txBody>
      </p:sp>
      <p:sp>
        <p:nvSpPr>
          <p:cNvPr id="12" name="TextBox 11"/>
          <p:cNvSpPr txBox="1"/>
          <p:nvPr/>
        </p:nvSpPr>
        <p:spPr>
          <a:xfrm>
            <a:off x="8214359" y="24646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admission</a:t>
            </a:r>
          </a:p>
        </p:txBody>
      </p:sp>
      <p:sp>
        <p:nvSpPr>
          <p:cNvPr id="15" name="TextBox 14"/>
          <p:cNvSpPr txBox="1"/>
          <p:nvPr/>
        </p:nvSpPr>
        <p:spPr>
          <a:xfrm>
            <a:off x="3108960" y="285750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derived_beliefs.py · cognition_contracts.py</a:t>
            </a:r>
          </a:p>
        </p:txBody>
      </p:sp>
      <p:sp>
        <p:nvSpPr>
          <p:cNvPr id="16" name="TextBox 15"/>
          <p:cNvSpPr txBox="1"/>
          <p:nvPr/>
        </p:nvSpPr>
        <p:spPr>
          <a:xfrm>
            <a:off x="8214359" y="285750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Fresh derived-beliefs.sqlite · local v3</a:t>
            </a:r>
          </a:p>
        </p:txBody>
      </p:sp>
      <p:sp>
        <p:nvSpPr>
          <p:cNvPr id="17" name="Rounded Rectangle 16"/>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8" name="TextBox 17"/>
          <p:cNvSpPr txBox="1"/>
          <p:nvPr/>
        </p:nvSpPr>
        <p:spPr>
          <a:xfrm>
            <a:off x="670560" y="3474719"/>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attention</a:t>
            </a:r>
          </a:p>
        </p:txBody>
      </p:sp>
      <p:sp>
        <p:nvSpPr>
          <p:cNvPr id="19" name="TextBox 18"/>
          <p:cNvSpPr txBox="1"/>
          <p:nvPr/>
        </p:nvSpPr>
        <p:spPr>
          <a:xfrm>
            <a:off x="3108960" y="3474719"/>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attention.py · adapters/fixture_attention.py</a:t>
            </a:r>
          </a:p>
        </p:txBody>
      </p:sp>
      <p:sp>
        <p:nvSpPr>
          <p:cNvPr id="20" name="TextBox 19"/>
          <p:cNvSpPr txBox="1"/>
          <p:nvPr/>
        </p:nvSpPr>
        <p:spPr>
          <a:xfrm>
            <a:off x="8214359" y="3474719"/>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SQLite or independent atomic-file</a:t>
            </a:r>
          </a:p>
        </p:txBody>
      </p:sp>
      <p:sp>
        <p:nvSpPr>
          <p:cNvPr id="21" name="TextBox 20"/>
          <p:cNvSpPr txBox="1"/>
          <p:nvPr/>
        </p:nvSpPr>
        <p:spPr>
          <a:xfrm>
            <a:off x="8214359" y="369905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state</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Pure PLN providers</a:t>
            </a:r>
          </a:p>
        </p:txBody>
      </p:sp>
      <p:sp>
        <p:nvSpPr>
          <p:cNvPr id="24" name="TextBox 23"/>
          <p:cNvSpPr txBox="1"/>
          <p:nvPr/>
        </p:nvSpPr>
        <p:spPr>
          <a:xfrm>
            <a:off x="3108960" y="409194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adapters/pln_deduction.py · pln_revision.py</a:t>
            </a:r>
          </a:p>
        </p:txBody>
      </p:sp>
      <p:sp>
        <p:nvSpPr>
          <p:cNvPr id="25" name="TextBox 24"/>
          <p:cNvSpPr txBox="1"/>
          <p:nvPr/>
        </p:nvSpPr>
        <p:spPr>
          <a:xfrm>
            <a:off x="8214359" y="409194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mutable domain state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controller</a:t>
            </a:r>
          </a:p>
        </p:txBody>
      </p:sp>
      <p:sp>
        <p:nvSpPr>
          <p:cNvPr id="28" name="TextBox 27"/>
          <p:cNvSpPr txBox="1"/>
          <p:nvPr/>
        </p:nvSpPr>
        <p:spPr>
          <a:xfrm>
            <a:off x="3108960" y="470916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inference.py · deadlines.py</a:t>
            </a:r>
          </a:p>
        </p:txBody>
      </p:sp>
      <p:sp>
        <p:nvSpPr>
          <p:cNvPr id="29" name="TextBox 28"/>
          <p:cNvSpPr txBox="1"/>
          <p:nvPr/>
        </p:nvSpPr>
        <p:spPr>
          <a:xfrm>
            <a:off x="8214359" y="470916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Budgets / execution + separate</a:t>
            </a:r>
          </a:p>
        </p:txBody>
      </p:sp>
      <p:sp>
        <p:nvSpPr>
          <p:cNvPr id="30" name="TextBox 29"/>
          <p:cNvSpPr txBox="1"/>
          <p:nvPr/>
        </p:nvSpPr>
        <p:spPr>
          <a:xfrm>
            <a:off x="8214359" y="493349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closure journal</a:t>
            </a:r>
          </a:p>
        </p:txBody>
      </p:sp>
      <p:sp>
        <p:nvSpPr>
          <p:cNvPr id="31" name="Rounded Rectangle 30"/>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2" name="TextBox 31"/>
          <p:cNvSpPr txBox="1"/>
          <p:nvPr/>
        </p:nvSpPr>
        <p:spPr>
          <a:xfrm>
            <a:off x="670560" y="5326380"/>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Composition / native</a:t>
            </a:r>
          </a:p>
        </p:txBody>
      </p:sp>
      <p:sp>
        <p:nvSpPr>
          <p:cNvPr id="33" name="TextBox 32"/>
          <p:cNvSpPr txBox="1"/>
          <p:nvPr/>
        </p:nvSpPr>
        <p:spPr>
          <a:xfrm>
            <a:off x="670560" y="5550712"/>
            <a:ext cx="2194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34" name="TextBox 33"/>
          <p:cNvSpPr txBox="1"/>
          <p:nvPr/>
        </p:nvSpPr>
        <p:spPr>
          <a:xfrm>
            <a:off x="3108960" y="5326380"/>
            <a:ext cx="4861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cognition.py · hive/inference_program/</a:t>
            </a:r>
          </a:p>
        </p:txBody>
      </p:sp>
      <p:sp>
        <p:nvSpPr>
          <p:cNvPr id="35" name="TextBox 34"/>
          <p:cNvSpPr txBox="1"/>
          <p:nvPr/>
        </p:nvSpPr>
        <p:spPr>
          <a:xfrm>
            <a:off x="8214359" y="5326380"/>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Explicit provider bindings; caller</a:t>
            </a:r>
          </a:p>
        </p:txBody>
      </p:sp>
      <p:sp>
        <p:nvSpPr>
          <p:cNvPr id="36" name="TextBox 35"/>
          <p:cNvSpPr txBox="1"/>
          <p:nvPr/>
        </p:nvSpPr>
        <p:spPr>
          <a:xfrm>
            <a:off x="8214359" y="5550712"/>
            <a:ext cx="3307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receipt</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architecture.md · ports.py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55 / 64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B / SOURCE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Exact sources identify the verified native stack</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Full revisions are printed here; source files and built binary hashes remain in the committed evidence.</a:t>
            </a:r>
          </a:p>
        </p:txBody>
      </p:sp>
      <p:sp>
        <p:nvSpPr>
          <p:cNvPr id="5" name="Rounded Rectangle 4"/>
          <p:cNvSpPr/>
          <p:nvPr/>
        </p:nvSpPr>
        <p:spPr>
          <a:xfrm>
            <a:off x="548640" y="1744980"/>
            <a:ext cx="11094720" cy="403859"/>
          </a:xfrm>
          <a:prstGeom prst="roundRect">
            <a:avLst>
              <a:gd name="adj" fmla="val 11320"/>
            </a:avLst>
          </a:prstGeom>
          <a:solidFill>
            <a:srgbClr val="FFFFFF"/>
          </a:solidFill>
          <a:ln>
            <a:noFill/>
          </a:ln>
          <a:effectLst/>
        </p:spPr>
        <p:txBody>
          <a:bodyPr rtlCol="0" anchor="ctr"/>
          <a:lstStyle/>
          <a:p>
            <a:pPr algn="ctr"/>
          </a:p>
        </p:txBody>
      </p:sp>
      <p:sp>
        <p:nvSpPr>
          <p:cNvPr id="6" name="TextBox 5"/>
          <p:cNvSpPr txBox="1"/>
          <p:nvPr/>
        </p:nvSpPr>
        <p:spPr>
          <a:xfrm>
            <a:off x="678180" y="1851659"/>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Fusion · tested</a:t>
            </a:r>
          </a:p>
        </p:txBody>
      </p:sp>
      <p:sp>
        <p:nvSpPr>
          <p:cNvPr id="7" name="TextBox 6"/>
          <p:cNvSpPr txBox="1"/>
          <p:nvPr/>
        </p:nvSpPr>
        <p:spPr>
          <a:xfrm>
            <a:off x="3390900" y="1851659"/>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bfb0ec8856c932dc2bcbc05b8949c957da8d72cd</a:t>
            </a:r>
          </a:p>
        </p:txBody>
      </p:sp>
      <p:sp>
        <p:nvSpPr>
          <p:cNvPr id="8" name="Rounded Rectangle 7"/>
          <p:cNvSpPr/>
          <p:nvPr/>
        </p:nvSpPr>
        <p:spPr>
          <a:xfrm>
            <a:off x="548640" y="2186940"/>
            <a:ext cx="11094720" cy="403859"/>
          </a:xfrm>
          <a:prstGeom prst="roundRect">
            <a:avLst>
              <a:gd name="adj" fmla="val 11320"/>
            </a:avLst>
          </a:prstGeom>
          <a:solidFill>
            <a:srgbClr val="FFFFFF"/>
          </a:solidFill>
          <a:ln>
            <a:noFill/>
          </a:ln>
          <a:effectLst/>
        </p:spPr>
        <p:txBody>
          <a:bodyPr rtlCol="0" anchor="ctr"/>
          <a:lstStyle/>
          <a:p>
            <a:pPr algn="ctr"/>
          </a:p>
        </p:txBody>
      </p:sp>
      <p:sp>
        <p:nvSpPr>
          <p:cNvPr id="9" name="TextBox 8"/>
          <p:cNvSpPr txBox="1"/>
          <p:nvPr/>
        </p:nvSpPr>
        <p:spPr>
          <a:xfrm>
            <a:off x="678180" y="22936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 schematics</a:t>
            </a:r>
          </a:p>
        </p:txBody>
      </p:sp>
      <p:sp>
        <p:nvSpPr>
          <p:cNvPr id="10" name="TextBox 9"/>
          <p:cNvSpPr txBox="1"/>
          <p:nvPr/>
        </p:nvSpPr>
        <p:spPr>
          <a:xfrm>
            <a:off x="3390900" y="22936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4af00db4e395375484dd48d0b9068a59afcf01f8</a:t>
            </a:r>
          </a:p>
        </p:txBody>
      </p:sp>
      <p:sp>
        <p:nvSpPr>
          <p:cNvPr id="11" name="Rounded Rectangle 10"/>
          <p:cNvSpPr/>
          <p:nvPr/>
        </p:nvSpPr>
        <p:spPr>
          <a:xfrm>
            <a:off x="548640" y="2628900"/>
            <a:ext cx="11094720" cy="403859"/>
          </a:xfrm>
          <a:prstGeom prst="roundRect">
            <a:avLst>
              <a:gd name="adj" fmla="val 11320"/>
            </a:avLst>
          </a:prstGeom>
          <a:solidFill>
            <a:srgbClr val="FFFFFF"/>
          </a:solidFill>
          <a:ln>
            <a:noFill/>
          </a:ln>
          <a:effectLst/>
        </p:spPr>
        <p:txBody>
          <a:bodyPr rtlCol="0" anchor="ctr"/>
          <a:lstStyle/>
          <a:p>
            <a:pPr algn="ctr"/>
          </a:p>
        </p:txBody>
      </p:sp>
      <p:sp>
        <p:nvSpPr>
          <p:cNvPr id="12" name="TextBox 11"/>
          <p:cNvSpPr txBox="1"/>
          <p:nvPr/>
        </p:nvSpPr>
        <p:spPr>
          <a:xfrm>
            <a:off x="678180" y="273558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Hive</a:t>
            </a:r>
          </a:p>
        </p:txBody>
      </p:sp>
      <p:sp>
        <p:nvSpPr>
          <p:cNvPr id="13" name="TextBox 12"/>
          <p:cNvSpPr txBox="1"/>
          <p:nvPr/>
        </p:nvSpPr>
        <p:spPr>
          <a:xfrm>
            <a:off x="3390900" y="273558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34b0fb32ab3806e5609fc89bb7535518a35e1aea</a:t>
            </a:r>
          </a:p>
        </p:txBody>
      </p:sp>
      <p:sp>
        <p:nvSpPr>
          <p:cNvPr id="14" name="Rounded Rectangle 13"/>
          <p:cNvSpPr/>
          <p:nvPr/>
        </p:nvSpPr>
        <p:spPr>
          <a:xfrm>
            <a:off x="548640" y="3070860"/>
            <a:ext cx="11094720" cy="403859"/>
          </a:xfrm>
          <a:prstGeom prst="roundRect">
            <a:avLst>
              <a:gd name="adj" fmla="val 11320"/>
            </a:avLst>
          </a:prstGeom>
          <a:solidFill>
            <a:srgbClr val="FFFFFF"/>
          </a:solidFill>
          <a:ln>
            <a:noFill/>
          </a:ln>
          <a:effectLst/>
        </p:spPr>
        <p:txBody>
          <a:bodyPr rtlCol="0" anchor="ctr"/>
          <a:lstStyle/>
          <a:p>
            <a:pPr algn="ctr"/>
          </a:p>
        </p:txBody>
      </p:sp>
      <p:sp>
        <p:nvSpPr>
          <p:cNvPr id="15" name="TextBox 14"/>
          <p:cNvSpPr txBox="1"/>
          <p:nvPr/>
        </p:nvSpPr>
        <p:spPr>
          <a:xfrm>
            <a:off x="678180" y="31775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DeTTa</a:t>
            </a:r>
          </a:p>
        </p:txBody>
      </p:sp>
      <p:sp>
        <p:nvSpPr>
          <p:cNvPr id="16" name="TextBox 15"/>
          <p:cNvSpPr txBox="1"/>
          <p:nvPr/>
        </p:nvSpPr>
        <p:spPr>
          <a:xfrm>
            <a:off x="3390900" y="31775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272888f264dd2dde18b574cabb53c266b0dac2ec</a:t>
            </a:r>
          </a:p>
        </p:txBody>
      </p:sp>
      <p:sp>
        <p:nvSpPr>
          <p:cNvPr id="17" name="Rounded Rectangle 16"/>
          <p:cNvSpPr/>
          <p:nvPr/>
        </p:nvSpPr>
        <p:spPr>
          <a:xfrm>
            <a:off x="548640" y="3512819"/>
            <a:ext cx="11094720" cy="403859"/>
          </a:xfrm>
          <a:prstGeom prst="roundRect">
            <a:avLst>
              <a:gd name="adj" fmla="val 11320"/>
            </a:avLst>
          </a:prstGeom>
          <a:solidFill>
            <a:srgbClr val="FFFFFF"/>
          </a:solidFill>
          <a:ln>
            <a:noFill/>
          </a:ln>
          <a:effectLst/>
        </p:spPr>
        <p:txBody>
          <a:bodyPr rtlCol="0" anchor="ctr"/>
          <a:lstStyle/>
          <a:p>
            <a:pPr algn="ctr"/>
          </a:p>
        </p:txBody>
      </p:sp>
      <p:sp>
        <p:nvSpPr>
          <p:cNvPr id="18" name="TextBox 17"/>
          <p:cNvSpPr txBox="1"/>
          <p:nvPr/>
        </p:nvSpPr>
        <p:spPr>
          <a:xfrm>
            <a:off x="678180" y="361950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Reachability</a:t>
            </a:r>
          </a:p>
        </p:txBody>
      </p:sp>
      <p:sp>
        <p:nvSpPr>
          <p:cNvPr id="19" name="TextBox 18"/>
          <p:cNvSpPr txBox="1"/>
          <p:nvPr/>
        </p:nvSpPr>
        <p:spPr>
          <a:xfrm>
            <a:off x="3390900" y="361950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dd56f3f053ed90239de5377021a7d3b3fbf424ac</a:t>
            </a:r>
          </a:p>
        </p:txBody>
      </p:sp>
      <p:sp>
        <p:nvSpPr>
          <p:cNvPr id="20" name="Rounded Rectangle 19"/>
          <p:cNvSpPr/>
          <p:nvPr/>
        </p:nvSpPr>
        <p:spPr>
          <a:xfrm>
            <a:off x="548640" y="3954779"/>
            <a:ext cx="11094720" cy="403859"/>
          </a:xfrm>
          <a:prstGeom prst="roundRect">
            <a:avLst>
              <a:gd name="adj" fmla="val 11320"/>
            </a:avLst>
          </a:prstGeom>
          <a:solidFill>
            <a:srgbClr val="FFFFFF"/>
          </a:solidFill>
          <a:ln>
            <a:noFill/>
          </a:ln>
          <a:effectLst/>
        </p:spPr>
        <p:txBody>
          <a:bodyPr rtlCol="0" anchor="ctr"/>
          <a:lstStyle/>
          <a:p>
            <a:pPr algn="ctr"/>
          </a:p>
        </p:txBody>
      </p:sp>
      <p:sp>
        <p:nvSpPr>
          <p:cNvPr id="21" name="TextBox 20"/>
          <p:cNvSpPr txBox="1"/>
          <p:nvPr/>
        </p:nvSpPr>
        <p:spPr>
          <a:xfrm>
            <a:off x="678180" y="406146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PLN</a:t>
            </a:r>
          </a:p>
        </p:txBody>
      </p:sp>
      <p:sp>
        <p:nvSpPr>
          <p:cNvPr id="22" name="TextBox 21"/>
          <p:cNvSpPr txBox="1"/>
          <p:nvPr/>
        </p:nvSpPr>
        <p:spPr>
          <a:xfrm>
            <a:off x="3390900" y="406146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4405956947c4b53c7ff01bd565aa3b114bc970a1</a:t>
            </a:r>
          </a:p>
        </p:txBody>
      </p:sp>
      <p:sp>
        <p:nvSpPr>
          <p:cNvPr id="23" name="Rounded Rectangle 22"/>
          <p:cNvSpPr/>
          <p:nvPr/>
        </p:nvSpPr>
        <p:spPr>
          <a:xfrm>
            <a:off x="548640" y="4396740"/>
            <a:ext cx="11094720" cy="403859"/>
          </a:xfrm>
          <a:prstGeom prst="roundRect">
            <a:avLst>
              <a:gd name="adj" fmla="val 11320"/>
            </a:avLst>
          </a:prstGeom>
          <a:solidFill>
            <a:srgbClr val="FFFFFF"/>
          </a:solidFill>
          <a:ln>
            <a:noFill/>
          </a:ln>
          <a:effectLst/>
        </p:spPr>
        <p:txBody>
          <a:bodyPr rtlCol="0" anchor="ctr"/>
          <a:lstStyle/>
          <a:p>
            <a:pPr algn="ctr"/>
          </a:p>
        </p:txBody>
      </p:sp>
      <p:sp>
        <p:nvSpPr>
          <p:cNvPr id="24" name="TextBox 23"/>
          <p:cNvSpPr txBox="1"/>
          <p:nvPr/>
        </p:nvSpPr>
        <p:spPr>
          <a:xfrm>
            <a:off x="678180" y="450342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PeTTa</a:t>
            </a:r>
          </a:p>
        </p:txBody>
      </p:sp>
      <p:sp>
        <p:nvSpPr>
          <p:cNvPr id="25" name="TextBox 24"/>
          <p:cNvSpPr txBox="1"/>
          <p:nvPr/>
        </p:nvSpPr>
        <p:spPr>
          <a:xfrm>
            <a:off x="3390900" y="450342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ae66fa8e41dcd5539d614706bd4e5cfb34f9608d</a:t>
            </a:r>
          </a:p>
        </p:txBody>
      </p:sp>
      <p:sp>
        <p:nvSpPr>
          <p:cNvPr id="26" name="Rounded Rectangle 25"/>
          <p:cNvSpPr/>
          <p:nvPr/>
        </p:nvSpPr>
        <p:spPr>
          <a:xfrm>
            <a:off x="548640" y="4838700"/>
            <a:ext cx="11094720" cy="403859"/>
          </a:xfrm>
          <a:prstGeom prst="roundRect">
            <a:avLst>
              <a:gd name="adj" fmla="val 11320"/>
            </a:avLst>
          </a:prstGeom>
          <a:solidFill>
            <a:srgbClr val="FFFFFF"/>
          </a:solidFill>
          <a:ln>
            <a:noFill/>
          </a:ln>
          <a:effectLst/>
        </p:spPr>
        <p:txBody>
          <a:bodyPr rtlCol="0" anchor="ctr"/>
          <a:lstStyle/>
          <a:p>
            <a:pPr algn="ctr"/>
          </a:p>
        </p:txBody>
      </p:sp>
      <p:sp>
        <p:nvSpPr>
          <p:cNvPr id="27" name="TextBox 26"/>
          <p:cNvSpPr txBox="1"/>
          <p:nvPr/>
        </p:nvSpPr>
        <p:spPr>
          <a:xfrm>
            <a:off x="678180" y="494538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SWI 10.1.14</a:t>
            </a:r>
          </a:p>
        </p:txBody>
      </p:sp>
      <p:sp>
        <p:nvSpPr>
          <p:cNvPr id="28" name="TextBox 27"/>
          <p:cNvSpPr txBox="1"/>
          <p:nvPr/>
        </p:nvSpPr>
        <p:spPr>
          <a:xfrm>
            <a:off x="3390900" y="494538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69775434c8226897626b226aefcc8266499f1e2e</a:t>
            </a:r>
          </a:p>
        </p:txBody>
      </p:sp>
      <p:sp>
        <p:nvSpPr>
          <p:cNvPr id="29" name="Rounded Rectangle 28"/>
          <p:cNvSpPr/>
          <p:nvPr/>
        </p:nvSpPr>
        <p:spPr>
          <a:xfrm>
            <a:off x="548640" y="5280660"/>
            <a:ext cx="11094720" cy="403859"/>
          </a:xfrm>
          <a:prstGeom prst="roundRect">
            <a:avLst>
              <a:gd name="adj" fmla="val 11320"/>
            </a:avLst>
          </a:prstGeom>
          <a:solidFill>
            <a:srgbClr val="FFFFFF"/>
          </a:solidFill>
          <a:ln>
            <a:noFill/>
          </a:ln>
          <a:effectLst/>
        </p:spPr>
        <p:txBody>
          <a:bodyPr rtlCol="0" anchor="ctr"/>
          <a:lstStyle/>
          <a:p>
            <a:pPr algn="ctr"/>
          </a:p>
        </p:txBody>
      </p:sp>
      <p:sp>
        <p:nvSpPr>
          <p:cNvPr id="30" name="TextBox 29"/>
          <p:cNvSpPr txBox="1"/>
          <p:nvPr/>
        </p:nvSpPr>
        <p:spPr>
          <a:xfrm>
            <a:off x="678180" y="5387340"/>
            <a:ext cx="25527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1">
                <a:solidFill>
                  <a:srgbClr val="102B3F"/>
                </a:solidFill>
                <a:latin typeface="DejaVu Sans"/>
              </a:rPr>
              <a:t>F1R3node</a:t>
            </a:r>
          </a:p>
        </p:txBody>
      </p:sp>
      <p:sp>
        <p:nvSpPr>
          <p:cNvPr id="31" name="TextBox 30"/>
          <p:cNvSpPr txBox="1"/>
          <p:nvPr/>
        </p:nvSpPr>
        <p:spPr>
          <a:xfrm>
            <a:off x="3390900" y="5387340"/>
            <a:ext cx="8001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Mono"/>
              </a:rPr>
              <a:t>9ec1096e10774926ea8e72f0823482f0bf9213e1</a:t>
            </a:r>
          </a:p>
        </p:txBody>
      </p:sp>
      <p:sp>
        <p:nvSpPr>
          <p:cNvPr id="32" name="Rounded Rectangle 3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33" name="TextBox 32"/>
          <p:cNvSpPr txBox="1"/>
          <p:nvPr/>
        </p:nvSpPr>
        <p:spPr>
          <a:xfrm>
            <a:off x="716280" y="5905500"/>
            <a:ext cx="107442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metta-attention inspected at 3e1c8147; not used as the bounded STI provider.</a:t>
            </a:r>
          </a:p>
        </p:txBody>
      </p:sp>
      <p:cxnSp>
        <p:nvCxnSpPr>
          <p:cNvPr id="34" name="Connector 33"/>
          <p:cNvCxnSpPr/>
          <p:nvPr/>
        </p:nvCxnSpPr>
        <p:spPr>
          <a:xfrm>
            <a:off x="548640" y="6393180"/>
            <a:ext cx="11094720" cy="0"/>
          </a:xfrm>
          <a:prstGeom prst="line">
            <a:avLst/>
          </a:prstGeom>
          <a:ln w="7620">
            <a:solidFill>
              <a:srgbClr val="C9D2D4"/>
            </a:solidFill>
          </a:ln>
          <a:effectLst/>
        </p:spPr>
      </p:cxnSp>
      <p:sp>
        <p:nvSpPr>
          <p:cNvPr id="35" name="TextBox 3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evidence/m5/source-state.json · provider-build.json</a:t>
            </a:r>
          </a:p>
        </p:txBody>
      </p:sp>
      <p:sp>
        <p:nvSpPr>
          <p:cNvPr id="36" name="TextBox 3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56 / 64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C / CONTRACT LEDGER</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Profiles and bounds make compatibility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fusion-delivery-closure/1 selects fresh C1 / C3 / C4 journals; C2 and the math stay unchanged.</a:t>
            </a:r>
          </a:p>
        </p:txBody>
      </p:sp>
      <p:sp>
        <p:nvSpPr>
          <p:cNvPr id="5" name="TextBox 4"/>
          <p:cNvSpPr txBox="1"/>
          <p:nvPr/>
        </p:nvSpPr>
        <p:spPr>
          <a:xfrm>
            <a:off x="670560" y="1790700"/>
            <a:ext cx="22707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PORT / PROFILE</a:t>
            </a:r>
          </a:p>
        </p:txBody>
      </p:sp>
      <p:sp>
        <p:nvSpPr>
          <p:cNvPr id="6" name="TextBox 5"/>
          <p:cNvSpPr txBox="1"/>
          <p:nvPr/>
        </p:nvSpPr>
        <p:spPr>
          <a:xfrm>
            <a:off x="3185160" y="1790700"/>
            <a:ext cx="44043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EXPLICIT SELECTION</a:t>
            </a:r>
          </a:p>
        </p:txBody>
      </p:sp>
      <p:sp>
        <p:nvSpPr>
          <p:cNvPr id="7" name="TextBox 6"/>
          <p:cNvSpPr txBox="1"/>
          <p:nvPr/>
        </p:nvSpPr>
        <p:spPr>
          <a:xfrm>
            <a:off x="7833359" y="1790700"/>
            <a:ext cx="36880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KEY BOUND</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C1 · local 3.0.0</a:t>
            </a:r>
          </a:p>
        </p:txBody>
      </p:sp>
      <p:sp>
        <p:nvSpPr>
          <p:cNvPr id="10" name="TextBox 9"/>
          <p:cNvSpPr txBox="1"/>
          <p:nvPr/>
        </p:nvSpPr>
        <p:spPr>
          <a:xfrm>
            <a:off x="3185160" y="22402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episode-delivery-completion/1</a:t>
            </a:r>
          </a:p>
        </p:txBody>
      </p:sp>
      <p:sp>
        <p:nvSpPr>
          <p:cNvPr id="11" name="TextBox 10"/>
          <p:cNvSpPr txBox="1"/>
          <p:nvPr/>
        </p:nvSpPr>
        <p:spPr>
          <a:xfrm>
            <a:off x="7833359" y="22402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16 pending; 256 events; trusted</a:t>
            </a:r>
          </a:p>
        </p:txBody>
      </p:sp>
      <p:sp>
        <p:nvSpPr>
          <p:cNvPr id="12" name="TextBox 11"/>
          <p:cNvSpPr txBox="1"/>
          <p:nvPr/>
        </p:nvSpPr>
        <p:spPr>
          <a:xfrm>
            <a:off x="7833359" y="246461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completion only</a:t>
            </a:r>
          </a:p>
        </p:txBody>
      </p:sp>
      <p:sp>
        <p:nvSpPr>
          <p:cNvPr id="13" name="Rounded Rectangle 12"/>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4" name="TextBox 13"/>
          <p:cNvSpPr txBox="1"/>
          <p:nvPr/>
        </p:nvSpPr>
        <p:spPr>
          <a:xfrm>
            <a:off x="670560" y="285750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C2 derived · local</a:t>
            </a:r>
          </a:p>
        </p:txBody>
      </p:sp>
      <p:sp>
        <p:nvSpPr>
          <p:cNvPr id="15" name="TextBox 14"/>
          <p:cNvSpPr txBox="1"/>
          <p:nvPr/>
        </p:nvSpPr>
        <p:spPr>
          <a:xfrm>
            <a:off x="670560" y="308183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3.0.0</a:t>
            </a:r>
          </a:p>
        </p:txBody>
      </p:sp>
      <p:sp>
        <p:nvSpPr>
          <p:cNvPr id="16" name="TextBox 15"/>
          <p:cNvSpPr txBox="1"/>
          <p:nvPr/>
        </p:nvSpPr>
        <p:spPr>
          <a:xfrm>
            <a:off x="3185160" y="285750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pln-derived-private/1 · unchanged</a:t>
            </a:r>
          </a:p>
        </p:txBody>
      </p:sp>
      <p:sp>
        <p:nvSpPr>
          <p:cNvPr id="17" name="TextBox 16"/>
          <p:cNvSpPr txBox="1"/>
          <p:nvPr/>
        </p:nvSpPr>
        <p:spPr>
          <a:xfrm>
            <a:off x="7833359" y="285750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Historical premises and inherited support</a:t>
            </a:r>
          </a:p>
        </p:txBody>
      </p:sp>
      <p:sp>
        <p:nvSpPr>
          <p:cNvPr id="18" name="TextBox 17"/>
          <p:cNvSpPr txBox="1"/>
          <p:nvPr/>
        </p:nvSpPr>
        <p:spPr>
          <a:xfrm>
            <a:off x="7833359" y="308183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roots</a:t>
            </a:r>
          </a:p>
        </p:txBody>
      </p:sp>
      <p:sp>
        <p:nvSpPr>
          <p:cNvPr id="19" name="Rounded Rectangle 18"/>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20" name="TextBox 19"/>
          <p:cNvSpPr txBox="1"/>
          <p:nvPr/>
        </p:nvSpPr>
        <p:spPr>
          <a:xfrm>
            <a:off x="670560" y="3474719"/>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 local 2.1.0</a:t>
            </a:r>
          </a:p>
        </p:txBody>
      </p:sp>
      <p:sp>
        <p:nvSpPr>
          <p:cNvPr id="21" name="TextBox 20"/>
          <p:cNvSpPr txBox="1"/>
          <p:nvPr/>
        </p:nvSpPr>
        <p:spPr>
          <a:xfrm>
            <a:off x="3185160" y="3474719"/>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sti-additive-linear-decay-closure/1</a:t>
            </a:r>
          </a:p>
        </p:txBody>
      </p:sp>
      <p:sp>
        <p:nvSpPr>
          <p:cNvPr id="22" name="TextBox 21"/>
          <p:cNvSpPr txBox="1"/>
          <p:nvPr/>
        </p:nvSpPr>
        <p:spPr>
          <a:xfrm>
            <a:off x="7833359" y="3474719"/>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Existing STI, cause and command</a:t>
            </a:r>
          </a:p>
        </p:txBody>
      </p:sp>
      <p:sp>
        <p:nvSpPr>
          <p:cNvPr id="23" name="TextBox 22"/>
          <p:cNvSpPr txBox="1"/>
          <p:nvPr/>
        </p:nvSpPr>
        <p:spPr>
          <a:xfrm>
            <a:off x="7833359" y="369905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capacities</a:t>
            </a:r>
          </a:p>
        </p:txBody>
      </p:sp>
      <p:sp>
        <p:nvSpPr>
          <p:cNvPr id="24" name="Rounded Rectangle 23"/>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5" name="TextBox 24"/>
          <p:cNvSpPr txBox="1"/>
          <p:nvPr/>
        </p:nvSpPr>
        <p:spPr>
          <a:xfrm>
            <a:off x="670560" y="409194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C4 · local 2.1.0</a:t>
            </a:r>
          </a:p>
        </p:txBody>
      </p:sp>
      <p:sp>
        <p:nvSpPr>
          <p:cNvPr id="26" name="TextBox 25"/>
          <p:cNvSpPr txBox="1"/>
          <p:nvPr/>
        </p:nvSpPr>
        <p:spPr>
          <a:xfrm>
            <a:off x="3185160" y="409194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bounded-grounded-closure/1</a:t>
            </a:r>
          </a:p>
        </p:txBody>
      </p:sp>
      <p:sp>
        <p:nvSpPr>
          <p:cNvPr id="27" name="TextBox 26"/>
          <p:cNvSpPr txBox="1"/>
          <p:nvPr/>
        </p:nvSpPr>
        <p:spPr>
          <a:xfrm>
            <a:off x="7833359" y="409194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1–16 resolutions/call; 128</a:t>
            </a:r>
          </a:p>
        </p:txBody>
      </p:sp>
      <p:sp>
        <p:nvSpPr>
          <p:cNvPr id="28" name="TextBox 27"/>
          <p:cNvSpPr txBox="1"/>
          <p:nvPr/>
        </p:nvSpPr>
        <p:spPr>
          <a:xfrm>
            <a:off x="7833359" y="431627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commands/step</a:t>
            </a:r>
          </a:p>
        </p:txBody>
      </p:sp>
      <p:sp>
        <p:nvSpPr>
          <p:cNvPr id="29" name="Rounded Rectangle 28"/>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30" name="TextBox 29"/>
          <p:cNvSpPr txBox="1"/>
          <p:nvPr/>
        </p:nvSpPr>
        <p:spPr>
          <a:xfrm>
            <a:off x="670560" y="470916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PLN kernel · local</a:t>
            </a:r>
          </a:p>
        </p:txBody>
      </p:sp>
      <p:sp>
        <p:nvSpPr>
          <p:cNvPr id="31" name="TextBox 30"/>
          <p:cNvSpPr txBox="1"/>
          <p:nvPr/>
        </p:nvSpPr>
        <p:spPr>
          <a:xfrm>
            <a:off x="670560" y="4933492"/>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2.0.0</a:t>
            </a:r>
          </a:p>
        </p:txBody>
      </p:sp>
      <p:sp>
        <p:nvSpPr>
          <p:cNvPr id="32" name="TextBox 31"/>
          <p:cNvSpPr txBox="1"/>
          <p:nvPr/>
        </p:nvSpPr>
        <p:spPr>
          <a:xfrm>
            <a:off x="3185160" y="470916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grounded-five-premise-deduction/1</a:t>
            </a:r>
          </a:p>
        </p:txBody>
      </p:sp>
      <p:sp>
        <p:nvSpPr>
          <p:cNvPr id="33" name="TextBox 32"/>
          <p:cNvSpPr txBox="1"/>
          <p:nvPr/>
        </p:nvSpPr>
        <p:spPr>
          <a:xfrm>
            <a:off x="7833359" y="470916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unchanged native rule; five exact</a:t>
            </a:r>
          </a:p>
        </p:txBody>
      </p:sp>
      <p:sp>
        <p:nvSpPr>
          <p:cNvPr id="34" name="TextBox 33"/>
          <p:cNvSpPr txBox="1"/>
          <p:nvPr/>
        </p:nvSpPr>
        <p:spPr>
          <a:xfrm>
            <a:off x="7833359" y="4933492"/>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premises</a:t>
            </a:r>
          </a:p>
        </p:txBody>
      </p:sp>
      <p:sp>
        <p:nvSpPr>
          <p:cNvPr id="35" name="Rounded Rectangle 34"/>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6" name="TextBox 35"/>
          <p:cNvSpPr txBox="1"/>
          <p:nvPr/>
        </p:nvSpPr>
        <p:spPr>
          <a:xfrm>
            <a:off x="670560" y="5326380"/>
            <a:ext cx="22707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Historical M1 / M2 / M3</a:t>
            </a:r>
          </a:p>
        </p:txBody>
      </p:sp>
      <p:sp>
        <p:nvSpPr>
          <p:cNvPr id="37" name="TextBox 36"/>
          <p:cNvSpPr txBox="1"/>
          <p:nvPr/>
        </p:nvSpPr>
        <p:spPr>
          <a:xfrm>
            <a:off x="3185160" y="5326380"/>
            <a:ext cx="44043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descriptors remain selectable</a:t>
            </a:r>
          </a:p>
        </p:txBody>
      </p:sp>
      <p:sp>
        <p:nvSpPr>
          <p:cNvPr id="38" name="TextBox 37"/>
          <p:cNvSpPr txBox="1"/>
          <p:nvPr/>
        </p:nvSpPr>
        <p:spPr>
          <a:xfrm>
            <a:off x="7833359" y="5326380"/>
            <a:ext cx="36880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No silent upgrade; no live state migration</a:t>
            </a:r>
          </a:p>
        </p:txBody>
      </p:sp>
      <p:cxnSp>
        <p:nvCxnSpPr>
          <p:cNvPr id="39" name="Connector 38"/>
          <p:cNvCxnSpPr/>
          <p:nvPr/>
        </p:nvCxnSpPr>
        <p:spPr>
          <a:xfrm>
            <a:off x="548640" y="6393180"/>
            <a:ext cx="11094720" cy="0"/>
          </a:xfrm>
          <a:prstGeom prst="line">
            <a:avLst/>
          </a:prstGeom>
          <a:ln w="7620">
            <a:solidFill>
              <a:srgbClr val="C9D2D4"/>
            </a:solidFill>
          </a:ln>
          <a:effectLst/>
        </p:spPr>
      </p:cxnSp>
      <p:sp>
        <p:nvSpPr>
          <p:cNvPr id="40" name="TextBox 39"/>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contracts.md · cognition.py</a:t>
            </a:r>
          </a:p>
        </p:txBody>
      </p:sp>
      <p:sp>
        <p:nvSpPr>
          <p:cNvPr id="41" name="TextBox 40"/>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57 / 64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D / EXISTING-STATE COMPATIBILITY</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New profiles close the seam; old stores stay explicit</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M3 findings were reproduced before edits. M3.1 is an opt-in contract extension.</a:t>
            </a:r>
          </a:p>
        </p:txBody>
      </p:sp>
      <p:sp>
        <p:nvSpPr>
          <p:cNvPr id="5" name="Rounded Rectangle 4"/>
          <p:cNvSpPr/>
          <p:nvPr/>
        </p:nvSpPr>
        <p:spPr>
          <a:xfrm>
            <a:off x="548640" y="1981200"/>
            <a:ext cx="5364480" cy="2362200"/>
          </a:xfrm>
          <a:prstGeom prst="roundRect">
            <a:avLst>
              <a:gd name="adj" fmla="val 4193"/>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A86A15"/>
                </a:solidFill>
                <a:latin typeface="DejaVu Sans"/>
              </a:rPr>
              <a:t>Historical M3 profile</a:t>
            </a:r>
          </a:p>
        </p:txBody>
      </p:sp>
      <p:sp>
        <p:nvSpPr>
          <p:cNvPr id="7" name="TextBox 6"/>
          <p:cNvSpPr txBox="1"/>
          <p:nvPr/>
        </p:nvSpPr>
        <p:spPr>
          <a:xfrm>
            <a:off x="71628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C1 expects a closed v2 acknowledgment.</a:t>
            </a:r>
          </a:p>
        </p:txBody>
      </p:sp>
      <p:sp>
        <p:nvSpPr>
          <p:cNvPr id="8" name="TextBox 7"/>
          <p:cNvSpPr txBox="1"/>
          <p:nvPr/>
        </p:nvSpPr>
        <p:spPr>
          <a:xfrm>
            <a:off x="71628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C2 emits a v3 decision.</a:t>
            </a:r>
          </a:p>
        </p:txBody>
      </p:sp>
      <p:sp>
        <p:nvSpPr>
          <p:cNvPr id="9" name="TextBox 8"/>
          <p:cNvSpPr txBox="1"/>
          <p:nvPr/>
        </p:nvSpPr>
        <p:spPr>
          <a:xfrm>
            <a:off x="71628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Delivery remains pending; stale feedback</a:t>
            </a:r>
          </a:p>
        </p:txBody>
      </p:sp>
      <p:sp>
        <p:nvSpPr>
          <p:cNvPr id="10" name="TextBox 9"/>
          <p:cNvSpPr txBox="1"/>
          <p:nvPr/>
        </p:nvSpPr>
        <p:spPr>
          <a:xfrm>
            <a:off x="71628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can remain CONFLICT.</a:t>
            </a:r>
          </a:p>
        </p:txBody>
      </p:sp>
      <p:sp>
        <p:nvSpPr>
          <p:cNvPr id="11" name="Rounded Rectangle 10"/>
          <p:cNvSpPr/>
          <p:nvPr/>
        </p:nvSpPr>
        <p:spPr>
          <a:xfrm>
            <a:off x="6278880" y="1981200"/>
            <a:ext cx="5364480" cy="2362200"/>
          </a:xfrm>
          <a:prstGeom prst="roundRect">
            <a:avLst>
              <a:gd name="adj" fmla="val 4193"/>
            </a:avLst>
          </a:prstGeom>
          <a:solidFill>
            <a:srgbClr val="DCEFE8"/>
          </a:solidFill>
          <a:ln w="7620">
            <a:solidFill>
              <a:srgbClr val="007C78"/>
            </a:solidFill>
          </a:ln>
          <a:effectLst/>
        </p:spPr>
        <p:txBody>
          <a:bodyPr rtlCol="0" anchor="ctr"/>
          <a:lstStyle/>
          <a:p>
            <a:pPr algn="ctr"/>
          </a:p>
        </p:txBody>
      </p:sp>
      <p:sp>
        <p:nvSpPr>
          <p:cNvPr id="12" name="TextBox 11"/>
          <p:cNvSpPr txBox="1"/>
          <p:nvPr/>
        </p:nvSpPr>
        <p:spPr>
          <a:xfrm>
            <a:off x="6446520" y="2148840"/>
            <a:ext cx="5029200" cy="321868"/>
          </a:xfrm>
          <a:prstGeom prst="rect">
            <a:avLst/>
          </a:prstGeom>
          <a:noFill/>
        </p:spPr>
        <p:txBody>
          <a:bodyPr wrap="none" lIns="0" rIns="0" tIns="0" bIns="0" anchor="t" anchorCtr="0">
            <a:noAutofit/>
          </a:bodyPr>
          <a:lstStyle/>
          <a:p>
            <a:pPr algn="l">
              <a:lnSpc>
                <a:spcPct val="100000"/>
              </a:lnSpc>
              <a:spcBef>
                <a:spcPts val="0"/>
              </a:spcBef>
              <a:spcAft>
                <a:spcPts val="0"/>
              </a:spcAft>
            </a:pPr>
            <a:r>
              <a:rPr sz="1980" b="1">
                <a:solidFill>
                  <a:srgbClr val="007C78"/>
                </a:solidFill>
                <a:latin typeface="DejaVu Sans"/>
              </a:rPr>
              <a:t>Fresh M3.1 profile</a:t>
            </a:r>
          </a:p>
        </p:txBody>
      </p:sp>
      <p:sp>
        <p:nvSpPr>
          <p:cNvPr id="13" name="TextBox 12"/>
          <p:cNvSpPr txBox="1"/>
          <p:nvPr/>
        </p:nvSpPr>
        <p:spPr>
          <a:xfrm>
            <a:off x="6446520" y="2546908"/>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Relay validates C2; C1 gets narrow</a:t>
            </a:r>
          </a:p>
        </p:txBody>
      </p:sp>
      <p:sp>
        <p:nvSpPr>
          <p:cNvPr id="14" name="TextBox 13"/>
          <p:cNvSpPr txBox="1"/>
          <p:nvPr/>
        </p:nvSpPr>
        <p:spPr>
          <a:xfrm>
            <a:off x="6446520" y="2829763"/>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completion.</a:t>
            </a:r>
          </a:p>
        </p:txBody>
      </p:sp>
      <p:sp>
        <p:nvSpPr>
          <p:cNvPr id="15" name="TextBox 14"/>
          <p:cNvSpPr txBox="1"/>
          <p:nvPr/>
        </p:nvSpPr>
        <p:spPr>
          <a:xfrm>
            <a:off x="6446520" y="3112617"/>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Attention resolves original feedback.</a:t>
            </a:r>
          </a:p>
        </p:txBody>
      </p:sp>
      <p:sp>
        <p:nvSpPr>
          <p:cNvPr id="16" name="TextBox 15"/>
          <p:cNvSpPr txBox="1"/>
          <p:nvPr/>
        </p:nvSpPr>
        <p:spPr>
          <a:xfrm>
            <a:off x="6446520" y="3395472"/>
            <a:ext cx="50292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0">
                <a:solidFill>
                  <a:srgbClr val="536775"/>
                </a:solidFill>
                <a:latin typeface="DejaVu Sans"/>
              </a:rPr>
              <a:t>C4 tracks closure separately from execution.</a:t>
            </a:r>
          </a:p>
        </p:txBody>
      </p:sp>
      <p:sp>
        <p:nvSpPr>
          <p:cNvPr id="17" name="Rounded Rectangle 16"/>
          <p:cNvSpPr/>
          <p:nvPr/>
        </p:nvSpPr>
        <p:spPr>
          <a:xfrm>
            <a:off x="548640" y="4693920"/>
            <a:ext cx="11094720" cy="891540"/>
          </a:xfrm>
          <a:prstGeom prst="roundRect">
            <a:avLst>
              <a:gd name="adj" fmla="val 11111"/>
            </a:avLst>
          </a:prstGeom>
          <a:solidFill>
            <a:srgbClr val="E4EBF5"/>
          </a:solidFill>
          <a:ln w="7620">
            <a:solidFill>
              <a:srgbClr val="315E9C"/>
            </a:solidFill>
          </a:ln>
          <a:effectLst/>
        </p:spPr>
        <p:txBody>
          <a:bodyPr rtlCol="0" anchor="ctr"/>
          <a:lstStyle/>
          <a:p>
            <a:pPr algn="ctr"/>
          </a:p>
        </p:txBody>
      </p:sp>
      <p:sp>
        <p:nvSpPr>
          <p:cNvPr id="18" name="TextBox 17"/>
          <p:cNvSpPr txBox="1"/>
          <p:nvPr/>
        </p:nvSpPr>
        <p:spPr>
          <a:xfrm>
            <a:off x="716280" y="4861560"/>
            <a:ext cx="1075944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315E9C"/>
                </a:solidFill>
                <a:latin typeface="DejaVu Sans"/>
              </a:rPr>
              <a:t>Populated old stores → new selection: UNSUPPORTED_PROFILE</a:t>
            </a:r>
          </a:p>
        </p:txBody>
      </p:sp>
      <p:sp>
        <p:nvSpPr>
          <p:cNvPr id="19" name="TextBox 18"/>
          <p:cNvSpPr txBox="1"/>
          <p:nvPr/>
        </p:nvSpPr>
        <p:spPr>
          <a:xfrm>
            <a:off x="716280" y="5220614"/>
            <a:ext cx="1075944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Disposable copies reject without modification and still replay under the original profile. User stores are untouched.</a:t>
            </a:r>
          </a:p>
        </p:txBody>
      </p:sp>
      <p:sp>
        <p:nvSpPr>
          <p:cNvPr id="20" name="Rounded Rectangle 19"/>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1" name="TextBox 20"/>
          <p:cNvSpPr txBox="1"/>
          <p:nvPr/>
        </p:nvSpPr>
        <p:spPr>
          <a:xfrm>
            <a:off x="716280" y="5905500"/>
            <a:ext cx="107442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No automatic conversion, repair of pre-existing pending work, invented acknowledgment or weakened validation.</a:t>
            </a:r>
          </a:p>
        </p:txBody>
      </p:sp>
      <p:cxnSp>
        <p:nvCxnSpPr>
          <p:cNvPr id="22" name="Connector 21"/>
          <p:cNvCxnSpPr/>
          <p:nvPr/>
        </p:nvCxnSpPr>
        <p:spPr>
          <a:xfrm>
            <a:off x="548640" y="6393180"/>
            <a:ext cx="11094720" cy="0"/>
          </a:xfrm>
          <a:prstGeom prst="line">
            <a:avLst/>
          </a:prstGeom>
          <a:ln w="7620">
            <a:solidFill>
              <a:srgbClr val="C9D2D4"/>
            </a:solidFill>
          </a:ln>
          <a:effectLst/>
        </p:spPr>
      </p:cxnSp>
      <p:sp>
        <p:nvSpPr>
          <p:cNvPr id="23" name="TextBox 2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m3_1/baseline/gaps.json · test_m3_1_compat.py</a:t>
            </a:r>
          </a:p>
        </p:txBody>
      </p:sp>
      <p:sp>
        <p:nvSpPr>
          <p:cNvPr id="24" name="TextBox 2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58 / 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E / PRESERVED M1.2 SEQUENCE</a:t>
            </a:r>
          </a:p>
        </p:txBody>
      </p:sp>
      <p:sp>
        <p:nvSpPr>
          <p:cNvPr id="3" name="TextBox 2"/>
          <p:cNvSpPr txBox="1"/>
          <p:nvPr/>
        </p:nvSpPr>
        <p:spPr>
          <a:xfrm>
            <a:off x="533400" y="723900"/>
            <a:ext cx="11125200" cy="477926"/>
          </a:xfrm>
          <a:prstGeom prst="rect">
            <a:avLst/>
          </a:prstGeom>
          <a:noFill/>
        </p:spPr>
        <p:txBody>
          <a:bodyPr wrap="none" lIns="0" rIns="0" tIns="0" bIns="0" anchor="t" anchorCtr="0">
            <a:noAutofit/>
          </a:bodyPr>
          <a:lstStyle/>
          <a:p>
            <a:pPr algn="l">
              <a:lnSpc>
                <a:spcPct val="100000"/>
              </a:lnSpc>
              <a:spcBef>
                <a:spcPts val="0"/>
              </a:spcBef>
              <a:spcAft>
                <a:spcPts val="0"/>
              </a:spcAft>
            </a:pPr>
            <a:r>
              <a:rPr sz="2940" b="1">
                <a:solidFill>
                  <a:srgbClr val="102B3F"/>
                </a:solidFill>
                <a:latin typeface="DejaVu Sans"/>
              </a:rPr>
              <a:t>One native operation crosses the existing interfaces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The caller stores intent; each provider commits only its own state.</a:t>
            </a:r>
          </a:p>
        </p:txBody>
      </p:sp>
      <p:sp>
        <p:nvSpPr>
          <p:cNvPr id="5" name="Rounded Rectangle 4"/>
          <p:cNvSpPr/>
          <p:nvPr/>
        </p:nvSpPr>
        <p:spPr>
          <a:xfrm>
            <a:off x="495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6" name="TextBox 5"/>
          <p:cNvSpPr txBox="1"/>
          <p:nvPr/>
        </p:nvSpPr>
        <p:spPr>
          <a:xfrm>
            <a:off x="579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Real Hive</a:t>
            </a:r>
          </a:p>
        </p:txBody>
      </p:sp>
      <p:cxnSp>
        <p:nvCxnSpPr>
          <p:cNvPr id="7" name="Connector 6"/>
          <p:cNvCxnSpPr/>
          <p:nvPr/>
        </p:nvCxnSpPr>
        <p:spPr>
          <a:xfrm>
            <a:off x="1181100" y="2301240"/>
            <a:ext cx="0" cy="3489960"/>
          </a:xfrm>
          <a:prstGeom prst="line">
            <a:avLst/>
          </a:prstGeom>
          <a:ln w="15240">
            <a:solidFill>
              <a:srgbClr val="C9D2D4"/>
            </a:solidFill>
            <a:prstDash val="dash"/>
          </a:ln>
          <a:effectLst/>
        </p:spPr>
      </p:cxnSp>
      <p:sp>
        <p:nvSpPr>
          <p:cNvPr id="8" name="Rounded Rectangle 7"/>
          <p:cNvSpPr/>
          <p:nvPr/>
        </p:nvSpPr>
        <p:spPr>
          <a:xfrm>
            <a:off x="2971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9" name="TextBox 8"/>
          <p:cNvSpPr txBox="1"/>
          <p:nvPr/>
        </p:nvSpPr>
        <p:spPr>
          <a:xfrm>
            <a:off x="3055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Caller receipt</a:t>
            </a:r>
          </a:p>
        </p:txBody>
      </p:sp>
      <p:cxnSp>
        <p:nvCxnSpPr>
          <p:cNvPr id="10" name="Connector 9"/>
          <p:cNvCxnSpPr/>
          <p:nvPr/>
        </p:nvCxnSpPr>
        <p:spPr>
          <a:xfrm>
            <a:off x="3657600" y="2301240"/>
            <a:ext cx="0" cy="3489960"/>
          </a:xfrm>
          <a:prstGeom prst="line">
            <a:avLst/>
          </a:prstGeom>
          <a:ln w="15240">
            <a:solidFill>
              <a:srgbClr val="C9D2D4"/>
            </a:solidFill>
            <a:prstDash val="dash"/>
          </a:ln>
          <a:effectLst/>
        </p:spPr>
      </p:cxnSp>
      <p:sp>
        <p:nvSpPr>
          <p:cNvPr id="11" name="Rounded Rectangle 10"/>
          <p:cNvSpPr/>
          <p:nvPr/>
        </p:nvSpPr>
        <p:spPr>
          <a:xfrm>
            <a:off x="5448300" y="1790700"/>
            <a:ext cx="1371600" cy="411480"/>
          </a:xfrm>
          <a:prstGeom prst="roundRect">
            <a:avLst>
              <a:gd name="adj" fmla="val 14814"/>
            </a:avLst>
          </a:prstGeom>
          <a:solidFill>
            <a:srgbClr val="DCEFE8"/>
          </a:solidFill>
          <a:ln>
            <a:noFill/>
          </a:ln>
          <a:effectLst/>
        </p:spPr>
        <p:txBody>
          <a:bodyPr rtlCol="0" anchor="ctr"/>
          <a:lstStyle/>
          <a:p>
            <a:pPr algn="ctr"/>
          </a:p>
        </p:txBody>
      </p:sp>
      <p:sp>
        <p:nvSpPr>
          <p:cNvPr id="12" name="TextBox 11"/>
          <p:cNvSpPr txBox="1"/>
          <p:nvPr/>
        </p:nvSpPr>
        <p:spPr>
          <a:xfrm>
            <a:off x="5532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AtomStorage</a:t>
            </a:r>
          </a:p>
        </p:txBody>
      </p:sp>
      <p:cxnSp>
        <p:nvCxnSpPr>
          <p:cNvPr id="13" name="Connector 12"/>
          <p:cNvCxnSpPr/>
          <p:nvPr/>
        </p:nvCxnSpPr>
        <p:spPr>
          <a:xfrm>
            <a:off x="6134100" y="2301240"/>
            <a:ext cx="0" cy="3489960"/>
          </a:xfrm>
          <a:prstGeom prst="line">
            <a:avLst/>
          </a:prstGeom>
          <a:ln w="15240">
            <a:solidFill>
              <a:srgbClr val="C9D2D4"/>
            </a:solidFill>
            <a:prstDash val="dash"/>
          </a:ln>
          <a:effectLst/>
        </p:spPr>
      </p:cxnSp>
      <p:sp>
        <p:nvSpPr>
          <p:cNvPr id="14" name="Rounded Rectangle 13"/>
          <p:cNvSpPr/>
          <p:nvPr/>
        </p:nvSpPr>
        <p:spPr>
          <a:xfrm>
            <a:off x="79248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5" name="TextBox 14"/>
          <p:cNvSpPr txBox="1"/>
          <p:nvPr/>
        </p:nvSpPr>
        <p:spPr>
          <a:xfrm>
            <a:off x="80086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Execution</a:t>
            </a:r>
          </a:p>
        </p:txBody>
      </p:sp>
      <p:cxnSp>
        <p:nvCxnSpPr>
          <p:cNvPr id="16" name="Connector 15"/>
          <p:cNvCxnSpPr/>
          <p:nvPr/>
        </p:nvCxnSpPr>
        <p:spPr>
          <a:xfrm>
            <a:off x="8610600" y="2301240"/>
            <a:ext cx="0" cy="3489960"/>
          </a:xfrm>
          <a:prstGeom prst="line">
            <a:avLst/>
          </a:prstGeom>
          <a:ln w="15240">
            <a:solidFill>
              <a:srgbClr val="C9D2D4"/>
            </a:solidFill>
            <a:prstDash val="dash"/>
          </a:ln>
          <a:effectLst/>
        </p:spPr>
      </p:cxnSp>
      <p:sp>
        <p:nvSpPr>
          <p:cNvPr id="17" name="Rounded Rectangle 16"/>
          <p:cNvSpPr/>
          <p:nvPr/>
        </p:nvSpPr>
        <p:spPr>
          <a:xfrm>
            <a:off x="10401300" y="1790700"/>
            <a:ext cx="1371600" cy="411480"/>
          </a:xfrm>
          <a:prstGeom prst="roundRect">
            <a:avLst>
              <a:gd name="adj" fmla="val 14814"/>
            </a:avLst>
          </a:prstGeom>
          <a:solidFill>
            <a:srgbClr val="E4EBF5"/>
          </a:solidFill>
          <a:ln>
            <a:noFill/>
          </a:ln>
          <a:effectLst/>
        </p:spPr>
        <p:txBody>
          <a:bodyPr rtlCol="0" anchor="ctr"/>
          <a:lstStyle/>
          <a:p>
            <a:pPr algn="ctr"/>
          </a:p>
        </p:txBody>
      </p:sp>
      <p:sp>
        <p:nvSpPr>
          <p:cNvPr id="18" name="TextBox 17"/>
          <p:cNvSpPr txBox="1"/>
          <p:nvPr/>
        </p:nvSpPr>
        <p:spPr>
          <a:xfrm>
            <a:off x="10485120" y="1912620"/>
            <a:ext cx="122682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1">
                <a:solidFill>
                  <a:srgbClr val="102B3F"/>
                </a:solidFill>
                <a:latin typeface="DejaVu Sans"/>
              </a:rPr>
              <a:t>Messaging</a:t>
            </a:r>
          </a:p>
        </p:txBody>
      </p:sp>
      <p:cxnSp>
        <p:nvCxnSpPr>
          <p:cNvPr id="19" name="Connector 18"/>
          <p:cNvCxnSpPr/>
          <p:nvPr/>
        </p:nvCxnSpPr>
        <p:spPr>
          <a:xfrm>
            <a:off x="11087100" y="2301240"/>
            <a:ext cx="0" cy="3489960"/>
          </a:xfrm>
          <a:prstGeom prst="line">
            <a:avLst/>
          </a:prstGeom>
          <a:ln w="15240">
            <a:solidFill>
              <a:srgbClr val="C9D2D4"/>
            </a:solidFill>
            <a:prstDash val="dash"/>
          </a:ln>
          <a:effectLst/>
        </p:spPr>
      </p:cxnSp>
      <p:sp>
        <p:nvSpPr>
          <p:cNvPr id="20" name="Rectangle 19"/>
          <p:cNvSpPr/>
          <p:nvPr/>
        </p:nvSpPr>
        <p:spPr>
          <a:xfrm>
            <a:off x="1211580" y="2301240"/>
            <a:ext cx="1774686" cy="198120"/>
          </a:xfrm>
          <a:prstGeom prst="rect">
            <a:avLst/>
          </a:prstGeom>
          <a:solidFill>
            <a:srgbClr val="F4F2EB"/>
          </a:solidFill>
          <a:ln>
            <a:noFill/>
          </a:ln>
          <a:effectLst/>
        </p:spPr>
        <p:txBody>
          <a:bodyPr rtlCol="0" anchor="ctr"/>
          <a:lstStyle/>
          <a:p>
            <a:pPr algn="ctr"/>
          </a:p>
        </p:txBody>
      </p:sp>
      <p:sp>
        <p:nvSpPr>
          <p:cNvPr id="21" name="TextBox 20"/>
          <p:cNvSpPr txBox="1"/>
          <p:nvPr/>
        </p:nvSpPr>
        <p:spPr>
          <a:xfrm>
            <a:off x="1242060" y="230124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1 Save original intent</a:t>
            </a:r>
          </a:p>
        </p:txBody>
      </p:sp>
      <p:cxnSp>
        <p:nvCxnSpPr>
          <p:cNvPr id="22" name="Connector 21"/>
          <p:cNvCxnSpPr/>
          <p:nvPr/>
        </p:nvCxnSpPr>
        <p:spPr>
          <a:xfrm>
            <a:off x="1181100" y="2514600"/>
            <a:ext cx="2476500" cy="0"/>
          </a:xfrm>
          <a:prstGeom prst="line">
            <a:avLst/>
          </a:prstGeom>
          <a:ln w="15240">
            <a:solidFill>
              <a:srgbClr val="315E9C"/>
            </a:solidFill>
          </a:ln>
          <a:effectLst/>
        </p:spPr>
      </p:cxnSp>
      <p:sp>
        <p:nvSpPr>
          <p:cNvPr id="23" name="Freeform 22"/>
          <p:cNvSpPr/>
          <p:nvPr/>
        </p:nvSpPr>
        <p:spPr>
          <a:xfrm>
            <a:off x="3558540" y="247650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24" name="Rectangle 23"/>
          <p:cNvSpPr/>
          <p:nvPr/>
        </p:nvSpPr>
        <p:spPr>
          <a:xfrm>
            <a:off x="1211580" y="2697480"/>
            <a:ext cx="3339911" cy="198120"/>
          </a:xfrm>
          <a:prstGeom prst="rect">
            <a:avLst/>
          </a:prstGeom>
          <a:solidFill>
            <a:srgbClr val="F4F2EB"/>
          </a:solidFill>
          <a:ln>
            <a:noFill/>
          </a:ln>
          <a:effectLst/>
        </p:spPr>
        <p:txBody>
          <a:bodyPr rtlCol="0" anchor="ctr"/>
          <a:lstStyle/>
          <a:p>
            <a:pPr algn="ctr"/>
          </a:p>
        </p:txBody>
      </p:sp>
      <p:sp>
        <p:nvSpPr>
          <p:cNvPr id="25" name="TextBox 24"/>
          <p:cNvSpPr txBox="1"/>
          <p:nvPr/>
        </p:nvSpPr>
        <p:spPr>
          <a:xfrm>
            <a:off x="1242060" y="269748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2 create → real DeTTa persistence receipt</a:t>
            </a:r>
          </a:p>
        </p:txBody>
      </p:sp>
      <p:cxnSp>
        <p:nvCxnSpPr>
          <p:cNvPr id="26" name="Connector 25"/>
          <p:cNvCxnSpPr/>
          <p:nvPr/>
        </p:nvCxnSpPr>
        <p:spPr>
          <a:xfrm>
            <a:off x="1181100" y="2910840"/>
            <a:ext cx="4953000" cy="0"/>
          </a:xfrm>
          <a:prstGeom prst="line">
            <a:avLst/>
          </a:prstGeom>
          <a:ln w="15240">
            <a:solidFill>
              <a:srgbClr val="007C78"/>
            </a:solidFill>
          </a:ln>
          <a:effectLst/>
        </p:spPr>
      </p:cxnSp>
      <p:sp>
        <p:nvSpPr>
          <p:cNvPr id="27" name="Freeform 26"/>
          <p:cNvSpPr/>
          <p:nvPr/>
        </p:nvSpPr>
        <p:spPr>
          <a:xfrm>
            <a:off x="6035040" y="2872740"/>
            <a:ext cx="99060" cy="76200"/>
          </a:xfrm>
          <a:custGeom>
            <a:avLst/>
            <a:gdLst/>
            <a:ahLst/>
            <a:cxnLst/>
            <a:rect l="l" t="t" r="r" b="b"/>
            <a:pathLst>
              <a:path w="13" h="10">
                <a:moveTo>
                  <a:pt x="13" y="5"/>
                </a:moveTo>
                <a:lnTo>
                  <a:pt x="0" y="0"/>
                </a:lnTo>
                <a:lnTo>
                  <a:pt x="0" y="10"/>
                </a:lnTo>
                <a:close/>
              </a:path>
            </a:pathLst>
          </a:custGeom>
          <a:solidFill>
            <a:srgbClr val="007C78"/>
          </a:solidFill>
          <a:ln>
            <a:noFill/>
          </a:ln>
          <a:effectLst/>
        </p:spPr>
        <p:txBody>
          <a:bodyPr rtlCol="0" anchor="ctr"/>
          <a:lstStyle/>
          <a:p>
            <a:pPr algn="ctr"/>
          </a:p>
        </p:txBody>
      </p:sp>
      <p:sp>
        <p:nvSpPr>
          <p:cNvPr id="28" name="Rectangle 27"/>
          <p:cNvSpPr/>
          <p:nvPr/>
        </p:nvSpPr>
        <p:spPr>
          <a:xfrm>
            <a:off x="1211580" y="3093720"/>
            <a:ext cx="3220997" cy="198120"/>
          </a:xfrm>
          <a:prstGeom prst="rect">
            <a:avLst/>
          </a:prstGeom>
          <a:solidFill>
            <a:srgbClr val="F4F2EB"/>
          </a:solidFill>
          <a:ln>
            <a:noFill/>
          </a:ln>
          <a:effectLst/>
        </p:spPr>
        <p:txBody>
          <a:bodyPr rtlCol="0" anchor="ctr"/>
          <a:lstStyle/>
          <a:p>
            <a:pPr algn="ctr"/>
          </a:p>
        </p:txBody>
      </p:sp>
      <p:sp>
        <p:nvSpPr>
          <p:cNvPr id="29" name="TextBox 28"/>
          <p:cNvSpPr txBox="1"/>
          <p:nvPr/>
        </p:nvSpPr>
        <p:spPr>
          <a:xfrm>
            <a:off x="1242060" y="309372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3 send reference to fixture counterparty</a:t>
            </a:r>
          </a:p>
        </p:txBody>
      </p:sp>
      <p:cxnSp>
        <p:nvCxnSpPr>
          <p:cNvPr id="30" name="Connector 29"/>
          <p:cNvCxnSpPr/>
          <p:nvPr/>
        </p:nvCxnSpPr>
        <p:spPr>
          <a:xfrm>
            <a:off x="1181100" y="3307079"/>
            <a:ext cx="9906000" cy="0"/>
          </a:xfrm>
          <a:prstGeom prst="line">
            <a:avLst/>
          </a:prstGeom>
          <a:ln w="15240">
            <a:solidFill>
              <a:srgbClr val="315E9C"/>
            </a:solidFill>
          </a:ln>
          <a:effectLst/>
        </p:spPr>
      </p:cxnSp>
      <p:sp>
        <p:nvSpPr>
          <p:cNvPr id="31" name="Freeform 30"/>
          <p:cNvSpPr/>
          <p:nvPr/>
        </p:nvSpPr>
        <p:spPr>
          <a:xfrm>
            <a:off x="10988040" y="326898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2" name="Rectangle 31"/>
          <p:cNvSpPr/>
          <p:nvPr/>
        </p:nvSpPr>
        <p:spPr>
          <a:xfrm>
            <a:off x="1211580" y="3489960"/>
            <a:ext cx="3895189" cy="198120"/>
          </a:xfrm>
          <a:prstGeom prst="rect">
            <a:avLst/>
          </a:prstGeom>
          <a:solidFill>
            <a:srgbClr val="F4F2EB"/>
          </a:solidFill>
          <a:ln>
            <a:noFill/>
          </a:ln>
          <a:effectLst/>
        </p:spPr>
        <p:txBody>
          <a:bodyPr rtlCol="0" anchor="ctr"/>
          <a:lstStyle/>
          <a:p>
            <a:pPr algn="ctr"/>
          </a:p>
        </p:txBody>
      </p:sp>
      <p:sp>
        <p:nvSpPr>
          <p:cNvPr id="33" name="TextBox 32"/>
          <p:cNvSpPr txBox="1"/>
          <p:nvPr/>
        </p:nvSpPr>
        <p:spPr>
          <a:xfrm>
            <a:off x="1242060" y="348996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4 submit inspect_atom → durable job acceptance</a:t>
            </a:r>
          </a:p>
        </p:txBody>
      </p:sp>
      <p:cxnSp>
        <p:nvCxnSpPr>
          <p:cNvPr id="34" name="Connector 33"/>
          <p:cNvCxnSpPr/>
          <p:nvPr/>
        </p:nvCxnSpPr>
        <p:spPr>
          <a:xfrm>
            <a:off x="1181100" y="3703319"/>
            <a:ext cx="7429500" cy="0"/>
          </a:xfrm>
          <a:prstGeom prst="line">
            <a:avLst/>
          </a:prstGeom>
          <a:ln w="15240">
            <a:solidFill>
              <a:srgbClr val="315E9C"/>
            </a:solidFill>
          </a:ln>
          <a:effectLst/>
        </p:spPr>
      </p:cxnSp>
      <p:sp>
        <p:nvSpPr>
          <p:cNvPr id="35" name="Freeform 34"/>
          <p:cNvSpPr/>
          <p:nvPr/>
        </p:nvSpPr>
        <p:spPr>
          <a:xfrm>
            <a:off x="8511540" y="366522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36" name="Rectangle 35"/>
          <p:cNvSpPr/>
          <p:nvPr/>
        </p:nvSpPr>
        <p:spPr>
          <a:xfrm>
            <a:off x="1211580" y="3886200"/>
            <a:ext cx="2233597" cy="198120"/>
          </a:xfrm>
          <a:prstGeom prst="rect">
            <a:avLst/>
          </a:prstGeom>
          <a:solidFill>
            <a:srgbClr val="F4F2EB"/>
          </a:solidFill>
          <a:ln>
            <a:noFill/>
          </a:ln>
          <a:effectLst/>
        </p:spPr>
        <p:txBody>
          <a:bodyPr rtlCol="0" anchor="ctr"/>
          <a:lstStyle/>
          <a:p>
            <a:pPr algn="ctr"/>
          </a:p>
        </p:txBody>
      </p:sp>
      <p:sp>
        <p:nvSpPr>
          <p:cNvPr id="37" name="TextBox 36"/>
          <p:cNvSpPr txBox="1"/>
          <p:nvPr/>
        </p:nvSpPr>
        <p:spPr>
          <a:xfrm>
            <a:off x="1242060" y="38862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5 Save pending job context</a:t>
            </a:r>
          </a:p>
        </p:txBody>
      </p:sp>
      <p:cxnSp>
        <p:nvCxnSpPr>
          <p:cNvPr id="38" name="Connector 37"/>
          <p:cNvCxnSpPr/>
          <p:nvPr/>
        </p:nvCxnSpPr>
        <p:spPr>
          <a:xfrm>
            <a:off x="1181100" y="4099560"/>
            <a:ext cx="2476500" cy="0"/>
          </a:xfrm>
          <a:prstGeom prst="line">
            <a:avLst/>
          </a:prstGeom>
          <a:ln w="15240">
            <a:solidFill>
              <a:srgbClr val="315E9C"/>
            </a:solidFill>
          </a:ln>
          <a:effectLst/>
        </p:spPr>
      </p:cxnSp>
      <p:sp>
        <p:nvSpPr>
          <p:cNvPr id="39" name="Freeform 38"/>
          <p:cNvSpPr/>
          <p:nvPr/>
        </p:nvSpPr>
        <p:spPr>
          <a:xfrm>
            <a:off x="3558540" y="40614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0" name="Rectangle 39"/>
          <p:cNvSpPr/>
          <p:nvPr/>
        </p:nvSpPr>
        <p:spPr>
          <a:xfrm>
            <a:off x="3916679" y="4282440"/>
            <a:ext cx="3432854" cy="198120"/>
          </a:xfrm>
          <a:prstGeom prst="rect">
            <a:avLst/>
          </a:prstGeom>
          <a:solidFill>
            <a:srgbClr val="F4F2EB"/>
          </a:solidFill>
          <a:ln>
            <a:noFill/>
          </a:ln>
          <a:effectLst/>
        </p:spPr>
        <p:txBody>
          <a:bodyPr rtlCol="0" anchor="ctr"/>
          <a:lstStyle/>
          <a:p>
            <a:pPr algn="ctr"/>
          </a:p>
        </p:txBody>
      </p:sp>
      <p:sp>
        <p:nvSpPr>
          <p:cNvPr id="41" name="TextBox 40"/>
          <p:cNvSpPr txBox="1"/>
          <p:nvPr/>
        </p:nvSpPr>
        <p:spPr>
          <a:xfrm>
            <a:off x="3947160" y="428244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6 Worker reads input; result atom commits</a:t>
            </a:r>
          </a:p>
        </p:txBody>
      </p:sp>
      <p:cxnSp>
        <p:nvCxnSpPr>
          <p:cNvPr id="42" name="Connector 41"/>
          <p:cNvCxnSpPr/>
          <p:nvPr/>
        </p:nvCxnSpPr>
        <p:spPr>
          <a:xfrm flipH="1">
            <a:off x="6134100" y="4495800"/>
            <a:ext cx="2476500" cy="0"/>
          </a:xfrm>
          <a:prstGeom prst="line">
            <a:avLst/>
          </a:prstGeom>
          <a:ln w="15240">
            <a:solidFill>
              <a:srgbClr val="007C78"/>
            </a:solidFill>
          </a:ln>
          <a:effectLst/>
        </p:spPr>
      </p:cxnSp>
      <p:sp>
        <p:nvSpPr>
          <p:cNvPr id="43" name="Freeform 42"/>
          <p:cNvSpPr/>
          <p:nvPr/>
        </p:nvSpPr>
        <p:spPr>
          <a:xfrm>
            <a:off x="6134100" y="4457700"/>
            <a:ext cx="99060" cy="76200"/>
          </a:xfrm>
          <a:custGeom>
            <a:avLst/>
            <a:gdLst/>
            <a:ahLst/>
            <a:cxnLst/>
            <a:rect l="l" t="t" r="r" b="b"/>
            <a:pathLst>
              <a:path w="13" h="10">
                <a:moveTo>
                  <a:pt x="0" y="5"/>
                </a:moveTo>
                <a:lnTo>
                  <a:pt x="13" y="10"/>
                </a:lnTo>
                <a:lnTo>
                  <a:pt x="13" y="0"/>
                </a:lnTo>
                <a:close/>
              </a:path>
            </a:pathLst>
          </a:custGeom>
          <a:solidFill>
            <a:srgbClr val="007C78"/>
          </a:solidFill>
          <a:ln>
            <a:noFill/>
          </a:ln>
          <a:effectLst/>
        </p:spPr>
        <p:txBody>
          <a:bodyPr rtlCol="0" anchor="ctr"/>
          <a:lstStyle/>
          <a:p>
            <a:pPr algn="ctr"/>
          </a:p>
        </p:txBody>
      </p:sp>
      <p:sp>
        <p:nvSpPr>
          <p:cNvPr id="44" name="Rectangle 43"/>
          <p:cNvSpPr/>
          <p:nvPr/>
        </p:nvSpPr>
        <p:spPr>
          <a:xfrm>
            <a:off x="3916679" y="4678680"/>
            <a:ext cx="4536117" cy="198120"/>
          </a:xfrm>
          <a:prstGeom prst="rect">
            <a:avLst/>
          </a:prstGeom>
          <a:solidFill>
            <a:srgbClr val="F4F2EB"/>
          </a:solidFill>
          <a:ln>
            <a:noFill/>
          </a:ln>
          <a:effectLst/>
        </p:spPr>
        <p:txBody>
          <a:bodyPr rtlCol="0" anchor="ctr"/>
          <a:lstStyle/>
          <a:p>
            <a:pPr algn="ctr"/>
          </a:p>
        </p:txBody>
      </p:sp>
      <p:sp>
        <p:nvSpPr>
          <p:cNvPr id="45" name="TextBox 44"/>
          <p:cNvSpPr txBox="1"/>
          <p:nvPr/>
        </p:nvSpPr>
        <p:spPr>
          <a:xfrm>
            <a:off x="3947160" y="4678680"/>
            <a:ext cx="76200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7 Terminal + outbox commit; mailbox accepts separately</a:t>
            </a:r>
          </a:p>
        </p:txBody>
      </p:sp>
      <p:cxnSp>
        <p:nvCxnSpPr>
          <p:cNvPr id="46" name="Connector 45"/>
          <p:cNvCxnSpPr/>
          <p:nvPr/>
        </p:nvCxnSpPr>
        <p:spPr>
          <a:xfrm>
            <a:off x="8610600" y="4892040"/>
            <a:ext cx="2476500" cy="0"/>
          </a:xfrm>
          <a:prstGeom prst="line">
            <a:avLst/>
          </a:prstGeom>
          <a:ln w="15240">
            <a:solidFill>
              <a:srgbClr val="315E9C"/>
            </a:solidFill>
          </a:ln>
          <a:effectLst/>
        </p:spPr>
      </p:cxnSp>
      <p:sp>
        <p:nvSpPr>
          <p:cNvPr id="47" name="Freeform 46"/>
          <p:cNvSpPr/>
          <p:nvPr/>
        </p:nvSpPr>
        <p:spPr>
          <a:xfrm>
            <a:off x="10988040" y="485394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sp>
        <p:nvSpPr>
          <p:cNvPr id="48" name="Rectangle 47"/>
          <p:cNvSpPr/>
          <p:nvPr/>
        </p:nvSpPr>
        <p:spPr>
          <a:xfrm>
            <a:off x="1211580" y="5295900"/>
            <a:ext cx="4108162" cy="198120"/>
          </a:xfrm>
          <a:prstGeom prst="rect">
            <a:avLst/>
          </a:prstGeom>
          <a:solidFill>
            <a:srgbClr val="F4F2EB"/>
          </a:solidFill>
          <a:ln>
            <a:noFill/>
          </a:ln>
          <a:effectLst/>
        </p:spPr>
        <p:txBody>
          <a:bodyPr rtlCol="0" anchor="ctr"/>
          <a:lstStyle/>
          <a:p>
            <a:pPr algn="ctr"/>
          </a:p>
        </p:txBody>
      </p:sp>
      <p:sp>
        <p:nvSpPr>
          <p:cNvPr id="49" name="TextBox 48"/>
          <p:cNvSpPr txBox="1"/>
          <p:nvPr/>
        </p:nvSpPr>
        <p:spPr>
          <a:xfrm>
            <a:off x="1242060" y="5295900"/>
            <a:ext cx="10325100" cy="195072"/>
          </a:xfrm>
          <a:prstGeom prst="rect">
            <a:avLst/>
          </a:prstGeom>
          <a:noFill/>
        </p:spPr>
        <p:txBody>
          <a:bodyPr wrap="none" lIns="0" rIns="0" tIns="0" bIns="0" anchor="t" anchorCtr="0">
            <a:noAutofit/>
          </a:bodyPr>
          <a:lstStyle/>
          <a:p>
            <a:pPr algn="l">
              <a:lnSpc>
                <a:spcPct val="100000"/>
              </a:lnSpc>
              <a:spcBef>
                <a:spcPts val="0"/>
              </a:spcBef>
              <a:spcAft>
                <a:spcPts val="0"/>
              </a:spcAft>
            </a:pPr>
            <a:r>
              <a:rPr sz="1200" b="0">
                <a:solidFill>
                  <a:srgbClr val="102B3F"/>
                </a:solidFill>
                <a:latin typeface="DejaVu Sans"/>
              </a:rPr>
              <a:t>8 Recover status → poll → get result → accept → ack</a:t>
            </a:r>
          </a:p>
        </p:txBody>
      </p:sp>
      <p:cxnSp>
        <p:nvCxnSpPr>
          <p:cNvPr id="50" name="Connector 49"/>
          <p:cNvCxnSpPr/>
          <p:nvPr/>
        </p:nvCxnSpPr>
        <p:spPr>
          <a:xfrm>
            <a:off x="1181100" y="5509260"/>
            <a:ext cx="9906000" cy="0"/>
          </a:xfrm>
          <a:prstGeom prst="line">
            <a:avLst/>
          </a:prstGeom>
          <a:ln w="15240">
            <a:solidFill>
              <a:srgbClr val="315E9C"/>
            </a:solidFill>
          </a:ln>
          <a:effectLst/>
        </p:spPr>
      </p:cxnSp>
      <p:sp>
        <p:nvSpPr>
          <p:cNvPr id="51" name="Freeform 50"/>
          <p:cNvSpPr/>
          <p:nvPr/>
        </p:nvSpPr>
        <p:spPr>
          <a:xfrm>
            <a:off x="10988040" y="5471160"/>
            <a:ext cx="99060" cy="76200"/>
          </a:xfrm>
          <a:custGeom>
            <a:avLst/>
            <a:gdLst/>
            <a:ahLst/>
            <a:cxnLst/>
            <a:rect l="l" t="t" r="r" b="b"/>
            <a:pathLst>
              <a:path w="13" h="10">
                <a:moveTo>
                  <a:pt x="13" y="5"/>
                </a:moveTo>
                <a:lnTo>
                  <a:pt x="0" y="0"/>
                </a:lnTo>
                <a:lnTo>
                  <a:pt x="0" y="10"/>
                </a:lnTo>
                <a:close/>
              </a:path>
            </a:pathLst>
          </a:custGeom>
          <a:solidFill>
            <a:srgbClr val="315E9C"/>
          </a:solidFill>
          <a:ln>
            <a:noFill/>
          </a:ln>
          <a:effectLst/>
        </p:spPr>
        <p:txBody>
          <a:bodyPr rtlCol="0" anchor="ctr"/>
          <a:lstStyle/>
          <a:p>
            <a:pPr algn="ctr"/>
          </a:p>
        </p:txBody>
      </p:sp>
      <p:cxnSp>
        <p:nvCxnSpPr>
          <p:cNvPr id="52" name="Connector 51"/>
          <p:cNvCxnSpPr/>
          <p:nvPr/>
        </p:nvCxnSpPr>
        <p:spPr>
          <a:xfrm>
            <a:off x="548640" y="6393180"/>
            <a:ext cx="11094720" cy="0"/>
          </a:xfrm>
          <a:prstGeom prst="line">
            <a:avLst/>
          </a:prstGeom>
          <a:ln w="7620">
            <a:solidFill>
              <a:srgbClr val="C9D2D4"/>
            </a:solidFill>
          </a:ln>
          <a:effectLst/>
        </p:spPr>
      </p:cxnSp>
      <p:sp>
        <p:nvSpPr>
          <p:cNvPr id="53" name="TextBox 52"/>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program.py · execution.py · messaging.py</a:t>
            </a:r>
          </a:p>
        </p:txBody>
      </p:sp>
      <p:sp>
        <p:nvSpPr>
          <p:cNvPr id="54" name="TextBox 53"/>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59 / 64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F / HISTORICAL CHAIN EVIDENCE</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Historical M1: one result reached an isolated chain</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This is the earlier protocol-peer artifact. No M1.2, M2, M3 or M3.1 Hive result was submitted.</a:t>
            </a:r>
          </a:p>
        </p:txBody>
      </p:sp>
      <p:sp>
        <p:nvSpPr>
          <p:cNvPr id="5" name="Rounded Rectangle 4"/>
          <p:cNvSpPr/>
          <p:nvPr/>
        </p:nvSpPr>
        <p:spPr>
          <a:xfrm>
            <a:off x="54864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6" name="TextBox 5"/>
          <p:cNvSpPr txBox="1"/>
          <p:nvPr/>
        </p:nvSpPr>
        <p:spPr>
          <a:xfrm>
            <a:off x="71628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PENDING</a:t>
            </a:r>
          </a:p>
        </p:txBody>
      </p:sp>
      <p:sp>
        <p:nvSpPr>
          <p:cNvPr id="7" name="TextBox 6"/>
          <p:cNvSpPr txBox="1"/>
          <p:nvPr/>
        </p:nvSpPr>
        <p:spPr>
          <a:xfrm>
            <a:off x="71628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Signed deploy accepted</a:t>
            </a:r>
          </a:p>
        </p:txBody>
      </p:sp>
      <p:cxnSp>
        <p:nvCxnSpPr>
          <p:cNvPr id="8" name="Connector 7"/>
          <p:cNvCxnSpPr/>
          <p:nvPr/>
        </p:nvCxnSpPr>
        <p:spPr>
          <a:xfrm>
            <a:off x="4084319" y="2537460"/>
            <a:ext cx="213361" cy="0"/>
          </a:xfrm>
          <a:prstGeom prst="line">
            <a:avLst/>
          </a:prstGeom>
          <a:ln w="15240">
            <a:solidFill>
              <a:srgbClr val="536775"/>
            </a:solidFill>
          </a:ln>
          <a:effectLst/>
        </p:spPr>
      </p:cxnSp>
      <p:sp>
        <p:nvSpPr>
          <p:cNvPr id="9" name="Freeform 8"/>
          <p:cNvSpPr/>
          <p:nvPr/>
        </p:nvSpPr>
        <p:spPr>
          <a:xfrm>
            <a:off x="419862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0" name="Rounded Rectangle 9"/>
          <p:cNvSpPr/>
          <p:nvPr/>
        </p:nvSpPr>
        <p:spPr>
          <a:xfrm>
            <a:off x="4328160" y="1965959"/>
            <a:ext cx="3535679" cy="1143000"/>
          </a:xfrm>
          <a:prstGeom prst="roundRect">
            <a:avLst>
              <a:gd name="adj" fmla="val 8666"/>
            </a:avLst>
          </a:prstGeom>
          <a:solidFill>
            <a:srgbClr val="F3E7CE"/>
          </a:solidFill>
          <a:ln w="7620">
            <a:solidFill>
              <a:srgbClr val="A86A15"/>
            </a:solidFill>
          </a:ln>
          <a:effectLst/>
        </p:spPr>
        <p:txBody>
          <a:bodyPr rtlCol="0" anchor="ctr"/>
          <a:lstStyle/>
          <a:p>
            <a:pPr algn="ctr"/>
          </a:p>
        </p:txBody>
      </p:sp>
      <p:sp>
        <p:nvSpPr>
          <p:cNvPr id="11" name="TextBox 10"/>
          <p:cNvSpPr txBox="1"/>
          <p:nvPr/>
        </p:nvSpPr>
        <p:spPr>
          <a:xfrm>
            <a:off x="449580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A86A15"/>
                </a:solidFill>
                <a:latin typeface="DejaVu Sans"/>
              </a:rPr>
              <a:t>INCLUDED</a:t>
            </a:r>
          </a:p>
        </p:txBody>
      </p:sp>
      <p:sp>
        <p:nvSpPr>
          <p:cNvPr id="12" name="TextBox 11"/>
          <p:cNvSpPr txBox="1"/>
          <p:nvPr/>
        </p:nvSpPr>
        <p:spPr>
          <a:xfrm>
            <a:off x="449580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Block observed; effects pending</a:t>
            </a:r>
          </a:p>
        </p:txBody>
      </p:sp>
      <p:cxnSp>
        <p:nvCxnSpPr>
          <p:cNvPr id="13" name="Connector 12"/>
          <p:cNvCxnSpPr/>
          <p:nvPr/>
        </p:nvCxnSpPr>
        <p:spPr>
          <a:xfrm>
            <a:off x="7863839" y="2537460"/>
            <a:ext cx="213361" cy="0"/>
          </a:xfrm>
          <a:prstGeom prst="line">
            <a:avLst/>
          </a:prstGeom>
          <a:ln w="15240">
            <a:solidFill>
              <a:srgbClr val="536775"/>
            </a:solidFill>
          </a:ln>
          <a:effectLst/>
        </p:spPr>
      </p:cxnSp>
      <p:sp>
        <p:nvSpPr>
          <p:cNvPr id="14" name="Freeform 13"/>
          <p:cNvSpPr/>
          <p:nvPr/>
        </p:nvSpPr>
        <p:spPr>
          <a:xfrm>
            <a:off x="7978140" y="2499360"/>
            <a:ext cx="99060" cy="76200"/>
          </a:xfrm>
          <a:custGeom>
            <a:avLst/>
            <a:gdLst/>
            <a:ahLst/>
            <a:cxnLst/>
            <a:rect l="l" t="t" r="r" b="b"/>
            <a:pathLst>
              <a:path w="13" h="10">
                <a:moveTo>
                  <a:pt x="13" y="5"/>
                </a:moveTo>
                <a:lnTo>
                  <a:pt x="0" y="0"/>
                </a:lnTo>
                <a:lnTo>
                  <a:pt x="0" y="10"/>
                </a:lnTo>
                <a:close/>
              </a:path>
            </a:pathLst>
          </a:custGeom>
          <a:solidFill>
            <a:srgbClr val="536775"/>
          </a:solidFill>
          <a:ln>
            <a:noFill/>
          </a:ln>
          <a:effectLst/>
        </p:spPr>
        <p:txBody>
          <a:bodyPr rtlCol="0" anchor="ctr"/>
          <a:lstStyle/>
          <a:p>
            <a:pPr algn="ctr"/>
          </a:p>
        </p:txBody>
      </p:sp>
      <p:sp>
        <p:nvSpPr>
          <p:cNvPr id="15" name="Rounded Rectangle 14"/>
          <p:cNvSpPr/>
          <p:nvPr/>
        </p:nvSpPr>
        <p:spPr>
          <a:xfrm>
            <a:off x="8107680" y="1965959"/>
            <a:ext cx="3535679" cy="1143000"/>
          </a:xfrm>
          <a:prstGeom prst="roundRect">
            <a:avLst>
              <a:gd name="adj" fmla="val 8666"/>
            </a:avLst>
          </a:prstGeom>
          <a:solidFill>
            <a:srgbClr val="DCEFE8"/>
          </a:solidFill>
          <a:ln w="7620">
            <a:solidFill>
              <a:srgbClr val="007C78"/>
            </a:solidFill>
          </a:ln>
          <a:effectLst/>
        </p:spPr>
        <p:txBody>
          <a:bodyPr rtlCol="0" anchor="ctr"/>
          <a:lstStyle/>
          <a:p>
            <a:pPr algn="ctr"/>
          </a:p>
        </p:txBody>
      </p:sp>
      <p:sp>
        <p:nvSpPr>
          <p:cNvPr id="16" name="TextBox 15"/>
          <p:cNvSpPr txBox="1"/>
          <p:nvPr/>
        </p:nvSpPr>
        <p:spPr>
          <a:xfrm>
            <a:off x="8275320" y="2133600"/>
            <a:ext cx="3200400" cy="331622"/>
          </a:xfrm>
          <a:prstGeom prst="rect">
            <a:avLst/>
          </a:prstGeom>
          <a:noFill/>
        </p:spPr>
        <p:txBody>
          <a:bodyPr wrap="none" lIns="0" rIns="0" tIns="0" bIns="0" anchor="t" anchorCtr="0">
            <a:noAutofit/>
          </a:bodyPr>
          <a:lstStyle/>
          <a:p>
            <a:pPr algn="l">
              <a:lnSpc>
                <a:spcPct val="100000"/>
              </a:lnSpc>
              <a:spcBef>
                <a:spcPts val="0"/>
              </a:spcBef>
              <a:spcAft>
                <a:spcPts val="0"/>
              </a:spcAft>
            </a:pPr>
            <a:r>
              <a:rPr sz="2039" b="1">
                <a:solidFill>
                  <a:srgbClr val="007C78"/>
                </a:solidFill>
                <a:latin typeface="DejaVu Sans"/>
              </a:rPr>
              <a:t>FINALIZED</a:t>
            </a:r>
          </a:p>
        </p:txBody>
      </p:sp>
      <p:sp>
        <p:nvSpPr>
          <p:cNvPr id="17" name="TextBox 16"/>
          <p:cNvSpPr txBox="1"/>
          <p:nvPr/>
        </p:nvSpPr>
        <p:spPr>
          <a:xfrm>
            <a:off x="8275320" y="2541422"/>
            <a:ext cx="32004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Deploy effects reported finalized</a:t>
            </a:r>
          </a:p>
        </p:txBody>
      </p:sp>
      <p:sp>
        <p:nvSpPr>
          <p:cNvPr id="18" name="TextBox 17"/>
          <p:cNvSpPr txBox="1"/>
          <p:nvPr/>
        </p:nvSpPr>
        <p:spPr>
          <a:xfrm>
            <a:off x="571500" y="3550919"/>
            <a:ext cx="5334000" cy="282854"/>
          </a:xfrm>
          <a:prstGeom prst="rect">
            <a:avLst/>
          </a:prstGeom>
          <a:noFill/>
        </p:spPr>
        <p:txBody>
          <a:bodyPr wrap="none" lIns="0" rIns="0" tIns="0" bIns="0" anchor="t" anchorCtr="0">
            <a:noAutofit/>
          </a:bodyPr>
          <a:lstStyle/>
          <a:p>
            <a:pPr algn="l">
              <a:lnSpc>
                <a:spcPct val="100000"/>
              </a:lnSpc>
              <a:spcBef>
                <a:spcPts val="0"/>
              </a:spcBef>
              <a:spcAft>
                <a:spcPts val="0"/>
              </a:spcAft>
            </a:pPr>
            <a:r>
              <a:rPr sz="1739" b="1">
                <a:solidFill>
                  <a:srgbClr val="102B3F"/>
                </a:solidFill>
                <a:latin typeface="DejaVu Sans"/>
              </a:rPr>
              <a:t>M1 recorded observation</a:t>
            </a:r>
          </a:p>
        </p:txBody>
      </p:sp>
      <p:sp>
        <p:nvSpPr>
          <p:cNvPr id="19" name="TextBox 18"/>
          <p:cNvSpPr txBox="1"/>
          <p:nvPr/>
        </p:nvSpPr>
        <p:spPr>
          <a:xfrm>
            <a:off x="571500" y="3954779"/>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Block height</a:t>
            </a:r>
          </a:p>
        </p:txBody>
      </p:sp>
      <p:sp>
        <p:nvSpPr>
          <p:cNvPr id="20" name="TextBox 19"/>
          <p:cNvSpPr txBox="1"/>
          <p:nvPr/>
        </p:nvSpPr>
        <p:spPr>
          <a:xfrm>
            <a:off x="3093720" y="3954779"/>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a:t>
            </a:r>
          </a:p>
        </p:txBody>
      </p:sp>
      <p:sp>
        <p:nvSpPr>
          <p:cNvPr id="21" name="TextBox 20"/>
          <p:cNvSpPr txBox="1"/>
          <p:nvPr/>
        </p:nvSpPr>
        <p:spPr>
          <a:xfrm>
            <a:off x="571500" y="430530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error</a:t>
            </a:r>
          </a:p>
        </p:txBody>
      </p:sp>
      <p:sp>
        <p:nvSpPr>
          <p:cNvPr id="22" name="TextBox 21"/>
          <p:cNvSpPr txBox="1"/>
          <p:nvPr/>
        </p:nvSpPr>
        <p:spPr>
          <a:xfrm>
            <a:off x="3093720" y="430530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false</a:t>
            </a:r>
          </a:p>
        </p:txBody>
      </p:sp>
      <p:sp>
        <p:nvSpPr>
          <p:cNvPr id="23" name="TextBox 22"/>
          <p:cNvSpPr txBox="1"/>
          <p:nvPr/>
        </p:nvSpPr>
        <p:spPr>
          <a:xfrm>
            <a:off x="571500" y="465582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Rejection count</a:t>
            </a:r>
          </a:p>
        </p:txBody>
      </p:sp>
      <p:sp>
        <p:nvSpPr>
          <p:cNvPr id="24" name="TextBox 23"/>
          <p:cNvSpPr txBox="1"/>
          <p:nvPr/>
        </p:nvSpPr>
        <p:spPr>
          <a:xfrm>
            <a:off x="3093720" y="465582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0</a:t>
            </a:r>
          </a:p>
        </p:txBody>
      </p:sp>
      <p:sp>
        <p:nvSpPr>
          <p:cNvPr id="25" name="TextBox 24"/>
          <p:cNvSpPr txBox="1"/>
          <p:nvPr/>
        </p:nvSpPr>
        <p:spPr>
          <a:xfrm>
            <a:off x="571500" y="5006340"/>
            <a:ext cx="24765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Execution cost</a:t>
            </a:r>
          </a:p>
        </p:txBody>
      </p:sp>
      <p:sp>
        <p:nvSpPr>
          <p:cNvPr id="26" name="TextBox 25"/>
          <p:cNvSpPr txBox="1"/>
          <p:nvPr/>
        </p:nvSpPr>
        <p:spPr>
          <a:xfrm>
            <a:off x="3093720" y="5006340"/>
            <a:ext cx="2209800" cy="253593"/>
          </a:xfrm>
          <a:prstGeom prst="rect">
            <a:avLst/>
          </a:prstGeom>
          <a:noFill/>
        </p:spPr>
        <p:txBody>
          <a:bodyPr wrap="none" lIns="0" rIns="0" tIns="0" bIns="0" anchor="t" anchorCtr="0">
            <a:noAutofit/>
          </a:bodyPr>
          <a:lstStyle/>
          <a:p>
            <a:pPr algn="l">
              <a:lnSpc>
                <a:spcPct val="100000"/>
              </a:lnSpc>
              <a:spcBef>
                <a:spcPts val="0"/>
              </a:spcBef>
              <a:spcAft>
                <a:spcPts val="0"/>
              </a:spcAft>
            </a:pPr>
            <a:r>
              <a:rPr sz="1560" b="1">
                <a:solidFill>
                  <a:srgbClr val="102B3F"/>
                </a:solidFill>
                <a:latin typeface="DejaVu Sans"/>
              </a:rPr>
              <a:t>351 phlo</a:t>
            </a:r>
          </a:p>
        </p:txBody>
      </p:sp>
      <p:sp>
        <p:nvSpPr>
          <p:cNvPr id="27" name="Rounded Rectangle 26"/>
          <p:cNvSpPr/>
          <p:nvPr/>
        </p:nvSpPr>
        <p:spPr>
          <a:xfrm>
            <a:off x="5981700" y="3444240"/>
            <a:ext cx="5661660" cy="1943100"/>
          </a:xfrm>
          <a:prstGeom prst="roundRect">
            <a:avLst>
              <a:gd name="adj" fmla="val 5098"/>
            </a:avLst>
          </a:prstGeom>
          <a:solidFill>
            <a:srgbClr val="FFFFFF"/>
          </a:solidFill>
          <a:ln>
            <a:noFill/>
          </a:ln>
          <a:effectLst/>
        </p:spPr>
        <p:txBody>
          <a:bodyPr rtlCol="0" anchor="ctr"/>
          <a:lstStyle/>
          <a:p>
            <a:pPr algn="ctr"/>
          </a:p>
        </p:txBody>
      </p:sp>
      <p:sp>
        <p:nvSpPr>
          <p:cNvPr id="28" name="TextBox 27"/>
          <p:cNvSpPr txBox="1"/>
          <p:nvPr/>
        </p:nvSpPr>
        <p:spPr>
          <a:xfrm>
            <a:off x="6179820" y="3634740"/>
            <a:ext cx="5181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1">
                <a:solidFill>
                  <a:srgbClr val="102B3F"/>
                </a:solidFill>
                <a:latin typeface="DejaVu Sans"/>
              </a:rPr>
              <a:t>Historical commitment digest</a:t>
            </a:r>
          </a:p>
        </p:txBody>
      </p:sp>
      <p:sp>
        <p:nvSpPr>
          <p:cNvPr id="29" name="TextBox 28"/>
          <p:cNvSpPr txBox="1"/>
          <p:nvPr/>
        </p:nvSpPr>
        <p:spPr>
          <a:xfrm>
            <a:off x="6179820" y="4046219"/>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f9236451ff785dc58315251cf864a3d1</a:t>
            </a:r>
          </a:p>
        </p:txBody>
      </p:sp>
      <p:sp>
        <p:nvSpPr>
          <p:cNvPr id="30" name="TextBox 29"/>
          <p:cNvSpPr txBox="1"/>
          <p:nvPr/>
        </p:nvSpPr>
        <p:spPr>
          <a:xfrm>
            <a:off x="6179820" y="428030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007C78"/>
                </a:solidFill>
                <a:latin typeface="DejaVu Sans Mono"/>
              </a:rPr>
              <a:t>0938412551cf45f448055061bc953ea1</a:t>
            </a:r>
          </a:p>
        </p:txBody>
      </p:sp>
      <p:sp>
        <p:nvSpPr>
          <p:cNvPr id="31" name="TextBox 30"/>
          <p:cNvSpPr txBox="1"/>
          <p:nvPr/>
        </p:nvSpPr>
        <p:spPr>
          <a:xfrm>
            <a:off x="6179820" y="4762500"/>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One local validator; direct node observations.</a:t>
            </a:r>
          </a:p>
        </p:txBody>
      </p:sp>
      <p:sp>
        <p:nvSpPr>
          <p:cNvPr id="32" name="TextBox 31"/>
          <p:cNvSpPr txBox="1"/>
          <p:nvPr/>
        </p:nvSpPr>
        <p:spPr>
          <a:xfrm>
            <a:off x="6179820" y="4996586"/>
            <a:ext cx="5181600" cy="234086"/>
          </a:xfrm>
          <a:prstGeom prst="rect">
            <a:avLst/>
          </a:prstGeom>
          <a:noFill/>
        </p:spPr>
        <p:txBody>
          <a:bodyPr wrap="none" lIns="0" rIns="0" tIns="0" bIns="0" anchor="t" anchorCtr="0">
            <a:noAutofit/>
          </a:bodyPr>
          <a:lstStyle/>
          <a:p>
            <a:pPr algn="l">
              <a:lnSpc>
                <a:spcPct val="100000"/>
              </a:lnSpc>
              <a:spcBef>
                <a:spcPts val="0"/>
              </a:spcBef>
              <a:spcAft>
                <a:spcPts val="0"/>
              </a:spcAft>
            </a:pPr>
            <a:r>
              <a:rPr sz="1439" b="0">
                <a:solidFill>
                  <a:srgbClr val="536775"/>
                </a:solidFill>
                <a:latin typeface="DejaVu Sans"/>
              </a:rPr>
              <a:t>Not a consensus proof or production test.</a:t>
            </a:r>
          </a:p>
        </p:txBody>
      </p:sp>
      <p:sp>
        <p:nvSpPr>
          <p:cNvPr id="33" name="Rounded Rectangle 32"/>
          <p:cNvSpPr/>
          <p:nvPr/>
        </p:nvSpPr>
        <p:spPr>
          <a:xfrm>
            <a:off x="548640" y="5829300"/>
            <a:ext cx="11094720" cy="403859"/>
          </a:xfrm>
          <a:prstGeom prst="roundRect">
            <a:avLst>
              <a:gd name="adj" fmla="val 15094"/>
            </a:avLst>
          </a:prstGeom>
          <a:solidFill>
            <a:srgbClr val="F3E7CE"/>
          </a:solidFill>
          <a:ln>
            <a:noFill/>
          </a:ln>
          <a:effectLst/>
        </p:spPr>
        <p:txBody>
          <a:bodyPr rtlCol="0" anchor="ctr"/>
          <a:lstStyle/>
          <a:p>
            <a:pPr algn="ctr"/>
          </a:p>
        </p:txBody>
      </p:sp>
      <p:sp>
        <p:nvSpPr>
          <p:cNvPr id="34" name="TextBox 33"/>
          <p:cNvSpPr txBox="1"/>
          <p:nvPr/>
        </p:nvSpPr>
        <p:spPr>
          <a:xfrm>
            <a:off x="716280" y="5905500"/>
            <a:ext cx="1074420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A86A15"/>
                </a:solidFill>
                <a:latin typeface="DejaVu Sans"/>
              </a:rPr>
              <a:t>Historical M1 reproduction stays BLOCKED. M4 separately passes with a verified clean source baseline.</a:t>
            </a:r>
          </a:p>
        </p:txBody>
      </p:sp>
      <p:cxnSp>
        <p:nvCxnSpPr>
          <p:cNvPr id="35" name="Connector 34"/>
          <p:cNvCxnSpPr/>
          <p:nvPr/>
        </p:nvCxnSpPr>
        <p:spPr>
          <a:xfrm>
            <a:off x="548640" y="6393180"/>
            <a:ext cx="11094720" cy="0"/>
          </a:xfrm>
          <a:prstGeom prst="line">
            <a:avLst/>
          </a:prstGeom>
          <a:ln w="7620">
            <a:solidFill>
              <a:srgbClr val="C9D2D4"/>
            </a:solidFill>
          </a:ln>
          <a:effectLst/>
        </p:spPr>
      </p:cxnSp>
      <p:sp>
        <p:nvSpPr>
          <p:cNvPr id="36" name="TextBox 35"/>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evidence/chain-demo.json · M1 historical</a:t>
            </a:r>
          </a:p>
        </p:txBody>
      </p:sp>
      <p:sp>
        <p:nvSpPr>
          <p:cNvPr id="37" name="TextBox 36"/>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60 / 64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G / COMMANDS AND PREREQUISITES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Reproduce the required real M4 gates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Use tested 55ed540 or a reviewed descendant; fresh build/evidence destinations and authorized source access.</a:t>
            </a:r>
          </a:p>
        </p:txBody>
      </p:sp>
      <p:sp>
        <p:nvSpPr>
          <p:cNvPr id="5" name="Rounded Rectangle 4"/>
          <p:cNvSpPr/>
          <p:nvPr/>
        </p:nvSpPr>
        <p:spPr>
          <a:xfrm>
            <a:off x="548640" y="1866900"/>
            <a:ext cx="11094720" cy="1424940"/>
          </a:xfrm>
          <a:prstGeom prst="roundRect">
            <a:avLst>
              <a:gd name="adj" fmla="val 6417"/>
            </a:avLst>
          </a:prstGeom>
          <a:solidFill>
            <a:srgbClr val="0B2233"/>
          </a:solidFill>
          <a:ln>
            <a:noFill/>
          </a:ln>
          <a:effectLst/>
        </p:spPr>
        <p:txBody>
          <a:bodyPr rtlCol="0" anchor="ctr"/>
          <a:lstStyle/>
          <a:p>
            <a:pPr algn="ctr"/>
          </a:p>
        </p:txBody>
      </p:sp>
      <p:sp>
        <p:nvSpPr>
          <p:cNvPr id="6" name="TextBox 5"/>
          <p:cNvSpPr txBox="1"/>
          <p:nvPr/>
        </p:nvSpPr>
        <p:spPr>
          <a:xfrm>
            <a:off x="762000" y="2034539"/>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BUILD PINNED HIVE / DETTA / PLN + CLEAN F1R3NODE</a:t>
            </a:r>
          </a:p>
        </p:txBody>
      </p:sp>
      <p:sp>
        <p:nvSpPr>
          <p:cNvPr id="7" name="TextBox 6"/>
          <p:cNvSpPr txBox="1"/>
          <p:nvPr/>
        </p:nvSpPr>
        <p:spPr>
          <a:xfrm>
            <a:off x="762000" y="239268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8" name="TextBox 7"/>
          <p:cNvSpPr txBox="1"/>
          <p:nvPr/>
        </p:nvSpPr>
        <p:spPr>
          <a:xfrm>
            <a:off x="762000" y="27584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scripts/build_m4.py &lt;FRESH_BUILD&gt;</a:t>
            </a:r>
          </a:p>
        </p:txBody>
      </p:sp>
      <p:sp>
        <p:nvSpPr>
          <p:cNvPr id="9" name="Rounded Rectangle 8"/>
          <p:cNvSpPr/>
          <p:nvPr/>
        </p:nvSpPr>
        <p:spPr>
          <a:xfrm>
            <a:off x="548640" y="3543300"/>
            <a:ext cx="11094720" cy="1424940"/>
          </a:xfrm>
          <a:prstGeom prst="roundRect">
            <a:avLst>
              <a:gd name="adj" fmla="val 6417"/>
            </a:avLst>
          </a:prstGeom>
          <a:solidFill>
            <a:srgbClr val="0B2233"/>
          </a:solidFill>
          <a:ln>
            <a:noFill/>
          </a:ln>
          <a:effectLst/>
        </p:spPr>
        <p:txBody>
          <a:bodyPr rtlCol="0" anchor="ctr"/>
          <a:lstStyle/>
          <a:p>
            <a:pPr algn="ctr"/>
          </a:p>
        </p:txBody>
      </p:sp>
      <p:sp>
        <p:nvSpPr>
          <p:cNvPr id="10" name="TextBox 9"/>
          <p:cNvSpPr txBox="1"/>
          <p:nvPr/>
        </p:nvSpPr>
        <p:spPr>
          <a:xfrm>
            <a:off x="762000" y="3710940"/>
            <a:ext cx="105156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77DDC4"/>
                </a:solidFill>
                <a:latin typeface="DejaVu Sans"/>
              </a:rPr>
              <a:t>VERIFY REGRESSIONS + NATIVE CHAIN + RECOVERY + READBACK</a:t>
            </a:r>
          </a:p>
        </p:txBody>
      </p:sp>
      <p:sp>
        <p:nvSpPr>
          <p:cNvPr id="11" name="TextBox 10"/>
          <p:cNvSpPr txBox="1"/>
          <p:nvPr/>
        </p:nvSpPr>
        <p:spPr>
          <a:xfrm>
            <a:off x="762000" y="4069079"/>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uv run --python 3.11 --locked python \</a:t>
            </a:r>
          </a:p>
        </p:txBody>
      </p:sp>
      <p:sp>
        <p:nvSpPr>
          <p:cNvPr id="12" name="TextBox 11"/>
          <p:cNvSpPr txBox="1"/>
          <p:nvPr/>
        </p:nvSpPr>
        <p:spPr>
          <a:xfrm>
            <a:off x="762000" y="4434840"/>
            <a:ext cx="10515600" cy="263347"/>
          </a:xfrm>
          <a:prstGeom prst="rect">
            <a:avLst/>
          </a:prstGeom>
          <a:noFill/>
        </p:spPr>
        <p:txBody>
          <a:bodyPr wrap="none" lIns="0" rIns="0" tIns="0" bIns="0" anchor="t" anchorCtr="0">
            <a:noAutofit/>
          </a:bodyPr>
          <a:lstStyle/>
          <a:p>
            <a:pPr algn="l">
              <a:lnSpc>
                <a:spcPct val="100000"/>
              </a:lnSpc>
              <a:spcBef>
                <a:spcPts val="0"/>
              </a:spcBef>
              <a:spcAft>
                <a:spcPts val="0"/>
              </a:spcAft>
            </a:pPr>
            <a:r>
              <a:rPr sz="1620" b="0">
                <a:solidFill>
                  <a:srgbClr val="FFFFFF"/>
                </a:solidFill>
                <a:latin typeface="DejaVu Sans Mono"/>
              </a:rPr>
              <a:t>scripts/verify_m4.py &lt;FRESH_BUILD&gt; --output &lt;FRESH_EVIDENCE&gt;</a:t>
            </a:r>
          </a:p>
        </p:txBody>
      </p:sp>
      <p:sp>
        <p:nvSpPr>
          <p:cNvPr id="13" name="TextBox 12"/>
          <p:cNvSpPr txBox="1"/>
          <p:nvPr/>
        </p:nvSpPr>
        <p:spPr>
          <a:xfrm>
            <a:off x="594360" y="531114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1">
                <a:solidFill>
                  <a:srgbClr val="102B3F"/>
                </a:solidFill>
                <a:latin typeface="DejaVu Sans"/>
              </a:rPr>
              <a:t>Read: manifest → same-artifact → readback → verification → regression summaries</a:t>
            </a:r>
          </a:p>
        </p:txBody>
      </p:sp>
      <p:sp>
        <p:nvSpPr>
          <p:cNvPr id="14" name="Rounded Rectangle 13"/>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15" name="TextBox 14"/>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Separate reader: scripts/readback_m4.py · DA get-only authority + read RPC · no caller journal or signer.</a:t>
            </a:r>
          </a:p>
        </p:txBody>
      </p:sp>
      <p:cxnSp>
        <p:nvCxnSpPr>
          <p:cNvPr id="16" name="Connector 15"/>
          <p:cNvCxnSpPr/>
          <p:nvPr/>
        </p:nvCxnSpPr>
        <p:spPr>
          <a:xfrm>
            <a:off x="548640" y="6393180"/>
            <a:ext cx="11094720" cy="0"/>
          </a:xfrm>
          <a:prstGeom prst="line">
            <a:avLst/>
          </a:prstGeom>
          <a:ln w="7620">
            <a:solidFill>
              <a:srgbClr val="C9D2D4"/>
            </a:solidFill>
          </a:ln>
          <a:effectLst/>
        </p:spPr>
      </p:cxnSp>
      <p:sp>
        <p:nvSpPr>
          <p:cNvPr id="17" name="TextBox 16"/>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runbook.md · build_m4.py · verify_m4.py</a:t>
            </a:r>
          </a:p>
        </p:txBody>
      </p:sp>
      <p:sp>
        <p:nvSpPr>
          <p:cNvPr id="18" name="TextBox 17"/>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61 / 64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H / OPERATIONAL SEMANTICS</a:t>
            </a:r>
          </a:p>
        </p:txBody>
      </p:sp>
      <p:sp>
        <p:nvSpPr>
          <p:cNvPr id="3" name="TextBox 2"/>
          <p:cNvSpPr txBox="1"/>
          <p:nvPr/>
        </p:nvSpPr>
        <p:spPr>
          <a:xfrm>
            <a:off x="533400" y="723900"/>
            <a:ext cx="11125200" cy="507187"/>
          </a:xfrm>
          <a:prstGeom prst="rect">
            <a:avLst/>
          </a:prstGeom>
          <a:noFill/>
        </p:spPr>
        <p:txBody>
          <a:bodyPr wrap="none" lIns="0" rIns="0" tIns="0" bIns="0" anchor="t" anchorCtr="0">
            <a:noAutofit/>
          </a:bodyPr>
          <a:lstStyle/>
          <a:p>
            <a:pPr algn="l">
              <a:lnSpc>
                <a:spcPct val="100000"/>
              </a:lnSpc>
              <a:spcBef>
                <a:spcPts val="0"/>
              </a:spcBef>
              <a:spcAft>
                <a:spcPts val="0"/>
              </a:spcAft>
            </a:pPr>
            <a:r>
              <a:rPr sz="3120" b="1">
                <a:solidFill>
                  <a:srgbClr val="102B3F"/>
                </a:solidFill>
                <a:latin typeface="DejaVu Sans"/>
              </a:rPr>
              <a:t>Retry identities answer different questions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Preserve the logical cause while distinguishing transport replay from physical evaluation attempts.</a:t>
            </a:r>
          </a:p>
        </p:txBody>
      </p:sp>
      <p:sp>
        <p:nvSpPr>
          <p:cNvPr id="5" name="TextBox 4"/>
          <p:cNvSpPr txBox="1"/>
          <p:nvPr/>
        </p:nvSpPr>
        <p:spPr>
          <a:xfrm>
            <a:off x="670560" y="1790700"/>
            <a:ext cx="2613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IDENTITY / STATE</a:t>
            </a:r>
          </a:p>
        </p:txBody>
      </p:sp>
      <p:sp>
        <p:nvSpPr>
          <p:cNvPr id="6" name="TextBox 5"/>
          <p:cNvSpPr txBox="1"/>
          <p:nvPr/>
        </p:nvSpPr>
        <p:spPr>
          <a:xfrm>
            <a:off x="3528060" y="1790700"/>
            <a:ext cx="37566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MEANING</a:t>
            </a:r>
          </a:p>
        </p:txBody>
      </p:sp>
      <p:sp>
        <p:nvSpPr>
          <p:cNvPr id="7" name="TextBox 6"/>
          <p:cNvSpPr txBox="1"/>
          <p:nvPr/>
        </p:nvSpPr>
        <p:spPr>
          <a:xfrm>
            <a:off x="7528559" y="1790700"/>
            <a:ext cx="39928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RECOVERY ACTION</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Request / step ID</a:t>
            </a:r>
          </a:p>
        </p:txBody>
      </p:sp>
      <p:sp>
        <p:nvSpPr>
          <p:cNvPr id="10" name="TextBox 9"/>
          <p:cNvSpPr txBox="1"/>
          <p:nvPr/>
        </p:nvSpPr>
        <p:spPr>
          <a:xfrm>
            <a:off x="3528060" y="22402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Exact immutable command intent</a:t>
            </a:r>
          </a:p>
        </p:txBody>
      </p:sp>
      <p:sp>
        <p:nvSpPr>
          <p:cNvPr id="11" name="TextBox 10"/>
          <p:cNvSpPr txBox="1"/>
          <p:nvPr/>
        </p:nvSpPr>
        <p:spPr>
          <a:xfrm>
            <a:off x="7528559" y="22402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Same body replays; changed body conflicts</a:t>
            </a:r>
          </a:p>
        </p:txBody>
      </p:sp>
      <p:sp>
        <p:nvSpPr>
          <p:cNvPr id="12" name="Rounded Rectangle 11"/>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3" name="TextBox 12"/>
          <p:cNvSpPr txBox="1"/>
          <p:nvPr/>
        </p:nvSpPr>
        <p:spPr>
          <a:xfrm>
            <a:off x="670560" y="285750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Logical derivation ID</a:t>
            </a:r>
          </a:p>
        </p:txBody>
      </p:sp>
      <p:sp>
        <p:nvSpPr>
          <p:cNvPr id="14" name="TextBox 13"/>
          <p:cNvSpPr txBox="1"/>
          <p:nvPr/>
        </p:nvSpPr>
        <p:spPr>
          <a:xfrm>
            <a:off x="3528060" y="285750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The same exact grounded conclusion</a:t>
            </a:r>
          </a:p>
        </p:txBody>
      </p:sp>
      <p:sp>
        <p:nvSpPr>
          <p:cNvPr id="15" name="TextBox 14"/>
          <p:cNvSpPr txBox="1"/>
          <p:nvPr/>
        </p:nvSpPr>
        <p:spPr>
          <a:xfrm>
            <a:off x="7528559" y="285750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Deduplicate admission and causal feedback</a:t>
            </a:r>
          </a:p>
        </p:txBody>
      </p:sp>
      <p:sp>
        <p:nvSpPr>
          <p:cNvPr id="16" name="Rounded Rectangle 15"/>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17" name="TextBox 16"/>
          <p:cNvSpPr txBox="1"/>
          <p:nvPr/>
        </p:nvSpPr>
        <p:spPr>
          <a:xfrm>
            <a:off x="670560" y="3474719"/>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Attempt key + reserved</a:t>
            </a:r>
          </a:p>
        </p:txBody>
      </p:sp>
      <p:sp>
        <p:nvSpPr>
          <p:cNvPr id="18" name="TextBox 17"/>
          <p:cNvSpPr txBox="1"/>
          <p:nvPr/>
        </p:nvSpPr>
        <p:spPr>
          <a:xfrm>
            <a:off x="670560" y="369905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slot</a:t>
            </a:r>
          </a:p>
        </p:txBody>
      </p:sp>
      <p:sp>
        <p:nvSpPr>
          <p:cNvPr id="19" name="TextBox 18"/>
          <p:cNvSpPr txBox="1"/>
          <p:nvPr/>
        </p:nvSpPr>
        <p:spPr>
          <a:xfrm>
            <a:off x="3528060" y="3474719"/>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physical evaluation opportunity</a:t>
            </a:r>
          </a:p>
        </p:txBody>
      </p:sp>
      <p:sp>
        <p:nvSpPr>
          <p:cNvPr id="20" name="TextBox 19"/>
          <p:cNvSpPr txBox="1"/>
          <p:nvPr/>
        </p:nvSpPr>
        <p:spPr>
          <a:xfrm>
            <a:off x="7528559" y="3474719"/>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Pending death spends slot; new key needs</a:t>
            </a:r>
          </a:p>
        </p:txBody>
      </p:sp>
      <p:sp>
        <p:nvSpPr>
          <p:cNvPr id="21" name="TextBox 20"/>
          <p:cNvSpPr txBox="1"/>
          <p:nvPr/>
        </p:nvSpPr>
        <p:spPr>
          <a:xfrm>
            <a:off x="7528559" y="369905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budget</a:t>
            </a:r>
          </a:p>
        </p:txBody>
      </p:sp>
      <p:sp>
        <p:nvSpPr>
          <p:cNvPr id="22" name="Rounded Rectangle 21"/>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3" name="TextBox 22"/>
          <p:cNvSpPr txBox="1"/>
          <p:nvPr/>
        </p:nvSpPr>
        <p:spPr>
          <a:xfrm>
            <a:off x="670560" y="409194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Committed C2 decision</a:t>
            </a:r>
          </a:p>
        </p:txBody>
      </p:sp>
      <p:sp>
        <p:nvSpPr>
          <p:cNvPr id="24" name="TextBox 23"/>
          <p:cNvSpPr txBox="1"/>
          <p:nvPr/>
        </p:nvSpPr>
        <p:spPr>
          <a:xfrm>
            <a:off x="3528060" y="409194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Saved authoritative admission outcome</a:t>
            </a:r>
          </a:p>
        </p:txBody>
      </p:sp>
      <p:sp>
        <p:nvSpPr>
          <p:cNvPr id="25" name="TextBox 24"/>
          <p:cNvSpPr txBox="1"/>
          <p:nvPr/>
        </p:nvSpPr>
        <p:spPr>
          <a:xfrm>
            <a:off x="7528559" y="409194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first; do not recalculate</a:t>
            </a:r>
          </a:p>
        </p:txBody>
      </p:sp>
      <p:sp>
        <p:nvSpPr>
          <p:cNvPr id="26" name="Rounded Rectangle 25"/>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27" name="TextBox 26"/>
          <p:cNvSpPr txBox="1"/>
          <p:nvPr/>
        </p:nvSpPr>
        <p:spPr>
          <a:xfrm>
            <a:off x="670560" y="470916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C3 causal feedback</a:t>
            </a:r>
          </a:p>
        </p:txBody>
      </p:sp>
      <p:sp>
        <p:nvSpPr>
          <p:cNvPr id="28" name="TextBox 27"/>
          <p:cNvSpPr txBox="1"/>
          <p:nvPr/>
        </p:nvSpPr>
        <p:spPr>
          <a:xfrm>
            <a:off x="670560" y="493349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receipt</a:t>
            </a:r>
          </a:p>
        </p:txBody>
      </p:sp>
      <p:sp>
        <p:nvSpPr>
          <p:cNvPr id="29" name="TextBox 28"/>
          <p:cNvSpPr txBox="1"/>
          <p:nvPr/>
        </p:nvSpPr>
        <p:spPr>
          <a:xfrm>
            <a:off x="3528060" y="470916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One workflow credit for logical admission</a:t>
            </a:r>
          </a:p>
        </p:txBody>
      </p:sp>
      <p:sp>
        <p:nvSpPr>
          <p:cNvPr id="30" name="TextBox 29"/>
          <p:cNvSpPr txBox="1"/>
          <p:nvPr/>
        </p:nvSpPr>
        <p:spPr>
          <a:xfrm>
            <a:off x="7528559" y="470916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Recover acknowledgment; do not credit</a:t>
            </a:r>
          </a:p>
        </p:txBody>
      </p:sp>
      <p:sp>
        <p:nvSpPr>
          <p:cNvPr id="31" name="TextBox 30"/>
          <p:cNvSpPr txBox="1"/>
          <p:nvPr/>
        </p:nvSpPr>
        <p:spPr>
          <a:xfrm>
            <a:off x="7528559" y="4933492"/>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twice</a:t>
            </a:r>
          </a:p>
        </p:txBody>
      </p:sp>
      <p:sp>
        <p:nvSpPr>
          <p:cNvPr id="32" name="Rounded Rectangle 31"/>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3" name="TextBox 32"/>
          <p:cNvSpPr txBox="1"/>
          <p:nvPr/>
        </p:nvSpPr>
        <p:spPr>
          <a:xfrm>
            <a:off x="670560" y="5326380"/>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Deadline / generation</a:t>
            </a:r>
          </a:p>
        </p:txBody>
      </p:sp>
      <p:sp>
        <p:nvSpPr>
          <p:cNvPr id="34" name="TextBox 33"/>
          <p:cNvSpPr txBox="1"/>
          <p:nvPr/>
        </p:nvSpPr>
        <p:spPr>
          <a:xfrm>
            <a:off x="670560" y="5550712"/>
            <a:ext cx="2613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watermark</a:t>
            </a:r>
          </a:p>
        </p:txBody>
      </p:sp>
      <p:sp>
        <p:nvSpPr>
          <p:cNvPr id="35" name="TextBox 34"/>
          <p:cNvSpPr txBox="1"/>
          <p:nvPr/>
        </p:nvSpPr>
        <p:spPr>
          <a:xfrm>
            <a:off x="3528060" y="5326380"/>
            <a:ext cx="37566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Durable limits across process restarts</a:t>
            </a:r>
          </a:p>
        </p:txBody>
      </p:sp>
      <p:sp>
        <p:nvSpPr>
          <p:cNvPr id="36" name="TextBox 35"/>
          <p:cNvSpPr txBox="1"/>
          <p:nvPr/>
        </p:nvSpPr>
        <p:spPr>
          <a:xfrm>
            <a:off x="7528559" y="5326380"/>
            <a:ext cx="39928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Do not reset, refund or implicitly retime</a:t>
            </a:r>
          </a:p>
        </p:txBody>
      </p:sp>
      <p:cxnSp>
        <p:nvCxnSpPr>
          <p:cNvPr id="37" name="Connector 36"/>
          <p:cNvCxnSpPr/>
          <p:nvPr/>
        </p:nvCxnSpPr>
        <p:spPr>
          <a:xfrm>
            <a:off x="548640" y="6393180"/>
            <a:ext cx="11094720" cy="0"/>
          </a:xfrm>
          <a:prstGeom prst="line">
            <a:avLst/>
          </a:prstGeom>
          <a:ln w="7620">
            <a:solidFill>
              <a:srgbClr val="C9D2D4"/>
            </a:solidFill>
          </a:ln>
          <a:effectLst/>
        </p:spPr>
      </p:cxnSp>
      <p:sp>
        <p:nvSpPr>
          <p:cNvPr id="38" name="TextBox 37"/>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inference.py · derived_beliefs.py · attention.py</a:t>
            </a:r>
          </a:p>
        </p:txBody>
      </p:sp>
      <p:sp>
        <p:nvSpPr>
          <p:cNvPr id="39" name="TextBox 38"/>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62 / 64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I / CHAIN CONTRACT + CODE LEDGER</a:t>
            </a:r>
          </a:p>
        </p:txBody>
      </p:sp>
      <p:sp>
        <p:nvSpPr>
          <p:cNvPr id="3" name="TextBox 2"/>
          <p:cNvSpPr txBox="1"/>
          <p:nvPr/>
        </p:nvSpPr>
        <p:spPr>
          <a:xfrm>
            <a:off x="533400" y="723900"/>
            <a:ext cx="11125200" cy="487680"/>
          </a:xfrm>
          <a:prstGeom prst="rect">
            <a:avLst/>
          </a:prstGeom>
          <a:noFill/>
        </p:spPr>
        <p:txBody>
          <a:bodyPr wrap="none" lIns="0" rIns="0" tIns="0" bIns="0" anchor="t" anchorCtr="0">
            <a:noAutofit/>
          </a:bodyPr>
          <a:lstStyle/>
          <a:p>
            <a:pPr algn="l">
              <a:lnSpc>
                <a:spcPct val="100000"/>
              </a:lnSpc>
              <a:spcBef>
                <a:spcPts val="0"/>
              </a:spcBef>
              <a:spcAft>
                <a:spcPts val="0"/>
              </a:spcAft>
            </a:pPr>
            <a:r>
              <a:rPr sz="3000" b="1">
                <a:solidFill>
                  <a:srgbClr val="102B3F"/>
                </a:solidFill>
                <a:latin typeface="DejaVu Sans"/>
              </a:rPr>
              <a:t>M4 adds one profile and two narrow native actions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Existing ConsensusFinality signatures and legacy providers remain unchanged; fresh journals are required.</a:t>
            </a:r>
          </a:p>
        </p:txBody>
      </p:sp>
      <p:sp>
        <p:nvSpPr>
          <p:cNvPr id="5" name="TextBox 4"/>
          <p:cNvSpPr txBox="1"/>
          <p:nvPr/>
        </p:nvSpPr>
        <p:spPr>
          <a:xfrm>
            <a:off x="670560" y="1790700"/>
            <a:ext cx="24231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SURFACE / OWNER</a:t>
            </a:r>
          </a:p>
        </p:txBody>
      </p:sp>
      <p:sp>
        <p:nvSpPr>
          <p:cNvPr id="6" name="TextBox 5"/>
          <p:cNvSpPr txBox="1"/>
          <p:nvPr/>
        </p:nvSpPr>
        <p:spPr>
          <a:xfrm>
            <a:off x="3337560" y="1790700"/>
            <a:ext cx="448056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CONTRACT OR CODE</a:t>
            </a:r>
          </a:p>
        </p:txBody>
      </p:sp>
      <p:sp>
        <p:nvSpPr>
          <p:cNvPr id="7" name="TextBox 6"/>
          <p:cNvSpPr txBox="1"/>
          <p:nvPr/>
        </p:nvSpPr>
        <p:spPr>
          <a:xfrm>
            <a:off x="8061959" y="1790700"/>
            <a:ext cx="345947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DURABLE RESPONSIBILITY</a:t>
            </a:r>
          </a:p>
        </p:txBody>
      </p:sp>
      <p:sp>
        <p:nvSpPr>
          <p:cNvPr id="8" name="Rounded Rectangle 7"/>
          <p:cNvSpPr/>
          <p:nvPr/>
        </p:nvSpPr>
        <p:spPr>
          <a:xfrm>
            <a:off x="548640" y="2110740"/>
            <a:ext cx="11094720" cy="579120"/>
          </a:xfrm>
          <a:prstGeom prst="roundRect">
            <a:avLst>
              <a:gd name="adj" fmla="val 7894"/>
            </a:avLst>
          </a:prstGeom>
          <a:solidFill>
            <a:srgbClr val="FFFFFF"/>
          </a:solidFill>
          <a:ln>
            <a:noFill/>
          </a:ln>
          <a:effectLst/>
        </p:spPr>
        <p:txBody>
          <a:bodyPr rtlCol="0" anchor="ctr"/>
          <a:lstStyle/>
          <a:p>
            <a:pPr algn="ctr"/>
          </a:p>
        </p:txBody>
      </p:sp>
      <p:sp>
        <p:nvSpPr>
          <p:cNvPr id="9" name="TextBox 8"/>
          <p:cNvSpPr txBox="1"/>
          <p:nvPr/>
        </p:nvSpPr>
        <p:spPr>
          <a:xfrm>
            <a:off x="670560" y="224028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Native commitment</a:t>
            </a:r>
          </a:p>
        </p:txBody>
      </p:sp>
      <p:sp>
        <p:nvSpPr>
          <p:cNvPr id="10" name="TextBox 9"/>
          <p:cNvSpPr txBox="1"/>
          <p:nvPr/>
        </p:nvSpPr>
        <p:spPr>
          <a:xfrm>
            <a:off x="670560" y="246461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caller</a:t>
            </a:r>
          </a:p>
        </p:txBody>
      </p:sp>
      <p:sp>
        <p:nvSpPr>
          <p:cNvPr id="11" name="TextBox 10"/>
          <p:cNvSpPr txBox="1"/>
          <p:nvPr/>
        </p:nvSpPr>
        <p:spPr>
          <a:xfrm>
            <a:off x="3337560" y="224028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integration/hive/commitment/</a:t>
            </a:r>
          </a:p>
        </p:txBody>
      </p:sp>
      <p:sp>
        <p:nvSpPr>
          <p:cNvPr id="12" name="TextBox 11"/>
          <p:cNvSpPr txBox="1"/>
          <p:nvPr/>
        </p:nvSpPr>
        <p:spPr>
          <a:xfrm>
            <a:off x="8061959" y="224028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Original command mapping; public</a:t>
            </a:r>
          </a:p>
        </p:txBody>
      </p:sp>
      <p:sp>
        <p:nvSpPr>
          <p:cNvPr id="13" name="TextBox 12"/>
          <p:cNvSpPr txBox="1"/>
          <p:nvPr/>
        </p:nvSpPr>
        <p:spPr>
          <a:xfrm>
            <a:off x="8061959" y="246461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progress</a:t>
            </a:r>
          </a:p>
        </p:txBody>
      </p:sp>
      <p:sp>
        <p:nvSpPr>
          <p:cNvPr id="14" name="Rounded Rectangle 13"/>
          <p:cNvSpPr/>
          <p:nvPr/>
        </p:nvSpPr>
        <p:spPr>
          <a:xfrm>
            <a:off x="548640" y="2727960"/>
            <a:ext cx="11094720" cy="579120"/>
          </a:xfrm>
          <a:prstGeom prst="roundRect">
            <a:avLst>
              <a:gd name="adj" fmla="val 7894"/>
            </a:avLst>
          </a:prstGeom>
          <a:solidFill>
            <a:srgbClr val="FFFFFF"/>
          </a:solidFill>
          <a:ln>
            <a:noFill/>
          </a:ln>
          <a:effectLst/>
        </p:spPr>
        <p:txBody>
          <a:bodyPr rtlCol="0" anchor="ctr"/>
          <a:lstStyle/>
          <a:p>
            <a:pPr algn="ctr"/>
          </a:p>
        </p:txBody>
      </p:sp>
      <p:sp>
        <p:nvSpPr>
          <p:cNvPr id="15" name="TextBox 14"/>
          <p:cNvSpPr txBox="1"/>
          <p:nvPr/>
        </p:nvSpPr>
        <p:spPr>
          <a:xfrm>
            <a:off x="670560" y="285750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Completed-result</a:t>
            </a:r>
          </a:p>
        </p:txBody>
      </p:sp>
      <p:sp>
        <p:nvSpPr>
          <p:cNvPr id="16" name="TextBox 15"/>
          <p:cNvSpPr txBox="1"/>
          <p:nvPr/>
        </p:nvSpPr>
        <p:spPr>
          <a:xfrm>
            <a:off x="670560" y="308183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accessor</a:t>
            </a:r>
          </a:p>
        </p:txBody>
      </p:sp>
      <p:sp>
        <p:nvSpPr>
          <p:cNvPr id="17" name="TextBox 16"/>
          <p:cNvSpPr txBox="1"/>
          <p:nvPr/>
        </p:nvSpPr>
        <p:spPr>
          <a:xfrm>
            <a:off x="3337560" y="285750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integration/hive/program/completed.py</a:t>
            </a:r>
          </a:p>
        </p:txBody>
      </p:sp>
      <p:sp>
        <p:nvSpPr>
          <p:cNvPr id="18" name="TextBox 17"/>
          <p:cNvSpPr txBox="1"/>
          <p:nvPr/>
        </p:nvSpPr>
        <p:spPr>
          <a:xfrm>
            <a:off x="8061959" y="285750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Read caller-owned acceptance and ack</a:t>
            </a:r>
          </a:p>
        </p:txBody>
      </p:sp>
      <p:sp>
        <p:nvSpPr>
          <p:cNvPr id="19" name="Rounded Rectangle 18"/>
          <p:cNvSpPr/>
          <p:nvPr/>
        </p:nvSpPr>
        <p:spPr>
          <a:xfrm>
            <a:off x="548640" y="3345179"/>
            <a:ext cx="11094720" cy="579120"/>
          </a:xfrm>
          <a:prstGeom prst="roundRect">
            <a:avLst>
              <a:gd name="adj" fmla="val 7894"/>
            </a:avLst>
          </a:prstGeom>
          <a:solidFill>
            <a:srgbClr val="FFFFFF"/>
          </a:solidFill>
          <a:ln>
            <a:noFill/>
          </a:ln>
          <a:effectLst/>
        </p:spPr>
        <p:txBody>
          <a:bodyPr rtlCol="0" anchor="ctr"/>
          <a:lstStyle/>
          <a:p>
            <a:pPr algn="ctr"/>
          </a:p>
        </p:txBody>
      </p:sp>
      <p:sp>
        <p:nvSpPr>
          <p:cNvPr id="20" name="TextBox 19"/>
          <p:cNvSpPr txBox="1"/>
          <p:nvPr/>
        </p:nvSpPr>
        <p:spPr>
          <a:xfrm>
            <a:off x="670560" y="3474719"/>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ConsensusFinality</a:t>
            </a:r>
          </a:p>
        </p:txBody>
      </p:sp>
      <p:sp>
        <p:nvSpPr>
          <p:cNvPr id="21" name="TextBox 20"/>
          <p:cNvSpPr txBox="1"/>
          <p:nvPr/>
        </p:nvSpPr>
        <p:spPr>
          <a:xfrm>
            <a:off x="670560" y="369905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adapter</a:t>
            </a:r>
          </a:p>
        </p:txBody>
      </p:sp>
      <p:sp>
        <p:nvSpPr>
          <p:cNvPr id="22" name="TextBox 21"/>
          <p:cNvSpPr txBox="1"/>
          <p:nvPr/>
        </p:nvSpPr>
        <p:spPr>
          <a:xfrm>
            <a:off x="3337560" y="3474719"/>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fusion/adapters/f1r3_m4.py</a:t>
            </a:r>
          </a:p>
        </p:txBody>
      </p:sp>
      <p:sp>
        <p:nvSpPr>
          <p:cNvPr id="23" name="TextBox 22"/>
          <p:cNvSpPr txBox="1"/>
          <p:nvPr/>
        </p:nvSpPr>
        <p:spPr>
          <a:xfrm>
            <a:off x="8061959" y="3474719"/>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Plan → signed intent → receipt →</a:t>
            </a:r>
          </a:p>
        </p:txBody>
      </p:sp>
      <p:sp>
        <p:nvSpPr>
          <p:cNvPr id="24" name="TextBox 23"/>
          <p:cNvSpPr txBox="1"/>
          <p:nvPr/>
        </p:nvSpPr>
        <p:spPr>
          <a:xfrm>
            <a:off x="8061959" y="369905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observations</a:t>
            </a:r>
          </a:p>
        </p:txBody>
      </p:sp>
      <p:sp>
        <p:nvSpPr>
          <p:cNvPr id="25" name="Rounded Rectangle 24"/>
          <p:cNvSpPr/>
          <p:nvPr/>
        </p:nvSpPr>
        <p:spPr>
          <a:xfrm>
            <a:off x="548640" y="3962400"/>
            <a:ext cx="11094720" cy="579120"/>
          </a:xfrm>
          <a:prstGeom prst="roundRect">
            <a:avLst>
              <a:gd name="adj" fmla="val 7894"/>
            </a:avLst>
          </a:prstGeom>
          <a:solidFill>
            <a:srgbClr val="FFFFFF"/>
          </a:solidFill>
          <a:ln>
            <a:noFill/>
          </a:ln>
          <a:effectLst/>
        </p:spPr>
        <p:txBody>
          <a:bodyPr rtlCol="0" anchor="ctr"/>
          <a:lstStyle/>
          <a:p>
            <a:pPr algn="ctr"/>
          </a:p>
        </p:txBody>
      </p:sp>
      <p:sp>
        <p:nvSpPr>
          <p:cNvPr id="26" name="TextBox 25"/>
          <p:cNvSpPr txBox="1"/>
          <p:nvPr/>
        </p:nvSpPr>
        <p:spPr>
          <a:xfrm>
            <a:off x="670560" y="409194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Signing boundary</a:t>
            </a:r>
          </a:p>
        </p:txBody>
      </p:sp>
      <p:sp>
        <p:nvSpPr>
          <p:cNvPr id="27" name="TextBox 26"/>
          <p:cNvSpPr txBox="1"/>
          <p:nvPr/>
        </p:nvSpPr>
        <p:spPr>
          <a:xfrm>
            <a:off x="3337560" y="409194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fusion/adapters/f1r3_signing.py</a:t>
            </a:r>
          </a:p>
        </p:txBody>
      </p:sp>
      <p:sp>
        <p:nvSpPr>
          <p:cNvPr id="28" name="TextBox 27"/>
          <p:cNvSpPr txBox="1"/>
          <p:nvPr/>
        </p:nvSpPr>
        <p:spPr>
          <a:xfrm>
            <a:off x="8061959" y="409194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Pinned serialization + registered local</a:t>
            </a:r>
          </a:p>
        </p:txBody>
      </p:sp>
      <p:sp>
        <p:nvSpPr>
          <p:cNvPr id="29" name="TextBox 28"/>
          <p:cNvSpPr txBox="1"/>
          <p:nvPr/>
        </p:nvSpPr>
        <p:spPr>
          <a:xfrm>
            <a:off x="8061959" y="431627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signer</a:t>
            </a:r>
          </a:p>
        </p:txBody>
      </p:sp>
      <p:sp>
        <p:nvSpPr>
          <p:cNvPr id="30" name="Rounded Rectangle 29"/>
          <p:cNvSpPr/>
          <p:nvPr/>
        </p:nvSpPr>
        <p:spPr>
          <a:xfrm>
            <a:off x="548640" y="4579620"/>
            <a:ext cx="11094720" cy="579120"/>
          </a:xfrm>
          <a:prstGeom prst="roundRect">
            <a:avLst>
              <a:gd name="adj" fmla="val 7894"/>
            </a:avLst>
          </a:prstGeom>
          <a:solidFill>
            <a:srgbClr val="FFFFFF"/>
          </a:solidFill>
          <a:ln>
            <a:noFill/>
          </a:ln>
          <a:effectLst/>
        </p:spPr>
        <p:txBody>
          <a:bodyPr rtlCol="0" anchor="ctr"/>
          <a:lstStyle/>
          <a:p>
            <a:pPr algn="ctr"/>
          </a:p>
        </p:txBody>
      </p:sp>
      <p:sp>
        <p:nvSpPr>
          <p:cNvPr id="31" name="TextBox 30"/>
          <p:cNvSpPr txBox="1"/>
          <p:nvPr/>
        </p:nvSpPr>
        <p:spPr>
          <a:xfrm>
            <a:off x="670560" y="470916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Explicit compatibility</a:t>
            </a:r>
          </a:p>
        </p:txBody>
      </p:sp>
      <p:sp>
        <p:nvSpPr>
          <p:cNvPr id="32" name="TextBox 31"/>
          <p:cNvSpPr txBox="1"/>
          <p:nvPr/>
        </p:nvSpPr>
        <p:spPr>
          <a:xfrm>
            <a:off x="3337560" y="470916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f1r3-generated-post-state/2</a:t>
            </a:r>
          </a:p>
        </p:txBody>
      </p:sp>
      <p:sp>
        <p:nvSpPr>
          <p:cNvPr id="33" name="TextBox 32"/>
          <p:cNvSpPr txBox="1"/>
          <p:nvPr/>
        </p:nvSpPr>
        <p:spPr>
          <a:xfrm>
            <a:off x="8061959" y="470916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f1r3-local · interface 1.0.0 · impl 0.4.0</a:t>
            </a:r>
          </a:p>
        </p:txBody>
      </p:sp>
      <p:sp>
        <p:nvSpPr>
          <p:cNvPr id="34" name="Rounded Rectangle 33"/>
          <p:cNvSpPr/>
          <p:nvPr/>
        </p:nvSpPr>
        <p:spPr>
          <a:xfrm>
            <a:off x="548640" y="5196840"/>
            <a:ext cx="11094720" cy="579120"/>
          </a:xfrm>
          <a:prstGeom prst="roundRect">
            <a:avLst>
              <a:gd name="adj" fmla="val 7894"/>
            </a:avLst>
          </a:prstGeom>
          <a:solidFill>
            <a:srgbClr val="FFFFFF"/>
          </a:solidFill>
          <a:ln>
            <a:noFill/>
          </a:ln>
          <a:effectLst/>
        </p:spPr>
        <p:txBody>
          <a:bodyPr rtlCol="0" anchor="ctr"/>
          <a:lstStyle/>
          <a:p>
            <a:pPr algn="ctr"/>
          </a:p>
        </p:txBody>
      </p:sp>
      <p:sp>
        <p:nvSpPr>
          <p:cNvPr id="35" name="TextBox 34"/>
          <p:cNvSpPr txBox="1"/>
          <p:nvPr/>
        </p:nvSpPr>
        <p:spPr>
          <a:xfrm>
            <a:off x="670560" y="5326380"/>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Bounded native</a:t>
            </a:r>
          </a:p>
        </p:txBody>
      </p:sp>
      <p:sp>
        <p:nvSpPr>
          <p:cNvPr id="36" name="TextBox 35"/>
          <p:cNvSpPr txBox="1"/>
          <p:nvPr/>
        </p:nvSpPr>
        <p:spPr>
          <a:xfrm>
            <a:off x="670560" y="5550712"/>
            <a:ext cx="24231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observation</a:t>
            </a:r>
          </a:p>
        </p:txBody>
      </p:sp>
      <p:sp>
        <p:nvSpPr>
          <p:cNvPr id="37" name="TextBox 36"/>
          <p:cNvSpPr txBox="1"/>
          <p:nvPr/>
        </p:nvSpPr>
        <p:spPr>
          <a:xfrm>
            <a:off x="3337560" y="5326380"/>
            <a:ext cx="448056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≤120 calls; stop starting after 180 s</a:t>
            </a:r>
          </a:p>
        </p:txBody>
      </p:sp>
      <p:sp>
        <p:nvSpPr>
          <p:cNvPr id="38" name="TextBox 37"/>
          <p:cNvSpPr txBox="1"/>
          <p:nvPr/>
        </p:nvSpPr>
        <p:spPr>
          <a:xfrm>
            <a:off x="8061959" y="5326380"/>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≤256 saved observations; explicit</a:t>
            </a:r>
          </a:p>
        </p:txBody>
      </p:sp>
      <p:sp>
        <p:nvSpPr>
          <p:cNvPr id="39" name="TextBox 38"/>
          <p:cNvSpPr txBox="1"/>
          <p:nvPr/>
        </p:nvSpPr>
        <p:spPr>
          <a:xfrm>
            <a:off x="8061959" y="5550712"/>
            <a:ext cx="3459479"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0">
                <a:solidFill>
                  <a:srgbClr val="536775"/>
                </a:solidFill>
                <a:latin typeface="DejaVu Sans"/>
              </a:rPr>
              <a:t>exhaustion</a:t>
            </a:r>
          </a:p>
        </p:txBody>
      </p:sp>
      <p:cxnSp>
        <p:nvCxnSpPr>
          <p:cNvPr id="40" name="Connector 39"/>
          <p:cNvCxnSpPr/>
          <p:nvPr/>
        </p:nvCxnSpPr>
        <p:spPr>
          <a:xfrm>
            <a:off x="548640" y="6393180"/>
            <a:ext cx="11094720" cy="0"/>
          </a:xfrm>
          <a:prstGeom prst="line">
            <a:avLst/>
          </a:prstGeom>
          <a:ln w="7620">
            <a:solidFill>
              <a:srgbClr val="C9D2D4"/>
            </a:solidFill>
          </a:ln>
          <a:effectLst/>
        </p:spPr>
      </p:cxnSp>
      <p:sp>
        <p:nvSpPr>
          <p:cNvPr id="41" name="TextBox 40"/>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contracts.md · ADR-013 · f1r3_m4.py</a:t>
            </a:r>
          </a:p>
        </p:txBody>
      </p:sp>
      <p:sp>
        <p:nvSpPr>
          <p:cNvPr id="42" name="TextBox 41"/>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63 / 64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TextBox 1"/>
          <p:cNvSpPr txBox="1"/>
          <p:nvPr/>
        </p:nvSpPr>
        <p:spPr>
          <a:xfrm>
            <a:off x="548640" y="327660"/>
            <a:ext cx="10820400" cy="185318"/>
          </a:xfrm>
          <a:prstGeom prst="rect">
            <a:avLst/>
          </a:prstGeom>
          <a:noFill/>
        </p:spPr>
        <p:txBody>
          <a:bodyPr wrap="none" lIns="0" rIns="0" tIns="0" bIns="0" anchor="t" anchorCtr="0">
            <a:noAutofit/>
          </a:bodyPr>
          <a:lstStyle/>
          <a:p>
            <a:pPr algn="l">
              <a:lnSpc>
                <a:spcPct val="100000"/>
              </a:lnSpc>
              <a:spcBef>
                <a:spcPts val="0"/>
              </a:spcBef>
              <a:spcAft>
                <a:spcPts val="0"/>
              </a:spcAft>
            </a:pPr>
            <a:r>
              <a:rPr sz="1140" b="1">
                <a:solidFill>
                  <a:srgbClr val="007C78"/>
                </a:solidFill>
                <a:latin typeface="DejaVu Sans"/>
              </a:rPr>
              <a:t>APPENDIX J / M5 CODE + COMMANDS</a:t>
            </a:r>
          </a:p>
        </p:txBody>
      </p:sp>
      <p:sp>
        <p:nvSpPr>
          <p:cNvPr id="3" name="TextBox 2"/>
          <p:cNvSpPr txBox="1"/>
          <p:nvPr/>
        </p:nvSpPr>
        <p:spPr>
          <a:xfrm>
            <a:off x="533400" y="723900"/>
            <a:ext cx="11125200" cy="429158"/>
          </a:xfrm>
          <a:prstGeom prst="rect">
            <a:avLst/>
          </a:prstGeom>
          <a:noFill/>
        </p:spPr>
        <p:txBody>
          <a:bodyPr wrap="none" lIns="0" rIns="0" tIns="0" bIns="0" anchor="t" anchorCtr="0">
            <a:noAutofit/>
          </a:bodyPr>
          <a:lstStyle/>
          <a:p>
            <a:pPr algn="l">
              <a:lnSpc>
                <a:spcPct val="100000"/>
              </a:lnSpc>
              <a:spcBef>
                <a:spcPts val="0"/>
              </a:spcBef>
              <a:spcAft>
                <a:spcPts val="0"/>
              </a:spcAft>
            </a:pPr>
            <a:r>
              <a:rPr sz="2640" b="1">
                <a:solidFill>
                  <a:srgbClr val="102B3F"/>
                </a:solidFill>
                <a:latin typeface="DejaVu Sans"/>
              </a:rPr>
              <a:t>Reproduce M5 from declared sources and private requests</a:t>
            </a:r>
          </a:p>
        </p:txBody>
      </p:sp>
      <p:sp>
        <p:nvSpPr>
          <p:cNvPr id="4" name="TextBox 3"/>
          <p:cNvSpPr txBox="1"/>
          <p:nvPr/>
        </p:nvSpPr>
        <p:spPr>
          <a:xfrm>
            <a:off x="556260" y="1257300"/>
            <a:ext cx="110490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536775"/>
                </a:solidFill>
                <a:latin typeface="DejaVu Sans"/>
              </a:rPr>
              <a:t>Fresh provider build, existing chain dependencies, then all required gates.</a:t>
            </a:r>
          </a:p>
        </p:txBody>
      </p:sp>
      <p:sp>
        <p:nvSpPr>
          <p:cNvPr id="5" name="TextBox 4"/>
          <p:cNvSpPr txBox="1"/>
          <p:nvPr/>
        </p:nvSpPr>
        <p:spPr>
          <a:xfrm>
            <a:off x="678180" y="1813559"/>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uv run --python 3.11 --locked python scripts/build_m3.py &lt;providers&gt;</a:t>
            </a:r>
          </a:p>
        </p:txBody>
      </p:sp>
      <p:sp>
        <p:nvSpPr>
          <p:cNvPr id="6" name="TextBox 5"/>
          <p:cNvSpPr txBox="1"/>
          <p:nvPr/>
        </p:nvSpPr>
        <p:spPr>
          <a:xfrm>
            <a:off x="678180" y="217932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uv pip install --python &lt;providers&gt;/native/venv/bin/python \</a:t>
            </a:r>
          </a:p>
        </p:txBody>
      </p:sp>
      <p:sp>
        <p:nvSpPr>
          <p:cNvPr id="7" name="TextBox 6"/>
          <p:cNvSpPr txBox="1"/>
          <p:nvPr/>
        </p:nvSpPr>
        <p:spPr>
          <a:xfrm>
            <a:off x="678180" y="254508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-r integration/chain/requirements.lock</a:t>
            </a:r>
          </a:p>
        </p:txBody>
      </p:sp>
      <p:sp>
        <p:nvSpPr>
          <p:cNvPr id="8" name="TextBox 7"/>
          <p:cNvSpPr txBox="1"/>
          <p:nvPr/>
        </p:nvSpPr>
        <p:spPr>
          <a:xfrm>
            <a:off x="678180" y="291084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uv run --python 3.11 --locked python scripts/verify_m5.py \</a:t>
            </a:r>
          </a:p>
        </p:txBody>
      </p:sp>
      <p:sp>
        <p:nvSpPr>
          <p:cNvPr id="9" name="TextBox 8"/>
          <p:cNvSpPr txBox="1"/>
          <p:nvPr/>
        </p:nvSpPr>
        <p:spPr>
          <a:xfrm>
            <a:off x="678180" y="327660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--environment &lt;providers&gt;/environment.json --chain-build &lt;chain&gt; \</a:t>
            </a:r>
          </a:p>
        </p:txBody>
      </p:sp>
      <p:sp>
        <p:nvSpPr>
          <p:cNvPr id="10" name="TextBox 9"/>
          <p:cNvSpPr txBox="1"/>
          <p:nvPr/>
        </p:nvSpPr>
        <p:spPr>
          <a:xfrm>
            <a:off x="678180" y="3642360"/>
            <a:ext cx="10896600" cy="243840"/>
          </a:xfrm>
          <a:prstGeom prst="rect">
            <a:avLst/>
          </a:prstGeom>
          <a:noFill/>
        </p:spPr>
        <p:txBody>
          <a:bodyPr wrap="none" lIns="0" rIns="0" tIns="0" bIns="0" anchor="t" anchorCtr="0">
            <a:noAutofit/>
          </a:bodyPr>
          <a:lstStyle/>
          <a:p>
            <a:pPr algn="l">
              <a:lnSpc>
                <a:spcPct val="100000"/>
              </a:lnSpc>
              <a:spcBef>
                <a:spcPts val="0"/>
              </a:spcBef>
              <a:spcAft>
                <a:spcPts val="0"/>
              </a:spcAft>
            </a:pPr>
            <a:r>
              <a:rPr sz="1500" b="0">
                <a:solidFill>
                  <a:srgbClr val="102B3F"/>
                </a:solidFill>
                <a:latin typeface="DejaVu Sans Mono"/>
              </a:rPr>
              <a:t>--output &lt;fresh-output&gt;</a:t>
            </a:r>
          </a:p>
        </p:txBody>
      </p:sp>
      <p:sp>
        <p:nvSpPr>
          <p:cNvPr id="11" name="TextBox 10"/>
          <p:cNvSpPr txBox="1"/>
          <p:nvPr/>
        </p:nvSpPr>
        <p:spPr>
          <a:xfrm>
            <a:off x="670560" y="4206240"/>
            <a:ext cx="5852159"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CODE</a:t>
            </a:r>
          </a:p>
        </p:txBody>
      </p:sp>
      <p:sp>
        <p:nvSpPr>
          <p:cNvPr id="12" name="TextBox 11"/>
          <p:cNvSpPr txBox="1"/>
          <p:nvPr/>
        </p:nvSpPr>
        <p:spPr>
          <a:xfrm>
            <a:off x="6766559" y="4206240"/>
            <a:ext cx="4754880" cy="165811"/>
          </a:xfrm>
          <a:prstGeom prst="rect">
            <a:avLst/>
          </a:prstGeom>
          <a:noFill/>
        </p:spPr>
        <p:txBody>
          <a:bodyPr wrap="none" lIns="0" rIns="0" tIns="0" bIns="0" anchor="t" anchorCtr="0">
            <a:noAutofit/>
          </a:bodyPr>
          <a:lstStyle/>
          <a:p>
            <a:pPr algn="l">
              <a:lnSpc>
                <a:spcPct val="100000"/>
              </a:lnSpc>
              <a:spcBef>
                <a:spcPts val="0"/>
              </a:spcBef>
              <a:spcAft>
                <a:spcPts val="0"/>
              </a:spcAft>
            </a:pPr>
            <a:r>
              <a:rPr sz="1019" b="1">
                <a:solidFill>
                  <a:srgbClr val="536775"/>
                </a:solidFill>
                <a:latin typeface="DejaVu Sans"/>
              </a:rPr>
              <a:t>RESPONSIBILITY</a:t>
            </a:r>
          </a:p>
        </p:txBody>
      </p:sp>
      <p:sp>
        <p:nvSpPr>
          <p:cNvPr id="13" name="Rounded Rectangle 12"/>
          <p:cNvSpPr/>
          <p:nvPr/>
        </p:nvSpPr>
        <p:spPr>
          <a:xfrm>
            <a:off x="548640" y="4526280"/>
            <a:ext cx="11094720" cy="403859"/>
          </a:xfrm>
          <a:prstGeom prst="roundRect">
            <a:avLst>
              <a:gd name="adj" fmla="val 11320"/>
            </a:avLst>
          </a:prstGeom>
          <a:solidFill>
            <a:srgbClr val="FFFFFF"/>
          </a:solidFill>
          <a:ln>
            <a:noFill/>
          </a:ln>
          <a:effectLst/>
        </p:spPr>
        <p:txBody>
          <a:bodyPr rtlCol="0" anchor="ctr"/>
          <a:lstStyle/>
          <a:p>
            <a:pPr algn="ctr"/>
          </a:p>
        </p:txBody>
      </p:sp>
      <p:sp>
        <p:nvSpPr>
          <p:cNvPr id="14" name="TextBox 13"/>
          <p:cNvSpPr txBox="1"/>
          <p:nvPr/>
        </p:nvSpPr>
        <p:spPr>
          <a:xfrm>
            <a:off x="670560" y="4655820"/>
            <a:ext cx="585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fusion/atom_feed.py · relations.py · search.py</a:t>
            </a:r>
          </a:p>
        </p:txBody>
      </p:sp>
      <p:sp>
        <p:nvSpPr>
          <p:cNvPr id="15" name="TextBox 14"/>
          <p:cNvSpPr txBox="1"/>
          <p:nvPr/>
        </p:nvSpPr>
        <p:spPr>
          <a:xfrm>
            <a:off x="6766559" y="4655820"/>
            <a:ext cx="47548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Accepted source; structural owner; projection owner</a:t>
            </a:r>
          </a:p>
        </p:txBody>
      </p:sp>
      <p:sp>
        <p:nvSpPr>
          <p:cNvPr id="16" name="Rounded Rectangle 15"/>
          <p:cNvSpPr/>
          <p:nvPr/>
        </p:nvSpPr>
        <p:spPr>
          <a:xfrm>
            <a:off x="548640" y="4968240"/>
            <a:ext cx="11094720" cy="403859"/>
          </a:xfrm>
          <a:prstGeom prst="roundRect">
            <a:avLst>
              <a:gd name="adj" fmla="val 11320"/>
            </a:avLst>
          </a:prstGeom>
          <a:solidFill>
            <a:srgbClr val="FFFFFF"/>
          </a:solidFill>
          <a:ln>
            <a:noFill/>
          </a:ln>
          <a:effectLst/>
        </p:spPr>
        <p:txBody>
          <a:bodyPr rtlCol="0" anchor="ctr"/>
          <a:lstStyle/>
          <a:p>
            <a:pPr algn="ctr"/>
          </a:p>
        </p:txBody>
      </p:sp>
      <p:sp>
        <p:nvSpPr>
          <p:cNvPr id="17" name="TextBox 16"/>
          <p:cNvSpPr txBox="1"/>
          <p:nvPr/>
        </p:nvSpPr>
        <p:spPr>
          <a:xfrm>
            <a:off x="670560" y="5097780"/>
            <a:ext cx="585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fusion/lookup.py · lookup_composition.py</a:t>
            </a:r>
          </a:p>
        </p:txBody>
      </p:sp>
      <p:sp>
        <p:nvSpPr>
          <p:cNvPr id="18" name="TextBox 17"/>
          <p:cNvSpPr txBox="1"/>
          <p:nvPr/>
        </p:nvSpPr>
        <p:spPr>
          <a:xfrm>
            <a:off x="6766559" y="5097780"/>
            <a:ext cx="47548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Declared-port consumer; private binding and placement</a:t>
            </a:r>
          </a:p>
        </p:txBody>
      </p:sp>
      <p:sp>
        <p:nvSpPr>
          <p:cNvPr id="19" name="Rounded Rectangle 18"/>
          <p:cNvSpPr/>
          <p:nvPr/>
        </p:nvSpPr>
        <p:spPr>
          <a:xfrm>
            <a:off x="548640" y="5410200"/>
            <a:ext cx="11094720" cy="403859"/>
          </a:xfrm>
          <a:prstGeom prst="roundRect">
            <a:avLst>
              <a:gd name="adj" fmla="val 11320"/>
            </a:avLst>
          </a:prstGeom>
          <a:solidFill>
            <a:srgbClr val="FFFFFF"/>
          </a:solidFill>
          <a:ln>
            <a:noFill/>
          </a:ln>
          <a:effectLst/>
        </p:spPr>
        <p:txBody>
          <a:bodyPr rtlCol="0" anchor="ctr"/>
          <a:lstStyle/>
          <a:p>
            <a:pPr algn="ctr"/>
          </a:p>
        </p:txBody>
      </p:sp>
      <p:sp>
        <p:nvSpPr>
          <p:cNvPr id="20" name="TextBox 19"/>
          <p:cNvSpPr txBox="1"/>
          <p:nvPr/>
        </p:nvSpPr>
        <p:spPr>
          <a:xfrm>
            <a:off x="670560" y="5539740"/>
            <a:ext cx="5852159"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1">
                <a:solidFill>
                  <a:srgbClr val="102B3F"/>
                </a:solidFill>
                <a:latin typeface="DejaVu Sans"/>
              </a:rPr>
              <a:t>integration/hive/lookup/ · test_m5_integration.py</a:t>
            </a:r>
          </a:p>
        </p:txBody>
      </p:sp>
      <p:sp>
        <p:nvSpPr>
          <p:cNvPr id="21" name="TextBox 20"/>
          <p:cNvSpPr txBox="1"/>
          <p:nvPr/>
        </p:nvSpPr>
        <p:spPr>
          <a:xfrm>
            <a:off x="6766559" y="5539740"/>
            <a:ext cx="4754880" cy="214579"/>
          </a:xfrm>
          <a:prstGeom prst="rect">
            <a:avLst/>
          </a:prstGeom>
          <a:noFill/>
        </p:spPr>
        <p:txBody>
          <a:bodyPr wrap="none" lIns="0" rIns="0" tIns="0" bIns="0" anchor="t" anchorCtr="0">
            <a:noAutofit/>
          </a:bodyPr>
          <a:lstStyle/>
          <a:p>
            <a:pPr algn="l">
              <a:lnSpc>
                <a:spcPct val="100000"/>
              </a:lnSpc>
              <a:spcBef>
                <a:spcPts val="0"/>
              </a:spcBef>
              <a:spcAft>
                <a:spcPts val="0"/>
              </a:spcAft>
            </a:pPr>
            <a:r>
              <a:rPr sz="1320" b="0">
                <a:solidFill>
                  <a:srgbClr val="536775"/>
                </a:solidFill>
                <a:latin typeface="DejaVu Sans"/>
              </a:rPr>
              <a:t>Actual native dispatch and recovery; no answer refs</a:t>
            </a:r>
          </a:p>
        </p:txBody>
      </p:sp>
      <p:sp>
        <p:nvSpPr>
          <p:cNvPr id="22" name="Rounded Rectangle 21"/>
          <p:cNvSpPr/>
          <p:nvPr/>
        </p:nvSpPr>
        <p:spPr>
          <a:xfrm>
            <a:off x="548640" y="5829300"/>
            <a:ext cx="11094720" cy="403859"/>
          </a:xfrm>
          <a:prstGeom prst="roundRect">
            <a:avLst>
              <a:gd name="adj" fmla="val 15094"/>
            </a:avLst>
          </a:prstGeom>
          <a:solidFill>
            <a:srgbClr val="E7ECEB"/>
          </a:solidFill>
          <a:ln>
            <a:noFill/>
          </a:ln>
          <a:effectLst/>
        </p:spPr>
        <p:txBody>
          <a:bodyPr rtlCol="0" anchor="ctr"/>
          <a:lstStyle/>
          <a:p>
            <a:pPr algn="ctr"/>
          </a:p>
        </p:txBody>
      </p:sp>
      <p:sp>
        <p:nvSpPr>
          <p:cNvPr id="23" name="TextBox 22"/>
          <p:cNvSpPr txBox="1"/>
          <p:nvPr/>
        </p:nvSpPr>
        <p:spPr>
          <a:xfrm>
            <a:off x="716280" y="5905500"/>
            <a:ext cx="10744200" cy="224332"/>
          </a:xfrm>
          <a:prstGeom prst="rect">
            <a:avLst/>
          </a:prstGeom>
          <a:noFill/>
        </p:spPr>
        <p:txBody>
          <a:bodyPr wrap="none" lIns="0" rIns="0" tIns="0" bIns="0" anchor="t" anchorCtr="0">
            <a:noAutofit/>
          </a:bodyPr>
          <a:lstStyle/>
          <a:p>
            <a:pPr algn="l">
              <a:lnSpc>
                <a:spcPct val="100000"/>
              </a:lnSpc>
              <a:spcBef>
                <a:spcPts val="0"/>
              </a:spcBef>
              <a:spcAft>
                <a:spcPts val="0"/>
              </a:spcAft>
            </a:pPr>
            <a:r>
              <a:rPr sz="1380" b="1">
                <a:solidFill>
                  <a:srgbClr val="102B3F"/>
                </a:solidFill>
                <a:latin typeface="DejaVu Sans"/>
              </a:rPr>
              <a:t>Use --gates hive for the focused demo. Keep raw environments, private journals, queries and IDs private.</a:t>
            </a:r>
          </a:p>
        </p:txBody>
      </p:sp>
      <p:cxnSp>
        <p:nvCxnSpPr>
          <p:cNvPr id="24" name="Connector 23"/>
          <p:cNvCxnSpPr/>
          <p:nvPr/>
        </p:nvCxnSpPr>
        <p:spPr>
          <a:xfrm>
            <a:off x="548640" y="6393180"/>
            <a:ext cx="11094720" cy="0"/>
          </a:xfrm>
          <a:prstGeom prst="line">
            <a:avLst/>
          </a:prstGeom>
          <a:ln w="7620">
            <a:solidFill>
              <a:srgbClr val="C9D2D4"/>
            </a:solidFill>
          </a:ln>
          <a:effectLst/>
        </p:spPr>
      </p:cxnSp>
      <p:sp>
        <p:nvSpPr>
          <p:cNvPr id="25" name="TextBox 24"/>
          <p:cNvSpPr txBox="1"/>
          <p:nvPr/>
        </p:nvSpPr>
        <p:spPr>
          <a:xfrm>
            <a:off x="548640" y="6499859"/>
            <a:ext cx="9906000" cy="146304"/>
          </a:xfrm>
          <a:prstGeom prst="rect">
            <a:avLst/>
          </a:prstGeom>
          <a:noFill/>
        </p:spPr>
        <p:txBody>
          <a:bodyPr wrap="none" lIns="0" rIns="0" tIns="0" bIns="0" anchor="t" anchorCtr="0">
            <a:noAutofit/>
          </a:bodyPr>
          <a:lstStyle/>
          <a:p>
            <a:pPr algn="l">
              <a:lnSpc>
                <a:spcPct val="100000"/>
              </a:lnSpc>
              <a:spcBef>
                <a:spcPts val="0"/>
              </a:spcBef>
              <a:spcAft>
                <a:spcPts val="0"/>
              </a:spcAft>
            </a:pPr>
            <a:r>
              <a:rPr sz="900" b="0">
                <a:solidFill>
                  <a:srgbClr val="536775"/>
                </a:solidFill>
                <a:latin typeface="DejaVu Sans"/>
              </a:rPr>
              <a:t>OMEGA × ASI / THROUGH M5 / runbook.md · scripts/verify_m5.py</a:t>
            </a:r>
          </a:p>
        </p:txBody>
      </p:sp>
      <p:sp>
        <p:nvSpPr>
          <p:cNvPr id="26" name="TextBox 25"/>
          <p:cNvSpPr txBox="1"/>
          <p:nvPr/>
        </p:nvSpPr>
        <p:spPr>
          <a:xfrm>
            <a:off x="10744200" y="6469380"/>
            <a:ext cx="914400" cy="204825"/>
          </a:xfrm>
          <a:prstGeom prst="rect">
            <a:avLst/>
          </a:prstGeom>
          <a:noFill/>
        </p:spPr>
        <p:txBody>
          <a:bodyPr wrap="none" lIns="0" rIns="0" tIns="0" bIns="0" anchor="t" anchorCtr="0">
            <a:noAutofit/>
          </a:bodyPr>
          <a:lstStyle/>
          <a:p>
            <a:pPr algn="l">
              <a:lnSpc>
                <a:spcPct val="100000"/>
              </a:lnSpc>
              <a:spcBef>
                <a:spcPts val="0"/>
              </a:spcBef>
              <a:spcAft>
                <a:spcPts val="0"/>
              </a:spcAft>
            </a:pPr>
            <a:r>
              <a:rPr sz="1260" b="0">
                <a:solidFill>
                  <a:srgbClr val="536775"/>
                </a:solidFill>
                <a:latin typeface="DejaVu Sans Mono"/>
              </a:rPr>
              <a:t>64 / 64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Omega × ASI — Private discovery, cognition and verified commitments</dc:title>
  <dc:subject>Through M5: private discovery, bounded cognition and verified chain commitments</dc:subject>
  <dc:creator>Omega × ASI module-interface project</dc:creator>
  <cp:keywords>Omega, ASI, M5, Relations, Search, ELI16, Hive, DeTTa, PLN, F1R3node, commitment, attention, recovery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