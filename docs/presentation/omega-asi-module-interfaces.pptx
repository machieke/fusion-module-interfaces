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explains how independently implemented modules can cooperate without taking ownership of each other's state. Start with the helicopter view, then module responsibilities and function dependencies. Only after those boundaries are clear do we examine the running M1 slice. M0 and the bounded local M1 integration are complete. M2 and the cognitive stack are explicitly outside the completed work. These contracts are proposed engineering choices, not a finalized community AtomSpace specification. Suggested delivery: 25–30 minutes for slides 1–24; remaining slides are discussion material.</a:t>
            </a:r>
          </a:p>
          <a:p/>
          <a:p>
            <a:r>
              <a:t>Source: brief + implementation commit 3f75db9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commitments are the architecture's thesis. Behavior means operation semantics and guarantees, not merely a matching method name. Ownership means only an owner's methods may mutate its state, even when modules share a database. Evidence means a stored payload, an accepted job, an acknowledged message and a finalized chain deploy remain different facts. The M1 path below is a conformance experiment using two protocol peers, actual DeTTa libraries, a separate worker and an optional real local chain runtime.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placement map, not a process topology. All fifteen modules from the brief appear here. The five cognitive modules plus Relations and Search are specifications only. Blue modules are implemented by the local harness; Authorization is explicitly a test policy. Teal shows actual provider integration: local DeTTa DA/storage libraries and a real isolated single-validator F1R3node. Consensus/finality includes the bounded commitment adapter. Private episodic history belongs on the client in future work. A module may be co-located with another module without surrendering its state boundary. The actual Hive runtime was unavailable, so no box here implies a running Hive agent.</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persists opaque payloads and erasure shares. AtomStorage owns the application reference metadata, immutable revision and semantic replay keys. Relations describe explicit ordered roles; a link is not automatically a belief. Search is a rebuildable projection that exposes its watermark, not the authoritative store. Episodic memory adds occurrence identities and episode-local ordering, so equal payload bytes may describe different observations. Its full private history remains client-side. This design deliberately does not require a parser, ontology, embedding model or LLM just to store data. Additional relation operations are outgoing/incoming; episode reads are readEpisode/findEpisodes. Those contracts are specified but have no M1 runtime.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Belief revision is the only owner of the truth/evidence aggregate. Its numerical profile has not been selected as a universal model. The PLN kernel is pure over ordered immutable premise snapshots and returns a proposal; it cannot update beliefs or choose its own agenda. ECAN owns attention and logical time, including allocation, decay and tie-breaking under a declared policy. readAttention is also part of its contract. Inference control orchestrates retrieval, belief snapshots, rules and feedback within candidate, rule, generation and time budgets. Control stores its own step receipts/checkpoint, not the other owners' state. Reviewers and maintainers for these new contracts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owns accepted inbox entries and acknowledgements. Execution owns jobs and its outbox, and only accepts inspect_atom in M1. Registry is a static provider catalogue, not capability authority or chain registration; the resolver is a pure selection function over those descriptors. Finality is a separate bounded adapter with a registered approved commitment, durable signed intent and direct node observations. It does not establish belief confidence, execution success or indefinite availability. Authorization reads current server-owned policy from authenticated transport context; the implemented policy is a fixture for the trusted local harness. No caller-supplied sender field grants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declared runtime dependency view, not a claim that the cognitive loop was executed. Arrows point from a caller to the port it invokes. Inference control calls Search.query, attention.select and submitStimulus, belief.readBelief and submitEvidence, and PLN.applyRule. Episode history produces EvidenceRef values for the orchestrator; episode writes do not invoke hidden truth setters. Relations can persist ordinary atom records and episodic memory stores referenced payloads. AtomStorage then calls the opaque DA storage port: this is the solid implemented path. Search reads immutable records/events and belief revision consumes evidence/atom snapshots; those data dependencies are named below the diagram to avoid a misleading tangle of arrows. Interface imports remain acyclic; runtime feedback is expressed through explicit commands and values.</a:t>
            </a:r>
          </a:p>
          <a:p/>
          <a:p>
            <a:r>
              <a:t>Source: ports.py + contracts.md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setup resolves suitable descriptors, then Peer invokes the configured binding. The dashed offers arrow supplies descriptor data to the resolver. Each service invocation validates the wire envelope and checks the current local policy before the explicit dispatch allowlist. This diagram focuses on delegated execution; direct store and messaging calls pass through the same authorization boundary. Worker execution calls the atom owner to read inputs and create a persisted result. Completion goes through a durable outbox into the message owner's inbox; poll/ack are recipient-owned operations. The chain adapter is a separate optional consumer of one approved result digest. It is not on the mandatory storage or execution path. Scope/method checks also apply to worker reads and completion delivery. The static resolver does not grant permissions.</a:t>
            </a:r>
          </a:p>
          <a:p/>
          <a:p>
            <a:r>
              <a:t>Source: client.py · service.py · registry.py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 uses one SQLite journal to keep the example small. That journal stores several logically owned categories: atom metadata, messaging inbox state, execution jobs and outbox, plus replay records. Public dispatch only exposes declared operations, never raw SQL, worker controls or setters for another owner. Shared storage therefore does not erase responsibility boundaries. DA payloads and erasure shares live in actual DeTTa FileStorage outside SQLite. In future work, private episode history remains client-side, and truth or attention can change only through the relevant owner. This is logical ownership, not a claim of multi-tenant process isolation against the same OS user.</a:t>
            </a:r>
          </a:p>
          <a:p/>
          <a:p>
            <a:r>
              <a:t>Source: architecture.md · ADR 002–004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service contract is an interface, not necessarily a blockchain smart contract. One module can run in process, behind a message boundary or through an inspected chain API, provided the profile and required behavior are preserved. The current proof runs identical Peer consumer code under in-process and subprocess service bindings. Both still use real DA helper processes and separate workers. This demonstrates a transport substitution within the local composition; it does not demonstrate an alternate DA provider or a distributed deployment. Constructor/composition code imports concrete adapters. The typed domain ports do not depend on DeTTa, F1R3, PLN or ECAN implementations.</a:t>
            </a:r>
          </a:p>
          <a:p/>
          <a:p>
            <a:r>
              <a:t>Source: ADR 004–005 · bindings.py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resolver filters interface identity and a consumer's explicit same-major interval, exact profile and required features, supported operations, advertised guarantees, payload limits and privacy. Any required measured latency must be present in descriptor measurements. Required verification always fails because no verifier is available. Advertisements and evidence remain distinct. The actual M1 dispatch only accepts wire 1.0.0. A separate descriptor fixture at 1.2.3 exercises additive resolution; it is not evidence of a deployed 1.2.3 service. Unsupported requirements produce typed errors instead of weaker fallback selection. Interface 1.0.0 stabilizes this prototype, not an agreed community standard.</a:t>
            </a:r>
          </a:p>
          <a:p/>
          <a:p>
            <a:r>
              <a:t>Source: registry.py · test_adapters.py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illustrative field view, not a copy-paste wire JSON request. The actual schema is contracts/wire.schema.json. Immutable AtomRef identifies a scoped record with revision and integrity digest; the digest does not grant permission or establish truth. A mutation key is scoped by principal, scope, interface and operation, and bound to semantic input. Changing the body, routing or deadline with the same key is a conflict. Message ID and causation are delivery metadata. Async send/submit include correlation and an authorized reply route. Trusted transport supplies the opaque credential, which current service policy maps to a principal. The body cannot nominate its own authority.</a:t>
            </a:r>
          </a:p>
          <a:p/>
          <a:p>
            <a:r>
              <a:t>Source: contracts.py · wire.schema.json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arrows summarize the logical sequence; reads and writes from the worker pass through the atom/storage adapter, even when omitted for clarity. Peer A creates a generated 62-byte fixture through AtomStorage into real DeTTa. It sends the reference through the durable mailbox. Peer B receives it and fetches exactly the same bytes. A submits inspect_atom; the separate worker reads the referenced bytes and returns their digest and length. The demo kills the worker twice at persisted boundaries, restarts, then recovers a correlated completion and result. Every acknowledgement refers to its stated durability scope. Both service bindings use the same Peer code and validation. The peers and operation are fixtures, not Omega agents or reasoning.</a:t>
            </a:r>
          </a:p>
          <a:p/>
          <a:p>
            <a:r>
              <a:t>Source: scripts/demo.py · evidence/demo.json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turning this grid into a linear distributed transaction. A result can be durable before a chain commitment exists; messaging can be delayed while result retrieval already works. Payload persistence is qualified by its local durability scope. Mailbox acceptance is different from recipient acknowledgement. Execution completion is different from whether its outbox was delivered. Chain submission yields a deploy ID, inclusion yields a block observation and effect finality comes from the specific inspected endpoint. A finalized digest does not prove a payload will remain available, nor does any of these receipts establish belief confidence. This separation is central to both interfaces and reporting.</a:t>
            </a:r>
          </a:p>
          <a:p/>
          <a:p>
            <a:r>
              <a:t>Source: contracts.md · evidence.md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tested fault boundaries are acceptance committed before a response, DA result persisted before the completion transaction, and completion committed before dispatch. The demo itself performs the latter two worker kills; the contract suite also tests the acceptance-reply boundary. Deterministic storage coordinates and semantic deduplication let an attempt replay without a second logical result. A DA write before journal commit can leave an unreferenced artifact: there is no cross-store atomicity claim. Result metadata, job completion and outbox intent commit together in SQLite; inbox delivery and outbox completion also commit together. A full or revoked reply route keeps completion pending. These tests cover SIGKILL on the same host, not power loss, disk loss, Byzantine behavior or exactly-once physical computation.</a:t>
            </a:r>
          </a:p>
          <a:p/>
          <a:p>
            <a:r>
              <a:t>Source: ADR 003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Rust helper links actual detta-da and detta-storage from the inspected working tree. It maps bytes into an opaque application profile and binds the scope through generic coordinate metadata. The generic DA schema remains application-neutral; Omega-specific reference metadata lives above it. Reads reconstruct and verify persisted Reed–Solomon shares rather than retrieving a cached copy from SQLite. Tests remove the cached full payload and two of six shares and still recover exact bytes. A third missing share and corrupted-share cases fail explicitly; the tests do not establish an exhaustive adversarial-correction guarantee. This is real local library integration, not a running distributed validator/custody network. No certificate or remote replication guarantee is fabricated.</a:t>
            </a:r>
          </a:p>
          <a:p/>
          <a:p>
            <a:r>
              <a:t>Source: adapters/detta/src/main.rs · test_adapters.py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local policy fixture maps opaque credentials to principals and stores current scope, method and route requirements on the service side. It is reloaded for each checked invocation, including retries and worker operations. A sender field or scope name in a request is never sufficient. The tests exercise foreign scopes, foreign routes, live revocation, ownership-safe dispatch, conflicting retries and overload. A full inbox retains execution completion in the outbox until delivery can occur. The same OS user can directly access trusted service files, so this harness does not claim production multi-tenancy, encrypted private storage or an SCS enforcement integration. Before private data use, real enforcement and service isolation are separate gates.</a:t>
            </a:r>
          </a:p>
          <a:p/>
          <a:p>
            <a:r>
              <a:t>Source: service.py · ADR 002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DeTTa means actual DA and FileStorage code executed against local persisted shares, not a mock and not a custody network. F1R3node means a real local node with a fresh isolated genesis and one validator, not public mainnet/testnet or multi-validator safety. Peers are independently instantiated protocol fixtures; inspect_atom is a deterministic fixture operation running in a real OS process. Authorization is an explicit local policy fixture. Fake chain responses exist only in unit tests and are distinct from the real chain evidence. The supplied omegahive-start-here repository is an onboarding index; the intended Hive runtime checkout is absent. DAS, MeTTaClaw, metta-attention and reachability were inspected, but their cognitive/channel providers were not integrated. No upstream source files were changed.</a:t>
            </a:r>
          </a:p>
          <a:p/>
          <a:p>
            <a:r>
              <a:t>Source: discovery.md · evidence.md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recorded chain JSON as the primary evidence. Its actual sequence is pending, included with effects Pending, then finalized. All three observations are present; the earlier report prose was corrected to match this trace. The block is height 3, execution errored=false, rejection count zero, cost 351 phlo. The approved commitment digest matches the persisted result ref in both demo bindings. Signing intent is stored before network submission, so an ambiguous timeout can reuse the same transaction signature. The local node was built from the inspected dirty working source and shut down with exit 0. Node startup took 25.735 seconds and the observed submission/propose/finality window took 4.013 seconds. These node responses are not independently verified consensus proofs or a public-network test.</a:t>
            </a:r>
          </a:p>
          <a:p/>
          <a:p>
            <a:r>
              <a:t>Source: evidence/chain-demo.json · f1r3.py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local verification run passed 27 unittest tests with zero failures or skips. Applicable service conformance cases run under both in-process and subprocess bindings. Separately, the upstream detta-da library passed 62 tests and detta-storage passed 40, totalling 102. These are distinct counts and do not imply 27 tests for each binding or a full upstream regression for every repository. The chain build and real local chain demo also passed as separately recorded gates. Other checks included Rust formatting, Python compilation and git diff validation. Do not count unimplemented episode, belief, attention or inference test specifications as executed functionality. No full F1R3node, DAS, MeTTaClaw or cognitive regression suite is claimed.</a:t>
            </a:r>
          </a:p>
          <a:p/>
          <a:p>
            <a:r>
              <a:t>Source: evidence/tests.log · evidence/detta-tests.log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Values are read directly from the committed demo.json, not retyped as marketing claims. The in-process binding is about the service call only; both configurations launch real DA helpers and separate workers. End-to-end slices include failure injection and recovery: approximately 0.756 and 1.761 seconds. Each used 17 client calls with 6,550 request bytes and 5,731 response bytes. In-process counts are logical serialization sizes; subprocess counts are actual pipe bytes. Canonical DA fixture/result payloads were 1,027 and 1,284 bytes, but DA framing and worker-control traffic were not measured. Both runs ended with two atoms, one job, two acknowledged messages and no pending outbox. Zero observed acknowledged-data loss is bounded by this failure model and sample, not a general durability theorem or performance guarantee.</a:t>
            </a:r>
          </a:p>
          <a:p/>
          <a:p>
            <a:r>
              <a:t>Source: evidence/demo.json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proposed v0 engineering decisions that operationalize the brief, not claims of community consensus. Immutable scoped reference metadata and replay keys provide a small auditable starting point; deletion, retention and cross-scope merging are deferred. SQLite serialization and an outbox make process-death behavior testable at the cost of throughput and distributed scheduling. Exact profiles avoid pretending numerical semantics or query dialects are interchangeable. The DeTTa adapter remains external to the application-neutral DA core. A chain adapter registers a single approved non-sensitive result commitment; it is not an arbitrary deployment service. All unassigned specialists remain unassigned. No invented arithmetic, ontology or STI policy was silently chosen.</a:t>
            </a:r>
          </a:p>
          <a:p/>
          <a:p>
            <a:r>
              <a:t>Source: decisions.md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M0 and the bounded local M1 gate are complete. The next increment is M2, with private ordered episodes and duplicate-safe, lineage-aware belief revision, including contradictory evidence and numerical golden tests for a reviewed existing model. That work has not started. M3 attention/inference and M4 Hive workflow integration remain later milestones. Actual Hive integration is blocked by the missing intended runtime and unsettled version/registry target. Production authorization, multi-host DA custody, public or multi-validator chain operation, independently verified proofs and meaningful load characterization remain open. Their absence does not erase the local evidence; local evidence does not pass those gates. Ending here respects the original stopping condition.</a:t>
            </a:r>
          </a:p>
          <a:p/>
          <a:p>
            <a:r>
              <a:t>Source: brief · evidence.md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central idea: functional decomposition alone is insufficient. A module boundary needs an owner, behavioral semantics and evidence for its guarantees. This work turns that idea into an inspectable contract package and one bounded running slice. The storage integration is real, the local chain integration is real, peers and test policy are fixtures, and the cognitive stack is specified only. The architecture can evolve without embedding cognition in DA or requiring every operation to run on chain. Pause here for discussion; the remaining slides provide method mappings, exact provenance, failure semantics and reproduction commands.</a:t>
            </a:r>
          </a:p>
          <a:p/>
          <a:p>
            <a:r>
              <a:t>Source: implementation 3f75db9 · evidence.md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Navigate implementation from Peer methods to binding.invoke, then to Service.invoke validation and policy. In-process invokes the service in the current Python process; subprocess invokes the host through private EOF-framed stdin and one JSON stdout response. Trusted composition chooses the concrete storage adapter. Atom, message and execution owner logic is in service.py. The operator-only work and flush entry points are separate from public dispatch. detta.py calls the Rust helper linked to the original DA/storage libraries. chain_demo.py separately registers an approved commitment with F1R3Commitments, injected signer, signed-intent journal and F1R3HTTP. The drawing abstracts call paths; it does not imply contracts import implementation files.</a:t>
            </a:r>
          </a:p>
          <a:p/>
          <a:p>
            <a:r>
              <a:t>Source: fusion/ · adapters/detta/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Episode expected_sequence and belief expected_revision make concurrent updates explicit. Replayed evidence must not add weight; derived cycles and overlapping roots cannot manufacture independent support. Reachability's guarded trueagi-pln-stv-finite-k1/v1 implementation is a candidate for review, not a selected universal model. metta-attention exposes STI/LTI/VLTI and direct setters, so it cannot be silently advertised as the proposed STI-only policy. Attention requires a declared budget, saturation, conservation or nonconservation, decay and tie-breaking behavior. Inference control must bound feedback generations and work, and define durable checkpoint semantics before advertising crash safety. These obligations belong to future milestones; new cognitive services remain absent.</a:t>
            </a:r>
          </a:p>
          <a:p/>
          <a:p>
            <a:r>
              <a:t>Source: ports.py · contracts.md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Permanent-for-unchanged-request failures also include INVALID_ARGUMENT and DEADLINE_EXCEEDED. INTERNAL is reserved and not automatically retryable. NOT_AVAILABLE covers missing persisted DA for a known ref and queued results; NOT_FOUND is absent metadata. Overload never silently drops acknowledged work. When transport fails after acceptance, the caller can retry the same semantic mutation or query the job owner. Already accepted mutations recover their original receipt even after the deadline expires, while new admissions and worker starts still honor the deadline. Empty poll means an authorized, known-empty inbox; failures do not become empty recall results. Live policy still applies to retries.</a:t>
            </a:r>
          </a:p>
          <a:p/>
          <a:p>
            <a:r>
              <a:t>Source: contracts.md · service.py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 prefixes are navigation aids; the committed sources.json contains full identifiers, absolute roots, remotes, dirty-file lists and relevant working-source fingerprints. The real DeTTa and F1R3 builds used pre-existing modified source, so clean HEAD alone is insufficient to reproduce identical behavior. MeTTaClaw had untracked runtime/project artifacts. This task did not alter upstream sources or commit those upstream changes. Only the fusion-module-interfaces workspace is committed. The supplied Hive repository is an index; no actual Hive runtime checkout was available. Meeting transcripts were referenced in the brief but not independently supplied or inspected. The intended earlier Omega type/interface registry was not found; the static registry remains a bounded harness implementation.</a:t>
            </a:r>
          </a:p>
          <a:p/>
          <a:p>
            <a:r>
              <a:t>Source: discovery.md · evidence/sources.json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command is executable as shown. It builds the actual DA adapter offline, runs the tests and executes both bindings. The optional chain build requires staged grpcio-tools; chain_demo requires pinned cryptography, pycryptodome and grpcio-tools extras, documented exactly in runbook.md. Initial native CLI/protoc/stack bring-up failures and the resolved local configuration are recorded in evidence.md rather than omitted. The demonstration uses generated non-sensitive data and fresh local keys under ignored artifacts; do not copy private data into it. For the presentation itself, build.py and requirements.txt in this directory generate the editable PowerPoint, vector PDF/SVG and speaker notes from one layout. No M2 implementation is required or created by these reproduction commands.</a:t>
            </a:r>
          </a:p>
          <a:p/>
          <a:p>
            <a:r>
              <a:t>Source: runbook.md · evidence.md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One responsibility.</a:t>
            </a:r>
          </a:p>
        </p:txBody>
      </p:sp>
      <p:sp>
        <p:nvSpPr>
          <p:cNvPr id="5" name="TextBox 4"/>
          <p:cNvSpPr txBox="1"/>
          <p:nvPr/>
        </p:nvSpPr>
        <p:spPr>
          <a:xfrm>
            <a:off x="548640" y="1953463"/>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One state owner.</a:t>
            </a:r>
          </a:p>
        </p:txBody>
      </p:sp>
      <p:sp>
        <p:nvSpPr>
          <p:cNvPr id="6" name="TextBox 5"/>
          <p:cNvSpPr txBox="1"/>
          <p:nvPr/>
        </p:nvSpPr>
        <p:spPr>
          <a:xfrm>
            <a:off x="548640" y="2619146"/>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Many possible backends.</a:t>
            </a:r>
          </a:p>
        </p:txBody>
      </p:sp>
      <p:sp>
        <p:nvSpPr>
          <p:cNvPr id="7" name="TextBox 6"/>
          <p:cNvSpPr txBox="1"/>
          <p:nvPr/>
        </p:nvSpPr>
        <p:spPr>
          <a:xfrm>
            <a:off x="579120" y="3672840"/>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ASI:chain</a:t>
            </a:r>
          </a:p>
        </p:txBody>
      </p:sp>
      <p:sp>
        <p:nvSpPr>
          <p:cNvPr id="8" name="TextBox 7"/>
          <p:cNvSpPr txBox="1"/>
          <p:nvPr/>
        </p:nvSpPr>
        <p:spPr>
          <a:xfrm>
            <a:off x="579120" y="4191000"/>
            <a:ext cx="98298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0">
                <a:solidFill>
                  <a:srgbClr val="FFFFFF"/>
                </a:solidFill>
                <a:latin typeface="DejaVu Sans"/>
              </a:rPr>
              <a:t>From a module map to a working storage, messaging and execution slice</a:t>
            </a:r>
          </a:p>
        </p:txBody>
      </p:sp>
      <p:sp>
        <p:nvSpPr>
          <p:cNvPr id="9" name="Rounded Rectangle 8"/>
          <p:cNvSpPr/>
          <p:nvPr/>
        </p:nvSpPr>
        <p:spPr>
          <a:xfrm>
            <a:off x="579120" y="5151120"/>
            <a:ext cx="1929645"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1739145"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M0 + M1 COMPLETE</a:t>
            </a:r>
          </a:p>
        </p:txBody>
      </p:sp>
      <p:sp>
        <p:nvSpPr>
          <p:cNvPr id="11" name="Rounded Rectangle 10"/>
          <p:cNvSpPr/>
          <p:nvPr/>
        </p:nvSpPr>
        <p:spPr>
          <a:xfrm>
            <a:off x="2788920" y="5151120"/>
            <a:ext cx="1721807" cy="289560"/>
          </a:xfrm>
          <a:prstGeom prst="roundRect">
            <a:avLst>
              <a:gd name="adj" fmla="val 18421"/>
            </a:avLst>
          </a:prstGeom>
          <a:solidFill>
            <a:srgbClr val="EBE5F3"/>
          </a:solidFill>
          <a:ln>
            <a:noFill/>
          </a:ln>
          <a:effectLst/>
        </p:spPr>
        <p:txBody>
          <a:bodyPr rtlCol="0" anchor="ctr"/>
          <a:lstStyle/>
          <a:p>
            <a:pPr algn="ctr"/>
          </a:p>
        </p:txBody>
      </p:sp>
      <p:sp>
        <p:nvSpPr>
          <p:cNvPr id="12" name="TextBox 11"/>
          <p:cNvSpPr txBox="1"/>
          <p:nvPr/>
        </p:nvSpPr>
        <p:spPr>
          <a:xfrm>
            <a:off x="2895600" y="5204460"/>
            <a:ext cx="1531307"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7458A2"/>
                </a:solidFill>
                <a:latin typeface="DejaVu Sans"/>
              </a:rPr>
              <a:t>M2 NOT STARTED</a:t>
            </a:r>
          </a:p>
        </p:txBody>
      </p:sp>
      <p:sp>
        <p:nvSpPr>
          <p:cNvPr id="13" name="TextBox 12"/>
          <p:cNvSpPr txBox="1"/>
          <p:nvPr/>
        </p:nvSpPr>
        <p:spPr>
          <a:xfrm>
            <a:off x="579120" y="5745480"/>
            <a:ext cx="9906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review • 16 October 2026 • proposed v0 contracts</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M0–M1 / brief + implementation commit 3f75db9</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architecture separates three commitments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function boundary, an authority boundary, and an evidence boundary.</a:t>
            </a:r>
          </a:p>
        </p:txBody>
      </p:sp>
      <p:sp>
        <p:nvSpPr>
          <p:cNvPr id="5" name="Rounded Rectangle 4"/>
          <p:cNvSpPr/>
          <p:nvPr/>
        </p:nvSpPr>
        <p:spPr>
          <a:xfrm>
            <a:off x="54864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6" name="TextBox 5"/>
          <p:cNvSpPr txBox="1"/>
          <p:nvPr/>
        </p:nvSpPr>
        <p:spPr>
          <a:xfrm>
            <a:off x="74676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01</a:t>
            </a:r>
          </a:p>
        </p:txBody>
      </p:sp>
      <p:sp>
        <p:nvSpPr>
          <p:cNvPr id="7" name="TextBox 6"/>
          <p:cNvSpPr txBox="1"/>
          <p:nvPr/>
        </p:nvSpPr>
        <p:spPr>
          <a:xfrm>
            <a:off x="74676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Replace behavior</a:t>
            </a:r>
          </a:p>
        </p:txBody>
      </p:sp>
      <p:sp>
        <p:nvSpPr>
          <p:cNvPr id="8" name="TextBox 7"/>
          <p:cNvSpPr txBox="1"/>
          <p:nvPr/>
        </p:nvSpPr>
        <p:spPr>
          <a:xfrm>
            <a:off x="74676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safely</a:t>
            </a:r>
          </a:p>
        </p:txBody>
      </p:sp>
      <p:sp>
        <p:nvSpPr>
          <p:cNvPr id="9" name="TextBox 8"/>
          <p:cNvSpPr txBox="1"/>
          <p:nvPr/>
        </p:nvSpPr>
        <p:spPr>
          <a:xfrm>
            <a:off x="74676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Select a versioned contract</a:t>
            </a:r>
          </a:p>
        </p:txBody>
      </p:sp>
      <p:sp>
        <p:nvSpPr>
          <p:cNvPr id="10" name="TextBox 9"/>
          <p:cNvSpPr txBox="1"/>
          <p:nvPr/>
        </p:nvSpPr>
        <p:spPr>
          <a:xfrm>
            <a:off x="74676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semantic profile. Keep the</a:t>
            </a:r>
          </a:p>
        </p:txBody>
      </p:sp>
      <p:sp>
        <p:nvSpPr>
          <p:cNvPr id="11" name="TextBox 10"/>
          <p:cNvSpPr txBox="1"/>
          <p:nvPr/>
        </p:nvSpPr>
        <p:spPr>
          <a:xfrm>
            <a:off x="74676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consumer independent of the</a:t>
            </a:r>
          </a:p>
        </p:txBody>
      </p:sp>
      <p:sp>
        <p:nvSpPr>
          <p:cNvPr id="12" name="TextBox 11"/>
          <p:cNvSpPr txBox="1"/>
          <p:nvPr/>
        </p:nvSpPr>
        <p:spPr>
          <a:xfrm>
            <a:off x="746760" y="421264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provider.</a:t>
            </a:r>
          </a:p>
        </p:txBody>
      </p:sp>
      <p:sp>
        <p:nvSpPr>
          <p:cNvPr id="13" name="Rounded Rectangle 12"/>
          <p:cNvSpPr/>
          <p:nvPr/>
        </p:nvSpPr>
        <p:spPr>
          <a:xfrm>
            <a:off x="432816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14" name="TextBox 13"/>
          <p:cNvSpPr txBox="1"/>
          <p:nvPr/>
        </p:nvSpPr>
        <p:spPr>
          <a:xfrm>
            <a:off x="452628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02</a:t>
            </a:r>
          </a:p>
        </p:txBody>
      </p:sp>
      <p:sp>
        <p:nvSpPr>
          <p:cNvPr id="15" name="TextBox 14"/>
          <p:cNvSpPr txBox="1"/>
          <p:nvPr/>
        </p:nvSpPr>
        <p:spPr>
          <a:xfrm>
            <a:off x="452628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Write through the</a:t>
            </a:r>
          </a:p>
        </p:txBody>
      </p:sp>
      <p:sp>
        <p:nvSpPr>
          <p:cNvPr id="16" name="TextBox 15"/>
          <p:cNvSpPr txBox="1"/>
          <p:nvPr/>
        </p:nvSpPr>
        <p:spPr>
          <a:xfrm>
            <a:off x="452628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owner</a:t>
            </a:r>
          </a:p>
        </p:txBody>
      </p:sp>
      <p:sp>
        <p:nvSpPr>
          <p:cNvPr id="17" name="TextBox 16"/>
          <p:cNvSpPr txBox="1"/>
          <p:nvPr/>
        </p:nvSpPr>
        <p:spPr>
          <a:xfrm>
            <a:off x="452628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Episodes, beliefs, attention</a:t>
            </a:r>
          </a:p>
        </p:txBody>
      </p:sp>
      <p:sp>
        <p:nvSpPr>
          <p:cNvPr id="18" name="TextBox 17"/>
          <p:cNvSpPr txBox="1"/>
          <p:nvPr/>
        </p:nvSpPr>
        <p:spPr>
          <a:xfrm>
            <a:off x="452628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jobs each have a single</a:t>
            </a:r>
          </a:p>
        </p:txBody>
      </p:sp>
      <p:sp>
        <p:nvSpPr>
          <p:cNvPr id="19" name="TextBox 18"/>
          <p:cNvSpPr txBox="1"/>
          <p:nvPr/>
        </p:nvSpPr>
        <p:spPr>
          <a:xfrm>
            <a:off x="452628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logical authority for their</a:t>
            </a:r>
          </a:p>
        </p:txBody>
      </p:sp>
      <p:sp>
        <p:nvSpPr>
          <p:cNvPr id="20" name="TextBox 19"/>
          <p:cNvSpPr txBox="1"/>
          <p:nvPr/>
        </p:nvSpPr>
        <p:spPr>
          <a:xfrm>
            <a:off x="4526280" y="421264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state.</a:t>
            </a:r>
          </a:p>
        </p:txBody>
      </p:sp>
      <p:sp>
        <p:nvSpPr>
          <p:cNvPr id="21" name="Rounded Rectangle 20"/>
          <p:cNvSpPr/>
          <p:nvPr/>
        </p:nvSpPr>
        <p:spPr>
          <a:xfrm>
            <a:off x="810768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22" name="TextBox 21"/>
          <p:cNvSpPr txBox="1"/>
          <p:nvPr/>
        </p:nvSpPr>
        <p:spPr>
          <a:xfrm>
            <a:off x="830580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03</a:t>
            </a:r>
          </a:p>
        </p:txBody>
      </p:sp>
      <p:sp>
        <p:nvSpPr>
          <p:cNvPr id="23" name="TextBox 22"/>
          <p:cNvSpPr txBox="1"/>
          <p:nvPr/>
        </p:nvSpPr>
        <p:spPr>
          <a:xfrm>
            <a:off x="830580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Name what was</a:t>
            </a:r>
          </a:p>
        </p:txBody>
      </p:sp>
      <p:sp>
        <p:nvSpPr>
          <p:cNvPr id="24" name="TextBox 23"/>
          <p:cNvSpPr txBox="1"/>
          <p:nvPr/>
        </p:nvSpPr>
        <p:spPr>
          <a:xfrm>
            <a:off x="830580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observed</a:t>
            </a:r>
          </a:p>
        </p:txBody>
      </p:sp>
      <p:sp>
        <p:nvSpPr>
          <p:cNvPr id="25" name="TextBox 24"/>
          <p:cNvSpPr txBox="1"/>
          <p:nvPr/>
        </p:nvSpPr>
        <p:spPr>
          <a:xfrm>
            <a:off x="830580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Storage, delivery, execution</a:t>
            </a:r>
          </a:p>
        </p:txBody>
      </p:sp>
      <p:sp>
        <p:nvSpPr>
          <p:cNvPr id="26" name="TextBox 25"/>
          <p:cNvSpPr txBox="1"/>
          <p:nvPr/>
        </p:nvSpPr>
        <p:spPr>
          <a:xfrm>
            <a:off x="830580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finality carry separate</a:t>
            </a:r>
          </a:p>
        </p:txBody>
      </p:sp>
      <p:sp>
        <p:nvSpPr>
          <p:cNvPr id="27" name="TextBox 26"/>
          <p:cNvSpPr txBox="1"/>
          <p:nvPr/>
        </p:nvSpPr>
        <p:spPr>
          <a:xfrm>
            <a:off x="830580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receipts and explicit limits.</a:t>
            </a:r>
          </a:p>
        </p:txBody>
      </p:sp>
      <p:sp>
        <p:nvSpPr>
          <p:cNvPr id="28" name="TextBox 27"/>
          <p:cNvSpPr txBox="1"/>
          <p:nvPr/>
        </p:nvSpPr>
        <p:spPr>
          <a:xfrm>
            <a:off x="571500" y="4800600"/>
            <a:ext cx="106680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M1 demonstrates one narrow path through that architecture</a:t>
            </a:r>
          </a:p>
        </p:txBody>
      </p:sp>
      <p:sp>
        <p:nvSpPr>
          <p:cNvPr id="29" name="Rounded Rectangle 28"/>
          <p:cNvSpPr/>
          <p:nvPr/>
        </p:nvSpPr>
        <p:spPr>
          <a:xfrm>
            <a:off x="54864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0" name="TextBox 29"/>
          <p:cNvSpPr txBox="1"/>
          <p:nvPr/>
        </p:nvSpPr>
        <p:spPr>
          <a:xfrm>
            <a:off x="67056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STORE</a:t>
            </a:r>
          </a:p>
        </p:txBody>
      </p:sp>
      <p:cxnSp>
        <p:nvCxnSpPr>
          <p:cNvPr id="31" name="Connector 30"/>
          <p:cNvCxnSpPr/>
          <p:nvPr/>
        </p:nvCxnSpPr>
        <p:spPr>
          <a:xfrm>
            <a:off x="2209800" y="5554980"/>
            <a:ext cx="190500" cy="0"/>
          </a:xfrm>
          <a:prstGeom prst="line">
            <a:avLst/>
          </a:prstGeom>
          <a:ln w="15240">
            <a:solidFill>
              <a:srgbClr val="536775"/>
            </a:solidFill>
          </a:ln>
          <a:effectLst/>
        </p:spPr>
      </p:cxnSp>
      <p:sp>
        <p:nvSpPr>
          <p:cNvPr id="32" name="Freeform 31"/>
          <p:cNvSpPr/>
          <p:nvPr/>
        </p:nvSpPr>
        <p:spPr>
          <a:xfrm>
            <a:off x="230124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3" name="Rounded Rectangle 32"/>
          <p:cNvSpPr/>
          <p:nvPr/>
        </p:nvSpPr>
        <p:spPr>
          <a:xfrm>
            <a:off x="243840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4" name="TextBox 33"/>
          <p:cNvSpPr txBox="1"/>
          <p:nvPr/>
        </p:nvSpPr>
        <p:spPr>
          <a:xfrm>
            <a:off x="256032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SHARE REF</a:t>
            </a:r>
          </a:p>
        </p:txBody>
      </p:sp>
      <p:cxnSp>
        <p:nvCxnSpPr>
          <p:cNvPr id="35" name="Connector 34"/>
          <p:cNvCxnSpPr/>
          <p:nvPr/>
        </p:nvCxnSpPr>
        <p:spPr>
          <a:xfrm>
            <a:off x="4099560" y="5554980"/>
            <a:ext cx="190500" cy="0"/>
          </a:xfrm>
          <a:prstGeom prst="line">
            <a:avLst/>
          </a:prstGeom>
          <a:ln w="15240">
            <a:solidFill>
              <a:srgbClr val="536775"/>
            </a:solidFill>
          </a:ln>
          <a:effectLst/>
        </p:spPr>
      </p:cxnSp>
      <p:sp>
        <p:nvSpPr>
          <p:cNvPr id="36" name="Freeform 35"/>
          <p:cNvSpPr/>
          <p:nvPr/>
        </p:nvSpPr>
        <p:spPr>
          <a:xfrm>
            <a:off x="419100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7" name="Rounded Rectangle 36"/>
          <p:cNvSpPr/>
          <p:nvPr/>
        </p:nvSpPr>
        <p:spPr>
          <a:xfrm>
            <a:off x="432816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8" name="TextBox 37"/>
          <p:cNvSpPr txBox="1"/>
          <p:nvPr/>
        </p:nvSpPr>
        <p:spPr>
          <a:xfrm>
            <a:off x="445008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FETCH</a:t>
            </a:r>
          </a:p>
        </p:txBody>
      </p:sp>
      <p:cxnSp>
        <p:nvCxnSpPr>
          <p:cNvPr id="39" name="Connector 38"/>
          <p:cNvCxnSpPr/>
          <p:nvPr/>
        </p:nvCxnSpPr>
        <p:spPr>
          <a:xfrm>
            <a:off x="5989320" y="5554980"/>
            <a:ext cx="190500" cy="0"/>
          </a:xfrm>
          <a:prstGeom prst="line">
            <a:avLst/>
          </a:prstGeom>
          <a:ln w="15240">
            <a:solidFill>
              <a:srgbClr val="536775"/>
            </a:solidFill>
          </a:ln>
          <a:effectLst/>
        </p:spPr>
      </p:cxnSp>
      <p:sp>
        <p:nvSpPr>
          <p:cNvPr id="40" name="Freeform 39"/>
          <p:cNvSpPr/>
          <p:nvPr/>
        </p:nvSpPr>
        <p:spPr>
          <a:xfrm>
            <a:off x="608076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1" name="Rounded Rectangle 40"/>
          <p:cNvSpPr/>
          <p:nvPr/>
        </p:nvSpPr>
        <p:spPr>
          <a:xfrm>
            <a:off x="621792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42" name="TextBox 41"/>
          <p:cNvSpPr txBox="1"/>
          <p:nvPr/>
        </p:nvSpPr>
        <p:spPr>
          <a:xfrm>
            <a:off x="633984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DELEGATE</a:t>
            </a:r>
          </a:p>
        </p:txBody>
      </p:sp>
      <p:cxnSp>
        <p:nvCxnSpPr>
          <p:cNvPr id="43" name="Connector 42"/>
          <p:cNvCxnSpPr/>
          <p:nvPr/>
        </p:nvCxnSpPr>
        <p:spPr>
          <a:xfrm>
            <a:off x="7879080" y="5554980"/>
            <a:ext cx="190500" cy="0"/>
          </a:xfrm>
          <a:prstGeom prst="line">
            <a:avLst/>
          </a:prstGeom>
          <a:ln w="15240">
            <a:solidFill>
              <a:srgbClr val="536775"/>
            </a:solidFill>
          </a:ln>
          <a:effectLst/>
        </p:spPr>
      </p:cxnSp>
      <p:sp>
        <p:nvSpPr>
          <p:cNvPr id="44" name="Freeform 43"/>
          <p:cNvSpPr/>
          <p:nvPr/>
        </p:nvSpPr>
        <p:spPr>
          <a:xfrm>
            <a:off x="797052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5" name="Rounded Rectangle 44"/>
          <p:cNvSpPr/>
          <p:nvPr/>
        </p:nvSpPr>
        <p:spPr>
          <a:xfrm>
            <a:off x="810768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46" name="TextBox 45"/>
          <p:cNvSpPr txBox="1"/>
          <p:nvPr/>
        </p:nvSpPr>
        <p:spPr>
          <a:xfrm>
            <a:off x="822960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RECOVER</a:t>
            </a:r>
          </a:p>
        </p:txBody>
      </p:sp>
      <p:cxnSp>
        <p:nvCxnSpPr>
          <p:cNvPr id="47" name="Connector 46"/>
          <p:cNvCxnSpPr/>
          <p:nvPr/>
        </p:nvCxnSpPr>
        <p:spPr>
          <a:xfrm>
            <a:off x="9768840" y="5554980"/>
            <a:ext cx="190500" cy="0"/>
          </a:xfrm>
          <a:prstGeom prst="line">
            <a:avLst/>
          </a:prstGeom>
          <a:ln w="15240">
            <a:solidFill>
              <a:srgbClr val="536775"/>
            </a:solidFill>
          </a:ln>
          <a:effectLst/>
        </p:spPr>
      </p:cxnSp>
      <p:sp>
        <p:nvSpPr>
          <p:cNvPr id="48" name="Freeform 47"/>
          <p:cNvSpPr/>
          <p:nvPr/>
        </p:nvSpPr>
        <p:spPr>
          <a:xfrm>
            <a:off x="986028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9" name="Rounded Rectangle 48"/>
          <p:cNvSpPr/>
          <p:nvPr/>
        </p:nvSpPr>
        <p:spPr>
          <a:xfrm>
            <a:off x="9997440" y="5303520"/>
            <a:ext cx="1645920" cy="502920"/>
          </a:xfrm>
          <a:prstGeom prst="roundRect">
            <a:avLst>
              <a:gd name="adj" fmla="val 12121"/>
            </a:avLst>
          </a:prstGeom>
          <a:solidFill>
            <a:srgbClr val="F3E7CE"/>
          </a:solidFill>
          <a:ln>
            <a:noFill/>
          </a:ln>
          <a:effectLst/>
        </p:spPr>
        <p:txBody>
          <a:bodyPr rtlCol="0" anchor="ctr"/>
          <a:lstStyle/>
          <a:p>
            <a:pPr algn="ctr"/>
          </a:p>
        </p:txBody>
      </p:sp>
      <p:sp>
        <p:nvSpPr>
          <p:cNvPr id="50" name="TextBox 49"/>
          <p:cNvSpPr txBox="1"/>
          <p:nvPr/>
        </p:nvSpPr>
        <p:spPr>
          <a:xfrm>
            <a:off x="1011936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86A15"/>
                </a:solidFill>
                <a:latin typeface="DejaVu Sans"/>
              </a:rPr>
              <a:t>COMMIT DIGEST</a:t>
            </a:r>
          </a:p>
        </p:txBody>
      </p:sp>
      <p:cxnSp>
        <p:nvCxnSpPr>
          <p:cNvPr id="51" name="Connector 50"/>
          <p:cNvCxnSpPr/>
          <p:nvPr/>
        </p:nvCxnSpPr>
        <p:spPr>
          <a:xfrm>
            <a:off x="548640" y="6393180"/>
            <a:ext cx="11094720" cy="0"/>
          </a:xfrm>
          <a:prstGeom prst="line">
            <a:avLst/>
          </a:prstGeom>
          <a:ln w="7620">
            <a:solidFill>
              <a:srgbClr val="C9D2D4"/>
            </a:solidFill>
          </a:ln>
          <a:effectLst/>
        </p:spPr>
      </p:cxnSp>
      <p:sp>
        <p:nvSpPr>
          <p:cNvPr id="52" name="TextBox 51"/>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a:t>
            </a:r>
          </a:p>
        </p:txBody>
      </p:sp>
      <p:sp>
        <p:nvSpPr>
          <p:cNvPr id="53" name="TextBox 5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SYSTEM MAP</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Logical boundaries are independent of process and repository boundaries.</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SHARED 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4" name="TextBox 13"/>
          <p:cNvSpPr txBox="1"/>
          <p:nvPr/>
        </p:nvSpPr>
        <p:spPr>
          <a:xfrm>
            <a:off x="853440" y="245364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6" name="TextBox 15"/>
          <p:cNvSpPr txBox="1"/>
          <p:nvPr/>
        </p:nvSpPr>
        <p:spPr>
          <a:xfrm>
            <a:off x="853440" y="304800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8" name="TextBox 17"/>
          <p:cNvSpPr txBox="1"/>
          <p:nvPr/>
        </p:nvSpPr>
        <p:spPr>
          <a:xfrm>
            <a:off x="853440" y="364236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PLN kernel</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0" name="TextBox 19"/>
          <p:cNvSpPr txBox="1"/>
          <p:nvPr/>
        </p:nvSpPr>
        <p:spPr>
          <a:xfrm>
            <a:off x="853440" y="423672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ECAN /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2" name="TextBox 21"/>
          <p:cNvSpPr txBox="1"/>
          <p:nvPr/>
        </p:nvSpPr>
        <p:spPr>
          <a:xfrm>
            <a:off x="853440" y="483108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Relations · spec</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8" name="TextBox 27"/>
          <p:cNvSpPr txBox="1"/>
          <p:nvPr/>
        </p:nvSpPr>
        <p:spPr>
          <a:xfrm>
            <a:off x="3505200" y="364236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Search projection · spec</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DeTTa libraries</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007C78"/>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isolated F1R3</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node</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harness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1851444" cy="274320"/>
          </a:xfrm>
          <a:prstGeom prst="roundRect">
            <a:avLst>
              <a:gd name="adj" fmla="val 19444"/>
            </a:avLst>
          </a:prstGeom>
          <a:solidFill>
            <a:srgbClr val="EBE5F3"/>
          </a:solidFill>
          <a:ln>
            <a:noFill/>
          </a:ln>
          <a:effectLst/>
        </p:spPr>
        <p:txBody>
          <a:bodyPr rtlCol="0" anchor="ctr"/>
          <a:lstStyle/>
          <a:p>
            <a:pPr algn="ctr"/>
          </a:p>
        </p:txBody>
      </p:sp>
      <p:sp>
        <p:nvSpPr>
          <p:cNvPr id="51" name="TextBox 50"/>
          <p:cNvSpPr txBox="1"/>
          <p:nvPr/>
        </p:nvSpPr>
        <p:spPr>
          <a:xfrm>
            <a:off x="655320" y="5844540"/>
            <a:ext cx="1660944"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7458A2"/>
                </a:solidFill>
                <a:latin typeface="DejaVu Sans"/>
              </a:rPr>
              <a:t>SPECIFICATION ONLY</a:t>
            </a:r>
          </a:p>
        </p:txBody>
      </p:sp>
      <p:sp>
        <p:nvSpPr>
          <p:cNvPr id="52" name="Rounded Rectangle 51"/>
          <p:cNvSpPr/>
          <p:nvPr/>
        </p:nvSpPr>
        <p:spPr>
          <a:xfrm>
            <a:off x="2849880" y="5791200"/>
            <a:ext cx="2108954"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956560" y="5844540"/>
            <a:ext cx="1918454"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HARNESS</a:t>
            </a:r>
          </a:p>
        </p:txBody>
      </p:sp>
      <p:sp>
        <p:nvSpPr>
          <p:cNvPr id="54" name="Rounded Rectangle 53"/>
          <p:cNvSpPr/>
          <p:nvPr/>
        </p:nvSpPr>
        <p:spPr>
          <a:xfrm>
            <a:off x="5433060" y="5791200"/>
            <a:ext cx="2548227"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539740" y="5844540"/>
            <a:ext cx="2357727"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 INTEGRATION</a:t>
            </a:r>
          </a:p>
        </p:txBody>
      </p:sp>
      <p:cxnSp>
        <p:nvCxnSpPr>
          <p:cNvPr id="56" name="Connector 55"/>
          <p:cNvCxnSpPr/>
          <p:nvPr/>
        </p:nvCxnSpPr>
        <p:spPr>
          <a:xfrm>
            <a:off x="548640" y="6393180"/>
            <a:ext cx="11094720" cy="0"/>
          </a:xfrm>
          <a:prstGeom prst="line">
            <a:avLst/>
          </a:prstGeom>
          <a:ln w="7620">
            <a:solidFill>
              <a:srgbClr val="C9D2D4"/>
            </a:solidFill>
          </a:ln>
          <a:effectLst/>
        </p:spPr>
      </p:cxnSp>
      <p:sp>
        <p:nvSpPr>
          <p:cNvPr id="57" name="TextBox 56"/>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a:t>
            </a:r>
          </a:p>
        </p:txBody>
      </p:sp>
      <p:sp>
        <p:nvSpPr>
          <p:cNvPr id="58" name="TextBox 5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first five modules separate persistence, identity, structure, discovery and provenance.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DA storage</a:t>
            </a:r>
          </a:p>
        </p:txBody>
      </p:sp>
      <p:sp>
        <p:nvSpPr>
          <p:cNvPr id="10" name="TextBox 9"/>
          <p:cNvSpPr txBox="1"/>
          <p:nvPr/>
        </p:nvSpPr>
        <p:spPr>
          <a:xfrm>
            <a:off x="3185160" y="224028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 opaque bytes</a:t>
            </a:r>
          </a:p>
        </p:txBody>
      </p:sp>
      <p:sp>
        <p:nvSpPr>
          <p:cNvPr id="11" name="TextBox 10"/>
          <p:cNvSpPr txBox="1"/>
          <p:nvPr/>
        </p:nvSpPr>
        <p:spPr>
          <a:xfrm>
            <a:off x="3185160" y="248412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put · get · availability</a:t>
            </a:r>
          </a:p>
        </p:txBody>
      </p:sp>
      <p:sp>
        <p:nvSpPr>
          <p:cNvPr id="12" name="TextBox 11"/>
          <p:cNvSpPr txBox="1"/>
          <p:nvPr/>
        </p:nvSpPr>
        <p:spPr>
          <a:xfrm>
            <a:off x="7757159" y="224028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Payloads and shares</a:t>
            </a:r>
          </a:p>
        </p:txBody>
      </p:sp>
      <p:sp>
        <p:nvSpPr>
          <p:cNvPr id="13" name="TextBox 12"/>
          <p:cNvSpPr txBox="1"/>
          <p:nvPr/>
        </p:nvSpPr>
        <p:spPr>
          <a:xfrm>
            <a:off x="7757159" y="248412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AtomStorage</a:t>
            </a:r>
          </a:p>
        </p:txBody>
      </p:sp>
      <p:sp>
        <p:nvSpPr>
          <p:cNvPr id="16" name="TextBox 15"/>
          <p:cNvSpPr txBox="1"/>
          <p:nvPr/>
        </p:nvSpPr>
        <p:spPr>
          <a:xfrm>
            <a:off x="3185160" y="294132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Assign scoped immutable references</a:t>
            </a:r>
          </a:p>
        </p:txBody>
      </p:sp>
      <p:sp>
        <p:nvSpPr>
          <p:cNvPr id="17" name="TextBox 16"/>
          <p:cNvSpPr txBox="1"/>
          <p:nvPr/>
        </p:nvSpPr>
        <p:spPr>
          <a:xfrm>
            <a:off x="3185160" y="318516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create · get · getMany</a:t>
            </a:r>
          </a:p>
        </p:txBody>
      </p:sp>
      <p:sp>
        <p:nvSpPr>
          <p:cNvPr id="18" name="TextBox 17"/>
          <p:cNvSpPr txBox="1"/>
          <p:nvPr/>
        </p:nvSpPr>
        <p:spPr>
          <a:xfrm>
            <a:off x="7757159" y="294132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Reference + replay metadata</a:t>
            </a:r>
          </a:p>
        </p:txBody>
      </p:sp>
      <p:sp>
        <p:nvSpPr>
          <p:cNvPr id="19" name="TextBox 18"/>
          <p:cNvSpPr txBox="1"/>
          <p:nvPr/>
        </p:nvSpPr>
        <p:spPr>
          <a:xfrm>
            <a:off x="7757159" y="318516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IMPLEMENTED</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Relations</a:t>
            </a:r>
          </a:p>
        </p:txBody>
      </p:sp>
      <p:sp>
        <p:nvSpPr>
          <p:cNvPr id="22" name="TextBox 21"/>
          <p:cNvSpPr txBox="1"/>
          <p:nvPr/>
        </p:nvSpPr>
        <p:spPr>
          <a:xfrm>
            <a:off x="3185160" y="364236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Represent ordered structural roles</a:t>
            </a:r>
          </a:p>
        </p:txBody>
      </p:sp>
      <p:sp>
        <p:nvSpPr>
          <p:cNvPr id="23" name="TextBox 22"/>
          <p:cNvSpPr txBox="1"/>
          <p:nvPr/>
        </p:nvSpPr>
        <p:spPr>
          <a:xfrm>
            <a:off x="3185160" y="388620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assertRelation · getRelation</a:t>
            </a:r>
          </a:p>
        </p:txBody>
      </p:sp>
      <p:sp>
        <p:nvSpPr>
          <p:cNvPr id="24" name="TextBox 23"/>
          <p:cNvSpPr txBox="1"/>
          <p:nvPr/>
        </p:nvSpPr>
        <p:spPr>
          <a:xfrm>
            <a:off x="7757159" y="364236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relation records</a:t>
            </a:r>
          </a:p>
        </p:txBody>
      </p:sp>
      <p:sp>
        <p:nvSpPr>
          <p:cNvPr id="25" name="TextBox 24"/>
          <p:cNvSpPr txBox="1"/>
          <p:nvPr/>
        </p:nvSpPr>
        <p:spPr>
          <a:xfrm>
            <a:off x="7757159" y="388620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Search projection</a:t>
            </a:r>
          </a:p>
        </p:txBody>
      </p:sp>
      <p:sp>
        <p:nvSpPr>
          <p:cNvPr id="28" name="TextBox 27"/>
          <p:cNvSpPr txBox="1"/>
          <p:nvPr/>
        </p:nvSpPr>
        <p:spPr>
          <a:xfrm>
            <a:off x="3185160" y="434340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Find references at a known watermark</a:t>
            </a:r>
          </a:p>
        </p:txBody>
      </p:sp>
      <p:sp>
        <p:nvSpPr>
          <p:cNvPr id="29" name="TextBox 28"/>
          <p:cNvSpPr txBox="1"/>
          <p:nvPr/>
        </p:nvSpPr>
        <p:spPr>
          <a:xfrm>
            <a:off x="3185160" y="458724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query</a:t>
            </a:r>
          </a:p>
        </p:txBody>
      </p:sp>
      <p:sp>
        <p:nvSpPr>
          <p:cNvPr id="30" name="TextBox 29"/>
          <p:cNvSpPr txBox="1"/>
          <p:nvPr/>
        </p:nvSpPr>
        <p:spPr>
          <a:xfrm>
            <a:off x="7757159" y="434340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Rebuildable index</a:t>
            </a:r>
          </a:p>
        </p:txBody>
      </p:sp>
      <p:sp>
        <p:nvSpPr>
          <p:cNvPr id="31" name="TextBox 30"/>
          <p:cNvSpPr txBox="1"/>
          <p:nvPr/>
        </p:nvSpPr>
        <p:spPr>
          <a:xfrm>
            <a:off x="7757159" y="458724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Episodic memory</a:t>
            </a:r>
          </a:p>
        </p:txBody>
      </p:sp>
      <p:sp>
        <p:nvSpPr>
          <p:cNvPr id="34" name="TextBox 33"/>
          <p:cNvSpPr txBox="1"/>
          <p:nvPr/>
        </p:nvSpPr>
        <p:spPr>
          <a:xfrm>
            <a:off x="3185160" y="504444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ordered events + provenance</a:t>
            </a:r>
          </a:p>
        </p:txBody>
      </p:sp>
      <p:sp>
        <p:nvSpPr>
          <p:cNvPr id="35" name="TextBox 34"/>
          <p:cNvSpPr txBox="1"/>
          <p:nvPr/>
        </p:nvSpPr>
        <p:spPr>
          <a:xfrm>
            <a:off x="3185160" y="528828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recordEpisode · appendEvent</a:t>
            </a:r>
          </a:p>
        </p:txBody>
      </p:sp>
      <p:sp>
        <p:nvSpPr>
          <p:cNvPr id="36" name="TextBox 35"/>
          <p:cNvSpPr txBox="1"/>
          <p:nvPr/>
        </p:nvSpPr>
        <p:spPr>
          <a:xfrm>
            <a:off x="7757159" y="504444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Private episode history</a:t>
            </a:r>
          </a:p>
        </p:txBody>
      </p:sp>
      <p:sp>
        <p:nvSpPr>
          <p:cNvPr id="37" name="TextBox 36"/>
          <p:cNvSpPr txBox="1"/>
          <p:nvPr/>
        </p:nvSpPr>
        <p:spPr>
          <a:xfrm>
            <a:off x="7757159" y="528828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 · M2</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Capture and retrieve data before choosing its meaning.</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Cognitive responsibilities: history ≠ truth ≠ attention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four modules below are typed specifications. No cognitive provider runs in M1.</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EXCLUSION</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Belief revision</a:t>
            </a:r>
          </a:p>
        </p:txBody>
      </p:sp>
      <p:sp>
        <p:nvSpPr>
          <p:cNvPr id="10" name="TextBox 9"/>
          <p:cNvSpPr txBox="1"/>
          <p:nvPr/>
        </p:nvSpPr>
        <p:spPr>
          <a:xfrm>
            <a:off x="3185160" y="224028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Revise under an explicit numerical model</a:t>
            </a:r>
          </a:p>
        </p:txBody>
      </p:sp>
      <p:sp>
        <p:nvSpPr>
          <p:cNvPr id="11" name="TextBox 10"/>
          <p:cNvSpPr txBox="1"/>
          <p:nvPr/>
        </p:nvSpPr>
        <p:spPr>
          <a:xfrm>
            <a:off x="3185160" y="248412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submitEvidence · readBelief</a:t>
            </a:r>
          </a:p>
        </p:txBody>
      </p:sp>
      <p:sp>
        <p:nvSpPr>
          <p:cNvPr id="12" name="TextBox 11"/>
          <p:cNvSpPr txBox="1"/>
          <p:nvPr/>
        </p:nvSpPr>
        <p:spPr>
          <a:xfrm>
            <a:off x="7985759" y="224028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Belief + evidence ledger</a:t>
            </a:r>
          </a:p>
        </p:txBody>
      </p:sp>
      <p:sp>
        <p:nvSpPr>
          <p:cNvPr id="13" name="TextBox 12"/>
          <p:cNvSpPr txBox="1"/>
          <p:nvPr/>
        </p:nvSpPr>
        <p:spPr>
          <a:xfrm>
            <a:off x="7985759" y="248412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agenda or attention writes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PLN kernel</a:t>
            </a:r>
          </a:p>
        </p:txBody>
      </p:sp>
      <p:sp>
        <p:nvSpPr>
          <p:cNvPr id="16" name="TextBox 15"/>
          <p:cNvSpPr txBox="1"/>
          <p:nvPr/>
        </p:nvSpPr>
        <p:spPr>
          <a:xfrm>
            <a:off x="3185160" y="307086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Apply a rule to explicit premises</a:t>
            </a:r>
          </a:p>
        </p:txBody>
      </p:sp>
      <p:sp>
        <p:nvSpPr>
          <p:cNvPr id="17" name="TextBox 16"/>
          <p:cNvSpPr txBox="1"/>
          <p:nvPr/>
        </p:nvSpPr>
        <p:spPr>
          <a:xfrm>
            <a:off x="3185160" y="331470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profiles · applyRule</a:t>
            </a:r>
          </a:p>
        </p:txBody>
      </p:sp>
      <p:sp>
        <p:nvSpPr>
          <p:cNvPr id="18" name="TextBox 17"/>
          <p:cNvSpPr txBox="1"/>
          <p:nvPr/>
        </p:nvSpPr>
        <p:spPr>
          <a:xfrm>
            <a:off x="7985759" y="307086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mutable domain state</a:t>
            </a:r>
          </a:p>
        </p:txBody>
      </p:sp>
      <p:sp>
        <p:nvSpPr>
          <p:cNvPr id="19" name="TextBox 18"/>
          <p:cNvSpPr txBox="1"/>
          <p:nvPr/>
        </p:nvSpPr>
        <p:spPr>
          <a:xfrm>
            <a:off x="7985759" y="331470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Returns a proposed derivation</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ECAN / attention</a:t>
            </a:r>
          </a:p>
        </p:txBody>
      </p:sp>
      <p:sp>
        <p:nvSpPr>
          <p:cNvPr id="22" name="TextBox 21"/>
          <p:cNvSpPr txBox="1"/>
          <p:nvPr/>
        </p:nvSpPr>
        <p:spPr>
          <a:xfrm>
            <a:off x="3185160" y="390144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Allocate, select and decay attention</a:t>
            </a:r>
          </a:p>
        </p:txBody>
      </p:sp>
      <p:sp>
        <p:nvSpPr>
          <p:cNvPr id="23" name="TextBox 22"/>
          <p:cNvSpPr txBox="1"/>
          <p:nvPr/>
        </p:nvSpPr>
        <p:spPr>
          <a:xfrm>
            <a:off x="3185160" y="4145279"/>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submitStimulus · select · advance</a:t>
            </a:r>
          </a:p>
        </p:txBody>
      </p:sp>
      <p:sp>
        <p:nvSpPr>
          <p:cNvPr id="24" name="TextBox 23"/>
          <p:cNvSpPr txBox="1"/>
          <p:nvPr/>
        </p:nvSpPr>
        <p:spPr>
          <a:xfrm>
            <a:off x="7985759" y="390144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Attention balances + logical time</a:t>
            </a:r>
          </a:p>
        </p:txBody>
      </p:sp>
      <p:sp>
        <p:nvSpPr>
          <p:cNvPr id="25" name="TextBox 24"/>
          <p:cNvSpPr txBox="1"/>
          <p:nvPr/>
        </p:nvSpPr>
        <p:spPr>
          <a:xfrm>
            <a:off x="7985759" y="4145279"/>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PLN dependency</a:t>
            </a:r>
          </a:p>
        </p:txBody>
      </p:sp>
      <p:sp>
        <p:nvSpPr>
          <p:cNvPr id="26" name="Rounded Rectangle 25"/>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7" name="TextBox 26"/>
          <p:cNvSpPr txBox="1"/>
          <p:nvPr/>
        </p:nvSpPr>
        <p:spPr>
          <a:xfrm>
            <a:off x="670560" y="473202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Inference control</a:t>
            </a:r>
          </a:p>
        </p:txBody>
      </p:sp>
      <p:sp>
        <p:nvSpPr>
          <p:cNvPr id="28" name="TextBox 27"/>
          <p:cNvSpPr txBox="1"/>
          <p:nvPr/>
        </p:nvSpPr>
        <p:spPr>
          <a:xfrm>
            <a:off x="3185160" y="473202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Schedule bounded reasoning work</a:t>
            </a:r>
          </a:p>
        </p:txBody>
      </p:sp>
      <p:sp>
        <p:nvSpPr>
          <p:cNvPr id="29" name="TextBox 28"/>
          <p:cNvSpPr txBox="1"/>
          <p:nvPr/>
        </p:nvSpPr>
        <p:spPr>
          <a:xfrm>
            <a:off x="3185160" y="497586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step</a:t>
            </a:r>
          </a:p>
        </p:txBody>
      </p:sp>
      <p:sp>
        <p:nvSpPr>
          <p:cNvPr id="30" name="TextBox 29"/>
          <p:cNvSpPr txBox="1"/>
          <p:nvPr/>
        </p:nvSpPr>
        <p:spPr>
          <a:xfrm>
            <a:off x="7985759" y="473202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Step receipts + checkpoint</a:t>
            </a:r>
          </a:p>
        </p:txBody>
      </p:sp>
      <p:sp>
        <p:nvSpPr>
          <p:cNvPr id="31" name="TextBox 30"/>
          <p:cNvSpPr txBox="1"/>
          <p:nvPr/>
        </p:nvSpPr>
        <p:spPr>
          <a:xfrm>
            <a:off x="7985759" y="497586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ownership of truth or attention</a:t>
            </a:r>
          </a:p>
        </p:txBody>
      </p:sp>
      <p:sp>
        <p:nvSpPr>
          <p:cNvPr id="32" name="Rounded Rectangle 31"/>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7458A2"/>
                </a:solidFill>
                <a:latin typeface="DejaVu Sans"/>
              </a:rPr>
              <a:t>Mathematics and attention policy remain explicit review gates.</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399897"/>
          </a:xfrm>
          <a:prstGeom prst="rect">
            <a:avLst/>
          </a:prstGeom>
          <a:noFill/>
        </p:spPr>
        <p:txBody>
          <a:bodyPr wrap="none" lIns="0" rIns="0" tIns="0" bIns="0" anchor="t" anchorCtr="0">
            <a:noAutofit/>
          </a:bodyPr>
          <a:lstStyle/>
          <a:p>
            <a:pPr algn="l">
              <a:lnSpc>
                <a:spcPct val="100000"/>
              </a:lnSpc>
              <a:spcBef>
                <a:spcPts val="0"/>
              </a:spcBef>
              <a:spcAft>
                <a:spcPts val="0"/>
              </a:spcAft>
            </a:pPr>
            <a:r>
              <a:rPr sz="2460" b="1">
                <a:solidFill>
                  <a:srgbClr val="102B3F"/>
                </a:solidFill>
                <a:latin typeface="DejaVu Sans"/>
              </a:rPr>
              <a:t>Control responsibilities: move work without moving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exactly what happened.</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 journal · REAL LOCAL CHAIN</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Server-owned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DATA AND COGNITION</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Function dependencies: the proposed cognitive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Dashed arrows = specified calls. Solid arrow = implemented call. Direction = caller → provider.</a:t>
            </a:r>
          </a:p>
        </p:txBody>
      </p:sp>
      <p:sp>
        <p:nvSpPr>
          <p:cNvPr id="5" name="Rounded Rectangle 4"/>
          <p:cNvSpPr/>
          <p:nvPr/>
        </p:nvSpPr>
        <p:spPr>
          <a:xfrm>
            <a:off x="548640" y="1988820"/>
            <a:ext cx="2484120" cy="929640"/>
          </a:xfrm>
          <a:prstGeom prst="roundRect">
            <a:avLst>
              <a:gd name="adj" fmla="val 10655"/>
            </a:avLst>
          </a:prstGeom>
          <a:solidFill>
            <a:srgbClr val="EBE5F3"/>
          </a:solidFill>
          <a:ln w="7620">
            <a:solidFill>
              <a:srgbClr val="7458A2"/>
            </a:solidFill>
            <a:prstDash val="dash"/>
          </a:ln>
          <a:effectLst/>
        </p:spPr>
        <p:txBody>
          <a:bodyPr rtlCol="0" anchor="ctr"/>
          <a:lstStyle/>
          <a:p>
            <a:pPr algn="ctr"/>
          </a:p>
        </p:txBody>
      </p:sp>
      <p:sp>
        <p:nvSpPr>
          <p:cNvPr id="6" name="TextBox 5"/>
          <p:cNvSpPr txBox="1"/>
          <p:nvPr/>
        </p:nvSpPr>
        <p:spPr>
          <a:xfrm>
            <a:off x="716280" y="2156460"/>
            <a:ext cx="21488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Inference control</a:t>
            </a:r>
          </a:p>
        </p:txBody>
      </p:sp>
      <p:sp>
        <p:nvSpPr>
          <p:cNvPr id="7" name="TextBox 6"/>
          <p:cNvSpPr txBox="1"/>
          <p:nvPr/>
        </p:nvSpPr>
        <p:spPr>
          <a:xfrm>
            <a:off x="716280" y="2505760"/>
            <a:ext cx="21488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step(budget)</a:t>
            </a:r>
          </a:p>
        </p:txBody>
      </p:sp>
      <p:sp>
        <p:nvSpPr>
          <p:cNvPr id="8" name="Rounded Rectangle 7"/>
          <p:cNvSpPr/>
          <p:nvPr/>
        </p:nvSpPr>
        <p:spPr>
          <a:xfrm>
            <a:off x="3931919" y="1927859"/>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9" name="TextBox 8"/>
          <p:cNvSpPr txBox="1"/>
          <p:nvPr/>
        </p:nvSpPr>
        <p:spPr>
          <a:xfrm>
            <a:off x="4099560" y="20955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Search</a:t>
            </a:r>
          </a:p>
        </p:txBody>
      </p:sp>
      <p:sp>
        <p:nvSpPr>
          <p:cNvPr id="10" name="TextBox 9"/>
          <p:cNvSpPr txBox="1"/>
          <p:nvPr/>
        </p:nvSpPr>
        <p:spPr>
          <a:xfrm>
            <a:off x="4099560" y="24252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query(profile, watermark)</a:t>
            </a:r>
          </a:p>
        </p:txBody>
      </p:sp>
      <p:sp>
        <p:nvSpPr>
          <p:cNvPr id="11" name="Rounded Rectangle 10"/>
          <p:cNvSpPr/>
          <p:nvPr/>
        </p:nvSpPr>
        <p:spPr>
          <a:xfrm>
            <a:off x="7680959" y="1927859"/>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2" name="TextBox 11"/>
          <p:cNvSpPr txBox="1"/>
          <p:nvPr/>
        </p:nvSpPr>
        <p:spPr>
          <a:xfrm>
            <a:off x="7848600" y="20955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ECAN / attention</a:t>
            </a:r>
          </a:p>
        </p:txBody>
      </p:sp>
      <p:sp>
        <p:nvSpPr>
          <p:cNvPr id="13" name="TextBox 12"/>
          <p:cNvSpPr txBox="1"/>
          <p:nvPr/>
        </p:nvSpPr>
        <p:spPr>
          <a:xfrm>
            <a:off x="7848600" y="24252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select · submitStimulus</a:t>
            </a:r>
          </a:p>
        </p:txBody>
      </p:sp>
      <p:sp>
        <p:nvSpPr>
          <p:cNvPr id="14" name="Rounded Rectangle 13"/>
          <p:cNvSpPr/>
          <p:nvPr/>
        </p:nvSpPr>
        <p:spPr>
          <a:xfrm>
            <a:off x="3931919" y="3489960"/>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5" name="TextBox 14"/>
          <p:cNvSpPr txBox="1"/>
          <p:nvPr/>
        </p:nvSpPr>
        <p:spPr>
          <a:xfrm>
            <a:off x="4099560" y="36576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Belief revision</a:t>
            </a:r>
          </a:p>
        </p:txBody>
      </p:sp>
      <p:sp>
        <p:nvSpPr>
          <p:cNvPr id="16" name="TextBox 15"/>
          <p:cNvSpPr txBox="1"/>
          <p:nvPr/>
        </p:nvSpPr>
        <p:spPr>
          <a:xfrm>
            <a:off x="4099560" y="39873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readBelief · submitEvidence</a:t>
            </a:r>
          </a:p>
        </p:txBody>
      </p:sp>
      <p:sp>
        <p:nvSpPr>
          <p:cNvPr id="17" name="Rounded Rectangle 16"/>
          <p:cNvSpPr/>
          <p:nvPr/>
        </p:nvSpPr>
        <p:spPr>
          <a:xfrm>
            <a:off x="7680959" y="3489960"/>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8" name="TextBox 17"/>
          <p:cNvSpPr txBox="1"/>
          <p:nvPr/>
        </p:nvSpPr>
        <p:spPr>
          <a:xfrm>
            <a:off x="7848600" y="36576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PLN kernel</a:t>
            </a:r>
          </a:p>
        </p:txBody>
      </p:sp>
      <p:sp>
        <p:nvSpPr>
          <p:cNvPr id="19" name="TextBox 18"/>
          <p:cNvSpPr txBox="1"/>
          <p:nvPr/>
        </p:nvSpPr>
        <p:spPr>
          <a:xfrm>
            <a:off x="7848600" y="3987393"/>
            <a:ext cx="29718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applyRule(premise snapshots)</a:t>
            </a:r>
          </a:p>
        </p:txBody>
      </p:sp>
      <p:cxnSp>
        <p:nvCxnSpPr>
          <p:cNvPr id="20" name="Connector 19"/>
          <p:cNvCxnSpPr/>
          <p:nvPr/>
        </p:nvCxnSpPr>
        <p:spPr>
          <a:xfrm>
            <a:off x="3032760" y="2209800"/>
            <a:ext cx="899159" cy="0"/>
          </a:xfrm>
          <a:prstGeom prst="line">
            <a:avLst/>
          </a:prstGeom>
          <a:ln w="15240">
            <a:solidFill>
              <a:srgbClr val="7458A2"/>
            </a:solidFill>
            <a:prstDash val="dash"/>
          </a:ln>
          <a:effectLst/>
        </p:spPr>
      </p:cxnSp>
      <p:sp>
        <p:nvSpPr>
          <p:cNvPr id="21" name="Freeform 20"/>
          <p:cNvSpPr/>
          <p:nvPr/>
        </p:nvSpPr>
        <p:spPr>
          <a:xfrm>
            <a:off x="3832860" y="21717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cxnSp>
        <p:nvCxnSpPr>
          <p:cNvPr id="22" name="Connector 21"/>
          <p:cNvCxnSpPr/>
          <p:nvPr/>
        </p:nvCxnSpPr>
        <p:spPr>
          <a:xfrm>
            <a:off x="3032760" y="2118360"/>
            <a:ext cx="373380" cy="0"/>
          </a:xfrm>
          <a:prstGeom prst="line">
            <a:avLst/>
          </a:prstGeom>
          <a:ln w="15240">
            <a:solidFill>
              <a:srgbClr val="7458A2"/>
            </a:solidFill>
            <a:prstDash val="dash"/>
          </a:ln>
          <a:effectLst/>
        </p:spPr>
      </p:cxnSp>
      <p:cxnSp>
        <p:nvCxnSpPr>
          <p:cNvPr id="23" name="Connector 22"/>
          <p:cNvCxnSpPr/>
          <p:nvPr/>
        </p:nvCxnSpPr>
        <p:spPr>
          <a:xfrm flipV="1">
            <a:off x="3406140" y="1714500"/>
            <a:ext cx="0" cy="403860"/>
          </a:xfrm>
          <a:prstGeom prst="line">
            <a:avLst/>
          </a:prstGeom>
          <a:ln w="15240">
            <a:solidFill>
              <a:srgbClr val="7458A2"/>
            </a:solidFill>
            <a:prstDash val="dash"/>
          </a:ln>
          <a:effectLst/>
        </p:spPr>
      </p:cxnSp>
      <p:cxnSp>
        <p:nvCxnSpPr>
          <p:cNvPr id="24" name="Connector 23"/>
          <p:cNvCxnSpPr/>
          <p:nvPr/>
        </p:nvCxnSpPr>
        <p:spPr>
          <a:xfrm>
            <a:off x="3406140" y="1714500"/>
            <a:ext cx="5928360" cy="0"/>
          </a:xfrm>
          <a:prstGeom prst="line">
            <a:avLst/>
          </a:prstGeom>
          <a:ln w="15240">
            <a:solidFill>
              <a:srgbClr val="7458A2"/>
            </a:solidFill>
            <a:prstDash val="dash"/>
          </a:ln>
          <a:effectLst/>
        </p:spPr>
      </p:cxnSp>
      <p:cxnSp>
        <p:nvCxnSpPr>
          <p:cNvPr id="25" name="Connector 24"/>
          <p:cNvCxnSpPr/>
          <p:nvPr/>
        </p:nvCxnSpPr>
        <p:spPr>
          <a:xfrm>
            <a:off x="9334500" y="1714500"/>
            <a:ext cx="0" cy="213359"/>
          </a:xfrm>
          <a:prstGeom prst="line">
            <a:avLst/>
          </a:prstGeom>
          <a:ln w="15240">
            <a:solidFill>
              <a:srgbClr val="7458A2"/>
            </a:solidFill>
            <a:prstDash val="dash"/>
          </a:ln>
          <a:effectLst/>
        </p:spPr>
      </p:cxnSp>
      <p:sp>
        <p:nvSpPr>
          <p:cNvPr id="26" name="Freeform 25"/>
          <p:cNvSpPr/>
          <p:nvPr/>
        </p:nvSpPr>
        <p:spPr>
          <a:xfrm>
            <a:off x="9296400" y="182880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cxnSp>
        <p:nvCxnSpPr>
          <p:cNvPr id="27" name="Connector 26"/>
          <p:cNvCxnSpPr/>
          <p:nvPr/>
        </p:nvCxnSpPr>
        <p:spPr>
          <a:xfrm>
            <a:off x="3032760" y="2575560"/>
            <a:ext cx="396240" cy="0"/>
          </a:xfrm>
          <a:prstGeom prst="line">
            <a:avLst/>
          </a:prstGeom>
          <a:ln w="15240">
            <a:solidFill>
              <a:srgbClr val="7458A2"/>
            </a:solidFill>
            <a:prstDash val="dash"/>
          </a:ln>
          <a:effectLst/>
        </p:spPr>
      </p:cxnSp>
      <p:cxnSp>
        <p:nvCxnSpPr>
          <p:cNvPr id="28" name="Connector 27"/>
          <p:cNvCxnSpPr/>
          <p:nvPr/>
        </p:nvCxnSpPr>
        <p:spPr>
          <a:xfrm>
            <a:off x="3429000" y="2575560"/>
            <a:ext cx="0" cy="1310640"/>
          </a:xfrm>
          <a:prstGeom prst="line">
            <a:avLst/>
          </a:prstGeom>
          <a:ln w="15240">
            <a:solidFill>
              <a:srgbClr val="7458A2"/>
            </a:solidFill>
            <a:prstDash val="dash"/>
          </a:ln>
          <a:effectLst/>
        </p:spPr>
      </p:cxnSp>
      <p:cxnSp>
        <p:nvCxnSpPr>
          <p:cNvPr id="29" name="Connector 28"/>
          <p:cNvCxnSpPr/>
          <p:nvPr/>
        </p:nvCxnSpPr>
        <p:spPr>
          <a:xfrm>
            <a:off x="3429000" y="3886200"/>
            <a:ext cx="502919" cy="0"/>
          </a:xfrm>
          <a:prstGeom prst="line">
            <a:avLst/>
          </a:prstGeom>
          <a:ln w="15240">
            <a:solidFill>
              <a:srgbClr val="7458A2"/>
            </a:solidFill>
            <a:prstDash val="dash"/>
          </a:ln>
          <a:effectLst/>
        </p:spPr>
      </p:cxnSp>
      <p:sp>
        <p:nvSpPr>
          <p:cNvPr id="30" name="Freeform 29"/>
          <p:cNvSpPr/>
          <p:nvPr/>
        </p:nvSpPr>
        <p:spPr>
          <a:xfrm>
            <a:off x="3832860" y="38481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cxnSp>
        <p:nvCxnSpPr>
          <p:cNvPr id="31" name="Connector 30"/>
          <p:cNvCxnSpPr/>
          <p:nvPr/>
        </p:nvCxnSpPr>
        <p:spPr>
          <a:xfrm>
            <a:off x="3032760" y="2705100"/>
            <a:ext cx="198119" cy="0"/>
          </a:xfrm>
          <a:prstGeom prst="line">
            <a:avLst/>
          </a:prstGeom>
          <a:ln w="15240">
            <a:solidFill>
              <a:srgbClr val="7458A2"/>
            </a:solidFill>
            <a:prstDash val="dash"/>
          </a:ln>
          <a:effectLst/>
        </p:spPr>
      </p:cxnSp>
      <p:cxnSp>
        <p:nvCxnSpPr>
          <p:cNvPr id="32" name="Connector 31"/>
          <p:cNvCxnSpPr/>
          <p:nvPr/>
        </p:nvCxnSpPr>
        <p:spPr>
          <a:xfrm>
            <a:off x="3230879" y="2705100"/>
            <a:ext cx="0" cy="449579"/>
          </a:xfrm>
          <a:prstGeom prst="line">
            <a:avLst/>
          </a:prstGeom>
          <a:ln w="15240">
            <a:solidFill>
              <a:srgbClr val="7458A2"/>
            </a:solidFill>
            <a:prstDash val="dash"/>
          </a:ln>
          <a:effectLst/>
        </p:spPr>
      </p:cxnSp>
      <p:cxnSp>
        <p:nvCxnSpPr>
          <p:cNvPr id="33" name="Connector 32"/>
          <p:cNvCxnSpPr/>
          <p:nvPr/>
        </p:nvCxnSpPr>
        <p:spPr>
          <a:xfrm>
            <a:off x="3230879" y="3154679"/>
            <a:ext cx="6103621" cy="0"/>
          </a:xfrm>
          <a:prstGeom prst="line">
            <a:avLst/>
          </a:prstGeom>
          <a:ln w="15240">
            <a:solidFill>
              <a:srgbClr val="7458A2"/>
            </a:solidFill>
            <a:prstDash val="dash"/>
          </a:ln>
          <a:effectLst/>
        </p:spPr>
      </p:cxnSp>
      <p:cxnSp>
        <p:nvCxnSpPr>
          <p:cNvPr id="34" name="Connector 33"/>
          <p:cNvCxnSpPr/>
          <p:nvPr/>
        </p:nvCxnSpPr>
        <p:spPr>
          <a:xfrm>
            <a:off x="9334500" y="3154679"/>
            <a:ext cx="0" cy="335281"/>
          </a:xfrm>
          <a:prstGeom prst="line">
            <a:avLst/>
          </a:prstGeom>
          <a:ln w="15240">
            <a:solidFill>
              <a:srgbClr val="7458A2"/>
            </a:solidFill>
            <a:prstDash val="dash"/>
          </a:ln>
          <a:effectLst/>
        </p:spPr>
      </p:cxnSp>
      <p:sp>
        <p:nvSpPr>
          <p:cNvPr id="35" name="Freeform 34"/>
          <p:cNvSpPr/>
          <p:nvPr/>
        </p:nvSpPr>
        <p:spPr>
          <a:xfrm>
            <a:off x="9296400" y="339090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sp>
        <p:nvSpPr>
          <p:cNvPr id="36" name="TextBox 35"/>
          <p:cNvSpPr txBox="1"/>
          <p:nvPr/>
        </p:nvSpPr>
        <p:spPr>
          <a:xfrm>
            <a:off x="4000500" y="2933700"/>
            <a:ext cx="4953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7458A2"/>
                </a:solidFill>
                <a:latin typeface="DejaVu Sans"/>
              </a:rPr>
              <a:t>Calls carry snapshots, evidence and bounded feedback</a:t>
            </a:r>
          </a:p>
        </p:txBody>
      </p:sp>
      <p:sp>
        <p:nvSpPr>
          <p:cNvPr id="37" name="Rounded Rectangle 36"/>
          <p:cNvSpPr/>
          <p:nvPr/>
        </p:nvSpPr>
        <p:spPr>
          <a:xfrm>
            <a:off x="548640" y="3489960"/>
            <a:ext cx="2484120"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38" name="TextBox 37"/>
          <p:cNvSpPr txBox="1"/>
          <p:nvPr/>
        </p:nvSpPr>
        <p:spPr>
          <a:xfrm>
            <a:off x="716280" y="3657600"/>
            <a:ext cx="21488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7458A2"/>
                </a:solidFill>
                <a:latin typeface="DejaVu Sans"/>
              </a:rPr>
              <a:t>Episodic memory</a:t>
            </a:r>
          </a:p>
        </p:txBody>
      </p:sp>
      <p:sp>
        <p:nvSpPr>
          <p:cNvPr id="39" name="TextBox 38"/>
          <p:cNvSpPr txBox="1"/>
          <p:nvPr/>
        </p:nvSpPr>
        <p:spPr>
          <a:xfrm>
            <a:off x="716280" y="3948379"/>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appendEvent · readEpisode</a:t>
            </a:r>
          </a:p>
        </p:txBody>
      </p:sp>
      <p:sp>
        <p:nvSpPr>
          <p:cNvPr id="40" name="TextBox 39"/>
          <p:cNvSpPr txBox="1"/>
          <p:nvPr/>
        </p:nvSpPr>
        <p:spPr>
          <a:xfrm>
            <a:off x="3200400" y="4533900"/>
            <a:ext cx="84429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Episodes emit evidence; the orchestrator submits it to revision.</a:t>
            </a:r>
          </a:p>
        </p:txBody>
      </p:sp>
      <p:sp>
        <p:nvSpPr>
          <p:cNvPr id="41" name="Rounded Rectangle 40"/>
          <p:cNvSpPr/>
          <p:nvPr/>
        </p:nvSpPr>
        <p:spPr>
          <a:xfrm>
            <a:off x="548640" y="5181600"/>
            <a:ext cx="2484120" cy="609600"/>
          </a:xfrm>
          <a:prstGeom prst="roundRect">
            <a:avLst>
              <a:gd name="adj" fmla="val 16250"/>
            </a:avLst>
          </a:prstGeom>
          <a:solidFill>
            <a:srgbClr val="FFFFFF"/>
          </a:solidFill>
          <a:ln w="7620">
            <a:solidFill>
              <a:srgbClr val="7458A2"/>
            </a:solidFill>
            <a:prstDash val="dash"/>
          </a:ln>
          <a:effectLst/>
        </p:spPr>
        <p:txBody>
          <a:bodyPr rtlCol="0" anchor="ctr"/>
          <a:lstStyle/>
          <a:p>
            <a:pPr algn="ctr"/>
          </a:p>
        </p:txBody>
      </p:sp>
      <p:sp>
        <p:nvSpPr>
          <p:cNvPr id="42" name="TextBox 41"/>
          <p:cNvSpPr txBox="1"/>
          <p:nvPr/>
        </p:nvSpPr>
        <p:spPr>
          <a:xfrm>
            <a:off x="716280" y="5349240"/>
            <a:ext cx="21488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7458A2"/>
                </a:solidFill>
                <a:latin typeface="DejaVu Sans"/>
              </a:rPr>
              <a:t>Relations</a:t>
            </a:r>
          </a:p>
        </p:txBody>
      </p:sp>
      <p:sp>
        <p:nvSpPr>
          <p:cNvPr id="43" name="Rounded Rectangle 42"/>
          <p:cNvSpPr/>
          <p:nvPr/>
        </p:nvSpPr>
        <p:spPr>
          <a:xfrm>
            <a:off x="3931919" y="5181600"/>
            <a:ext cx="3307079" cy="609600"/>
          </a:xfrm>
          <a:prstGeom prst="roundRect">
            <a:avLst>
              <a:gd name="adj" fmla="val 16250"/>
            </a:avLst>
          </a:prstGeom>
          <a:solidFill>
            <a:srgbClr val="FFFFFF"/>
          </a:solidFill>
          <a:ln w="7620">
            <a:solidFill>
              <a:srgbClr val="315E9C"/>
            </a:solidFill>
          </a:ln>
          <a:effectLst/>
        </p:spPr>
        <p:txBody>
          <a:bodyPr rtlCol="0" anchor="ctr"/>
          <a:lstStyle/>
          <a:p>
            <a:pPr algn="ctr"/>
          </a:p>
        </p:txBody>
      </p:sp>
      <p:sp>
        <p:nvSpPr>
          <p:cNvPr id="44" name="TextBox 43"/>
          <p:cNvSpPr txBox="1"/>
          <p:nvPr/>
        </p:nvSpPr>
        <p:spPr>
          <a:xfrm>
            <a:off x="4099560" y="5349240"/>
            <a:ext cx="2971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AtomStorage</a:t>
            </a:r>
          </a:p>
        </p:txBody>
      </p:sp>
      <p:sp>
        <p:nvSpPr>
          <p:cNvPr id="45" name="Rounded Rectangle 44"/>
          <p:cNvSpPr/>
          <p:nvPr/>
        </p:nvSpPr>
        <p:spPr>
          <a:xfrm>
            <a:off x="7680959" y="5181600"/>
            <a:ext cx="3307079" cy="609600"/>
          </a:xfrm>
          <a:prstGeom prst="roundRect">
            <a:avLst>
              <a:gd name="adj" fmla="val 16250"/>
            </a:avLst>
          </a:prstGeom>
          <a:solidFill>
            <a:srgbClr val="FFFFFF"/>
          </a:solidFill>
          <a:ln w="7620">
            <a:solidFill>
              <a:srgbClr val="007C78"/>
            </a:solidFill>
          </a:ln>
          <a:effectLst/>
        </p:spPr>
        <p:txBody>
          <a:bodyPr rtlCol="0" anchor="ctr"/>
          <a:lstStyle/>
          <a:p>
            <a:pPr algn="ctr"/>
          </a:p>
        </p:txBody>
      </p:sp>
      <p:sp>
        <p:nvSpPr>
          <p:cNvPr id="46" name="TextBox 45"/>
          <p:cNvSpPr txBox="1"/>
          <p:nvPr/>
        </p:nvSpPr>
        <p:spPr>
          <a:xfrm>
            <a:off x="7848600" y="5349240"/>
            <a:ext cx="2971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cxnSp>
        <p:nvCxnSpPr>
          <p:cNvPr id="47" name="Connector 46"/>
          <p:cNvCxnSpPr/>
          <p:nvPr/>
        </p:nvCxnSpPr>
        <p:spPr>
          <a:xfrm>
            <a:off x="3032760" y="5486400"/>
            <a:ext cx="899159" cy="0"/>
          </a:xfrm>
          <a:prstGeom prst="line">
            <a:avLst/>
          </a:prstGeom>
          <a:ln w="15240">
            <a:solidFill>
              <a:srgbClr val="7458A2"/>
            </a:solidFill>
            <a:prstDash val="dash"/>
          </a:ln>
          <a:effectLst/>
        </p:spPr>
      </p:cxnSp>
      <p:sp>
        <p:nvSpPr>
          <p:cNvPr id="48" name="Freeform 47"/>
          <p:cNvSpPr/>
          <p:nvPr/>
        </p:nvSpPr>
        <p:spPr>
          <a:xfrm>
            <a:off x="3832860" y="54483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sp>
        <p:nvSpPr>
          <p:cNvPr id="49" name="TextBox 48"/>
          <p:cNvSpPr txBox="1"/>
          <p:nvPr/>
        </p:nvSpPr>
        <p:spPr>
          <a:xfrm>
            <a:off x="3154679" y="5189220"/>
            <a:ext cx="74676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7458A2"/>
                </a:solidFill>
                <a:latin typeface="DejaVu Sans"/>
              </a:rPr>
              <a:t>create</a:t>
            </a:r>
          </a:p>
        </p:txBody>
      </p:sp>
      <p:cxnSp>
        <p:nvCxnSpPr>
          <p:cNvPr id="50" name="Connector 49"/>
          <p:cNvCxnSpPr/>
          <p:nvPr/>
        </p:nvCxnSpPr>
        <p:spPr>
          <a:xfrm>
            <a:off x="7239000" y="5486400"/>
            <a:ext cx="441959" cy="0"/>
          </a:xfrm>
          <a:prstGeom prst="line">
            <a:avLst/>
          </a:prstGeom>
          <a:ln w="15240">
            <a:solidFill>
              <a:srgbClr val="007C78"/>
            </a:solidFill>
          </a:ln>
          <a:effectLst/>
        </p:spPr>
      </p:cxnSp>
      <p:sp>
        <p:nvSpPr>
          <p:cNvPr id="51" name="Freeform 50"/>
          <p:cNvSpPr/>
          <p:nvPr/>
        </p:nvSpPr>
        <p:spPr>
          <a:xfrm>
            <a:off x="7581900" y="54483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52" name="TextBox 51"/>
          <p:cNvSpPr txBox="1"/>
          <p:nvPr/>
        </p:nvSpPr>
        <p:spPr>
          <a:xfrm>
            <a:off x="7330439" y="518922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007C78"/>
                </a:solidFill>
                <a:latin typeface="DejaVu Sans"/>
              </a:rPr>
              <a:t>put/get</a:t>
            </a:r>
          </a:p>
        </p:txBody>
      </p:sp>
      <p:cxnSp>
        <p:nvCxnSpPr>
          <p:cNvPr id="53" name="Connector 52"/>
          <p:cNvCxnSpPr/>
          <p:nvPr/>
        </p:nvCxnSpPr>
        <p:spPr>
          <a:xfrm>
            <a:off x="1790700" y="4335780"/>
            <a:ext cx="0" cy="609600"/>
          </a:xfrm>
          <a:prstGeom prst="line">
            <a:avLst/>
          </a:prstGeom>
          <a:ln w="15240">
            <a:solidFill>
              <a:srgbClr val="7458A2"/>
            </a:solidFill>
            <a:prstDash val="dash"/>
          </a:ln>
          <a:effectLst/>
        </p:spPr>
      </p:cxnSp>
      <p:cxnSp>
        <p:nvCxnSpPr>
          <p:cNvPr id="54" name="Connector 53"/>
          <p:cNvCxnSpPr/>
          <p:nvPr/>
        </p:nvCxnSpPr>
        <p:spPr>
          <a:xfrm>
            <a:off x="1790700" y="4945380"/>
            <a:ext cx="3162300" cy="0"/>
          </a:xfrm>
          <a:prstGeom prst="line">
            <a:avLst/>
          </a:prstGeom>
          <a:ln w="15240">
            <a:solidFill>
              <a:srgbClr val="7458A2"/>
            </a:solidFill>
            <a:prstDash val="dash"/>
          </a:ln>
          <a:effectLst/>
        </p:spPr>
      </p:cxnSp>
      <p:cxnSp>
        <p:nvCxnSpPr>
          <p:cNvPr id="55" name="Connector 54"/>
          <p:cNvCxnSpPr/>
          <p:nvPr/>
        </p:nvCxnSpPr>
        <p:spPr>
          <a:xfrm>
            <a:off x="4953000" y="4945380"/>
            <a:ext cx="0" cy="236220"/>
          </a:xfrm>
          <a:prstGeom prst="line">
            <a:avLst/>
          </a:prstGeom>
          <a:ln w="15240">
            <a:solidFill>
              <a:srgbClr val="7458A2"/>
            </a:solidFill>
            <a:prstDash val="dash"/>
          </a:ln>
          <a:effectLst/>
        </p:spPr>
      </p:cxnSp>
      <p:sp>
        <p:nvSpPr>
          <p:cNvPr id="56" name="Freeform 55"/>
          <p:cNvSpPr/>
          <p:nvPr/>
        </p:nvSpPr>
        <p:spPr>
          <a:xfrm>
            <a:off x="4914900" y="508254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sp>
        <p:nvSpPr>
          <p:cNvPr id="57" name="TextBox 56"/>
          <p:cNvSpPr txBox="1"/>
          <p:nvPr/>
        </p:nvSpPr>
        <p:spPr>
          <a:xfrm>
            <a:off x="5539740" y="4869180"/>
            <a:ext cx="52959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Search reads records/events; revision reads evidence snapshots.</a:t>
            </a:r>
          </a:p>
        </p:txBody>
      </p:sp>
      <p:cxnSp>
        <p:nvCxnSpPr>
          <p:cNvPr id="58" name="Connector 57"/>
          <p:cNvCxnSpPr/>
          <p:nvPr/>
        </p:nvCxnSpPr>
        <p:spPr>
          <a:xfrm>
            <a:off x="548640" y="6393180"/>
            <a:ext cx="11094720" cy="0"/>
          </a:xfrm>
          <a:prstGeom prst="line">
            <a:avLst/>
          </a:prstGeom>
          <a:ln w="7620">
            <a:solidFill>
              <a:srgbClr val="C9D2D4"/>
            </a:solidFill>
          </a:ln>
          <a:effectLst/>
        </p:spPr>
      </p:cxnSp>
      <p:sp>
        <p:nvSpPr>
          <p:cNvPr id="59" name="TextBox 58"/>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ports.py + contracts.md</a:t>
            </a:r>
          </a:p>
        </p:txBody>
      </p:sp>
      <p:sp>
        <p:nvSpPr>
          <p:cNvPr id="60" name="TextBox 5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RUNTIME CONTROL</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Function dependencies: admission, work and delivery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Resolve once per configured capability; authorize every invocation.</a:t>
            </a:r>
          </a:p>
        </p:txBody>
      </p:sp>
      <p:sp>
        <p:nvSpPr>
          <p:cNvPr id="5" name="Rounded Rectangle 4"/>
          <p:cNvSpPr/>
          <p:nvPr/>
        </p:nvSpPr>
        <p:spPr>
          <a:xfrm>
            <a:off x="548640" y="1935480"/>
            <a:ext cx="20574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03120"/>
            <a:ext cx="1722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Client + setup</a:t>
            </a:r>
          </a:p>
        </p:txBody>
      </p:sp>
      <p:sp>
        <p:nvSpPr>
          <p:cNvPr id="7" name="TextBox 6"/>
          <p:cNvSpPr txBox="1"/>
          <p:nvPr/>
        </p:nvSpPr>
        <p:spPr>
          <a:xfrm>
            <a:off x="716280" y="2393899"/>
            <a:ext cx="17221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store · share ·</a:t>
            </a:r>
          </a:p>
        </p:txBody>
      </p:sp>
      <p:sp>
        <p:nvSpPr>
          <p:cNvPr id="8" name="TextBox 7"/>
          <p:cNvSpPr txBox="1"/>
          <p:nvPr/>
        </p:nvSpPr>
        <p:spPr>
          <a:xfrm>
            <a:off x="716280" y="2588971"/>
            <a:ext cx="17221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delegate</a:t>
            </a:r>
          </a:p>
        </p:txBody>
      </p:sp>
      <p:sp>
        <p:nvSpPr>
          <p:cNvPr id="9" name="Rounded Rectangle 8"/>
          <p:cNvSpPr/>
          <p:nvPr/>
        </p:nvSpPr>
        <p:spPr>
          <a:xfrm>
            <a:off x="3528060" y="1935480"/>
            <a:ext cx="24384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10" name="TextBox 9"/>
          <p:cNvSpPr txBox="1"/>
          <p:nvPr/>
        </p:nvSpPr>
        <p:spPr>
          <a:xfrm>
            <a:off x="3695700" y="2103120"/>
            <a:ext cx="2103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Resolver</a:t>
            </a:r>
          </a:p>
        </p:txBody>
      </p:sp>
      <p:sp>
        <p:nvSpPr>
          <p:cNvPr id="11" name="TextBox 10"/>
          <p:cNvSpPr txBox="1"/>
          <p:nvPr/>
        </p:nvSpPr>
        <p:spPr>
          <a:xfrm>
            <a:off x="3695700" y="2452420"/>
            <a:ext cx="2103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resolve(requirement)</a:t>
            </a:r>
          </a:p>
        </p:txBody>
      </p:sp>
      <p:sp>
        <p:nvSpPr>
          <p:cNvPr id="12" name="Rounded Rectangle 11"/>
          <p:cNvSpPr/>
          <p:nvPr/>
        </p:nvSpPr>
        <p:spPr>
          <a:xfrm>
            <a:off x="6896100" y="1935480"/>
            <a:ext cx="24384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7063739" y="2103120"/>
            <a:ext cx="2103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a:t>
            </a:r>
          </a:p>
        </p:txBody>
      </p:sp>
      <p:sp>
        <p:nvSpPr>
          <p:cNvPr id="14" name="TextBox 13"/>
          <p:cNvSpPr txBox="1"/>
          <p:nvPr/>
        </p:nvSpPr>
        <p:spPr>
          <a:xfrm>
            <a:off x="7063739" y="2452420"/>
            <a:ext cx="2103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descriptors(binding)</a:t>
            </a:r>
          </a:p>
        </p:txBody>
      </p:sp>
      <p:cxnSp>
        <p:nvCxnSpPr>
          <p:cNvPr id="15" name="Connector 14"/>
          <p:cNvCxnSpPr/>
          <p:nvPr/>
        </p:nvCxnSpPr>
        <p:spPr>
          <a:xfrm>
            <a:off x="2606040" y="2377440"/>
            <a:ext cx="922020" cy="0"/>
          </a:xfrm>
          <a:prstGeom prst="line">
            <a:avLst/>
          </a:prstGeom>
          <a:ln w="15240">
            <a:solidFill>
              <a:srgbClr val="536775"/>
            </a:solidFill>
          </a:ln>
          <a:effectLst/>
        </p:spPr>
      </p:cxnSp>
      <p:sp>
        <p:nvSpPr>
          <p:cNvPr id="16" name="Freeform 15"/>
          <p:cNvSpPr/>
          <p:nvPr/>
        </p:nvSpPr>
        <p:spPr>
          <a:xfrm>
            <a:off x="3429000" y="23393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cxnSp>
        <p:nvCxnSpPr>
          <p:cNvPr id="17" name="Connector 16"/>
          <p:cNvCxnSpPr/>
          <p:nvPr/>
        </p:nvCxnSpPr>
        <p:spPr>
          <a:xfrm flipH="1">
            <a:off x="5966459" y="2377440"/>
            <a:ext cx="929641" cy="0"/>
          </a:xfrm>
          <a:prstGeom prst="line">
            <a:avLst/>
          </a:prstGeom>
          <a:ln w="15240">
            <a:solidFill>
              <a:srgbClr val="536775"/>
            </a:solidFill>
            <a:prstDash val="dash"/>
          </a:ln>
          <a:effectLst/>
        </p:spPr>
      </p:cxnSp>
      <p:sp>
        <p:nvSpPr>
          <p:cNvPr id="18" name="Freeform 17"/>
          <p:cNvSpPr/>
          <p:nvPr/>
        </p:nvSpPr>
        <p:spPr>
          <a:xfrm>
            <a:off x="5966460" y="2339340"/>
            <a:ext cx="99060" cy="76200"/>
          </a:xfrm>
          <a:custGeom>
            <a:avLst/>
            <a:gdLst/>
            <a:ahLst/>
            <a:cxnLst/>
            <a:rect l="l" t="t" r="r" b="b"/>
            <a:pathLst>
              <a:path w="13" h="10">
                <a:moveTo>
                  <a:pt x="0" y="5"/>
                </a:moveTo>
                <a:lnTo>
                  <a:pt x="13" y="10"/>
                </a:lnTo>
                <a:lnTo>
                  <a:pt x="13" y="0"/>
                </a:lnTo>
                <a:close/>
              </a:path>
            </a:pathLst>
          </a:custGeom>
          <a:solidFill>
            <a:srgbClr val="536775"/>
          </a:solidFill>
          <a:ln>
            <a:noFill/>
          </a:ln>
          <a:effectLst/>
        </p:spPr>
        <p:txBody>
          <a:bodyPr rtlCol="0" anchor="ctr"/>
          <a:lstStyle/>
          <a:p>
            <a:pPr algn="ctr"/>
          </a:p>
        </p:txBody>
      </p:sp>
      <p:sp>
        <p:nvSpPr>
          <p:cNvPr id="19" name="TextBox 18"/>
          <p:cNvSpPr txBox="1"/>
          <p:nvPr/>
        </p:nvSpPr>
        <p:spPr>
          <a:xfrm>
            <a:off x="6057900" y="2103120"/>
            <a:ext cx="838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offers</a:t>
            </a:r>
          </a:p>
        </p:txBody>
      </p:sp>
      <p:sp>
        <p:nvSpPr>
          <p:cNvPr id="20" name="Rounded Rectangle 19"/>
          <p:cNvSpPr/>
          <p:nvPr/>
        </p:nvSpPr>
        <p:spPr>
          <a:xfrm>
            <a:off x="548640" y="3642360"/>
            <a:ext cx="2057400" cy="952500"/>
          </a:xfrm>
          <a:prstGeom prst="roundRect">
            <a:avLst>
              <a:gd name="adj" fmla="val 10400"/>
            </a:avLst>
          </a:prstGeom>
          <a:solidFill>
            <a:srgbClr val="E4EBF5"/>
          </a:solidFill>
          <a:ln w="7620">
            <a:solidFill>
              <a:srgbClr val="315E9C"/>
            </a:solidFill>
          </a:ln>
          <a:effectLst/>
        </p:spPr>
        <p:txBody>
          <a:bodyPr rtlCol="0" anchor="ctr"/>
          <a:lstStyle/>
          <a:p>
            <a:pPr algn="ctr"/>
          </a:p>
        </p:txBody>
      </p:sp>
      <p:sp>
        <p:nvSpPr>
          <p:cNvPr id="21" name="TextBox 20"/>
          <p:cNvSpPr txBox="1"/>
          <p:nvPr/>
        </p:nvSpPr>
        <p:spPr>
          <a:xfrm>
            <a:off x="716280" y="3810000"/>
            <a:ext cx="1722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Authorization</a:t>
            </a:r>
          </a:p>
        </p:txBody>
      </p:sp>
      <p:sp>
        <p:nvSpPr>
          <p:cNvPr id="22" name="TextBox 21"/>
          <p:cNvSpPr txBox="1"/>
          <p:nvPr/>
        </p:nvSpPr>
        <p:spPr>
          <a:xfrm>
            <a:off x="716280" y="4120286"/>
            <a:ext cx="17221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caller · scope ·</a:t>
            </a:r>
          </a:p>
        </p:txBody>
      </p:sp>
      <p:sp>
        <p:nvSpPr>
          <p:cNvPr id="23" name="TextBox 22"/>
          <p:cNvSpPr txBox="1"/>
          <p:nvPr/>
        </p:nvSpPr>
        <p:spPr>
          <a:xfrm>
            <a:off x="716280" y="4325112"/>
            <a:ext cx="17221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operation</a:t>
            </a:r>
          </a:p>
        </p:txBody>
      </p:sp>
      <p:cxnSp>
        <p:nvCxnSpPr>
          <p:cNvPr id="24" name="Connector 23"/>
          <p:cNvCxnSpPr/>
          <p:nvPr/>
        </p:nvCxnSpPr>
        <p:spPr>
          <a:xfrm>
            <a:off x="1577339" y="2849880"/>
            <a:ext cx="0" cy="792480"/>
          </a:xfrm>
          <a:prstGeom prst="line">
            <a:avLst/>
          </a:prstGeom>
          <a:ln w="15240">
            <a:solidFill>
              <a:srgbClr val="315E9C"/>
            </a:solidFill>
          </a:ln>
          <a:effectLst/>
        </p:spPr>
      </p:cxnSp>
      <p:sp>
        <p:nvSpPr>
          <p:cNvPr id="25" name="Freeform 24"/>
          <p:cNvSpPr/>
          <p:nvPr/>
        </p:nvSpPr>
        <p:spPr>
          <a:xfrm>
            <a:off x="1539240" y="354330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TextBox 25"/>
          <p:cNvSpPr txBox="1"/>
          <p:nvPr/>
        </p:nvSpPr>
        <p:spPr>
          <a:xfrm>
            <a:off x="1714500" y="3116579"/>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binding → validated dispatch</a:t>
            </a:r>
          </a:p>
        </p:txBody>
      </p:sp>
      <p:sp>
        <p:nvSpPr>
          <p:cNvPr id="27" name="Rounded Rectangle 26"/>
          <p:cNvSpPr/>
          <p:nvPr/>
        </p:nvSpPr>
        <p:spPr>
          <a:xfrm>
            <a:off x="3528060" y="3642360"/>
            <a:ext cx="2438400" cy="952500"/>
          </a:xfrm>
          <a:prstGeom prst="roundRect">
            <a:avLst>
              <a:gd name="adj" fmla="val 10400"/>
            </a:avLst>
          </a:prstGeom>
          <a:solidFill>
            <a:srgbClr val="FFFFFF"/>
          </a:solidFill>
          <a:ln w="7620">
            <a:solidFill>
              <a:srgbClr val="315E9C"/>
            </a:solidFill>
          </a:ln>
          <a:effectLst/>
        </p:spPr>
        <p:txBody>
          <a:bodyPr rtlCol="0" anchor="ctr"/>
          <a:lstStyle/>
          <a:p>
            <a:pPr algn="ctr"/>
          </a:p>
        </p:txBody>
      </p:sp>
      <p:sp>
        <p:nvSpPr>
          <p:cNvPr id="28" name="TextBox 27"/>
          <p:cNvSpPr txBox="1"/>
          <p:nvPr/>
        </p:nvSpPr>
        <p:spPr>
          <a:xfrm>
            <a:off x="3695700" y="3810000"/>
            <a:ext cx="2103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Execution</a:t>
            </a:r>
          </a:p>
        </p:txBody>
      </p:sp>
      <p:sp>
        <p:nvSpPr>
          <p:cNvPr id="29" name="TextBox 28"/>
          <p:cNvSpPr txBox="1"/>
          <p:nvPr/>
        </p:nvSpPr>
        <p:spPr>
          <a:xfrm>
            <a:off x="3695700" y="4159300"/>
            <a:ext cx="2103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30" name="Rounded Rectangle 29"/>
          <p:cNvSpPr/>
          <p:nvPr/>
        </p:nvSpPr>
        <p:spPr>
          <a:xfrm>
            <a:off x="6896100" y="3642360"/>
            <a:ext cx="2438400" cy="952500"/>
          </a:xfrm>
          <a:prstGeom prst="roundRect">
            <a:avLst>
              <a:gd name="adj" fmla="val 10400"/>
            </a:avLst>
          </a:prstGeom>
          <a:solidFill>
            <a:srgbClr val="FFFFFF"/>
          </a:solidFill>
          <a:ln w="7620">
            <a:solidFill>
              <a:srgbClr val="315E9C"/>
            </a:solidFill>
          </a:ln>
          <a:effectLst/>
        </p:spPr>
        <p:txBody>
          <a:bodyPr rtlCol="0" anchor="ctr"/>
          <a:lstStyle/>
          <a:p>
            <a:pPr algn="ctr"/>
          </a:p>
        </p:txBody>
      </p:sp>
      <p:sp>
        <p:nvSpPr>
          <p:cNvPr id="31" name="TextBox 30"/>
          <p:cNvSpPr txBox="1"/>
          <p:nvPr/>
        </p:nvSpPr>
        <p:spPr>
          <a:xfrm>
            <a:off x="7063739" y="3810000"/>
            <a:ext cx="2103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AtomStorage</a:t>
            </a:r>
          </a:p>
        </p:txBody>
      </p:sp>
      <p:sp>
        <p:nvSpPr>
          <p:cNvPr id="32" name="TextBox 31"/>
          <p:cNvSpPr txBox="1"/>
          <p:nvPr/>
        </p:nvSpPr>
        <p:spPr>
          <a:xfrm>
            <a:off x="7063739" y="4159300"/>
            <a:ext cx="21031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get(input) · create(result)</a:t>
            </a:r>
          </a:p>
        </p:txBody>
      </p:sp>
      <p:cxnSp>
        <p:nvCxnSpPr>
          <p:cNvPr id="33" name="Connector 32"/>
          <p:cNvCxnSpPr/>
          <p:nvPr/>
        </p:nvCxnSpPr>
        <p:spPr>
          <a:xfrm>
            <a:off x="2606040" y="4122419"/>
            <a:ext cx="922020" cy="0"/>
          </a:xfrm>
          <a:prstGeom prst="line">
            <a:avLst/>
          </a:prstGeom>
          <a:ln w="15240">
            <a:solidFill>
              <a:srgbClr val="315E9C"/>
            </a:solidFill>
          </a:ln>
          <a:effectLst/>
        </p:spPr>
      </p:cxnSp>
      <p:sp>
        <p:nvSpPr>
          <p:cNvPr id="34" name="Freeform 33"/>
          <p:cNvSpPr/>
          <p:nvPr/>
        </p:nvSpPr>
        <p:spPr>
          <a:xfrm>
            <a:off x="3429000" y="40843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5" name="Connector 34"/>
          <p:cNvCxnSpPr/>
          <p:nvPr/>
        </p:nvCxnSpPr>
        <p:spPr>
          <a:xfrm>
            <a:off x="5966459" y="4122419"/>
            <a:ext cx="929641" cy="0"/>
          </a:xfrm>
          <a:prstGeom prst="line">
            <a:avLst/>
          </a:prstGeom>
          <a:ln w="15240">
            <a:solidFill>
              <a:srgbClr val="315E9C"/>
            </a:solidFill>
          </a:ln>
          <a:effectLst/>
        </p:spPr>
      </p:cxnSp>
      <p:sp>
        <p:nvSpPr>
          <p:cNvPr id="36" name="Freeform 35"/>
          <p:cNvSpPr/>
          <p:nvPr/>
        </p:nvSpPr>
        <p:spPr>
          <a:xfrm>
            <a:off x="6797040" y="40843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7" name="Rounded Rectangle 36"/>
          <p:cNvSpPr/>
          <p:nvPr/>
        </p:nvSpPr>
        <p:spPr>
          <a:xfrm>
            <a:off x="3528060" y="5250180"/>
            <a:ext cx="2438400" cy="716280"/>
          </a:xfrm>
          <a:prstGeom prst="roundRect">
            <a:avLst>
              <a:gd name="adj" fmla="val 13829"/>
            </a:avLst>
          </a:prstGeom>
          <a:solidFill>
            <a:srgbClr val="FFFFFF"/>
          </a:solidFill>
          <a:ln w="7620">
            <a:solidFill>
              <a:srgbClr val="315E9C"/>
            </a:solidFill>
          </a:ln>
          <a:effectLst/>
        </p:spPr>
        <p:txBody>
          <a:bodyPr rtlCol="0" anchor="ctr"/>
          <a:lstStyle/>
          <a:p>
            <a:pPr algn="ctr"/>
          </a:p>
        </p:txBody>
      </p:sp>
      <p:sp>
        <p:nvSpPr>
          <p:cNvPr id="38" name="TextBox 37"/>
          <p:cNvSpPr txBox="1"/>
          <p:nvPr/>
        </p:nvSpPr>
        <p:spPr>
          <a:xfrm>
            <a:off x="3695700" y="5417820"/>
            <a:ext cx="2103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Messaging</a:t>
            </a:r>
          </a:p>
        </p:txBody>
      </p:sp>
      <p:sp>
        <p:nvSpPr>
          <p:cNvPr id="39" name="TextBox 38"/>
          <p:cNvSpPr txBox="1"/>
          <p:nvPr/>
        </p:nvSpPr>
        <p:spPr>
          <a:xfrm>
            <a:off x="3695700" y="5708599"/>
            <a:ext cx="21031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send → poll → ack</a:t>
            </a:r>
          </a:p>
        </p:txBody>
      </p:sp>
      <p:cxnSp>
        <p:nvCxnSpPr>
          <p:cNvPr id="40" name="Connector 39"/>
          <p:cNvCxnSpPr/>
          <p:nvPr/>
        </p:nvCxnSpPr>
        <p:spPr>
          <a:xfrm>
            <a:off x="4747260" y="4594860"/>
            <a:ext cx="0" cy="655320"/>
          </a:xfrm>
          <a:prstGeom prst="line">
            <a:avLst/>
          </a:prstGeom>
          <a:ln w="15240">
            <a:solidFill>
              <a:srgbClr val="315E9C"/>
            </a:solidFill>
          </a:ln>
          <a:effectLst/>
        </p:spPr>
      </p:cxnSp>
      <p:sp>
        <p:nvSpPr>
          <p:cNvPr id="41" name="Freeform 40"/>
          <p:cNvSpPr/>
          <p:nvPr/>
        </p:nvSpPr>
        <p:spPr>
          <a:xfrm>
            <a:off x="4709160" y="515112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2" name="TextBox 41"/>
          <p:cNvSpPr txBox="1"/>
          <p:nvPr/>
        </p:nvSpPr>
        <p:spPr>
          <a:xfrm>
            <a:off x="4930140" y="4808220"/>
            <a:ext cx="2057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durable outbox → inbox</a:t>
            </a:r>
          </a:p>
        </p:txBody>
      </p:sp>
      <p:sp>
        <p:nvSpPr>
          <p:cNvPr id="43" name="Rounded Rectangle 42"/>
          <p:cNvSpPr/>
          <p:nvPr/>
        </p:nvSpPr>
        <p:spPr>
          <a:xfrm>
            <a:off x="9685020" y="3642360"/>
            <a:ext cx="1958339" cy="952500"/>
          </a:xfrm>
          <a:prstGeom prst="roundRect">
            <a:avLst>
              <a:gd name="adj" fmla="val 10400"/>
            </a:avLst>
          </a:prstGeom>
          <a:solidFill>
            <a:srgbClr val="DCEFE8"/>
          </a:solidFill>
          <a:ln w="7620">
            <a:solidFill>
              <a:srgbClr val="007C78"/>
            </a:solidFill>
          </a:ln>
          <a:effectLst/>
        </p:spPr>
        <p:txBody>
          <a:bodyPr rtlCol="0" anchor="ctr"/>
          <a:lstStyle/>
          <a:p>
            <a:pPr algn="ctr"/>
          </a:p>
        </p:txBody>
      </p:sp>
      <p:sp>
        <p:nvSpPr>
          <p:cNvPr id="44" name="TextBox 43"/>
          <p:cNvSpPr txBox="1"/>
          <p:nvPr/>
        </p:nvSpPr>
        <p:spPr>
          <a:xfrm>
            <a:off x="9852660" y="3810000"/>
            <a:ext cx="16230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DA storage</a:t>
            </a:r>
          </a:p>
        </p:txBody>
      </p:sp>
      <p:sp>
        <p:nvSpPr>
          <p:cNvPr id="45" name="TextBox 44"/>
          <p:cNvSpPr txBox="1"/>
          <p:nvPr/>
        </p:nvSpPr>
        <p:spPr>
          <a:xfrm>
            <a:off x="9852660" y="4130040"/>
            <a:ext cx="16230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put · get</a:t>
            </a:r>
          </a:p>
        </p:txBody>
      </p:sp>
      <p:cxnSp>
        <p:nvCxnSpPr>
          <p:cNvPr id="46" name="Connector 45"/>
          <p:cNvCxnSpPr/>
          <p:nvPr/>
        </p:nvCxnSpPr>
        <p:spPr>
          <a:xfrm>
            <a:off x="9334500" y="4122419"/>
            <a:ext cx="350520" cy="0"/>
          </a:xfrm>
          <a:prstGeom prst="line">
            <a:avLst/>
          </a:prstGeom>
          <a:ln w="15240">
            <a:solidFill>
              <a:srgbClr val="007C78"/>
            </a:solidFill>
          </a:ln>
          <a:effectLst/>
        </p:spPr>
      </p:cxnSp>
      <p:sp>
        <p:nvSpPr>
          <p:cNvPr id="47" name="Freeform 46"/>
          <p:cNvSpPr/>
          <p:nvPr/>
        </p:nvSpPr>
        <p:spPr>
          <a:xfrm>
            <a:off x="9585960" y="408432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48" name="Rounded Rectangle 47"/>
          <p:cNvSpPr/>
          <p:nvPr/>
        </p:nvSpPr>
        <p:spPr>
          <a:xfrm>
            <a:off x="7597139" y="5250180"/>
            <a:ext cx="4046219" cy="716280"/>
          </a:xfrm>
          <a:prstGeom prst="roundRect">
            <a:avLst>
              <a:gd name="adj" fmla="val 13829"/>
            </a:avLst>
          </a:prstGeom>
          <a:solidFill>
            <a:srgbClr val="FFFFFF"/>
          </a:solidFill>
          <a:ln w="7620">
            <a:solidFill>
              <a:srgbClr val="007C78"/>
            </a:solidFill>
          </a:ln>
          <a:effectLst/>
        </p:spPr>
        <p:txBody>
          <a:bodyPr rtlCol="0" anchor="ctr"/>
          <a:lstStyle/>
          <a:p>
            <a:pPr algn="ctr"/>
          </a:p>
        </p:txBody>
      </p:sp>
      <p:sp>
        <p:nvSpPr>
          <p:cNvPr id="49" name="TextBox 48"/>
          <p:cNvSpPr txBox="1"/>
          <p:nvPr/>
        </p:nvSpPr>
        <p:spPr>
          <a:xfrm>
            <a:off x="7764780" y="5417820"/>
            <a:ext cx="37109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Consensus / finality</a:t>
            </a:r>
          </a:p>
        </p:txBody>
      </p:sp>
      <p:sp>
        <p:nvSpPr>
          <p:cNvPr id="50" name="TextBox 49"/>
          <p:cNvSpPr txBox="1"/>
          <p:nvPr/>
        </p:nvSpPr>
        <p:spPr>
          <a:xfrm>
            <a:off x="7764780" y="5708599"/>
            <a:ext cx="37109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submit(approved digest) · observe</a:t>
            </a:r>
          </a:p>
        </p:txBody>
      </p:sp>
      <p:sp>
        <p:nvSpPr>
          <p:cNvPr id="51" name="TextBox 50"/>
          <p:cNvSpPr txBox="1"/>
          <p:nvPr/>
        </p:nvSpPr>
        <p:spPr>
          <a:xfrm>
            <a:off x="9563100" y="2057400"/>
            <a:ext cx="21107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Optional separate caller</a:t>
            </a:r>
          </a:p>
        </p:txBody>
      </p:sp>
      <p:sp>
        <p:nvSpPr>
          <p:cNvPr id="52" name="TextBox 51"/>
          <p:cNvSpPr txBox="1"/>
          <p:nvPr/>
        </p:nvSpPr>
        <p:spPr>
          <a:xfrm>
            <a:off x="9563100" y="2281732"/>
            <a:ext cx="21107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 registered approval</a:t>
            </a:r>
          </a:p>
        </p:txBody>
      </p:sp>
      <p:sp>
        <p:nvSpPr>
          <p:cNvPr id="53" name="TextBox 52"/>
          <p:cNvSpPr txBox="1"/>
          <p:nvPr/>
        </p:nvSpPr>
        <p:spPr>
          <a:xfrm>
            <a:off x="9563100" y="2506065"/>
            <a:ext cx="21107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 injected signer</a:t>
            </a:r>
          </a:p>
        </p:txBody>
      </p:sp>
      <p:cxnSp>
        <p:nvCxnSpPr>
          <p:cNvPr id="54" name="Connector 53"/>
          <p:cNvCxnSpPr/>
          <p:nvPr/>
        </p:nvCxnSpPr>
        <p:spPr>
          <a:xfrm>
            <a:off x="10591800" y="2926079"/>
            <a:ext cx="1219200" cy="0"/>
          </a:xfrm>
          <a:prstGeom prst="line">
            <a:avLst/>
          </a:prstGeom>
          <a:ln w="15240">
            <a:solidFill>
              <a:srgbClr val="007C78"/>
            </a:solidFill>
          </a:ln>
          <a:effectLst/>
        </p:spPr>
      </p:cxnSp>
      <p:cxnSp>
        <p:nvCxnSpPr>
          <p:cNvPr id="55" name="Connector 54"/>
          <p:cNvCxnSpPr/>
          <p:nvPr/>
        </p:nvCxnSpPr>
        <p:spPr>
          <a:xfrm>
            <a:off x="11811000" y="2926079"/>
            <a:ext cx="0" cy="2682241"/>
          </a:xfrm>
          <a:prstGeom prst="line">
            <a:avLst/>
          </a:prstGeom>
          <a:ln w="15240">
            <a:solidFill>
              <a:srgbClr val="007C78"/>
            </a:solidFill>
          </a:ln>
          <a:effectLst/>
        </p:spPr>
      </p:cxnSp>
      <p:cxnSp>
        <p:nvCxnSpPr>
          <p:cNvPr id="56" name="Connector 55"/>
          <p:cNvCxnSpPr/>
          <p:nvPr/>
        </p:nvCxnSpPr>
        <p:spPr>
          <a:xfrm flipH="1">
            <a:off x="11643360" y="5608320"/>
            <a:ext cx="167640" cy="0"/>
          </a:xfrm>
          <a:prstGeom prst="line">
            <a:avLst/>
          </a:prstGeom>
          <a:ln w="15240">
            <a:solidFill>
              <a:srgbClr val="007C78"/>
            </a:solidFill>
          </a:ln>
          <a:effectLst/>
        </p:spPr>
      </p:cxnSp>
      <p:sp>
        <p:nvSpPr>
          <p:cNvPr id="57" name="Freeform 56"/>
          <p:cNvSpPr/>
          <p:nvPr/>
        </p:nvSpPr>
        <p:spPr>
          <a:xfrm>
            <a:off x="11643360" y="55702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cxnSp>
        <p:nvCxnSpPr>
          <p:cNvPr id="58" name="Connector 57"/>
          <p:cNvCxnSpPr/>
          <p:nvPr/>
        </p:nvCxnSpPr>
        <p:spPr>
          <a:xfrm>
            <a:off x="548640" y="6393180"/>
            <a:ext cx="11094720" cy="0"/>
          </a:xfrm>
          <a:prstGeom prst="line">
            <a:avLst/>
          </a:prstGeom>
          <a:ln w="7620">
            <a:solidFill>
              <a:srgbClr val="C9D2D4"/>
            </a:solidFill>
          </a:ln>
          <a:effectLst/>
        </p:spPr>
      </p:cxnSp>
      <p:sp>
        <p:nvSpPr>
          <p:cNvPr id="59" name="TextBox 58"/>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client.py · service.py · registry.py</a:t>
            </a:r>
          </a:p>
        </p:txBody>
      </p:sp>
      <p:sp>
        <p:nvSpPr>
          <p:cNvPr id="60" name="TextBox 5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DESIGN DETAILS · AUTHORITY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State ownership survives co-location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shared database is a deployment choice. Its tables still have different writers.</a:t>
            </a:r>
          </a:p>
        </p:txBody>
      </p:sp>
      <p:sp>
        <p:nvSpPr>
          <p:cNvPr id="5" name="TextBox 4"/>
          <p:cNvSpPr txBox="1"/>
          <p:nvPr/>
        </p:nvSpPr>
        <p:spPr>
          <a:xfrm>
            <a:off x="571500" y="1866900"/>
            <a:ext cx="5029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315E9C"/>
                </a:solidFill>
                <a:latin typeface="DejaVu Sans"/>
              </a:rPr>
              <a:t>M1: TRUSTED LOCAL SERVICE</a:t>
            </a:r>
          </a:p>
        </p:txBody>
      </p:sp>
      <p:sp>
        <p:nvSpPr>
          <p:cNvPr id="6" name="Rounded Rectangle 5"/>
          <p:cNvSpPr/>
          <p:nvPr/>
        </p:nvSpPr>
        <p:spPr>
          <a:xfrm>
            <a:off x="548640" y="2209800"/>
            <a:ext cx="6736080" cy="2697480"/>
          </a:xfrm>
          <a:prstGeom prst="roundRect">
            <a:avLst>
              <a:gd name="adj" fmla="val 4237"/>
            </a:avLst>
          </a:prstGeom>
          <a:solidFill>
            <a:srgbClr val="E4EBF5"/>
          </a:solidFill>
          <a:ln>
            <a:noFill/>
          </a:ln>
          <a:effectLst/>
        </p:spPr>
        <p:txBody>
          <a:bodyPr rtlCol="0" anchor="ctr"/>
          <a:lstStyle/>
          <a:p>
            <a:pPr algn="ctr"/>
          </a:p>
        </p:txBody>
      </p:sp>
      <p:sp>
        <p:nvSpPr>
          <p:cNvPr id="7" name="Rounded Rectangle 6"/>
          <p:cNvSpPr/>
          <p:nvPr/>
        </p:nvSpPr>
        <p:spPr>
          <a:xfrm>
            <a:off x="716280" y="2400300"/>
            <a:ext cx="201168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883919" y="2567940"/>
            <a:ext cx="1676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Atom owner</a:t>
            </a:r>
          </a:p>
        </p:txBody>
      </p:sp>
      <p:sp>
        <p:nvSpPr>
          <p:cNvPr id="9" name="TextBox 8"/>
          <p:cNvSpPr txBox="1"/>
          <p:nvPr/>
        </p:nvSpPr>
        <p:spPr>
          <a:xfrm>
            <a:off x="883919" y="2887980"/>
            <a:ext cx="1676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refs · mutations</a:t>
            </a:r>
          </a:p>
        </p:txBody>
      </p:sp>
      <p:cxnSp>
        <p:nvCxnSpPr>
          <p:cNvPr id="10" name="Connector 9"/>
          <p:cNvCxnSpPr/>
          <p:nvPr/>
        </p:nvCxnSpPr>
        <p:spPr>
          <a:xfrm>
            <a:off x="1722120" y="3467100"/>
            <a:ext cx="0" cy="411479"/>
          </a:xfrm>
          <a:prstGeom prst="line">
            <a:avLst/>
          </a:prstGeom>
          <a:ln w="15240">
            <a:solidFill>
              <a:srgbClr val="315E9C"/>
            </a:solidFill>
          </a:ln>
          <a:effectLst/>
        </p:spPr>
      </p:cxnSp>
      <p:sp>
        <p:nvSpPr>
          <p:cNvPr id="11" name="Freeform 10"/>
          <p:cNvSpPr/>
          <p:nvPr/>
        </p:nvSpPr>
        <p:spPr>
          <a:xfrm>
            <a:off x="1684020" y="377952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12" name="Rounded Rectangle 11"/>
          <p:cNvSpPr/>
          <p:nvPr/>
        </p:nvSpPr>
        <p:spPr>
          <a:xfrm>
            <a:off x="2895600" y="2400300"/>
            <a:ext cx="201168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3063240" y="2567940"/>
            <a:ext cx="1676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Message owner</a:t>
            </a:r>
          </a:p>
        </p:txBody>
      </p:sp>
      <p:sp>
        <p:nvSpPr>
          <p:cNvPr id="14" name="TextBox 13"/>
          <p:cNvSpPr txBox="1"/>
          <p:nvPr/>
        </p:nvSpPr>
        <p:spPr>
          <a:xfrm>
            <a:off x="3063240" y="2887980"/>
            <a:ext cx="1676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inbox ·</a:t>
            </a:r>
          </a:p>
        </p:txBody>
      </p:sp>
      <p:sp>
        <p:nvSpPr>
          <p:cNvPr id="15" name="TextBox 14"/>
          <p:cNvSpPr txBox="1"/>
          <p:nvPr/>
        </p:nvSpPr>
        <p:spPr>
          <a:xfrm>
            <a:off x="3063240" y="3102559"/>
            <a:ext cx="1676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acknowledgements</a:t>
            </a:r>
          </a:p>
        </p:txBody>
      </p:sp>
      <p:cxnSp>
        <p:nvCxnSpPr>
          <p:cNvPr id="16" name="Connector 15"/>
          <p:cNvCxnSpPr/>
          <p:nvPr/>
        </p:nvCxnSpPr>
        <p:spPr>
          <a:xfrm>
            <a:off x="3901440" y="3467100"/>
            <a:ext cx="0" cy="411479"/>
          </a:xfrm>
          <a:prstGeom prst="line">
            <a:avLst/>
          </a:prstGeom>
          <a:ln w="15240">
            <a:solidFill>
              <a:srgbClr val="315E9C"/>
            </a:solidFill>
          </a:ln>
          <a:effectLst/>
        </p:spPr>
      </p:cxnSp>
      <p:sp>
        <p:nvSpPr>
          <p:cNvPr id="17" name="Freeform 16"/>
          <p:cNvSpPr/>
          <p:nvPr/>
        </p:nvSpPr>
        <p:spPr>
          <a:xfrm>
            <a:off x="3863340" y="377952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18" name="Rounded Rectangle 17"/>
          <p:cNvSpPr/>
          <p:nvPr/>
        </p:nvSpPr>
        <p:spPr>
          <a:xfrm>
            <a:off x="5074920" y="2400300"/>
            <a:ext cx="201168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5242560" y="2567940"/>
            <a:ext cx="1676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Execution owner</a:t>
            </a:r>
          </a:p>
        </p:txBody>
      </p:sp>
      <p:sp>
        <p:nvSpPr>
          <p:cNvPr id="20" name="TextBox 19"/>
          <p:cNvSpPr txBox="1"/>
          <p:nvPr/>
        </p:nvSpPr>
        <p:spPr>
          <a:xfrm>
            <a:off x="5242560" y="2868472"/>
            <a:ext cx="1676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jobs · completion</a:t>
            </a:r>
          </a:p>
        </p:txBody>
      </p:sp>
      <p:sp>
        <p:nvSpPr>
          <p:cNvPr id="21" name="TextBox 20"/>
          <p:cNvSpPr txBox="1"/>
          <p:nvPr/>
        </p:nvSpPr>
        <p:spPr>
          <a:xfrm>
            <a:off x="5242560" y="3073298"/>
            <a:ext cx="1676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outbox</a:t>
            </a:r>
          </a:p>
        </p:txBody>
      </p:sp>
      <p:cxnSp>
        <p:nvCxnSpPr>
          <p:cNvPr id="22" name="Connector 21"/>
          <p:cNvCxnSpPr/>
          <p:nvPr/>
        </p:nvCxnSpPr>
        <p:spPr>
          <a:xfrm>
            <a:off x="6080759" y="3467100"/>
            <a:ext cx="0" cy="411479"/>
          </a:xfrm>
          <a:prstGeom prst="line">
            <a:avLst/>
          </a:prstGeom>
          <a:ln w="15240">
            <a:solidFill>
              <a:srgbClr val="315E9C"/>
            </a:solidFill>
          </a:ln>
          <a:effectLst/>
        </p:spPr>
      </p:cxnSp>
      <p:sp>
        <p:nvSpPr>
          <p:cNvPr id="23" name="Freeform 22"/>
          <p:cNvSpPr/>
          <p:nvPr/>
        </p:nvSpPr>
        <p:spPr>
          <a:xfrm>
            <a:off x="6042660" y="377952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4" name="Rounded Rectangle 23"/>
          <p:cNvSpPr/>
          <p:nvPr/>
        </p:nvSpPr>
        <p:spPr>
          <a:xfrm>
            <a:off x="716280" y="3886200"/>
            <a:ext cx="6355080" cy="792480"/>
          </a:xfrm>
          <a:prstGeom prst="roundRect">
            <a:avLst>
              <a:gd name="adj" fmla="val 9615"/>
            </a:avLst>
          </a:prstGeom>
          <a:solidFill>
            <a:srgbClr val="FFFFFF"/>
          </a:solidFill>
          <a:ln w="7620">
            <a:solidFill>
              <a:srgbClr val="315E9C"/>
            </a:solidFill>
          </a:ln>
          <a:effectLst/>
        </p:spPr>
        <p:txBody>
          <a:bodyPr rtlCol="0" anchor="ctr"/>
          <a:lstStyle/>
          <a:p>
            <a:pPr algn="ctr"/>
          </a:p>
        </p:txBody>
      </p:sp>
      <p:sp>
        <p:nvSpPr>
          <p:cNvPr id="25" name="TextBox 24"/>
          <p:cNvSpPr txBox="1"/>
          <p:nvPr/>
        </p:nvSpPr>
        <p:spPr>
          <a:xfrm>
            <a:off x="944879" y="4053840"/>
            <a:ext cx="57150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SQLite FULL / WAL</a:t>
            </a:r>
          </a:p>
        </p:txBody>
      </p:sp>
      <p:sp>
        <p:nvSpPr>
          <p:cNvPr id="26" name="TextBox 25"/>
          <p:cNvSpPr txBox="1"/>
          <p:nvPr/>
        </p:nvSpPr>
        <p:spPr>
          <a:xfrm>
            <a:off x="944879" y="4373880"/>
            <a:ext cx="5715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Owned transitions serialize through one writer</a:t>
            </a:r>
          </a:p>
        </p:txBody>
      </p:sp>
      <p:sp>
        <p:nvSpPr>
          <p:cNvPr id="27" name="Rounded Rectangle 26"/>
          <p:cNvSpPr/>
          <p:nvPr/>
        </p:nvSpPr>
        <p:spPr>
          <a:xfrm>
            <a:off x="7696200" y="2209800"/>
            <a:ext cx="3947160" cy="1219200"/>
          </a:xfrm>
          <a:prstGeom prst="roundRect">
            <a:avLst>
              <a:gd name="adj" fmla="val 812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7863839" y="2377440"/>
            <a:ext cx="3611879"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Payload authority</a:t>
            </a:r>
          </a:p>
        </p:txBody>
      </p:sp>
      <p:sp>
        <p:nvSpPr>
          <p:cNvPr id="29" name="TextBox 28"/>
          <p:cNvSpPr txBox="1"/>
          <p:nvPr/>
        </p:nvSpPr>
        <p:spPr>
          <a:xfrm>
            <a:off x="7863839" y="2746247"/>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DeTTa FileStorage owns the bytes</a:t>
            </a:r>
          </a:p>
        </p:txBody>
      </p:sp>
      <p:sp>
        <p:nvSpPr>
          <p:cNvPr id="30" name="TextBox 29"/>
          <p:cNvSpPr txBox="1"/>
          <p:nvPr/>
        </p:nvSpPr>
        <p:spPr>
          <a:xfrm>
            <a:off x="7863839" y="2990087"/>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and erasure shares.</a:t>
            </a:r>
          </a:p>
        </p:txBody>
      </p:sp>
      <p:sp>
        <p:nvSpPr>
          <p:cNvPr id="31" name="Rounded Rectangle 30"/>
          <p:cNvSpPr/>
          <p:nvPr/>
        </p:nvSpPr>
        <p:spPr>
          <a:xfrm>
            <a:off x="7696200" y="3665219"/>
            <a:ext cx="3947160" cy="1242060"/>
          </a:xfrm>
          <a:prstGeom prst="roundRect">
            <a:avLst>
              <a:gd name="adj" fmla="val 7975"/>
            </a:avLst>
          </a:prstGeom>
          <a:solidFill>
            <a:srgbClr val="EBE5F3"/>
          </a:solidFill>
          <a:ln w="7620">
            <a:solidFill>
              <a:srgbClr val="7458A2"/>
            </a:solidFill>
            <a:prstDash val="dash"/>
          </a:ln>
          <a:effectLst/>
        </p:spPr>
        <p:txBody>
          <a:bodyPr rtlCol="0" anchor="ctr"/>
          <a:lstStyle/>
          <a:p>
            <a:pPr algn="ctr"/>
          </a:p>
        </p:txBody>
      </p:sp>
      <p:sp>
        <p:nvSpPr>
          <p:cNvPr id="32" name="TextBox 31"/>
          <p:cNvSpPr txBox="1"/>
          <p:nvPr/>
        </p:nvSpPr>
        <p:spPr>
          <a:xfrm>
            <a:off x="7863839" y="3832860"/>
            <a:ext cx="3611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Future private client state</a:t>
            </a:r>
          </a:p>
        </p:txBody>
      </p:sp>
      <p:sp>
        <p:nvSpPr>
          <p:cNvPr id="33" name="TextBox 32"/>
          <p:cNvSpPr txBox="1"/>
          <p:nvPr/>
        </p:nvSpPr>
        <p:spPr>
          <a:xfrm>
            <a:off x="7863839" y="4182160"/>
            <a:ext cx="3611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Episodes, beliefs and attention stay</a:t>
            </a:r>
          </a:p>
        </p:txBody>
      </p:sp>
      <p:sp>
        <p:nvSpPr>
          <p:cNvPr id="34" name="TextBox 33"/>
          <p:cNvSpPr txBox="1"/>
          <p:nvPr/>
        </p:nvSpPr>
        <p:spPr>
          <a:xfrm>
            <a:off x="7863839" y="4416247"/>
            <a:ext cx="3611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behind their respective owner ports.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External callers receive methods and receipts; they receive no table or owner setters.</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architecture.md · ADR 002–004</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DESIGN DETAILS · SUBSTITUTION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Keep four architecture choices independent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Changing placement must not silently change the meaning of an operation.</a:t>
            </a:r>
          </a:p>
        </p:txBody>
      </p:sp>
      <p:sp>
        <p:nvSpPr>
          <p:cNvPr id="5" name="Rounded Rectangle 4"/>
          <p:cNvSpPr/>
          <p:nvPr/>
        </p:nvSpPr>
        <p:spPr>
          <a:xfrm>
            <a:off x="548640" y="1935480"/>
            <a:ext cx="11094720" cy="762000"/>
          </a:xfrm>
          <a:prstGeom prst="roundRect">
            <a:avLst>
              <a:gd name="adj" fmla="val 10000"/>
            </a:avLst>
          </a:prstGeom>
          <a:solidFill>
            <a:srgbClr val="FFFFFF"/>
          </a:solidFill>
          <a:ln>
            <a:noFill/>
          </a:ln>
          <a:effectLst/>
        </p:spPr>
        <p:txBody>
          <a:bodyPr rtlCol="0" anchor="ctr"/>
          <a:lstStyle/>
          <a:p>
            <a:pPr algn="ctr"/>
          </a:p>
        </p:txBody>
      </p:sp>
      <p:sp>
        <p:nvSpPr>
          <p:cNvPr id="6" name="Rectangle 5"/>
          <p:cNvSpPr/>
          <p:nvPr/>
        </p:nvSpPr>
        <p:spPr>
          <a:xfrm>
            <a:off x="548640" y="1935480"/>
            <a:ext cx="60960" cy="762000"/>
          </a:xfrm>
          <a:prstGeom prst="rect">
            <a:avLst/>
          </a:prstGeom>
          <a:solidFill>
            <a:srgbClr val="315E9C"/>
          </a:solidFill>
          <a:ln>
            <a:noFill/>
          </a:ln>
          <a:effectLst/>
        </p:spPr>
        <p:txBody>
          <a:bodyPr rtlCol="0" anchor="ctr"/>
          <a:lstStyle/>
          <a:p>
            <a:pPr algn="ctr"/>
          </a:p>
        </p:txBody>
      </p:sp>
      <p:sp>
        <p:nvSpPr>
          <p:cNvPr id="7" name="TextBox 6"/>
          <p:cNvSpPr txBox="1"/>
          <p:nvPr/>
        </p:nvSpPr>
        <p:spPr>
          <a:xfrm>
            <a:off x="769619" y="2186940"/>
            <a:ext cx="22098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INTERFACE</a:t>
            </a:r>
          </a:p>
        </p:txBody>
      </p:sp>
      <p:sp>
        <p:nvSpPr>
          <p:cNvPr id="8" name="TextBox 7"/>
          <p:cNvSpPr txBox="1"/>
          <p:nvPr/>
        </p:nvSpPr>
        <p:spPr>
          <a:xfrm>
            <a:off x="3086100" y="2087880"/>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What behavior is promised?</a:t>
            </a:r>
          </a:p>
        </p:txBody>
      </p:sp>
      <p:sp>
        <p:nvSpPr>
          <p:cNvPr id="9" name="TextBox 8"/>
          <p:cNvSpPr txBox="1"/>
          <p:nvPr/>
        </p:nvSpPr>
        <p:spPr>
          <a:xfrm>
            <a:off x="7399020" y="2110740"/>
            <a:ext cx="3962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atom.storage / immutable-bytes/1</a:t>
            </a:r>
          </a:p>
        </p:txBody>
      </p:sp>
      <p:sp>
        <p:nvSpPr>
          <p:cNvPr id="10" name="Rounded Rectangle 9"/>
          <p:cNvSpPr/>
          <p:nvPr/>
        </p:nvSpPr>
        <p:spPr>
          <a:xfrm>
            <a:off x="548640" y="2819400"/>
            <a:ext cx="11094720" cy="762000"/>
          </a:xfrm>
          <a:prstGeom prst="roundRect">
            <a:avLst>
              <a:gd name="adj" fmla="val 10000"/>
            </a:avLst>
          </a:prstGeom>
          <a:solidFill>
            <a:srgbClr val="FFFFFF"/>
          </a:solidFill>
          <a:ln>
            <a:noFill/>
          </a:ln>
          <a:effectLst/>
        </p:spPr>
        <p:txBody>
          <a:bodyPr rtlCol="0" anchor="ctr"/>
          <a:lstStyle/>
          <a:p>
            <a:pPr algn="ctr"/>
          </a:p>
        </p:txBody>
      </p:sp>
      <p:sp>
        <p:nvSpPr>
          <p:cNvPr id="11" name="Rectangle 10"/>
          <p:cNvSpPr/>
          <p:nvPr/>
        </p:nvSpPr>
        <p:spPr>
          <a:xfrm>
            <a:off x="548640" y="2819400"/>
            <a:ext cx="60960" cy="762000"/>
          </a:xfrm>
          <a:prstGeom prst="rect">
            <a:avLst/>
          </a:prstGeom>
          <a:solidFill>
            <a:srgbClr val="007C78"/>
          </a:solidFill>
          <a:ln>
            <a:noFill/>
          </a:ln>
          <a:effectLst/>
        </p:spPr>
        <p:txBody>
          <a:bodyPr rtlCol="0" anchor="ctr"/>
          <a:lstStyle/>
          <a:p>
            <a:pPr algn="ctr"/>
          </a:p>
        </p:txBody>
      </p:sp>
      <p:sp>
        <p:nvSpPr>
          <p:cNvPr id="12" name="TextBox 11"/>
          <p:cNvSpPr txBox="1"/>
          <p:nvPr/>
        </p:nvSpPr>
        <p:spPr>
          <a:xfrm>
            <a:off x="769619" y="3070860"/>
            <a:ext cx="22098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IMPLEMENTATION</a:t>
            </a:r>
          </a:p>
        </p:txBody>
      </p:sp>
      <p:sp>
        <p:nvSpPr>
          <p:cNvPr id="13" name="TextBox 12"/>
          <p:cNvSpPr txBox="1"/>
          <p:nvPr/>
        </p:nvSpPr>
        <p:spPr>
          <a:xfrm>
            <a:off x="3086100" y="2971800"/>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Who provides that behavior?</a:t>
            </a:r>
          </a:p>
        </p:txBody>
      </p:sp>
      <p:sp>
        <p:nvSpPr>
          <p:cNvPr id="14" name="TextBox 13"/>
          <p:cNvSpPr txBox="1"/>
          <p:nvPr/>
        </p:nvSpPr>
        <p:spPr>
          <a:xfrm>
            <a:off x="7399020" y="2994660"/>
            <a:ext cx="3962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AtomOwner + injected DeTTa adapter</a:t>
            </a:r>
          </a:p>
        </p:txBody>
      </p:sp>
      <p:sp>
        <p:nvSpPr>
          <p:cNvPr id="15" name="Rounded Rectangle 14"/>
          <p:cNvSpPr/>
          <p:nvPr/>
        </p:nvSpPr>
        <p:spPr>
          <a:xfrm>
            <a:off x="548640" y="3703319"/>
            <a:ext cx="11094720" cy="762000"/>
          </a:xfrm>
          <a:prstGeom prst="roundRect">
            <a:avLst>
              <a:gd name="adj" fmla="val 10000"/>
            </a:avLst>
          </a:prstGeom>
          <a:solidFill>
            <a:srgbClr val="FFFFFF"/>
          </a:solidFill>
          <a:ln>
            <a:noFill/>
          </a:ln>
          <a:effectLst/>
        </p:spPr>
        <p:txBody>
          <a:bodyPr rtlCol="0" anchor="ctr"/>
          <a:lstStyle/>
          <a:p>
            <a:pPr algn="ctr"/>
          </a:p>
        </p:txBody>
      </p:sp>
      <p:sp>
        <p:nvSpPr>
          <p:cNvPr id="16" name="Rectangle 15"/>
          <p:cNvSpPr/>
          <p:nvPr/>
        </p:nvSpPr>
        <p:spPr>
          <a:xfrm>
            <a:off x="548640" y="3703319"/>
            <a:ext cx="60960" cy="762000"/>
          </a:xfrm>
          <a:prstGeom prst="rect">
            <a:avLst/>
          </a:prstGeom>
          <a:solidFill>
            <a:srgbClr val="315E9C"/>
          </a:solidFill>
          <a:ln>
            <a:noFill/>
          </a:ln>
          <a:effectLst/>
        </p:spPr>
        <p:txBody>
          <a:bodyPr rtlCol="0" anchor="ctr"/>
          <a:lstStyle/>
          <a:p>
            <a:pPr algn="ctr"/>
          </a:p>
        </p:txBody>
      </p:sp>
      <p:sp>
        <p:nvSpPr>
          <p:cNvPr id="17" name="TextBox 16"/>
          <p:cNvSpPr txBox="1"/>
          <p:nvPr/>
        </p:nvSpPr>
        <p:spPr>
          <a:xfrm>
            <a:off x="769619" y="3954779"/>
            <a:ext cx="22098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TRANSPORT</a:t>
            </a:r>
          </a:p>
        </p:txBody>
      </p:sp>
      <p:sp>
        <p:nvSpPr>
          <p:cNvPr id="18" name="TextBox 17"/>
          <p:cNvSpPr txBox="1"/>
          <p:nvPr/>
        </p:nvSpPr>
        <p:spPr>
          <a:xfrm>
            <a:off x="3086100" y="3855719"/>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How does a caller cross the</a:t>
            </a:r>
          </a:p>
        </p:txBody>
      </p:sp>
      <p:sp>
        <p:nvSpPr>
          <p:cNvPr id="19" name="TextBox 18"/>
          <p:cNvSpPr txBox="1"/>
          <p:nvPr/>
        </p:nvSpPr>
        <p:spPr>
          <a:xfrm>
            <a:off x="3086100" y="4119067"/>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boundary?</a:t>
            </a:r>
          </a:p>
        </p:txBody>
      </p:sp>
      <p:sp>
        <p:nvSpPr>
          <p:cNvPr id="20" name="TextBox 19"/>
          <p:cNvSpPr txBox="1"/>
          <p:nvPr/>
        </p:nvSpPr>
        <p:spPr>
          <a:xfrm>
            <a:off x="7399020" y="3878579"/>
            <a:ext cx="3962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In-process call or private JSON stdio</a:t>
            </a:r>
          </a:p>
        </p:txBody>
      </p:sp>
      <p:sp>
        <p:nvSpPr>
          <p:cNvPr id="21" name="Rounded Rectangle 20"/>
          <p:cNvSpPr/>
          <p:nvPr/>
        </p:nvSpPr>
        <p:spPr>
          <a:xfrm>
            <a:off x="548640" y="4587240"/>
            <a:ext cx="11094720" cy="762000"/>
          </a:xfrm>
          <a:prstGeom prst="roundRect">
            <a:avLst>
              <a:gd name="adj" fmla="val 10000"/>
            </a:avLst>
          </a:prstGeom>
          <a:solidFill>
            <a:srgbClr val="FFFFFF"/>
          </a:solidFill>
          <a:ln>
            <a:noFill/>
          </a:ln>
          <a:effectLst/>
        </p:spPr>
        <p:txBody>
          <a:bodyPr rtlCol="0" anchor="ctr"/>
          <a:lstStyle/>
          <a:p>
            <a:pPr algn="ctr"/>
          </a:p>
        </p:txBody>
      </p:sp>
      <p:sp>
        <p:nvSpPr>
          <p:cNvPr id="22" name="Rectangle 21"/>
          <p:cNvSpPr/>
          <p:nvPr/>
        </p:nvSpPr>
        <p:spPr>
          <a:xfrm>
            <a:off x="548640" y="4587240"/>
            <a:ext cx="60960" cy="762000"/>
          </a:xfrm>
          <a:prstGeom prst="rect">
            <a:avLst/>
          </a:prstGeom>
          <a:solidFill>
            <a:srgbClr val="A86A15"/>
          </a:solidFill>
          <a:ln>
            <a:noFill/>
          </a:ln>
          <a:effectLst/>
        </p:spPr>
        <p:txBody>
          <a:bodyPr rtlCol="0" anchor="ctr"/>
          <a:lstStyle/>
          <a:p>
            <a:pPr algn="ctr"/>
          </a:p>
        </p:txBody>
      </p:sp>
      <p:sp>
        <p:nvSpPr>
          <p:cNvPr id="23" name="TextBox 22"/>
          <p:cNvSpPr txBox="1"/>
          <p:nvPr/>
        </p:nvSpPr>
        <p:spPr>
          <a:xfrm>
            <a:off x="769619" y="4838700"/>
            <a:ext cx="22098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A86A15"/>
                </a:solidFill>
                <a:latin typeface="DejaVu Sans"/>
              </a:rPr>
              <a:t>PLACEMENT</a:t>
            </a:r>
          </a:p>
        </p:txBody>
      </p:sp>
      <p:sp>
        <p:nvSpPr>
          <p:cNvPr id="24" name="TextBox 23"/>
          <p:cNvSpPr txBox="1"/>
          <p:nvPr/>
        </p:nvSpPr>
        <p:spPr>
          <a:xfrm>
            <a:off x="3086100" y="4739640"/>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Where does the implementation</a:t>
            </a:r>
          </a:p>
        </p:txBody>
      </p:sp>
      <p:sp>
        <p:nvSpPr>
          <p:cNvPr id="25" name="TextBox 24"/>
          <p:cNvSpPr txBox="1"/>
          <p:nvPr/>
        </p:nvSpPr>
        <p:spPr>
          <a:xfrm>
            <a:off x="3086100" y="5002987"/>
            <a:ext cx="3962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run?</a:t>
            </a:r>
          </a:p>
        </p:txBody>
      </p:sp>
      <p:sp>
        <p:nvSpPr>
          <p:cNvPr id="26" name="TextBox 25"/>
          <p:cNvSpPr txBox="1"/>
          <p:nvPr/>
        </p:nvSpPr>
        <p:spPr>
          <a:xfrm>
            <a:off x="7399020" y="4762500"/>
            <a:ext cx="3962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Trusted local service; optional chain</a:t>
            </a:r>
          </a:p>
        </p:txBody>
      </p:sp>
      <p:sp>
        <p:nvSpPr>
          <p:cNvPr id="27" name="TextBox 26"/>
          <p:cNvSpPr txBox="1"/>
          <p:nvPr/>
        </p:nvSpPr>
        <p:spPr>
          <a:xfrm>
            <a:off x="7399020" y="5016093"/>
            <a:ext cx="3962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adapter</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Only composition imports concrete adapters. Domain contracts stay backend-neutral.</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ADR 004–005 · bindings.py</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DESIGN DETAILS · RESOLUTION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Compatibility is a semantic filter</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matching name is only the start of provider selection.</a:t>
            </a:r>
          </a:p>
        </p:txBody>
      </p:sp>
      <p:sp>
        <p:nvSpPr>
          <p:cNvPr id="5" name="Rounded Rectangle 4"/>
          <p:cNvSpPr/>
          <p:nvPr/>
        </p:nvSpPr>
        <p:spPr>
          <a:xfrm>
            <a:off x="548640" y="2133600"/>
            <a:ext cx="2636520" cy="1440180"/>
          </a:xfrm>
          <a:prstGeom prst="roundRect">
            <a:avLst>
              <a:gd name="adj" fmla="val 6878"/>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301240"/>
            <a:ext cx="230124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Version</a:t>
            </a:r>
          </a:p>
        </p:txBody>
      </p:sp>
      <p:sp>
        <p:nvSpPr>
          <p:cNvPr id="7" name="TextBox 6"/>
          <p:cNvSpPr txBox="1"/>
          <p:nvPr/>
        </p:nvSpPr>
        <p:spPr>
          <a:xfrm>
            <a:off x="716280" y="269930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Explicit same-major</a:t>
            </a:r>
          </a:p>
        </p:txBody>
      </p:sp>
      <p:sp>
        <p:nvSpPr>
          <p:cNvPr id="8" name="TextBox 7"/>
          <p:cNvSpPr txBox="1"/>
          <p:nvPr/>
        </p:nvSpPr>
        <p:spPr>
          <a:xfrm>
            <a:off x="716280" y="296265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range</a:t>
            </a:r>
          </a:p>
        </p:txBody>
      </p:sp>
      <p:cxnSp>
        <p:nvCxnSpPr>
          <p:cNvPr id="9" name="Connector 8"/>
          <p:cNvCxnSpPr/>
          <p:nvPr/>
        </p:nvCxnSpPr>
        <p:spPr>
          <a:xfrm>
            <a:off x="3185160" y="2865120"/>
            <a:ext cx="144780" cy="0"/>
          </a:xfrm>
          <a:prstGeom prst="line">
            <a:avLst/>
          </a:prstGeom>
          <a:ln w="15240">
            <a:solidFill>
              <a:srgbClr val="315E9C"/>
            </a:solidFill>
          </a:ln>
          <a:effectLst/>
        </p:spPr>
      </p:cxnSp>
      <p:sp>
        <p:nvSpPr>
          <p:cNvPr id="10" name="Freeform 9"/>
          <p:cNvSpPr/>
          <p:nvPr/>
        </p:nvSpPr>
        <p:spPr>
          <a:xfrm>
            <a:off x="3230880" y="28270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1" name="Rounded Rectangle 10"/>
          <p:cNvSpPr/>
          <p:nvPr/>
        </p:nvSpPr>
        <p:spPr>
          <a:xfrm>
            <a:off x="3368040" y="2133600"/>
            <a:ext cx="2636520" cy="1440180"/>
          </a:xfrm>
          <a:prstGeom prst="roundRect">
            <a:avLst>
              <a:gd name="adj" fmla="val 6878"/>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3535679" y="2301240"/>
            <a:ext cx="230124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Profile</a:t>
            </a:r>
          </a:p>
        </p:txBody>
      </p:sp>
      <p:sp>
        <p:nvSpPr>
          <p:cNvPr id="13" name="TextBox 12"/>
          <p:cNvSpPr txBox="1"/>
          <p:nvPr/>
        </p:nvSpPr>
        <p:spPr>
          <a:xfrm>
            <a:off x="3535679" y="269930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Exact semantics +</a:t>
            </a:r>
          </a:p>
        </p:txBody>
      </p:sp>
      <p:sp>
        <p:nvSpPr>
          <p:cNvPr id="14" name="TextBox 13"/>
          <p:cNvSpPr txBox="1"/>
          <p:nvPr/>
        </p:nvSpPr>
        <p:spPr>
          <a:xfrm>
            <a:off x="3535679" y="296265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features</a:t>
            </a:r>
          </a:p>
        </p:txBody>
      </p:sp>
      <p:cxnSp>
        <p:nvCxnSpPr>
          <p:cNvPr id="15" name="Connector 14"/>
          <p:cNvCxnSpPr/>
          <p:nvPr/>
        </p:nvCxnSpPr>
        <p:spPr>
          <a:xfrm>
            <a:off x="6004559" y="2865120"/>
            <a:ext cx="144781" cy="0"/>
          </a:xfrm>
          <a:prstGeom prst="line">
            <a:avLst/>
          </a:prstGeom>
          <a:ln w="15240">
            <a:solidFill>
              <a:srgbClr val="315E9C"/>
            </a:solidFill>
          </a:ln>
          <a:effectLst/>
        </p:spPr>
      </p:cxnSp>
      <p:sp>
        <p:nvSpPr>
          <p:cNvPr id="16" name="Freeform 15"/>
          <p:cNvSpPr/>
          <p:nvPr/>
        </p:nvSpPr>
        <p:spPr>
          <a:xfrm>
            <a:off x="6050280" y="28270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7" name="Rounded Rectangle 16"/>
          <p:cNvSpPr/>
          <p:nvPr/>
        </p:nvSpPr>
        <p:spPr>
          <a:xfrm>
            <a:off x="6187440" y="2133600"/>
            <a:ext cx="2636520" cy="1440180"/>
          </a:xfrm>
          <a:prstGeom prst="roundRect">
            <a:avLst>
              <a:gd name="adj" fmla="val 6878"/>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6355080" y="2301240"/>
            <a:ext cx="230124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Operations</a:t>
            </a:r>
          </a:p>
        </p:txBody>
      </p:sp>
      <p:sp>
        <p:nvSpPr>
          <p:cNvPr id="19" name="TextBox 18"/>
          <p:cNvSpPr txBox="1"/>
          <p:nvPr/>
        </p:nvSpPr>
        <p:spPr>
          <a:xfrm>
            <a:off x="6355080" y="269930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Required calls</a:t>
            </a:r>
          </a:p>
        </p:txBody>
      </p:sp>
      <p:sp>
        <p:nvSpPr>
          <p:cNvPr id="20" name="TextBox 19"/>
          <p:cNvSpPr txBox="1"/>
          <p:nvPr/>
        </p:nvSpPr>
        <p:spPr>
          <a:xfrm>
            <a:off x="6355080" y="296265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available</a:t>
            </a:r>
          </a:p>
        </p:txBody>
      </p:sp>
      <p:cxnSp>
        <p:nvCxnSpPr>
          <p:cNvPr id="21" name="Connector 20"/>
          <p:cNvCxnSpPr/>
          <p:nvPr/>
        </p:nvCxnSpPr>
        <p:spPr>
          <a:xfrm>
            <a:off x="8823960" y="2865120"/>
            <a:ext cx="144780" cy="0"/>
          </a:xfrm>
          <a:prstGeom prst="line">
            <a:avLst/>
          </a:prstGeom>
          <a:ln w="15240">
            <a:solidFill>
              <a:srgbClr val="315E9C"/>
            </a:solidFill>
          </a:ln>
          <a:effectLst/>
        </p:spPr>
      </p:cxnSp>
      <p:sp>
        <p:nvSpPr>
          <p:cNvPr id="22" name="Freeform 21"/>
          <p:cNvSpPr/>
          <p:nvPr/>
        </p:nvSpPr>
        <p:spPr>
          <a:xfrm>
            <a:off x="8869680" y="28270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Rounded Rectangle 22"/>
          <p:cNvSpPr/>
          <p:nvPr/>
        </p:nvSpPr>
        <p:spPr>
          <a:xfrm>
            <a:off x="9006840" y="2133600"/>
            <a:ext cx="2636520" cy="1440180"/>
          </a:xfrm>
          <a:prstGeom prst="roundRect">
            <a:avLst>
              <a:gd name="adj" fmla="val 6878"/>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9174480" y="2301240"/>
            <a:ext cx="230124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Guarantees</a:t>
            </a:r>
          </a:p>
        </p:txBody>
      </p:sp>
      <p:sp>
        <p:nvSpPr>
          <p:cNvPr id="25" name="TextBox 24"/>
          <p:cNvSpPr txBox="1"/>
          <p:nvPr/>
        </p:nvSpPr>
        <p:spPr>
          <a:xfrm>
            <a:off x="9174480" y="269930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Durability, privacy,</a:t>
            </a:r>
          </a:p>
        </p:txBody>
      </p:sp>
      <p:sp>
        <p:nvSpPr>
          <p:cNvPr id="26" name="TextBox 25"/>
          <p:cNvSpPr txBox="1"/>
          <p:nvPr/>
        </p:nvSpPr>
        <p:spPr>
          <a:xfrm>
            <a:off x="9174480" y="296265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limits</a:t>
            </a:r>
          </a:p>
        </p:txBody>
      </p:sp>
      <p:sp>
        <p:nvSpPr>
          <p:cNvPr id="27" name="Rounded Rectangle 26"/>
          <p:cNvSpPr/>
          <p:nvPr/>
        </p:nvSpPr>
        <p:spPr>
          <a:xfrm>
            <a:off x="548640" y="3992879"/>
            <a:ext cx="5364480" cy="1371600"/>
          </a:xfrm>
          <a:prstGeom prst="roundRect">
            <a:avLst>
              <a:gd name="adj" fmla="val 7222"/>
            </a:avLst>
          </a:prstGeom>
          <a:solidFill>
            <a:srgbClr val="F3E7CE"/>
          </a:solidFill>
          <a:ln w="7620">
            <a:solidFill>
              <a:srgbClr val="A86A15"/>
            </a:solidFill>
          </a:ln>
          <a:effectLst/>
        </p:spPr>
        <p:txBody>
          <a:bodyPr rtlCol="0" anchor="ctr"/>
          <a:lstStyle/>
          <a:p>
            <a:pPr algn="ctr"/>
          </a:p>
        </p:txBody>
      </p:sp>
      <p:sp>
        <p:nvSpPr>
          <p:cNvPr id="28" name="TextBox 27"/>
          <p:cNvSpPr txBox="1"/>
          <p:nvPr/>
        </p:nvSpPr>
        <p:spPr>
          <a:xfrm>
            <a:off x="716280" y="4160519"/>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Required proof? Fail closed.</a:t>
            </a:r>
          </a:p>
        </p:txBody>
      </p:sp>
      <p:sp>
        <p:nvSpPr>
          <p:cNvPr id="29" name="TextBox 28"/>
          <p:cNvSpPr txBox="1"/>
          <p:nvPr/>
        </p:nvSpPr>
        <p:spPr>
          <a:xfrm>
            <a:off x="716280" y="452932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No verifier is installed. A proof-shaped field</a:t>
            </a:r>
          </a:p>
        </p:txBody>
      </p:sp>
      <p:sp>
        <p:nvSpPr>
          <p:cNvPr id="30" name="TextBox 29"/>
          <p:cNvSpPr txBox="1"/>
          <p:nvPr/>
        </p:nvSpPr>
        <p:spPr>
          <a:xfrm>
            <a:off x="716280" y="479267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cannot satisfy a verification requirement.</a:t>
            </a:r>
          </a:p>
        </p:txBody>
      </p:sp>
      <p:sp>
        <p:nvSpPr>
          <p:cNvPr id="31" name="Rounded Rectangle 30"/>
          <p:cNvSpPr/>
          <p:nvPr/>
        </p:nvSpPr>
        <p:spPr>
          <a:xfrm>
            <a:off x="6096000" y="3992879"/>
            <a:ext cx="5547360" cy="1371600"/>
          </a:xfrm>
          <a:prstGeom prst="roundRect">
            <a:avLst>
              <a:gd name="adj" fmla="val 7222"/>
            </a:avLst>
          </a:prstGeom>
          <a:solidFill>
            <a:srgbClr val="E4EBF5"/>
          </a:solidFill>
          <a:ln w="7620">
            <a:solidFill>
              <a:srgbClr val="315E9C"/>
            </a:solidFill>
          </a:ln>
          <a:effectLst/>
        </p:spPr>
        <p:txBody>
          <a:bodyPr rtlCol="0" anchor="ctr"/>
          <a:lstStyle/>
          <a:p>
            <a:pPr algn="ctr"/>
          </a:p>
        </p:txBody>
      </p:sp>
      <p:sp>
        <p:nvSpPr>
          <p:cNvPr id="32" name="TextBox 31"/>
          <p:cNvSpPr txBox="1"/>
          <p:nvPr/>
        </p:nvSpPr>
        <p:spPr>
          <a:xfrm>
            <a:off x="6263640" y="4160519"/>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Actual wire version: 1.0.0</a:t>
            </a:r>
          </a:p>
        </p:txBody>
      </p:sp>
      <p:sp>
        <p:nvSpPr>
          <p:cNvPr id="33" name="TextBox 32"/>
          <p:cNvSpPr txBox="1"/>
          <p:nvPr/>
        </p:nvSpPr>
        <p:spPr>
          <a:xfrm>
            <a:off x="6263640" y="452932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Additive 1.2.3 compatibility is a resolver fixture,</a:t>
            </a:r>
          </a:p>
        </p:txBody>
      </p:sp>
      <p:sp>
        <p:nvSpPr>
          <p:cNvPr id="34" name="TextBox 33"/>
          <p:cNvSpPr txBox="1"/>
          <p:nvPr/>
        </p:nvSpPr>
        <p:spPr>
          <a:xfrm>
            <a:off x="6263640" y="479267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not an available wire provider.</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registry.py · test_adapters.py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DESIGN DETAILS · INVOCATION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Identity, replay and authority travel separately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invocation names an operation; trusted context identifies the caller.</a:t>
            </a:r>
          </a:p>
        </p:txBody>
      </p:sp>
      <p:sp>
        <p:nvSpPr>
          <p:cNvPr id="5" name="Rounded Rectangle 4"/>
          <p:cNvSpPr/>
          <p:nvPr/>
        </p:nvSpPr>
        <p:spPr>
          <a:xfrm>
            <a:off x="548640" y="1866900"/>
            <a:ext cx="5715000" cy="3627119"/>
          </a:xfrm>
          <a:prstGeom prst="roundRect">
            <a:avLst>
              <a:gd name="adj" fmla="val 3151"/>
            </a:avLst>
          </a:prstGeom>
          <a:solidFill>
            <a:srgbClr val="0B2233"/>
          </a:solidFill>
          <a:ln>
            <a:noFill/>
          </a:ln>
          <a:effectLst/>
        </p:spPr>
        <p:txBody>
          <a:bodyPr rtlCol="0" anchor="ctr"/>
          <a:lstStyle/>
          <a:p>
            <a:pPr algn="ctr"/>
          </a:p>
        </p:txBody>
      </p:sp>
      <p:sp>
        <p:nvSpPr>
          <p:cNvPr id="6" name="TextBox 5"/>
          <p:cNvSpPr txBox="1"/>
          <p:nvPr/>
        </p:nvSpPr>
        <p:spPr>
          <a:xfrm>
            <a:off x="777240" y="210312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interface_ref: atom.storage@1.0.0</a:t>
            </a:r>
          </a:p>
        </p:txBody>
      </p:sp>
      <p:sp>
        <p:nvSpPr>
          <p:cNvPr id="7" name="TextBox 6"/>
          <p:cNvSpPr txBox="1"/>
          <p:nvPr/>
        </p:nvSpPr>
        <p:spPr>
          <a:xfrm>
            <a:off x="777240" y="250698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profile: immutable-bytes/1</a:t>
            </a:r>
          </a:p>
        </p:txBody>
      </p:sp>
      <p:sp>
        <p:nvSpPr>
          <p:cNvPr id="8" name="TextBox 7"/>
          <p:cNvSpPr txBox="1"/>
          <p:nvPr/>
        </p:nvSpPr>
        <p:spPr>
          <a:xfrm>
            <a:off x="777240" y="291084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operation: create</a:t>
            </a:r>
          </a:p>
        </p:txBody>
      </p:sp>
      <p:sp>
        <p:nvSpPr>
          <p:cNvPr id="9" name="TextBox 8"/>
          <p:cNvSpPr txBox="1"/>
          <p:nvPr/>
        </p:nvSpPr>
        <p:spPr>
          <a:xfrm>
            <a:off x="777240" y="331470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scope_ref: shared-test</a:t>
            </a:r>
          </a:p>
        </p:txBody>
      </p:sp>
      <p:sp>
        <p:nvSpPr>
          <p:cNvPr id="10" name="TextBox 9"/>
          <p:cNvSpPr txBox="1"/>
          <p:nvPr/>
        </p:nvSpPr>
        <p:spPr>
          <a:xfrm>
            <a:off x="777240" y="371856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message_id: delivery-042</a:t>
            </a:r>
          </a:p>
        </p:txBody>
      </p:sp>
      <p:sp>
        <p:nvSpPr>
          <p:cNvPr id="11" name="TextBox 10"/>
          <p:cNvSpPr txBox="1"/>
          <p:nvPr/>
        </p:nvSpPr>
        <p:spPr>
          <a:xfrm>
            <a:off x="777240" y="4122419"/>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77DDC4"/>
                </a:solidFill>
                <a:latin typeface="DejaVu Sans Mono"/>
              </a:rPr>
              <a:t>idempotency_key: capture-007</a:t>
            </a:r>
          </a:p>
        </p:txBody>
      </p:sp>
      <p:sp>
        <p:nvSpPr>
          <p:cNvPr id="12" name="TextBox 11"/>
          <p:cNvSpPr txBox="1"/>
          <p:nvPr/>
        </p:nvSpPr>
        <p:spPr>
          <a:xfrm>
            <a:off x="777240" y="4526280"/>
            <a:ext cx="53035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FFFFFF"/>
                </a:solidFill>
                <a:latin typeface="DejaVu Sans Mono"/>
              </a:rPr>
              <a:t>body: {content_type, bytes, sharing}</a:t>
            </a:r>
          </a:p>
        </p:txBody>
      </p:sp>
      <p:sp>
        <p:nvSpPr>
          <p:cNvPr id="13" name="TextBox 12"/>
          <p:cNvSpPr txBox="1"/>
          <p:nvPr/>
        </p:nvSpPr>
        <p:spPr>
          <a:xfrm>
            <a:off x="777240" y="5067300"/>
            <a:ext cx="5181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AAC0CC"/>
                </a:solidFill>
                <a:latin typeface="DejaVu Sans"/>
              </a:rPr>
              <a:t>Illustrative field view · not a literal wire request</a:t>
            </a:r>
          </a:p>
        </p:txBody>
      </p:sp>
      <p:sp>
        <p:nvSpPr>
          <p:cNvPr id="14" name="Rounded Rectangle 13"/>
          <p:cNvSpPr/>
          <p:nvPr/>
        </p:nvSpPr>
        <p:spPr>
          <a:xfrm>
            <a:off x="6629400" y="1866900"/>
            <a:ext cx="5013960" cy="1005840"/>
          </a:xfrm>
          <a:prstGeom prst="roundRect">
            <a:avLst>
              <a:gd name="adj" fmla="val 9848"/>
            </a:avLst>
          </a:prstGeom>
          <a:solidFill>
            <a:srgbClr val="FFFFFF"/>
          </a:solidFill>
          <a:ln w="7620">
            <a:solidFill>
              <a:srgbClr val="102B3F"/>
            </a:solidFill>
          </a:ln>
          <a:effectLst/>
        </p:spPr>
        <p:txBody>
          <a:bodyPr rtlCol="0" anchor="ctr"/>
          <a:lstStyle/>
          <a:p>
            <a:pPr algn="ctr"/>
          </a:p>
        </p:txBody>
      </p:sp>
      <p:sp>
        <p:nvSpPr>
          <p:cNvPr id="15" name="TextBox 14"/>
          <p:cNvSpPr txBox="1"/>
          <p:nvPr/>
        </p:nvSpPr>
        <p:spPr>
          <a:xfrm>
            <a:off x="6797039" y="2034539"/>
            <a:ext cx="46786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Occurrence ≠ content</a:t>
            </a:r>
          </a:p>
        </p:txBody>
      </p:sp>
      <p:sp>
        <p:nvSpPr>
          <p:cNvPr id="16" name="TextBox 15"/>
          <p:cNvSpPr txBox="1"/>
          <p:nvPr/>
        </p:nvSpPr>
        <p:spPr>
          <a:xfrm>
            <a:off x="6797039" y="2403347"/>
            <a:ext cx="46786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Identical bytes can be distinct observations.</a:t>
            </a:r>
          </a:p>
        </p:txBody>
      </p:sp>
      <p:sp>
        <p:nvSpPr>
          <p:cNvPr id="17" name="Rounded Rectangle 16"/>
          <p:cNvSpPr/>
          <p:nvPr/>
        </p:nvSpPr>
        <p:spPr>
          <a:xfrm>
            <a:off x="6629400" y="3086100"/>
            <a:ext cx="5013960" cy="1005840"/>
          </a:xfrm>
          <a:prstGeom prst="roundRect">
            <a:avLst>
              <a:gd name="adj" fmla="val 9848"/>
            </a:avLst>
          </a:prstGeom>
          <a:solidFill>
            <a:srgbClr val="FFFFFF"/>
          </a:solidFill>
          <a:ln w="7620">
            <a:solidFill>
              <a:srgbClr val="102B3F"/>
            </a:solidFill>
          </a:ln>
          <a:effectLst/>
        </p:spPr>
        <p:txBody>
          <a:bodyPr rtlCol="0" anchor="ctr"/>
          <a:lstStyle/>
          <a:p>
            <a:pPr algn="ctr"/>
          </a:p>
        </p:txBody>
      </p:sp>
      <p:sp>
        <p:nvSpPr>
          <p:cNvPr id="18" name="TextBox 17"/>
          <p:cNvSpPr txBox="1"/>
          <p:nvPr/>
        </p:nvSpPr>
        <p:spPr>
          <a:xfrm>
            <a:off x="6797039" y="3253740"/>
            <a:ext cx="46786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Retry ≠ new mutation</a:t>
            </a:r>
          </a:p>
        </p:txBody>
      </p:sp>
      <p:sp>
        <p:nvSpPr>
          <p:cNvPr id="19" name="TextBox 18"/>
          <p:cNvSpPr txBox="1"/>
          <p:nvPr/>
        </p:nvSpPr>
        <p:spPr>
          <a:xfrm>
            <a:off x="6797039" y="3622547"/>
            <a:ext cx="46786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Same key + semantic input recovers the same effect.</a:t>
            </a:r>
          </a:p>
        </p:txBody>
      </p:sp>
      <p:sp>
        <p:nvSpPr>
          <p:cNvPr id="20" name="Rounded Rectangle 19"/>
          <p:cNvSpPr/>
          <p:nvPr/>
        </p:nvSpPr>
        <p:spPr>
          <a:xfrm>
            <a:off x="6629400" y="4305300"/>
            <a:ext cx="5013960" cy="1188720"/>
          </a:xfrm>
          <a:prstGeom prst="roundRect">
            <a:avLst>
              <a:gd name="adj" fmla="val 8333"/>
            </a:avLst>
          </a:prstGeom>
          <a:solidFill>
            <a:srgbClr val="FFFFFF"/>
          </a:solidFill>
          <a:ln w="7620">
            <a:solidFill>
              <a:srgbClr val="102B3F"/>
            </a:solidFill>
          </a:ln>
          <a:effectLst/>
        </p:spPr>
        <p:txBody>
          <a:bodyPr rtlCol="0" anchor="ctr"/>
          <a:lstStyle/>
          <a:p>
            <a:pPr algn="ctr"/>
          </a:p>
        </p:txBody>
      </p:sp>
      <p:sp>
        <p:nvSpPr>
          <p:cNvPr id="21" name="TextBox 20"/>
          <p:cNvSpPr txBox="1"/>
          <p:nvPr/>
        </p:nvSpPr>
        <p:spPr>
          <a:xfrm>
            <a:off x="6797039" y="4472940"/>
            <a:ext cx="46786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Scope identifier ≠ permission</a:t>
            </a:r>
          </a:p>
        </p:txBody>
      </p:sp>
      <p:sp>
        <p:nvSpPr>
          <p:cNvPr id="22" name="TextBox 21"/>
          <p:cNvSpPr txBox="1"/>
          <p:nvPr/>
        </p:nvSpPr>
        <p:spPr>
          <a:xfrm>
            <a:off x="6797039" y="4831994"/>
            <a:ext cx="46786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Live policy uses the authenticated principal.</a:t>
            </a:r>
          </a:p>
        </p:txBody>
      </p:sp>
      <p:sp>
        <p:nvSpPr>
          <p:cNvPr id="23" name="TextBox 22"/>
          <p:cNvSpPr txBox="1"/>
          <p:nvPr/>
        </p:nvSpPr>
        <p:spPr>
          <a:xfrm>
            <a:off x="6797039" y="5046573"/>
            <a:ext cx="46786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Correlation + reply route make async work traceable.</a:t>
            </a:r>
          </a:p>
        </p:txBody>
      </p:sp>
      <p:cxnSp>
        <p:nvCxnSpPr>
          <p:cNvPr id="24" name="Connector 23"/>
          <p:cNvCxnSpPr/>
          <p:nvPr/>
        </p:nvCxnSpPr>
        <p:spPr>
          <a:xfrm>
            <a:off x="548640" y="6393180"/>
            <a:ext cx="11094720" cy="0"/>
          </a:xfrm>
          <a:prstGeom prst="line">
            <a:avLst/>
          </a:prstGeom>
          <a:ln w="7620">
            <a:solidFill>
              <a:srgbClr val="C9D2D4"/>
            </a:solidFill>
          </a:ln>
          <a:effectLst/>
        </p:spPr>
      </p:cxnSp>
      <p:sp>
        <p:nvSpPr>
          <p:cNvPr id="25" name="TextBox 24"/>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contracts.py · wire.schema.json</a:t>
            </a:r>
          </a:p>
        </p:txBody>
      </p:sp>
      <p:sp>
        <p:nvSpPr>
          <p:cNvPr id="26" name="TextBox 2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RUNNING INTEGRATION · END-TO-END</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One slice crosses real process and storage boundaries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Two independent protocol peers. One allowlisted operation. Two interchangeable service bindings.</a:t>
            </a:r>
          </a:p>
        </p:txBody>
      </p:sp>
      <p:sp>
        <p:nvSpPr>
          <p:cNvPr id="5" name="Rounded Rectangle 4"/>
          <p:cNvSpPr/>
          <p:nvPr/>
        </p:nvSpPr>
        <p:spPr>
          <a:xfrm>
            <a:off x="342900" y="1798320"/>
            <a:ext cx="1143000" cy="396240"/>
          </a:xfrm>
          <a:prstGeom prst="roundRect">
            <a:avLst>
              <a:gd name="adj" fmla="val 15384"/>
            </a:avLst>
          </a:prstGeom>
          <a:solidFill>
            <a:srgbClr val="E4EBF5"/>
          </a:solidFill>
          <a:ln>
            <a:noFill/>
          </a:ln>
          <a:effectLst/>
        </p:spPr>
        <p:txBody>
          <a:bodyPr rtlCol="0" anchor="ctr"/>
          <a:lstStyle/>
          <a:p>
            <a:pPr algn="ctr"/>
          </a:p>
        </p:txBody>
      </p:sp>
      <p:sp>
        <p:nvSpPr>
          <p:cNvPr id="6" name="TextBox 5"/>
          <p:cNvSpPr txBox="1"/>
          <p:nvPr/>
        </p:nvSpPr>
        <p:spPr>
          <a:xfrm>
            <a:off x="441959" y="1912620"/>
            <a:ext cx="1066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Peer A</a:t>
            </a:r>
          </a:p>
        </p:txBody>
      </p:sp>
      <p:cxnSp>
        <p:nvCxnSpPr>
          <p:cNvPr id="7" name="Connector 6"/>
          <p:cNvCxnSpPr/>
          <p:nvPr/>
        </p:nvCxnSpPr>
        <p:spPr>
          <a:xfrm>
            <a:off x="914400" y="2286000"/>
            <a:ext cx="0" cy="3528060"/>
          </a:xfrm>
          <a:prstGeom prst="line">
            <a:avLst/>
          </a:prstGeom>
          <a:ln w="15240">
            <a:solidFill>
              <a:srgbClr val="C9D2D4"/>
            </a:solidFill>
            <a:prstDash val="dash"/>
          </a:ln>
          <a:effectLst/>
        </p:spPr>
      </p:cxnSp>
      <p:sp>
        <p:nvSpPr>
          <p:cNvPr id="8" name="Rounded Rectangle 7"/>
          <p:cNvSpPr/>
          <p:nvPr/>
        </p:nvSpPr>
        <p:spPr>
          <a:xfrm>
            <a:off x="2766060" y="1798320"/>
            <a:ext cx="1143000" cy="396240"/>
          </a:xfrm>
          <a:prstGeom prst="roundRect">
            <a:avLst>
              <a:gd name="adj" fmla="val 15384"/>
            </a:avLst>
          </a:prstGeom>
          <a:solidFill>
            <a:srgbClr val="E4EBF5"/>
          </a:solidFill>
          <a:ln>
            <a:noFill/>
          </a:ln>
          <a:effectLst/>
        </p:spPr>
        <p:txBody>
          <a:bodyPr rtlCol="0" anchor="ctr"/>
          <a:lstStyle/>
          <a:p>
            <a:pPr algn="ctr"/>
          </a:p>
        </p:txBody>
      </p:sp>
      <p:sp>
        <p:nvSpPr>
          <p:cNvPr id="9" name="TextBox 8"/>
          <p:cNvSpPr txBox="1"/>
          <p:nvPr/>
        </p:nvSpPr>
        <p:spPr>
          <a:xfrm>
            <a:off x="2865120" y="1912620"/>
            <a:ext cx="1066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Owners</a:t>
            </a:r>
          </a:p>
        </p:txBody>
      </p:sp>
      <p:cxnSp>
        <p:nvCxnSpPr>
          <p:cNvPr id="10" name="Connector 9"/>
          <p:cNvCxnSpPr/>
          <p:nvPr/>
        </p:nvCxnSpPr>
        <p:spPr>
          <a:xfrm>
            <a:off x="3337560" y="2286000"/>
            <a:ext cx="0" cy="3528060"/>
          </a:xfrm>
          <a:prstGeom prst="line">
            <a:avLst/>
          </a:prstGeom>
          <a:ln w="15240">
            <a:solidFill>
              <a:srgbClr val="C9D2D4"/>
            </a:solidFill>
            <a:prstDash val="dash"/>
          </a:ln>
          <a:effectLst/>
        </p:spPr>
      </p:cxnSp>
      <p:sp>
        <p:nvSpPr>
          <p:cNvPr id="11" name="Rounded Rectangle 10"/>
          <p:cNvSpPr/>
          <p:nvPr/>
        </p:nvSpPr>
        <p:spPr>
          <a:xfrm>
            <a:off x="5189220" y="1798320"/>
            <a:ext cx="1143000" cy="396240"/>
          </a:xfrm>
          <a:prstGeom prst="roundRect">
            <a:avLst>
              <a:gd name="adj" fmla="val 15384"/>
            </a:avLst>
          </a:prstGeom>
          <a:solidFill>
            <a:srgbClr val="E4EBF5"/>
          </a:solidFill>
          <a:ln>
            <a:noFill/>
          </a:ln>
          <a:effectLst/>
        </p:spPr>
        <p:txBody>
          <a:bodyPr rtlCol="0" anchor="ctr"/>
          <a:lstStyle/>
          <a:p>
            <a:pPr algn="ctr"/>
          </a:p>
        </p:txBody>
      </p:sp>
      <p:sp>
        <p:nvSpPr>
          <p:cNvPr id="12" name="TextBox 11"/>
          <p:cNvSpPr txBox="1"/>
          <p:nvPr/>
        </p:nvSpPr>
        <p:spPr>
          <a:xfrm>
            <a:off x="5288280" y="1912620"/>
            <a:ext cx="1066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Peer B</a:t>
            </a:r>
          </a:p>
        </p:txBody>
      </p:sp>
      <p:cxnSp>
        <p:nvCxnSpPr>
          <p:cNvPr id="13" name="Connector 12"/>
          <p:cNvCxnSpPr/>
          <p:nvPr/>
        </p:nvCxnSpPr>
        <p:spPr>
          <a:xfrm>
            <a:off x="5760720" y="2286000"/>
            <a:ext cx="0" cy="3528060"/>
          </a:xfrm>
          <a:prstGeom prst="line">
            <a:avLst/>
          </a:prstGeom>
          <a:ln w="15240">
            <a:solidFill>
              <a:srgbClr val="C9D2D4"/>
            </a:solidFill>
            <a:prstDash val="dash"/>
          </a:ln>
          <a:effectLst/>
        </p:spPr>
      </p:cxnSp>
      <p:sp>
        <p:nvSpPr>
          <p:cNvPr id="14" name="Rounded Rectangle 13"/>
          <p:cNvSpPr/>
          <p:nvPr/>
        </p:nvSpPr>
        <p:spPr>
          <a:xfrm>
            <a:off x="7612380" y="1798320"/>
            <a:ext cx="1143000" cy="396240"/>
          </a:xfrm>
          <a:prstGeom prst="roundRect">
            <a:avLst>
              <a:gd name="adj" fmla="val 15384"/>
            </a:avLst>
          </a:prstGeom>
          <a:solidFill>
            <a:srgbClr val="E4EBF5"/>
          </a:solidFill>
          <a:ln>
            <a:noFill/>
          </a:ln>
          <a:effectLst/>
        </p:spPr>
        <p:txBody>
          <a:bodyPr rtlCol="0" anchor="ctr"/>
          <a:lstStyle/>
          <a:p>
            <a:pPr algn="ctr"/>
          </a:p>
        </p:txBody>
      </p:sp>
      <p:sp>
        <p:nvSpPr>
          <p:cNvPr id="15" name="TextBox 14"/>
          <p:cNvSpPr txBox="1"/>
          <p:nvPr/>
        </p:nvSpPr>
        <p:spPr>
          <a:xfrm>
            <a:off x="7711439" y="1912620"/>
            <a:ext cx="1066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Worker</a:t>
            </a:r>
          </a:p>
        </p:txBody>
      </p:sp>
      <p:cxnSp>
        <p:nvCxnSpPr>
          <p:cNvPr id="16" name="Connector 15"/>
          <p:cNvCxnSpPr/>
          <p:nvPr/>
        </p:nvCxnSpPr>
        <p:spPr>
          <a:xfrm>
            <a:off x="8183880" y="2286000"/>
            <a:ext cx="0" cy="3528060"/>
          </a:xfrm>
          <a:prstGeom prst="line">
            <a:avLst/>
          </a:prstGeom>
          <a:ln w="15240">
            <a:solidFill>
              <a:srgbClr val="C9D2D4"/>
            </a:solidFill>
            <a:prstDash val="dash"/>
          </a:ln>
          <a:effectLst/>
        </p:spPr>
      </p:cxnSp>
      <p:sp>
        <p:nvSpPr>
          <p:cNvPr id="17" name="Rounded Rectangle 16"/>
          <p:cNvSpPr/>
          <p:nvPr/>
        </p:nvSpPr>
        <p:spPr>
          <a:xfrm>
            <a:off x="10035540" y="1798320"/>
            <a:ext cx="1143000" cy="396240"/>
          </a:xfrm>
          <a:prstGeom prst="roundRect">
            <a:avLst>
              <a:gd name="adj" fmla="val 15384"/>
            </a:avLst>
          </a:prstGeom>
          <a:solidFill>
            <a:srgbClr val="DCEFE8"/>
          </a:solidFill>
          <a:ln>
            <a:noFill/>
          </a:ln>
          <a:effectLst/>
        </p:spPr>
        <p:txBody>
          <a:bodyPr rtlCol="0" anchor="ctr"/>
          <a:lstStyle/>
          <a:p>
            <a:pPr algn="ctr"/>
          </a:p>
        </p:txBody>
      </p:sp>
      <p:sp>
        <p:nvSpPr>
          <p:cNvPr id="18" name="TextBox 17"/>
          <p:cNvSpPr txBox="1"/>
          <p:nvPr/>
        </p:nvSpPr>
        <p:spPr>
          <a:xfrm>
            <a:off x="10134600" y="1912620"/>
            <a:ext cx="1066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DeTTa</a:t>
            </a:r>
          </a:p>
        </p:txBody>
      </p:sp>
      <p:cxnSp>
        <p:nvCxnSpPr>
          <p:cNvPr id="19" name="Connector 18"/>
          <p:cNvCxnSpPr/>
          <p:nvPr/>
        </p:nvCxnSpPr>
        <p:spPr>
          <a:xfrm>
            <a:off x="10607040" y="2286000"/>
            <a:ext cx="0" cy="3528060"/>
          </a:xfrm>
          <a:prstGeom prst="line">
            <a:avLst/>
          </a:prstGeom>
          <a:ln w="15240">
            <a:solidFill>
              <a:srgbClr val="C9D2D4"/>
            </a:solidFill>
            <a:prstDash val="dash"/>
          </a:ln>
          <a:effectLst/>
        </p:spPr>
      </p:cxnSp>
      <p:sp>
        <p:nvSpPr>
          <p:cNvPr id="20" name="TextBox 19"/>
          <p:cNvSpPr txBox="1"/>
          <p:nvPr/>
        </p:nvSpPr>
        <p:spPr>
          <a:xfrm>
            <a:off x="1005840" y="2316480"/>
            <a:ext cx="48006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create fixture</a:t>
            </a:r>
          </a:p>
        </p:txBody>
      </p:sp>
      <p:cxnSp>
        <p:nvCxnSpPr>
          <p:cNvPr id="21" name="Connector 20"/>
          <p:cNvCxnSpPr/>
          <p:nvPr/>
        </p:nvCxnSpPr>
        <p:spPr>
          <a:xfrm>
            <a:off x="914400" y="2529840"/>
            <a:ext cx="2423160" cy="0"/>
          </a:xfrm>
          <a:prstGeom prst="line">
            <a:avLst/>
          </a:prstGeom>
          <a:ln w="15240">
            <a:solidFill>
              <a:srgbClr val="315E9C"/>
            </a:solidFill>
          </a:ln>
          <a:effectLst/>
        </p:spPr>
      </p:cxnSp>
      <p:sp>
        <p:nvSpPr>
          <p:cNvPr id="22" name="Freeform 21"/>
          <p:cNvSpPr/>
          <p:nvPr/>
        </p:nvSpPr>
        <p:spPr>
          <a:xfrm>
            <a:off x="3238500" y="24917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TextBox 22"/>
          <p:cNvSpPr txBox="1"/>
          <p:nvPr/>
        </p:nvSpPr>
        <p:spPr>
          <a:xfrm>
            <a:off x="3429000" y="2720340"/>
            <a:ext cx="726948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persist bytes → scoped ref</a:t>
            </a:r>
          </a:p>
        </p:txBody>
      </p:sp>
      <p:cxnSp>
        <p:nvCxnSpPr>
          <p:cNvPr id="24" name="Connector 23"/>
          <p:cNvCxnSpPr/>
          <p:nvPr/>
        </p:nvCxnSpPr>
        <p:spPr>
          <a:xfrm>
            <a:off x="3337560" y="2933700"/>
            <a:ext cx="7269480" cy="0"/>
          </a:xfrm>
          <a:prstGeom prst="line">
            <a:avLst/>
          </a:prstGeom>
          <a:ln w="15240">
            <a:solidFill>
              <a:srgbClr val="007C78"/>
            </a:solidFill>
          </a:ln>
          <a:effectLst/>
        </p:spPr>
      </p:cxnSp>
      <p:sp>
        <p:nvSpPr>
          <p:cNvPr id="25" name="Freeform 24"/>
          <p:cNvSpPr/>
          <p:nvPr/>
        </p:nvSpPr>
        <p:spPr>
          <a:xfrm>
            <a:off x="10507980" y="2895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6" name="TextBox 25"/>
          <p:cNvSpPr txBox="1"/>
          <p:nvPr/>
        </p:nvSpPr>
        <p:spPr>
          <a:xfrm>
            <a:off x="1005840" y="3124200"/>
            <a:ext cx="48463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share ref through durable mailbox</a:t>
            </a:r>
          </a:p>
        </p:txBody>
      </p:sp>
      <p:cxnSp>
        <p:nvCxnSpPr>
          <p:cNvPr id="27" name="Connector 26"/>
          <p:cNvCxnSpPr/>
          <p:nvPr/>
        </p:nvCxnSpPr>
        <p:spPr>
          <a:xfrm>
            <a:off x="914400" y="3337560"/>
            <a:ext cx="4846320" cy="0"/>
          </a:xfrm>
          <a:prstGeom prst="line">
            <a:avLst/>
          </a:prstGeom>
          <a:ln w="15240">
            <a:solidFill>
              <a:srgbClr val="315E9C"/>
            </a:solidFill>
          </a:ln>
          <a:effectLst/>
        </p:spPr>
      </p:cxnSp>
      <p:sp>
        <p:nvSpPr>
          <p:cNvPr id="28" name="Freeform 27"/>
          <p:cNvSpPr/>
          <p:nvPr/>
        </p:nvSpPr>
        <p:spPr>
          <a:xfrm>
            <a:off x="5661660" y="3299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9" name="TextBox 28"/>
          <p:cNvSpPr txBox="1"/>
          <p:nvPr/>
        </p:nvSpPr>
        <p:spPr>
          <a:xfrm>
            <a:off x="3429000" y="3528060"/>
            <a:ext cx="48006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get(ref) → identical bytes</a:t>
            </a:r>
          </a:p>
        </p:txBody>
      </p:sp>
      <p:cxnSp>
        <p:nvCxnSpPr>
          <p:cNvPr id="30" name="Connector 29"/>
          <p:cNvCxnSpPr/>
          <p:nvPr/>
        </p:nvCxnSpPr>
        <p:spPr>
          <a:xfrm flipH="1">
            <a:off x="3337560" y="3741419"/>
            <a:ext cx="2423160" cy="0"/>
          </a:xfrm>
          <a:prstGeom prst="line">
            <a:avLst/>
          </a:prstGeom>
          <a:ln w="15240">
            <a:solidFill>
              <a:srgbClr val="315E9C"/>
            </a:solidFill>
          </a:ln>
          <a:effectLst/>
        </p:spPr>
      </p:cxnSp>
      <p:sp>
        <p:nvSpPr>
          <p:cNvPr id="31" name="Freeform 30"/>
          <p:cNvSpPr/>
          <p:nvPr/>
        </p:nvSpPr>
        <p:spPr>
          <a:xfrm>
            <a:off x="3337560" y="370332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sp>
        <p:nvSpPr>
          <p:cNvPr id="32" name="TextBox 31"/>
          <p:cNvSpPr txBox="1"/>
          <p:nvPr/>
        </p:nvSpPr>
        <p:spPr>
          <a:xfrm>
            <a:off x="1005840" y="3931919"/>
            <a:ext cx="48006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submit inspect_atom → durable acceptance</a:t>
            </a:r>
          </a:p>
        </p:txBody>
      </p:sp>
      <p:cxnSp>
        <p:nvCxnSpPr>
          <p:cNvPr id="33" name="Connector 32"/>
          <p:cNvCxnSpPr/>
          <p:nvPr/>
        </p:nvCxnSpPr>
        <p:spPr>
          <a:xfrm>
            <a:off x="914400" y="4145279"/>
            <a:ext cx="2423160" cy="0"/>
          </a:xfrm>
          <a:prstGeom prst="line">
            <a:avLst/>
          </a:prstGeom>
          <a:ln w="15240">
            <a:solidFill>
              <a:srgbClr val="315E9C"/>
            </a:solidFill>
          </a:ln>
          <a:effectLst/>
        </p:spPr>
      </p:cxnSp>
      <p:sp>
        <p:nvSpPr>
          <p:cNvPr id="34" name="Freeform 33"/>
          <p:cNvSpPr/>
          <p:nvPr/>
        </p:nvSpPr>
        <p:spPr>
          <a:xfrm>
            <a:off x="3238500" y="4107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5" name="TextBox 34"/>
          <p:cNvSpPr txBox="1"/>
          <p:nvPr/>
        </p:nvSpPr>
        <p:spPr>
          <a:xfrm>
            <a:off x="8275320" y="4335780"/>
            <a:ext cx="3360419"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read + compute + persist</a:t>
            </a:r>
          </a:p>
        </p:txBody>
      </p:sp>
      <p:cxnSp>
        <p:nvCxnSpPr>
          <p:cNvPr id="36" name="Connector 35"/>
          <p:cNvCxnSpPr/>
          <p:nvPr/>
        </p:nvCxnSpPr>
        <p:spPr>
          <a:xfrm>
            <a:off x="8183880" y="4549140"/>
            <a:ext cx="2423160" cy="0"/>
          </a:xfrm>
          <a:prstGeom prst="line">
            <a:avLst/>
          </a:prstGeom>
          <a:ln w="15240">
            <a:solidFill>
              <a:srgbClr val="007C78"/>
            </a:solidFill>
          </a:ln>
          <a:effectLst/>
        </p:spPr>
      </p:cxnSp>
      <p:sp>
        <p:nvSpPr>
          <p:cNvPr id="37" name="Freeform 36"/>
          <p:cNvSpPr/>
          <p:nvPr/>
        </p:nvSpPr>
        <p:spPr>
          <a:xfrm>
            <a:off x="10507980" y="45110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8" name="TextBox 37"/>
          <p:cNvSpPr txBox="1"/>
          <p:nvPr/>
        </p:nvSpPr>
        <p:spPr>
          <a:xfrm>
            <a:off x="3429000" y="4739640"/>
            <a:ext cx="48463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commit result + completion outbox</a:t>
            </a:r>
          </a:p>
        </p:txBody>
      </p:sp>
      <p:cxnSp>
        <p:nvCxnSpPr>
          <p:cNvPr id="39" name="Connector 38"/>
          <p:cNvCxnSpPr/>
          <p:nvPr/>
        </p:nvCxnSpPr>
        <p:spPr>
          <a:xfrm flipH="1">
            <a:off x="3337560" y="4953000"/>
            <a:ext cx="4846320" cy="0"/>
          </a:xfrm>
          <a:prstGeom prst="line">
            <a:avLst/>
          </a:prstGeom>
          <a:ln w="15240">
            <a:solidFill>
              <a:srgbClr val="315E9C"/>
            </a:solidFill>
          </a:ln>
          <a:effectLst/>
        </p:spPr>
      </p:cxnSp>
      <p:sp>
        <p:nvSpPr>
          <p:cNvPr id="40" name="Freeform 39"/>
          <p:cNvSpPr/>
          <p:nvPr/>
        </p:nvSpPr>
        <p:spPr>
          <a:xfrm>
            <a:off x="3337560" y="491490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sp>
        <p:nvSpPr>
          <p:cNvPr id="41" name="TextBox 40"/>
          <p:cNvSpPr txBox="1"/>
          <p:nvPr/>
        </p:nvSpPr>
        <p:spPr>
          <a:xfrm>
            <a:off x="1005840" y="5265420"/>
            <a:ext cx="48006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restart → status / result / poll / ack</a:t>
            </a:r>
          </a:p>
        </p:txBody>
      </p:sp>
      <p:cxnSp>
        <p:nvCxnSpPr>
          <p:cNvPr id="42" name="Connector 41"/>
          <p:cNvCxnSpPr/>
          <p:nvPr/>
        </p:nvCxnSpPr>
        <p:spPr>
          <a:xfrm>
            <a:off x="914400" y="5478780"/>
            <a:ext cx="2423160" cy="0"/>
          </a:xfrm>
          <a:prstGeom prst="line">
            <a:avLst/>
          </a:prstGeom>
          <a:ln w="15240">
            <a:solidFill>
              <a:srgbClr val="315E9C"/>
            </a:solidFill>
          </a:ln>
          <a:effectLst/>
        </p:spPr>
      </p:cxnSp>
      <p:sp>
        <p:nvSpPr>
          <p:cNvPr id="43" name="Freeform 42"/>
          <p:cNvSpPr/>
          <p:nvPr/>
        </p:nvSpPr>
        <p:spPr>
          <a:xfrm>
            <a:off x="3238500" y="54406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44" name="Connector 43"/>
          <p:cNvCxnSpPr/>
          <p:nvPr/>
        </p:nvCxnSpPr>
        <p:spPr>
          <a:xfrm>
            <a:off x="548640" y="6393180"/>
            <a:ext cx="11094720" cy="0"/>
          </a:xfrm>
          <a:prstGeom prst="line">
            <a:avLst/>
          </a:prstGeom>
          <a:ln w="7620">
            <a:solidFill>
              <a:srgbClr val="C9D2D4"/>
            </a:solidFill>
          </a:ln>
          <a:effectLst/>
        </p:spPr>
      </p:cxnSp>
      <p:sp>
        <p:nvSpPr>
          <p:cNvPr id="45" name="TextBox 44"/>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scripts/demo.py · evidence/demo.json</a:t>
            </a:r>
          </a:p>
        </p:txBody>
      </p:sp>
      <p:sp>
        <p:nvSpPr>
          <p:cNvPr id="46" name="TextBox 4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RUNNING INTEGRATION · EVIDENCE MODEL</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receipt proves one fact at one boundary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These observations are independent. They are not one universal success state.</a:t>
            </a:r>
          </a:p>
        </p:txBody>
      </p:sp>
      <p:sp>
        <p:nvSpPr>
          <p:cNvPr id="5" name="Rounded Rectangle 4"/>
          <p:cNvSpPr/>
          <p:nvPr/>
        </p:nvSpPr>
        <p:spPr>
          <a:xfrm>
            <a:off x="548640" y="1920239"/>
            <a:ext cx="3535679" cy="1600200"/>
          </a:xfrm>
          <a:prstGeom prst="roundRect">
            <a:avLst>
              <a:gd name="adj" fmla="val 6190"/>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STORAGE</a:t>
            </a:r>
          </a:p>
        </p:txBody>
      </p:sp>
      <p:sp>
        <p:nvSpPr>
          <p:cNvPr id="7" name="TextBox 6"/>
          <p:cNvSpPr txBox="1"/>
          <p:nvPr/>
        </p:nvSpPr>
        <p:spPr>
          <a:xfrm>
            <a:off x="716280" y="2324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Payload persisted</a:t>
            </a:r>
          </a:p>
        </p:txBody>
      </p:sp>
      <p:sp>
        <p:nvSpPr>
          <p:cNvPr id="8" name="TextBox 7"/>
          <p:cNvSpPr txBox="1"/>
          <p:nvPr/>
        </p:nvSpPr>
        <p:spPr>
          <a:xfrm>
            <a:off x="716280" y="2683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Local shares; declared durability</a:t>
            </a:r>
          </a:p>
        </p:txBody>
      </p:sp>
      <p:sp>
        <p:nvSpPr>
          <p:cNvPr id="9" name="Rounded Rectangle 8"/>
          <p:cNvSpPr/>
          <p:nvPr/>
        </p:nvSpPr>
        <p:spPr>
          <a:xfrm>
            <a:off x="4328160" y="1920239"/>
            <a:ext cx="3535679" cy="1600200"/>
          </a:xfrm>
          <a:prstGeom prst="roundRect">
            <a:avLst>
              <a:gd name="adj" fmla="val 6190"/>
            </a:avLst>
          </a:prstGeom>
          <a:solidFill>
            <a:srgbClr val="FFFFFF"/>
          </a:solidFill>
          <a:ln w="7620">
            <a:solidFill>
              <a:srgbClr val="315E9C"/>
            </a:solidFill>
          </a:ln>
          <a:effectLst/>
        </p:spPr>
        <p:txBody>
          <a:bodyPr rtlCol="0" anchor="ctr"/>
          <a:lstStyle/>
          <a:p>
            <a:pPr algn="ctr"/>
          </a:p>
        </p:txBody>
      </p:sp>
      <p:sp>
        <p:nvSpPr>
          <p:cNvPr id="10" name="TextBox 9"/>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MESSAGING</a:t>
            </a:r>
          </a:p>
        </p:txBody>
      </p:sp>
      <p:sp>
        <p:nvSpPr>
          <p:cNvPr id="11" name="TextBox 10"/>
          <p:cNvSpPr txBox="1"/>
          <p:nvPr/>
        </p:nvSpPr>
        <p:spPr>
          <a:xfrm>
            <a:off x="4495800" y="2324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Message accepted</a:t>
            </a:r>
          </a:p>
        </p:txBody>
      </p:sp>
      <p:sp>
        <p:nvSpPr>
          <p:cNvPr id="12" name="TextBox 11"/>
          <p:cNvSpPr txBox="1"/>
          <p:nvPr/>
        </p:nvSpPr>
        <p:spPr>
          <a:xfrm>
            <a:off x="4495800" y="2683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Delivery repeats until recipient</a:t>
            </a:r>
          </a:p>
        </p:txBody>
      </p:sp>
      <p:sp>
        <p:nvSpPr>
          <p:cNvPr id="13" name="TextBox 12"/>
          <p:cNvSpPr txBox="1"/>
          <p:nvPr/>
        </p:nvSpPr>
        <p:spPr>
          <a:xfrm>
            <a:off x="4495800" y="292699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ack</a:t>
            </a:r>
          </a:p>
        </p:txBody>
      </p:sp>
      <p:sp>
        <p:nvSpPr>
          <p:cNvPr id="14" name="Rounded Rectangle 13"/>
          <p:cNvSpPr/>
          <p:nvPr/>
        </p:nvSpPr>
        <p:spPr>
          <a:xfrm>
            <a:off x="8107680" y="1920239"/>
            <a:ext cx="3535679" cy="1600200"/>
          </a:xfrm>
          <a:prstGeom prst="roundRect">
            <a:avLst>
              <a:gd name="adj" fmla="val 6190"/>
            </a:avLst>
          </a:prstGeom>
          <a:solidFill>
            <a:srgbClr val="FFFFFF"/>
          </a:solidFill>
          <a:ln w="7620">
            <a:solidFill>
              <a:srgbClr val="315E9C"/>
            </a:solidFill>
          </a:ln>
          <a:effectLst/>
        </p:spPr>
        <p:txBody>
          <a:bodyPr rtlCol="0" anchor="ctr"/>
          <a:lstStyle/>
          <a:p>
            <a:pPr algn="ctr"/>
          </a:p>
        </p:txBody>
      </p:sp>
      <p:sp>
        <p:nvSpPr>
          <p:cNvPr id="15" name="TextBox 14"/>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EXECUTION</a:t>
            </a:r>
          </a:p>
        </p:txBody>
      </p:sp>
      <p:sp>
        <p:nvSpPr>
          <p:cNvPr id="16" name="TextBox 15"/>
          <p:cNvSpPr txBox="1"/>
          <p:nvPr/>
        </p:nvSpPr>
        <p:spPr>
          <a:xfrm>
            <a:off x="8275320" y="2324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Result committed</a:t>
            </a:r>
          </a:p>
        </p:txBody>
      </p:sp>
      <p:sp>
        <p:nvSpPr>
          <p:cNvPr id="17" name="TextBox 16"/>
          <p:cNvSpPr txBox="1"/>
          <p:nvPr/>
        </p:nvSpPr>
        <p:spPr>
          <a:xfrm>
            <a:off x="8275320" y="2683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Job result + completion outbox</a:t>
            </a:r>
          </a:p>
        </p:txBody>
      </p:sp>
      <p:sp>
        <p:nvSpPr>
          <p:cNvPr id="18" name="Rounded Rectangle 17"/>
          <p:cNvSpPr/>
          <p:nvPr/>
        </p:nvSpPr>
        <p:spPr>
          <a:xfrm>
            <a:off x="548640" y="3825240"/>
            <a:ext cx="3535679" cy="1600200"/>
          </a:xfrm>
          <a:prstGeom prst="roundRect">
            <a:avLst>
              <a:gd name="adj" fmla="val 6190"/>
            </a:avLst>
          </a:prstGeom>
          <a:solidFill>
            <a:srgbClr val="FFFFFF"/>
          </a:solidFill>
          <a:ln w="7620">
            <a:solidFill>
              <a:srgbClr val="A86A15"/>
            </a:solidFill>
          </a:ln>
          <a:effectLst/>
        </p:spPr>
        <p:txBody>
          <a:bodyPr rtlCol="0" anchor="ctr"/>
          <a:lstStyle/>
          <a:p>
            <a:pPr algn="ctr"/>
          </a:p>
        </p:txBody>
      </p:sp>
      <p:sp>
        <p:nvSpPr>
          <p:cNvPr id="19" name="TextBox 18"/>
          <p:cNvSpPr txBox="1"/>
          <p:nvPr/>
        </p:nvSpPr>
        <p:spPr>
          <a:xfrm>
            <a:off x="716280" y="399287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CHAIN SUBMISSION</a:t>
            </a:r>
          </a:p>
        </p:txBody>
      </p:sp>
      <p:sp>
        <p:nvSpPr>
          <p:cNvPr id="20" name="TextBox 19"/>
          <p:cNvSpPr txBox="1"/>
          <p:nvPr/>
        </p:nvSpPr>
        <p:spPr>
          <a:xfrm>
            <a:off x="716280" y="4229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Signed intent accepted</a:t>
            </a:r>
          </a:p>
        </p:txBody>
      </p:sp>
      <p:sp>
        <p:nvSpPr>
          <p:cNvPr id="21" name="TextBox 20"/>
          <p:cNvSpPr txBox="1"/>
          <p:nvPr/>
        </p:nvSpPr>
        <p:spPr>
          <a:xfrm>
            <a:off x="716280" y="4588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Deploy ID; outcome still pending</a:t>
            </a:r>
          </a:p>
        </p:txBody>
      </p:sp>
      <p:sp>
        <p:nvSpPr>
          <p:cNvPr id="22" name="Rounded Rectangle 21"/>
          <p:cNvSpPr/>
          <p:nvPr/>
        </p:nvSpPr>
        <p:spPr>
          <a:xfrm>
            <a:off x="4328160" y="3825240"/>
            <a:ext cx="3535679" cy="1600200"/>
          </a:xfrm>
          <a:prstGeom prst="roundRect">
            <a:avLst>
              <a:gd name="adj" fmla="val 6190"/>
            </a:avLst>
          </a:prstGeom>
          <a:solidFill>
            <a:srgbClr val="FFFFFF"/>
          </a:solidFill>
          <a:ln w="7620">
            <a:solidFill>
              <a:srgbClr val="A86A15"/>
            </a:solidFill>
          </a:ln>
          <a:effectLst/>
        </p:spPr>
        <p:txBody>
          <a:bodyPr rtlCol="0" anchor="ctr"/>
          <a:lstStyle/>
          <a:p>
            <a:pPr algn="ctr"/>
          </a:p>
        </p:txBody>
      </p:sp>
      <p:sp>
        <p:nvSpPr>
          <p:cNvPr id="23" name="TextBox 22"/>
          <p:cNvSpPr txBox="1"/>
          <p:nvPr/>
        </p:nvSpPr>
        <p:spPr>
          <a:xfrm>
            <a:off x="4495800" y="399287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CHAIN INCLUSION</a:t>
            </a:r>
          </a:p>
        </p:txBody>
      </p:sp>
      <p:sp>
        <p:nvSpPr>
          <p:cNvPr id="24" name="TextBox 23"/>
          <p:cNvSpPr txBox="1"/>
          <p:nvPr/>
        </p:nvSpPr>
        <p:spPr>
          <a:xfrm>
            <a:off x="4495800" y="4229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Deploy observed in block</a:t>
            </a:r>
          </a:p>
        </p:txBody>
      </p:sp>
      <p:sp>
        <p:nvSpPr>
          <p:cNvPr id="25" name="TextBox 24"/>
          <p:cNvSpPr txBox="1"/>
          <p:nvPr/>
        </p:nvSpPr>
        <p:spPr>
          <a:xfrm>
            <a:off x="4495800" y="4588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ID; effects may be pending</a:t>
            </a:r>
          </a:p>
        </p:txBody>
      </p:sp>
      <p:sp>
        <p:nvSpPr>
          <p:cNvPr id="26" name="Rounded Rectangle 25"/>
          <p:cNvSpPr/>
          <p:nvPr/>
        </p:nvSpPr>
        <p:spPr>
          <a:xfrm>
            <a:off x="8107680" y="3825240"/>
            <a:ext cx="3535679" cy="1600200"/>
          </a:xfrm>
          <a:prstGeom prst="roundRect">
            <a:avLst>
              <a:gd name="adj" fmla="val 6190"/>
            </a:avLst>
          </a:prstGeom>
          <a:solidFill>
            <a:srgbClr val="FFFFFF"/>
          </a:solidFill>
          <a:ln w="7620">
            <a:solidFill>
              <a:srgbClr val="007C78"/>
            </a:solidFill>
          </a:ln>
          <a:effectLst/>
        </p:spPr>
        <p:txBody>
          <a:bodyPr rtlCol="0" anchor="ctr"/>
          <a:lstStyle/>
          <a:p>
            <a:pPr algn="ctr"/>
          </a:p>
        </p:txBody>
      </p:sp>
      <p:sp>
        <p:nvSpPr>
          <p:cNvPr id="27" name="TextBox 26"/>
          <p:cNvSpPr txBox="1"/>
          <p:nvPr/>
        </p:nvSpPr>
        <p:spPr>
          <a:xfrm>
            <a:off x="8275320" y="399287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CHAIN FINALITY</a:t>
            </a:r>
          </a:p>
        </p:txBody>
      </p:sp>
      <p:sp>
        <p:nvSpPr>
          <p:cNvPr id="28" name="TextBox 27"/>
          <p:cNvSpPr txBox="1"/>
          <p:nvPr/>
        </p:nvSpPr>
        <p:spPr>
          <a:xfrm>
            <a:off x="8275320" y="422910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Effects reported finalized</a:t>
            </a:r>
          </a:p>
        </p:txBody>
      </p:sp>
      <p:sp>
        <p:nvSpPr>
          <p:cNvPr id="29" name="TextBox 28"/>
          <p:cNvSpPr txBox="1"/>
          <p:nvPr/>
        </p:nvSpPr>
        <p:spPr>
          <a:xfrm>
            <a:off x="8275320" y="4588154"/>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Node observation + evidence</a:t>
            </a:r>
          </a:p>
        </p:txBody>
      </p:sp>
      <p:sp>
        <p:nvSpPr>
          <p:cNvPr id="30" name="Rounded Rectangle 29"/>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1" name="TextBox 30"/>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A86A15"/>
                </a:solidFill>
                <a:latin typeface="DejaVu Sans"/>
              </a:rPr>
              <a:t>Finality does not establish indefinite availability of off-chain bytes.</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contracts.md · evidence.md</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RUNNING INTEGRATION · DURABILITY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Crash recovery is a replay protocol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SQLite and DA do not share an atomic commit. The gap is handled explicitly.</a:t>
            </a:r>
          </a:p>
        </p:txBody>
      </p:sp>
      <p:sp>
        <p:nvSpPr>
          <p:cNvPr id="5" name="Rounded Rectangle 4"/>
          <p:cNvSpPr/>
          <p:nvPr/>
        </p:nvSpPr>
        <p:spPr>
          <a:xfrm>
            <a:off x="548640" y="2095500"/>
            <a:ext cx="2636520" cy="1059180"/>
          </a:xfrm>
          <a:prstGeom prst="roundRect">
            <a:avLst>
              <a:gd name="adj" fmla="val 9352"/>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2631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Accept job</a:t>
            </a:r>
          </a:p>
        </p:txBody>
      </p:sp>
      <p:sp>
        <p:nvSpPr>
          <p:cNvPr id="7" name="TextBox 6"/>
          <p:cNvSpPr txBox="1"/>
          <p:nvPr/>
        </p:nvSpPr>
        <p:spPr>
          <a:xfrm>
            <a:off x="716280" y="2622194"/>
            <a:ext cx="23012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SQLite commit</a:t>
            </a:r>
          </a:p>
        </p:txBody>
      </p:sp>
      <p:cxnSp>
        <p:nvCxnSpPr>
          <p:cNvPr id="8" name="Connector 7"/>
          <p:cNvCxnSpPr/>
          <p:nvPr/>
        </p:nvCxnSpPr>
        <p:spPr>
          <a:xfrm>
            <a:off x="3185160" y="2621280"/>
            <a:ext cx="144780" cy="0"/>
          </a:xfrm>
          <a:prstGeom prst="line">
            <a:avLst/>
          </a:prstGeom>
          <a:ln w="15240">
            <a:solidFill>
              <a:srgbClr val="315E9C"/>
            </a:solidFill>
          </a:ln>
          <a:effectLst/>
        </p:spPr>
      </p:cxnSp>
      <p:sp>
        <p:nvSpPr>
          <p:cNvPr id="9" name="Freeform 8"/>
          <p:cNvSpPr/>
          <p:nvPr/>
        </p:nvSpPr>
        <p:spPr>
          <a:xfrm>
            <a:off x="3230880" y="2583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0" name="Rounded Rectangle 9"/>
          <p:cNvSpPr/>
          <p:nvPr/>
        </p:nvSpPr>
        <p:spPr>
          <a:xfrm>
            <a:off x="3368040" y="2095500"/>
            <a:ext cx="2636520" cy="1059180"/>
          </a:xfrm>
          <a:prstGeom prst="roundRect">
            <a:avLst>
              <a:gd name="adj" fmla="val 9352"/>
            </a:avLst>
          </a:prstGeom>
          <a:solidFill>
            <a:srgbClr val="FFFFFF"/>
          </a:solidFill>
          <a:ln w="7620">
            <a:solidFill>
              <a:srgbClr val="007C78"/>
            </a:solidFill>
          </a:ln>
          <a:effectLst/>
        </p:spPr>
        <p:txBody>
          <a:bodyPr rtlCol="0" anchor="ctr"/>
          <a:lstStyle/>
          <a:p>
            <a:pPr algn="ctr"/>
          </a:p>
        </p:txBody>
      </p:sp>
      <p:sp>
        <p:nvSpPr>
          <p:cNvPr id="11" name="TextBox 10"/>
          <p:cNvSpPr txBox="1"/>
          <p:nvPr/>
        </p:nvSpPr>
        <p:spPr>
          <a:xfrm>
            <a:off x="3535679" y="22631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Persist result</a:t>
            </a:r>
          </a:p>
        </p:txBody>
      </p:sp>
      <p:sp>
        <p:nvSpPr>
          <p:cNvPr id="12" name="TextBox 11"/>
          <p:cNvSpPr txBox="1"/>
          <p:nvPr/>
        </p:nvSpPr>
        <p:spPr>
          <a:xfrm>
            <a:off x="3535679" y="2622194"/>
            <a:ext cx="23012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DA write</a:t>
            </a:r>
          </a:p>
        </p:txBody>
      </p:sp>
      <p:cxnSp>
        <p:nvCxnSpPr>
          <p:cNvPr id="13" name="Connector 12"/>
          <p:cNvCxnSpPr/>
          <p:nvPr/>
        </p:nvCxnSpPr>
        <p:spPr>
          <a:xfrm>
            <a:off x="6004559" y="2621280"/>
            <a:ext cx="144781" cy="0"/>
          </a:xfrm>
          <a:prstGeom prst="line">
            <a:avLst/>
          </a:prstGeom>
          <a:ln w="15240">
            <a:solidFill>
              <a:srgbClr val="315E9C"/>
            </a:solidFill>
          </a:ln>
          <a:effectLst/>
        </p:spPr>
      </p:cxnSp>
      <p:sp>
        <p:nvSpPr>
          <p:cNvPr id="14" name="Freeform 13"/>
          <p:cNvSpPr/>
          <p:nvPr/>
        </p:nvSpPr>
        <p:spPr>
          <a:xfrm>
            <a:off x="6050280" y="2583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5" name="Rounded Rectangle 14"/>
          <p:cNvSpPr/>
          <p:nvPr/>
        </p:nvSpPr>
        <p:spPr>
          <a:xfrm>
            <a:off x="6187440" y="2095500"/>
            <a:ext cx="2636520" cy="1059180"/>
          </a:xfrm>
          <a:prstGeom prst="roundRect">
            <a:avLst>
              <a:gd name="adj" fmla="val 9352"/>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6355080" y="22631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Complete job</a:t>
            </a:r>
          </a:p>
        </p:txBody>
      </p:sp>
      <p:sp>
        <p:nvSpPr>
          <p:cNvPr id="17" name="TextBox 16"/>
          <p:cNvSpPr txBox="1"/>
          <p:nvPr/>
        </p:nvSpPr>
        <p:spPr>
          <a:xfrm>
            <a:off x="6355080" y="2622194"/>
            <a:ext cx="23012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 + outbox commit</a:t>
            </a:r>
          </a:p>
        </p:txBody>
      </p:sp>
      <p:cxnSp>
        <p:nvCxnSpPr>
          <p:cNvPr id="18" name="Connector 17"/>
          <p:cNvCxnSpPr/>
          <p:nvPr/>
        </p:nvCxnSpPr>
        <p:spPr>
          <a:xfrm>
            <a:off x="8823960" y="2621280"/>
            <a:ext cx="144780" cy="0"/>
          </a:xfrm>
          <a:prstGeom prst="line">
            <a:avLst/>
          </a:prstGeom>
          <a:ln w="15240">
            <a:solidFill>
              <a:srgbClr val="315E9C"/>
            </a:solidFill>
          </a:ln>
          <a:effectLst/>
        </p:spPr>
      </p:cxnSp>
      <p:sp>
        <p:nvSpPr>
          <p:cNvPr id="19" name="Freeform 18"/>
          <p:cNvSpPr/>
          <p:nvPr/>
        </p:nvSpPr>
        <p:spPr>
          <a:xfrm>
            <a:off x="8869680" y="2583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0" name="Rounded Rectangle 19"/>
          <p:cNvSpPr/>
          <p:nvPr/>
        </p:nvSpPr>
        <p:spPr>
          <a:xfrm>
            <a:off x="9006840" y="2095500"/>
            <a:ext cx="2636520" cy="1059180"/>
          </a:xfrm>
          <a:prstGeom prst="roundRect">
            <a:avLst>
              <a:gd name="adj" fmla="val 9352"/>
            </a:avLst>
          </a:prstGeom>
          <a:solidFill>
            <a:srgbClr val="FFFFFF"/>
          </a:solidFill>
          <a:ln w="7620">
            <a:solidFill>
              <a:srgbClr val="315E9C"/>
            </a:solidFill>
          </a:ln>
          <a:effectLst/>
        </p:spPr>
        <p:txBody>
          <a:bodyPr rtlCol="0" anchor="ctr"/>
          <a:lstStyle/>
          <a:p>
            <a:pPr algn="ctr"/>
          </a:p>
        </p:txBody>
      </p:sp>
      <p:sp>
        <p:nvSpPr>
          <p:cNvPr id="21" name="TextBox 20"/>
          <p:cNvSpPr txBox="1"/>
          <p:nvPr/>
        </p:nvSpPr>
        <p:spPr>
          <a:xfrm>
            <a:off x="9174480" y="22631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Deliver reply</a:t>
            </a:r>
          </a:p>
        </p:txBody>
      </p:sp>
      <p:sp>
        <p:nvSpPr>
          <p:cNvPr id="22" name="TextBox 21"/>
          <p:cNvSpPr txBox="1"/>
          <p:nvPr/>
        </p:nvSpPr>
        <p:spPr>
          <a:xfrm>
            <a:off x="9174480" y="2622194"/>
            <a:ext cx="23012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Inbox + outbox commit</a:t>
            </a:r>
          </a:p>
        </p:txBody>
      </p:sp>
      <p:sp>
        <p:nvSpPr>
          <p:cNvPr id="23" name="Rounded Rectangle 22"/>
          <p:cNvSpPr/>
          <p:nvPr/>
        </p:nvSpPr>
        <p:spPr>
          <a:xfrm>
            <a:off x="685800" y="3520440"/>
            <a:ext cx="1044937" cy="289560"/>
          </a:xfrm>
          <a:prstGeom prst="roundRect">
            <a:avLst>
              <a:gd name="adj" fmla="val 18421"/>
            </a:avLst>
          </a:prstGeom>
          <a:solidFill>
            <a:srgbClr val="F4E3DC"/>
          </a:solidFill>
          <a:ln>
            <a:noFill/>
          </a:ln>
          <a:effectLst/>
        </p:spPr>
        <p:txBody>
          <a:bodyPr rtlCol="0" anchor="ctr"/>
          <a:lstStyle/>
          <a:p>
            <a:pPr algn="ctr"/>
          </a:p>
        </p:txBody>
      </p:sp>
      <p:sp>
        <p:nvSpPr>
          <p:cNvPr id="24" name="TextBox 23"/>
          <p:cNvSpPr txBox="1"/>
          <p:nvPr/>
        </p:nvSpPr>
        <p:spPr>
          <a:xfrm>
            <a:off x="792480" y="3573779"/>
            <a:ext cx="854437"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84E39"/>
                </a:solidFill>
                <a:latin typeface="DejaVu Sans"/>
              </a:rPr>
              <a:t>SIGKILL A</a:t>
            </a:r>
          </a:p>
        </p:txBody>
      </p:sp>
      <p:sp>
        <p:nvSpPr>
          <p:cNvPr id="25" name="TextBox 24"/>
          <p:cNvSpPr txBox="1"/>
          <p:nvPr/>
        </p:nvSpPr>
        <p:spPr>
          <a:xfrm>
            <a:off x="685800" y="397001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Before acceptance reply</a:t>
            </a:r>
          </a:p>
        </p:txBody>
      </p:sp>
      <p:sp>
        <p:nvSpPr>
          <p:cNvPr id="26" name="TextBox 25"/>
          <p:cNvSpPr txBox="1"/>
          <p:nvPr/>
        </p:nvSpPr>
        <p:spPr>
          <a:xfrm>
            <a:off x="685800" y="464820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Retry recovers the accepted</a:t>
            </a:r>
          </a:p>
        </p:txBody>
      </p:sp>
      <p:sp>
        <p:nvSpPr>
          <p:cNvPr id="27" name="TextBox 26"/>
          <p:cNvSpPr txBox="1"/>
          <p:nvPr/>
        </p:nvSpPr>
        <p:spPr>
          <a:xfrm>
            <a:off x="685800" y="491154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job.</a:t>
            </a:r>
          </a:p>
        </p:txBody>
      </p:sp>
      <p:sp>
        <p:nvSpPr>
          <p:cNvPr id="28" name="Rounded Rectangle 27"/>
          <p:cNvSpPr/>
          <p:nvPr/>
        </p:nvSpPr>
        <p:spPr>
          <a:xfrm>
            <a:off x="4236720" y="3520440"/>
            <a:ext cx="1043151" cy="289560"/>
          </a:xfrm>
          <a:prstGeom prst="roundRect">
            <a:avLst>
              <a:gd name="adj" fmla="val 18421"/>
            </a:avLst>
          </a:prstGeom>
          <a:solidFill>
            <a:srgbClr val="F4E3DC"/>
          </a:solidFill>
          <a:ln>
            <a:noFill/>
          </a:ln>
          <a:effectLst/>
        </p:spPr>
        <p:txBody>
          <a:bodyPr rtlCol="0" anchor="ctr"/>
          <a:lstStyle/>
          <a:p>
            <a:pPr algn="ctr"/>
          </a:p>
        </p:txBody>
      </p:sp>
      <p:sp>
        <p:nvSpPr>
          <p:cNvPr id="29" name="TextBox 28"/>
          <p:cNvSpPr txBox="1"/>
          <p:nvPr/>
        </p:nvSpPr>
        <p:spPr>
          <a:xfrm>
            <a:off x="4343400" y="3573779"/>
            <a:ext cx="852651"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84E39"/>
                </a:solidFill>
                <a:latin typeface="DejaVu Sans"/>
              </a:rPr>
              <a:t>SIGKILL B</a:t>
            </a:r>
          </a:p>
        </p:txBody>
      </p:sp>
      <p:sp>
        <p:nvSpPr>
          <p:cNvPr id="30" name="TextBox 29"/>
          <p:cNvSpPr txBox="1"/>
          <p:nvPr/>
        </p:nvSpPr>
        <p:spPr>
          <a:xfrm>
            <a:off x="4236720" y="397001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After DA write</a:t>
            </a:r>
          </a:p>
        </p:txBody>
      </p:sp>
      <p:sp>
        <p:nvSpPr>
          <p:cNvPr id="31" name="TextBox 30"/>
          <p:cNvSpPr txBox="1"/>
          <p:nvPr/>
        </p:nvSpPr>
        <p:spPr>
          <a:xfrm>
            <a:off x="4236720" y="464820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 reuses the same</a:t>
            </a:r>
          </a:p>
        </p:txBody>
      </p:sp>
      <p:sp>
        <p:nvSpPr>
          <p:cNvPr id="32" name="TextBox 31"/>
          <p:cNvSpPr txBox="1"/>
          <p:nvPr/>
        </p:nvSpPr>
        <p:spPr>
          <a:xfrm>
            <a:off x="4236720" y="491154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coordinate; an unreferenced</a:t>
            </a:r>
          </a:p>
        </p:txBody>
      </p:sp>
      <p:sp>
        <p:nvSpPr>
          <p:cNvPr id="33" name="TextBox 32"/>
          <p:cNvSpPr txBox="1"/>
          <p:nvPr/>
        </p:nvSpPr>
        <p:spPr>
          <a:xfrm>
            <a:off x="4236720" y="517489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artifact may remain.</a:t>
            </a:r>
          </a:p>
        </p:txBody>
      </p:sp>
      <p:sp>
        <p:nvSpPr>
          <p:cNvPr id="34" name="Rounded Rectangle 33"/>
          <p:cNvSpPr/>
          <p:nvPr/>
        </p:nvSpPr>
        <p:spPr>
          <a:xfrm>
            <a:off x="7848600" y="3520440"/>
            <a:ext cx="1038835" cy="289560"/>
          </a:xfrm>
          <a:prstGeom prst="roundRect">
            <a:avLst>
              <a:gd name="adj" fmla="val 18421"/>
            </a:avLst>
          </a:prstGeom>
          <a:solidFill>
            <a:srgbClr val="F4E3DC"/>
          </a:solidFill>
          <a:ln>
            <a:noFill/>
          </a:ln>
          <a:effectLst/>
        </p:spPr>
        <p:txBody>
          <a:bodyPr rtlCol="0" anchor="ctr"/>
          <a:lstStyle/>
          <a:p>
            <a:pPr algn="ctr"/>
          </a:p>
        </p:txBody>
      </p:sp>
      <p:sp>
        <p:nvSpPr>
          <p:cNvPr id="35" name="TextBox 34"/>
          <p:cNvSpPr txBox="1"/>
          <p:nvPr/>
        </p:nvSpPr>
        <p:spPr>
          <a:xfrm>
            <a:off x="7955280" y="3573779"/>
            <a:ext cx="848335"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84E39"/>
                </a:solidFill>
                <a:latin typeface="DejaVu Sans"/>
              </a:rPr>
              <a:t>SIGKILL C</a:t>
            </a:r>
          </a:p>
        </p:txBody>
      </p:sp>
      <p:sp>
        <p:nvSpPr>
          <p:cNvPr id="36" name="TextBox 35"/>
          <p:cNvSpPr txBox="1"/>
          <p:nvPr/>
        </p:nvSpPr>
        <p:spPr>
          <a:xfrm>
            <a:off x="7848600" y="397001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Before dispatch</a:t>
            </a:r>
          </a:p>
        </p:txBody>
      </p:sp>
      <p:sp>
        <p:nvSpPr>
          <p:cNvPr id="37" name="TextBox 36"/>
          <p:cNvSpPr txBox="1"/>
          <p:nvPr/>
        </p:nvSpPr>
        <p:spPr>
          <a:xfrm>
            <a:off x="7848600" y="464820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persisted outbox survives</a:t>
            </a:r>
          </a:p>
        </p:txBody>
      </p:sp>
      <p:sp>
        <p:nvSpPr>
          <p:cNvPr id="38" name="TextBox 37"/>
          <p:cNvSpPr txBox="1"/>
          <p:nvPr/>
        </p:nvSpPr>
        <p:spPr>
          <a:xfrm>
            <a:off x="7848600" y="491154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later reaches the inbox.</a:t>
            </a:r>
          </a:p>
        </p:txBody>
      </p:sp>
      <p:sp>
        <p:nvSpPr>
          <p:cNvPr id="39" name="Rounded Rectangle 3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0" name="TextBox 39"/>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One logical result; physical computation may repeat. Tested failure model: same-host process death.</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ADR 003 · test_contract.py</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RUNNING INTEGRATION · STORAGE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carries bytes, not cognition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application adapter is outside the unchanged DeTTa core.</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Application contracts</a:t>
            </a:r>
          </a:p>
        </p:txBody>
      </p:sp>
      <p:sp>
        <p:nvSpPr>
          <p:cNvPr id="7" name="TextBox 6"/>
          <p:cNvSpPr txBox="1"/>
          <p:nvPr/>
        </p:nvSpPr>
        <p:spPr>
          <a:xfrm>
            <a:off x="716280" y="2474061"/>
            <a:ext cx="3093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AtomRef · scope · semantic</a:t>
            </a:r>
          </a:p>
        </p:txBody>
      </p:sp>
      <p:sp>
        <p:nvSpPr>
          <p:cNvPr id="8" name="TextBox 7"/>
          <p:cNvSpPr txBox="1"/>
          <p:nvPr/>
        </p:nvSpPr>
        <p:spPr>
          <a:xfrm>
            <a:off x="716280" y="2737408"/>
            <a:ext cx="3093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External adapter</a:t>
            </a:r>
          </a:p>
        </p:txBody>
      </p:sp>
      <p:sp>
        <p:nvSpPr>
          <p:cNvPr id="11" name="TextBox 10"/>
          <p:cNvSpPr txBox="1"/>
          <p:nvPr/>
        </p:nvSpPr>
        <p:spPr>
          <a:xfrm>
            <a:off x="4884420" y="2474061"/>
            <a:ext cx="27508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Opaque payload + generic</a:t>
            </a:r>
          </a:p>
        </p:txBody>
      </p:sp>
      <p:sp>
        <p:nvSpPr>
          <p:cNvPr id="12" name="TextBox 11"/>
          <p:cNvSpPr txBox="1"/>
          <p:nvPr/>
        </p:nvSpPr>
        <p:spPr>
          <a:xfrm>
            <a:off x="4884420" y="2717901"/>
            <a:ext cx="27508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DeTTa core</a:t>
            </a:r>
          </a:p>
        </p:txBody>
      </p:sp>
      <p:sp>
        <p:nvSpPr>
          <p:cNvPr id="15" name="TextBox 14"/>
          <p:cNvSpPr txBox="1"/>
          <p:nvPr/>
        </p:nvSpPr>
        <p:spPr>
          <a:xfrm>
            <a:off x="8709660" y="2474061"/>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Cached payload + 2 shares</a:t>
            </a:r>
          </a:p>
        </p:txBody>
      </p:sp>
      <p:sp>
        <p:nvSpPr>
          <p:cNvPr id="42" name="TextBox 41"/>
          <p:cNvSpPr txBox="1"/>
          <p:nvPr/>
        </p:nvSpPr>
        <p:spPr>
          <a:xfrm>
            <a:off x="8244839" y="4616500"/>
            <a:ext cx="3230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removed: exact bytes recovered.</a:t>
            </a:r>
          </a:p>
        </p:txBody>
      </p:sp>
      <p:sp>
        <p:nvSpPr>
          <p:cNvPr id="43" name="TextBox 42"/>
          <p:cNvSpPr txBox="1"/>
          <p:nvPr/>
        </p:nvSpPr>
        <p:spPr>
          <a:xfrm>
            <a:off x="8244839" y="4860340"/>
            <a:ext cx="3230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Third missing share: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Omega IDs, truth values, ECAN balances or job state inside the generic DA schema.</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adapters/detta/src/main.rs · test_adapters.py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RUNNING INTEGRATION · ISOLATION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Authorization is checked where state is owned</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Authenticated context → current policy → explicit method → owner transition.</a:t>
            </a:r>
          </a:p>
        </p:txBody>
      </p:sp>
      <p:sp>
        <p:nvSpPr>
          <p:cNvPr id="5" name="TextBox 4"/>
          <p:cNvSpPr txBox="1"/>
          <p:nvPr/>
        </p:nvSpPr>
        <p:spPr>
          <a:xfrm>
            <a:off x="6705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ATTEMPT</a:t>
            </a:r>
          </a:p>
        </p:txBody>
      </p:sp>
      <p:sp>
        <p:nvSpPr>
          <p:cNvPr id="6" name="TextBox 5"/>
          <p:cNvSpPr txBox="1"/>
          <p:nvPr/>
        </p:nvSpPr>
        <p:spPr>
          <a:xfrm>
            <a:off x="42519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BEHAVIOR</a:t>
            </a:r>
          </a:p>
        </p:txBody>
      </p:sp>
      <p:sp>
        <p:nvSpPr>
          <p:cNvPr id="7" name="TextBox 6"/>
          <p:cNvSpPr txBox="1"/>
          <p:nvPr/>
        </p:nvSpPr>
        <p:spPr>
          <a:xfrm>
            <a:off x="7833359"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8" name="Rounded Rectangle 7"/>
          <p:cNvSpPr/>
          <p:nvPr/>
        </p:nvSpPr>
        <p:spPr>
          <a:xfrm>
            <a:off x="548640" y="2110740"/>
            <a:ext cx="11094720" cy="601980"/>
          </a:xfrm>
          <a:prstGeom prst="roundRect">
            <a:avLst>
              <a:gd name="adj" fmla="val 7594"/>
            </a:avLst>
          </a:prstGeom>
          <a:solidFill>
            <a:srgbClr val="FFFFFF"/>
          </a:solidFill>
          <a:ln>
            <a:noFill/>
          </a:ln>
          <a:effectLst/>
        </p:spPr>
        <p:txBody>
          <a:bodyPr rtlCol="0" anchor="ctr"/>
          <a:lstStyle/>
          <a:p>
            <a:pPr algn="ctr"/>
          </a:p>
        </p:txBody>
      </p:sp>
      <p:sp>
        <p:nvSpPr>
          <p:cNvPr id="9" name="TextBox 8"/>
          <p:cNvSpPr txBox="1"/>
          <p:nvPr/>
        </p:nvSpPr>
        <p:spPr>
          <a:xfrm>
            <a:off x="6705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Read another scope</a:t>
            </a:r>
          </a:p>
        </p:txBody>
      </p:sp>
      <p:sp>
        <p:nvSpPr>
          <p:cNvPr id="10" name="TextBox 9"/>
          <p:cNvSpPr txBox="1"/>
          <p:nvPr/>
        </p:nvSpPr>
        <p:spPr>
          <a:xfrm>
            <a:off x="42519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UNAUTHORIZED</a:t>
            </a:r>
          </a:p>
        </p:txBody>
      </p:sp>
      <p:sp>
        <p:nvSpPr>
          <p:cNvPr id="11" name="TextBox 10"/>
          <p:cNvSpPr txBox="1"/>
          <p:nvPr/>
        </p:nvSpPr>
        <p:spPr>
          <a:xfrm>
            <a:off x="7833359" y="2240280"/>
            <a:ext cx="36880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Scope IDs confer no authority</a:t>
            </a:r>
          </a:p>
        </p:txBody>
      </p:sp>
      <p:sp>
        <p:nvSpPr>
          <p:cNvPr id="12" name="Rounded Rectangle 11"/>
          <p:cNvSpPr/>
          <p:nvPr/>
        </p:nvSpPr>
        <p:spPr>
          <a:xfrm>
            <a:off x="548640" y="2750820"/>
            <a:ext cx="11094720" cy="601980"/>
          </a:xfrm>
          <a:prstGeom prst="roundRect">
            <a:avLst>
              <a:gd name="adj" fmla="val 7594"/>
            </a:avLst>
          </a:prstGeom>
          <a:solidFill>
            <a:srgbClr val="FFFFFF"/>
          </a:solidFill>
          <a:ln>
            <a:noFill/>
          </a:ln>
          <a:effectLst/>
        </p:spPr>
        <p:txBody>
          <a:bodyPr rtlCol="0" anchor="ctr"/>
          <a:lstStyle/>
          <a:p>
            <a:pPr algn="ctr"/>
          </a:p>
        </p:txBody>
      </p:sp>
      <p:sp>
        <p:nvSpPr>
          <p:cNvPr id="13" name="TextBox 12"/>
          <p:cNvSpPr txBox="1"/>
          <p:nvPr/>
        </p:nvSpPr>
        <p:spPr>
          <a:xfrm>
            <a:off x="670560" y="28803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Poll or ack another route</a:t>
            </a:r>
          </a:p>
        </p:txBody>
      </p:sp>
      <p:sp>
        <p:nvSpPr>
          <p:cNvPr id="14" name="TextBox 13"/>
          <p:cNvSpPr txBox="1"/>
          <p:nvPr/>
        </p:nvSpPr>
        <p:spPr>
          <a:xfrm>
            <a:off x="4251960" y="28803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UNAUTHORIZED</a:t>
            </a:r>
          </a:p>
        </p:txBody>
      </p:sp>
      <p:sp>
        <p:nvSpPr>
          <p:cNvPr id="15" name="TextBox 14"/>
          <p:cNvSpPr txBox="1"/>
          <p:nvPr/>
        </p:nvSpPr>
        <p:spPr>
          <a:xfrm>
            <a:off x="7833359" y="2880360"/>
            <a:ext cx="36880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Recipient owns delivery state</a:t>
            </a:r>
          </a:p>
        </p:txBody>
      </p:sp>
      <p:sp>
        <p:nvSpPr>
          <p:cNvPr id="16" name="Rounded Rectangle 15"/>
          <p:cNvSpPr/>
          <p:nvPr/>
        </p:nvSpPr>
        <p:spPr>
          <a:xfrm>
            <a:off x="548640" y="3390900"/>
            <a:ext cx="11094720" cy="601980"/>
          </a:xfrm>
          <a:prstGeom prst="roundRect">
            <a:avLst>
              <a:gd name="adj" fmla="val 7594"/>
            </a:avLst>
          </a:prstGeom>
          <a:solidFill>
            <a:srgbClr val="FFFFFF"/>
          </a:solidFill>
          <a:ln>
            <a:noFill/>
          </a:ln>
          <a:effectLst/>
        </p:spPr>
        <p:txBody>
          <a:bodyPr rtlCol="0" anchor="ctr"/>
          <a:lstStyle/>
          <a:p>
            <a:pPr algn="ctr"/>
          </a:p>
        </p:txBody>
      </p:sp>
      <p:sp>
        <p:nvSpPr>
          <p:cNvPr id="17" name="TextBox 16"/>
          <p:cNvSpPr txBox="1"/>
          <p:nvPr/>
        </p:nvSpPr>
        <p:spPr>
          <a:xfrm>
            <a:off x="670560" y="35204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Reuse key with different input</a:t>
            </a:r>
          </a:p>
        </p:txBody>
      </p:sp>
      <p:sp>
        <p:nvSpPr>
          <p:cNvPr id="18" name="TextBox 17"/>
          <p:cNvSpPr txBox="1"/>
          <p:nvPr/>
        </p:nvSpPr>
        <p:spPr>
          <a:xfrm>
            <a:off x="4251960" y="35204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CONFLICT</a:t>
            </a:r>
          </a:p>
        </p:txBody>
      </p:sp>
      <p:sp>
        <p:nvSpPr>
          <p:cNvPr id="19" name="TextBox 18"/>
          <p:cNvSpPr txBox="1"/>
          <p:nvPr/>
        </p:nvSpPr>
        <p:spPr>
          <a:xfrm>
            <a:off x="7833359" y="3520440"/>
            <a:ext cx="36880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Semantic idempotency</a:t>
            </a:r>
          </a:p>
        </p:txBody>
      </p:sp>
      <p:sp>
        <p:nvSpPr>
          <p:cNvPr id="20" name="Rounded Rectangle 19"/>
          <p:cNvSpPr/>
          <p:nvPr/>
        </p:nvSpPr>
        <p:spPr>
          <a:xfrm>
            <a:off x="548640" y="4030979"/>
            <a:ext cx="11094720" cy="601980"/>
          </a:xfrm>
          <a:prstGeom prst="roundRect">
            <a:avLst>
              <a:gd name="adj" fmla="val 7594"/>
            </a:avLst>
          </a:prstGeom>
          <a:solidFill>
            <a:srgbClr val="FFFFFF"/>
          </a:solidFill>
          <a:ln>
            <a:noFill/>
          </a:ln>
          <a:effectLst/>
        </p:spPr>
        <p:txBody>
          <a:bodyPr rtlCol="0" anchor="ctr"/>
          <a:lstStyle/>
          <a:p>
            <a:pPr algn="ctr"/>
          </a:p>
        </p:txBody>
      </p:sp>
      <p:sp>
        <p:nvSpPr>
          <p:cNvPr id="21" name="TextBox 20"/>
          <p:cNvSpPr txBox="1"/>
          <p:nvPr/>
        </p:nvSpPr>
        <p:spPr>
          <a:xfrm>
            <a:off x="670560" y="41605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Call after policy revocation</a:t>
            </a:r>
          </a:p>
        </p:txBody>
      </p:sp>
      <p:sp>
        <p:nvSpPr>
          <p:cNvPr id="22" name="TextBox 21"/>
          <p:cNvSpPr txBox="1"/>
          <p:nvPr/>
        </p:nvSpPr>
        <p:spPr>
          <a:xfrm>
            <a:off x="4251960" y="41605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Rejected on next checked call</a:t>
            </a:r>
          </a:p>
        </p:txBody>
      </p:sp>
      <p:sp>
        <p:nvSpPr>
          <p:cNvPr id="23" name="TextBox 22"/>
          <p:cNvSpPr txBox="1"/>
          <p:nvPr/>
        </p:nvSpPr>
        <p:spPr>
          <a:xfrm>
            <a:off x="7833359" y="4160519"/>
            <a:ext cx="36880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Policy is live, including retries</a:t>
            </a:r>
          </a:p>
        </p:txBody>
      </p:sp>
      <p:sp>
        <p:nvSpPr>
          <p:cNvPr id="24" name="Rounded Rectangle 23"/>
          <p:cNvSpPr/>
          <p:nvPr/>
        </p:nvSpPr>
        <p:spPr>
          <a:xfrm>
            <a:off x="548640" y="4671060"/>
            <a:ext cx="11094720" cy="601980"/>
          </a:xfrm>
          <a:prstGeom prst="roundRect">
            <a:avLst>
              <a:gd name="adj" fmla="val 7594"/>
            </a:avLst>
          </a:prstGeom>
          <a:solidFill>
            <a:srgbClr val="FFFFFF"/>
          </a:solidFill>
          <a:ln>
            <a:noFill/>
          </a:ln>
          <a:effectLst/>
        </p:spPr>
        <p:txBody>
          <a:bodyPr rtlCol="0" anchor="ctr"/>
          <a:lstStyle/>
          <a:p>
            <a:pPr algn="ctr"/>
          </a:p>
        </p:txBody>
      </p:sp>
      <p:sp>
        <p:nvSpPr>
          <p:cNvPr id="25" name="TextBox 24"/>
          <p:cNvSpPr txBox="1"/>
          <p:nvPr/>
        </p:nvSpPr>
        <p:spPr>
          <a:xfrm>
            <a:off x="670560" y="48006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Overfill job queue / inbox</a:t>
            </a:r>
          </a:p>
        </p:txBody>
      </p:sp>
      <p:sp>
        <p:nvSpPr>
          <p:cNvPr id="26" name="TextBox 25"/>
          <p:cNvSpPr txBox="1"/>
          <p:nvPr/>
        </p:nvSpPr>
        <p:spPr>
          <a:xfrm>
            <a:off x="4251960" y="48006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OVERLOADED / retained outbox</a:t>
            </a:r>
          </a:p>
        </p:txBody>
      </p:sp>
      <p:sp>
        <p:nvSpPr>
          <p:cNvPr id="27" name="TextBox 26"/>
          <p:cNvSpPr txBox="1"/>
          <p:nvPr/>
        </p:nvSpPr>
        <p:spPr>
          <a:xfrm>
            <a:off x="7833359" y="4800600"/>
            <a:ext cx="36880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silent acknowledged-work drops</a:t>
            </a:r>
          </a:p>
        </p:txBody>
      </p:sp>
      <p:sp>
        <p:nvSpPr>
          <p:cNvPr id="28" name="Rounded Rectangle 27"/>
          <p:cNvSpPr/>
          <p:nvPr/>
        </p:nvSpPr>
        <p:spPr>
          <a:xfrm>
            <a:off x="548640" y="5600700"/>
            <a:ext cx="11094720" cy="594360"/>
          </a:xfrm>
          <a:prstGeom prst="roundRect">
            <a:avLst>
              <a:gd name="adj" fmla="val 16666"/>
            </a:avLst>
          </a:prstGeom>
          <a:solidFill>
            <a:srgbClr val="F3E7CE"/>
          </a:solidFill>
          <a:ln w="7620">
            <a:solidFill>
              <a:srgbClr val="A86A15"/>
            </a:solidFill>
          </a:ln>
          <a:effectLst/>
        </p:spPr>
        <p:txBody>
          <a:bodyPr rtlCol="0" anchor="ctr"/>
          <a:lstStyle/>
          <a:p>
            <a:pPr algn="ctr"/>
          </a:p>
        </p:txBody>
      </p:sp>
      <p:sp>
        <p:nvSpPr>
          <p:cNvPr id="29" name="TextBox 28"/>
          <p:cNvSpPr txBox="1"/>
          <p:nvPr/>
        </p:nvSpPr>
        <p:spPr>
          <a:xfrm>
            <a:off x="716280" y="57683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A86A15"/>
                </a:solidFill>
                <a:latin typeface="DejaVu Sans"/>
              </a:rPr>
              <a:t>Local fixture policy; trusted OS user and files. Production SCS enforcement remains open.</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service.py · ADR 002</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PROVIDER HONESTY</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What ran, what was a fixture, what is unavailable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Seven requested repositories inspected; only demonstrated integrations are marked real.</a:t>
            </a:r>
          </a:p>
        </p:txBody>
      </p:sp>
      <p:sp>
        <p:nvSpPr>
          <p:cNvPr id="5" name="TextBox 4"/>
          <p:cNvSpPr txBox="1"/>
          <p:nvPr/>
        </p:nvSpPr>
        <p:spPr>
          <a:xfrm>
            <a:off x="670560" y="1790700"/>
            <a:ext cx="31470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COMPONENT</a:t>
            </a:r>
          </a:p>
        </p:txBody>
      </p:sp>
      <p:sp>
        <p:nvSpPr>
          <p:cNvPr id="6" name="TextBox 5"/>
          <p:cNvSpPr txBox="1"/>
          <p:nvPr/>
        </p:nvSpPr>
        <p:spPr>
          <a:xfrm>
            <a:off x="4061460" y="1790700"/>
            <a:ext cx="3375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EVIDENCE / LIMIT</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DeTTa DA + FileStorage</a:t>
            </a:r>
          </a:p>
        </p:txBody>
      </p:sp>
      <p:sp>
        <p:nvSpPr>
          <p:cNvPr id="10" name="TextBox 9"/>
          <p:cNvSpPr txBox="1"/>
          <p:nvPr/>
        </p:nvSpPr>
        <p:spPr>
          <a:xfrm>
            <a:off x="4061460" y="224028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PROVIDER LIBRARIES</a:t>
            </a:r>
          </a:p>
        </p:txBody>
      </p:sp>
      <p:sp>
        <p:nvSpPr>
          <p:cNvPr id="11" name="TextBox 10"/>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Persisted shares + actual reconstruction</a:t>
            </a:r>
          </a:p>
        </p:txBody>
      </p:sp>
      <p:sp>
        <p:nvSpPr>
          <p:cNvPr id="12" name="Rounded Rectangle 11"/>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3" name="TextBox 12"/>
          <p:cNvSpPr txBox="1"/>
          <p:nvPr/>
        </p:nvSpPr>
        <p:spPr>
          <a:xfrm>
            <a:off x="670560" y="286512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F1R3node / ASI seam</a:t>
            </a:r>
          </a:p>
        </p:txBody>
      </p:sp>
      <p:sp>
        <p:nvSpPr>
          <p:cNvPr id="14" name="TextBox 13"/>
          <p:cNvSpPr txBox="1"/>
          <p:nvPr/>
        </p:nvSpPr>
        <p:spPr>
          <a:xfrm>
            <a:off x="4061460" y="286512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ISOLATED CHAIN</a:t>
            </a:r>
          </a:p>
        </p:txBody>
      </p:sp>
      <p:sp>
        <p:nvSpPr>
          <p:cNvPr id="15" name="TextBox 14"/>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deploy; inclusion + effect finality</a:t>
            </a:r>
          </a:p>
        </p:txBody>
      </p:sp>
      <p:sp>
        <p:nvSpPr>
          <p:cNvPr id="16" name="Rounded Rectangle 15"/>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7" name="TextBox 16"/>
          <p:cNvSpPr txBox="1"/>
          <p:nvPr/>
        </p:nvSpPr>
        <p:spPr>
          <a:xfrm>
            <a:off x="670560" y="348996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Peer A / Peer B / inspect_atom</a:t>
            </a:r>
          </a:p>
        </p:txBody>
      </p:sp>
      <p:sp>
        <p:nvSpPr>
          <p:cNvPr id="18" name="TextBox 17"/>
          <p:cNvSpPr txBox="1"/>
          <p:nvPr/>
        </p:nvSpPr>
        <p:spPr>
          <a:xfrm>
            <a:off x="4061460" y="348996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PROTOCOL + OPERATION FIXTURES</a:t>
            </a:r>
          </a:p>
        </p:txBody>
      </p:sp>
      <p:sp>
        <p:nvSpPr>
          <p:cNvPr id="19" name="TextBox 18"/>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separate worker; no reasoning</a:t>
            </a:r>
          </a:p>
        </p:txBody>
      </p:sp>
      <p:sp>
        <p:nvSpPr>
          <p:cNvPr id="20" name="Rounded Rectangle 19"/>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1" name="TextBox 20"/>
          <p:cNvSpPr txBox="1"/>
          <p:nvPr/>
        </p:nvSpPr>
        <p:spPr>
          <a:xfrm>
            <a:off x="670560" y="411480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Policy + chain unit responses</a:t>
            </a:r>
          </a:p>
        </p:txBody>
      </p:sp>
      <p:sp>
        <p:nvSpPr>
          <p:cNvPr id="22" name="TextBox 21"/>
          <p:cNvSpPr txBox="1"/>
          <p:nvPr/>
        </p:nvSpPr>
        <p:spPr>
          <a:xfrm>
            <a:off x="4061460" y="411480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FIXTURES</a:t>
            </a:r>
          </a:p>
        </p:txBody>
      </p:sp>
      <p:sp>
        <p:nvSpPr>
          <p:cNvPr id="23" name="TextBox 22"/>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Revocation / failure mapping / timeout</a:t>
            </a:r>
          </a:p>
        </p:txBody>
      </p:sp>
      <p:sp>
        <p:nvSpPr>
          <p:cNvPr id="24" name="TextBox 23"/>
          <p:cNvSpPr txBox="1"/>
          <p:nvPr/>
        </p:nvSpPr>
        <p:spPr>
          <a:xfrm>
            <a:off x="7680959" y="4339132"/>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tests</a:t>
            </a:r>
          </a:p>
        </p:txBody>
      </p:sp>
      <p:sp>
        <p:nvSpPr>
          <p:cNvPr id="25" name="Rounded Rectangle 24"/>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6" name="TextBox 25"/>
          <p:cNvSpPr txBox="1"/>
          <p:nvPr/>
        </p:nvSpPr>
        <p:spPr>
          <a:xfrm>
            <a:off x="670560" y="473964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Omega Hive</a:t>
            </a:r>
          </a:p>
        </p:txBody>
      </p:sp>
      <p:sp>
        <p:nvSpPr>
          <p:cNvPr id="27" name="TextBox 26"/>
          <p:cNvSpPr txBox="1"/>
          <p:nvPr/>
        </p:nvSpPr>
        <p:spPr>
          <a:xfrm>
            <a:off x="4061460" y="473964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RUNTIME UNAVAILABLE</a:t>
            </a:r>
          </a:p>
        </p:txBody>
      </p:sp>
      <p:sp>
        <p:nvSpPr>
          <p:cNvPr id="28" name="TextBox 27"/>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Onboarding index present; Hive checkout</a:t>
            </a:r>
          </a:p>
        </p:txBody>
      </p:sp>
      <p:sp>
        <p:nvSpPr>
          <p:cNvPr id="29" name="TextBox 28"/>
          <p:cNvSpPr txBox="1"/>
          <p:nvPr/>
        </p:nvSpPr>
        <p:spPr>
          <a:xfrm>
            <a:off x="7680959" y="4963972"/>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absent</a:t>
            </a:r>
          </a:p>
        </p:txBody>
      </p:sp>
      <p:sp>
        <p:nvSpPr>
          <p:cNvPr id="30" name="Rounded Rectangle 29"/>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1" name="TextBox 30"/>
          <p:cNvSpPr txBox="1"/>
          <p:nvPr/>
        </p:nvSpPr>
        <p:spPr>
          <a:xfrm>
            <a:off x="670560" y="5364480"/>
            <a:ext cx="3147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DAS / MeTTaClaw / ECAN / PLN</a:t>
            </a:r>
          </a:p>
        </p:txBody>
      </p:sp>
      <p:sp>
        <p:nvSpPr>
          <p:cNvPr id="32" name="TextBox 31"/>
          <p:cNvSpPr txBox="1"/>
          <p:nvPr/>
        </p:nvSpPr>
        <p:spPr>
          <a:xfrm>
            <a:off x="4061460" y="5364480"/>
            <a:ext cx="3375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INSPECTED; NOT INTEGRATED</a:t>
            </a:r>
          </a:p>
        </p:txBody>
      </p:sp>
      <p:sp>
        <p:nvSpPr>
          <p:cNvPr id="33" name="TextBox 32"/>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Candidate seams and future adapters</a:t>
            </a:r>
          </a:p>
        </p:txBody>
      </p:sp>
      <p:sp>
        <p:nvSpPr>
          <p:cNvPr id="34" name="TextBox 33"/>
          <p:cNvSpPr txBox="1"/>
          <p:nvPr/>
        </p:nvSpPr>
        <p:spPr>
          <a:xfrm>
            <a:off x="7680959" y="5588812"/>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recorded</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discovery.md · evidence.md</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OPTIONAL CHAIN GATE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real result digest reached a real local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One registered approved commitment. Durable signed intent. Direct node observations.</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482340"/>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Recorded inclusion</a:t>
            </a:r>
          </a:p>
        </p:txBody>
      </p:sp>
      <p:sp>
        <p:nvSpPr>
          <p:cNvPr id="19" name="TextBox 18"/>
          <p:cNvSpPr txBox="1"/>
          <p:nvPr/>
        </p:nvSpPr>
        <p:spPr>
          <a:xfrm>
            <a:off x="571500" y="3893819"/>
            <a:ext cx="24765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Block height</a:t>
            </a:r>
          </a:p>
        </p:txBody>
      </p:sp>
      <p:sp>
        <p:nvSpPr>
          <p:cNvPr id="20" name="TextBox 19"/>
          <p:cNvSpPr txBox="1"/>
          <p:nvPr/>
        </p:nvSpPr>
        <p:spPr>
          <a:xfrm>
            <a:off x="3093720" y="3893819"/>
            <a:ext cx="2209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3</a:t>
            </a:r>
          </a:p>
        </p:txBody>
      </p:sp>
      <p:sp>
        <p:nvSpPr>
          <p:cNvPr id="21" name="TextBox 20"/>
          <p:cNvSpPr txBox="1"/>
          <p:nvPr/>
        </p:nvSpPr>
        <p:spPr>
          <a:xfrm>
            <a:off x="571500" y="4259580"/>
            <a:ext cx="24765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Execution error</a:t>
            </a:r>
          </a:p>
        </p:txBody>
      </p:sp>
      <p:sp>
        <p:nvSpPr>
          <p:cNvPr id="22" name="TextBox 21"/>
          <p:cNvSpPr txBox="1"/>
          <p:nvPr/>
        </p:nvSpPr>
        <p:spPr>
          <a:xfrm>
            <a:off x="3093720" y="4259580"/>
            <a:ext cx="2209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false</a:t>
            </a:r>
          </a:p>
        </p:txBody>
      </p:sp>
      <p:sp>
        <p:nvSpPr>
          <p:cNvPr id="23" name="TextBox 22"/>
          <p:cNvSpPr txBox="1"/>
          <p:nvPr/>
        </p:nvSpPr>
        <p:spPr>
          <a:xfrm>
            <a:off x="571500" y="4625340"/>
            <a:ext cx="24765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Rejection count</a:t>
            </a:r>
          </a:p>
        </p:txBody>
      </p:sp>
      <p:sp>
        <p:nvSpPr>
          <p:cNvPr id="24" name="TextBox 23"/>
          <p:cNvSpPr txBox="1"/>
          <p:nvPr/>
        </p:nvSpPr>
        <p:spPr>
          <a:xfrm>
            <a:off x="3093720" y="4625340"/>
            <a:ext cx="2209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0</a:t>
            </a:r>
          </a:p>
        </p:txBody>
      </p:sp>
      <p:sp>
        <p:nvSpPr>
          <p:cNvPr id="25" name="TextBox 24"/>
          <p:cNvSpPr txBox="1"/>
          <p:nvPr/>
        </p:nvSpPr>
        <p:spPr>
          <a:xfrm>
            <a:off x="571500" y="4991100"/>
            <a:ext cx="24765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Execution cost</a:t>
            </a:r>
          </a:p>
        </p:txBody>
      </p:sp>
      <p:sp>
        <p:nvSpPr>
          <p:cNvPr id="26" name="TextBox 25"/>
          <p:cNvSpPr txBox="1"/>
          <p:nvPr/>
        </p:nvSpPr>
        <p:spPr>
          <a:xfrm>
            <a:off x="3093720" y="4991100"/>
            <a:ext cx="2209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Commitment = persisted result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32020"/>
            <a:ext cx="5181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Observation window: 4.013 s</a:t>
            </a:r>
          </a:p>
        </p:txBody>
      </p:sp>
      <p:sp>
        <p:nvSpPr>
          <p:cNvPr id="32" name="TextBox 31"/>
          <p:cNvSpPr txBox="1"/>
          <p:nvPr/>
        </p:nvSpPr>
        <p:spPr>
          <a:xfrm>
            <a:off x="6179820" y="4975860"/>
            <a:ext cx="5181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One local sample; no latency SLA</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Only the generated result digest entered Rholang. Full payload stayed in local DA.</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evidence/chain-demo.json · f1r3.py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EXECUTED VERIFICATION</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Evidence concentrates on boundaries that can fail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Recorded passing tests and experiments; future cognitive test names are not included.</a:t>
            </a:r>
          </a:p>
        </p:txBody>
      </p:sp>
      <p:sp>
        <p:nvSpPr>
          <p:cNvPr id="5" name="Rounded Rectangle 4"/>
          <p:cNvSpPr/>
          <p:nvPr/>
        </p:nvSpPr>
        <p:spPr>
          <a:xfrm>
            <a:off x="548640" y="1920239"/>
            <a:ext cx="3535679" cy="1447800"/>
          </a:xfrm>
          <a:prstGeom prst="roundRect">
            <a:avLst>
              <a:gd name="adj" fmla="val 7368"/>
            </a:avLst>
          </a:prstGeom>
          <a:solidFill>
            <a:srgbClr val="FFFFFF"/>
          </a:solidFill>
          <a:ln>
            <a:noFill/>
          </a:ln>
          <a:effectLst/>
        </p:spPr>
        <p:txBody>
          <a:bodyPr rtlCol="0" anchor="ctr"/>
          <a:lstStyle/>
          <a:p>
            <a:pPr algn="ctr"/>
          </a:p>
        </p:txBody>
      </p:sp>
      <p:sp>
        <p:nvSpPr>
          <p:cNvPr id="6" name="TextBox 5"/>
          <p:cNvSpPr txBox="1"/>
          <p:nvPr/>
        </p:nvSpPr>
        <p:spPr>
          <a:xfrm>
            <a:off x="746760" y="2057400"/>
            <a:ext cx="3124200" cy="760780"/>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007C78"/>
                </a:solidFill>
                <a:latin typeface="DejaVu Sans"/>
              </a:rPr>
              <a:t>27</a:t>
            </a:r>
          </a:p>
        </p:txBody>
      </p:sp>
      <p:sp>
        <p:nvSpPr>
          <p:cNvPr id="7" name="TextBox 6"/>
          <p:cNvSpPr txBox="1"/>
          <p:nvPr/>
        </p:nvSpPr>
        <p:spPr>
          <a:xfrm>
            <a:off x="754380" y="2895600"/>
            <a:ext cx="312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102B3F"/>
                </a:solidFill>
                <a:latin typeface="DejaVu Sans"/>
              </a:rPr>
              <a:t>contract + adapter tests</a:t>
            </a:r>
          </a:p>
        </p:txBody>
      </p:sp>
      <p:sp>
        <p:nvSpPr>
          <p:cNvPr id="8" name="Rounded Rectangle 7"/>
          <p:cNvSpPr/>
          <p:nvPr/>
        </p:nvSpPr>
        <p:spPr>
          <a:xfrm>
            <a:off x="4328160" y="1920239"/>
            <a:ext cx="3535679" cy="1447800"/>
          </a:xfrm>
          <a:prstGeom prst="roundRect">
            <a:avLst>
              <a:gd name="adj" fmla="val 7368"/>
            </a:avLst>
          </a:prstGeom>
          <a:solidFill>
            <a:srgbClr val="FFFFFF"/>
          </a:solidFill>
          <a:ln>
            <a:noFill/>
          </a:ln>
          <a:effectLst/>
        </p:spPr>
        <p:txBody>
          <a:bodyPr rtlCol="0" anchor="ctr"/>
          <a:lstStyle/>
          <a:p>
            <a:pPr algn="ctr"/>
          </a:p>
        </p:txBody>
      </p:sp>
      <p:sp>
        <p:nvSpPr>
          <p:cNvPr id="9" name="TextBox 8"/>
          <p:cNvSpPr txBox="1"/>
          <p:nvPr/>
        </p:nvSpPr>
        <p:spPr>
          <a:xfrm>
            <a:off x="4526280" y="2057400"/>
            <a:ext cx="3124200" cy="760780"/>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007C78"/>
                </a:solidFill>
                <a:latin typeface="DejaVu Sans"/>
              </a:rPr>
              <a:t>102</a:t>
            </a:r>
          </a:p>
        </p:txBody>
      </p:sp>
      <p:sp>
        <p:nvSpPr>
          <p:cNvPr id="10" name="TextBox 9"/>
          <p:cNvSpPr txBox="1"/>
          <p:nvPr/>
        </p:nvSpPr>
        <p:spPr>
          <a:xfrm>
            <a:off x="4533900" y="2895600"/>
            <a:ext cx="312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102B3F"/>
                </a:solidFill>
                <a:latin typeface="DejaVu Sans"/>
              </a:rPr>
              <a:t>upstream DA / storage tests</a:t>
            </a:r>
          </a:p>
        </p:txBody>
      </p:sp>
      <p:sp>
        <p:nvSpPr>
          <p:cNvPr id="11" name="Rounded Rectangle 10"/>
          <p:cNvSpPr/>
          <p:nvPr/>
        </p:nvSpPr>
        <p:spPr>
          <a:xfrm>
            <a:off x="8107680" y="1920239"/>
            <a:ext cx="3535679" cy="1447800"/>
          </a:xfrm>
          <a:prstGeom prst="roundRect">
            <a:avLst>
              <a:gd name="adj" fmla="val 7368"/>
            </a:avLst>
          </a:prstGeom>
          <a:solidFill>
            <a:srgbClr val="FFFFFF"/>
          </a:solidFill>
          <a:ln>
            <a:noFill/>
          </a:ln>
          <a:effectLst/>
        </p:spPr>
        <p:txBody>
          <a:bodyPr rtlCol="0" anchor="ctr"/>
          <a:lstStyle/>
          <a:p>
            <a:pPr algn="ctr"/>
          </a:p>
        </p:txBody>
      </p:sp>
      <p:sp>
        <p:nvSpPr>
          <p:cNvPr id="12" name="TextBox 11"/>
          <p:cNvSpPr txBox="1"/>
          <p:nvPr/>
        </p:nvSpPr>
        <p:spPr>
          <a:xfrm>
            <a:off x="8305800" y="2057400"/>
            <a:ext cx="3124200" cy="760780"/>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007C78"/>
                </a:solidFill>
                <a:latin typeface="DejaVu Sans"/>
              </a:rPr>
              <a:t>2</a:t>
            </a:r>
          </a:p>
        </p:txBody>
      </p:sp>
      <p:sp>
        <p:nvSpPr>
          <p:cNvPr id="13" name="TextBox 12"/>
          <p:cNvSpPr txBox="1"/>
          <p:nvPr/>
        </p:nvSpPr>
        <p:spPr>
          <a:xfrm>
            <a:off x="8313420" y="2895600"/>
            <a:ext cx="312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102B3F"/>
                </a:solidFill>
                <a:latin typeface="DejaVu Sans"/>
              </a:rPr>
              <a:t>bindings; same consumer</a:t>
            </a:r>
          </a:p>
        </p:txBody>
      </p:sp>
      <p:sp>
        <p:nvSpPr>
          <p:cNvPr id="14" name="TextBox 13"/>
          <p:cNvSpPr txBox="1"/>
          <p:nvPr/>
        </p:nvSpPr>
        <p:spPr>
          <a:xfrm>
            <a:off x="548640" y="3771900"/>
            <a:ext cx="53644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Identity + isolation</a:t>
            </a:r>
          </a:p>
        </p:txBody>
      </p:sp>
      <p:sp>
        <p:nvSpPr>
          <p:cNvPr id="15" name="TextBox 14"/>
          <p:cNvSpPr txBox="1"/>
          <p:nvPr/>
        </p:nvSpPr>
        <p:spPr>
          <a:xfrm>
            <a:off x="548640" y="411480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Exact bytes, immutable revision, scoped routes, live</a:t>
            </a:r>
          </a:p>
        </p:txBody>
      </p:sp>
      <p:sp>
        <p:nvSpPr>
          <p:cNvPr id="16" name="TextBox 15"/>
          <p:cNvSpPr txBox="1"/>
          <p:nvPr/>
        </p:nvSpPr>
        <p:spPr>
          <a:xfrm>
            <a:off x="548640" y="435864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revocation.</a:t>
            </a:r>
          </a:p>
        </p:txBody>
      </p:sp>
      <p:sp>
        <p:nvSpPr>
          <p:cNvPr id="17" name="TextBox 16"/>
          <p:cNvSpPr txBox="1"/>
          <p:nvPr/>
        </p:nvSpPr>
        <p:spPr>
          <a:xfrm>
            <a:off x="6217920" y="3771900"/>
            <a:ext cx="53644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Replay + recovery</a:t>
            </a:r>
          </a:p>
        </p:txBody>
      </p:sp>
      <p:sp>
        <p:nvSpPr>
          <p:cNvPr id="18" name="TextBox 17"/>
          <p:cNvSpPr txBox="1"/>
          <p:nvPr/>
        </p:nvSpPr>
        <p:spPr>
          <a:xfrm>
            <a:off x="6217920" y="411480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Conflicting keys, concurrent retries, three SIGKILL</a:t>
            </a:r>
          </a:p>
        </p:txBody>
      </p:sp>
      <p:sp>
        <p:nvSpPr>
          <p:cNvPr id="19" name="TextBox 18"/>
          <p:cNvSpPr txBox="1"/>
          <p:nvPr/>
        </p:nvSpPr>
        <p:spPr>
          <a:xfrm>
            <a:off x="6217920" y="435864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boundaries.</a:t>
            </a:r>
          </a:p>
        </p:txBody>
      </p:sp>
      <p:sp>
        <p:nvSpPr>
          <p:cNvPr id="20" name="TextBox 19"/>
          <p:cNvSpPr txBox="1"/>
          <p:nvPr/>
        </p:nvSpPr>
        <p:spPr>
          <a:xfrm>
            <a:off x="548640" y="4869180"/>
            <a:ext cx="53644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Admission + compatibility</a:t>
            </a:r>
          </a:p>
        </p:txBody>
      </p:sp>
      <p:sp>
        <p:nvSpPr>
          <p:cNvPr id="21" name="TextBox 20"/>
          <p:cNvSpPr txBox="1"/>
          <p:nvPr/>
        </p:nvSpPr>
        <p:spPr>
          <a:xfrm>
            <a:off x="548640" y="521208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Bounded overload, deadlines, versions, profiles and</a:t>
            </a:r>
          </a:p>
        </p:txBody>
      </p:sp>
      <p:sp>
        <p:nvSpPr>
          <p:cNvPr id="22" name="TextBox 21"/>
          <p:cNvSpPr txBox="1"/>
          <p:nvPr/>
        </p:nvSpPr>
        <p:spPr>
          <a:xfrm>
            <a:off x="548640" y="545592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required features.</a:t>
            </a:r>
          </a:p>
        </p:txBody>
      </p:sp>
      <p:sp>
        <p:nvSpPr>
          <p:cNvPr id="23" name="TextBox 22"/>
          <p:cNvSpPr txBox="1"/>
          <p:nvPr/>
        </p:nvSpPr>
        <p:spPr>
          <a:xfrm>
            <a:off x="6217920" y="4869180"/>
            <a:ext cx="53644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Provider behavior</a:t>
            </a:r>
          </a:p>
        </p:txBody>
      </p:sp>
      <p:sp>
        <p:nvSpPr>
          <p:cNvPr id="24" name="TextBox 23"/>
          <p:cNvSpPr txBox="1"/>
          <p:nvPr/>
        </p:nvSpPr>
        <p:spPr>
          <a:xfrm>
            <a:off x="6217920" y="521208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Real erasure recovery, corrupt shares, chain mapping</a:t>
            </a:r>
          </a:p>
        </p:txBody>
      </p:sp>
      <p:sp>
        <p:nvSpPr>
          <p:cNvPr id="25" name="TextBox 24"/>
          <p:cNvSpPr txBox="1"/>
          <p:nvPr/>
        </p:nvSpPr>
        <p:spPr>
          <a:xfrm>
            <a:off x="6217920" y="5455920"/>
            <a:ext cx="5273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and signed-intent retry.</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evidence/tests.log · evidence/detta-tests.log</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MEASURED LIMITS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small baseline, with the failure path included</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One 62-byte fixture, one slice per binding. Bars share a zero baseline; this is not a benchmark.</a:t>
            </a:r>
          </a:p>
        </p:txBody>
      </p:sp>
      <p:sp>
        <p:nvSpPr>
          <p:cNvPr id="5" name="Rounded Rectangle 4"/>
          <p:cNvSpPr/>
          <p:nvPr/>
        </p:nvSpPr>
        <p:spPr>
          <a:xfrm>
            <a:off x="571500" y="1775459"/>
            <a:ext cx="1848162" cy="274320"/>
          </a:xfrm>
          <a:prstGeom prst="roundRect">
            <a:avLst>
              <a:gd name="adj" fmla="val 19444"/>
            </a:avLst>
          </a:prstGeom>
          <a:solidFill>
            <a:srgbClr val="E4EBF5"/>
          </a:solidFill>
          <a:ln>
            <a:noFill/>
          </a:ln>
          <a:effectLst/>
        </p:spPr>
        <p:txBody>
          <a:bodyPr rtlCol="0" anchor="ctr"/>
          <a:lstStyle/>
          <a:p>
            <a:pPr algn="ctr"/>
          </a:p>
        </p:txBody>
      </p:sp>
      <p:sp>
        <p:nvSpPr>
          <p:cNvPr id="6" name="TextBox 5"/>
          <p:cNvSpPr txBox="1"/>
          <p:nvPr/>
        </p:nvSpPr>
        <p:spPr>
          <a:xfrm>
            <a:off x="678180" y="1828800"/>
            <a:ext cx="1657662"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IN-PROCESS SERVICE</a:t>
            </a:r>
          </a:p>
        </p:txBody>
      </p:sp>
      <p:sp>
        <p:nvSpPr>
          <p:cNvPr id="7" name="Rounded Rectangle 6"/>
          <p:cNvSpPr/>
          <p:nvPr/>
        </p:nvSpPr>
        <p:spPr>
          <a:xfrm>
            <a:off x="3489960" y="1775459"/>
            <a:ext cx="1940115" cy="274320"/>
          </a:xfrm>
          <a:prstGeom prst="roundRect">
            <a:avLst>
              <a:gd name="adj" fmla="val 19444"/>
            </a:avLst>
          </a:prstGeom>
          <a:solidFill>
            <a:srgbClr val="DCEFE8"/>
          </a:solidFill>
          <a:ln>
            <a:noFill/>
          </a:ln>
          <a:effectLst/>
        </p:spPr>
        <p:txBody>
          <a:bodyPr rtlCol="0" anchor="ctr"/>
          <a:lstStyle/>
          <a:p>
            <a:pPr algn="ctr"/>
          </a:p>
        </p:txBody>
      </p:sp>
      <p:sp>
        <p:nvSpPr>
          <p:cNvPr id="8" name="TextBox 7"/>
          <p:cNvSpPr txBox="1"/>
          <p:nvPr/>
        </p:nvSpPr>
        <p:spPr>
          <a:xfrm>
            <a:off x="3596640" y="1828800"/>
            <a:ext cx="1749615"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SUBPROCESS SERVICE</a:t>
            </a:r>
          </a:p>
        </p:txBody>
      </p:sp>
      <p:sp>
        <p:nvSpPr>
          <p:cNvPr id="9" name="TextBox 8"/>
          <p:cNvSpPr txBox="1"/>
          <p:nvPr/>
        </p:nvSpPr>
        <p:spPr>
          <a:xfrm>
            <a:off x="556260" y="2446020"/>
            <a:ext cx="2743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Store</a:t>
            </a:r>
          </a:p>
        </p:txBody>
      </p:sp>
      <p:sp>
        <p:nvSpPr>
          <p:cNvPr id="10" name="Rounded Rectangle 9"/>
          <p:cNvSpPr/>
          <p:nvPr/>
        </p:nvSpPr>
        <p:spPr>
          <a:xfrm>
            <a:off x="3352800" y="2446020"/>
            <a:ext cx="3132130" cy="205740"/>
          </a:xfrm>
          <a:prstGeom prst="roundRect">
            <a:avLst>
              <a:gd name="adj" fmla="val 11111"/>
            </a:avLst>
          </a:prstGeom>
          <a:solidFill>
            <a:srgbClr val="315E9C"/>
          </a:solidFill>
          <a:ln>
            <a:noFill/>
          </a:ln>
          <a:effectLst/>
        </p:spPr>
        <p:txBody>
          <a:bodyPr rtlCol="0" anchor="ctr"/>
          <a:lstStyle/>
          <a:p>
            <a:pPr algn="ctr"/>
          </a:p>
        </p:txBody>
      </p:sp>
      <p:sp>
        <p:nvSpPr>
          <p:cNvPr id="11" name="TextBox 10"/>
          <p:cNvSpPr txBox="1"/>
          <p:nvPr/>
        </p:nvSpPr>
        <p:spPr>
          <a:xfrm>
            <a:off x="6576370" y="243840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137.0 ms</a:t>
            </a:r>
          </a:p>
        </p:txBody>
      </p:sp>
      <p:sp>
        <p:nvSpPr>
          <p:cNvPr id="12" name="Rounded Rectangle 11"/>
          <p:cNvSpPr/>
          <p:nvPr/>
        </p:nvSpPr>
        <p:spPr>
          <a:xfrm>
            <a:off x="3352800" y="2773680"/>
            <a:ext cx="4341838" cy="205740"/>
          </a:xfrm>
          <a:prstGeom prst="roundRect">
            <a:avLst>
              <a:gd name="adj" fmla="val 11111"/>
            </a:avLst>
          </a:prstGeom>
          <a:solidFill>
            <a:srgbClr val="007C78"/>
          </a:solidFill>
          <a:ln>
            <a:noFill/>
          </a:ln>
          <a:effectLst/>
        </p:spPr>
        <p:txBody>
          <a:bodyPr rtlCol="0" anchor="ctr"/>
          <a:lstStyle/>
          <a:p>
            <a:pPr algn="ctr"/>
          </a:p>
        </p:txBody>
      </p:sp>
      <p:sp>
        <p:nvSpPr>
          <p:cNvPr id="13" name="TextBox 12"/>
          <p:cNvSpPr txBox="1"/>
          <p:nvPr/>
        </p:nvSpPr>
        <p:spPr>
          <a:xfrm>
            <a:off x="7786078" y="276606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189.9 ms</a:t>
            </a:r>
          </a:p>
        </p:txBody>
      </p:sp>
      <p:sp>
        <p:nvSpPr>
          <p:cNvPr id="14" name="TextBox 13"/>
          <p:cNvSpPr txBox="1"/>
          <p:nvPr/>
        </p:nvSpPr>
        <p:spPr>
          <a:xfrm>
            <a:off x="556260" y="3489960"/>
            <a:ext cx="2743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Message acceptance</a:t>
            </a:r>
          </a:p>
        </p:txBody>
      </p:sp>
      <p:sp>
        <p:nvSpPr>
          <p:cNvPr id="15" name="Rounded Rectangle 14"/>
          <p:cNvSpPr/>
          <p:nvPr/>
        </p:nvSpPr>
        <p:spPr>
          <a:xfrm>
            <a:off x="3352800" y="3489960"/>
            <a:ext cx="213040" cy="205740"/>
          </a:xfrm>
          <a:prstGeom prst="roundRect">
            <a:avLst>
              <a:gd name="adj" fmla="val 11111"/>
            </a:avLst>
          </a:prstGeom>
          <a:solidFill>
            <a:srgbClr val="315E9C"/>
          </a:solidFill>
          <a:ln>
            <a:noFill/>
          </a:ln>
          <a:effectLst/>
        </p:spPr>
        <p:txBody>
          <a:bodyPr rtlCol="0" anchor="ctr"/>
          <a:lstStyle/>
          <a:p>
            <a:pPr algn="ctr"/>
          </a:p>
        </p:txBody>
      </p:sp>
      <p:sp>
        <p:nvSpPr>
          <p:cNvPr id="16" name="TextBox 15"/>
          <p:cNvSpPr txBox="1"/>
          <p:nvPr/>
        </p:nvSpPr>
        <p:spPr>
          <a:xfrm>
            <a:off x="3657280" y="348234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9.3 ms</a:t>
            </a:r>
          </a:p>
        </p:txBody>
      </p:sp>
      <p:sp>
        <p:nvSpPr>
          <p:cNvPr id="17" name="Rounded Rectangle 16"/>
          <p:cNvSpPr/>
          <p:nvPr/>
        </p:nvSpPr>
        <p:spPr>
          <a:xfrm>
            <a:off x="3352800" y="3817619"/>
            <a:ext cx="1619713" cy="205740"/>
          </a:xfrm>
          <a:prstGeom prst="roundRect">
            <a:avLst>
              <a:gd name="adj" fmla="val 11111"/>
            </a:avLst>
          </a:prstGeom>
          <a:solidFill>
            <a:srgbClr val="007C78"/>
          </a:solidFill>
          <a:ln>
            <a:noFill/>
          </a:ln>
          <a:effectLst/>
        </p:spPr>
        <p:txBody>
          <a:bodyPr rtlCol="0" anchor="ctr"/>
          <a:lstStyle/>
          <a:p>
            <a:pPr algn="ctr"/>
          </a:p>
        </p:txBody>
      </p:sp>
      <p:sp>
        <p:nvSpPr>
          <p:cNvPr id="18" name="TextBox 17"/>
          <p:cNvSpPr txBox="1"/>
          <p:nvPr/>
        </p:nvSpPr>
        <p:spPr>
          <a:xfrm>
            <a:off x="5063953" y="381000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70.9 ms</a:t>
            </a:r>
          </a:p>
        </p:txBody>
      </p:sp>
      <p:sp>
        <p:nvSpPr>
          <p:cNvPr id="19" name="TextBox 18"/>
          <p:cNvSpPr txBox="1"/>
          <p:nvPr/>
        </p:nvSpPr>
        <p:spPr>
          <a:xfrm>
            <a:off x="556260" y="4533900"/>
            <a:ext cx="2743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Job acceptance</a:t>
            </a:r>
          </a:p>
        </p:txBody>
      </p:sp>
      <p:sp>
        <p:nvSpPr>
          <p:cNvPr id="20" name="Rounded Rectangle 19"/>
          <p:cNvSpPr/>
          <p:nvPr/>
        </p:nvSpPr>
        <p:spPr>
          <a:xfrm>
            <a:off x="3352800" y="4533900"/>
            <a:ext cx="211013" cy="205740"/>
          </a:xfrm>
          <a:prstGeom prst="roundRect">
            <a:avLst>
              <a:gd name="adj" fmla="val 11111"/>
            </a:avLst>
          </a:prstGeom>
          <a:solidFill>
            <a:srgbClr val="315E9C"/>
          </a:solidFill>
          <a:ln>
            <a:noFill/>
          </a:ln>
          <a:effectLst/>
        </p:spPr>
        <p:txBody>
          <a:bodyPr rtlCol="0" anchor="ctr"/>
          <a:lstStyle/>
          <a:p>
            <a:pPr algn="ctr"/>
          </a:p>
        </p:txBody>
      </p:sp>
      <p:sp>
        <p:nvSpPr>
          <p:cNvPr id="21" name="TextBox 20"/>
          <p:cNvSpPr txBox="1"/>
          <p:nvPr/>
        </p:nvSpPr>
        <p:spPr>
          <a:xfrm>
            <a:off x="3655253" y="452628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9.2 ms</a:t>
            </a:r>
          </a:p>
        </p:txBody>
      </p:sp>
      <p:sp>
        <p:nvSpPr>
          <p:cNvPr id="22" name="Rounded Rectangle 21"/>
          <p:cNvSpPr/>
          <p:nvPr/>
        </p:nvSpPr>
        <p:spPr>
          <a:xfrm>
            <a:off x="3352800" y="4861560"/>
            <a:ext cx="1556042" cy="205740"/>
          </a:xfrm>
          <a:prstGeom prst="roundRect">
            <a:avLst>
              <a:gd name="adj" fmla="val 11111"/>
            </a:avLst>
          </a:prstGeom>
          <a:solidFill>
            <a:srgbClr val="007C78"/>
          </a:solidFill>
          <a:ln>
            <a:noFill/>
          </a:ln>
          <a:effectLst/>
        </p:spPr>
        <p:txBody>
          <a:bodyPr rtlCol="0" anchor="ctr"/>
          <a:lstStyle/>
          <a:p>
            <a:pPr algn="ctr"/>
          </a:p>
        </p:txBody>
      </p:sp>
      <p:sp>
        <p:nvSpPr>
          <p:cNvPr id="23" name="TextBox 22"/>
          <p:cNvSpPr txBox="1"/>
          <p:nvPr/>
        </p:nvSpPr>
        <p:spPr>
          <a:xfrm>
            <a:off x="5000282" y="4853940"/>
            <a:ext cx="12573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68.1 ms</a:t>
            </a:r>
          </a:p>
        </p:txBody>
      </p:sp>
      <p:cxnSp>
        <p:nvCxnSpPr>
          <p:cNvPr id="24" name="Connector 23"/>
          <p:cNvCxnSpPr/>
          <p:nvPr/>
        </p:nvCxnSpPr>
        <p:spPr>
          <a:xfrm>
            <a:off x="3352800" y="5242560"/>
            <a:ext cx="4572000" cy="0"/>
          </a:xfrm>
          <a:prstGeom prst="line">
            <a:avLst/>
          </a:prstGeom>
          <a:ln w="15240">
            <a:solidFill>
              <a:srgbClr val="C9D2D4"/>
            </a:solidFill>
          </a:ln>
          <a:effectLst/>
        </p:spPr>
      </p:cxnSp>
      <p:sp>
        <p:nvSpPr>
          <p:cNvPr id="25" name="TextBox 24"/>
          <p:cNvSpPr txBox="1"/>
          <p:nvPr/>
        </p:nvSpPr>
        <p:spPr>
          <a:xfrm>
            <a:off x="3291840"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Mono"/>
              </a:rPr>
              <a:t>0</a:t>
            </a:r>
          </a:p>
        </p:txBody>
      </p:sp>
      <p:sp>
        <p:nvSpPr>
          <p:cNvPr id="26" name="TextBox 25"/>
          <p:cNvSpPr txBox="1"/>
          <p:nvPr/>
        </p:nvSpPr>
        <p:spPr>
          <a:xfrm>
            <a:off x="4434840"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Mono"/>
              </a:rPr>
              <a:t>50</a:t>
            </a:r>
          </a:p>
        </p:txBody>
      </p:sp>
      <p:sp>
        <p:nvSpPr>
          <p:cNvPr id="27" name="TextBox 26"/>
          <p:cNvSpPr txBox="1"/>
          <p:nvPr/>
        </p:nvSpPr>
        <p:spPr>
          <a:xfrm>
            <a:off x="5577840"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Mono"/>
              </a:rPr>
              <a:t>100</a:t>
            </a:r>
          </a:p>
        </p:txBody>
      </p:sp>
      <p:sp>
        <p:nvSpPr>
          <p:cNvPr id="28" name="TextBox 27"/>
          <p:cNvSpPr txBox="1"/>
          <p:nvPr/>
        </p:nvSpPr>
        <p:spPr>
          <a:xfrm>
            <a:off x="6720839"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Mono"/>
              </a:rPr>
              <a:t>150</a:t>
            </a:r>
          </a:p>
        </p:txBody>
      </p:sp>
      <p:sp>
        <p:nvSpPr>
          <p:cNvPr id="29" name="TextBox 28"/>
          <p:cNvSpPr txBox="1"/>
          <p:nvPr/>
        </p:nvSpPr>
        <p:spPr>
          <a:xfrm>
            <a:off x="7863839"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Mono"/>
              </a:rPr>
              <a:t>200</a:t>
            </a:r>
          </a:p>
        </p:txBody>
      </p:sp>
      <p:sp>
        <p:nvSpPr>
          <p:cNvPr id="30" name="TextBox 29"/>
          <p:cNvSpPr txBox="1"/>
          <p:nvPr/>
        </p:nvSpPr>
        <p:spPr>
          <a:xfrm>
            <a:off x="8260080" y="532638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536775"/>
                </a:solidFill>
                <a:latin typeface="DejaVu Sans"/>
              </a:rPr>
              <a:t>ms</a:t>
            </a:r>
          </a:p>
        </p:txBody>
      </p:sp>
      <p:sp>
        <p:nvSpPr>
          <p:cNvPr id="31" name="Rounded Rectangle 30"/>
          <p:cNvSpPr/>
          <p:nvPr/>
        </p:nvSpPr>
        <p:spPr>
          <a:xfrm>
            <a:off x="8991600" y="2362200"/>
            <a:ext cx="2651760" cy="1516380"/>
          </a:xfrm>
          <a:prstGeom prst="roundRect">
            <a:avLst>
              <a:gd name="adj" fmla="val 6532"/>
            </a:avLst>
          </a:prstGeom>
          <a:solidFill>
            <a:srgbClr val="FFFFFF"/>
          </a:solidFill>
          <a:ln w="7620">
            <a:solidFill>
              <a:srgbClr val="102B3F"/>
            </a:solidFill>
          </a:ln>
          <a:effectLst/>
        </p:spPr>
        <p:txBody>
          <a:bodyPr rtlCol="0" anchor="ctr"/>
          <a:lstStyle/>
          <a:p>
            <a:pPr algn="ctr"/>
          </a:p>
        </p:txBody>
      </p:sp>
      <p:sp>
        <p:nvSpPr>
          <p:cNvPr id="32" name="TextBox 31"/>
          <p:cNvSpPr txBox="1"/>
          <p:nvPr/>
        </p:nvSpPr>
        <p:spPr>
          <a:xfrm>
            <a:off x="9159240" y="2529840"/>
            <a:ext cx="23164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Entire slice</a:t>
            </a:r>
          </a:p>
        </p:txBody>
      </p:sp>
      <p:sp>
        <p:nvSpPr>
          <p:cNvPr id="33" name="TextBox 32"/>
          <p:cNvSpPr txBox="1"/>
          <p:nvPr/>
        </p:nvSpPr>
        <p:spPr>
          <a:xfrm>
            <a:off x="9159240" y="2898647"/>
            <a:ext cx="2316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0.756 s / 1.761 s</a:t>
            </a:r>
          </a:p>
        </p:txBody>
      </p:sp>
      <p:sp>
        <p:nvSpPr>
          <p:cNvPr id="34" name="TextBox 33"/>
          <p:cNvSpPr txBox="1"/>
          <p:nvPr/>
        </p:nvSpPr>
        <p:spPr>
          <a:xfrm>
            <a:off x="9159240" y="3142487"/>
            <a:ext cx="2316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Includes two worker</a:t>
            </a:r>
          </a:p>
        </p:txBody>
      </p:sp>
      <p:sp>
        <p:nvSpPr>
          <p:cNvPr id="35" name="TextBox 34"/>
          <p:cNvSpPr txBox="1"/>
          <p:nvPr/>
        </p:nvSpPr>
        <p:spPr>
          <a:xfrm>
            <a:off x="9159240" y="3386328"/>
            <a:ext cx="2316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kills and recovery.</a:t>
            </a:r>
          </a:p>
        </p:txBody>
      </p:sp>
      <p:sp>
        <p:nvSpPr>
          <p:cNvPr id="36" name="Rounded Rectangle 35"/>
          <p:cNvSpPr/>
          <p:nvPr/>
        </p:nvSpPr>
        <p:spPr>
          <a:xfrm>
            <a:off x="8991600" y="4099560"/>
            <a:ext cx="2651760" cy="1371600"/>
          </a:xfrm>
          <a:prstGeom prst="roundRect">
            <a:avLst>
              <a:gd name="adj" fmla="val 7222"/>
            </a:avLst>
          </a:prstGeom>
          <a:solidFill>
            <a:srgbClr val="DCEFE8"/>
          </a:solidFill>
          <a:ln w="7620">
            <a:solidFill>
              <a:srgbClr val="007C78"/>
            </a:solidFill>
          </a:ln>
          <a:effectLst/>
        </p:spPr>
        <p:txBody>
          <a:bodyPr rtlCol="0" anchor="ctr"/>
          <a:lstStyle/>
          <a:p>
            <a:pPr algn="ctr"/>
          </a:p>
        </p:txBody>
      </p:sp>
      <p:sp>
        <p:nvSpPr>
          <p:cNvPr id="37" name="TextBox 36"/>
          <p:cNvSpPr txBox="1"/>
          <p:nvPr/>
        </p:nvSpPr>
        <p:spPr>
          <a:xfrm>
            <a:off x="9159240" y="4267200"/>
            <a:ext cx="23164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0 observed loss</a:t>
            </a:r>
          </a:p>
        </p:txBody>
      </p:sp>
      <p:sp>
        <p:nvSpPr>
          <p:cNvPr id="38" name="TextBox 37"/>
          <p:cNvSpPr txBox="1"/>
          <p:nvPr/>
        </p:nvSpPr>
        <p:spPr>
          <a:xfrm>
            <a:off x="9159240" y="4616500"/>
            <a:ext cx="2316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Acknowledged data;</a:t>
            </a:r>
          </a:p>
        </p:txBody>
      </p:sp>
      <p:sp>
        <p:nvSpPr>
          <p:cNvPr id="39" name="TextBox 38"/>
          <p:cNvSpPr txBox="1"/>
          <p:nvPr/>
        </p:nvSpPr>
        <p:spPr>
          <a:xfrm>
            <a:off x="9159240" y="4850587"/>
            <a:ext cx="2316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tested same-host</a:t>
            </a:r>
          </a:p>
        </p:txBody>
      </p:sp>
      <p:sp>
        <p:nvSpPr>
          <p:cNvPr id="40" name="TextBox 39"/>
          <p:cNvSpPr txBox="1"/>
          <p:nvPr/>
        </p:nvSpPr>
        <p:spPr>
          <a:xfrm>
            <a:off x="9159240" y="5084673"/>
            <a:ext cx="23164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SIGKILL model only.</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Both bindings still use real DA subprocesses and separate workers. No scalability conclusion.</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evidence/demo.json</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DECISIONS AND GATES</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The design trades breadth for inspectable guarantees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Accepted prototype choices; community models and production guarantees remain unresolved.</a:t>
            </a:r>
          </a:p>
        </p:txBody>
      </p:sp>
      <p:sp>
        <p:nvSpPr>
          <p:cNvPr id="5" name="TextBox 4"/>
          <p:cNvSpPr txBox="1"/>
          <p:nvPr/>
        </p:nvSpPr>
        <p:spPr>
          <a:xfrm>
            <a:off x="670560" y="1790700"/>
            <a:ext cx="3192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DECISION</a:t>
            </a:r>
          </a:p>
        </p:txBody>
      </p:sp>
      <p:sp>
        <p:nvSpPr>
          <p:cNvPr id="6" name="TextBox 5"/>
          <p:cNvSpPr txBox="1"/>
          <p:nvPr/>
        </p:nvSpPr>
        <p:spPr>
          <a:xfrm>
            <a:off x="4107179" y="1790700"/>
            <a:ext cx="3375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IT MAKES EXPLICIT</a:t>
            </a:r>
          </a:p>
        </p:txBody>
      </p:sp>
      <p:sp>
        <p:nvSpPr>
          <p:cNvPr id="7" name="TextBox 6"/>
          <p:cNvSpPr txBox="1"/>
          <p:nvPr/>
        </p:nvSpPr>
        <p:spPr>
          <a:xfrm>
            <a:off x="7726680" y="1790700"/>
            <a:ext cx="3794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COST / OPEN BOUNDARY</a:t>
            </a:r>
          </a:p>
        </p:txBody>
      </p:sp>
      <p:sp>
        <p:nvSpPr>
          <p:cNvPr id="8" name="Rounded Rectangle 7"/>
          <p:cNvSpPr/>
          <p:nvPr/>
        </p:nvSpPr>
        <p:spPr>
          <a:xfrm>
            <a:off x="548640" y="2110740"/>
            <a:ext cx="11094720" cy="647700"/>
          </a:xfrm>
          <a:prstGeom prst="roundRect">
            <a:avLst>
              <a:gd name="adj" fmla="val 7058"/>
            </a:avLst>
          </a:prstGeom>
          <a:solidFill>
            <a:srgbClr val="FFFFFF"/>
          </a:solidFill>
          <a:ln>
            <a:noFill/>
          </a:ln>
          <a:effectLst/>
        </p:spPr>
        <p:txBody>
          <a:bodyPr rtlCol="0" anchor="ctr"/>
          <a:lstStyle/>
          <a:p>
            <a:pPr algn="ctr"/>
          </a:p>
        </p:txBody>
      </p:sp>
      <p:sp>
        <p:nvSpPr>
          <p:cNvPr id="9" name="TextBox 8"/>
          <p:cNvSpPr txBox="1"/>
          <p:nvPr/>
        </p:nvSpPr>
        <p:spPr>
          <a:xfrm>
            <a:off x="670560" y="2240280"/>
            <a:ext cx="3192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Immutable scoped references</a:t>
            </a:r>
          </a:p>
        </p:txBody>
      </p:sp>
      <p:sp>
        <p:nvSpPr>
          <p:cNvPr id="10" name="TextBox 9"/>
          <p:cNvSpPr txBox="1"/>
          <p:nvPr/>
        </p:nvSpPr>
        <p:spPr>
          <a:xfrm>
            <a:off x="4107179" y="2240280"/>
            <a:ext cx="3375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Identity and replay are separate</a:t>
            </a:r>
          </a:p>
        </p:txBody>
      </p:sp>
      <p:sp>
        <p:nvSpPr>
          <p:cNvPr id="11" name="TextBox 10"/>
          <p:cNvSpPr txBox="1"/>
          <p:nvPr/>
        </p:nvSpPr>
        <p:spPr>
          <a:xfrm>
            <a:off x="7726680" y="2240280"/>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GC, merge or mutable atom revisions</a:t>
            </a:r>
          </a:p>
        </p:txBody>
      </p:sp>
      <p:sp>
        <p:nvSpPr>
          <p:cNvPr id="12" name="Rounded Rectangle 11"/>
          <p:cNvSpPr/>
          <p:nvPr/>
        </p:nvSpPr>
        <p:spPr>
          <a:xfrm>
            <a:off x="548640" y="2796540"/>
            <a:ext cx="11094720" cy="647700"/>
          </a:xfrm>
          <a:prstGeom prst="roundRect">
            <a:avLst>
              <a:gd name="adj" fmla="val 7058"/>
            </a:avLst>
          </a:prstGeom>
          <a:solidFill>
            <a:srgbClr val="FFFFFF"/>
          </a:solidFill>
          <a:ln>
            <a:noFill/>
          </a:ln>
          <a:effectLst/>
        </p:spPr>
        <p:txBody>
          <a:bodyPr rtlCol="0" anchor="ctr"/>
          <a:lstStyle/>
          <a:p>
            <a:pPr algn="ctr"/>
          </a:p>
        </p:txBody>
      </p:sp>
      <p:sp>
        <p:nvSpPr>
          <p:cNvPr id="13" name="TextBox 12"/>
          <p:cNvSpPr txBox="1"/>
          <p:nvPr/>
        </p:nvSpPr>
        <p:spPr>
          <a:xfrm>
            <a:off x="670560" y="2926079"/>
            <a:ext cx="3192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One writer + durable outbox</a:t>
            </a:r>
          </a:p>
        </p:txBody>
      </p:sp>
      <p:sp>
        <p:nvSpPr>
          <p:cNvPr id="14" name="TextBox 13"/>
          <p:cNvSpPr txBox="1"/>
          <p:nvPr/>
        </p:nvSpPr>
        <p:spPr>
          <a:xfrm>
            <a:off x="4107179" y="2926079"/>
            <a:ext cx="3375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Recovery has a clear authority</a:t>
            </a:r>
          </a:p>
        </p:txBody>
      </p:sp>
      <p:sp>
        <p:nvSpPr>
          <p:cNvPr id="15" name="TextBox 14"/>
          <p:cNvSpPr txBox="1"/>
          <p:nvPr/>
        </p:nvSpPr>
        <p:spPr>
          <a:xfrm>
            <a:off x="7726680" y="2926079"/>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Small local harness; no distributed</a:t>
            </a:r>
          </a:p>
        </p:txBody>
      </p:sp>
      <p:sp>
        <p:nvSpPr>
          <p:cNvPr id="16" name="TextBox 15"/>
          <p:cNvSpPr txBox="1"/>
          <p:nvPr/>
        </p:nvSpPr>
        <p:spPr>
          <a:xfrm>
            <a:off x="7726680" y="3160166"/>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scheduler</a:t>
            </a:r>
          </a:p>
        </p:txBody>
      </p:sp>
      <p:sp>
        <p:nvSpPr>
          <p:cNvPr id="17" name="Rounded Rectangle 16"/>
          <p:cNvSpPr/>
          <p:nvPr/>
        </p:nvSpPr>
        <p:spPr>
          <a:xfrm>
            <a:off x="548640" y="3482340"/>
            <a:ext cx="11094720" cy="647700"/>
          </a:xfrm>
          <a:prstGeom prst="roundRect">
            <a:avLst>
              <a:gd name="adj" fmla="val 7058"/>
            </a:avLst>
          </a:prstGeom>
          <a:solidFill>
            <a:srgbClr val="FFFFFF"/>
          </a:solidFill>
          <a:ln>
            <a:noFill/>
          </a:ln>
          <a:effectLst/>
        </p:spPr>
        <p:txBody>
          <a:bodyPr rtlCol="0" anchor="ctr"/>
          <a:lstStyle/>
          <a:p>
            <a:pPr algn="ctr"/>
          </a:p>
        </p:txBody>
      </p:sp>
      <p:sp>
        <p:nvSpPr>
          <p:cNvPr id="18" name="TextBox 17"/>
          <p:cNvSpPr txBox="1"/>
          <p:nvPr/>
        </p:nvSpPr>
        <p:spPr>
          <a:xfrm>
            <a:off x="670560" y="3611879"/>
            <a:ext cx="3192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Exact semantic profiles</a:t>
            </a:r>
          </a:p>
        </p:txBody>
      </p:sp>
      <p:sp>
        <p:nvSpPr>
          <p:cNvPr id="19" name="TextBox 18"/>
          <p:cNvSpPr txBox="1"/>
          <p:nvPr/>
        </p:nvSpPr>
        <p:spPr>
          <a:xfrm>
            <a:off x="4107179" y="3611879"/>
            <a:ext cx="3375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Provider swaps preserve behavior</a:t>
            </a:r>
          </a:p>
        </p:txBody>
      </p:sp>
      <p:sp>
        <p:nvSpPr>
          <p:cNvPr id="20" name="TextBox 19"/>
          <p:cNvSpPr txBox="1"/>
          <p:nvPr/>
        </p:nvSpPr>
        <p:spPr>
          <a:xfrm>
            <a:off x="7726680" y="3611879"/>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Numerical models require specialist</a:t>
            </a:r>
          </a:p>
        </p:txBody>
      </p:sp>
      <p:sp>
        <p:nvSpPr>
          <p:cNvPr id="21" name="TextBox 20"/>
          <p:cNvSpPr txBox="1"/>
          <p:nvPr/>
        </p:nvSpPr>
        <p:spPr>
          <a:xfrm>
            <a:off x="7726680" y="3845966"/>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review</a:t>
            </a:r>
          </a:p>
        </p:txBody>
      </p:sp>
      <p:sp>
        <p:nvSpPr>
          <p:cNvPr id="22" name="Rounded Rectangle 21"/>
          <p:cNvSpPr/>
          <p:nvPr/>
        </p:nvSpPr>
        <p:spPr>
          <a:xfrm>
            <a:off x="548640" y="4168140"/>
            <a:ext cx="11094720" cy="647700"/>
          </a:xfrm>
          <a:prstGeom prst="roundRect">
            <a:avLst>
              <a:gd name="adj" fmla="val 7058"/>
            </a:avLst>
          </a:prstGeom>
          <a:solidFill>
            <a:srgbClr val="FFFFFF"/>
          </a:solidFill>
          <a:ln>
            <a:noFill/>
          </a:ln>
          <a:effectLst/>
        </p:spPr>
        <p:txBody>
          <a:bodyPr rtlCol="0" anchor="ctr"/>
          <a:lstStyle/>
          <a:p>
            <a:pPr algn="ctr"/>
          </a:p>
        </p:txBody>
      </p:sp>
      <p:sp>
        <p:nvSpPr>
          <p:cNvPr id="23" name="TextBox 22"/>
          <p:cNvSpPr txBox="1"/>
          <p:nvPr/>
        </p:nvSpPr>
        <p:spPr>
          <a:xfrm>
            <a:off x="670560" y="4297680"/>
            <a:ext cx="3192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Generic DA + external adapter</a:t>
            </a:r>
          </a:p>
        </p:txBody>
      </p:sp>
      <p:sp>
        <p:nvSpPr>
          <p:cNvPr id="24" name="TextBox 23"/>
          <p:cNvSpPr txBox="1"/>
          <p:nvPr/>
        </p:nvSpPr>
        <p:spPr>
          <a:xfrm>
            <a:off x="4107179" y="4297680"/>
            <a:ext cx="3375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Cognition stays above storage</a:t>
            </a:r>
          </a:p>
        </p:txBody>
      </p:sp>
      <p:sp>
        <p:nvSpPr>
          <p:cNvPr id="25" name="TextBox 24"/>
          <p:cNvSpPr txBox="1"/>
          <p:nvPr/>
        </p:nvSpPr>
        <p:spPr>
          <a:xfrm>
            <a:off x="7726680" y="4297680"/>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distributed custody or lifetime</a:t>
            </a:r>
          </a:p>
        </p:txBody>
      </p:sp>
      <p:sp>
        <p:nvSpPr>
          <p:cNvPr id="26" name="TextBox 25"/>
          <p:cNvSpPr txBox="1"/>
          <p:nvPr/>
        </p:nvSpPr>
        <p:spPr>
          <a:xfrm>
            <a:off x="7726680" y="4531766"/>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guarantee</a:t>
            </a:r>
          </a:p>
        </p:txBody>
      </p:sp>
      <p:sp>
        <p:nvSpPr>
          <p:cNvPr id="27" name="Rounded Rectangle 26"/>
          <p:cNvSpPr/>
          <p:nvPr/>
        </p:nvSpPr>
        <p:spPr>
          <a:xfrm>
            <a:off x="548640" y="4853940"/>
            <a:ext cx="11094720" cy="647700"/>
          </a:xfrm>
          <a:prstGeom prst="roundRect">
            <a:avLst>
              <a:gd name="adj" fmla="val 7058"/>
            </a:avLst>
          </a:prstGeom>
          <a:solidFill>
            <a:srgbClr val="FFFFFF"/>
          </a:solidFill>
          <a:ln>
            <a:noFill/>
          </a:ln>
          <a:effectLst/>
        </p:spPr>
        <p:txBody>
          <a:bodyPr rtlCol="0" anchor="ctr"/>
          <a:lstStyle/>
          <a:p>
            <a:pPr algn="ctr"/>
          </a:p>
        </p:txBody>
      </p:sp>
      <p:sp>
        <p:nvSpPr>
          <p:cNvPr id="28" name="TextBox 27"/>
          <p:cNvSpPr txBox="1"/>
          <p:nvPr/>
        </p:nvSpPr>
        <p:spPr>
          <a:xfrm>
            <a:off x="670560" y="4983480"/>
            <a:ext cx="3192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Approved digest on chain</a:t>
            </a:r>
          </a:p>
        </p:txBody>
      </p:sp>
      <p:sp>
        <p:nvSpPr>
          <p:cNvPr id="29" name="TextBox 28"/>
          <p:cNvSpPr txBox="1"/>
          <p:nvPr/>
        </p:nvSpPr>
        <p:spPr>
          <a:xfrm>
            <a:off x="4107179" y="4983480"/>
            <a:ext cx="3375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Finality evidence stays separate</a:t>
            </a:r>
          </a:p>
        </p:txBody>
      </p:sp>
      <p:sp>
        <p:nvSpPr>
          <p:cNvPr id="30" name="TextBox 29"/>
          <p:cNvSpPr txBox="1"/>
          <p:nvPr/>
        </p:nvSpPr>
        <p:spPr>
          <a:xfrm>
            <a:off x="7726680" y="4983480"/>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arbitrary deploy or private episode</a:t>
            </a:r>
          </a:p>
        </p:txBody>
      </p:sp>
      <p:sp>
        <p:nvSpPr>
          <p:cNvPr id="31" name="TextBox 30"/>
          <p:cNvSpPr txBox="1"/>
          <p:nvPr/>
        </p:nvSpPr>
        <p:spPr>
          <a:xfrm>
            <a:off x="7726680" y="5217566"/>
            <a:ext cx="3794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upload</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decisions.md</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SCOPE AND STOPPING POINT</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M0 and M1 are complete. The next gate stays closed.</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architecture describes the next steps; this implementation stops before M2.</a:t>
            </a:r>
          </a:p>
        </p:txBody>
      </p:sp>
      <p:sp>
        <p:nvSpPr>
          <p:cNvPr id="5" name="Rounded Rectangle 4"/>
          <p:cNvSpPr/>
          <p:nvPr/>
        </p:nvSpPr>
        <p:spPr>
          <a:xfrm>
            <a:off x="548640" y="1927859"/>
            <a:ext cx="2636520" cy="1905000"/>
          </a:xfrm>
          <a:prstGeom prst="roundRect">
            <a:avLst>
              <a:gd name="adj" fmla="val 52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M0</a:t>
            </a:r>
          </a:p>
        </p:txBody>
      </p:sp>
      <p:sp>
        <p:nvSpPr>
          <p:cNvPr id="7" name="TextBox 6"/>
          <p:cNvSpPr txBox="1"/>
          <p:nvPr/>
        </p:nvSpPr>
        <p:spPr>
          <a:xfrm>
            <a:off x="716280" y="2331720"/>
            <a:ext cx="2301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Contracts</a:t>
            </a:r>
          </a:p>
        </p:txBody>
      </p:sp>
      <p:sp>
        <p:nvSpPr>
          <p:cNvPr id="8" name="TextBox 7"/>
          <p:cNvSpPr txBox="1"/>
          <p:nvPr/>
        </p:nvSpPr>
        <p:spPr>
          <a:xfrm>
            <a:off x="716280" y="268102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Discovery, ownership,</a:t>
            </a:r>
          </a:p>
        </p:txBody>
      </p:sp>
      <p:sp>
        <p:nvSpPr>
          <p:cNvPr id="9" name="TextBox 8"/>
          <p:cNvSpPr txBox="1"/>
          <p:nvPr/>
        </p:nvSpPr>
        <p:spPr>
          <a:xfrm>
            <a:off x="716280" y="292486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typed ports,</a:t>
            </a:r>
          </a:p>
        </p:txBody>
      </p:sp>
      <p:sp>
        <p:nvSpPr>
          <p:cNvPr id="10" name="TextBox 9"/>
          <p:cNvSpPr txBox="1"/>
          <p:nvPr/>
        </p:nvSpPr>
        <p:spPr>
          <a:xfrm>
            <a:off x="716280" y="316870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conformance</a:t>
            </a:r>
          </a:p>
        </p:txBody>
      </p:sp>
      <p:sp>
        <p:nvSpPr>
          <p:cNvPr id="11" name="TextBox 10"/>
          <p:cNvSpPr txBox="1"/>
          <p:nvPr/>
        </p:nvSpPr>
        <p:spPr>
          <a:xfrm>
            <a:off x="716280" y="341254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obligations.</a:t>
            </a:r>
          </a:p>
        </p:txBody>
      </p:sp>
      <p:sp>
        <p:nvSpPr>
          <p:cNvPr id="12" name="Rounded Rectangle 11"/>
          <p:cNvSpPr/>
          <p:nvPr/>
        </p:nvSpPr>
        <p:spPr>
          <a:xfrm>
            <a:off x="3368040" y="1927859"/>
            <a:ext cx="2636520" cy="1905000"/>
          </a:xfrm>
          <a:prstGeom prst="roundRect">
            <a:avLst>
              <a:gd name="adj" fmla="val 5200"/>
            </a:avLst>
          </a:prstGeom>
          <a:solidFill>
            <a:srgbClr val="DCEFE8"/>
          </a:solidFill>
          <a:ln w="7620">
            <a:solidFill>
              <a:srgbClr val="007C78"/>
            </a:solidFill>
          </a:ln>
          <a:effectLst/>
        </p:spPr>
        <p:txBody>
          <a:bodyPr rtlCol="0" anchor="ctr"/>
          <a:lstStyle/>
          <a:p>
            <a:pPr algn="ctr"/>
          </a:p>
        </p:txBody>
      </p:sp>
      <p:sp>
        <p:nvSpPr>
          <p:cNvPr id="13" name="TextBox 12"/>
          <p:cNvSpPr txBox="1"/>
          <p:nvPr/>
        </p:nvSpPr>
        <p:spPr>
          <a:xfrm>
            <a:off x="3535679"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M1</a:t>
            </a:r>
          </a:p>
        </p:txBody>
      </p:sp>
      <p:sp>
        <p:nvSpPr>
          <p:cNvPr id="14" name="TextBox 13"/>
          <p:cNvSpPr txBox="1"/>
          <p:nvPr/>
        </p:nvSpPr>
        <p:spPr>
          <a:xfrm>
            <a:off x="3535679" y="2331720"/>
            <a:ext cx="2301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Real local slice</a:t>
            </a:r>
          </a:p>
        </p:txBody>
      </p:sp>
      <p:sp>
        <p:nvSpPr>
          <p:cNvPr id="15" name="TextBox 14"/>
          <p:cNvSpPr txBox="1"/>
          <p:nvPr/>
        </p:nvSpPr>
        <p:spPr>
          <a:xfrm>
            <a:off x="3535679" y="268102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Store, share, inspect,</a:t>
            </a:r>
          </a:p>
        </p:txBody>
      </p:sp>
      <p:sp>
        <p:nvSpPr>
          <p:cNvPr id="16" name="TextBox 15"/>
          <p:cNvSpPr txBox="1"/>
          <p:nvPr/>
        </p:nvSpPr>
        <p:spPr>
          <a:xfrm>
            <a:off x="3535679" y="292486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recover; optional chain</a:t>
            </a:r>
          </a:p>
        </p:txBody>
      </p:sp>
      <p:sp>
        <p:nvSpPr>
          <p:cNvPr id="17" name="TextBox 16"/>
          <p:cNvSpPr txBox="1"/>
          <p:nvPr/>
        </p:nvSpPr>
        <p:spPr>
          <a:xfrm>
            <a:off x="3535679" y="316870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commitment.</a:t>
            </a:r>
          </a:p>
        </p:txBody>
      </p:sp>
      <p:sp>
        <p:nvSpPr>
          <p:cNvPr id="18" name="Rounded Rectangle 17"/>
          <p:cNvSpPr/>
          <p:nvPr/>
        </p:nvSpPr>
        <p:spPr>
          <a:xfrm>
            <a:off x="6187440" y="1927859"/>
            <a:ext cx="2636520" cy="1905000"/>
          </a:xfrm>
          <a:prstGeom prst="roundRect">
            <a:avLst>
              <a:gd name="adj" fmla="val 5200"/>
            </a:avLst>
          </a:prstGeom>
          <a:solidFill>
            <a:srgbClr val="EBE5F3"/>
          </a:solidFill>
          <a:ln w="7620">
            <a:solidFill>
              <a:srgbClr val="7458A2"/>
            </a:solidFill>
            <a:prstDash val="dash"/>
          </a:ln>
          <a:effectLst/>
        </p:spPr>
        <p:txBody>
          <a:bodyPr rtlCol="0" anchor="ctr"/>
          <a:lstStyle/>
          <a:p>
            <a:pPr algn="ctr"/>
          </a:p>
        </p:txBody>
      </p:sp>
      <p:sp>
        <p:nvSpPr>
          <p:cNvPr id="19" name="TextBox 18"/>
          <p:cNvSpPr txBox="1"/>
          <p:nvPr/>
        </p:nvSpPr>
        <p:spPr>
          <a:xfrm>
            <a:off x="63550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7458A2"/>
                </a:solidFill>
                <a:latin typeface="DejaVu Sans"/>
              </a:rPr>
              <a:t>M2</a:t>
            </a:r>
          </a:p>
        </p:txBody>
      </p:sp>
      <p:sp>
        <p:nvSpPr>
          <p:cNvPr id="20" name="TextBox 19"/>
          <p:cNvSpPr txBox="1"/>
          <p:nvPr/>
        </p:nvSpPr>
        <p:spPr>
          <a:xfrm>
            <a:off x="6355080" y="2331720"/>
            <a:ext cx="2301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Episodes +</a:t>
            </a:r>
          </a:p>
        </p:txBody>
      </p:sp>
      <p:sp>
        <p:nvSpPr>
          <p:cNvPr id="21" name="TextBox 20"/>
          <p:cNvSpPr txBox="1"/>
          <p:nvPr/>
        </p:nvSpPr>
        <p:spPr>
          <a:xfrm>
            <a:off x="6355080" y="2604820"/>
            <a:ext cx="2301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revision</a:t>
            </a:r>
          </a:p>
        </p:txBody>
      </p:sp>
      <p:sp>
        <p:nvSpPr>
          <p:cNvPr id="22" name="TextBox 21"/>
          <p:cNvSpPr txBox="1"/>
          <p:nvPr/>
        </p:nvSpPr>
        <p:spPr>
          <a:xfrm>
            <a:off x="6355080" y="2954121"/>
            <a:ext cx="23012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Private ordering, evidence</a:t>
            </a:r>
          </a:p>
        </p:txBody>
      </p:sp>
      <p:sp>
        <p:nvSpPr>
          <p:cNvPr id="23" name="TextBox 22"/>
          <p:cNvSpPr txBox="1"/>
          <p:nvPr/>
        </p:nvSpPr>
        <p:spPr>
          <a:xfrm>
            <a:off x="6355080" y="3168700"/>
            <a:ext cx="23012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lineage, reviewed</a:t>
            </a:r>
          </a:p>
        </p:txBody>
      </p:sp>
      <p:sp>
        <p:nvSpPr>
          <p:cNvPr id="24" name="TextBox 23"/>
          <p:cNvSpPr txBox="1"/>
          <p:nvPr/>
        </p:nvSpPr>
        <p:spPr>
          <a:xfrm>
            <a:off x="6355080" y="3383279"/>
            <a:ext cx="23012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numerical model.</a:t>
            </a:r>
          </a:p>
        </p:txBody>
      </p:sp>
      <p:sp>
        <p:nvSpPr>
          <p:cNvPr id="25" name="Rounded Rectangle 24"/>
          <p:cNvSpPr/>
          <p:nvPr/>
        </p:nvSpPr>
        <p:spPr>
          <a:xfrm>
            <a:off x="9006840" y="1927859"/>
            <a:ext cx="2636520" cy="1905000"/>
          </a:xfrm>
          <a:prstGeom prst="roundRect">
            <a:avLst>
              <a:gd name="adj" fmla="val 5200"/>
            </a:avLst>
          </a:prstGeom>
          <a:solidFill>
            <a:srgbClr val="EBE5F3"/>
          </a:solidFill>
          <a:ln w="7620">
            <a:solidFill>
              <a:srgbClr val="7458A2"/>
            </a:solidFill>
            <a:prstDash val="dash"/>
          </a:ln>
          <a:effectLst/>
        </p:spPr>
        <p:txBody>
          <a:bodyPr rtlCol="0" anchor="ctr"/>
          <a:lstStyle/>
          <a:p>
            <a:pPr algn="ctr"/>
          </a:p>
        </p:txBody>
      </p:sp>
      <p:sp>
        <p:nvSpPr>
          <p:cNvPr id="26" name="TextBox 25"/>
          <p:cNvSpPr txBox="1"/>
          <p:nvPr/>
        </p:nvSpPr>
        <p:spPr>
          <a:xfrm>
            <a:off x="91744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7458A2"/>
                </a:solidFill>
                <a:latin typeface="DejaVu Sans"/>
              </a:rPr>
              <a:t>M3 / M4</a:t>
            </a:r>
          </a:p>
        </p:txBody>
      </p:sp>
      <p:sp>
        <p:nvSpPr>
          <p:cNvPr id="27" name="TextBox 26"/>
          <p:cNvSpPr txBox="1"/>
          <p:nvPr/>
        </p:nvSpPr>
        <p:spPr>
          <a:xfrm>
            <a:off x="9174480" y="2331720"/>
            <a:ext cx="2301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Cognition + Hive</a:t>
            </a:r>
          </a:p>
        </p:txBody>
      </p:sp>
      <p:sp>
        <p:nvSpPr>
          <p:cNvPr id="28" name="TextBox 27"/>
          <p:cNvSpPr txBox="1"/>
          <p:nvPr/>
        </p:nvSpPr>
        <p:spPr>
          <a:xfrm>
            <a:off x="9174480" y="268102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Bounded attention /</a:t>
            </a:r>
          </a:p>
        </p:txBody>
      </p:sp>
      <p:sp>
        <p:nvSpPr>
          <p:cNvPr id="29" name="TextBox 28"/>
          <p:cNvSpPr txBox="1"/>
          <p:nvPr/>
        </p:nvSpPr>
        <p:spPr>
          <a:xfrm>
            <a:off x="9174480" y="292486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inference; selected</a:t>
            </a:r>
          </a:p>
        </p:txBody>
      </p:sp>
      <p:sp>
        <p:nvSpPr>
          <p:cNvPr id="30" name="TextBox 29"/>
          <p:cNvSpPr txBox="1"/>
          <p:nvPr/>
        </p:nvSpPr>
        <p:spPr>
          <a:xfrm>
            <a:off x="9174480" y="3168700"/>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workflow integration.</a:t>
            </a:r>
          </a:p>
        </p:txBody>
      </p:sp>
      <p:sp>
        <p:nvSpPr>
          <p:cNvPr id="31" name="TextBox 30"/>
          <p:cNvSpPr txBox="1"/>
          <p:nvPr/>
        </p:nvSpPr>
        <p:spPr>
          <a:xfrm>
            <a:off x="571500" y="4206240"/>
            <a:ext cx="10668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Open gates</a:t>
            </a:r>
          </a:p>
        </p:txBody>
      </p:sp>
      <p:sp>
        <p:nvSpPr>
          <p:cNvPr id="32" name="TextBox 31"/>
          <p:cNvSpPr txBox="1"/>
          <p:nvPr/>
        </p:nvSpPr>
        <p:spPr>
          <a:xfrm>
            <a:off x="548640" y="4648200"/>
            <a:ext cx="34290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Integration</a:t>
            </a:r>
          </a:p>
        </p:txBody>
      </p:sp>
      <p:sp>
        <p:nvSpPr>
          <p:cNvPr id="33" name="TextBox 32"/>
          <p:cNvSpPr txBox="1"/>
          <p:nvPr/>
        </p:nvSpPr>
        <p:spPr>
          <a:xfrm>
            <a:off x="548640" y="502158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Intended Hive runtime / version;</a:t>
            </a:r>
          </a:p>
        </p:txBody>
      </p:sp>
      <p:sp>
        <p:nvSpPr>
          <p:cNvPr id="34" name="TextBox 33"/>
          <p:cNvSpPr txBox="1"/>
          <p:nvPr/>
        </p:nvSpPr>
        <p:spPr>
          <a:xfrm>
            <a:off x="548640" y="526542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production authorization.</a:t>
            </a:r>
          </a:p>
        </p:txBody>
      </p:sp>
      <p:sp>
        <p:nvSpPr>
          <p:cNvPr id="35" name="TextBox 34"/>
          <p:cNvSpPr txBox="1"/>
          <p:nvPr/>
        </p:nvSpPr>
        <p:spPr>
          <a:xfrm>
            <a:off x="4328160" y="4648200"/>
            <a:ext cx="34290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Guarantees</a:t>
            </a:r>
          </a:p>
        </p:txBody>
      </p:sp>
      <p:sp>
        <p:nvSpPr>
          <p:cNvPr id="36" name="TextBox 35"/>
          <p:cNvSpPr txBox="1"/>
          <p:nvPr/>
        </p:nvSpPr>
        <p:spPr>
          <a:xfrm>
            <a:off x="4328160" y="502158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Distributed custody; multi-validator</a:t>
            </a:r>
          </a:p>
        </p:txBody>
      </p:sp>
      <p:sp>
        <p:nvSpPr>
          <p:cNvPr id="37" name="TextBox 36"/>
          <p:cNvSpPr txBox="1"/>
          <p:nvPr/>
        </p:nvSpPr>
        <p:spPr>
          <a:xfrm>
            <a:off x="4328160" y="526542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operation; verified proofs.</a:t>
            </a:r>
          </a:p>
        </p:txBody>
      </p:sp>
      <p:sp>
        <p:nvSpPr>
          <p:cNvPr id="38" name="TextBox 37"/>
          <p:cNvSpPr txBox="1"/>
          <p:nvPr/>
        </p:nvSpPr>
        <p:spPr>
          <a:xfrm>
            <a:off x="8107680" y="4648200"/>
            <a:ext cx="34290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Cognition</a:t>
            </a:r>
          </a:p>
        </p:txBody>
      </p:sp>
      <p:sp>
        <p:nvSpPr>
          <p:cNvPr id="39" name="TextBox 38"/>
          <p:cNvSpPr txBox="1"/>
          <p:nvPr/>
        </p:nvSpPr>
        <p:spPr>
          <a:xfrm>
            <a:off x="8107680" y="502158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Reviewed revision model; STI</a:t>
            </a:r>
          </a:p>
        </p:txBody>
      </p:sp>
      <p:sp>
        <p:nvSpPr>
          <p:cNvPr id="40" name="TextBox 39"/>
          <p:cNvSpPr txBox="1"/>
          <p:nvPr/>
        </p:nvSpPr>
        <p:spPr>
          <a:xfrm>
            <a:off x="8107680" y="5265420"/>
            <a:ext cx="342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policy; specialist ownership.</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brief · evidence.md</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04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63980"/>
            <a:ext cx="10591800" cy="592226"/>
          </a:xfrm>
          <a:prstGeom prst="rect">
            <a:avLst/>
          </a:prstGeom>
          <a:noFill/>
        </p:spPr>
        <p:txBody>
          <a:bodyPr wrap="none" lIns="0" rIns="0" tIns="0" bIns="0" anchor="t" anchorCtr="0">
            <a:noAutofit/>
          </a:bodyPr>
          <a:lstStyle/>
          <a:p>
            <a:pPr algn="l">
              <a:lnSpc>
                <a:spcPct val="100000"/>
              </a:lnSpc>
              <a:spcBef>
                <a:spcPts val="0"/>
              </a:spcBef>
              <a:spcAft>
                <a:spcPts val="0"/>
              </a:spcAft>
            </a:pPr>
            <a:r>
              <a:rPr sz="4019" b="1">
                <a:solidFill>
                  <a:srgbClr val="FFFFFF"/>
                </a:solidFill>
                <a:latin typeface="DejaVu Sans"/>
              </a:rPr>
              <a:t>Modularity is a promise</a:t>
            </a:r>
          </a:p>
        </p:txBody>
      </p:sp>
      <p:sp>
        <p:nvSpPr>
          <p:cNvPr id="5" name="TextBox 4"/>
          <p:cNvSpPr txBox="1"/>
          <p:nvPr/>
        </p:nvSpPr>
        <p:spPr>
          <a:xfrm>
            <a:off x="548640" y="1956206"/>
            <a:ext cx="10591800" cy="592226"/>
          </a:xfrm>
          <a:prstGeom prst="rect">
            <a:avLst/>
          </a:prstGeom>
          <a:noFill/>
        </p:spPr>
        <p:txBody>
          <a:bodyPr wrap="none" lIns="0" rIns="0" tIns="0" bIns="0" anchor="t" anchorCtr="0">
            <a:noAutofit/>
          </a:bodyPr>
          <a:lstStyle/>
          <a:p>
            <a:pPr algn="l">
              <a:lnSpc>
                <a:spcPct val="100000"/>
              </a:lnSpc>
              <a:spcBef>
                <a:spcPts val="0"/>
              </a:spcBef>
              <a:spcAft>
                <a:spcPts val="0"/>
              </a:spcAft>
            </a:pPr>
            <a:r>
              <a:rPr sz="4019" b="1">
                <a:solidFill>
                  <a:srgbClr val="FFFFFF"/>
                </a:solidFill>
                <a:latin typeface="DejaVu Sans"/>
              </a:rPr>
              <a:t>about behavior and authority.</a:t>
            </a:r>
          </a:p>
        </p:txBody>
      </p:sp>
      <p:sp>
        <p:nvSpPr>
          <p:cNvPr id="6" name="TextBox 5"/>
          <p:cNvSpPr txBox="1"/>
          <p:nvPr/>
        </p:nvSpPr>
        <p:spPr>
          <a:xfrm>
            <a:off x="594360" y="3040379"/>
            <a:ext cx="10287000" cy="351129"/>
          </a:xfrm>
          <a:prstGeom prst="rect">
            <a:avLst/>
          </a:prstGeom>
          <a:noFill/>
        </p:spPr>
        <p:txBody>
          <a:bodyPr wrap="none" lIns="0" rIns="0" tIns="0" bIns="0" anchor="t" anchorCtr="0">
            <a:noAutofit/>
          </a:bodyPr>
          <a:lstStyle/>
          <a:p>
            <a:pPr algn="l">
              <a:lnSpc>
                <a:spcPct val="100000"/>
              </a:lnSpc>
              <a:spcBef>
                <a:spcPts val="0"/>
              </a:spcBef>
              <a:spcAft>
                <a:spcPts val="0"/>
              </a:spcAft>
            </a:pPr>
            <a:r>
              <a:rPr sz="2160" b="0">
                <a:solidFill>
                  <a:srgbClr val="AAC0CC"/>
                </a:solidFill>
                <a:latin typeface="DejaVu Sans"/>
              </a:rPr>
              <a:t>The working slice makes that promise reviewable.</a:t>
            </a:r>
          </a:p>
        </p:txBody>
      </p:sp>
      <p:sp>
        <p:nvSpPr>
          <p:cNvPr id="7" name="TextBox 6"/>
          <p:cNvSpPr txBox="1"/>
          <p:nvPr/>
        </p:nvSpPr>
        <p:spPr>
          <a:xfrm>
            <a:off x="601980" y="3855719"/>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01</a:t>
            </a:r>
          </a:p>
        </p:txBody>
      </p:sp>
      <p:sp>
        <p:nvSpPr>
          <p:cNvPr id="8" name="TextBox 7"/>
          <p:cNvSpPr txBox="1"/>
          <p:nvPr/>
        </p:nvSpPr>
        <p:spPr>
          <a:xfrm>
            <a:off x="1455420" y="3855719"/>
            <a:ext cx="9906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FFFFFF"/>
                </a:solidFill>
                <a:latin typeface="DejaVu Sans"/>
              </a:rPr>
              <a:t>State changes through its owner.</a:t>
            </a:r>
          </a:p>
        </p:txBody>
      </p:sp>
      <p:sp>
        <p:nvSpPr>
          <p:cNvPr id="9" name="TextBox 8"/>
          <p:cNvSpPr txBox="1"/>
          <p:nvPr/>
        </p:nvSpPr>
        <p:spPr>
          <a:xfrm>
            <a:off x="601980" y="4533900"/>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02</a:t>
            </a:r>
          </a:p>
        </p:txBody>
      </p:sp>
      <p:sp>
        <p:nvSpPr>
          <p:cNvPr id="10" name="TextBox 9"/>
          <p:cNvSpPr txBox="1"/>
          <p:nvPr/>
        </p:nvSpPr>
        <p:spPr>
          <a:xfrm>
            <a:off x="1455420" y="4533900"/>
            <a:ext cx="9906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FFFFFF"/>
                </a:solidFill>
                <a:latin typeface="DejaVu Sans"/>
              </a:rPr>
              <a:t>Providers are selected by declared semantics.</a:t>
            </a:r>
          </a:p>
        </p:txBody>
      </p:sp>
      <p:sp>
        <p:nvSpPr>
          <p:cNvPr id="11" name="TextBox 10"/>
          <p:cNvSpPr txBox="1"/>
          <p:nvPr/>
        </p:nvSpPr>
        <p:spPr>
          <a:xfrm>
            <a:off x="601980" y="5212080"/>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03</a:t>
            </a:r>
          </a:p>
        </p:txBody>
      </p:sp>
      <p:sp>
        <p:nvSpPr>
          <p:cNvPr id="12" name="TextBox 11"/>
          <p:cNvSpPr txBox="1"/>
          <p:nvPr/>
        </p:nvSpPr>
        <p:spPr>
          <a:xfrm>
            <a:off x="1455420" y="5212080"/>
            <a:ext cx="9906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FFFFFF"/>
                </a:solidFill>
                <a:latin typeface="DejaVu Sans"/>
              </a:rPr>
              <a:t>Receipts say precisely what was observed.</a:t>
            </a:r>
          </a:p>
        </p:txBody>
      </p:sp>
      <p:sp>
        <p:nvSpPr>
          <p:cNvPr id="13" name="TextBox 12"/>
          <p:cNvSpPr txBox="1"/>
          <p:nvPr/>
        </p:nvSpPr>
        <p:spPr>
          <a:xfrm>
            <a:off x="601980" y="6019800"/>
            <a:ext cx="10287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M0 + M1 delivered • No M2 implementation • Evidence and reproduction in the repository</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M0–M1 / implementation 3f75db9 · evidence.md</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Implementation dependency map</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lines identify actual calls/import composition; file names locate the corresponding seam.</a:t>
            </a:r>
          </a:p>
        </p:txBody>
      </p:sp>
      <p:sp>
        <p:nvSpPr>
          <p:cNvPr id="5" name="Rounded Rectangle 4"/>
          <p:cNvSpPr/>
          <p:nvPr/>
        </p:nvSpPr>
        <p:spPr>
          <a:xfrm>
            <a:off x="548640" y="1874520"/>
            <a:ext cx="2514600" cy="975360"/>
          </a:xfrm>
          <a:prstGeom prst="roundRect">
            <a:avLst>
              <a:gd name="adj" fmla="val 10156"/>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42159"/>
            <a:ext cx="21793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Peer</a:t>
            </a:r>
          </a:p>
        </p:txBody>
      </p:sp>
      <p:sp>
        <p:nvSpPr>
          <p:cNvPr id="7" name="TextBox 6"/>
          <p:cNvSpPr txBox="1"/>
          <p:nvPr/>
        </p:nvSpPr>
        <p:spPr>
          <a:xfrm>
            <a:off x="716280" y="2410967"/>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client.py → Binding.invoke</a:t>
            </a:r>
          </a:p>
        </p:txBody>
      </p:sp>
      <p:sp>
        <p:nvSpPr>
          <p:cNvPr id="8" name="Rounded Rectangle 7"/>
          <p:cNvSpPr/>
          <p:nvPr/>
        </p:nvSpPr>
        <p:spPr>
          <a:xfrm>
            <a:off x="3962400" y="1874520"/>
            <a:ext cx="3429000" cy="975360"/>
          </a:xfrm>
          <a:prstGeom prst="roundRect">
            <a:avLst>
              <a:gd name="adj" fmla="val 10156"/>
            </a:avLst>
          </a:prstGeom>
          <a:solidFill>
            <a:srgbClr val="FFFFFF"/>
          </a:solidFill>
          <a:ln w="7620">
            <a:solidFill>
              <a:srgbClr val="315E9C"/>
            </a:solidFill>
          </a:ln>
          <a:effectLst/>
        </p:spPr>
        <p:txBody>
          <a:bodyPr rtlCol="0" anchor="ctr"/>
          <a:lstStyle/>
          <a:p>
            <a:pPr algn="ctr"/>
          </a:p>
        </p:txBody>
      </p:sp>
      <p:sp>
        <p:nvSpPr>
          <p:cNvPr id="9" name="TextBox 8"/>
          <p:cNvSpPr txBox="1"/>
          <p:nvPr/>
        </p:nvSpPr>
        <p:spPr>
          <a:xfrm>
            <a:off x="4130040" y="2042159"/>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Bindings</a:t>
            </a:r>
          </a:p>
        </p:txBody>
      </p:sp>
      <p:sp>
        <p:nvSpPr>
          <p:cNvPr id="10" name="TextBox 9"/>
          <p:cNvSpPr txBox="1"/>
          <p:nvPr/>
        </p:nvSpPr>
        <p:spPr>
          <a:xfrm>
            <a:off x="4130040" y="2410967"/>
            <a:ext cx="3093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bindings.py → Service.invoke / host</a:t>
            </a:r>
          </a:p>
        </p:txBody>
      </p:sp>
      <p:sp>
        <p:nvSpPr>
          <p:cNvPr id="11" name="Rounded Rectangle 10"/>
          <p:cNvSpPr/>
          <p:nvPr/>
        </p:nvSpPr>
        <p:spPr>
          <a:xfrm>
            <a:off x="8290559" y="1874520"/>
            <a:ext cx="3352800" cy="975360"/>
          </a:xfrm>
          <a:prstGeom prst="roundRect">
            <a:avLst>
              <a:gd name="adj" fmla="val 10156"/>
            </a:avLst>
          </a:prstGeom>
          <a:solidFill>
            <a:srgbClr val="FFFFFF"/>
          </a:solidFill>
          <a:ln w="7620">
            <a:solidFill>
              <a:srgbClr val="007C78"/>
            </a:solidFill>
          </a:ln>
          <a:effectLst/>
        </p:spPr>
        <p:txBody>
          <a:bodyPr rtlCol="0" anchor="ctr"/>
          <a:lstStyle/>
          <a:p>
            <a:pPr algn="ctr"/>
          </a:p>
        </p:txBody>
      </p:sp>
      <p:sp>
        <p:nvSpPr>
          <p:cNvPr id="12" name="TextBox 11"/>
          <p:cNvSpPr txBox="1"/>
          <p:nvPr/>
        </p:nvSpPr>
        <p:spPr>
          <a:xfrm>
            <a:off x="8458200" y="2042159"/>
            <a:ext cx="30175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Composition</a:t>
            </a:r>
          </a:p>
        </p:txBody>
      </p:sp>
      <p:sp>
        <p:nvSpPr>
          <p:cNvPr id="13" name="TextBox 12"/>
          <p:cNvSpPr txBox="1"/>
          <p:nvPr/>
        </p:nvSpPr>
        <p:spPr>
          <a:xfrm>
            <a:off x="8458200" y="2410967"/>
            <a:ext cx="3017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composition.py injects DettaStorage</a:t>
            </a:r>
          </a:p>
        </p:txBody>
      </p:sp>
      <p:cxnSp>
        <p:nvCxnSpPr>
          <p:cNvPr id="14" name="Connector 13"/>
          <p:cNvCxnSpPr/>
          <p:nvPr/>
        </p:nvCxnSpPr>
        <p:spPr>
          <a:xfrm>
            <a:off x="3063240" y="2362200"/>
            <a:ext cx="899160" cy="0"/>
          </a:xfrm>
          <a:prstGeom prst="line">
            <a:avLst/>
          </a:prstGeom>
          <a:ln w="15240">
            <a:solidFill>
              <a:srgbClr val="315E9C"/>
            </a:solidFill>
          </a:ln>
          <a:effectLst/>
        </p:spPr>
      </p:cxnSp>
      <p:sp>
        <p:nvSpPr>
          <p:cNvPr id="15" name="Freeform 14"/>
          <p:cNvSpPr/>
          <p:nvPr/>
        </p:nvSpPr>
        <p:spPr>
          <a:xfrm>
            <a:off x="3863340" y="23241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16" name="Connector 15"/>
          <p:cNvCxnSpPr/>
          <p:nvPr/>
        </p:nvCxnSpPr>
        <p:spPr>
          <a:xfrm>
            <a:off x="7391400" y="2362200"/>
            <a:ext cx="899159" cy="0"/>
          </a:xfrm>
          <a:prstGeom prst="line">
            <a:avLst/>
          </a:prstGeom>
          <a:ln w="15240">
            <a:solidFill>
              <a:srgbClr val="315E9C"/>
            </a:solidFill>
          </a:ln>
          <a:effectLst/>
        </p:spPr>
      </p:cxnSp>
      <p:sp>
        <p:nvSpPr>
          <p:cNvPr id="17" name="Freeform 16"/>
          <p:cNvSpPr/>
          <p:nvPr/>
        </p:nvSpPr>
        <p:spPr>
          <a:xfrm>
            <a:off x="8191500" y="23241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3962400" y="3505200"/>
            <a:ext cx="3429000" cy="1059180"/>
          </a:xfrm>
          <a:prstGeom prst="roundRect">
            <a:avLst>
              <a:gd name="adj" fmla="val 9352"/>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4130040" y="367284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Service + owners</a:t>
            </a:r>
          </a:p>
        </p:txBody>
      </p:sp>
      <p:sp>
        <p:nvSpPr>
          <p:cNvPr id="20" name="TextBox 19"/>
          <p:cNvSpPr txBox="1"/>
          <p:nvPr/>
        </p:nvSpPr>
        <p:spPr>
          <a:xfrm>
            <a:off x="4130040" y="4041647"/>
            <a:ext cx="3093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service.py → validate / policy /</a:t>
            </a:r>
          </a:p>
        </p:txBody>
      </p:sp>
      <p:sp>
        <p:nvSpPr>
          <p:cNvPr id="21" name="TextBox 20"/>
          <p:cNvSpPr txBox="1"/>
          <p:nvPr/>
        </p:nvSpPr>
        <p:spPr>
          <a:xfrm>
            <a:off x="4130040" y="4246473"/>
            <a:ext cx="3093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dispatch</a:t>
            </a:r>
          </a:p>
        </p:txBody>
      </p:sp>
      <p:cxnSp>
        <p:nvCxnSpPr>
          <p:cNvPr id="22" name="Connector 21"/>
          <p:cNvCxnSpPr/>
          <p:nvPr/>
        </p:nvCxnSpPr>
        <p:spPr>
          <a:xfrm>
            <a:off x="5676900" y="2849880"/>
            <a:ext cx="0" cy="655320"/>
          </a:xfrm>
          <a:prstGeom prst="line">
            <a:avLst/>
          </a:prstGeom>
          <a:ln w="15240">
            <a:solidFill>
              <a:srgbClr val="315E9C"/>
            </a:solidFill>
          </a:ln>
          <a:effectLst/>
        </p:spPr>
      </p:cxnSp>
      <p:sp>
        <p:nvSpPr>
          <p:cNvPr id="23" name="Freeform 22"/>
          <p:cNvSpPr/>
          <p:nvPr/>
        </p:nvSpPr>
        <p:spPr>
          <a:xfrm>
            <a:off x="5638800" y="34061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4" name="Rounded Rectangle 23"/>
          <p:cNvSpPr/>
          <p:nvPr/>
        </p:nvSpPr>
        <p:spPr>
          <a:xfrm>
            <a:off x="548640" y="3505200"/>
            <a:ext cx="2514600" cy="1059180"/>
          </a:xfrm>
          <a:prstGeom prst="roundRect">
            <a:avLst>
              <a:gd name="adj" fmla="val 9352"/>
            </a:avLst>
          </a:prstGeom>
          <a:solidFill>
            <a:srgbClr val="FFFFFF"/>
          </a:solidFill>
          <a:ln w="7620">
            <a:solidFill>
              <a:srgbClr val="102B3F"/>
            </a:solidFill>
          </a:ln>
          <a:effectLst/>
        </p:spPr>
        <p:txBody>
          <a:bodyPr rtlCol="0" anchor="ctr"/>
          <a:lstStyle/>
          <a:p>
            <a:pPr algn="ctr"/>
          </a:p>
        </p:txBody>
      </p:sp>
      <p:sp>
        <p:nvSpPr>
          <p:cNvPr id="25" name="TextBox 24"/>
          <p:cNvSpPr txBox="1"/>
          <p:nvPr/>
        </p:nvSpPr>
        <p:spPr>
          <a:xfrm>
            <a:off x="716280" y="3672840"/>
            <a:ext cx="21793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Contracts</a:t>
            </a:r>
          </a:p>
        </p:txBody>
      </p:sp>
      <p:sp>
        <p:nvSpPr>
          <p:cNvPr id="26" name="TextBox 25"/>
          <p:cNvSpPr txBox="1"/>
          <p:nvPr/>
        </p:nvSpPr>
        <p:spPr>
          <a:xfrm>
            <a:off x="716280" y="4041647"/>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contracts.py · ports.py</a:t>
            </a:r>
          </a:p>
        </p:txBody>
      </p:sp>
      <p:sp>
        <p:nvSpPr>
          <p:cNvPr id="27" name="TextBox 26"/>
          <p:cNvSpPr txBox="1"/>
          <p:nvPr/>
        </p:nvSpPr>
        <p:spPr>
          <a:xfrm>
            <a:off x="716280" y="4256227"/>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 backend imports</a:t>
            </a:r>
          </a:p>
        </p:txBody>
      </p:sp>
      <p:cxnSp>
        <p:nvCxnSpPr>
          <p:cNvPr id="28" name="Connector 27"/>
          <p:cNvCxnSpPr/>
          <p:nvPr/>
        </p:nvCxnSpPr>
        <p:spPr>
          <a:xfrm flipH="1">
            <a:off x="3063240" y="4030979"/>
            <a:ext cx="899160" cy="0"/>
          </a:xfrm>
          <a:prstGeom prst="line">
            <a:avLst/>
          </a:prstGeom>
          <a:ln w="15240">
            <a:solidFill>
              <a:srgbClr val="536775"/>
            </a:solidFill>
          </a:ln>
          <a:effectLst/>
        </p:spPr>
      </p:cxnSp>
      <p:sp>
        <p:nvSpPr>
          <p:cNvPr id="29" name="Freeform 28"/>
          <p:cNvSpPr/>
          <p:nvPr/>
        </p:nvSpPr>
        <p:spPr>
          <a:xfrm>
            <a:off x="3063240" y="3992880"/>
            <a:ext cx="99060" cy="76200"/>
          </a:xfrm>
          <a:custGeom>
            <a:avLst/>
            <a:gdLst/>
            <a:ahLst/>
            <a:cxnLst/>
            <a:rect l="l" t="t" r="r" b="b"/>
            <a:pathLst>
              <a:path w="13" h="10">
                <a:moveTo>
                  <a:pt x="0" y="5"/>
                </a:moveTo>
                <a:lnTo>
                  <a:pt x="13" y="10"/>
                </a:lnTo>
                <a:lnTo>
                  <a:pt x="13" y="0"/>
                </a:lnTo>
                <a:close/>
              </a:path>
            </a:pathLst>
          </a:custGeom>
          <a:solidFill>
            <a:srgbClr val="536775"/>
          </a:solidFill>
          <a:ln>
            <a:noFill/>
          </a:ln>
          <a:effectLst/>
        </p:spPr>
        <p:txBody>
          <a:bodyPr rtlCol="0" anchor="ctr"/>
          <a:lstStyle/>
          <a:p>
            <a:pPr algn="ctr"/>
          </a:p>
        </p:txBody>
      </p:sp>
      <p:sp>
        <p:nvSpPr>
          <p:cNvPr id="30" name="Rounded Rectangle 29"/>
          <p:cNvSpPr/>
          <p:nvPr/>
        </p:nvSpPr>
        <p:spPr>
          <a:xfrm>
            <a:off x="8290559" y="3505200"/>
            <a:ext cx="3352800" cy="1059180"/>
          </a:xfrm>
          <a:prstGeom prst="roundRect">
            <a:avLst>
              <a:gd name="adj" fmla="val 9352"/>
            </a:avLst>
          </a:prstGeom>
          <a:solidFill>
            <a:srgbClr val="FFFFFF"/>
          </a:solidFill>
          <a:ln w="7620">
            <a:solidFill>
              <a:srgbClr val="007C78"/>
            </a:solidFill>
          </a:ln>
          <a:effectLst/>
        </p:spPr>
        <p:txBody>
          <a:bodyPr rtlCol="0" anchor="ctr"/>
          <a:lstStyle/>
          <a:p>
            <a:pPr algn="ctr"/>
          </a:p>
        </p:txBody>
      </p:sp>
      <p:sp>
        <p:nvSpPr>
          <p:cNvPr id="31" name="TextBox 30"/>
          <p:cNvSpPr txBox="1"/>
          <p:nvPr/>
        </p:nvSpPr>
        <p:spPr>
          <a:xfrm>
            <a:off x="8458200" y="3672840"/>
            <a:ext cx="30175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Opaque storage adapter</a:t>
            </a:r>
          </a:p>
        </p:txBody>
      </p:sp>
      <p:sp>
        <p:nvSpPr>
          <p:cNvPr id="32" name="TextBox 31"/>
          <p:cNvSpPr txBox="1"/>
          <p:nvPr/>
        </p:nvSpPr>
        <p:spPr>
          <a:xfrm>
            <a:off x="8458200" y="4002633"/>
            <a:ext cx="3017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adapters/detta.py → Rust helper</a:t>
            </a:r>
          </a:p>
        </p:txBody>
      </p:sp>
      <p:sp>
        <p:nvSpPr>
          <p:cNvPr id="33" name="TextBox 32"/>
          <p:cNvSpPr txBox="1"/>
          <p:nvPr/>
        </p:nvSpPr>
        <p:spPr>
          <a:xfrm>
            <a:off x="8458200" y="4217212"/>
            <a:ext cx="3017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 detta-da + detta-storage</a:t>
            </a:r>
          </a:p>
        </p:txBody>
      </p:sp>
      <p:cxnSp>
        <p:nvCxnSpPr>
          <p:cNvPr id="34" name="Connector 33"/>
          <p:cNvCxnSpPr/>
          <p:nvPr/>
        </p:nvCxnSpPr>
        <p:spPr>
          <a:xfrm>
            <a:off x="7391400" y="4030979"/>
            <a:ext cx="899159" cy="0"/>
          </a:xfrm>
          <a:prstGeom prst="line">
            <a:avLst/>
          </a:prstGeom>
          <a:ln w="15240">
            <a:solidFill>
              <a:srgbClr val="007C78"/>
            </a:solidFill>
          </a:ln>
          <a:effectLst/>
        </p:spPr>
      </p:cxnSp>
      <p:sp>
        <p:nvSpPr>
          <p:cNvPr id="35" name="Freeform 34"/>
          <p:cNvSpPr/>
          <p:nvPr/>
        </p:nvSpPr>
        <p:spPr>
          <a:xfrm>
            <a:off x="8191500" y="39928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6" name="Rounded Rectangle 35"/>
          <p:cNvSpPr/>
          <p:nvPr/>
        </p:nvSpPr>
        <p:spPr>
          <a:xfrm>
            <a:off x="548640" y="5234940"/>
            <a:ext cx="4953000" cy="838200"/>
          </a:xfrm>
          <a:prstGeom prst="roundRect">
            <a:avLst>
              <a:gd name="adj" fmla="val 11818"/>
            </a:avLst>
          </a:prstGeom>
          <a:solidFill>
            <a:srgbClr val="FFFFFF"/>
          </a:solidFill>
          <a:ln w="7620">
            <a:solidFill>
              <a:srgbClr val="315E9C"/>
            </a:solidFill>
          </a:ln>
          <a:effectLst/>
        </p:spPr>
        <p:txBody>
          <a:bodyPr rtlCol="0" anchor="ctr"/>
          <a:lstStyle/>
          <a:p>
            <a:pPr algn="ctr"/>
          </a:p>
        </p:txBody>
      </p:sp>
      <p:sp>
        <p:nvSpPr>
          <p:cNvPr id="37" name="TextBox 36"/>
          <p:cNvSpPr txBox="1"/>
          <p:nvPr/>
        </p:nvSpPr>
        <p:spPr>
          <a:xfrm>
            <a:off x="716280" y="5402580"/>
            <a:ext cx="4617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Operator worker entry</a:t>
            </a:r>
          </a:p>
        </p:txBody>
      </p:sp>
      <p:sp>
        <p:nvSpPr>
          <p:cNvPr id="38" name="TextBox 37"/>
          <p:cNvSpPr txBox="1"/>
          <p:nvPr/>
        </p:nvSpPr>
        <p:spPr>
          <a:xfrm>
            <a:off x="716280" y="5742127"/>
            <a:ext cx="4617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host.py work / flush → ExecutionOwner</a:t>
            </a:r>
          </a:p>
        </p:txBody>
      </p:sp>
      <p:cxnSp>
        <p:nvCxnSpPr>
          <p:cNvPr id="39" name="Connector 38"/>
          <p:cNvCxnSpPr/>
          <p:nvPr/>
        </p:nvCxnSpPr>
        <p:spPr>
          <a:xfrm>
            <a:off x="5501640" y="5646420"/>
            <a:ext cx="403860" cy="0"/>
          </a:xfrm>
          <a:prstGeom prst="line">
            <a:avLst/>
          </a:prstGeom>
          <a:ln w="15240">
            <a:solidFill>
              <a:srgbClr val="315E9C"/>
            </a:solidFill>
          </a:ln>
          <a:effectLst/>
        </p:spPr>
      </p:cxnSp>
      <p:cxnSp>
        <p:nvCxnSpPr>
          <p:cNvPr id="40" name="Connector 39"/>
          <p:cNvCxnSpPr/>
          <p:nvPr/>
        </p:nvCxnSpPr>
        <p:spPr>
          <a:xfrm flipV="1">
            <a:off x="5905500" y="4564380"/>
            <a:ext cx="0" cy="1082040"/>
          </a:xfrm>
          <a:prstGeom prst="line">
            <a:avLst/>
          </a:prstGeom>
          <a:ln w="15240">
            <a:solidFill>
              <a:srgbClr val="315E9C"/>
            </a:solidFill>
          </a:ln>
          <a:effectLst/>
        </p:spPr>
      </p:cxnSp>
      <p:sp>
        <p:nvSpPr>
          <p:cNvPr id="41" name="Freeform 40"/>
          <p:cNvSpPr/>
          <p:nvPr/>
        </p:nvSpPr>
        <p:spPr>
          <a:xfrm>
            <a:off x="5867400" y="4564380"/>
            <a:ext cx="76200" cy="99060"/>
          </a:xfrm>
          <a:custGeom>
            <a:avLst/>
            <a:gdLst/>
            <a:ahLst/>
            <a:cxnLst/>
            <a:rect l="l" t="t" r="r" b="b"/>
            <a:pathLst>
              <a:path w="10" h="13">
                <a:moveTo>
                  <a:pt x="5" y="0"/>
                </a:moveTo>
                <a:lnTo>
                  <a:pt x="0" y="13"/>
                </a:lnTo>
                <a:lnTo>
                  <a:pt x="10" y="13"/>
                </a:lnTo>
                <a:close/>
              </a:path>
            </a:pathLst>
          </a:custGeom>
          <a:solidFill>
            <a:srgbClr val="315E9C"/>
          </a:solidFill>
          <a:ln>
            <a:noFill/>
          </a:ln>
          <a:effectLst/>
        </p:spPr>
        <p:txBody>
          <a:bodyPr rtlCol="0" anchor="ctr"/>
          <a:lstStyle/>
          <a:p>
            <a:pPr algn="ctr"/>
          </a:p>
        </p:txBody>
      </p:sp>
      <p:sp>
        <p:nvSpPr>
          <p:cNvPr id="42" name="Rounded Rectangle 41"/>
          <p:cNvSpPr/>
          <p:nvPr/>
        </p:nvSpPr>
        <p:spPr>
          <a:xfrm>
            <a:off x="6598920" y="5234940"/>
            <a:ext cx="5044440" cy="838200"/>
          </a:xfrm>
          <a:prstGeom prst="roundRect">
            <a:avLst>
              <a:gd name="adj" fmla="val 11818"/>
            </a:avLst>
          </a:prstGeom>
          <a:solidFill>
            <a:srgbClr val="FFFFFF"/>
          </a:solidFill>
          <a:ln w="7620">
            <a:solidFill>
              <a:srgbClr val="007C78"/>
            </a:solidFill>
          </a:ln>
          <a:effectLst/>
        </p:spPr>
        <p:txBody>
          <a:bodyPr rtlCol="0" anchor="ctr"/>
          <a:lstStyle/>
          <a:p>
            <a:pPr algn="ctr"/>
          </a:p>
        </p:txBody>
      </p:sp>
      <p:sp>
        <p:nvSpPr>
          <p:cNvPr id="43" name="TextBox 42"/>
          <p:cNvSpPr txBox="1"/>
          <p:nvPr/>
        </p:nvSpPr>
        <p:spPr>
          <a:xfrm>
            <a:off x="6766559" y="5402580"/>
            <a:ext cx="47091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Optional separate chain composition</a:t>
            </a:r>
          </a:p>
        </p:txBody>
      </p:sp>
      <p:sp>
        <p:nvSpPr>
          <p:cNvPr id="44" name="TextBox 43"/>
          <p:cNvSpPr txBox="1"/>
          <p:nvPr/>
        </p:nvSpPr>
        <p:spPr>
          <a:xfrm>
            <a:off x="6766559" y="5742127"/>
            <a:ext cx="47091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chain_demo.py → F1R3Commitments → F1R3HTTP</a:t>
            </a:r>
          </a:p>
        </p:txBody>
      </p:sp>
      <p:cxnSp>
        <p:nvCxnSpPr>
          <p:cNvPr id="45" name="Connector 44"/>
          <p:cNvCxnSpPr/>
          <p:nvPr/>
        </p:nvCxnSpPr>
        <p:spPr>
          <a:xfrm>
            <a:off x="548640" y="6393180"/>
            <a:ext cx="11094720" cy="0"/>
          </a:xfrm>
          <a:prstGeom prst="line">
            <a:avLst/>
          </a:prstGeom>
          <a:ln w="7620">
            <a:solidFill>
              <a:srgbClr val="C9D2D4"/>
            </a:solidFill>
          </a:ln>
          <a:effectLst/>
        </p:spPr>
      </p:cxnSp>
      <p:sp>
        <p:nvSpPr>
          <p:cNvPr id="46" name="TextBox 45"/>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fusion/ · adapters/detta/</a:t>
            </a:r>
          </a:p>
        </p:txBody>
      </p:sp>
      <p:sp>
        <p:nvSpPr>
          <p:cNvPr id="47" name="TextBox 4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REVIEW CHECKLIST</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Specified cognitive contracts carry test obligations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These are future acceptance cases, not executed M1 tests.</a:t>
            </a:r>
          </a:p>
        </p:txBody>
      </p:sp>
      <p:sp>
        <p:nvSpPr>
          <p:cNvPr id="5" name="TextBox 4"/>
          <p:cNvSpPr txBox="1"/>
          <p:nvPr/>
        </p:nvSpPr>
        <p:spPr>
          <a:xfrm>
            <a:off x="670560" y="1790700"/>
            <a:ext cx="2575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489960" y="1790700"/>
            <a:ext cx="39090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SEMANTIC DECISION</a:t>
            </a:r>
          </a:p>
        </p:txBody>
      </p:sp>
      <p:sp>
        <p:nvSpPr>
          <p:cNvPr id="7" name="TextBox 6"/>
          <p:cNvSpPr txBox="1"/>
          <p:nvPr/>
        </p:nvSpPr>
        <p:spPr>
          <a:xfrm>
            <a:off x="7642859" y="1790700"/>
            <a:ext cx="38785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NAMED CONFORMANCE OBLIGATIONS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Relations / Search</a:t>
            </a:r>
          </a:p>
        </p:txBody>
      </p:sp>
      <p:sp>
        <p:nvSpPr>
          <p:cNvPr id="10" name="TextBox 9"/>
          <p:cNvSpPr txBox="1"/>
          <p:nvPr/>
        </p:nvSpPr>
        <p:spPr>
          <a:xfrm>
            <a:off x="3489960" y="224028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Ordered roles; dialect + watermark</a:t>
            </a:r>
          </a:p>
        </p:txBody>
      </p:sp>
      <p:sp>
        <p:nvSpPr>
          <p:cNvPr id="11" name="TextBox 10"/>
          <p:cNvSpPr txBox="1"/>
          <p:nvPr/>
        </p:nvSpPr>
        <p:spPr>
          <a:xfrm>
            <a:off x="7642859" y="224028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REL-order / scope; SEARCH-watermark</a:t>
            </a:r>
          </a:p>
        </p:txBody>
      </p:sp>
      <p:sp>
        <p:nvSpPr>
          <p:cNvPr id="12" name="Rounded Rectangle 11"/>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3" name="TextBox 12"/>
          <p:cNvSpPr txBox="1"/>
          <p:nvPr/>
        </p:nvSpPr>
        <p:spPr>
          <a:xfrm>
            <a:off x="670560" y="286512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Episodes · M2</a:t>
            </a:r>
          </a:p>
        </p:txBody>
      </p:sp>
      <p:sp>
        <p:nvSpPr>
          <p:cNvPr id="14" name="TextBox 13"/>
          <p:cNvSpPr txBox="1"/>
          <p:nvPr/>
        </p:nvSpPr>
        <p:spPr>
          <a:xfrm>
            <a:off x="3489960" y="286512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Occurrence identity; sequence CAS</a:t>
            </a:r>
          </a:p>
        </p:txBody>
      </p:sp>
      <p:sp>
        <p:nvSpPr>
          <p:cNvPr id="15" name="TextBox 14"/>
          <p:cNvSpPr txBox="1"/>
          <p:nvPr/>
        </p:nvSpPr>
        <p:spPr>
          <a:xfrm>
            <a:off x="7642859" y="286512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EP-order / duplicate / contrary / privacy</a:t>
            </a:r>
          </a:p>
        </p:txBody>
      </p:sp>
      <p:sp>
        <p:nvSpPr>
          <p:cNvPr id="16" name="Rounded Rectangle 15"/>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7" name="TextBox 16"/>
          <p:cNvSpPr txBox="1"/>
          <p:nvPr/>
        </p:nvSpPr>
        <p:spPr>
          <a:xfrm>
            <a:off x="670560" y="348996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Belief revision · M2</a:t>
            </a:r>
          </a:p>
        </p:txBody>
      </p:sp>
      <p:sp>
        <p:nvSpPr>
          <p:cNvPr id="18" name="TextBox 17"/>
          <p:cNvSpPr txBox="1"/>
          <p:nvPr/>
        </p:nvSpPr>
        <p:spPr>
          <a:xfrm>
            <a:off x="3489960" y="348996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Numerical model; lineage; independence</a:t>
            </a:r>
          </a:p>
        </p:txBody>
      </p:sp>
      <p:sp>
        <p:nvSpPr>
          <p:cNvPr id="19" name="TextBox 18"/>
          <p:cNvSpPr txBox="1"/>
          <p:nvPr/>
        </p:nvSpPr>
        <p:spPr>
          <a:xfrm>
            <a:off x="7642859" y="348996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BR-overlap / cycle / contradiction / golden</a:t>
            </a:r>
          </a:p>
        </p:txBody>
      </p:sp>
      <p:sp>
        <p:nvSpPr>
          <p:cNvPr id="20" name="Rounded Rectangle 19"/>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1" name="TextBox 20"/>
          <p:cNvSpPr txBox="1"/>
          <p:nvPr/>
        </p:nvSpPr>
        <p:spPr>
          <a:xfrm>
            <a:off x="670560" y="411480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 M3</a:t>
            </a:r>
          </a:p>
        </p:txBody>
      </p:sp>
      <p:sp>
        <p:nvSpPr>
          <p:cNvPr id="22" name="TextBox 21"/>
          <p:cNvSpPr txBox="1"/>
          <p:nvPr/>
        </p:nvSpPr>
        <p:spPr>
          <a:xfrm>
            <a:off x="3489960" y="411480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STI policy; logical time; budget; ties</a:t>
            </a:r>
          </a:p>
        </p:txBody>
      </p:sp>
      <p:sp>
        <p:nvSpPr>
          <p:cNvPr id="23" name="TextBox 22"/>
          <p:cNvSpPr txBox="1"/>
          <p:nvPr/>
        </p:nvSpPr>
        <p:spPr>
          <a:xfrm>
            <a:off x="7642859" y="411480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ECAN-no-PLN / owner / budget / decay</a:t>
            </a:r>
          </a:p>
        </p:txBody>
      </p:sp>
      <p:sp>
        <p:nvSpPr>
          <p:cNvPr id="24" name="Rounded Rectangle 23"/>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5" name="TextBox 24"/>
          <p:cNvSpPr txBox="1"/>
          <p:nvPr/>
        </p:nvSpPr>
        <p:spPr>
          <a:xfrm>
            <a:off x="670560" y="473964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 · M3</a:t>
            </a:r>
          </a:p>
        </p:txBody>
      </p:sp>
      <p:sp>
        <p:nvSpPr>
          <p:cNvPr id="26" name="TextBox 25"/>
          <p:cNvSpPr txBox="1"/>
          <p:nvPr/>
        </p:nvSpPr>
        <p:spPr>
          <a:xfrm>
            <a:off x="3489960" y="473964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Rule version; ordered premise snapshots</a:t>
            </a:r>
          </a:p>
        </p:txBody>
      </p:sp>
      <p:sp>
        <p:nvSpPr>
          <p:cNvPr id="27" name="TextBox 26"/>
          <p:cNvSpPr txBox="1"/>
          <p:nvPr/>
        </p:nvSpPr>
        <p:spPr>
          <a:xfrm>
            <a:off x="7642859" y="473964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PLN-order / golden / purity / lineage</a:t>
            </a:r>
          </a:p>
        </p:txBody>
      </p:sp>
      <p:sp>
        <p:nvSpPr>
          <p:cNvPr id="28" name="Rounded Rectangle 27"/>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536448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Inference control · M3</a:t>
            </a:r>
          </a:p>
        </p:txBody>
      </p:sp>
      <p:sp>
        <p:nvSpPr>
          <p:cNvPr id="30" name="TextBox 29"/>
          <p:cNvSpPr txBox="1"/>
          <p:nvPr/>
        </p:nvSpPr>
        <p:spPr>
          <a:xfrm>
            <a:off x="3489960" y="536448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Candidate, rule, feedback, time limits</a:t>
            </a:r>
          </a:p>
        </p:txBody>
      </p:sp>
      <p:sp>
        <p:nvSpPr>
          <p:cNvPr id="31" name="TextBox 30"/>
          <p:cNvSpPr txBox="1"/>
          <p:nvPr/>
        </p:nvSpPr>
        <p:spPr>
          <a:xfrm>
            <a:off x="7642859" y="536448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IC-bounds / feedback / replay / swap</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ports.py · contracts.md</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ERROR AND RETRY SEMANTICS</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Typed failures preserve the caller’s recovery choices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Unknown outcome is different from known rejection; an empty inbox is different from failure.</a:t>
            </a:r>
          </a:p>
        </p:txBody>
      </p:sp>
      <p:sp>
        <p:nvSpPr>
          <p:cNvPr id="5" name="TextBox 4"/>
          <p:cNvSpPr txBox="1"/>
          <p:nvPr/>
        </p:nvSpPr>
        <p:spPr>
          <a:xfrm>
            <a:off x="67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OBSERVATION / ERROR</a:t>
            </a:r>
          </a:p>
        </p:txBody>
      </p:sp>
      <p:sp>
        <p:nvSpPr>
          <p:cNvPr id="6" name="TextBox 5"/>
          <p:cNvSpPr txBox="1"/>
          <p:nvPr/>
        </p:nvSpPr>
        <p:spPr>
          <a:xfrm>
            <a:off x="3870960"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80288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CALLER ACTION</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NOT_FOUND</a:t>
            </a:r>
          </a:p>
        </p:txBody>
      </p:sp>
      <p:sp>
        <p:nvSpPr>
          <p:cNvPr id="10" name="TextBox 9"/>
          <p:cNvSpPr txBox="1"/>
          <p:nvPr/>
        </p:nvSpPr>
        <p:spPr>
          <a:xfrm>
            <a:off x="3870960"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such scoped atom metadata</a:t>
            </a:r>
          </a:p>
        </p:txBody>
      </p:sp>
      <p:sp>
        <p:nvSpPr>
          <p:cNvPr id="11" name="TextBox 10"/>
          <p:cNvSpPr txBox="1"/>
          <p:nvPr/>
        </p:nvSpPr>
        <p:spPr>
          <a:xfrm>
            <a:off x="7802880" y="224028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Correct the reference</a:t>
            </a:r>
          </a:p>
        </p:txBody>
      </p:sp>
      <p:sp>
        <p:nvSpPr>
          <p:cNvPr id="12" name="Rounded Rectangle 11"/>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3" name="TextBox 12"/>
          <p:cNvSpPr txBox="1"/>
          <p:nvPr/>
        </p:nvSpPr>
        <p:spPr>
          <a:xfrm>
            <a:off x="670560" y="286512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NOT_AVAILABLE</a:t>
            </a:r>
          </a:p>
        </p:txBody>
      </p:sp>
      <p:sp>
        <p:nvSpPr>
          <p:cNvPr id="14" name="TextBox 13"/>
          <p:cNvSpPr txBox="1"/>
          <p:nvPr/>
        </p:nvSpPr>
        <p:spPr>
          <a:xfrm>
            <a:off x="3870960" y="286512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Known data / result temporarily</a:t>
            </a:r>
          </a:p>
        </p:txBody>
      </p:sp>
      <p:sp>
        <p:nvSpPr>
          <p:cNvPr id="15" name="TextBox 14"/>
          <p:cNvSpPr txBox="1"/>
          <p:nvPr/>
        </p:nvSpPr>
        <p:spPr>
          <a:xfrm>
            <a:off x="3870960" y="30894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unavailable</a:t>
            </a:r>
          </a:p>
        </p:txBody>
      </p:sp>
      <p:sp>
        <p:nvSpPr>
          <p:cNvPr id="16" name="TextBox 15"/>
          <p:cNvSpPr txBox="1"/>
          <p:nvPr/>
        </p:nvSpPr>
        <p:spPr>
          <a:xfrm>
            <a:off x="7802880" y="286512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Retry or query the owner</a:t>
            </a:r>
          </a:p>
        </p:txBody>
      </p:sp>
      <p:sp>
        <p:nvSpPr>
          <p:cNvPr id="17" name="Rounded Rectangle 16"/>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8" name="TextBox 17"/>
          <p:cNvSpPr txBox="1"/>
          <p:nvPr/>
        </p:nvSpPr>
        <p:spPr>
          <a:xfrm>
            <a:off x="670560" y="348996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OVERLOADED</a:t>
            </a:r>
          </a:p>
        </p:txBody>
      </p:sp>
      <p:sp>
        <p:nvSpPr>
          <p:cNvPr id="19" name="TextBox 18"/>
          <p:cNvSpPr txBox="1"/>
          <p:nvPr/>
        </p:nvSpPr>
        <p:spPr>
          <a:xfrm>
            <a:off x="3870960" y="34899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Capacity or current writer lock</a:t>
            </a:r>
          </a:p>
        </p:txBody>
      </p:sp>
      <p:sp>
        <p:nvSpPr>
          <p:cNvPr id="20" name="TextBox 19"/>
          <p:cNvSpPr txBox="1"/>
          <p:nvPr/>
        </p:nvSpPr>
        <p:spPr>
          <a:xfrm>
            <a:off x="3870960" y="371429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unavailable</a:t>
            </a:r>
          </a:p>
        </p:txBody>
      </p:sp>
      <p:sp>
        <p:nvSpPr>
          <p:cNvPr id="21" name="TextBox 20"/>
          <p:cNvSpPr txBox="1"/>
          <p:nvPr/>
        </p:nvSpPr>
        <p:spPr>
          <a:xfrm>
            <a:off x="7802880" y="348996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Back off; reuse key + semantic input</a:t>
            </a:r>
          </a:p>
        </p:txBody>
      </p:sp>
      <p:sp>
        <p:nvSpPr>
          <p:cNvPr id="22" name="Rounded Rectangle 21"/>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3" name="TextBox 22"/>
          <p:cNvSpPr txBox="1"/>
          <p:nvPr/>
        </p:nvSpPr>
        <p:spPr>
          <a:xfrm>
            <a:off x="670560" y="411480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CONFLICT</a:t>
            </a:r>
          </a:p>
        </p:txBody>
      </p:sp>
      <p:sp>
        <p:nvSpPr>
          <p:cNvPr id="24" name="TextBox 23"/>
          <p:cNvSpPr txBox="1"/>
          <p:nvPr/>
        </p:nvSpPr>
        <p:spPr>
          <a:xfrm>
            <a:off x="3870960" y="41148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key changed meaning / revision</a:t>
            </a:r>
          </a:p>
        </p:txBody>
      </p:sp>
      <p:sp>
        <p:nvSpPr>
          <p:cNvPr id="25" name="TextBox 24"/>
          <p:cNvSpPr txBox="1"/>
          <p:nvPr/>
        </p:nvSpPr>
        <p:spPr>
          <a:xfrm>
            <a:off x="3870960" y="433913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mismatch</a:t>
            </a:r>
          </a:p>
        </p:txBody>
      </p:sp>
      <p:sp>
        <p:nvSpPr>
          <p:cNvPr id="26" name="TextBox 25"/>
          <p:cNvSpPr txBox="1"/>
          <p:nvPr/>
        </p:nvSpPr>
        <p:spPr>
          <a:xfrm>
            <a:off x="7802880" y="411480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Reconcile; do not blindly replay</a:t>
            </a:r>
          </a:p>
        </p:txBody>
      </p:sp>
      <p:sp>
        <p:nvSpPr>
          <p:cNvPr id="27" name="Rounded Rectangle 26"/>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8" name="TextBox 27"/>
          <p:cNvSpPr txBox="1"/>
          <p:nvPr/>
        </p:nvSpPr>
        <p:spPr>
          <a:xfrm>
            <a:off x="670560" y="473964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UNAUTHORIZED /</a:t>
            </a:r>
          </a:p>
        </p:txBody>
      </p:sp>
      <p:sp>
        <p:nvSpPr>
          <p:cNvPr id="29" name="TextBox 28"/>
          <p:cNvSpPr txBox="1"/>
          <p:nvPr/>
        </p:nvSpPr>
        <p:spPr>
          <a:xfrm>
            <a:off x="670560" y="4963972"/>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UNSUPPORTED_*</a:t>
            </a:r>
          </a:p>
        </p:txBody>
      </p:sp>
      <p:sp>
        <p:nvSpPr>
          <p:cNvPr id="30" name="TextBox 29"/>
          <p:cNvSpPr txBox="1"/>
          <p:nvPr/>
        </p:nvSpPr>
        <p:spPr>
          <a:xfrm>
            <a:off x="3870960" y="47396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Access or contract requirements fail</a:t>
            </a:r>
          </a:p>
        </p:txBody>
      </p:sp>
      <p:sp>
        <p:nvSpPr>
          <p:cNvPr id="31" name="TextBox 30"/>
          <p:cNvSpPr txBox="1"/>
          <p:nvPr/>
        </p:nvSpPr>
        <p:spPr>
          <a:xfrm>
            <a:off x="7802880" y="473964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Change authorization or requirements</a:t>
            </a:r>
          </a:p>
        </p:txBody>
      </p:sp>
      <p:sp>
        <p:nvSpPr>
          <p:cNvPr id="32" name="Rounded Rectangle 31"/>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3" name="TextBox 32"/>
          <p:cNvSpPr txBox="1"/>
          <p:nvPr/>
        </p:nvSpPr>
        <p:spPr>
          <a:xfrm>
            <a:off x="670560" y="53644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Transport loss</a:t>
            </a:r>
          </a:p>
        </p:txBody>
      </p:sp>
      <p:sp>
        <p:nvSpPr>
          <p:cNvPr id="34" name="TextBox 33"/>
          <p:cNvSpPr txBox="1"/>
          <p:nvPr/>
        </p:nvSpPr>
        <p:spPr>
          <a:xfrm>
            <a:off x="3870960" y="53644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Acceptance may already be durable</a:t>
            </a:r>
          </a:p>
        </p:txBody>
      </p:sp>
      <p:sp>
        <p:nvSpPr>
          <p:cNvPr id="35" name="TextBox 34"/>
          <p:cNvSpPr txBox="1"/>
          <p:nvPr/>
        </p:nvSpPr>
        <p:spPr>
          <a:xfrm>
            <a:off x="7802880" y="536448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by key / job; do not assume</a:t>
            </a:r>
          </a:p>
        </p:txBody>
      </p:sp>
      <p:sp>
        <p:nvSpPr>
          <p:cNvPr id="36" name="TextBox 35"/>
          <p:cNvSpPr txBox="1"/>
          <p:nvPr/>
        </p:nvSpPr>
        <p:spPr>
          <a:xfrm>
            <a:off x="7802880" y="5588812"/>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failure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contracts.md · service.py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Provenance includes working-tree state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Exact paths, remotes and source fingerprints are recorded in evidence/sources.json.</a:t>
            </a:r>
          </a:p>
        </p:txBody>
      </p:sp>
      <p:sp>
        <p:nvSpPr>
          <p:cNvPr id="5" name="TextBox 4"/>
          <p:cNvSpPr txBox="1"/>
          <p:nvPr/>
        </p:nvSpPr>
        <p:spPr>
          <a:xfrm>
            <a:off x="670560" y="1790700"/>
            <a:ext cx="39624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REPOSITORY</a:t>
            </a:r>
          </a:p>
        </p:txBody>
      </p:sp>
      <p:sp>
        <p:nvSpPr>
          <p:cNvPr id="6" name="TextBox 5"/>
          <p:cNvSpPr txBox="1"/>
          <p:nvPr/>
        </p:nvSpPr>
        <p:spPr>
          <a:xfrm>
            <a:off x="4876800" y="1790700"/>
            <a:ext cx="20421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INSPECTED COMMIT</a:t>
            </a:r>
          </a:p>
        </p:txBody>
      </p:sp>
      <p:sp>
        <p:nvSpPr>
          <p:cNvPr id="7" name="TextBox 6"/>
          <p:cNvSpPr txBox="1"/>
          <p:nvPr/>
        </p:nvSpPr>
        <p:spPr>
          <a:xfrm>
            <a:off x="7162800" y="1790700"/>
            <a:ext cx="435864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USE / SOURCE STATE</a:t>
            </a:r>
          </a:p>
        </p:txBody>
      </p:sp>
      <p:sp>
        <p:nvSpPr>
          <p:cNvPr id="8" name="Rounded Rectangle 7"/>
          <p:cNvSpPr/>
          <p:nvPr/>
        </p:nvSpPr>
        <p:spPr>
          <a:xfrm>
            <a:off x="548640" y="2110740"/>
            <a:ext cx="11094720" cy="487680"/>
          </a:xfrm>
          <a:prstGeom prst="roundRect">
            <a:avLst>
              <a:gd name="adj" fmla="val 9375"/>
            </a:avLst>
          </a:prstGeom>
          <a:solidFill>
            <a:srgbClr val="FFFFFF"/>
          </a:solidFill>
          <a:ln>
            <a:noFill/>
          </a:ln>
          <a:effectLst/>
        </p:spPr>
        <p:txBody>
          <a:bodyPr rtlCol="0" anchor="ctr"/>
          <a:lstStyle/>
          <a:p>
            <a:pPr algn="ctr"/>
          </a:p>
        </p:txBody>
      </p:sp>
      <p:sp>
        <p:nvSpPr>
          <p:cNvPr id="9" name="TextBox 8"/>
          <p:cNvSpPr txBox="1"/>
          <p:nvPr/>
        </p:nvSpPr>
        <p:spPr>
          <a:xfrm>
            <a:off x="670560" y="224028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omegahive-start-here</a:t>
            </a:r>
          </a:p>
        </p:txBody>
      </p:sp>
      <p:sp>
        <p:nvSpPr>
          <p:cNvPr id="10" name="TextBox 9"/>
          <p:cNvSpPr txBox="1"/>
          <p:nvPr/>
        </p:nvSpPr>
        <p:spPr>
          <a:xfrm>
            <a:off x="4876800" y="224028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0b15d2bed730</a:t>
            </a:r>
          </a:p>
        </p:txBody>
      </p:sp>
      <p:sp>
        <p:nvSpPr>
          <p:cNvPr id="11" name="TextBox 10"/>
          <p:cNvSpPr txBox="1"/>
          <p:nvPr/>
        </p:nvSpPr>
        <p:spPr>
          <a:xfrm>
            <a:off x="7162800" y="224028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 onboarding only; runtime absent</a:t>
            </a:r>
          </a:p>
        </p:txBody>
      </p:sp>
      <p:sp>
        <p:nvSpPr>
          <p:cNvPr id="12" name="Rounded Rectangle 11"/>
          <p:cNvSpPr/>
          <p:nvPr/>
        </p:nvSpPr>
        <p:spPr>
          <a:xfrm>
            <a:off x="548640" y="2636520"/>
            <a:ext cx="11094720" cy="487680"/>
          </a:xfrm>
          <a:prstGeom prst="roundRect">
            <a:avLst>
              <a:gd name="adj" fmla="val 9375"/>
            </a:avLst>
          </a:prstGeom>
          <a:solidFill>
            <a:srgbClr val="FFFFFF"/>
          </a:solidFill>
          <a:ln>
            <a:noFill/>
          </a:ln>
          <a:effectLst/>
        </p:spPr>
        <p:txBody>
          <a:bodyPr rtlCol="0" anchor="ctr"/>
          <a:lstStyle/>
          <a:p>
            <a:pPr algn="ctr"/>
          </a:p>
        </p:txBody>
      </p:sp>
      <p:sp>
        <p:nvSpPr>
          <p:cNvPr id="13" name="TextBox 12"/>
          <p:cNvSpPr txBox="1"/>
          <p:nvPr/>
        </p:nvSpPr>
        <p:spPr>
          <a:xfrm>
            <a:off x="670560" y="276606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metta-attention</a:t>
            </a:r>
          </a:p>
        </p:txBody>
      </p:sp>
      <p:sp>
        <p:nvSpPr>
          <p:cNvPr id="14" name="TextBox 13"/>
          <p:cNvSpPr txBox="1"/>
          <p:nvPr/>
        </p:nvSpPr>
        <p:spPr>
          <a:xfrm>
            <a:off x="4876800" y="276606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3e1c8147dc17</a:t>
            </a:r>
          </a:p>
        </p:txBody>
      </p:sp>
      <p:sp>
        <p:nvSpPr>
          <p:cNvPr id="15" name="TextBox 14"/>
          <p:cNvSpPr txBox="1"/>
          <p:nvPr/>
        </p:nvSpPr>
        <p:spPr>
          <a:xfrm>
            <a:off x="7162800" y="276606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 ECAN interfaces inspected</a:t>
            </a:r>
          </a:p>
        </p:txBody>
      </p:sp>
      <p:sp>
        <p:nvSpPr>
          <p:cNvPr id="16" name="Rounded Rectangle 15"/>
          <p:cNvSpPr/>
          <p:nvPr/>
        </p:nvSpPr>
        <p:spPr>
          <a:xfrm>
            <a:off x="548640" y="3162300"/>
            <a:ext cx="11094720" cy="487680"/>
          </a:xfrm>
          <a:prstGeom prst="roundRect">
            <a:avLst>
              <a:gd name="adj" fmla="val 9375"/>
            </a:avLst>
          </a:prstGeom>
          <a:solidFill>
            <a:srgbClr val="FFFFFF"/>
          </a:solidFill>
          <a:ln>
            <a:noFill/>
          </a:ln>
          <a:effectLst/>
        </p:spPr>
        <p:txBody>
          <a:bodyPr rtlCol="0" anchor="ctr"/>
          <a:lstStyle/>
          <a:p>
            <a:pPr algn="ctr"/>
          </a:p>
        </p:txBody>
      </p:sp>
      <p:sp>
        <p:nvSpPr>
          <p:cNvPr id="17" name="TextBox 16"/>
          <p:cNvSpPr txBox="1"/>
          <p:nvPr/>
        </p:nvSpPr>
        <p:spPr>
          <a:xfrm>
            <a:off x="670560" y="329184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das</a:t>
            </a:r>
          </a:p>
        </p:txBody>
      </p:sp>
      <p:sp>
        <p:nvSpPr>
          <p:cNvPr id="18" name="TextBox 17"/>
          <p:cNvSpPr txBox="1"/>
          <p:nvPr/>
        </p:nvSpPr>
        <p:spPr>
          <a:xfrm>
            <a:off x="4876800" y="329184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8afab5daa635</a:t>
            </a:r>
          </a:p>
        </p:txBody>
      </p:sp>
      <p:sp>
        <p:nvSpPr>
          <p:cNvPr id="19" name="TextBox 18"/>
          <p:cNvSpPr txBox="1"/>
          <p:nvPr/>
        </p:nvSpPr>
        <p:spPr>
          <a:xfrm>
            <a:off x="7162800" y="329184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 atom/query proxies inspected</a:t>
            </a:r>
          </a:p>
        </p:txBody>
      </p:sp>
      <p:sp>
        <p:nvSpPr>
          <p:cNvPr id="20" name="Rounded Rectangle 19"/>
          <p:cNvSpPr/>
          <p:nvPr/>
        </p:nvSpPr>
        <p:spPr>
          <a:xfrm>
            <a:off x="548640" y="3688079"/>
            <a:ext cx="11094720" cy="487680"/>
          </a:xfrm>
          <a:prstGeom prst="roundRect">
            <a:avLst>
              <a:gd name="adj" fmla="val 9375"/>
            </a:avLst>
          </a:prstGeom>
          <a:solidFill>
            <a:srgbClr val="FFFFFF"/>
          </a:solidFill>
          <a:ln>
            <a:noFill/>
          </a:ln>
          <a:effectLst/>
        </p:spPr>
        <p:txBody>
          <a:bodyPr rtlCol="0" anchor="ctr"/>
          <a:lstStyle/>
          <a:p>
            <a:pPr algn="ctr"/>
          </a:p>
        </p:txBody>
      </p:sp>
      <p:sp>
        <p:nvSpPr>
          <p:cNvPr id="21" name="TextBox 20"/>
          <p:cNvSpPr txBox="1"/>
          <p:nvPr/>
        </p:nvSpPr>
        <p:spPr>
          <a:xfrm>
            <a:off x="670560" y="3817619"/>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mettaclaw</a:t>
            </a:r>
          </a:p>
        </p:txBody>
      </p:sp>
      <p:sp>
        <p:nvSpPr>
          <p:cNvPr id="22" name="TextBox 21"/>
          <p:cNvSpPr txBox="1"/>
          <p:nvPr/>
        </p:nvSpPr>
        <p:spPr>
          <a:xfrm>
            <a:off x="4876800" y="3817619"/>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d2da47207fec</a:t>
            </a:r>
          </a:p>
        </p:txBody>
      </p:sp>
      <p:sp>
        <p:nvSpPr>
          <p:cNvPr id="23" name="TextBox 22"/>
          <p:cNvSpPr txBox="1"/>
          <p:nvPr/>
        </p:nvSpPr>
        <p:spPr>
          <a:xfrm>
            <a:off x="7162800" y="3817619"/>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Existing untracked artifacts · interfaces read</a:t>
            </a:r>
          </a:p>
        </p:txBody>
      </p:sp>
      <p:sp>
        <p:nvSpPr>
          <p:cNvPr id="24" name="Rounded Rectangle 23"/>
          <p:cNvSpPr/>
          <p:nvPr/>
        </p:nvSpPr>
        <p:spPr>
          <a:xfrm>
            <a:off x="548640" y="4213860"/>
            <a:ext cx="11094720" cy="487680"/>
          </a:xfrm>
          <a:prstGeom prst="roundRect">
            <a:avLst>
              <a:gd name="adj" fmla="val 9375"/>
            </a:avLst>
          </a:prstGeom>
          <a:solidFill>
            <a:srgbClr val="FFFFFF"/>
          </a:solidFill>
          <a:ln>
            <a:noFill/>
          </a:ln>
          <a:effectLst/>
        </p:spPr>
        <p:txBody>
          <a:bodyPr rtlCol="0" anchor="ctr"/>
          <a:lstStyle/>
          <a:p>
            <a:pPr algn="ctr"/>
          </a:p>
        </p:txBody>
      </p:sp>
      <p:sp>
        <p:nvSpPr>
          <p:cNvPr id="25" name="TextBox 24"/>
          <p:cNvSpPr txBox="1"/>
          <p:nvPr/>
        </p:nvSpPr>
        <p:spPr>
          <a:xfrm>
            <a:off x="670560" y="434340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reachability-atomspace-prototype</a:t>
            </a:r>
          </a:p>
        </p:txBody>
      </p:sp>
      <p:sp>
        <p:nvSpPr>
          <p:cNvPr id="26" name="TextBox 25"/>
          <p:cNvSpPr txBox="1"/>
          <p:nvPr/>
        </p:nvSpPr>
        <p:spPr>
          <a:xfrm>
            <a:off x="4876800" y="434340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dd56f3f053ed</a:t>
            </a:r>
          </a:p>
        </p:txBody>
      </p:sp>
      <p:sp>
        <p:nvSpPr>
          <p:cNvPr id="27" name="TextBox 26"/>
          <p:cNvSpPr txBox="1"/>
          <p:nvPr/>
        </p:nvSpPr>
        <p:spPr>
          <a:xfrm>
            <a:off x="7162800" y="434340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 ownership / PLN seams inspected</a:t>
            </a:r>
          </a:p>
        </p:txBody>
      </p:sp>
      <p:sp>
        <p:nvSpPr>
          <p:cNvPr id="28" name="Rounded Rectangle 27"/>
          <p:cNvSpPr/>
          <p:nvPr/>
        </p:nvSpPr>
        <p:spPr>
          <a:xfrm>
            <a:off x="548640" y="4739640"/>
            <a:ext cx="11094720" cy="487680"/>
          </a:xfrm>
          <a:prstGeom prst="roundRect">
            <a:avLst>
              <a:gd name="adj" fmla="val 9375"/>
            </a:avLst>
          </a:prstGeom>
          <a:solidFill>
            <a:srgbClr val="FFFFFF"/>
          </a:solidFill>
          <a:ln>
            <a:noFill/>
          </a:ln>
          <a:effectLst/>
        </p:spPr>
        <p:txBody>
          <a:bodyPr rtlCol="0" anchor="ctr"/>
          <a:lstStyle/>
          <a:p>
            <a:pPr algn="ctr"/>
          </a:p>
        </p:txBody>
      </p:sp>
      <p:sp>
        <p:nvSpPr>
          <p:cNvPr id="29" name="TextBox 28"/>
          <p:cNvSpPr txBox="1"/>
          <p:nvPr/>
        </p:nvSpPr>
        <p:spPr>
          <a:xfrm>
            <a:off x="670560" y="486918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secured-contract-spaces</a:t>
            </a:r>
          </a:p>
        </p:txBody>
      </p:sp>
      <p:sp>
        <p:nvSpPr>
          <p:cNvPr id="30" name="TextBox 29"/>
          <p:cNvSpPr txBox="1"/>
          <p:nvPr/>
        </p:nvSpPr>
        <p:spPr>
          <a:xfrm>
            <a:off x="4876800" y="486918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272888f264dd</a:t>
            </a:r>
          </a:p>
        </p:txBody>
      </p:sp>
      <p:sp>
        <p:nvSpPr>
          <p:cNvPr id="31" name="TextBox 30"/>
          <p:cNvSpPr txBox="1"/>
          <p:nvPr/>
        </p:nvSpPr>
        <p:spPr>
          <a:xfrm>
            <a:off x="7162800" y="486918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Existing modifications · linked + tested</a:t>
            </a:r>
          </a:p>
        </p:txBody>
      </p:sp>
      <p:sp>
        <p:nvSpPr>
          <p:cNvPr id="32" name="Rounded Rectangle 31"/>
          <p:cNvSpPr/>
          <p:nvPr/>
        </p:nvSpPr>
        <p:spPr>
          <a:xfrm>
            <a:off x="548640" y="5265420"/>
            <a:ext cx="11094720" cy="487680"/>
          </a:xfrm>
          <a:prstGeom prst="roundRect">
            <a:avLst>
              <a:gd name="adj" fmla="val 9375"/>
            </a:avLst>
          </a:prstGeom>
          <a:solidFill>
            <a:srgbClr val="FFFFFF"/>
          </a:solidFill>
          <a:ln>
            <a:noFill/>
          </a:ln>
          <a:effectLst/>
        </p:spPr>
        <p:txBody>
          <a:bodyPr rtlCol="0" anchor="ctr"/>
          <a:lstStyle/>
          <a:p>
            <a:pPr algn="ctr"/>
          </a:p>
        </p:txBody>
      </p:sp>
      <p:sp>
        <p:nvSpPr>
          <p:cNvPr id="33" name="TextBox 32"/>
          <p:cNvSpPr txBox="1"/>
          <p:nvPr/>
        </p:nvSpPr>
        <p:spPr>
          <a:xfrm>
            <a:off x="670560" y="5394960"/>
            <a:ext cx="39624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f1r3node-rust</a:t>
            </a:r>
          </a:p>
        </p:txBody>
      </p:sp>
      <p:sp>
        <p:nvSpPr>
          <p:cNvPr id="34" name="TextBox 33"/>
          <p:cNvSpPr txBox="1"/>
          <p:nvPr/>
        </p:nvSpPr>
        <p:spPr>
          <a:xfrm>
            <a:off x="4876800" y="5394960"/>
            <a:ext cx="204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9ec1096e1077</a:t>
            </a:r>
          </a:p>
        </p:txBody>
      </p:sp>
      <p:sp>
        <p:nvSpPr>
          <p:cNvPr id="35" name="TextBox 34"/>
          <p:cNvSpPr txBox="1"/>
          <p:nvPr/>
        </p:nvSpPr>
        <p:spPr>
          <a:xfrm>
            <a:off x="7162800" y="5394960"/>
            <a:ext cx="43586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Existing modifications · built + executed</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discovery.md · evidence/sources.json</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REPRODUCTION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Reproduce the gates; inspect the evidence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Run from the fusion-module-interfaces checkout; see runbook.md for prerequisites and exact commands.</a:t>
            </a:r>
          </a:p>
        </p:txBody>
      </p:sp>
      <p:sp>
        <p:nvSpPr>
          <p:cNvPr id="5" name="Rounded Rectangle 4"/>
          <p:cNvSpPr/>
          <p:nvPr/>
        </p:nvSpPr>
        <p:spPr>
          <a:xfrm>
            <a:off x="548640" y="1889759"/>
            <a:ext cx="11094720" cy="1234440"/>
          </a:xfrm>
          <a:prstGeom prst="roundRect">
            <a:avLst>
              <a:gd name="adj" fmla="val 7407"/>
            </a:avLst>
          </a:prstGeom>
          <a:solidFill>
            <a:srgbClr val="0B2233"/>
          </a:solidFill>
          <a:ln>
            <a:noFill/>
          </a:ln>
          <a:effectLst/>
        </p:spPr>
        <p:txBody>
          <a:bodyPr rtlCol="0" anchor="ctr"/>
          <a:lstStyle/>
          <a:p>
            <a:pPr algn="ctr"/>
          </a:p>
        </p:txBody>
      </p:sp>
      <p:sp>
        <p:nvSpPr>
          <p:cNvPr id="6" name="TextBox 5"/>
          <p:cNvSpPr txBox="1"/>
          <p:nvPr/>
        </p:nvSpPr>
        <p:spPr>
          <a:xfrm>
            <a:off x="769619" y="2057400"/>
            <a:ext cx="10439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77DDC4"/>
                </a:solidFill>
                <a:latin typeface="DejaVu Sans"/>
              </a:rPr>
              <a:t>LOCAL M0 / M1 GATE</a:t>
            </a:r>
          </a:p>
        </p:txBody>
      </p:sp>
      <p:sp>
        <p:nvSpPr>
          <p:cNvPr id="7" name="TextBox 6"/>
          <p:cNvSpPr txBox="1"/>
          <p:nvPr/>
        </p:nvSpPr>
        <p:spPr>
          <a:xfrm>
            <a:off x="769619" y="2415540"/>
            <a:ext cx="10439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0">
                <a:solidFill>
                  <a:srgbClr val="FFFFFF"/>
                </a:solidFill>
                <a:latin typeface="DejaVu Sans Mono"/>
              </a:rPr>
              <a:t>uv run --python 3.11 python scripts/verify.py</a:t>
            </a:r>
          </a:p>
        </p:txBody>
      </p:sp>
      <p:sp>
        <p:nvSpPr>
          <p:cNvPr id="8" name="TextBox 7"/>
          <p:cNvSpPr txBox="1"/>
          <p:nvPr/>
        </p:nvSpPr>
        <p:spPr>
          <a:xfrm>
            <a:off x="769619" y="2819400"/>
            <a:ext cx="10439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AAC0CC"/>
                </a:solidFill>
                <a:latin typeface="DejaVu Sans"/>
              </a:rPr>
              <a:t>Builds DeTTa adapter offline, runs 27 tests, executes both demo bindings.</a:t>
            </a:r>
          </a:p>
        </p:txBody>
      </p:sp>
      <p:sp>
        <p:nvSpPr>
          <p:cNvPr id="9" name="Rounded Rectangle 8"/>
          <p:cNvSpPr/>
          <p:nvPr/>
        </p:nvSpPr>
        <p:spPr>
          <a:xfrm>
            <a:off x="548640" y="3429000"/>
            <a:ext cx="5364480" cy="1676400"/>
          </a:xfrm>
          <a:prstGeom prst="roundRect">
            <a:avLst>
              <a:gd name="adj" fmla="val 5909"/>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716280" y="35966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Optional real chain gate</a:t>
            </a:r>
          </a:p>
        </p:txBody>
      </p:sp>
      <p:sp>
        <p:nvSpPr>
          <p:cNvPr id="11" name="TextBox 10"/>
          <p:cNvSpPr txBox="1"/>
          <p:nvPr/>
        </p:nvSpPr>
        <p:spPr>
          <a:xfrm>
            <a:off x="716280" y="3965447"/>
            <a:ext cx="5029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scripts/build_chain.py</a:t>
            </a:r>
          </a:p>
        </p:txBody>
      </p:sp>
      <p:sp>
        <p:nvSpPr>
          <p:cNvPr id="12" name="TextBox 11"/>
          <p:cNvSpPr txBox="1"/>
          <p:nvPr/>
        </p:nvSpPr>
        <p:spPr>
          <a:xfrm>
            <a:off x="716280" y="4209288"/>
            <a:ext cx="5029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scripts/chain_demo.py</a:t>
            </a:r>
          </a:p>
        </p:txBody>
      </p:sp>
      <p:sp>
        <p:nvSpPr>
          <p:cNvPr id="13" name="TextBox 12"/>
          <p:cNvSpPr txBox="1"/>
          <p:nvPr/>
        </p:nvSpPr>
        <p:spPr>
          <a:xfrm>
            <a:off x="716280" y="4453128"/>
            <a:ext cx="5029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Pinned extra tools + isolated local genesis; exact</a:t>
            </a:r>
          </a:p>
        </p:txBody>
      </p:sp>
      <p:sp>
        <p:nvSpPr>
          <p:cNvPr id="14" name="TextBox 13"/>
          <p:cNvSpPr txBox="1"/>
          <p:nvPr/>
        </p:nvSpPr>
        <p:spPr>
          <a:xfrm>
            <a:off x="716280" y="4696968"/>
            <a:ext cx="5029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invocation in runbook.</a:t>
            </a:r>
          </a:p>
        </p:txBody>
      </p:sp>
      <p:sp>
        <p:nvSpPr>
          <p:cNvPr id="15" name="Rounded Rectangle 14"/>
          <p:cNvSpPr/>
          <p:nvPr/>
        </p:nvSpPr>
        <p:spPr>
          <a:xfrm>
            <a:off x="6096000" y="3429000"/>
            <a:ext cx="5547360" cy="1676400"/>
          </a:xfrm>
          <a:prstGeom prst="roundRect">
            <a:avLst>
              <a:gd name="adj" fmla="val 5909"/>
            </a:avLst>
          </a:prstGeom>
          <a:solidFill>
            <a:srgbClr val="FFFFFF"/>
          </a:solidFill>
          <a:ln w="7620">
            <a:solidFill>
              <a:srgbClr val="102B3F"/>
            </a:solidFill>
          </a:ln>
          <a:effectLst/>
        </p:spPr>
        <p:txBody>
          <a:bodyPr rtlCol="0" anchor="ctr"/>
          <a:lstStyle/>
          <a:p>
            <a:pPr algn="ctr"/>
          </a:p>
        </p:txBody>
      </p:sp>
      <p:sp>
        <p:nvSpPr>
          <p:cNvPr id="16" name="TextBox 15"/>
          <p:cNvSpPr txBox="1"/>
          <p:nvPr/>
        </p:nvSpPr>
        <p:spPr>
          <a:xfrm>
            <a:off x="6263640" y="35966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Review artifacts</a:t>
            </a:r>
          </a:p>
        </p:txBody>
      </p:sp>
      <p:sp>
        <p:nvSpPr>
          <p:cNvPr id="17" name="TextBox 16"/>
          <p:cNvSpPr txBox="1"/>
          <p:nvPr/>
        </p:nvSpPr>
        <p:spPr>
          <a:xfrm>
            <a:off x="6263640" y="3965447"/>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evidence/demo.json + chain-demo.json</a:t>
            </a:r>
          </a:p>
        </p:txBody>
      </p:sp>
      <p:sp>
        <p:nvSpPr>
          <p:cNvPr id="18" name="TextBox 17"/>
          <p:cNvSpPr txBox="1"/>
          <p:nvPr/>
        </p:nvSpPr>
        <p:spPr>
          <a:xfrm>
            <a:off x="6263640" y="4199534"/>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tests.log + detta-tests.log</a:t>
            </a:r>
          </a:p>
        </p:txBody>
      </p:sp>
      <p:sp>
        <p:nvSpPr>
          <p:cNvPr id="19" name="TextBox 18"/>
          <p:cNvSpPr txBox="1"/>
          <p:nvPr/>
        </p:nvSpPr>
        <p:spPr>
          <a:xfrm>
            <a:off x="6263640" y="4433620"/>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sources.json + workspace-files.json</a:t>
            </a:r>
          </a:p>
        </p:txBody>
      </p:sp>
      <p:sp>
        <p:nvSpPr>
          <p:cNvPr id="20" name="TextBox 19"/>
          <p:cNvSpPr txBox="1"/>
          <p:nvPr/>
        </p:nvSpPr>
        <p:spPr>
          <a:xfrm>
            <a:off x="563880" y="5471160"/>
            <a:ext cx="1082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Requires inspected sibling checkouts and cached Cargo dependencies. No production keys or private episodes.</a:t>
            </a:r>
          </a:p>
        </p:txBody>
      </p:sp>
      <p:cxnSp>
        <p:nvCxnSpPr>
          <p:cNvPr id="21" name="Connector 20"/>
          <p:cNvCxnSpPr/>
          <p:nvPr/>
        </p:nvCxnSpPr>
        <p:spPr>
          <a:xfrm>
            <a:off x="548640" y="6393180"/>
            <a:ext cx="11094720" cy="0"/>
          </a:xfrm>
          <a:prstGeom prst="line">
            <a:avLst/>
          </a:prstGeom>
          <a:ln w="7620">
            <a:solidFill>
              <a:srgbClr val="C9D2D4"/>
            </a:solidFill>
          </a:ln>
          <a:effectLst/>
        </p:spPr>
      </p:cxnSp>
      <p:sp>
        <p:nvSpPr>
          <p:cNvPr id="22" name="TextBox 21"/>
          <p:cNvSpPr txBox="1"/>
          <p:nvPr/>
        </p:nvSpPr>
        <p:spPr>
          <a:xfrm>
            <a:off x="548640" y="6499859"/>
            <a:ext cx="85344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M0–M1 / runbook.md · evidence.md</a:t>
            </a:r>
          </a:p>
        </p:txBody>
      </p:sp>
      <p:sp>
        <p:nvSpPr>
          <p:cNvPr id="23" name="TextBox 2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One responsibility. One state owner.</dc:title>
  <dc:subject>M0/M1 module interfaces, dependency maps and observed integration evidence</dc:subject>
  <dc:creator>Omega × ASI module-interface project</dc:creator>
  <cp:keywords>Omega, ASI, M0, M1, DeTTa, module interfaces, state ownership</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