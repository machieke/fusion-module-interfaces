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ELI16 executive summary, then all fifteen module responsibilities and the exercised dependency maps. M1 established replaceable ports and independent commits; M1.2 connected real Hive; M2 added private memory and guarded revision; M3 adds independent short-term attention and bounded inference over an explicit workset. M3.1 closes delivery seams with separate owner-authoritative progress and no new cognition. Suggested delivery: 45–50 minutes through slide 36; eight appendices support discussion. Evidence is clean tested implementation 1b17d74f2808703894ea55c9539adf264bc87976 recorded by 985d2f34ea8df8c5d93582e4ed6fe5cbe1843074. This deck update does not rerun integration gates or add runtime behavior.</a:t>
            </a:r>
          </a:p>
          <a:p/>
          <a:p>
            <a:r>
              <a:t>Source: M3.1 evidence 985d2f3 · tested 1b17d74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ELI16 assumes a technically curious sixteen-year-old. The analogy explains responsibilities, not an additional experiment. C1 records occurrences and provenance. C2 distinguishes admission from numerical aggregation and retains disagreement. The pure providers reuse guarded Truth_Revision and one grounded Truth_Deduction rule. Their outputs remain model-specific heuristics, not proof of external truth or source independence. Derived conclusions inherit evidence roots and ancestry and add no observation or evidence count. Generated observations and operator assumptions remain fixtures, even when they travel through real runtimes.</a:t>
            </a:r>
          </a:p>
          <a:p/>
          <a:p>
            <a:r>
              <a:t>Source: M2 preserved · M3 derived admission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Short-term importance, or STI, is a simple deterministic priority score. It is separate from PLN truth values. C4 handles a fixed explicit workset; it does not invent new tasks or search the knowledge base. The measured two-task experiment changes initial attention to select the other task while keeping the one-attempt budget fixed. Attempts are durable physical evaluation opportunities. A crash after reservation spends the slot even if no result commits. Successful replay recovers recorded admission and feedback without extra native calls. These are local process-restart observations, not hard real-time or production-quality claims.</a:t>
            </a:r>
          </a:p>
          <a:p/>
          <a:p>
            <a:r>
              <a:t>Source: C3 attention · C4 bounded inference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Closure means accounting for recorded effects, not guaranteeing global completion. Nine fixture methods, five real-provider methods, sixteen direct SIGKILL cases and seven native Hive cases (four with kills) support the new behavior. The 33-event episode uses real DeTTa/native PLN with generated observations. A report can be durably processed without a numerical truth value. Feedback resolution never newly applies eligible feedback: it returns an existing receipt, creates a no-credit retirement if stale or expired, or stays pending. C4 exposes progress separately from immutable execution counters. New profiles require fresh journals; old M3 pending stores are not migrated or repaired.</a:t>
            </a:r>
          </a:p>
          <a:p/>
          <a:p>
            <a:r>
              <a:t>Source: M3.1 delivery closure · owner receipts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fifteen responsibility groups remain visible. C1/C2 implement private memory and beliefs; M3 adds independent STI and bounded C4 plus a pure kernel for one grounded rule. Relations and Search remain specifications. Attention implements a bounded reference policy, not ECAN, LTI or the coupled metta-attention algorithm. RevisionMath is separate from PLNKernel.applyRule. Hive consumes these modules; a module need not be a separate process or repository. Blue means implemented local contracts, not production readiness. Authorization uses real Hive authentication followed by local test policy. Finality retains historical M1 evidence only; CHAIN is NOT_RUN through M3.1. Maintainer assignments remain unassigned.</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AtomStorage owns immutable scoped references and replay metadata, while DA only persists opaque payloads and generic coordinates. Relations and Search remain typed specifications. C1 exposes recordEpisode, appendEvent, readEpisode, readEvidence and pendingEvidence. The new local v3 completion port is bound to a trusted relay context separately from the ordinary EpisodeJournal. C1 validates completion identity and selected consumer, not PLN snapshots. Original v2 remains selectable. findEpisodes is not advertised. C1 preserves committed episode-local order and admitted provenance; observed time is metadata. It can run without C2 or PLN and against an independently implemented AtomStorage fixture. Its event bytes are immutable atoms, while its episode head and delivery intents belong to C1.</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implements the bounded sti-additive-linear-decay/1 reference policy, not ECAN or the inspected metta-attention implementation. C4 owns selection and physical attempt reservations; it depends on AtomStorage, Attention, DerivedBeliefRevision and PrivateAuthority. It does not call PLNKernel directly. C2 depends on AtomStorage, C1 readEvidence, RevisionMath, PLNKernel and PrivateAuthority. The pure kernel owns no belief, agenda or attention state. M2 revision-only local v2 remains selectable; derived private C2 is a fresh local v3 profile.</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acceptance differs from delivery and acknowledgement. Execution accepts only inspect_atom and owns jobs plus its completion outbox; result atoms commit independently. The registry advertises descriptors, and the resolver matches consumer requirements. Neither grants permission. Finality records independent chain observations from historical M1; it is not a C1/C2 dependency. Native authentication supplies trusted actor context, while local Fusion policy determines current access. The preserved M2 relay is a narrow delivery cursor between C1 and C2. M3 C4 separately owns its bounded step journal; neither grants authority.</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graph shows exercised calls. Hive's scenario appends private C1 events and uses the selected relay as its only new-profile evidence-admission path. Relay calls C1 pending/ack and C2 submitEvidence; it validates the complete selected C2 decision before attesting completion to C1. C4 reads private task/workset atoms and C2 snapshots, selects through C3, reserves work and submits or recovers C2 derivations. C4 reconciliation calls only Attention.resolveFeedback on recorded intents: no task selection, C2 admission or PLN call. C2 reads evidence through C1 and calls the unchanged pure math providers. C3 requires authority and reference syntax only. Bottom cards summarize storage/authority dependencies; each owner has an independent local commit. Original M2/M3 profiles remain selectable.</a:t>
            </a:r>
          </a:p>
          <a:p/>
          <a:p>
            <a:r>
              <a:t>Source: cognition.py · ports.py · evidence_relay.py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real native dispatch into the thin plugin, which holds a caller-owned receipt and uses Subprocess/Peer through descriptor-bound validation. Direct storage, messaging and execution calls all cross the same authenticated boundary. Trusted composition supplies concrete owners; the plugin never constructs them or accesses their tables. Messaging.send validates the referenced bytes through caller-authorized AtomStorage.get; Execution.submit reads the input before accepting a new job. The worker calls declared AtomStorage get/create, then execution commits terminal state/outbox. CompletionDelivery.accept belongs to the mailbox owner and commits separately. Chain remains a separate, uninvoked adapter. This is a logical call map; it does not force one process per module.</a:t>
            </a:r>
          </a:p>
          <a:p/>
          <a:p>
            <a:r>
              <a:t>Source: program.py · ports.py · execution.py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unchanged DA boundary is exercised against a freshly fetched clean secured-contract-spaces revision 272888f264dd2dde18b574cabb53c266b0dac2ec. No Hive-specific schema is added to DeTTa. Application references and replay semantics belong above opaque DA. Conformance removes the cached payload and two erasure shares and verifies reconstruction; three missing shares and corruption fail explicitly. This is actual local library execution, not a validator/custody network or an indefinite-retention claim. The independent atomic-file provider is an AtomStorage contract fixture, not a second DA network. The clean-source rebaseline excludes historical dirty storage-format and custody-pruning additions and reruns applicable tests.</a:t>
            </a:r>
          </a:p>
          <a:p/>
          <a:p>
            <a:r>
              <a:t>Source: adapters/detta/src/main.rs · test_contract.py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storage matrix has two implementations times two bindings. C1 is independently exercised without cognition using hostile declared-port wrappers. M3 attention replacement uses a separately implemented atomic-file provider; only DTO validation is shared with the SQLite implementation. Four controlled native cases hold exact task/evidence identities, policy, budgets and deadline fixed while selecting the provider in composition. Separate initial-preference cases show the selection effect. Both replacements persist actual state, but the file implementations remain classified fixtures rather than real DeTTa or a production attention service. This demonstrates same-profile replacement on fresh stores, not live migration.</a:t>
            </a:r>
          </a:p>
          <a:p/>
          <a:p>
            <a:r>
              <a:t>Source: m11-swap-demo.json · m3/final/comparison.json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native plugin receives authenticated actor context and derives authority from operator configuration. Request parameters cannot select credentials, arbitrary scopes or private premise identities. Public parameters are generated seed, preference a/b and an absolute deadline. Privacy tests intercept shared bindings, populate shared stores and inspect native receipts/logs/state for canaries and private hashes. This is tested local placement under a trusted operator/host, not secrecy from administrators. Each journal has one owner and commits independently; there is no cross-owner SQL transaction.</a:t>
            </a:r>
          </a:p>
          <a:p/>
          <a:p>
            <a:r>
              <a:t>Source: cognition.py · inference_program/program.py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contracts use closed bounded DTOs and detach nested request inputs before authorization or foreign calls. A task binds P,Q,R,P⇒Q,Q⇒R to exact private references. Premise vectors record each belief's historical revision and support ID; the upstream knowledge revision of zero is only a local evaluation ID, not a global ledger. Derived support tags distinguish observation, two-local-premise revision and five-foreign-premise deduction. C2 local v3 is explicit and does not widen M2 v2. WorkBudget contains an absolute Unix-ms deadline, max_candidates, max_rule_applications and max_feedback_generation. Historical reads and recovered owner responses are validated against the exact request.</a:t>
            </a:r>
          </a:p>
          <a:p/>
          <a:p>
            <a:r>
              <a:t>Source: attention_contracts.py · cognition_contracts.py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illustrated event roles match the generated story. Each immutable event is referenced by an AtomRef; the episode head begins at zero and advances by one for accepted occurrences. A duplicate occurrence with the same semantic content returns its original receipt before a stale expected-head check, even under a new request key. Changed content or provenance for that occurrence conflicts. Distinct occurrences can have identical bytes. Payload persistence can precede episode commit and leave an orphan after death; replay recovers the same atom without inventing an acknowledged event. C1 exposes bounded reads, pending evidence and trusted acknowledgements, with no cognition dependency. No dynamic episode search or garbage collector is implemented.</a:t>
            </a:r>
          </a:p>
          <a:p/>
          <a:p>
            <a:r>
              <a:t>Source: episodes.py · tests/test_m2.py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commits belong to three owners; there is no cross-owner transaction. The selected adapter validates exactly one C2 profile and full response, including v3 support fields after a real deduction. C1 accepts trusted-evidence-completion/1 through a separately bound context unavailable to ordinary episode/Hive clients. A completion identifies scope, delivery, exact evidence/claim/context, selected consumer, request and decision digests. It asserts committed processing, not truth. Relay recovers its own committed intents when the C1 acknowledgment response was lost and the delivery no longer appears pending. The real-provider run drains 33 generated observations in batches 16/16/1. Capacity testing refuses append 17, then uses public drain before appending. Reports and unregistered-origin observations close as model-inapplicable with null numerical truth; contrary observations remain retained. Four evidence boundaries times two providers give eight direct kills, plus two native caller evidence kills.</a:t>
            </a:r>
          </a:p>
          <a:p/>
          <a:p>
            <a:r>
              <a:t>Source: delivery_contracts.py · evidence_relay.py · m3_1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preserved observation admission. M3 adds a separate derivation command with inherited evidence, described next. The first eligible explicit assessment initializes the aggregate. Later evidence is retained without automatic aggregation unless an exact pair assumption and guards permit revision. Unknown origins cannot initialize a justified numerical aggregate. A report without numerical assessment is model-inapplicable. The ledger retains observations, support records, immutable snapshots and exact decisions. A later authorized independence declaration may combine already admitted supports, without creating another observation. Exact successful replay returns the original historical decision even after later revisions; a new-key duplicate returns current state without adding weight. Retained-alternative is a pair outcome, so an already covered ancestor need not produce a new alternative list entry or revision. Coverage fields state the actual result.</a:t>
            </a:r>
          </a:p>
          <a:p/>
          <a:p>
            <a:r>
              <a:t>Source: beliefs.py · memory_types.py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foreign premises are not five independent observations of the output claim. local-admitted-supports/1 treats the deduction as one local support unit with its inherited evidence/root union. Logical derivation identity is independent of request/step IDs, deadlines and output CAS. A duplicate cannot gain another admission or causal feedback credit. A separately authorized independence assumption can request the unchanged guarded native revision of eligible supports. Derive → revise retains grounded ancestry; a cyclic subsequent deduction is refused. Claims remain heuristic and lineage-aware, not calibrated uncertainty or proven entailment.</a:t>
            </a:r>
          </a:p>
          <a:p/>
          <a:p>
            <a:r>
              <a:t>Source: derived_beliefs.py · pln_deduction.py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unchanged Reachability dd56f3f implementation invokes PLN 4405956 Truth_Deduction on PeTTa ae66fa8 and SWI source 6977543, version 10.1.14. The exact runtime profile is fusion-petta-swi-10.1.14-deduction/1. No PLN.Derive, PLN.Query or task search is used. The Q&gt;0.9999 branch and its assumptions remain upstream semantics and are tested. Kernel source checks and native subprocesses use the remaining absolute deadline. This pure component owns no belief, agenda or attention state. Source drift, malformed output and timeout are explicit refusals, with fault injections labelled in the native suite.</a:t>
            </a:r>
          </a:p>
          <a:p/>
          <a:p>
            <a:r>
              <a:t>Source: deduction-sources.json · integration/pln/test_deduction.py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M3 golden has five ordered premises and uses the actual native Truth_Deduction. Expected values are independent test oracles, not production mathematics. M2 revision goldens still pass in the M3 regression, including reversed unequal pairs. Native suites include actual computation plus explicitly injected malformed responses, timeouts, source-drift clones and authorization/CAS interleavings. Fifteen upstream guard-only tests use RecordingRuntime and are not counted as native numerical evaluation. Evidence_count remains null, and a derived conclusion never turns into a fresh independent observation.</a:t>
            </a:r>
          </a:p>
          <a:p/>
          <a:p>
            <a:r>
              <a:t>Source: test_deduction.py · preserved test_revision.py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policy is frozen in its identity. Bounds are 16 targets, 16 advance steps per call, eight contexts, 512 causes per context, 1024 commands per owner and feedback generation three. Capacities refuse without silent eviction of acknowledged commands. Stimulus saturation is min(amount, Smax-current); total context budget is enforced atomically. Successful replay is checked before logical clock CAS under live authorization. Causal deduplication is independent of request identity; changing a causal body conflicts. Fresh feedback follows the target's current causal parent and next generation. metta-attention 3e1c8147 was inspected but not integrated because it couples STI/LTI/VLTI, wages and shared funds. C3 has no hidden dependency on AtomStorage, C1, C2, PLN or Hive.</a:t>
            </a:r>
          </a:p>
          <a:p/>
          <a:p>
            <a:r>
              <a:t>Source: attention.py · fixture_attention.py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fresh cases use two tasks, five premises per task, ten generated observations, two episodes and twelve claim atoms. Held fixed: exact task/evidence refs, policy parameters, one-attempt/two-candidate budgets, absolute deadline and logical schedule. Separate preference cases exchange initial scores 20/10 and 10/20. Only composition chooses SQLite or the independently implemented file fixture; no consumer code changes. Every result records examined=2, reserved=1, completed=1, refused=0, unique admission=1 and feedback_applied=1, ending at rule-budget. The second candidate is counted before discovering the exhausted rule budget. Preparation takes about 11.5–11.8 seconds and is separate from the reported step time. Store sizes are 1,040,671 and 1,020,409 bytes respectively. These are one-run local measurements, not throughput or cognitive-quality evidence.</a:t>
            </a:r>
          </a:p>
          <a:p/>
          <a:p>
            <a:r>
              <a:t>Source: m3/final/comparison.json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C4 counts a candidate before resolving it, including unresolved or refused candidates. It commits reservation before dispatch and queries a prior C2 decision first during recovery. C2 persists semantic intent before evaluation, evaluates outside its commit transaction, then rechecks authority and output CAS. A killed pending attempt needs a new reserved slot/key; a committed decision is read back without evaluation. Logical derivation identity is distinct from transport request, controller step, attempt key, deadline and output CAS. Feedback is a fixed one-unit workflow signal tied to logical derivation identity, never a truth update. Absolute Unix-ms deadline survives restart; scheduling/file I/O remain cooperative, not hard real-time.</a:t>
            </a:r>
          </a:p>
          <a:p/>
          <a:p>
            <a:r>
              <a:t>Source: inference.py · deadlines.py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resolveFeedback never applies fresh eligible feedback. Existing application wins even after expiry or decay; it returns the original receipt without changing current STI. Otherwise stale/expired intent can create a no-credit tombstone atomically; eligible or unavailable/malformed responses remain pending, and revocation fails closed. Application and retirement share SQLite transaction or independent atomic-file locking. Concurrent eligible application versus clock advance/retirement and both serialized outcomes were exercised on both providers. First retirement consumes one existing cause and command slot; existing receipts/tombstones need no new slot. No capacity enlargement or eviction. C4 persists a bounded cursor and separate closure version. Same reconciliation key returns its original observation; fresh keys/readProgress can see newer closure. It never calls selection, C2 admission or PLN, refunds reservations, resets deadlines or retimes feedback. Finite exhausted capacity can leave work pending.</a:t>
            </a:r>
          </a:p>
          <a:p/>
          <a:p>
            <a:r>
              <a:t>Source: attention.py · fixture_attention.py · inference.py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native recovery methods cover ten actual SIGKILL cases: stimulus commit for both attention providers; reservation and kernel-return loss under budgets one and two; belief/feedback recovery for both providers. The real Hive suite adds five actual caller kills across the same boundaries. A one-slot loss conservatively exhausts the budget; a two-slot case may recover one logical admission after another physical calculation. Thus there is no claim of exactly one physical calculation per logical derivation. Committed admission and feedback are duplicate-safe. This is intact-local-file, same-host process restart, not reboot, power loss or distributed failover.</a:t>
            </a:r>
          </a:p>
          <a:p/>
          <a:p>
            <a:r>
              <a:t>Source: test_m3_recovery.py · test_m3_integration.py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records are copied before foreign calls and authorization so a malicious boundary cannot mutate the retained command. Recovered C2 and attention responses are checked against exact owner/request identities and semantics. Current principal, scope, method and descriptor permissions apply on every invocation. The assumption permission for revision remains separate. Native proposal calculation runs outside the owner commit transaction; final authorization and expected output revision are rechecked afterward. Old-profile feedback can remain CONFLICT after a clock change. The new profile lets Attention resolve recorded stale feedback by no-credit retirement; eligible or unavailable feedback stays pending. The controller never rewrites the logical schedule. These are local trusted-authority guarantees, not a production identity system.</a:t>
            </a:r>
          </a:p>
          <a:p/>
          <a:p>
            <a:r>
              <a:t>Source: cognition.py · derived_beliefs.py · tests/test_m3.py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pinned Hive create_app, authenticated Programs dispatch, default Supervisor and native PeTTa run in the integration. The narrow sibling plugin uses native assessment role, action infer-generated, and trusted actor mapping. ASGI TestClient, identities, observations and operator assumptions are fixtures; the runtime, DeTTa and formula execution are actual providers. The plugin owns caller intent/receipt and invokes the private scenario; it owns no belief, STI or controller state. The preserved M3 suite has eight native cases and five kills. The new M3.1 suite adds seven native cases, four with actual kills, covering both providers, closure progress, evidence recovery and explicit zero-conclusion execution. The new-profile scenario drains C1 evidence through the relay. The diagram summarizes the call sequence; each owner commits independently. M1 fusion-inspect and M2 fusion-episode remain supported and rerun in regression.</a:t>
            </a:r>
          </a:p>
          <a:p/>
          <a:p>
            <a:r>
              <a:t>Source: inference_program/program.py · test_m3_integration.py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summarizes the tested stale-feedback case: original execution has one admission and zero acknowledged feedback; after controlled clock advance STI is nine, and reconciliation retires the stale effect without changing that execution. The bottom row covers separate applied-before-lost-reply and expired-before-execution tests, not one combined run. The actual authenticated native Programs 0.1 dispatcher selects the existing plugin. Prepared original-command mapping is private and persisted before step. Public parameter original_command respects the unchanged Hive credential guard. The response exposes execution status/reason, admissions, original counts/remaining, evidence pending/state, feedback closure counts and version. Private episode/task/support IDs, roots, snapshots, credentials and paths are excluded. Seven native cases include four process kills; both attention providers are exercised. Same public reconciliation identifier replays the same observation; use a new one for newer progress.</a:t>
            </a:r>
          </a:p>
          <a:p/>
          <a:p>
            <a:r>
              <a:t>Source: inference_program/program.py · test_m3_1_integration.py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depicts the explicitly configured STI scores in the controlled scenarios, not a learned score or performance estimate. The comparison exercises both preferences with both providers; the real Hive tests separately exercise actual native action and replacement. A step freezes the ranked selection. Subsequent feedback affects a later step, not the order already accepted. C4 examines two candidates but reserves and executes only one attempt, so terminal reason is rule-budget. All four comparison cases recover identical receipts after reopening owners and invoke the native formula zero additional times on successful replay. Cognitive usefulness of the chosen conclusion is not measured.</a:t>
            </a:r>
          </a:p>
          <a:p/>
          <a:p>
            <a:r>
              <a:t>Source: m3/final/comparison.json · native Hive scenario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kernel/admission includes actual formula executions plus labelled malformed-response, timeout, source-drift and authorization/CAS fault cases. The fifteen upstream guard tests use RecordingRuntime. Both attention providers persist state, but the independent file provider retains fixture classification. Real Hive uses fixture identities, generated inputs and TestClient transport; its default Supervisor and Programs runtime are actual. Optional historical chain observations remain separate and are not a new M3 chain pass. Historical SWI 10.0.1, the full Hive suite and hard real-time behavior are unrun. The fresh build uses warm download caches, not reused native objects.</a:t>
            </a:r>
          </a:p>
          <a:p/>
          <a:p>
            <a:r>
              <a:t>Source: m3_1/manifest.json · m3_1-evidence.md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M1–M3 verifier ran completely from corrected source 1b17d74: original fixtures 51, DeTTa-enabled aggregate 127 (118 previous plus nine new), DeTTa 62+38, Hive baseline 34 and unchanged M1.2 integration 13. M2 fixtures/guards/native revision/recovery/Hive: 16/8/12/6/7 plus demo. M3 attention/contracts/guards/native admission/recovery/Hive: 5/7/15/13/3/8 plus four comparison cases. M3.1 explicit fixtures nine, real-provider methods five, direct recovery methods three (sixteen distinct SIGKILL cases) and native Hive seven (four with kills). Two separate non-numerical real-provider probes are retained. Repeated subsets and development reruns are not extra unique coverage. Earlier protocol introspection and harness failures were corrected before this final run. No runtime integrations were rerun for this presentation update.</a:t>
            </a:r>
          </a:p>
          <a:p/>
          <a:p>
            <a:r>
              <a:t>Source: m3_1/final/verification.json · non-numeric-processing.json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Statuses are read from the M3.1 machine manifest and match the corrected final verifier. Twelve supported gates pass; CHAIN is NOT_RUN. The complete prior M1–M3 regression passes separately. COMPAT_REPRO uses fresh provider directories and original pins with warm download caches. Populated old-profile copies reject the new profiles without modification and still replay through the old selection. This is not migration or repair of existing pending stores. Exact historical chain-source reproduction remains blocked by unavailable dirty inputs, a separate historical question. Passes cover only the tested local scope; power-loss, distributed and production claims remain unrun.</a:t>
            </a:r>
          </a:p>
          <a:p/>
          <a:p>
            <a:r>
              <a:t>Source: m3_1/manifest.json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Statuses are read from the M3.1 machine manifest and match the corrected final verifier. Twelve supported gates pass; CHAIN is NOT_RUN. The complete prior M1–M3 regression passes separately. COMPAT_REPRO uses fresh provider directories and original pins with warm download caches. Populated old-profile copies reject the new profiles without modification and still replay through the old selection. This is not migration or repair of existing pending stores. Exact historical chain-source reproduction remains blocked by unavailable dirty inputs, a separate historical question. Passes cover only the tested local scope; power-loss, distributed and production claims remain unrun.</a:t>
            </a:r>
          </a:p>
          <a:p/>
          <a:p>
            <a:r>
              <a:t>Source: m3_1/manifest.json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Requested ancestor c4498ce3047f1283d3a4a3ae3d09b713e7dcf312; actual starting descendant 3b34e00df75055d54a57ba7e38eb8b2d9e82ed7e; tested source 1b17d74f2808703894ea55c9539adf264bc87976; evidence-only descendant 985d2f34ea8df8c5d93582e4ed6fe5cbe1843074. Build_m3.py wraps the byte-identical M2 recipe and adds the separately selected deduction configuration. All exercised upstream sources were clean at their pins. Historical M2 SWI binary identity differs from the fresh M3 build and is not silently equated. Exact hashes, versions, command arguments, durations and JUnit results are committed. Provider environment files can contain local configuration and are deliberately excluded from published evidence. This deck hashes its evidence inputs and audits the archive without modifying it.</a:t>
            </a:r>
          </a:p>
          <a:p/>
          <a:p>
            <a:r>
              <a:t>Source: m3_1/build.json · manifest.json · final/verification.json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M3.1 solves the delivery/feedback seams only for explicitly selected new profiles and fresh journals. Disposable copies of populated old stores reject the selection with UNSUPPORTED_PROFILE and remain replayable under old profiles. Existing user stores are not migrated or repaired. Pending feedback need not converge: eligible effects are not newly applied by reconciliation, unavailable/malformed replies stay pending, and bounded tombstone/command capacity can exhaust. Unresolved derivation attempts use original step recovery, not reconciliation; lost reservations are not reclaimed. No exactly-one physical computation, hard real-time, power-loss, administrator secrecy, distributed failover, production throughput or cognitive-quality claim. Origin/independence remain operator assumptions. Specialist maintainer assignments remain open.</a:t>
            </a:r>
          </a:p>
          <a:p/>
          <a:p>
            <a:r>
              <a:t>Source: m3_1-evidence.md · compatibility and recovery limits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ELI16 summary: record the report, preserve the calculation budget and settle each recorded effect with its owner. C1 accepts model-independent processing completion from the trusted relay. C2 owns beliefs and unchanged native math. C3 resolves applied, retired or pending feedback; C4 records later closure without changing historical execution. Native Hive exposes both facts. Both attention providers pass the same closure scenarios; process kills test independent commits. All twelve supported M3.1 gates pass, prior M1–M3 regressions pass, no supported prerequisite is blocked, and chain remains NOT_RUN. Existing pending stores need migration outside scope. This is delivery closure, not new cognition or production readiness.</a:t>
            </a:r>
          </a:p>
          <a:p/>
          <a:p>
            <a:r>
              <a:t>Source: M3.1 tested 1b17d74 · evidence 985d2f3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Paths are relative to fusion/ unless marked hive/, which is under integration/. ports.py declares the protocols; attention_contracts.py and cognition_contracts.py enforce the executable bounded schemas. Shared DTO validators are permitted in the independent fixture, shared owner transitions are not. C2 default M2 behavior remains via its original validators and profile; the derived owner selects fresh v3 behavior. The native plugin uses integration/m3_scenario.py and holds only caller intent and public receipt. No owner reaches into another owner's private SQL. Tests and exact source hashes are indexed in the M3.1 machine manifest. Historical protocol declarations are preserved; new closure protocols are explicit.</a:t>
            </a:r>
          </a:p>
          <a:p/>
          <a:p>
            <a:r>
              <a:t>Source: architecture.md · ports.py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commit 985d2f34ea8df8c5d93582e4ed6fe5cbe1843074. Full inspected metta-attention revision: 3e1c8147dc17299d17ab34720334fc19277cb6a9, clean. Its coupled STI/LTI/VLTI, wages and funds are not silently adopted. Runtime profile: fusion-petta-swi-10.1.14-deduction/1; rule profile: grounded-five-premise-deduction/1; truth model: trueagi-pln-stv-finite-k1/v1. PLN library SHA-256 cdfb3f18bd7b336440fc7b4409209afddf0e64c41f17dee7eefc8f02718de433. Fresh SWI binary SHA-256 dcd379ed717cd4869b4ef0b4683bcb4023177b6d04f2356cddb85b1c5c666262. Native Python 3.12.12, Janus 1.5.3; fixture runner Python 3.11.14. All exercised source checkouts were clean. No upstream formula or runtime implementation was patched. Historical SWI 10.0.1 remains unrun.</a:t>
            </a:r>
          </a:p>
          <a:p/>
          <a:p>
            <a:r>
              <a:t>Source: m3_1/final/verification.json · build.json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configuration selector is fusion-delivery-closure/1. C1's trusted completion DTO has profile trusted-evidence-completion/1. C3 arithmetic policy remains sti-additive-linear-decay/1 while its interface/profile explicitly adds submitFeedback and resolveFeedback. C4 adds readProgress and reconcile. Max 16 targets, 16 advance steps, eight contexts, 512 causes/context, 1024 commands/owner and feedback generation three are unchanged. First retirement consumes existing cause/command capacity; recovering an existing application or retirement does not allocate a new slot. Reconciliation has its own finite command budget and cannot reset original WorkBudget/deadline. M1 wire, M2 revision and M3 old cognition profiles remain supported. Algorithm profile, interface version, selected descriptor, runtime and current permissions all matter.</a:t>
            </a:r>
          </a:p>
          <a:p/>
          <a:p>
            <a:r>
              <a:t>Source: contracts.md · cognition.py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reproduction against clean 3b34e00 confirms the old acknowledgment/relay NOT_AVAILABLE, 16 pending then append 17 OVERLOADED, and persistent stale-feedback CONFLICT after reopen. Those expected gaps are separate from the passing baseline regression. New-profile delivery drains, including after deduction and for model-inapplicable reports. Neither this extension nor the presentation migrates existing state. Compatibility tests populate old stores, operate on disposable copies, reject new selection without modifying bytes and replay with original descriptors. Fresh profiles preserve strict time and causal semantics. This distinction must survive any claim that the seam is now closed.</a:t>
            </a:r>
          </a:p>
          <a:p/>
          <a:p>
            <a:r>
              <a:t>Source: m3_1/baseline/gaps.json · test_m3_1_compat.py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effects originate in the real native operation, not a renamed protocol demo. The caller first commits its original intent. AtomStorage persists generated bytes in actual DeTTa, then Messaging accepts a reference for the explicitly labelled fixture counterparty. DelegatedExecution accepts only inspect_atom under the original key and correlation. The caller records the accepted job. A separate real worker reads/persists through AtomStorage, then commits execution terminal state/outbox. Messaging accepts the completion in a separate transaction. The final arrow summarizes reconciliation: status /2 restores known correlation, poll and get verify the completion, caller acceptance commits, and a stable-key acknowledgement follows. This is not one distributed transaction.</a:t>
            </a:r>
          </a:p>
          <a:p/>
          <a:p>
            <a:r>
              <a:t>Source: program.py · execution.py · messaging.py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this historical result without promoting it into the new real-caller gate. The M1 chain JSON records pending, included with effect finality Pending, then finalized, at height 3 with no execution error, no rejection and cost 351 phlo. The committed digest belongs to the original protocol-peer result, not the generated native Hive result in M1.2. The M1 adapter used a registered approved digest, injected signer and durable signed intent against one isolated local node. That source had local changes and an untracked input. Exact historical reproduction remains blocked until those authorized bytes are supplied or a different clean revision is separately validated. No chain process or transaction was run during M1.2, M2, M3, M3.1 or this presentation update. Finality does not establish indefinite off-chain availability.</a:t>
            </a:r>
          </a:p>
          <a:p/>
          <a:p>
            <a:r>
              <a:t>Source: evidence/chain-demo.json · M1 historical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Linux build prerequisites and authorized SSH access to exact Hive/DeTTa sources are documented in the runbook; public HTTPS retrieves the pinned Reachability/PLN sources. New native objects, Python/Janus venv and DeTTa Cargo target are built in a fresh directory. Download caches may be warm. build_m3.py preserves the M2 build recipe and adds the explicit deduction profile. verify_m3_1.py runs the complete M1–M3 verifier plus closure fixtures, real-provider methods, direct process kills and native Hive closure. The final record was executed from clean detached /tmp/fusion-m31-final-corrected. Use --output with a fresh evidence directory to avoid confusing prior runs. Fresh new-profile journals are required. Do not publish broad local environment files. Deck generation is a separate documentation operation and does not rerun these gates.</a:t>
            </a:r>
          </a:p>
          <a:p/>
          <a:p>
            <a:r>
              <a:t>Source: runbook.md · build_m3.py · verify_m3_1.py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derivation's logical ID excludes request/step identity, output CAS and deadline so a retry cannot manufacture new independent support. An attempt key freezes its exact semantic body and is evaluated at most once; a killed pending attempt consumes a physical reservation. Multiple physical calculations for one logical derivation remain possible under distinct reserved attempts. C2 commits its decision before C4 progress; C3 commits feedback before C4 acknowledgment. Recovery queries those owners rather than inferring success from a missing local reply. Feedback_applied counts acknowledged unique logical credits; feedback_duplicate records suppression on duplicate admission. Fixed feedback adds no truth evidence. The semantics distinguish bounded termination, successful admission and fully acknowledged work.</a:t>
            </a:r>
          </a:p>
          <a:p/>
          <a:p>
            <a:r>
              <a:t>Source: inference.py · derived_beliefs.py · attention.py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MODULE-INTERFACE ARCHITECTURE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287780"/>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Remember the evidence.</a:t>
            </a:r>
          </a:p>
        </p:txBody>
      </p:sp>
      <p:sp>
        <p:nvSpPr>
          <p:cNvPr id="5" name="TextBox 4"/>
          <p:cNvSpPr txBox="1"/>
          <p:nvPr/>
        </p:nvSpPr>
        <p:spPr>
          <a:xfrm>
            <a:off x="548640" y="1918716"/>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Bound the work.</a:t>
            </a:r>
          </a:p>
        </p:txBody>
      </p:sp>
      <p:sp>
        <p:nvSpPr>
          <p:cNvPr id="6" name="TextBox 5"/>
          <p:cNvSpPr txBox="1"/>
          <p:nvPr/>
        </p:nvSpPr>
        <p:spPr>
          <a:xfrm>
            <a:off x="548640" y="2549652"/>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Account for every effect.</a:t>
            </a:r>
          </a:p>
        </p:txBody>
      </p:sp>
      <p:sp>
        <p:nvSpPr>
          <p:cNvPr id="7" name="TextBox 6"/>
          <p:cNvSpPr txBox="1"/>
          <p:nvPr/>
        </p:nvSpPr>
        <p:spPr>
          <a:xfrm>
            <a:off x="579120" y="3665219"/>
            <a:ext cx="9525000" cy="409651"/>
          </a:xfrm>
          <a:prstGeom prst="rect">
            <a:avLst/>
          </a:prstGeom>
          <a:noFill/>
        </p:spPr>
        <p:txBody>
          <a:bodyPr wrap="none" lIns="0" rIns="0" tIns="0" bIns="0" anchor="t" anchorCtr="0">
            <a:noAutofit/>
          </a:bodyPr>
          <a:lstStyle/>
          <a:p>
            <a:pPr algn="l">
              <a:lnSpc>
                <a:spcPct val="100000"/>
              </a:lnSpc>
              <a:spcBef>
                <a:spcPts val="0"/>
              </a:spcBef>
              <a:spcAft>
                <a:spcPts val="0"/>
              </a:spcAft>
            </a:pPr>
            <a:r>
              <a:rPr sz="2520" b="0">
                <a:solidFill>
                  <a:srgbClr val="AAC0CC"/>
                </a:solidFill>
                <a:latin typeface="DejaVu Sans"/>
              </a:rPr>
              <a:t>Omega Hive × ASI</a:t>
            </a:r>
          </a:p>
        </p:txBody>
      </p:sp>
      <p:sp>
        <p:nvSpPr>
          <p:cNvPr id="8" name="TextBox 7"/>
          <p:cNvSpPr txBox="1"/>
          <p:nvPr/>
        </p:nvSpPr>
        <p:spPr>
          <a:xfrm>
            <a:off x="579120" y="4191000"/>
            <a:ext cx="105918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0">
                <a:solidFill>
                  <a:srgbClr val="FFFFFF"/>
                </a:solidFill>
                <a:latin typeface="DejaVu Sans"/>
              </a:rPr>
              <a:t>Private memory, bounded native inference and explicit delivery closure</a:t>
            </a:r>
          </a:p>
        </p:txBody>
      </p:sp>
      <p:sp>
        <p:nvSpPr>
          <p:cNvPr id="9" name="Rounded Rectangle 8"/>
          <p:cNvSpPr/>
          <p:nvPr/>
        </p:nvSpPr>
        <p:spPr>
          <a:xfrm>
            <a:off x="579120" y="5151120"/>
            <a:ext cx="2218818" cy="289560"/>
          </a:xfrm>
          <a:prstGeom prst="roundRect">
            <a:avLst>
              <a:gd name="adj" fmla="val 18421"/>
            </a:avLst>
          </a:prstGeom>
          <a:solidFill>
            <a:srgbClr val="DCEFE8"/>
          </a:solidFill>
          <a:ln>
            <a:noFill/>
          </a:ln>
          <a:effectLst/>
        </p:spPr>
        <p:txBody>
          <a:bodyPr rtlCol="0" anchor="ctr"/>
          <a:lstStyle/>
          <a:p>
            <a:pPr algn="ctr"/>
          </a:p>
        </p:txBody>
      </p:sp>
      <p:sp>
        <p:nvSpPr>
          <p:cNvPr id="10" name="TextBox 9"/>
          <p:cNvSpPr txBox="1"/>
          <p:nvPr/>
        </p:nvSpPr>
        <p:spPr>
          <a:xfrm>
            <a:off x="685800" y="5204460"/>
            <a:ext cx="2028318"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THROUGH M3.1 · C1–C4</a:t>
            </a:r>
          </a:p>
        </p:txBody>
      </p:sp>
      <p:sp>
        <p:nvSpPr>
          <p:cNvPr id="11" name="Rounded Rectangle 10"/>
          <p:cNvSpPr/>
          <p:nvPr/>
        </p:nvSpPr>
        <p:spPr>
          <a:xfrm>
            <a:off x="3703319" y="5151120"/>
            <a:ext cx="2330068" cy="289560"/>
          </a:xfrm>
          <a:prstGeom prst="roundRect">
            <a:avLst>
              <a:gd name="adj" fmla="val 18421"/>
            </a:avLst>
          </a:prstGeom>
          <a:solidFill>
            <a:srgbClr val="E4EBF5"/>
          </a:solidFill>
          <a:ln>
            <a:noFill/>
          </a:ln>
          <a:effectLst/>
        </p:spPr>
        <p:txBody>
          <a:bodyPr rtlCol="0" anchor="ctr"/>
          <a:lstStyle/>
          <a:p>
            <a:pPr algn="ctr"/>
          </a:p>
        </p:txBody>
      </p:sp>
      <p:sp>
        <p:nvSpPr>
          <p:cNvPr id="12" name="TextBox 11"/>
          <p:cNvSpPr txBox="1"/>
          <p:nvPr/>
        </p:nvSpPr>
        <p:spPr>
          <a:xfrm>
            <a:off x="3810000" y="5204460"/>
            <a:ext cx="2139568"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315E9C"/>
                </a:solidFill>
                <a:latin typeface="DejaVu Sans"/>
              </a:rPr>
              <a:t>REAL HIVE · DETTA · PLN</a:t>
            </a:r>
          </a:p>
        </p:txBody>
      </p:sp>
      <p:sp>
        <p:nvSpPr>
          <p:cNvPr id="13" name="TextBox 12"/>
          <p:cNvSpPr txBox="1"/>
          <p:nvPr/>
        </p:nvSpPr>
        <p:spPr>
          <a:xfrm>
            <a:off x="579120" y="5745480"/>
            <a:ext cx="10287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AAC0CC"/>
                </a:solidFill>
                <a:latin typeface="DejaVu Sans"/>
              </a:rPr>
              <a:t>Architecture and evidence • 16 October 2026 • supported local scope</a:t>
            </a:r>
          </a:p>
        </p:txBody>
      </p:sp>
      <p:cxnSp>
        <p:nvCxnSpPr>
          <p:cNvPr id="14" name="Connector 13"/>
          <p:cNvCxnSpPr/>
          <p:nvPr/>
        </p:nvCxnSpPr>
        <p:spPr>
          <a:xfrm>
            <a:off x="548640" y="6393180"/>
            <a:ext cx="11094720" cy="0"/>
          </a:xfrm>
          <a:prstGeom prst="line">
            <a:avLst/>
          </a:prstGeom>
          <a:ln w="7620">
            <a:solidFill>
              <a:srgbClr val="536775"/>
            </a:solidFill>
          </a:ln>
          <a:effectLst/>
        </p:spPr>
      </p:cxnSp>
      <p:sp>
        <p:nvSpPr>
          <p:cNvPr id="15" name="TextBox 1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M3.1 / M3.1 evidence 985d2f3 · tested 1b17d74</a:t>
            </a:r>
          </a:p>
        </p:txBody>
      </p:sp>
      <p:sp>
        <p:nvSpPr>
          <p:cNvPr id="16" name="TextBox 1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01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1 OF 3</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ELI16: remember, weigh evidence, do the calculation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Think of a student investigating a question with a notebook, evidence ledger and calculator.</a:t>
            </a:r>
          </a:p>
        </p:txBody>
      </p:sp>
      <p:sp>
        <p:nvSpPr>
          <p:cNvPr id="5" name="Rounded Rectangle 4"/>
          <p:cNvSpPr/>
          <p:nvPr/>
        </p:nvSpPr>
        <p:spPr>
          <a:xfrm>
            <a:off x="54864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C1 · NOTEBOOK</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Keep the original story</a:t>
            </a:r>
          </a:p>
        </p:txBody>
      </p:sp>
      <p:sp>
        <p:nvSpPr>
          <p:cNvPr id="8" name="TextBox 7"/>
          <p:cNvSpPr txBox="1"/>
          <p:nvPr/>
        </p:nvSpPr>
        <p:spPr>
          <a:xfrm>
            <a:off x="716280" y="27026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Record what happened and</a:t>
            </a:r>
          </a:p>
        </p:txBody>
      </p:sp>
      <p:sp>
        <p:nvSpPr>
          <p:cNvPr id="9" name="TextBox 8"/>
          <p:cNvSpPr txBox="1"/>
          <p:nvPr/>
        </p:nvSpPr>
        <p:spPr>
          <a:xfrm>
            <a:off x="716280" y="29660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where each report came from.</a:t>
            </a:r>
          </a:p>
        </p:txBody>
      </p:sp>
      <p:sp>
        <p:nvSpPr>
          <p:cNvPr id="10" name="TextBox 9"/>
          <p:cNvSpPr txBox="1"/>
          <p:nvPr/>
        </p:nvSpPr>
        <p:spPr>
          <a:xfrm>
            <a:off x="716280" y="322935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Keep contrary observations;</a:t>
            </a:r>
          </a:p>
        </p:txBody>
      </p:sp>
      <p:sp>
        <p:nvSpPr>
          <p:cNvPr id="11" name="TextBox 10"/>
          <p:cNvSpPr txBox="1"/>
          <p:nvPr/>
        </p:nvSpPr>
        <p:spPr>
          <a:xfrm>
            <a:off x="716280" y="34927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replay does not add another</a:t>
            </a:r>
          </a:p>
        </p:txBody>
      </p:sp>
      <p:sp>
        <p:nvSpPr>
          <p:cNvPr id="12" name="TextBox 11"/>
          <p:cNvSpPr txBox="1"/>
          <p:nvPr/>
        </p:nvSpPr>
        <p:spPr>
          <a:xfrm>
            <a:off x="716280" y="375605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event.</a:t>
            </a:r>
          </a:p>
        </p:txBody>
      </p:sp>
      <p:sp>
        <p:nvSpPr>
          <p:cNvPr id="13" name="Rounded Rectangle 12"/>
          <p:cNvSpPr/>
          <p:nvPr/>
        </p:nvSpPr>
        <p:spPr>
          <a:xfrm>
            <a:off x="432816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14" name="TextBox 13"/>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C2 · EVIDENCE LEDGER</a:t>
            </a:r>
          </a:p>
        </p:txBody>
      </p:sp>
      <p:sp>
        <p:nvSpPr>
          <p:cNvPr id="15" name="TextBox 14"/>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Know what supports a</a:t>
            </a:r>
          </a:p>
        </p:txBody>
      </p:sp>
      <p:sp>
        <p:nvSpPr>
          <p:cNvPr id="16" name="TextBox 15"/>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belief</a:t>
            </a:r>
          </a:p>
        </p:txBody>
      </p:sp>
      <p:sp>
        <p:nvSpPr>
          <p:cNvPr id="17" name="TextBox 16"/>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copy is still the same source.</a:t>
            </a:r>
          </a:p>
        </p:txBody>
      </p:sp>
      <p:sp>
        <p:nvSpPr>
          <p:cNvPr id="18" name="TextBox 17"/>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conclusion keeps its</a:t>
            </a:r>
          </a:p>
        </p:txBody>
      </p:sp>
      <p:sp>
        <p:nvSpPr>
          <p:cNvPr id="19" name="TextBox 18"/>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parents; it does not become a</a:t>
            </a:r>
          </a:p>
        </p:txBody>
      </p:sp>
      <p:sp>
        <p:nvSpPr>
          <p:cNvPr id="20" name="TextBox 19"/>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fresh observation.</a:t>
            </a:r>
          </a:p>
        </p:txBody>
      </p:sp>
      <p:sp>
        <p:nvSpPr>
          <p:cNvPr id="21" name="Rounded Rectangle 20"/>
          <p:cNvSpPr/>
          <p:nvPr/>
        </p:nvSpPr>
        <p:spPr>
          <a:xfrm>
            <a:off x="810768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PLN · CALCULATOR</a:t>
            </a:r>
          </a:p>
        </p:txBody>
      </p:sp>
      <p:sp>
        <p:nvSpPr>
          <p:cNvPr id="23" name="TextBox 22"/>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Apply a guarded</a:t>
            </a:r>
          </a:p>
        </p:txBody>
      </p:sp>
      <p:sp>
        <p:nvSpPr>
          <p:cNvPr id="24" name="TextBox 23"/>
          <p:cNvSpPr txBox="1"/>
          <p:nvPr/>
        </p:nvSpPr>
        <p:spPr>
          <a:xfrm>
            <a:off x="827532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formula</a:t>
            </a:r>
          </a:p>
        </p:txBody>
      </p:sp>
      <p:sp>
        <p:nvSpPr>
          <p:cNvPr id="25" name="TextBox 24"/>
          <p:cNvSpPr txBox="1"/>
          <p:nvPr/>
        </p:nvSpPr>
        <p:spPr>
          <a:xfrm>
            <a:off x="827532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Use the existing pinned</a:t>
            </a:r>
          </a:p>
        </p:txBody>
      </p:sp>
      <p:sp>
        <p:nvSpPr>
          <p:cNvPr id="26" name="TextBox 25"/>
          <p:cNvSpPr txBox="1"/>
          <p:nvPr/>
        </p:nvSpPr>
        <p:spPr>
          <a:xfrm>
            <a:off x="827532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mathematics on exact inputs.</a:t>
            </a:r>
          </a:p>
        </p:txBody>
      </p:sp>
      <p:sp>
        <p:nvSpPr>
          <p:cNvPr id="27" name="TextBox 26"/>
          <p:cNvSpPr txBox="1"/>
          <p:nvPr/>
        </p:nvSpPr>
        <p:spPr>
          <a:xfrm>
            <a:off x="827532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C2 checks and saves the</a:t>
            </a:r>
          </a:p>
        </p:txBody>
      </p:sp>
      <p:sp>
        <p:nvSpPr>
          <p:cNvPr id="28" name="TextBox 27"/>
          <p:cNvSpPr txBox="1"/>
          <p:nvPr/>
        </p:nvSpPr>
        <p:spPr>
          <a:xfrm>
            <a:off x="827532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result; the calculator owns no</a:t>
            </a:r>
          </a:p>
        </p:txBody>
      </p:sp>
      <p:sp>
        <p:nvSpPr>
          <p:cNvPr id="29" name="TextBox 28"/>
          <p:cNvSpPr txBox="1"/>
          <p:nvPr/>
        </p:nvSpPr>
        <p:spPr>
          <a:xfrm>
            <a:off x="827532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beliefs.</a:t>
            </a:r>
          </a:p>
        </p:txBody>
      </p:sp>
      <p:sp>
        <p:nvSpPr>
          <p:cNvPr id="30" name="Rounded Rectangle 29"/>
          <p:cNvSpPr/>
          <p:nvPr/>
        </p:nvSpPr>
        <p:spPr>
          <a:xfrm>
            <a:off x="548640" y="4953000"/>
            <a:ext cx="11094720" cy="754380"/>
          </a:xfrm>
          <a:prstGeom prst="roundRect">
            <a:avLst>
              <a:gd name="adj" fmla="val 13131"/>
            </a:avLst>
          </a:prstGeom>
          <a:solidFill>
            <a:srgbClr val="E4EBF5"/>
          </a:solidFill>
          <a:ln w="7620">
            <a:solidFill>
              <a:srgbClr val="315E9C"/>
            </a:solidFill>
          </a:ln>
          <a:effectLst/>
        </p:spPr>
        <p:txBody>
          <a:bodyPr rtlCol="0" anchor="ctr"/>
          <a:lstStyle/>
          <a:p>
            <a:pPr algn="ctr"/>
          </a:p>
        </p:txBody>
      </p:sp>
      <p:sp>
        <p:nvSpPr>
          <p:cNvPr id="31" name="TextBox 30"/>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What this gives us</a:t>
            </a:r>
          </a:p>
        </p:txBody>
      </p:sp>
      <p:sp>
        <p:nvSpPr>
          <p:cNvPr id="32" name="TextBox 31"/>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An inspectable trail from original observations to admitted conclusions.</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A repeated message, a new conclusion and an independent observation mean different things.</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M2 preserved · M3 derived admission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2 OF 3</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ELI16: a priority list and a limited attempt budget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There are two prepared questions, but time for only one calculation. Which should run first?</a:t>
            </a:r>
          </a:p>
        </p:txBody>
      </p:sp>
      <p:sp>
        <p:nvSpPr>
          <p:cNvPr id="5" name="Rounded Rectangle 4"/>
          <p:cNvSpPr/>
          <p:nvPr/>
        </p:nvSpPr>
        <p:spPr>
          <a:xfrm>
            <a:off x="548640" y="1935480"/>
            <a:ext cx="3535679" cy="2072639"/>
          </a:xfrm>
          <a:prstGeom prst="roundRect">
            <a:avLst>
              <a:gd name="adj" fmla="val 4779"/>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C3 · Priority list</a:t>
            </a:r>
          </a:p>
        </p:txBody>
      </p:sp>
      <p:sp>
        <p:nvSpPr>
          <p:cNvPr id="7" name="TextBox 6"/>
          <p:cNvSpPr txBox="1"/>
          <p:nvPr/>
        </p:nvSpPr>
        <p:spPr>
          <a:xfrm>
            <a:off x="716280" y="251094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Give each eligible task an</a:t>
            </a:r>
          </a:p>
        </p:txBody>
      </p:sp>
      <p:sp>
        <p:nvSpPr>
          <p:cNvPr id="8" name="TextBox 7"/>
          <p:cNvSpPr txBox="1"/>
          <p:nvPr/>
        </p:nvSpPr>
        <p:spPr>
          <a:xfrm>
            <a:off x="716280" y="279379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integer score. Rank it, decay</a:t>
            </a:r>
          </a:p>
        </p:txBody>
      </p:sp>
      <p:sp>
        <p:nvSpPr>
          <p:cNvPr id="9" name="TextBox 8"/>
          <p:cNvSpPr txBox="1"/>
          <p:nvPr/>
        </p:nvSpPr>
        <p:spPr>
          <a:xfrm>
            <a:off x="716280" y="307665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it explicitly, and remember</a:t>
            </a:r>
          </a:p>
        </p:txBody>
      </p:sp>
      <p:sp>
        <p:nvSpPr>
          <p:cNvPr id="10" name="TextBox 9"/>
          <p:cNvSpPr txBox="1"/>
          <p:nvPr/>
        </p:nvSpPr>
        <p:spPr>
          <a:xfrm>
            <a:off x="716280" y="335950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feedback once.</a:t>
            </a:r>
          </a:p>
        </p:txBody>
      </p:sp>
      <p:sp>
        <p:nvSpPr>
          <p:cNvPr id="11" name="Rounded Rectangle 10"/>
          <p:cNvSpPr/>
          <p:nvPr/>
        </p:nvSpPr>
        <p:spPr>
          <a:xfrm>
            <a:off x="4328160" y="1935480"/>
            <a:ext cx="3535679" cy="2072639"/>
          </a:xfrm>
          <a:prstGeom prst="roundRect">
            <a:avLst>
              <a:gd name="adj" fmla="val 4779"/>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449580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C4 · Work</a:t>
            </a:r>
          </a:p>
        </p:txBody>
      </p:sp>
      <p:sp>
        <p:nvSpPr>
          <p:cNvPr id="13" name="TextBox 12"/>
          <p:cNvSpPr txBox="1"/>
          <p:nvPr/>
        </p:nvSpPr>
        <p:spPr>
          <a:xfrm>
            <a:off x="4495800" y="2434742"/>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coordinator</a:t>
            </a:r>
          </a:p>
        </p:txBody>
      </p:sp>
      <p:sp>
        <p:nvSpPr>
          <p:cNvPr id="14" name="TextBox 13"/>
          <p:cNvSpPr txBox="1"/>
          <p:nvPr/>
        </p:nvSpPr>
        <p:spPr>
          <a:xfrm>
            <a:off x="4495800" y="2842564"/>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Choose from that list. Save</a:t>
            </a:r>
          </a:p>
        </p:txBody>
      </p:sp>
      <p:sp>
        <p:nvSpPr>
          <p:cNvPr id="15" name="TextBox 14"/>
          <p:cNvSpPr txBox="1"/>
          <p:nvPr/>
        </p:nvSpPr>
        <p:spPr>
          <a:xfrm>
            <a:off x="4495800" y="311566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the attempt reservation</a:t>
            </a:r>
          </a:p>
        </p:txBody>
      </p:sp>
      <p:sp>
        <p:nvSpPr>
          <p:cNvPr id="16" name="TextBox 15"/>
          <p:cNvSpPr txBox="1"/>
          <p:nvPr/>
        </p:nvSpPr>
        <p:spPr>
          <a:xfrm>
            <a:off x="4495800" y="338876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before calculation, then track</a:t>
            </a:r>
          </a:p>
        </p:txBody>
      </p:sp>
      <p:sp>
        <p:nvSpPr>
          <p:cNvPr id="17" name="TextBox 16"/>
          <p:cNvSpPr txBox="1"/>
          <p:nvPr/>
        </p:nvSpPr>
        <p:spPr>
          <a:xfrm>
            <a:off x="4495800" y="366186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admission and feedback.</a:t>
            </a:r>
          </a:p>
        </p:txBody>
      </p:sp>
      <p:sp>
        <p:nvSpPr>
          <p:cNvPr id="18" name="Rounded Rectangle 17"/>
          <p:cNvSpPr/>
          <p:nvPr/>
        </p:nvSpPr>
        <p:spPr>
          <a:xfrm>
            <a:off x="8107680" y="1935480"/>
            <a:ext cx="3535679" cy="2072639"/>
          </a:xfrm>
          <a:prstGeom prst="roundRect">
            <a:avLst>
              <a:gd name="adj" fmla="val 4779"/>
            </a:avLst>
          </a:prstGeom>
          <a:solidFill>
            <a:srgbClr val="F3E7CE"/>
          </a:solidFill>
          <a:ln w="7620">
            <a:solidFill>
              <a:srgbClr val="A86A15"/>
            </a:solidFill>
          </a:ln>
          <a:effectLst/>
        </p:spPr>
        <p:txBody>
          <a:bodyPr rtlCol="0" anchor="ctr"/>
          <a:lstStyle/>
          <a:p>
            <a:pPr algn="ctr"/>
          </a:p>
        </p:txBody>
      </p:sp>
      <p:sp>
        <p:nvSpPr>
          <p:cNvPr id="19" name="TextBox 18"/>
          <p:cNvSpPr txBox="1"/>
          <p:nvPr/>
        </p:nvSpPr>
        <p:spPr>
          <a:xfrm>
            <a:off x="827532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Restart · Same</a:t>
            </a:r>
          </a:p>
        </p:txBody>
      </p:sp>
      <p:sp>
        <p:nvSpPr>
          <p:cNvPr id="20" name="TextBox 19"/>
          <p:cNvSpPr txBox="1"/>
          <p:nvPr/>
        </p:nvSpPr>
        <p:spPr>
          <a:xfrm>
            <a:off x="8275320" y="2434742"/>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budget</a:t>
            </a:r>
          </a:p>
        </p:txBody>
      </p:sp>
      <p:sp>
        <p:nvSpPr>
          <p:cNvPr id="21" name="TextBox 20"/>
          <p:cNvSpPr txBox="1"/>
          <p:nvPr/>
        </p:nvSpPr>
        <p:spPr>
          <a:xfrm>
            <a:off x="8275320" y="2842564"/>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Reopening the notebook</a:t>
            </a:r>
          </a:p>
        </p:txBody>
      </p:sp>
      <p:sp>
        <p:nvSpPr>
          <p:cNvPr id="22" name="TextBox 21"/>
          <p:cNvSpPr txBox="1"/>
          <p:nvPr/>
        </p:nvSpPr>
        <p:spPr>
          <a:xfrm>
            <a:off x="8275320" y="311566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does not refill the budget.</a:t>
            </a:r>
          </a:p>
        </p:txBody>
      </p:sp>
      <p:sp>
        <p:nvSpPr>
          <p:cNvPr id="23" name="TextBox 22"/>
          <p:cNvSpPr txBox="1"/>
          <p:nvPr/>
        </p:nvSpPr>
        <p:spPr>
          <a:xfrm>
            <a:off x="8275320" y="338876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Recover a saved decision; do</a:t>
            </a:r>
          </a:p>
        </p:txBody>
      </p:sp>
      <p:sp>
        <p:nvSpPr>
          <p:cNvPr id="24" name="TextBox 23"/>
          <p:cNvSpPr txBox="1"/>
          <p:nvPr/>
        </p:nvSpPr>
        <p:spPr>
          <a:xfrm>
            <a:off x="8275320" y="366186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not credit it twice.</a:t>
            </a:r>
          </a:p>
        </p:txBody>
      </p:sp>
      <p:cxnSp>
        <p:nvCxnSpPr>
          <p:cNvPr id="25" name="Connector 24"/>
          <p:cNvCxnSpPr/>
          <p:nvPr/>
        </p:nvCxnSpPr>
        <p:spPr>
          <a:xfrm>
            <a:off x="4084319" y="2971800"/>
            <a:ext cx="243841" cy="0"/>
          </a:xfrm>
          <a:prstGeom prst="line">
            <a:avLst/>
          </a:prstGeom>
          <a:ln w="15240">
            <a:solidFill>
              <a:srgbClr val="315E9C"/>
            </a:solidFill>
          </a:ln>
          <a:effectLst/>
        </p:spPr>
      </p:cxnSp>
      <p:sp>
        <p:nvSpPr>
          <p:cNvPr id="26" name="Freeform 25"/>
          <p:cNvSpPr/>
          <p:nvPr/>
        </p:nvSpPr>
        <p:spPr>
          <a:xfrm>
            <a:off x="4229100" y="29337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27" name="Connector 26"/>
          <p:cNvCxnSpPr/>
          <p:nvPr/>
        </p:nvCxnSpPr>
        <p:spPr>
          <a:xfrm>
            <a:off x="7863839" y="2971800"/>
            <a:ext cx="243841" cy="0"/>
          </a:xfrm>
          <a:prstGeom prst="line">
            <a:avLst/>
          </a:prstGeom>
          <a:ln w="15240">
            <a:solidFill>
              <a:srgbClr val="007C78"/>
            </a:solidFill>
          </a:ln>
          <a:effectLst/>
        </p:spPr>
      </p:cxnSp>
      <p:sp>
        <p:nvSpPr>
          <p:cNvPr id="28" name="Freeform 27"/>
          <p:cNvSpPr/>
          <p:nvPr/>
        </p:nvSpPr>
        <p:spPr>
          <a:xfrm>
            <a:off x="8008620" y="29337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9" name="Rounded Rectangle 28"/>
          <p:cNvSpPr/>
          <p:nvPr/>
        </p:nvSpPr>
        <p:spPr>
          <a:xfrm>
            <a:off x="548640" y="4373880"/>
            <a:ext cx="5364480" cy="1211580"/>
          </a:xfrm>
          <a:prstGeom prst="roundRect">
            <a:avLst>
              <a:gd name="adj" fmla="val 8176"/>
            </a:avLst>
          </a:prstGeom>
          <a:solidFill>
            <a:srgbClr val="FFFFFF"/>
          </a:solidFill>
          <a:ln w="7620">
            <a:solidFill>
              <a:srgbClr val="007C78"/>
            </a:solidFill>
          </a:ln>
          <a:effectLst/>
        </p:spPr>
        <p:txBody>
          <a:bodyPr rtlCol="0" anchor="ctr"/>
          <a:lstStyle/>
          <a:p>
            <a:pPr algn="ctr"/>
          </a:p>
        </p:txBody>
      </p:sp>
      <p:sp>
        <p:nvSpPr>
          <p:cNvPr id="30" name="TextBox 29"/>
          <p:cNvSpPr txBox="1"/>
          <p:nvPr/>
        </p:nvSpPr>
        <p:spPr>
          <a:xfrm>
            <a:off x="716280" y="454152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Observed in real Hive</a:t>
            </a:r>
          </a:p>
        </p:txBody>
      </p:sp>
      <p:sp>
        <p:nvSpPr>
          <p:cNvPr id="31" name="TextBox 30"/>
          <p:cNvSpPr txBox="1"/>
          <p:nvPr/>
        </p:nvSpPr>
        <p:spPr>
          <a:xfrm>
            <a:off x="716280" y="4900574"/>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One native action, one admitted conclusion, one</a:t>
            </a:r>
          </a:p>
        </p:txBody>
      </p:sp>
      <p:sp>
        <p:nvSpPr>
          <p:cNvPr id="32" name="TextBox 31"/>
          <p:cNvSpPr txBox="1"/>
          <p:nvPr/>
        </p:nvSpPr>
        <p:spPr>
          <a:xfrm>
            <a:off x="716280" y="5154168"/>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feedback credit; restart and replay tested.</a:t>
            </a:r>
          </a:p>
        </p:txBody>
      </p:sp>
      <p:sp>
        <p:nvSpPr>
          <p:cNvPr id="33" name="Rounded Rectangle 32"/>
          <p:cNvSpPr/>
          <p:nvPr/>
        </p:nvSpPr>
        <p:spPr>
          <a:xfrm>
            <a:off x="6096000" y="4373880"/>
            <a:ext cx="5547360" cy="1211580"/>
          </a:xfrm>
          <a:prstGeom prst="roundRect">
            <a:avLst>
              <a:gd name="adj" fmla="val 8176"/>
            </a:avLst>
          </a:prstGeom>
          <a:solidFill>
            <a:srgbClr val="FFFFFF"/>
          </a:solidFill>
          <a:ln w="7620">
            <a:solidFill>
              <a:srgbClr val="A86A15"/>
            </a:solidFill>
          </a:ln>
          <a:effectLst/>
        </p:spPr>
        <p:txBody>
          <a:bodyPr rtlCol="0" anchor="ctr"/>
          <a:lstStyle/>
          <a:p>
            <a:pPr algn="ctr"/>
          </a:p>
        </p:txBody>
      </p:sp>
      <p:sp>
        <p:nvSpPr>
          <p:cNvPr id="34" name="TextBox 33"/>
          <p:cNvSpPr txBox="1"/>
          <p:nvPr/>
        </p:nvSpPr>
        <p:spPr>
          <a:xfrm>
            <a:off x="6263640" y="4541520"/>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The deliberate tradeoff</a:t>
            </a:r>
          </a:p>
        </p:txBody>
      </p:sp>
      <p:sp>
        <p:nvSpPr>
          <p:cNvPr id="35" name="TextBox 34"/>
          <p:cNvSpPr txBox="1"/>
          <p:nvPr/>
        </p:nvSpPr>
        <p:spPr>
          <a:xfrm>
            <a:off x="6263640" y="4900574"/>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 crash can spend the last attempt without</a:t>
            </a:r>
          </a:p>
        </p:txBody>
      </p:sp>
      <p:sp>
        <p:nvSpPr>
          <p:cNvPr id="36" name="TextBox 35"/>
          <p:cNvSpPr txBox="1"/>
          <p:nvPr/>
        </p:nvSpPr>
        <p:spPr>
          <a:xfrm>
            <a:off x="6263640" y="5154168"/>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producing a conclusion. The receipt says so.</a:t>
            </a:r>
          </a:p>
        </p:txBody>
      </p:sp>
      <p:sp>
        <p:nvSpPr>
          <p:cNvPr id="37" name="Rounded Rectangle 3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8" name="TextBox 37"/>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Priority is not truth. A bounded step finishing is not a promise that a conclusion was found.</a:t>
            </a:r>
          </a:p>
        </p:txBody>
      </p:sp>
      <p:cxnSp>
        <p:nvCxnSpPr>
          <p:cNvPr id="39" name="Connector 38"/>
          <p:cNvCxnSpPr/>
          <p:nvPr/>
        </p:nvCxnSpPr>
        <p:spPr>
          <a:xfrm>
            <a:off x="548640" y="6393180"/>
            <a:ext cx="11094720" cy="0"/>
          </a:xfrm>
          <a:prstGeom prst="line">
            <a:avLst/>
          </a:prstGeom>
          <a:ln w="7620">
            <a:solidFill>
              <a:srgbClr val="C9D2D4"/>
            </a:solidFill>
          </a:ln>
          <a:effectLst/>
        </p:spPr>
      </p:cxnSp>
      <p:sp>
        <p:nvSpPr>
          <p:cNvPr id="40" name="TextBox 3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C3 attention · C4 bounded inference</a:t>
            </a:r>
          </a:p>
        </p:txBody>
      </p:sp>
      <p:sp>
        <p:nvSpPr>
          <p:cNvPr id="41" name="TextBox 4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3 OF 3</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ELI16: finishing the job and settling its receipts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notebook entry, a calculation and a reward can finish at different times.</a:t>
            </a:r>
          </a:p>
        </p:txBody>
      </p:sp>
      <p:sp>
        <p:nvSpPr>
          <p:cNvPr id="5" name="Rounded Rectangle 4"/>
          <p:cNvSpPr/>
          <p:nvPr/>
        </p:nvSpPr>
        <p:spPr>
          <a:xfrm>
            <a:off x="548640" y="1920239"/>
            <a:ext cx="3535679" cy="2971800"/>
          </a:xfrm>
          <a:prstGeom prst="roundRect">
            <a:avLst>
              <a:gd name="adj" fmla="val 3333"/>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C1 + RELAY</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The report was</a:t>
            </a:r>
          </a:p>
        </p:txBody>
      </p:sp>
      <p:sp>
        <p:nvSpPr>
          <p:cNvPr id="8" name="TextBox 7"/>
          <p:cNvSpPr txBox="1"/>
          <p:nvPr/>
        </p:nvSpPr>
        <p:spPr>
          <a:xfrm>
            <a:off x="71628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processed</a:t>
            </a:r>
          </a:p>
        </p:txBody>
      </p:sp>
      <p:sp>
        <p:nvSpPr>
          <p:cNvPr id="9" name="TextBox 8"/>
          <p:cNvSpPr txBox="1"/>
          <p:nvPr/>
        </p:nvSpPr>
        <p:spPr>
          <a:xfrm>
            <a:off x="71628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notebook gets a delivery</a:t>
            </a:r>
          </a:p>
        </p:txBody>
      </p:sp>
      <p:sp>
        <p:nvSpPr>
          <p:cNvPr id="10" name="TextBox 9"/>
          <p:cNvSpPr txBox="1"/>
          <p:nvPr/>
        </p:nvSpPr>
        <p:spPr>
          <a:xfrm>
            <a:off x="71628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receipt even when a report</a:t>
            </a:r>
          </a:p>
        </p:txBody>
      </p:sp>
      <p:sp>
        <p:nvSpPr>
          <p:cNvPr id="11" name="TextBox 10"/>
          <p:cNvSpPr txBox="1"/>
          <p:nvPr/>
        </p:nvSpPr>
        <p:spPr>
          <a:xfrm>
            <a:off x="71628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cannot change a number.</a:t>
            </a:r>
          </a:p>
        </p:txBody>
      </p:sp>
      <p:sp>
        <p:nvSpPr>
          <p:cNvPr id="12" name="TextBox 11"/>
          <p:cNvSpPr txBox="1"/>
          <p:nvPr/>
        </p:nvSpPr>
        <p:spPr>
          <a:xfrm>
            <a:off x="71628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Contrary evidence stays in the</a:t>
            </a:r>
          </a:p>
        </p:txBody>
      </p:sp>
      <p:sp>
        <p:nvSpPr>
          <p:cNvPr id="13" name="TextBox 12"/>
          <p:cNvSpPr txBox="1"/>
          <p:nvPr/>
        </p:nvSpPr>
        <p:spPr>
          <a:xfrm>
            <a:off x="71628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story.</a:t>
            </a:r>
          </a:p>
        </p:txBody>
      </p:sp>
      <p:sp>
        <p:nvSpPr>
          <p:cNvPr id="14" name="Rounded Rectangle 13"/>
          <p:cNvSpPr/>
          <p:nvPr/>
        </p:nvSpPr>
        <p:spPr>
          <a:xfrm>
            <a:off x="4328160" y="1920239"/>
            <a:ext cx="3535679" cy="2971800"/>
          </a:xfrm>
          <a:prstGeom prst="roundRect">
            <a:avLst>
              <a:gd name="adj" fmla="val 3333"/>
            </a:avLst>
          </a:prstGeom>
          <a:solidFill>
            <a:srgbClr val="FFFFFF"/>
          </a:solidFill>
          <a:ln w="7620">
            <a:solidFill>
              <a:srgbClr val="315E9C"/>
            </a:solidFill>
          </a:ln>
          <a:effectLst/>
        </p:spPr>
        <p:txBody>
          <a:bodyPr rtlCol="0" anchor="ctr"/>
          <a:lstStyle/>
          <a:p>
            <a:pPr algn="ctr"/>
          </a:p>
        </p:txBody>
      </p:sp>
      <p:sp>
        <p:nvSpPr>
          <p:cNvPr id="15" name="TextBox 14"/>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C3 · ATTENTION</a:t>
            </a:r>
          </a:p>
        </p:txBody>
      </p:sp>
      <p:sp>
        <p:nvSpPr>
          <p:cNvPr id="16" name="TextBox 15"/>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The reward has one</a:t>
            </a:r>
          </a:p>
        </p:txBody>
      </p:sp>
      <p:sp>
        <p:nvSpPr>
          <p:cNvPr id="17" name="TextBox 16"/>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outcome</a:t>
            </a:r>
          </a:p>
        </p:txBody>
      </p:sp>
      <p:sp>
        <p:nvSpPr>
          <p:cNvPr id="18" name="TextBox 17"/>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Ask the priority-list owner:</a:t>
            </a:r>
          </a:p>
        </p:txBody>
      </p:sp>
      <p:sp>
        <p:nvSpPr>
          <p:cNvPr id="19" name="TextBox 18"/>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already credited, retired</a:t>
            </a:r>
          </a:p>
        </p:txBody>
      </p:sp>
      <p:sp>
        <p:nvSpPr>
          <p:cNvPr id="20" name="TextBox 19"/>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without credit, or still pending.</a:t>
            </a:r>
          </a:p>
        </p:txBody>
      </p:sp>
      <p:sp>
        <p:nvSpPr>
          <p:cNvPr id="21" name="TextBox 20"/>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lost reply never earns a</a:t>
            </a:r>
          </a:p>
        </p:txBody>
      </p:sp>
      <p:sp>
        <p:nvSpPr>
          <p:cNvPr id="22" name="TextBox 21"/>
          <p:cNvSpPr txBox="1"/>
          <p:nvPr/>
        </p:nvSpPr>
        <p:spPr>
          <a:xfrm>
            <a:off x="449580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second reward.</a:t>
            </a:r>
          </a:p>
        </p:txBody>
      </p:sp>
      <p:sp>
        <p:nvSpPr>
          <p:cNvPr id="23" name="Rounded Rectangle 22"/>
          <p:cNvSpPr/>
          <p:nvPr/>
        </p:nvSpPr>
        <p:spPr>
          <a:xfrm>
            <a:off x="8107680" y="1920239"/>
            <a:ext cx="3535679" cy="2971800"/>
          </a:xfrm>
          <a:prstGeom prst="roundRect">
            <a:avLst>
              <a:gd name="adj" fmla="val 3333"/>
            </a:avLst>
          </a:prstGeom>
          <a:solidFill>
            <a:srgbClr val="FFFFFF"/>
          </a:solidFill>
          <a:ln w="7620">
            <a:solidFill>
              <a:srgbClr val="A86A15"/>
            </a:solidFill>
          </a:ln>
          <a:effectLst/>
        </p:spPr>
        <p:txBody>
          <a:bodyPr rtlCol="0" anchor="ctr"/>
          <a:lstStyle/>
          <a:p>
            <a:pPr algn="ctr"/>
          </a:p>
        </p:txBody>
      </p:sp>
      <p:sp>
        <p:nvSpPr>
          <p:cNvPr id="24" name="TextBox 23"/>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A86A15"/>
                </a:solidFill>
                <a:latin typeface="DejaVu Sans"/>
              </a:rPr>
              <a:t>C4 + HIVE</a:t>
            </a:r>
          </a:p>
        </p:txBody>
      </p:sp>
      <p:sp>
        <p:nvSpPr>
          <p:cNvPr id="25" name="TextBox 24"/>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The receipt tells both</a:t>
            </a:r>
          </a:p>
        </p:txBody>
      </p:sp>
      <p:sp>
        <p:nvSpPr>
          <p:cNvPr id="26" name="TextBox 25"/>
          <p:cNvSpPr txBox="1"/>
          <p:nvPr/>
        </p:nvSpPr>
        <p:spPr>
          <a:xfrm>
            <a:off x="827532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stories</a:t>
            </a:r>
          </a:p>
        </p:txBody>
      </p:sp>
      <p:sp>
        <p:nvSpPr>
          <p:cNvPr id="27" name="TextBox 26"/>
          <p:cNvSpPr txBox="1"/>
          <p:nvPr/>
        </p:nvSpPr>
        <p:spPr>
          <a:xfrm>
            <a:off x="827532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Show the original work result</a:t>
            </a:r>
          </a:p>
        </p:txBody>
      </p:sp>
      <p:sp>
        <p:nvSpPr>
          <p:cNvPr id="28" name="TextBox 27"/>
          <p:cNvSpPr txBox="1"/>
          <p:nvPr/>
        </p:nvSpPr>
        <p:spPr>
          <a:xfrm>
            <a:off x="827532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the later cleanup progress</a:t>
            </a:r>
          </a:p>
        </p:txBody>
      </p:sp>
      <p:sp>
        <p:nvSpPr>
          <p:cNvPr id="29" name="TextBox 28"/>
          <p:cNvSpPr txBox="1"/>
          <p:nvPr/>
        </p:nvSpPr>
        <p:spPr>
          <a:xfrm>
            <a:off x="827532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separately. Cleanup does not</a:t>
            </a:r>
          </a:p>
        </p:txBody>
      </p:sp>
      <p:sp>
        <p:nvSpPr>
          <p:cNvPr id="30" name="TextBox 29"/>
          <p:cNvSpPr txBox="1"/>
          <p:nvPr/>
        </p:nvSpPr>
        <p:spPr>
          <a:xfrm>
            <a:off x="827532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buy another attempt.</a:t>
            </a:r>
          </a:p>
        </p:txBody>
      </p:sp>
      <p:sp>
        <p:nvSpPr>
          <p:cNvPr id="31" name="Rounded Rectangle 30"/>
          <p:cNvSpPr/>
          <p:nvPr/>
        </p:nvSpPr>
        <p:spPr>
          <a:xfrm>
            <a:off x="548640" y="4953000"/>
            <a:ext cx="11094720" cy="754380"/>
          </a:xfrm>
          <a:prstGeom prst="roundRect">
            <a:avLst>
              <a:gd name="adj" fmla="val 13131"/>
            </a:avLst>
          </a:prstGeom>
          <a:solidFill>
            <a:srgbClr val="DCEFE8"/>
          </a:solidFill>
          <a:ln w="7620">
            <a:solidFill>
              <a:srgbClr val="007C78"/>
            </a:solidFill>
          </a:ln>
          <a:effectLst/>
        </p:spPr>
        <p:txBody>
          <a:bodyPr rtlCol="0" anchor="ctr"/>
          <a:lstStyle/>
          <a:p>
            <a:pPr algn="ctr"/>
          </a:p>
        </p:txBody>
      </p:sp>
      <p:sp>
        <p:nvSpPr>
          <p:cNvPr id="32" name="TextBox 31"/>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Observed</a:t>
            </a:r>
          </a:p>
        </p:txBody>
      </p:sp>
      <p:sp>
        <p:nvSpPr>
          <p:cNvPr id="33" name="TextBox 32"/>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33 observations drained; 20 new process-kill cases; no new formula calls during reconciliation.</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M3.1 settles recorded effects. It does not extend the deadline, change the past or start new thinking.</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M3.1 delivery closure · owner receipts</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HELICOPTER VIEW</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Fifteen modules; four responsibility groups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module owns a responsibility. It need not be a separate process or repository.</a:t>
            </a:r>
          </a:p>
        </p:txBody>
      </p:sp>
      <p:sp>
        <p:nvSpPr>
          <p:cNvPr id="5" name="Rounded Rectangle 4"/>
          <p:cNvSpPr/>
          <p:nvPr/>
        </p:nvSpPr>
        <p:spPr>
          <a:xfrm>
            <a:off x="548640" y="1752600"/>
            <a:ext cx="2438400" cy="3771900"/>
          </a:xfrm>
          <a:prstGeom prst="roundRect">
            <a:avLst>
              <a:gd name="adj" fmla="val 4375"/>
            </a:avLst>
          </a:prstGeom>
          <a:solidFill>
            <a:srgbClr val="EBE5F3"/>
          </a:solidFill>
          <a:ln>
            <a:noFill/>
          </a:ln>
          <a:effectLst/>
        </p:spPr>
        <p:txBody>
          <a:bodyPr rtlCol="0" anchor="ctr"/>
          <a:lstStyle/>
          <a:p>
            <a:pPr algn="ctr"/>
          </a:p>
        </p:txBody>
      </p:sp>
      <p:sp>
        <p:nvSpPr>
          <p:cNvPr id="6" name="TextBox 5"/>
          <p:cNvSpPr txBox="1"/>
          <p:nvPr/>
        </p:nvSpPr>
        <p:spPr>
          <a:xfrm>
            <a:off x="685800" y="1912620"/>
            <a:ext cx="21640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CLIENT / COGNITION</a:t>
            </a:r>
          </a:p>
        </p:txBody>
      </p:sp>
      <p:sp>
        <p:nvSpPr>
          <p:cNvPr id="7" name="Rounded Rectangle 6"/>
          <p:cNvSpPr/>
          <p:nvPr/>
        </p:nvSpPr>
        <p:spPr>
          <a:xfrm>
            <a:off x="3200400" y="1752600"/>
            <a:ext cx="3048000" cy="3771900"/>
          </a:xfrm>
          <a:prstGeom prst="roundRect">
            <a:avLst>
              <a:gd name="adj" fmla="val 3500"/>
            </a:avLst>
          </a:prstGeom>
          <a:solidFill>
            <a:srgbClr val="E4EBF5"/>
          </a:solidFill>
          <a:ln>
            <a:noFill/>
          </a:ln>
          <a:effectLst/>
        </p:spPr>
        <p:txBody>
          <a:bodyPr rtlCol="0" anchor="ctr"/>
          <a:lstStyle/>
          <a:p>
            <a:pPr algn="ctr"/>
          </a:p>
        </p:txBody>
      </p:sp>
      <p:sp>
        <p:nvSpPr>
          <p:cNvPr id="8" name="TextBox 7"/>
          <p:cNvSpPr txBox="1"/>
          <p:nvPr/>
        </p:nvSpPr>
        <p:spPr>
          <a:xfrm>
            <a:off x="3337560" y="1912620"/>
            <a:ext cx="27736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APPLICATION PORTS</a:t>
            </a:r>
          </a:p>
        </p:txBody>
      </p:sp>
      <p:sp>
        <p:nvSpPr>
          <p:cNvPr id="9" name="Rounded Rectangle 8"/>
          <p:cNvSpPr/>
          <p:nvPr/>
        </p:nvSpPr>
        <p:spPr>
          <a:xfrm>
            <a:off x="6461759" y="1752600"/>
            <a:ext cx="2453640" cy="3771900"/>
          </a:xfrm>
          <a:prstGeom prst="roundRect">
            <a:avLst>
              <a:gd name="adj" fmla="val 4347"/>
            </a:avLst>
          </a:prstGeom>
          <a:solidFill>
            <a:srgbClr val="E7ECEB"/>
          </a:solidFill>
          <a:ln>
            <a:noFill/>
          </a:ln>
          <a:effectLst/>
        </p:spPr>
        <p:txBody>
          <a:bodyPr rtlCol="0" anchor="ctr"/>
          <a:lstStyle/>
          <a:p>
            <a:pPr algn="ctr"/>
          </a:p>
        </p:txBody>
      </p:sp>
      <p:sp>
        <p:nvSpPr>
          <p:cNvPr id="10" name="TextBox 9"/>
          <p:cNvSpPr txBox="1"/>
          <p:nvPr/>
        </p:nvSpPr>
        <p:spPr>
          <a:xfrm>
            <a:off x="6598920" y="1912620"/>
            <a:ext cx="217932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CONTROL &amp; POLICY</a:t>
            </a:r>
          </a:p>
        </p:txBody>
      </p:sp>
      <p:sp>
        <p:nvSpPr>
          <p:cNvPr id="11" name="Rounded Rectangle 10"/>
          <p:cNvSpPr/>
          <p:nvPr/>
        </p:nvSpPr>
        <p:spPr>
          <a:xfrm>
            <a:off x="9128760" y="1752600"/>
            <a:ext cx="2514600" cy="3771900"/>
          </a:xfrm>
          <a:prstGeom prst="roundRect">
            <a:avLst>
              <a:gd name="adj" fmla="val 4242"/>
            </a:avLst>
          </a:prstGeom>
          <a:solidFill>
            <a:srgbClr val="DCEFE8"/>
          </a:solidFill>
          <a:ln>
            <a:noFill/>
          </a:ln>
          <a:effectLst/>
        </p:spPr>
        <p:txBody>
          <a:bodyPr rtlCol="0" anchor="ctr"/>
          <a:lstStyle/>
          <a:p>
            <a:pPr algn="ctr"/>
          </a:p>
        </p:txBody>
      </p:sp>
      <p:sp>
        <p:nvSpPr>
          <p:cNvPr id="12" name="TextBox 11"/>
          <p:cNvSpPr txBox="1"/>
          <p:nvPr/>
        </p:nvSpPr>
        <p:spPr>
          <a:xfrm>
            <a:off x="9265920" y="1912620"/>
            <a:ext cx="22402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PROVIDER ADAPTERS</a:t>
            </a:r>
          </a:p>
        </p:txBody>
      </p:sp>
      <p:sp>
        <p:nvSpPr>
          <p:cNvPr id="13" name="Rounded Rectangle 12"/>
          <p:cNvSpPr/>
          <p:nvPr/>
        </p:nvSpPr>
        <p:spPr>
          <a:xfrm>
            <a:off x="685800" y="228600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53440" y="245364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Episodic memory</a:t>
            </a:r>
          </a:p>
        </p:txBody>
      </p:sp>
      <p:sp>
        <p:nvSpPr>
          <p:cNvPr id="15" name="Rounded Rectangle 14"/>
          <p:cNvSpPr/>
          <p:nvPr/>
        </p:nvSpPr>
        <p:spPr>
          <a:xfrm>
            <a:off x="685800" y="288036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6" name="TextBox 15"/>
          <p:cNvSpPr txBox="1"/>
          <p:nvPr/>
        </p:nvSpPr>
        <p:spPr>
          <a:xfrm>
            <a:off x="853440" y="304800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Belief revision</a:t>
            </a:r>
          </a:p>
        </p:txBody>
      </p:sp>
      <p:sp>
        <p:nvSpPr>
          <p:cNvPr id="17" name="Rounded Rectangle 16"/>
          <p:cNvSpPr/>
          <p:nvPr/>
        </p:nvSpPr>
        <p:spPr>
          <a:xfrm>
            <a:off x="685800" y="3474719"/>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8" name="TextBox 17"/>
          <p:cNvSpPr txBox="1"/>
          <p:nvPr/>
        </p:nvSpPr>
        <p:spPr>
          <a:xfrm>
            <a:off x="853440" y="364236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PLN · one rule</a:t>
            </a:r>
          </a:p>
        </p:txBody>
      </p:sp>
      <p:sp>
        <p:nvSpPr>
          <p:cNvPr id="19" name="Rounded Rectangle 18"/>
          <p:cNvSpPr/>
          <p:nvPr/>
        </p:nvSpPr>
        <p:spPr>
          <a:xfrm>
            <a:off x="685800" y="4069079"/>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0" name="TextBox 19"/>
          <p:cNvSpPr txBox="1"/>
          <p:nvPr/>
        </p:nvSpPr>
        <p:spPr>
          <a:xfrm>
            <a:off x="853440" y="423672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STI attention</a:t>
            </a:r>
          </a:p>
        </p:txBody>
      </p:sp>
      <p:sp>
        <p:nvSpPr>
          <p:cNvPr id="21" name="Rounded Rectangle 20"/>
          <p:cNvSpPr/>
          <p:nvPr/>
        </p:nvSpPr>
        <p:spPr>
          <a:xfrm>
            <a:off x="685800" y="466344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2" name="TextBox 21"/>
          <p:cNvSpPr txBox="1"/>
          <p:nvPr/>
        </p:nvSpPr>
        <p:spPr>
          <a:xfrm>
            <a:off x="853440" y="483108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Inference control</a:t>
            </a:r>
          </a:p>
        </p:txBody>
      </p:sp>
      <p:sp>
        <p:nvSpPr>
          <p:cNvPr id="23" name="Rounded Rectangle 22"/>
          <p:cNvSpPr/>
          <p:nvPr/>
        </p:nvSpPr>
        <p:spPr>
          <a:xfrm>
            <a:off x="3337560" y="228600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3505200" y="245364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AtomStorage</a:t>
            </a:r>
          </a:p>
        </p:txBody>
      </p:sp>
      <p:sp>
        <p:nvSpPr>
          <p:cNvPr id="25" name="Rounded Rectangle 24"/>
          <p:cNvSpPr/>
          <p:nvPr/>
        </p:nvSpPr>
        <p:spPr>
          <a:xfrm>
            <a:off x="3337560" y="2880360"/>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6" name="TextBox 25"/>
          <p:cNvSpPr txBox="1"/>
          <p:nvPr/>
        </p:nvSpPr>
        <p:spPr>
          <a:xfrm>
            <a:off x="3505200" y="304800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Relations · future</a:t>
            </a:r>
          </a:p>
        </p:txBody>
      </p:sp>
      <p:sp>
        <p:nvSpPr>
          <p:cNvPr id="27" name="Rounded Rectangle 26"/>
          <p:cNvSpPr/>
          <p:nvPr/>
        </p:nvSpPr>
        <p:spPr>
          <a:xfrm>
            <a:off x="3337560" y="3474719"/>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8" name="TextBox 27"/>
          <p:cNvSpPr txBox="1"/>
          <p:nvPr/>
        </p:nvSpPr>
        <p:spPr>
          <a:xfrm>
            <a:off x="3505200" y="3642360"/>
            <a:ext cx="2438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7458A2"/>
                </a:solidFill>
                <a:latin typeface="DejaVu Sans"/>
              </a:rPr>
              <a:t>Search projection · future</a:t>
            </a:r>
          </a:p>
        </p:txBody>
      </p:sp>
      <p:sp>
        <p:nvSpPr>
          <p:cNvPr id="29" name="Rounded Rectangle 28"/>
          <p:cNvSpPr/>
          <p:nvPr/>
        </p:nvSpPr>
        <p:spPr>
          <a:xfrm>
            <a:off x="3337560" y="4069079"/>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3505200" y="423672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Agent messaging</a:t>
            </a:r>
          </a:p>
        </p:txBody>
      </p:sp>
      <p:sp>
        <p:nvSpPr>
          <p:cNvPr id="31" name="Rounded Rectangle 30"/>
          <p:cNvSpPr/>
          <p:nvPr/>
        </p:nvSpPr>
        <p:spPr>
          <a:xfrm>
            <a:off x="3337560" y="466344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2" name="TextBox 31"/>
          <p:cNvSpPr txBox="1"/>
          <p:nvPr/>
        </p:nvSpPr>
        <p:spPr>
          <a:xfrm>
            <a:off x="3505200" y="483108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Delegated execution</a:t>
            </a:r>
          </a:p>
        </p:txBody>
      </p:sp>
      <p:sp>
        <p:nvSpPr>
          <p:cNvPr id="33" name="Rounded Rectangle 32"/>
          <p:cNvSpPr/>
          <p:nvPr/>
        </p:nvSpPr>
        <p:spPr>
          <a:xfrm>
            <a:off x="6598920" y="228600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4" name="TextBox 33"/>
          <p:cNvSpPr txBox="1"/>
          <p:nvPr/>
        </p:nvSpPr>
        <p:spPr>
          <a:xfrm>
            <a:off x="6766559" y="245364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Registry</a:t>
            </a:r>
          </a:p>
        </p:txBody>
      </p:sp>
      <p:sp>
        <p:nvSpPr>
          <p:cNvPr id="35" name="Rounded Rectangle 34"/>
          <p:cNvSpPr/>
          <p:nvPr/>
        </p:nvSpPr>
        <p:spPr>
          <a:xfrm>
            <a:off x="6598920" y="310896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6" name="TextBox 35"/>
          <p:cNvSpPr txBox="1"/>
          <p:nvPr/>
        </p:nvSpPr>
        <p:spPr>
          <a:xfrm>
            <a:off x="6766559" y="327660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Compatibility</a:t>
            </a:r>
          </a:p>
        </p:txBody>
      </p:sp>
      <p:sp>
        <p:nvSpPr>
          <p:cNvPr id="37" name="TextBox 36"/>
          <p:cNvSpPr txBox="1"/>
          <p:nvPr/>
        </p:nvSpPr>
        <p:spPr>
          <a:xfrm>
            <a:off x="6766559" y="3491179"/>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resolver</a:t>
            </a:r>
          </a:p>
        </p:txBody>
      </p:sp>
      <p:sp>
        <p:nvSpPr>
          <p:cNvPr id="38" name="Rounded Rectangle 37"/>
          <p:cNvSpPr/>
          <p:nvPr/>
        </p:nvSpPr>
        <p:spPr>
          <a:xfrm>
            <a:off x="6598920" y="3931919"/>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9" name="TextBox 38"/>
          <p:cNvSpPr txBox="1"/>
          <p:nvPr/>
        </p:nvSpPr>
        <p:spPr>
          <a:xfrm>
            <a:off x="6766559" y="409956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Authorization</a:t>
            </a:r>
          </a:p>
        </p:txBody>
      </p:sp>
      <p:sp>
        <p:nvSpPr>
          <p:cNvPr id="40" name="Rounded Rectangle 39"/>
          <p:cNvSpPr/>
          <p:nvPr/>
        </p:nvSpPr>
        <p:spPr>
          <a:xfrm>
            <a:off x="9265920" y="2286000"/>
            <a:ext cx="2240280" cy="1097280"/>
          </a:xfrm>
          <a:prstGeom prst="roundRect">
            <a:avLst>
              <a:gd name="adj" fmla="val 9027"/>
            </a:avLst>
          </a:prstGeom>
          <a:solidFill>
            <a:srgbClr val="FFFFFF"/>
          </a:solidFill>
          <a:ln w="7620">
            <a:solidFill>
              <a:srgbClr val="007C78"/>
            </a:solidFill>
          </a:ln>
          <a:effectLst/>
        </p:spPr>
        <p:txBody>
          <a:bodyPr rtlCol="0" anchor="ctr"/>
          <a:lstStyle/>
          <a:p>
            <a:pPr algn="ctr"/>
          </a:p>
        </p:txBody>
      </p:sp>
      <p:sp>
        <p:nvSpPr>
          <p:cNvPr id="41" name="TextBox 40"/>
          <p:cNvSpPr txBox="1"/>
          <p:nvPr/>
        </p:nvSpPr>
        <p:spPr>
          <a:xfrm>
            <a:off x="9433560" y="2453640"/>
            <a:ext cx="19050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DA storage</a:t>
            </a:r>
          </a:p>
        </p:txBody>
      </p:sp>
      <p:sp>
        <p:nvSpPr>
          <p:cNvPr id="42" name="TextBox 41"/>
          <p:cNvSpPr txBox="1"/>
          <p:nvPr/>
        </p:nvSpPr>
        <p:spPr>
          <a:xfrm>
            <a:off x="9433560" y="2793187"/>
            <a:ext cx="19050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Real local DeTTa</a:t>
            </a:r>
          </a:p>
        </p:txBody>
      </p:sp>
      <p:sp>
        <p:nvSpPr>
          <p:cNvPr id="43" name="Rounded Rectangle 42"/>
          <p:cNvSpPr/>
          <p:nvPr/>
        </p:nvSpPr>
        <p:spPr>
          <a:xfrm>
            <a:off x="9265920" y="3695700"/>
            <a:ext cx="2240280" cy="1280160"/>
          </a:xfrm>
          <a:prstGeom prst="roundRect">
            <a:avLst>
              <a:gd name="adj" fmla="val 7738"/>
            </a:avLst>
          </a:prstGeom>
          <a:solidFill>
            <a:srgbClr val="FFFFFF"/>
          </a:solidFill>
          <a:ln w="7620">
            <a:solidFill>
              <a:srgbClr val="A86A15"/>
            </a:solidFill>
          </a:ln>
          <a:effectLst/>
        </p:spPr>
        <p:txBody>
          <a:bodyPr rtlCol="0" anchor="ctr"/>
          <a:lstStyle/>
          <a:p>
            <a:pPr algn="ctr"/>
          </a:p>
        </p:txBody>
      </p:sp>
      <p:sp>
        <p:nvSpPr>
          <p:cNvPr id="44" name="TextBox 43"/>
          <p:cNvSpPr txBox="1"/>
          <p:nvPr/>
        </p:nvSpPr>
        <p:spPr>
          <a:xfrm>
            <a:off x="9433560" y="3863340"/>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A86A15"/>
                </a:solidFill>
                <a:latin typeface="DejaVu Sans"/>
              </a:rPr>
              <a:t>Consensus /</a:t>
            </a:r>
          </a:p>
        </p:txBody>
      </p:sp>
      <p:sp>
        <p:nvSpPr>
          <p:cNvPr id="45" name="TextBox 44"/>
          <p:cNvSpPr txBox="1"/>
          <p:nvPr/>
        </p:nvSpPr>
        <p:spPr>
          <a:xfrm>
            <a:off x="9433560" y="4116933"/>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A86A15"/>
                </a:solidFill>
                <a:latin typeface="DejaVu Sans"/>
              </a:rPr>
              <a:t>finality</a:t>
            </a:r>
          </a:p>
        </p:txBody>
      </p:sp>
      <p:sp>
        <p:nvSpPr>
          <p:cNvPr id="46" name="TextBox 45"/>
          <p:cNvSpPr txBox="1"/>
          <p:nvPr/>
        </p:nvSpPr>
        <p:spPr>
          <a:xfrm>
            <a:off x="9433560" y="4446727"/>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M1 historical; chain</a:t>
            </a:r>
          </a:p>
        </p:txBody>
      </p:sp>
      <p:sp>
        <p:nvSpPr>
          <p:cNvPr id="47" name="TextBox 46"/>
          <p:cNvSpPr txBox="1"/>
          <p:nvPr/>
        </p:nvSpPr>
        <p:spPr>
          <a:xfrm>
            <a:off x="9433560" y="4661306"/>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NOT_RUN</a:t>
            </a:r>
          </a:p>
        </p:txBody>
      </p:sp>
      <p:sp>
        <p:nvSpPr>
          <p:cNvPr id="48" name="TextBox 47"/>
          <p:cNvSpPr txBox="1"/>
          <p:nvPr/>
        </p:nvSpPr>
        <p:spPr>
          <a:xfrm>
            <a:off x="6598920" y="4945380"/>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Local test policy</a:t>
            </a:r>
          </a:p>
        </p:txBody>
      </p:sp>
      <p:sp>
        <p:nvSpPr>
          <p:cNvPr id="49" name="TextBox 48"/>
          <p:cNvSpPr txBox="1"/>
          <p:nvPr/>
        </p:nvSpPr>
        <p:spPr>
          <a:xfrm>
            <a:off x="6598920" y="5140452"/>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and static descriptors</a:t>
            </a:r>
          </a:p>
        </p:txBody>
      </p:sp>
      <p:sp>
        <p:nvSpPr>
          <p:cNvPr id="50" name="Rounded Rectangle 49"/>
          <p:cNvSpPr/>
          <p:nvPr/>
        </p:nvSpPr>
        <p:spPr>
          <a:xfrm>
            <a:off x="548640" y="5791200"/>
            <a:ext cx="1765250" cy="274320"/>
          </a:xfrm>
          <a:prstGeom prst="roundRect">
            <a:avLst>
              <a:gd name="adj" fmla="val 19444"/>
            </a:avLst>
          </a:prstGeom>
          <a:solidFill>
            <a:srgbClr val="EBE5F3"/>
          </a:solidFill>
          <a:ln>
            <a:noFill/>
          </a:ln>
          <a:effectLst/>
        </p:spPr>
        <p:txBody>
          <a:bodyPr rtlCol="0" anchor="ctr"/>
          <a:lstStyle/>
          <a:p>
            <a:pPr algn="ctr"/>
          </a:p>
        </p:txBody>
      </p:sp>
      <p:sp>
        <p:nvSpPr>
          <p:cNvPr id="51" name="TextBox 50"/>
          <p:cNvSpPr txBox="1"/>
          <p:nvPr/>
        </p:nvSpPr>
        <p:spPr>
          <a:xfrm>
            <a:off x="655320" y="5844540"/>
            <a:ext cx="157475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7458A2"/>
                </a:solidFill>
                <a:latin typeface="DejaVu Sans"/>
              </a:rPr>
              <a:t>SPECIFIED / FUTURE</a:t>
            </a:r>
          </a:p>
        </p:txBody>
      </p:sp>
      <p:sp>
        <p:nvSpPr>
          <p:cNvPr id="52" name="Rounded Rectangle 51"/>
          <p:cNvSpPr/>
          <p:nvPr/>
        </p:nvSpPr>
        <p:spPr>
          <a:xfrm>
            <a:off x="2781300" y="5791200"/>
            <a:ext cx="1874549" cy="274320"/>
          </a:xfrm>
          <a:prstGeom prst="roundRect">
            <a:avLst>
              <a:gd name="adj" fmla="val 19444"/>
            </a:avLst>
          </a:prstGeom>
          <a:solidFill>
            <a:srgbClr val="E4EBF5"/>
          </a:solidFill>
          <a:ln>
            <a:noFill/>
          </a:ln>
          <a:effectLst/>
        </p:spPr>
        <p:txBody>
          <a:bodyPr rtlCol="0" anchor="ctr"/>
          <a:lstStyle/>
          <a:p>
            <a:pPr algn="ctr"/>
          </a:p>
        </p:txBody>
      </p:sp>
      <p:sp>
        <p:nvSpPr>
          <p:cNvPr id="53" name="TextBox 52"/>
          <p:cNvSpPr txBox="1"/>
          <p:nvPr/>
        </p:nvSpPr>
        <p:spPr>
          <a:xfrm>
            <a:off x="2887980" y="5844540"/>
            <a:ext cx="1684049"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315E9C"/>
                </a:solidFill>
                <a:latin typeface="DejaVu Sans"/>
              </a:rPr>
              <a:t>IMPLEMENTED LOCAL</a:t>
            </a:r>
          </a:p>
        </p:txBody>
      </p:sp>
      <p:sp>
        <p:nvSpPr>
          <p:cNvPr id="54" name="Rounded Rectangle 53"/>
          <p:cNvSpPr/>
          <p:nvPr/>
        </p:nvSpPr>
        <p:spPr>
          <a:xfrm>
            <a:off x="5234940" y="5791200"/>
            <a:ext cx="1447063" cy="274320"/>
          </a:xfrm>
          <a:prstGeom prst="roundRect">
            <a:avLst>
              <a:gd name="adj" fmla="val 19444"/>
            </a:avLst>
          </a:prstGeom>
          <a:solidFill>
            <a:srgbClr val="DCEFE8"/>
          </a:solidFill>
          <a:ln>
            <a:noFill/>
          </a:ln>
          <a:effectLst/>
        </p:spPr>
        <p:txBody>
          <a:bodyPr rtlCol="0" anchor="ctr"/>
          <a:lstStyle/>
          <a:p>
            <a:pPr algn="ctr"/>
          </a:p>
        </p:txBody>
      </p:sp>
      <p:sp>
        <p:nvSpPr>
          <p:cNvPr id="55" name="TextBox 54"/>
          <p:cNvSpPr txBox="1"/>
          <p:nvPr/>
        </p:nvSpPr>
        <p:spPr>
          <a:xfrm>
            <a:off x="5341620" y="5844540"/>
            <a:ext cx="1256563"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007C78"/>
                </a:solidFill>
                <a:latin typeface="DejaVu Sans"/>
              </a:rPr>
              <a:t>REAL PROVIDER</a:t>
            </a:r>
          </a:p>
        </p:txBody>
      </p:sp>
      <p:sp>
        <p:nvSpPr>
          <p:cNvPr id="56" name="TextBox 55"/>
          <p:cNvSpPr txBox="1"/>
          <p:nvPr/>
        </p:nvSpPr>
        <p:spPr>
          <a:xfrm>
            <a:off x="7520939" y="5836920"/>
            <a:ext cx="4114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One grounded rule; no ECAN or LTI</a:t>
            </a:r>
          </a:p>
        </p:txBody>
      </p:sp>
      <p:cxnSp>
        <p:nvCxnSpPr>
          <p:cNvPr id="57" name="Connector 56"/>
          <p:cNvCxnSpPr/>
          <p:nvPr/>
        </p:nvCxnSpPr>
        <p:spPr>
          <a:xfrm>
            <a:off x="548640" y="6393180"/>
            <a:ext cx="11094720" cy="0"/>
          </a:xfrm>
          <a:prstGeom prst="line">
            <a:avLst/>
          </a:prstGeom>
          <a:ln w="7620">
            <a:solidFill>
              <a:srgbClr val="C9D2D4"/>
            </a:solidFill>
          </a:ln>
          <a:effectLst/>
        </p:spPr>
      </p:cxnSp>
      <p:sp>
        <p:nvSpPr>
          <p:cNvPr id="58" name="TextBox 5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architecture.md</a:t>
            </a:r>
          </a:p>
        </p:txBody>
      </p:sp>
      <p:sp>
        <p:nvSpPr>
          <p:cNvPr id="59" name="TextBox 5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1 OF 3</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Data responsibilities: bytes → references → history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Persistence, identity, structure, discovery and provenance have different owners.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328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757159" y="1790700"/>
            <a:ext cx="3764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662940"/>
          </a:xfrm>
          <a:prstGeom prst="roundRect">
            <a:avLst>
              <a:gd name="adj" fmla="val 689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DA storage</a:t>
            </a:r>
          </a:p>
        </p:txBody>
      </p:sp>
      <p:sp>
        <p:nvSpPr>
          <p:cNvPr id="10" name="TextBox 9"/>
          <p:cNvSpPr txBox="1"/>
          <p:nvPr/>
        </p:nvSpPr>
        <p:spPr>
          <a:xfrm>
            <a:off x="3185160" y="224028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Persist opaque bytes</a:t>
            </a:r>
          </a:p>
        </p:txBody>
      </p:sp>
      <p:sp>
        <p:nvSpPr>
          <p:cNvPr id="11" name="TextBox 10"/>
          <p:cNvSpPr txBox="1"/>
          <p:nvPr/>
        </p:nvSpPr>
        <p:spPr>
          <a:xfrm>
            <a:off x="3185160" y="247436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put · get · availability</a:t>
            </a:r>
          </a:p>
        </p:txBody>
      </p:sp>
      <p:sp>
        <p:nvSpPr>
          <p:cNvPr id="12" name="TextBox 11"/>
          <p:cNvSpPr txBox="1"/>
          <p:nvPr/>
        </p:nvSpPr>
        <p:spPr>
          <a:xfrm>
            <a:off x="7757159" y="224028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Payloads + shares</a:t>
            </a:r>
          </a:p>
        </p:txBody>
      </p:sp>
      <p:sp>
        <p:nvSpPr>
          <p:cNvPr id="13" name="TextBox 12"/>
          <p:cNvSpPr txBox="1"/>
          <p:nvPr/>
        </p:nvSpPr>
        <p:spPr>
          <a:xfrm>
            <a:off x="7757159" y="247436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REAL LOCAL PROVIDER</a:t>
            </a:r>
          </a:p>
        </p:txBody>
      </p:sp>
      <p:sp>
        <p:nvSpPr>
          <p:cNvPr id="14" name="Rounded Rectangle 13"/>
          <p:cNvSpPr/>
          <p:nvPr/>
        </p:nvSpPr>
        <p:spPr>
          <a:xfrm>
            <a:off x="548640" y="2811780"/>
            <a:ext cx="11094720" cy="662940"/>
          </a:xfrm>
          <a:prstGeom prst="roundRect">
            <a:avLst>
              <a:gd name="adj" fmla="val 6896"/>
            </a:avLst>
          </a:prstGeom>
          <a:solidFill>
            <a:srgbClr val="FFFFFF"/>
          </a:solidFill>
          <a:ln>
            <a:noFill/>
          </a:ln>
          <a:effectLst/>
        </p:spPr>
        <p:txBody>
          <a:bodyPr rtlCol="0" anchor="ctr"/>
          <a:lstStyle/>
          <a:p>
            <a:pPr algn="ctr"/>
          </a:p>
        </p:txBody>
      </p:sp>
      <p:sp>
        <p:nvSpPr>
          <p:cNvPr id="15" name="TextBox 14"/>
          <p:cNvSpPr txBox="1"/>
          <p:nvPr/>
        </p:nvSpPr>
        <p:spPr>
          <a:xfrm>
            <a:off x="670560" y="294132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AtomStorage</a:t>
            </a:r>
          </a:p>
        </p:txBody>
      </p:sp>
      <p:sp>
        <p:nvSpPr>
          <p:cNvPr id="16" name="TextBox 15"/>
          <p:cNvSpPr txBox="1"/>
          <p:nvPr/>
        </p:nvSpPr>
        <p:spPr>
          <a:xfrm>
            <a:off x="3185160" y="294132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Scoped immutable envelopes</a:t>
            </a:r>
          </a:p>
        </p:txBody>
      </p:sp>
      <p:sp>
        <p:nvSpPr>
          <p:cNvPr id="17" name="TextBox 16"/>
          <p:cNvSpPr txBox="1"/>
          <p:nvPr/>
        </p:nvSpPr>
        <p:spPr>
          <a:xfrm>
            <a:off x="3185160" y="317540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create · get · getMany · availability</a:t>
            </a:r>
          </a:p>
        </p:txBody>
      </p:sp>
      <p:sp>
        <p:nvSpPr>
          <p:cNvPr id="18" name="TextBox 17"/>
          <p:cNvSpPr txBox="1"/>
          <p:nvPr/>
        </p:nvSpPr>
        <p:spPr>
          <a:xfrm>
            <a:off x="7757159" y="294132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Reference + replay metadata</a:t>
            </a:r>
          </a:p>
        </p:txBody>
      </p:sp>
      <p:sp>
        <p:nvSpPr>
          <p:cNvPr id="19" name="TextBox 18"/>
          <p:cNvSpPr txBox="1"/>
          <p:nvPr/>
        </p:nvSpPr>
        <p:spPr>
          <a:xfrm>
            <a:off x="7757159" y="317540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a:t>
            </a:r>
          </a:p>
        </p:txBody>
      </p:sp>
      <p:sp>
        <p:nvSpPr>
          <p:cNvPr id="20" name="Rounded Rectangle 19"/>
          <p:cNvSpPr/>
          <p:nvPr/>
        </p:nvSpPr>
        <p:spPr>
          <a:xfrm>
            <a:off x="548640" y="3512819"/>
            <a:ext cx="11094720" cy="662940"/>
          </a:xfrm>
          <a:prstGeom prst="roundRect">
            <a:avLst>
              <a:gd name="adj" fmla="val 6896"/>
            </a:avLst>
          </a:prstGeom>
          <a:solidFill>
            <a:srgbClr val="FFFFFF"/>
          </a:solidFill>
          <a:ln>
            <a:noFill/>
          </a:ln>
          <a:effectLst/>
        </p:spPr>
        <p:txBody>
          <a:bodyPr rtlCol="0" anchor="ctr"/>
          <a:lstStyle/>
          <a:p>
            <a:pPr algn="ctr"/>
          </a:p>
        </p:txBody>
      </p:sp>
      <p:sp>
        <p:nvSpPr>
          <p:cNvPr id="21" name="TextBox 20"/>
          <p:cNvSpPr txBox="1"/>
          <p:nvPr/>
        </p:nvSpPr>
        <p:spPr>
          <a:xfrm>
            <a:off x="670560" y="36423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Relations</a:t>
            </a:r>
          </a:p>
        </p:txBody>
      </p:sp>
      <p:sp>
        <p:nvSpPr>
          <p:cNvPr id="22" name="TextBox 21"/>
          <p:cNvSpPr txBox="1"/>
          <p:nvPr/>
        </p:nvSpPr>
        <p:spPr>
          <a:xfrm>
            <a:off x="3185160" y="364236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Represent ordered structural roles</a:t>
            </a:r>
          </a:p>
        </p:txBody>
      </p:sp>
      <p:sp>
        <p:nvSpPr>
          <p:cNvPr id="23" name="TextBox 22"/>
          <p:cNvSpPr txBox="1"/>
          <p:nvPr/>
        </p:nvSpPr>
        <p:spPr>
          <a:xfrm>
            <a:off x="3185160" y="387644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assertRelation · getRelation</a:t>
            </a:r>
          </a:p>
        </p:txBody>
      </p:sp>
      <p:sp>
        <p:nvSpPr>
          <p:cNvPr id="24" name="TextBox 23"/>
          <p:cNvSpPr txBox="1"/>
          <p:nvPr/>
        </p:nvSpPr>
        <p:spPr>
          <a:xfrm>
            <a:off x="7757159" y="364236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Immutable relation records</a:t>
            </a:r>
          </a:p>
        </p:txBody>
      </p:sp>
      <p:sp>
        <p:nvSpPr>
          <p:cNvPr id="25" name="TextBox 24"/>
          <p:cNvSpPr txBox="1"/>
          <p:nvPr/>
        </p:nvSpPr>
        <p:spPr>
          <a:xfrm>
            <a:off x="7757159" y="387644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SPECIFIED</a:t>
            </a:r>
          </a:p>
        </p:txBody>
      </p:sp>
      <p:sp>
        <p:nvSpPr>
          <p:cNvPr id="26" name="Rounded Rectangle 25"/>
          <p:cNvSpPr/>
          <p:nvPr/>
        </p:nvSpPr>
        <p:spPr>
          <a:xfrm>
            <a:off x="548640" y="4213860"/>
            <a:ext cx="11094720" cy="662940"/>
          </a:xfrm>
          <a:prstGeom prst="roundRect">
            <a:avLst>
              <a:gd name="adj" fmla="val 6896"/>
            </a:avLst>
          </a:prstGeom>
          <a:solidFill>
            <a:srgbClr val="FFFFFF"/>
          </a:solidFill>
          <a:ln>
            <a:noFill/>
          </a:ln>
          <a:effectLst/>
        </p:spPr>
        <p:txBody>
          <a:bodyPr rtlCol="0" anchor="ctr"/>
          <a:lstStyle/>
          <a:p>
            <a:pPr algn="ctr"/>
          </a:p>
        </p:txBody>
      </p:sp>
      <p:sp>
        <p:nvSpPr>
          <p:cNvPr id="27" name="TextBox 26"/>
          <p:cNvSpPr txBox="1"/>
          <p:nvPr/>
        </p:nvSpPr>
        <p:spPr>
          <a:xfrm>
            <a:off x="670560" y="434340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Search projection</a:t>
            </a:r>
          </a:p>
        </p:txBody>
      </p:sp>
      <p:sp>
        <p:nvSpPr>
          <p:cNvPr id="28" name="TextBox 27"/>
          <p:cNvSpPr txBox="1"/>
          <p:nvPr/>
        </p:nvSpPr>
        <p:spPr>
          <a:xfrm>
            <a:off x="3185160" y="434340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Find refs at a known watermark</a:t>
            </a:r>
          </a:p>
        </p:txBody>
      </p:sp>
      <p:sp>
        <p:nvSpPr>
          <p:cNvPr id="29" name="TextBox 28"/>
          <p:cNvSpPr txBox="1"/>
          <p:nvPr/>
        </p:nvSpPr>
        <p:spPr>
          <a:xfrm>
            <a:off x="3185160" y="457748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query</a:t>
            </a:r>
          </a:p>
        </p:txBody>
      </p:sp>
      <p:sp>
        <p:nvSpPr>
          <p:cNvPr id="30" name="TextBox 29"/>
          <p:cNvSpPr txBox="1"/>
          <p:nvPr/>
        </p:nvSpPr>
        <p:spPr>
          <a:xfrm>
            <a:off x="7757159" y="434340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Rebuildable index</a:t>
            </a:r>
          </a:p>
        </p:txBody>
      </p:sp>
      <p:sp>
        <p:nvSpPr>
          <p:cNvPr id="31" name="TextBox 30"/>
          <p:cNvSpPr txBox="1"/>
          <p:nvPr/>
        </p:nvSpPr>
        <p:spPr>
          <a:xfrm>
            <a:off x="7757159" y="457748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SPECIFIED</a:t>
            </a:r>
          </a:p>
        </p:txBody>
      </p:sp>
      <p:sp>
        <p:nvSpPr>
          <p:cNvPr id="32" name="Rounded Rectangle 31"/>
          <p:cNvSpPr/>
          <p:nvPr/>
        </p:nvSpPr>
        <p:spPr>
          <a:xfrm>
            <a:off x="548640" y="4914900"/>
            <a:ext cx="11094720" cy="662940"/>
          </a:xfrm>
          <a:prstGeom prst="roundRect">
            <a:avLst>
              <a:gd name="adj" fmla="val 6896"/>
            </a:avLst>
          </a:prstGeom>
          <a:solidFill>
            <a:srgbClr val="FFFFFF"/>
          </a:solidFill>
          <a:ln>
            <a:noFill/>
          </a:ln>
          <a:effectLst/>
        </p:spPr>
        <p:txBody>
          <a:bodyPr rtlCol="0" anchor="ctr"/>
          <a:lstStyle/>
          <a:p>
            <a:pPr algn="ctr"/>
          </a:p>
        </p:txBody>
      </p:sp>
      <p:sp>
        <p:nvSpPr>
          <p:cNvPr id="33" name="TextBox 32"/>
          <p:cNvSpPr txBox="1"/>
          <p:nvPr/>
        </p:nvSpPr>
        <p:spPr>
          <a:xfrm>
            <a:off x="670560" y="50444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Episodic memory C1</a:t>
            </a:r>
          </a:p>
        </p:txBody>
      </p:sp>
      <p:sp>
        <p:nvSpPr>
          <p:cNvPr id="34" name="TextBox 33"/>
          <p:cNvSpPr txBox="1"/>
          <p:nvPr/>
        </p:nvSpPr>
        <p:spPr>
          <a:xfrm>
            <a:off x="3185160" y="504444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Record / append / read ordered events</a:t>
            </a:r>
          </a:p>
        </p:txBody>
      </p:sp>
      <p:sp>
        <p:nvSpPr>
          <p:cNvPr id="35" name="TextBox 34"/>
          <p:cNvSpPr txBox="1"/>
          <p:nvPr/>
        </p:nvSpPr>
        <p:spPr>
          <a:xfrm>
            <a:off x="3185160" y="527852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pendingEvidence · trusted completion</a:t>
            </a:r>
          </a:p>
        </p:txBody>
      </p:sp>
      <p:sp>
        <p:nvSpPr>
          <p:cNvPr id="36" name="TextBox 35"/>
          <p:cNvSpPr txBox="1"/>
          <p:nvPr/>
        </p:nvSpPr>
        <p:spPr>
          <a:xfrm>
            <a:off x="7757159" y="504444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history + delivery intents</a:t>
            </a:r>
          </a:p>
        </p:txBody>
      </p:sp>
      <p:sp>
        <p:nvSpPr>
          <p:cNvPr id="37" name="TextBox 36"/>
          <p:cNvSpPr txBox="1"/>
          <p:nvPr/>
        </p:nvSpPr>
        <p:spPr>
          <a:xfrm>
            <a:off x="7757159" y="527852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 · M3.1</a:t>
            </a:r>
          </a:p>
        </p:txBody>
      </p:sp>
      <p:sp>
        <p:nvSpPr>
          <p:cNvPr id="38" name="Rounded Rectangle 3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9" name="TextBox 38"/>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DA persists bytes. Only the application owners interpret events, claims or beliefs.</a:t>
            </a:r>
          </a:p>
        </p:txBody>
      </p:sp>
      <p:cxnSp>
        <p:nvCxnSpPr>
          <p:cNvPr id="40" name="Connector 39"/>
          <p:cNvCxnSpPr/>
          <p:nvPr/>
        </p:nvCxnSpPr>
        <p:spPr>
          <a:xfrm>
            <a:off x="548640" y="6393180"/>
            <a:ext cx="11094720" cy="0"/>
          </a:xfrm>
          <a:prstGeom prst="line">
            <a:avLst/>
          </a:prstGeom>
          <a:ln w="7620">
            <a:solidFill>
              <a:srgbClr val="C9D2D4"/>
            </a:solidFill>
          </a:ln>
          <a:effectLst/>
        </p:spPr>
      </p:cxnSp>
      <p:sp>
        <p:nvSpPr>
          <p:cNvPr id="41" name="TextBox 4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architecture.md</a:t>
            </a:r>
          </a:p>
        </p:txBody>
      </p:sp>
      <p:sp>
        <p:nvSpPr>
          <p:cNvPr id="42" name="TextBox 4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2 OF 3</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Cognitive responsibilities: four separate roles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Attention, belief admission, pure mathematics and work coordination remain separate.</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556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985759" y="1790700"/>
            <a:ext cx="35356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BOUNDARY</a:t>
            </a:r>
          </a:p>
        </p:txBody>
      </p:sp>
      <p:sp>
        <p:nvSpPr>
          <p:cNvPr id="8" name="Rounded Rectangle 7"/>
          <p:cNvSpPr/>
          <p:nvPr/>
        </p:nvSpPr>
        <p:spPr>
          <a:xfrm>
            <a:off x="548640" y="2110740"/>
            <a:ext cx="11094720" cy="792480"/>
          </a:xfrm>
          <a:prstGeom prst="roundRect">
            <a:avLst>
              <a:gd name="adj" fmla="val 5769"/>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Belief revision C2</a:t>
            </a:r>
          </a:p>
        </p:txBody>
      </p:sp>
      <p:sp>
        <p:nvSpPr>
          <p:cNvPr id="10" name="TextBox 9"/>
          <p:cNvSpPr txBox="1"/>
          <p:nvPr/>
        </p:nvSpPr>
        <p:spPr>
          <a:xfrm>
            <a:off x="3185160" y="224028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submitEvidence · readBelief</a:t>
            </a:r>
          </a:p>
        </p:txBody>
      </p:sp>
      <p:sp>
        <p:nvSpPr>
          <p:cNvPr id="11" name="TextBox 10"/>
          <p:cNvSpPr txBox="1"/>
          <p:nvPr/>
        </p:nvSpPr>
        <p:spPr>
          <a:xfrm>
            <a:off x="3185160" y="247436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submitDerivation · readDerivation</a:t>
            </a:r>
          </a:p>
        </p:txBody>
      </p:sp>
      <p:sp>
        <p:nvSpPr>
          <p:cNvPr id="12" name="TextBox 11"/>
          <p:cNvSpPr txBox="1"/>
          <p:nvPr/>
        </p:nvSpPr>
        <p:spPr>
          <a:xfrm>
            <a:off x="7985759" y="224028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Supports, snapshots, attempts</a:t>
            </a:r>
          </a:p>
        </p:txBody>
      </p:sp>
      <p:sp>
        <p:nvSpPr>
          <p:cNvPr id="13" name="TextBox 12"/>
          <p:cNvSpPr txBox="1"/>
          <p:nvPr/>
        </p:nvSpPr>
        <p:spPr>
          <a:xfrm>
            <a:off x="7985759" y="247436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Only C2 commits belief changes</a:t>
            </a:r>
          </a:p>
        </p:txBody>
      </p:sp>
      <p:sp>
        <p:nvSpPr>
          <p:cNvPr id="14" name="Rounded Rectangle 13"/>
          <p:cNvSpPr/>
          <p:nvPr/>
        </p:nvSpPr>
        <p:spPr>
          <a:xfrm>
            <a:off x="548640" y="2941320"/>
            <a:ext cx="11094720" cy="792480"/>
          </a:xfrm>
          <a:prstGeom prst="roundRect">
            <a:avLst>
              <a:gd name="adj" fmla="val 5769"/>
            </a:avLst>
          </a:prstGeom>
          <a:solidFill>
            <a:srgbClr val="FFFFFF"/>
          </a:solidFill>
          <a:ln>
            <a:noFill/>
          </a:ln>
          <a:effectLst/>
        </p:spPr>
        <p:txBody>
          <a:bodyPr rtlCol="0" anchor="ctr"/>
          <a:lstStyle/>
          <a:p>
            <a:pPr algn="ctr"/>
          </a:p>
        </p:txBody>
      </p:sp>
      <p:sp>
        <p:nvSpPr>
          <p:cNvPr id="15" name="TextBox 14"/>
          <p:cNvSpPr txBox="1"/>
          <p:nvPr/>
        </p:nvSpPr>
        <p:spPr>
          <a:xfrm>
            <a:off x="670560" y="30708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PLN kernel</a:t>
            </a:r>
          </a:p>
        </p:txBody>
      </p:sp>
      <p:sp>
        <p:nvSpPr>
          <p:cNvPr id="16" name="TextBox 15"/>
          <p:cNvSpPr txBox="1"/>
          <p:nvPr/>
        </p:nvSpPr>
        <p:spPr>
          <a:xfrm>
            <a:off x="3185160" y="307086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Apply one grounded rule to exact premises</a:t>
            </a:r>
          </a:p>
        </p:txBody>
      </p:sp>
      <p:sp>
        <p:nvSpPr>
          <p:cNvPr id="17" name="TextBox 16"/>
          <p:cNvSpPr txBox="1"/>
          <p:nvPr/>
        </p:nvSpPr>
        <p:spPr>
          <a:xfrm>
            <a:off x="3185160" y="330494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profiles · applyRule</a:t>
            </a:r>
          </a:p>
        </p:txBody>
      </p:sp>
      <p:sp>
        <p:nvSpPr>
          <p:cNvPr id="18" name="TextBox 17"/>
          <p:cNvSpPr txBox="1"/>
          <p:nvPr/>
        </p:nvSpPr>
        <p:spPr>
          <a:xfrm>
            <a:off x="7985759" y="307086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mutable domain state</a:t>
            </a:r>
          </a:p>
        </p:txBody>
      </p:sp>
      <p:sp>
        <p:nvSpPr>
          <p:cNvPr id="19" name="TextBox 18"/>
          <p:cNvSpPr txBox="1"/>
          <p:nvPr/>
        </p:nvSpPr>
        <p:spPr>
          <a:xfrm>
            <a:off x="7985759" y="330494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Pure native proposal</a:t>
            </a:r>
          </a:p>
        </p:txBody>
      </p:sp>
      <p:sp>
        <p:nvSpPr>
          <p:cNvPr id="20" name="Rounded Rectangle 19"/>
          <p:cNvSpPr/>
          <p:nvPr/>
        </p:nvSpPr>
        <p:spPr>
          <a:xfrm>
            <a:off x="548640" y="3771900"/>
            <a:ext cx="11094720" cy="792480"/>
          </a:xfrm>
          <a:prstGeom prst="roundRect">
            <a:avLst>
              <a:gd name="adj" fmla="val 5769"/>
            </a:avLst>
          </a:prstGeom>
          <a:solidFill>
            <a:srgbClr val="FFFFFF"/>
          </a:solidFill>
          <a:ln>
            <a:noFill/>
          </a:ln>
          <a:effectLst/>
        </p:spPr>
        <p:txBody>
          <a:bodyPr rtlCol="0" anchor="ctr"/>
          <a:lstStyle/>
          <a:p>
            <a:pPr algn="ctr"/>
          </a:p>
        </p:txBody>
      </p:sp>
      <p:sp>
        <p:nvSpPr>
          <p:cNvPr id="21" name="TextBox 20"/>
          <p:cNvSpPr txBox="1"/>
          <p:nvPr/>
        </p:nvSpPr>
        <p:spPr>
          <a:xfrm>
            <a:off x="670560" y="39014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Attention C3</a:t>
            </a:r>
          </a:p>
        </p:txBody>
      </p:sp>
      <p:sp>
        <p:nvSpPr>
          <p:cNvPr id="22" name="TextBox 21"/>
          <p:cNvSpPr txBox="1"/>
          <p:nvPr/>
        </p:nvSpPr>
        <p:spPr>
          <a:xfrm>
            <a:off x="3185160" y="390144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 · advance · submitStimulus</a:t>
            </a:r>
          </a:p>
        </p:txBody>
      </p:sp>
      <p:sp>
        <p:nvSpPr>
          <p:cNvPr id="23" name="TextBox 22"/>
          <p:cNvSpPr txBox="1"/>
          <p:nvPr/>
        </p:nvSpPr>
        <p:spPr>
          <a:xfrm>
            <a:off x="3185160" y="413552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submitFeedback · resolveFeedback</a:t>
            </a:r>
          </a:p>
        </p:txBody>
      </p:sp>
      <p:sp>
        <p:nvSpPr>
          <p:cNvPr id="24" name="TextBox 23"/>
          <p:cNvSpPr txBox="1"/>
          <p:nvPr/>
        </p:nvSpPr>
        <p:spPr>
          <a:xfrm>
            <a:off x="7985759" y="390144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STI, clock, causal receipts / retirement</a:t>
            </a:r>
          </a:p>
        </p:txBody>
      </p:sp>
      <p:sp>
        <p:nvSpPr>
          <p:cNvPr id="25" name="TextBox 24"/>
          <p:cNvSpPr txBox="1"/>
          <p:nvPr/>
        </p:nvSpPr>
        <p:spPr>
          <a:xfrm>
            <a:off x="7985759" y="413552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cognition dependency</a:t>
            </a:r>
          </a:p>
        </p:txBody>
      </p:sp>
      <p:sp>
        <p:nvSpPr>
          <p:cNvPr id="26" name="Rounded Rectangle 25"/>
          <p:cNvSpPr/>
          <p:nvPr/>
        </p:nvSpPr>
        <p:spPr>
          <a:xfrm>
            <a:off x="548640" y="4602480"/>
            <a:ext cx="11094720" cy="792480"/>
          </a:xfrm>
          <a:prstGeom prst="roundRect">
            <a:avLst>
              <a:gd name="adj" fmla="val 5769"/>
            </a:avLst>
          </a:prstGeom>
          <a:solidFill>
            <a:srgbClr val="FFFFFF"/>
          </a:solidFill>
          <a:ln>
            <a:noFill/>
          </a:ln>
          <a:effectLst/>
        </p:spPr>
        <p:txBody>
          <a:bodyPr rtlCol="0" anchor="ctr"/>
          <a:lstStyle/>
          <a:p>
            <a:pPr algn="ctr"/>
          </a:p>
        </p:txBody>
      </p:sp>
      <p:sp>
        <p:nvSpPr>
          <p:cNvPr id="27" name="TextBox 26"/>
          <p:cNvSpPr txBox="1"/>
          <p:nvPr/>
        </p:nvSpPr>
        <p:spPr>
          <a:xfrm>
            <a:off x="670560" y="473202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Inference control C4</a:t>
            </a:r>
          </a:p>
        </p:txBody>
      </p:sp>
      <p:sp>
        <p:nvSpPr>
          <p:cNvPr id="28" name="TextBox 27"/>
          <p:cNvSpPr txBox="1"/>
          <p:nvPr/>
        </p:nvSpPr>
        <p:spPr>
          <a:xfrm>
            <a:off x="3185160" y="473202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Run one immutable workset</a:t>
            </a:r>
          </a:p>
        </p:txBody>
      </p:sp>
      <p:sp>
        <p:nvSpPr>
          <p:cNvPr id="29" name="TextBox 28"/>
          <p:cNvSpPr txBox="1"/>
          <p:nvPr/>
        </p:nvSpPr>
        <p:spPr>
          <a:xfrm>
            <a:off x="3185160" y="496610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step · readProgress · reconcile</a:t>
            </a:r>
          </a:p>
        </p:txBody>
      </p:sp>
      <p:sp>
        <p:nvSpPr>
          <p:cNvPr id="30" name="TextBox 29"/>
          <p:cNvSpPr txBox="1"/>
          <p:nvPr/>
        </p:nvSpPr>
        <p:spPr>
          <a:xfrm>
            <a:off x="7985759" y="473202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Selection, budgets, closure progress</a:t>
            </a:r>
          </a:p>
        </p:txBody>
      </p:sp>
      <p:sp>
        <p:nvSpPr>
          <p:cNvPr id="31" name="TextBox 30"/>
          <p:cNvSpPr txBox="1"/>
          <p:nvPr/>
        </p:nvSpPr>
        <p:spPr>
          <a:xfrm>
            <a:off x="7985759" y="496610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truth or attention ownership</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C4 calls C2 for admission. C2 invokes the kernel, then checks authority and commits its decision.</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architecture.md</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3 OF 3</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Control responsibilities: move work, preserve authority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remaining six modules connect owners and report specific facts.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Messaging</a:t>
            </a:r>
          </a:p>
        </p:txBody>
      </p:sp>
      <p:sp>
        <p:nvSpPr>
          <p:cNvPr id="10" name="TextBox 9"/>
          <p:cNvSpPr txBox="1"/>
          <p:nvPr/>
        </p:nvSpPr>
        <p:spPr>
          <a:xfrm>
            <a:off x="3185160" y="22402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 deliver, acknowledge</a:t>
            </a:r>
          </a:p>
        </p:txBody>
      </p:sp>
      <p:sp>
        <p:nvSpPr>
          <p:cNvPr id="11" name="TextBox 10"/>
          <p:cNvSpPr txBox="1"/>
          <p:nvPr/>
        </p:nvSpPr>
        <p:spPr>
          <a:xfrm>
            <a:off x="3185160" y="24646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send · poll · ack</a:t>
            </a:r>
          </a:p>
        </p:txBody>
      </p:sp>
      <p:sp>
        <p:nvSpPr>
          <p:cNvPr id="12" name="TextBox 11"/>
          <p:cNvSpPr txBox="1"/>
          <p:nvPr/>
        </p:nvSpPr>
        <p:spPr>
          <a:xfrm>
            <a:off x="7680959" y="22402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Inbox + deduplication · IMPLEMENTED</a:t>
            </a:r>
          </a:p>
        </p:txBody>
      </p:sp>
      <p:sp>
        <p:nvSpPr>
          <p:cNvPr id="13" name="Rounded Rectangle 12"/>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4" name="TextBox 13"/>
          <p:cNvSpPr txBox="1"/>
          <p:nvPr/>
        </p:nvSpPr>
        <p:spPr>
          <a:xfrm>
            <a:off x="670560" y="286512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Execution</a:t>
            </a:r>
          </a:p>
        </p:txBody>
      </p:sp>
      <p:sp>
        <p:nvSpPr>
          <p:cNvPr id="15" name="TextBox 14"/>
          <p:cNvSpPr txBox="1"/>
          <p:nvPr/>
        </p:nvSpPr>
        <p:spPr>
          <a:xfrm>
            <a:off x="3185160" y="286512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Run one named operation</a:t>
            </a:r>
          </a:p>
        </p:txBody>
      </p:sp>
      <p:sp>
        <p:nvSpPr>
          <p:cNvPr id="16" name="TextBox 15"/>
          <p:cNvSpPr txBox="1"/>
          <p:nvPr/>
        </p:nvSpPr>
        <p:spPr>
          <a:xfrm>
            <a:off x="3185160" y="308945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status · result</a:t>
            </a:r>
          </a:p>
        </p:txBody>
      </p:sp>
      <p:sp>
        <p:nvSpPr>
          <p:cNvPr id="17" name="TextBox 16"/>
          <p:cNvSpPr txBox="1"/>
          <p:nvPr/>
        </p:nvSpPr>
        <p:spPr>
          <a:xfrm>
            <a:off x="7680959" y="286512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Jobs + completion outbox · IMPLEMENTED</a:t>
            </a:r>
          </a:p>
        </p:txBody>
      </p:sp>
      <p:sp>
        <p:nvSpPr>
          <p:cNvPr id="18" name="Rounded Rectangle 17"/>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9" name="TextBox 18"/>
          <p:cNvSpPr txBox="1"/>
          <p:nvPr/>
        </p:nvSpPr>
        <p:spPr>
          <a:xfrm>
            <a:off x="670560" y="34899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Registry</a:t>
            </a:r>
          </a:p>
        </p:txBody>
      </p:sp>
      <p:sp>
        <p:nvSpPr>
          <p:cNvPr id="20" name="TextBox 19"/>
          <p:cNvSpPr txBox="1"/>
          <p:nvPr/>
        </p:nvSpPr>
        <p:spPr>
          <a:xfrm>
            <a:off x="3185160" y="348996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Describe configured providers</a:t>
            </a:r>
          </a:p>
        </p:txBody>
      </p:sp>
      <p:sp>
        <p:nvSpPr>
          <p:cNvPr id="21" name="TextBox 20"/>
          <p:cNvSpPr txBox="1"/>
          <p:nvPr/>
        </p:nvSpPr>
        <p:spPr>
          <a:xfrm>
            <a:off x="3185160" y="371429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descriptors</a:t>
            </a:r>
          </a:p>
        </p:txBody>
      </p:sp>
      <p:sp>
        <p:nvSpPr>
          <p:cNvPr id="22" name="TextBox 21"/>
          <p:cNvSpPr txBox="1"/>
          <p:nvPr/>
        </p:nvSpPr>
        <p:spPr>
          <a:xfrm>
            <a:off x="7680959" y="348996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Static configuration · IMPLEMENTED</a:t>
            </a:r>
          </a:p>
        </p:txBody>
      </p:sp>
      <p:sp>
        <p:nvSpPr>
          <p:cNvPr id="23" name="Rounded Rectangle 22"/>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4" name="TextBox 23"/>
          <p:cNvSpPr txBox="1"/>
          <p:nvPr/>
        </p:nvSpPr>
        <p:spPr>
          <a:xfrm>
            <a:off x="670560" y="41148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Resolver</a:t>
            </a:r>
          </a:p>
        </p:txBody>
      </p:sp>
      <p:sp>
        <p:nvSpPr>
          <p:cNvPr id="25" name="TextBox 24"/>
          <p:cNvSpPr txBox="1"/>
          <p:nvPr/>
        </p:nvSpPr>
        <p:spPr>
          <a:xfrm>
            <a:off x="3185160" y="411480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Match required semantics</a:t>
            </a:r>
          </a:p>
        </p:txBody>
      </p:sp>
      <p:sp>
        <p:nvSpPr>
          <p:cNvPr id="26" name="TextBox 25"/>
          <p:cNvSpPr txBox="1"/>
          <p:nvPr/>
        </p:nvSpPr>
        <p:spPr>
          <a:xfrm>
            <a:off x="3185160" y="433913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resolve</a:t>
            </a:r>
          </a:p>
        </p:txBody>
      </p:sp>
      <p:sp>
        <p:nvSpPr>
          <p:cNvPr id="27" name="TextBox 26"/>
          <p:cNvSpPr txBox="1"/>
          <p:nvPr/>
        </p:nvSpPr>
        <p:spPr>
          <a:xfrm>
            <a:off x="7680959" y="411480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state · IMPLEMENTED</a:t>
            </a:r>
          </a:p>
        </p:txBody>
      </p:sp>
      <p:sp>
        <p:nvSpPr>
          <p:cNvPr id="28" name="Rounded Rectangle 27"/>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9" name="TextBox 28"/>
          <p:cNvSpPr txBox="1"/>
          <p:nvPr/>
        </p:nvSpPr>
        <p:spPr>
          <a:xfrm>
            <a:off x="670560" y="47396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Consensus / finality</a:t>
            </a:r>
          </a:p>
        </p:txBody>
      </p:sp>
      <p:sp>
        <p:nvSpPr>
          <p:cNvPr id="30" name="TextBox 29"/>
          <p:cNvSpPr txBox="1"/>
          <p:nvPr/>
        </p:nvSpPr>
        <p:spPr>
          <a:xfrm>
            <a:off x="3185160" y="473964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approved commitment; observe</a:t>
            </a:r>
          </a:p>
        </p:txBody>
      </p:sp>
      <p:sp>
        <p:nvSpPr>
          <p:cNvPr id="31" name="TextBox 30"/>
          <p:cNvSpPr txBox="1"/>
          <p:nvPr/>
        </p:nvSpPr>
        <p:spPr>
          <a:xfrm>
            <a:off x="3185160" y="496397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observe</a:t>
            </a:r>
          </a:p>
        </p:txBody>
      </p:sp>
      <p:sp>
        <p:nvSpPr>
          <p:cNvPr id="32" name="TextBox 31"/>
          <p:cNvSpPr txBox="1"/>
          <p:nvPr/>
        </p:nvSpPr>
        <p:spPr>
          <a:xfrm>
            <a:off x="7680959" y="473964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Signed intents · HISTORICAL M1</a:t>
            </a:r>
          </a:p>
        </p:txBody>
      </p:sp>
      <p:sp>
        <p:nvSpPr>
          <p:cNvPr id="33" name="Rounded Rectangle 32"/>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34" name="TextBox 33"/>
          <p:cNvSpPr txBox="1"/>
          <p:nvPr/>
        </p:nvSpPr>
        <p:spPr>
          <a:xfrm>
            <a:off x="670560" y="53644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Authorization</a:t>
            </a:r>
          </a:p>
        </p:txBody>
      </p:sp>
      <p:sp>
        <p:nvSpPr>
          <p:cNvPr id="35" name="TextBox 34"/>
          <p:cNvSpPr txBox="1"/>
          <p:nvPr/>
        </p:nvSpPr>
        <p:spPr>
          <a:xfrm>
            <a:off x="3185160" y="53644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Check current caller + scope + method</a:t>
            </a:r>
          </a:p>
        </p:txBody>
      </p:sp>
      <p:sp>
        <p:nvSpPr>
          <p:cNvPr id="36" name="TextBox 35"/>
          <p:cNvSpPr txBox="1"/>
          <p:nvPr/>
        </p:nvSpPr>
        <p:spPr>
          <a:xfrm>
            <a:off x="3185160" y="55888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authorize / live policy checks</a:t>
            </a:r>
          </a:p>
        </p:txBody>
      </p:sp>
      <p:sp>
        <p:nvSpPr>
          <p:cNvPr id="37" name="TextBox 36"/>
          <p:cNvSpPr txBox="1"/>
          <p:nvPr/>
        </p:nvSpPr>
        <p:spPr>
          <a:xfrm>
            <a:off x="7680959" y="53644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Operator policy · LOCAL FIXTURE</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architecture.md</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PRIVATE COGNITION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Function dependencies: the exercised M3.1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Arrows point from caller to provider; the relay and every state owner commit separately.</a:t>
            </a:r>
          </a:p>
        </p:txBody>
      </p:sp>
      <p:sp>
        <p:nvSpPr>
          <p:cNvPr id="5" name="Rounded Rectangle 4"/>
          <p:cNvSpPr/>
          <p:nvPr/>
        </p:nvSpPr>
        <p:spPr>
          <a:xfrm>
            <a:off x="548640" y="1828800"/>
            <a:ext cx="2667000" cy="899160"/>
          </a:xfrm>
          <a:prstGeom prst="roundRect">
            <a:avLst>
              <a:gd name="adj" fmla="val 11016"/>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1996439"/>
            <a:ext cx="23317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Native Hive plugin</a:t>
            </a:r>
          </a:p>
        </p:txBody>
      </p:sp>
      <p:sp>
        <p:nvSpPr>
          <p:cNvPr id="7" name="TextBox 6"/>
          <p:cNvSpPr txBox="1"/>
          <p:nvPr/>
        </p:nvSpPr>
        <p:spPr>
          <a:xfrm>
            <a:off x="716280" y="2355494"/>
            <a:ext cx="23317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Scenario + trusted actor</a:t>
            </a:r>
          </a:p>
        </p:txBody>
      </p:sp>
      <p:sp>
        <p:nvSpPr>
          <p:cNvPr id="8" name="Rounded Rectangle 7"/>
          <p:cNvSpPr/>
          <p:nvPr/>
        </p:nvSpPr>
        <p:spPr>
          <a:xfrm>
            <a:off x="4229100" y="1828800"/>
            <a:ext cx="3352800" cy="899160"/>
          </a:xfrm>
          <a:prstGeom prst="roundRect">
            <a:avLst>
              <a:gd name="adj" fmla="val 11016"/>
            </a:avLst>
          </a:prstGeom>
          <a:solidFill>
            <a:srgbClr val="E4EBF5"/>
          </a:solidFill>
          <a:ln w="7620">
            <a:solidFill>
              <a:srgbClr val="315E9C"/>
            </a:solidFill>
          </a:ln>
          <a:effectLst/>
        </p:spPr>
        <p:txBody>
          <a:bodyPr rtlCol="0" anchor="ctr"/>
          <a:lstStyle/>
          <a:p>
            <a:pPr algn="ctr"/>
          </a:p>
        </p:txBody>
      </p:sp>
      <p:sp>
        <p:nvSpPr>
          <p:cNvPr id="9" name="TextBox 8"/>
          <p:cNvSpPr txBox="1"/>
          <p:nvPr/>
        </p:nvSpPr>
        <p:spPr>
          <a:xfrm>
            <a:off x="4396740" y="1996439"/>
            <a:ext cx="30175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C4 · InferenceControl</a:t>
            </a:r>
          </a:p>
        </p:txBody>
      </p:sp>
      <p:sp>
        <p:nvSpPr>
          <p:cNvPr id="10" name="TextBox 9"/>
          <p:cNvSpPr txBox="1"/>
          <p:nvPr/>
        </p:nvSpPr>
        <p:spPr>
          <a:xfrm>
            <a:off x="4396740" y="2355494"/>
            <a:ext cx="30175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step · readProgress · reconcile</a:t>
            </a:r>
          </a:p>
        </p:txBody>
      </p:sp>
      <p:sp>
        <p:nvSpPr>
          <p:cNvPr id="11" name="Rounded Rectangle 10"/>
          <p:cNvSpPr/>
          <p:nvPr/>
        </p:nvSpPr>
        <p:spPr>
          <a:xfrm>
            <a:off x="8595360" y="1828800"/>
            <a:ext cx="3048000" cy="899160"/>
          </a:xfrm>
          <a:prstGeom prst="roundRect">
            <a:avLst>
              <a:gd name="adj" fmla="val 11016"/>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8763000" y="1996439"/>
            <a:ext cx="27127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C3 · Attention</a:t>
            </a:r>
          </a:p>
        </p:txBody>
      </p:sp>
      <p:sp>
        <p:nvSpPr>
          <p:cNvPr id="13" name="TextBox 12"/>
          <p:cNvSpPr txBox="1"/>
          <p:nvPr/>
        </p:nvSpPr>
        <p:spPr>
          <a:xfrm>
            <a:off x="8763000" y="2355494"/>
            <a:ext cx="2712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select · submit/resolveFeedback</a:t>
            </a:r>
          </a:p>
        </p:txBody>
      </p:sp>
      <p:cxnSp>
        <p:nvCxnSpPr>
          <p:cNvPr id="14" name="Connector 13"/>
          <p:cNvCxnSpPr/>
          <p:nvPr/>
        </p:nvCxnSpPr>
        <p:spPr>
          <a:xfrm>
            <a:off x="3215640" y="2270760"/>
            <a:ext cx="1013460" cy="0"/>
          </a:xfrm>
          <a:prstGeom prst="line">
            <a:avLst/>
          </a:prstGeom>
          <a:ln w="15240">
            <a:solidFill>
              <a:srgbClr val="007C78"/>
            </a:solidFill>
          </a:ln>
          <a:effectLst/>
        </p:spPr>
      </p:cxnSp>
      <p:sp>
        <p:nvSpPr>
          <p:cNvPr id="15" name="Freeform 14"/>
          <p:cNvSpPr/>
          <p:nvPr/>
        </p:nvSpPr>
        <p:spPr>
          <a:xfrm>
            <a:off x="4130040" y="22326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6" name="Connector 15"/>
          <p:cNvCxnSpPr/>
          <p:nvPr/>
        </p:nvCxnSpPr>
        <p:spPr>
          <a:xfrm>
            <a:off x="7581900" y="2270760"/>
            <a:ext cx="1013460" cy="0"/>
          </a:xfrm>
          <a:prstGeom prst="line">
            <a:avLst/>
          </a:prstGeom>
          <a:ln w="15240">
            <a:solidFill>
              <a:srgbClr val="315E9C"/>
            </a:solidFill>
          </a:ln>
          <a:effectLst/>
        </p:spPr>
      </p:cxnSp>
      <p:sp>
        <p:nvSpPr>
          <p:cNvPr id="17" name="Freeform 16"/>
          <p:cNvSpPr/>
          <p:nvPr/>
        </p:nvSpPr>
        <p:spPr>
          <a:xfrm>
            <a:off x="8496300" y="22326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8" name="Rounded Rectangle 17"/>
          <p:cNvSpPr/>
          <p:nvPr/>
        </p:nvSpPr>
        <p:spPr>
          <a:xfrm>
            <a:off x="548640" y="3657600"/>
            <a:ext cx="22860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716280" y="3825240"/>
            <a:ext cx="1950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C1 · Episodes</a:t>
            </a:r>
          </a:p>
        </p:txBody>
      </p:sp>
      <p:sp>
        <p:nvSpPr>
          <p:cNvPr id="20" name="TextBox 19"/>
          <p:cNvSpPr txBox="1"/>
          <p:nvPr/>
        </p:nvSpPr>
        <p:spPr>
          <a:xfrm>
            <a:off x="716280" y="4116019"/>
            <a:ext cx="19507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readEvidence · pending ·</a:t>
            </a:r>
          </a:p>
        </p:txBody>
      </p:sp>
      <p:sp>
        <p:nvSpPr>
          <p:cNvPr id="21" name="TextBox 20"/>
          <p:cNvSpPr txBox="1"/>
          <p:nvPr/>
        </p:nvSpPr>
        <p:spPr>
          <a:xfrm>
            <a:off x="716280" y="4311091"/>
            <a:ext cx="19507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ack</a:t>
            </a:r>
          </a:p>
        </p:txBody>
      </p:sp>
      <p:sp>
        <p:nvSpPr>
          <p:cNvPr id="22" name="Rounded Rectangle 21"/>
          <p:cNvSpPr/>
          <p:nvPr/>
        </p:nvSpPr>
        <p:spPr>
          <a:xfrm>
            <a:off x="3383279" y="3657600"/>
            <a:ext cx="22860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3" name="TextBox 22"/>
          <p:cNvSpPr txBox="1"/>
          <p:nvPr/>
        </p:nvSpPr>
        <p:spPr>
          <a:xfrm>
            <a:off x="3550919" y="3825240"/>
            <a:ext cx="1950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Evidence relay</a:t>
            </a:r>
          </a:p>
        </p:txBody>
      </p:sp>
      <p:sp>
        <p:nvSpPr>
          <p:cNvPr id="24" name="TextBox 23"/>
          <p:cNvSpPr txBox="1"/>
          <p:nvPr/>
        </p:nvSpPr>
        <p:spPr>
          <a:xfrm>
            <a:off x="3550919" y="4164787"/>
            <a:ext cx="1950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submit → validate → ack</a:t>
            </a:r>
          </a:p>
        </p:txBody>
      </p:sp>
      <p:sp>
        <p:nvSpPr>
          <p:cNvPr id="25" name="Rounded Rectangle 24"/>
          <p:cNvSpPr/>
          <p:nvPr/>
        </p:nvSpPr>
        <p:spPr>
          <a:xfrm>
            <a:off x="6217920" y="3657600"/>
            <a:ext cx="25908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6" name="TextBox 25"/>
          <p:cNvSpPr txBox="1"/>
          <p:nvPr/>
        </p:nvSpPr>
        <p:spPr>
          <a:xfrm>
            <a:off x="6385559" y="3825240"/>
            <a:ext cx="22555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C2 · Beliefs</a:t>
            </a:r>
          </a:p>
        </p:txBody>
      </p:sp>
      <p:sp>
        <p:nvSpPr>
          <p:cNvPr id="27" name="TextBox 26"/>
          <p:cNvSpPr txBox="1"/>
          <p:nvPr/>
        </p:nvSpPr>
        <p:spPr>
          <a:xfrm>
            <a:off x="6385559" y="4164787"/>
            <a:ext cx="2255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submit/read decisions</a:t>
            </a:r>
          </a:p>
        </p:txBody>
      </p:sp>
      <p:sp>
        <p:nvSpPr>
          <p:cNvPr id="28" name="Rounded Rectangle 27"/>
          <p:cNvSpPr/>
          <p:nvPr/>
        </p:nvSpPr>
        <p:spPr>
          <a:xfrm>
            <a:off x="9357360" y="3657600"/>
            <a:ext cx="2286000" cy="914400"/>
          </a:xfrm>
          <a:prstGeom prst="roundRect">
            <a:avLst>
              <a:gd name="adj" fmla="val 10833"/>
            </a:avLst>
          </a:prstGeom>
          <a:solidFill>
            <a:srgbClr val="DCEFE8"/>
          </a:solidFill>
          <a:ln w="7620">
            <a:solidFill>
              <a:srgbClr val="007C78"/>
            </a:solidFill>
          </a:ln>
          <a:effectLst/>
        </p:spPr>
        <p:txBody>
          <a:bodyPr rtlCol="0" anchor="ctr"/>
          <a:lstStyle/>
          <a:p>
            <a:pPr algn="ctr"/>
          </a:p>
        </p:txBody>
      </p:sp>
      <p:sp>
        <p:nvSpPr>
          <p:cNvPr id="29" name="TextBox 28"/>
          <p:cNvSpPr txBox="1"/>
          <p:nvPr/>
        </p:nvSpPr>
        <p:spPr>
          <a:xfrm>
            <a:off x="9525000" y="3825240"/>
            <a:ext cx="1950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Pure PLN</a:t>
            </a:r>
          </a:p>
        </p:txBody>
      </p:sp>
      <p:sp>
        <p:nvSpPr>
          <p:cNvPr id="30" name="TextBox 29"/>
          <p:cNvSpPr txBox="1"/>
          <p:nvPr/>
        </p:nvSpPr>
        <p:spPr>
          <a:xfrm>
            <a:off x="9525000" y="4164787"/>
            <a:ext cx="1950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applyRule / revise</a:t>
            </a:r>
          </a:p>
        </p:txBody>
      </p:sp>
      <p:cxnSp>
        <p:nvCxnSpPr>
          <p:cNvPr id="31" name="Connector 30"/>
          <p:cNvCxnSpPr/>
          <p:nvPr/>
        </p:nvCxnSpPr>
        <p:spPr>
          <a:xfrm flipH="1">
            <a:off x="2834640" y="4114800"/>
            <a:ext cx="548639" cy="0"/>
          </a:xfrm>
          <a:prstGeom prst="line">
            <a:avLst/>
          </a:prstGeom>
          <a:ln w="15240">
            <a:solidFill>
              <a:srgbClr val="315E9C"/>
            </a:solidFill>
          </a:ln>
          <a:effectLst/>
        </p:spPr>
      </p:cxnSp>
      <p:sp>
        <p:nvSpPr>
          <p:cNvPr id="32" name="Freeform 31"/>
          <p:cNvSpPr/>
          <p:nvPr/>
        </p:nvSpPr>
        <p:spPr>
          <a:xfrm>
            <a:off x="2834640" y="407670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33" name="Connector 32"/>
          <p:cNvCxnSpPr/>
          <p:nvPr/>
        </p:nvCxnSpPr>
        <p:spPr>
          <a:xfrm>
            <a:off x="5669280" y="4114800"/>
            <a:ext cx="548640" cy="0"/>
          </a:xfrm>
          <a:prstGeom prst="line">
            <a:avLst/>
          </a:prstGeom>
          <a:ln w="15240">
            <a:solidFill>
              <a:srgbClr val="315E9C"/>
            </a:solidFill>
          </a:ln>
          <a:effectLst/>
        </p:spPr>
      </p:cxnSp>
      <p:sp>
        <p:nvSpPr>
          <p:cNvPr id="34" name="Freeform 33"/>
          <p:cNvSpPr/>
          <p:nvPr/>
        </p:nvSpPr>
        <p:spPr>
          <a:xfrm>
            <a:off x="6118860" y="40767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5" name="Connector 34"/>
          <p:cNvCxnSpPr/>
          <p:nvPr/>
        </p:nvCxnSpPr>
        <p:spPr>
          <a:xfrm>
            <a:off x="8808720" y="4114800"/>
            <a:ext cx="548640" cy="0"/>
          </a:xfrm>
          <a:prstGeom prst="line">
            <a:avLst/>
          </a:prstGeom>
          <a:ln w="15240">
            <a:solidFill>
              <a:srgbClr val="007C78"/>
            </a:solidFill>
          </a:ln>
          <a:effectLst/>
        </p:spPr>
      </p:cxnSp>
      <p:sp>
        <p:nvSpPr>
          <p:cNvPr id="36" name="Freeform 35"/>
          <p:cNvSpPr/>
          <p:nvPr/>
        </p:nvSpPr>
        <p:spPr>
          <a:xfrm>
            <a:off x="9258300" y="40767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37" name="Connector 36"/>
          <p:cNvCxnSpPr/>
          <p:nvPr/>
        </p:nvCxnSpPr>
        <p:spPr>
          <a:xfrm>
            <a:off x="7086600" y="2727960"/>
            <a:ext cx="0" cy="929640"/>
          </a:xfrm>
          <a:prstGeom prst="line">
            <a:avLst/>
          </a:prstGeom>
          <a:ln w="15240">
            <a:solidFill>
              <a:srgbClr val="315E9C"/>
            </a:solidFill>
          </a:ln>
          <a:effectLst/>
        </p:spPr>
      </p:cxnSp>
      <p:sp>
        <p:nvSpPr>
          <p:cNvPr id="38" name="Freeform 37"/>
          <p:cNvSpPr/>
          <p:nvPr/>
        </p:nvSpPr>
        <p:spPr>
          <a:xfrm>
            <a:off x="7048500" y="35585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39" name="TextBox 38"/>
          <p:cNvSpPr txBox="1"/>
          <p:nvPr/>
        </p:nvSpPr>
        <p:spPr>
          <a:xfrm>
            <a:off x="7414259" y="3055620"/>
            <a:ext cx="381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C4 → C2: read / submit derivation</a:t>
            </a:r>
          </a:p>
        </p:txBody>
      </p:sp>
      <p:cxnSp>
        <p:nvCxnSpPr>
          <p:cNvPr id="40" name="Connector 39"/>
          <p:cNvCxnSpPr/>
          <p:nvPr/>
        </p:nvCxnSpPr>
        <p:spPr>
          <a:xfrm>
            <a:off x="1219200" y="2727960"/>
            <a:ext cx="0" cy="480060"/>
          </a:xfrm>
          <a:prstGeom prst="line">
            <a:avLst/>
          </a:prstGeom>
          <a:ln w="15240">
            <a:solidFill>
              <a:srgbClr val="007C78"/>
            </a:solidFill>
          </a:ln>
          <a:effectLst/>
        </p:spPr>
      </p:cxnSp>
      <p:cxnSp>
        <p:nvCxnSpPr>
          <p:cNvPr id="41" name="Connector 40"/>
          <p:cNvCxnSpPr/>
          <p:nvPr/>
        </p:nvCxnSpPr>
        <p:spPr>
          <a:xfrm>
            <a:off x="1219200" y="3208020"/>
            <a:ext cx="3307080" cy="0"/>
          </a:xfrm>
          <a:prstGeom prst="line">
            <a:avLst/>
          </a:prstGeom>
          <a:ln w="15240">
            <a:solidFill>
              <a:srgbClr val="007C78"/>
            </a:solidFill>
          </a:ln>
          <a:effectLst/>
        </p:spPr>
      </p:cxnSp>
      <p:cxnSp>
        <p:nvCxnSpPr>
          <p:cNvPr id="42" name="Connector 41"/>
          <p:cNvCxnSpPr/>
          <p:nvPr/>
        </p:nvCxnSpPr>
        <p:spPr>
          <a:xfrm>
            <a:off x="4526280" y="3208020"/>
            <a:ext cx="0" cy="449580"/>
          </a:xfrm>
          <a:prstGeom prst="line">
            <a:avLst/>
          </a:prstGeom>
          <a:ln w="15240">
            <a:solidFill>
              <a:srgbClr val="007C78"/>
            </a:solidFill>
          </a:ln>
          <a:effectLst/>
        </p:spPr>
      </p:cxnSp>
      <p:sp>
        <p:nvSpPr>
          <p:cNvPr id="43" name="Freeform 42"/>
          <p:cNvSpPr/>
          <p:nvPr/>
        </p:nvSpPr>
        <p:spPr>
          <a:xfrm>
            <a:off x="4488180" y="355854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44" name="TextBox 43"/>
          <p:cNvSpPr txBox="1"/>
          <p:nvPr/>
        </p:nvSpPr>
        <p:spPr>
          <a:xfrm>
            <a:off x="1379220" y="2956560"/>
            <a:ext cx="4724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007C78"/>
                </a:solidFill>
                <a:latin typeface="DejaVu Sans"/>
              </a:rPr>
              <a:t>Scenario appends C1 events, then drains via relay</a:t>
            </a:r>
          </a:p>
        </p:txBody>
      </p:sp>
      <p:cxnSp>
        <p:nvCxnSpPr>
          <p:cNvPr id="45" name="Connector 44"/>
          <p:cNvCxnSpPr/>
          <p:nvPr/>
        </p:nvCxnSpPr>
        <p:spPr>
          <a:xfrm>
            <a:off x="7513320" y="4572000"/>
            <a:ext cx="0" cy="381000"/>
          </a:xfrm>
          <a:prstGeom prst="line">
            <a:avLst/>
          </a:prstGeom>
          <a:ln w="15240">
            <a:solidFill>
              <a:srgbClr val="315E9C"/>
            </a:solidFill>
          </a:ln>
          <a:effectLst/>
        </p:spPr>
      </p:cxnSp>
      <p:cxnSp>
        <p:nvCxnSpPr>
          <p:cNvPr id="46" name="Connector 45"/>
          <p:cNvCxnSpPr/>
          <p:nvPr/>
        </p:nvCxnSpPr>
        <p:spPr>
          <a:xfrm flipH="1">
            <a:off x="1691639" y="4953000"/>
            <a:ext cx="5821681" cy="0"/>
          </a:xfrm>
          <a:prstGeom prst="line">
            <a:avLst/>
          </a:prstGeom>
          <a:ln w="15240">
            <a:solidFill>
              <a:srgbClr val="315E9C"/>
            </a:solidFill>
          </a:ln>
          <a:effectLst/>
        </p:spPr>
      </p:cxnSp>
      <p:cxnSp>
        <p:nvCxnSpPr>
          <p:cNvPr id="47" name="Connector 46"/>
          <p:cNvCxnSpPr/>
          <p:nvPr/>
        </p:nvCxnSpPr>
        <p:spPr>
          <a:xfrm flipV="1">
            <a:off x="1691639" y="4572000"/>
            <a:ext cx="0" cy="381000"/>
          </a:xfrm>
          <a:prstGeom prst="line">
            <a:avLst/>
          </a:prstGeom>
          <a:ln w="15240">
            <a:solidFill>
              <a:srgbClr val="315E9C"/>
            </a:solidFill>
          </a:ln>
          <a:effectLst/>
        </p:spPr>
      </p:cxnSp>
      <p:sp>
        <p:nvSpPr>
          <p:cNvPr id="48" name="Freeform 47"/>
          <p:cNvSpPr/>
          <p:nvPr/>
        </p:nvSpPr>
        <p:spPr>
          <a:xfrm>
            <a:off x="1653540" y="4572000"/>
            <a:ext cx="76200" cy="99060"/>
          </a:xfrm>
          <a:custGeom>
            <a:avLst/>
            <a:gdLst/>
            <a:ahLst/>
            <a:cxnLst/>
            <a:rect l="l" t="t" r="r" b="b"/>
            <a:pathLst>
              <a:path w="10" h="13">
                <a:moveTo>
                  <a:pt x="5" y="0"/>
                </a:moveTo>
                <a:lnTo>
                  <a:pt x="0" y="13"/>
                </a:lnTo>
                <a:lnTo>
                  <a:pt x="10" y="13"/>
                </a:lnTo>
                <a:close/>
              </a:path>
            </a:pathLst>
          </a:custGeom>
          <a:solidFill>
            <a:srgbClr val="315E9C"/>
          </a:solidFill>
          <a:ln>
            <a:noFill/>
          </a:ln>
          <a:effectLst/>
        </p:spPr>
        <p:txBody>
          <a:bodyPr rtlCol="0" anchor="ctr"/>
          <a:lstStyle/>
          <a:p>
            <a:pPr algn="ctr"/>
          </a:p>
        </p:txBody>
      </p:sp>
      <p:sp>
        <p:nvSpPr>
          <p:cNvPr id="49" name="TextBox 48"/>
          <p:cNvSpPr txBox="1"/>
          <p:nvPr/>
        </p:nvSpPr>
        <p:spPr>
          <a:xfrm>
            <a:off x="3147060" y="4724400"/>
            <a:ext cx="37719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C2 → C1: readEvidence</a:t>
            </a:r>
          </a:p>
        </p:txBody>
      </p:sp>
      <p:sp>
        <p:nvSpPr>
          <p:cNvPr id="50" name="Rounded Rectangle 49"/>
          <p:cNvSpPr/>
          <p:nvPr/>
        </p:nvSpPr>
        <p:spPr>
          <a:xfrm>
            <a:off x="548640" y="5364480"/>
            <a:ext cx="7620000" cy="815340"/>
          </a:xfrm>
          <a:prstGeom prst="roundRect">
            <a:avLst>
              <a:gd name="adj" fmla="val 12149"/>
            </a:avLst>
          </a:prstGeom>
          <a:solidFill>
            <a:srgbClr val="DCEFE8"/>
          </a:solidFill>
          <a:ln w="7620">
            <a:solidFill>
              <a:srgbClr val="007C78"/>
            </a:solidFill>
          </a:ln>
          <a:effectLst/>
        </p:spPr>
        <p:txBody>
          <a:bodyPr rtlCol="0" anchor="ctr"/>
          <a:lstStyle/>
          <a:p>
            <a:pPr algn="ctr"/>
          </a:p>
        </p:txBody>
      </p:sp>
      <p:sp>
        <p:nvSpPr>
          <p:cNvPr id="51" name="TextBox 50"/>
          <p:cNvSpPr txBox="1"/>
          <p:nvPr/>
        </p:nvSpPr>
        <p:spPr>
          <a:xfrm>
            <a:off x="716280" y="5532120"/>
            <a:ext cx="7284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C1 / C2 / C4 → private AtomStorage → real DeTTa</a:t>
            </a:r>
          </a:p>
        </p:txBody>
      </p:sp>
      <p:sp>
        <p:nvSpPr>
          <p:cNvPr id="52" name="TextBox 51"/>
          <p:cNvSpPr txBox="1"/>
          <p:nvPr/>
        </p:nvSpPr>
        <p:spPr>
          <a:xfrm>
            <a:off x="716280" y="5871667"/>
            <a:ext cx="72847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Opaque bytes below the application boundary; each owner keeps its own journal.</a:t>
            </a:r>
          </a:p>
        </p:txBody>
      </p:sp>
      <p:sp>
        <p:nvSpPr>
          <p:cNvPr id="53" name="Rounded Rectangle 52"/>
          <p:cNvSpPr/>
          <p:nvPr/>
        </p:nvSpPr>
        <p:spPr>
          <a:xfrm>
            <a:off x="8595360" y="5364480"/>
            <a:ext cx="3048000" cy="815340"/>
          </a:xfrm>
          <a:prstGeom prst="roundRect">
            <a:avLst>
              <a:gd name="adj" fmla="val 12149"/>
            </a:avLst>
          </a:prstGeom>
          <a:solidFill>
            <a:srgbClr val="E7ECEB"/>
          </a:solidFill>
          <a:ln w="7620">
            <a:solidFill>
              <a:srgbClr val="315E9C"/>
            </a:solidFill>
          </a:ln>
          <a:effectLst/>
        </p:spPr>
        <p:txBody>
          <a:bodyPr rtlCol="0" anchor="ctr"/>
          <a:lstStyle/>
          <a:p>
            <a:pPr algn="ctr"/>
          </a:p>
        </p:txBody>
      </p:sp>
      <p:sp>
        <p:nvSpPr>
          <p:cNvPr id="54" name="TextBox 53"/>
          <p:cNvSpPr txBox="1"/>
          <p:nvPr/>
        </p:nvSpPr>
        <p:spPr>
          <a:xfrm>
            <a:off x="8763000" y="5532120"/>
            <a:ext cx="2712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315E9C"/>
                </a:solidFill>
                <a:latin typeface="DejaVu Sans"/>
              </a:rPr>
              <a:t>Authority + descriptors</a:t>
            </a:r>
          </a:p>
        </p:txBody>
      </p:sp>
      <p:sp>
        <p:nvSpPr>
          <p:cNvPr id="55" name="TextBox 54"/>
          <p:cNvSpPr txBox="1"/>
          <p:nvPr/>
        </p:nvSpPr>
        <p:spPr>
          <a:xfrm>
            <a:off x="8763000" y="5861913"/>
            <a:ext cx="2712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Checked at every owner port</a:t>
            </a:r>
          </a:p>
        </p:txBody>
      </p:sp>
      <p:cxnSp>
        <p:nvCxnSpPr>
          <p:cNvPr id="56" name="Connector 55"/>
          <p:cNvCxnSpPr/>
          <p:nvPr/>
        </p:nvCxnSpPr>
        <p:spPr>
          <a:xfrm>
            <a:off x="548640" y="6393180"/>
            <a:ext cx="11094720" cy="0"/>
          </a:xfrm>
          <a:prstGeom prst="line">
            <a:avLst/>
          </a:prstGeom>
          <a:ln w="7620">
            <a:solidFill>
              <a:srgbClr val="C9D2D4"/>
            </a:solidFill>
          </a:ln>
          <a:effectLst/>
        </p:spPr>
      </p:cxnSp>
      <p:sp>
        <p:nvSpPr>
          <p:cNvPr id="57" name="TextBox 5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cognition.py · ports.py · evidence_relay.py</a:t>
            </a:r>
          </a:p>
        </p:txBody>
      </p:sp>
      <p:sp>
        <p:nvSpPr>
          <p:cNvPr id="58" name="TextBox 5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SHARED APPLICATION PORTS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Function dependencies: the preserved M1.2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Solid arrows = exercised calls. Every provider effect crosses an existing validated interface.</a:t>
            </a:r>
          </a:p>
        </p:txBody>
      </p:sp>
      <p:sp>
        <p:nvSpPr>
          <p:cNvPr id="5" name="Rounded Rectangle 4"/>
          <p:cNvSpPr/>
          <p:nvPr/>
        </p:nvSpPr>
        <p:spPr>
          <a:xfrm>
            <a:off x="548640" y="1874520"/>
            <a:ext cx="2514600" cy="990600"/>
          </a:xfrm>
          <a:prstGeom prst="roundRect">
            <a:avLst>
              <a:gd name="adj" fmla="val 10000"/>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42159"/>
            <a:ext cx="2179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Native Hive</a:t>
            </a:r>
          </a:p>
        </p:txBody>
      </p:sp>
      <p:sp>
        <p:nvSpPr>
          <p:cNvPr id="7" name="TextBox 6"/>
          <p:cNvSpPr txBox="1"/>
          <p:nvPr/>
        </p:nvSpPr>
        <p:spPr>
          <a:xfrm>
            <a:off x="716280" y="2391460"/>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POST /programs/…/act</a:t>
            </a:r>
          </a:p>
        </p:txBody>
      </p:sp>
      <p:sp>
        <p:nvSpPr>
          <p:cNvPr id="8" name="TextBox 7"/>
          <p:cNvSpPr txBox="1"/>
          <p:nvPr/>
        </p:nvSpPr>
        <p:spPr>
          <a:xfrm>
            <a:off x="716280" y="2596286"/>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Trusted actor + command</a:t>
            </a:r>
          </a:p>
        </p:txBody>
      </p:sp>
      <p:sp>
        <p:nvSpPr>
          <p:cNvPr id="9" name="Rounded Rectangle 8"/>
          <p:cNvSpPr/>
          <p:nvPr/>
        </p:nvSpPr>
        <p:spPr>
          <a:xfrm>
            <a:off x="4076700" y="1874520"/>
            <a:ext cx="3276600" cy="990600"/>
          </a:xfrm>
          <a:prstGeom prst="roundRect">
            <a:avLst>
              <a:gd name="adj" fmla="val 10000"/>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244340" y="2042159"/>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Fusion inspect plugin</a:t>
            </a:r>
          </a:p>
        </p:txBody>
      </p:sp>
      <p:sp>
        <p:nvSpPr>
          <p:cNvPr id="11" name="TextBox 10"/>
          <p:cNvSpPr txBox="1"/>
          <p:nvPr/>
        </p:nvSpPr>
        <p:spPr>
          <a:xfrm>
            <a:off x="4244340" y="2391460"/>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Owns caller receipts</a:t>
            </a:r>
          </a:p>
        </p:txBody>
      </p:sp>
      <p:sp>
        <p:nvSpPr>
          <p:cNvPr id="12" name="TextBox 11"/>
          <p:cNvSpPr txBox="1"/>
          <p:nvPr/>
        </p:nvSpPr>
        <p:spPr>
          <a:xfrm>
            <a:off x="4244340" y="2596286"/>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Uses selected stdio binding</a:t>
            </a:r>
          </a:p>
        </p:txBody>
      </p:sp>
      <p:sp>
        <p:nvSpPr>
          <p:cNvPr id="13" name="Rounded Rectangle 12"/>
          <p:cNvSpPr/>
          <p:nvPr/>
        </p:nvSpPr>
        <p:spPr>
          <a:xfrm>
            <a:off x="8229600" y="1874520"/>
            <a:ext cx="3413760" cy="990600"/>
          </a:xfrm>
          <a:prstGeom prst="roundRect">
            <a:avLst>
              <a:gd name="adj" fmla="val 10000"/>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397240" y="2042159"/>
            <a:ext cx="30784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Registry + resolver</a:t>
            </a:r>
          </a:p>
        </p:txBody>
      </p:sp>
      <p:sp>
        <p:nvSpPr>
          <p:cNvPr id="15" name="TextBox 14"/>
          <p:cNvSpPr txBox="1"/>
          <p:nvPr/>
        </p:nvSpPr>
        <p:spPr>
          <a:xfrm>
            <a:off x="8397240" y="2391460"/>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describe → select</a:t>
            </a:r>
          </a:p>
        </p:txBody>
      </p:sp>
      <p:sp>
        <p:nvSpPr>
          <p:cNvPr id="16" name="TextBox 15"/>
          <p:cNvSpPr txBox="1"/>
          <p:nvPr/>
        </p:nvSpPr>
        <p:spPr>
          <a:xfrm>
            <a:off x="8397240" y="2596286"/>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Pin full descriptor tokens</a:t>
            </a:r>
          </a:p>
        </p:txBody>
      </p:sp>
      <p:cxnSp>
        <p:nvCxnSpPr>
          <p:cNvPr id="17" name="Connector 16"/>
          <p:cNvCxnSpPr/>
          <p:nvPr/>
        </p:nvCxnSpPr>
        <p:spPr>
          <a:xfrm>
            <a:off x="3063240" y="2377440"/>
            <a:ext cx="1013460" cy="0"/>
          </a:xfrm>
          <a:prstGeom prst="line">
            <a:avLst/>
          </a:prstGeom>
          <a:ln w="15240">
            <a:solidFill>
              <a:srgbClr val="007C78"/>
            </a:solidFill>
          </a:ln>
          <a:effectLst/>
        </p:spPr>
      </p:cxnSp>
      <p:sp>
        <p:nvSpPr>
          <p:cNvPr id="18" name="Freeform 17"/>
          <p:cNvSpPr/>
          <p:nvPr/>
        </p:nvSpPr>
        <p:spPr>
          <a:xfrm>
            <a:off x="3977640" y="23393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9" name="Connector 18"/>
          <p:cNvCxnSpPr/>
          <p:nvPr/>
        </p:nvCxnSpPr>
        <p:spPr>
          <a:xfrm>
            <a:off x="7353300" y="2377440"/>
            <a:ext cx="876300" cy="0"/>
          </a:xfrm>
          <a:prstGeom prst="line">
            <a:avLst/>
          </a:prstGeom>
          <a:ln w="15240">
            <a:solidFill>
              <a:srgbClr val="315E9C"/>
            </a:solidFill>
          </a:ln>
          <a:effectLst/>
        </p:spPr>
      </p:cxnSp>
      <p:sp>
        <p:nvSpPr>
          <p:cNvPr id="20" name="Freeform 19"/>
          <p:cNvSpPr/>
          <p:nvPr/>
        </p:nvSpPr>
        <p:spPr>
          <a:xfrm>
            <a:off x="8130540" y="23393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1" name="Rounded Rectangle 20"/>
          <p:cNvSpPr/>
          <p:nvPr/>
        </p:nvSpPr>
        <p:spPr>
          <a:xfrm>
            <a:off x="4076700" y="3467100"/>
            <a:ext cx="32766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2" name="TextBox 21"/>
          <p:cNvSpPr txBox="1"/>
          <p:nvPr/>
        </p:nvSpPr>
        <p:spPr>
          <a:xfrm>
            <a:off x="4244340" y="3634740"/>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Validated binding + policy</a:t>
            </a:r>
          </a:p>
        </p:txBody>
      </p:sp>
      <p:sp>
        <p:nvSpPr>
          <p:cNvPr id="23" name="TextBox 22"/>
          <p:cNvSpPr txBox="1"/>
          <p:nvPr/>
        </p:nvSpPr>
        <p:spPr>
          <a:xfrm>
            <a:off x="4244340" y="3954779"/>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Wire/profile checks · live authority</a:t>
            </a:r>
          </a:p>
        </p:txBody>
      </p:sp>
      <p:cxnSp>
        <p:nvCxnSpPr>
          <p:cNvPr id="24" name="Connector 23"/>
          <p:cNvCxnSpPr/>
          <p:nvPr/>
        </p:nvCxnSpPr>
        <p:spPr>
          <a:xfrm>
            <a:off x="5715000" y="2865120"/>
            <a:ext cx="0" cy="601980"/>
          </a:xfrm>
          <a:prstGeom prst="line">
            <a:avLst/>
          </a:prstGeom>
          <a:ln w="15240">
            <a:solidFill>
              <a:srgbClr val="315E9C"/>
            </a:solidFill>
          </a:ln>
          <a:effectLst/>
        </p:spPr>
      </p:cxnSp>
      <p:sp>
        <p:nvSpPr>
          <p:cNvPr id="25" name="Freeform 24"/>
          <p:cNvSpPr/>
          <p:nvPr/>
        </p:nvSpPr>
        <p:spPr>
          <a:xfrm>
            <a:off x="567690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26" name="Rounded Rectangle 25"/>
          <p:cNvSpPr/>
          <p:nvPr/>
        </p:nvSpPr>
        <p:spPr>
          <a:xfrm>
            <a:off x="548640" y="3467100"/>
            <a:ext cx="25146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27" name="TextBox 26"/>
          <p:cNvSpPr txBox="1"/>
          <p:nvPr/>
        </p:nvSpPr>
        <p:spPr>
          <a:xfrm>
            <a:off x="716280" y="3634740"/>
            <a:ext cx="2179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Execution</a:t>
            </a:r>
          </a:p>
        </p:txBody>
      </p:sp>
      <p:sp>
        <p:nvSpPr>
          <p:cNvPr id="28" name="TextBox 27"/>
          <p:cNvSpPr txBox="1"/>
          <p:nvPr/>
        </p:nvSpPr>
        <p:spPr>
          <a:xfrm>
            <a:off x="716280" y="3993794"/>
            <a:ext cx="2179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submit · status · result</a:t>
            </a:r>
          </a:p>
        </p:txBody>
      </p:sp>
      <p:sp>
        <p:nvSpPr>
          <p:cNvPr id="29" name="Rounded Rectangle 28"/>
          <p:cNvSpPr/>
          <p:nvPr/>
        </p:nvSpPr>
        <p:spPr>
          <a:xfrm>
            <a:off x="8229600" y="3467100"/>
            <a:ext cx="341376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8397240" y="3634740"/>
            <a:ext cx="3078479"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AtomStorage</a:t>
            </a:r>
          </a:p>
        </p:txBody>
      </p:sp>
      <p:sp>
        <p:nvSpPr>
          <p:cNvPr id="31" name="TextBox 30"/>
          <p:cNvSpPr txBox="1"/>
          <p:nvPr/>
        </p:nvSpPr>
        <p:spPr>
          <a:xfrm>
            <a:off x="8397240" y="3993794"/>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create · get · getMany · availability</a:t>
            </a:r>
          </a:p>
        </p:txBody>
      </p:sp>
      <p:cxnSp>
        <p:nvCxnSpPr>
          <p:cNvPr id="32" name="Connector 31"/>
          <p:cNvCxnSpPr/>
          <p:nvPr/>
        </p:nvCxnSpPr>
        <p:spPr>
          <a:xfrm flipH="1">
            <a:off x="3063240" y="3916679"/>
            <a:ext cx="1013460" cy="0"/>
          </a:xfrm>
          <a:prstGeom prst="line">
            <a:avLst/>
          </a:prstGeom>
          <a:ln w="15240">
            <a:solidFill>
              <a:srgbClr val="315E9C"/>
            </a:solidFill>
          </a:ln>
          <a:effectLst/>
        </p:spPr>
      </p:cxnSp>
      <p:sp>
        <p:nvSpPr>
          <p:cNvPr id="33" name="Freeform 32"/>
          <p:cNvSpPr/>
          <p:nvPr/>
        </p:nvSpPr>
        <p:spPr>
          <a:xfrm>
            <a:off x="3063240" y="387858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34" name="Connector 33"/>
          <p:cNvCxnSpPr/>
          <p:nvPr/>
        </p:nvCxnSpPr>
        <p:spPr>
          <a:xfrm>
            <a:off x="7353300" y="3916679"/>
            <a:ext cx="876300" cy="0"/>
          </a:xfrm>
          <a:prstGeom prst="line">
            <a:avLst/>
          </a:prstGeom>
          <a:ln w="15240">
            <a:solidFill>
              <a:srgbClr val="315E9C"/>
            </a:solidFill>
          </a:ln>
          <a:effectLst/>
        </p:spPr>
      </p:cxnSp>
      <p:sp>
        <p:nvSpPr>
          <p:cNvPr id="35" name="Freeform 34"/>
          <p:cNvSpPr/>
          <p:nvPr/>
        </p:nvSpPr>
        <p:spPr>
          <a:xfrm>
            <a:off x="8130540" y="38785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6" name="Connector 35"/>
          <p:cNvCxnSpPr/>
          <p:nvPr/>
        </p:nvCxnSpPr>
        <p:spPr>
          <a:xfrm flipV="1">
            <a:off x="1805939" y="3154679"/>
            <a:ext cx="0" cy="312421"/>
          </a:xfrm>
          <a:prstGeom prst="line">
            <a:avLst/>
          </a:prstGeom>
          <a:ln w="15240">
            <a:solidFill>
              <a:srgbClr val="315E9C"/>
            </a:solidFill>
          </a:ln>
          <a:effectLst/>
        </p:spPr>
      </p:cxnSp>
      <p:cxnSp>
        <p:nvCxnSpPr>
          <p:cNvPr id="37" name="Connector 36"/>
          <p:cNvCxnSpPr/>
          <p:nvPr/>
        </p:nvCxnSpPr>
        <p:spPr>
          <a:xfrm>
            <a:off x="1805939" y="3154679"/>
            <a:ext cx="8130541" cy="0"/>
          </a:xfrm>
          <a:prstGeom prst="line">
            <a:avLst/>
          </a:prstGeom>
          <a:ln w="15240">
            <a:solidFill>
              <a:srgbClr val="315E9C"/>
            </a:solidFill>
          </a:ln>
          <a:effectLst/>
        </p:spPr>
      </p:cxnSp>
      <p:cxnSp>
        <p:nvCxnSpPr>
          <p:cNvPr id="38" name="Connector 37"/>
          <p:cNvCxnSpPr/>
          <p:nvPr/>
        </p:nvCxnSpPr>
        <p:spPr>
          <a:xfrm>
            <a:off x="9936480" y="3154679"/>
            <a:ext cx="0" cy="312421"/>
          </a:xfrm>
          <a:prstGeom prst="line">
            <a:avLst/>
          </a:prstGeom>
          <a:ln w="15240">
            <a:solidFill>
              <a:srgbClr val="315E9C"/>
            </a:solidFill>
          </a:ln>
          <a:effectLst/>
        </p:spPr>
      </p:cxnSp>
      <p:sp>
        <p:nvSpPr>
          <p:cNvPr id="39" name="Freeform 38"/>
          <p:cNvSpPr/>
          <p:nvPr/>
        </p:nvSpPr>
        <p:spPr>
          <a:xfrm>
            <a:off x="989838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40" name="TextBox 39"/>
          <p:cNvSpPr txBox="1"/>
          <p:nvPr/>
        </p:nvSpPr>
        <p:spPr>
          <a:xfrm>
            <a:off x="6096000" y="2941320"/>
            <a:ext cx="5334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315E9C"/>
                </a:solidFill>
                <a:latin typeface="DejaVu Sans"/>
              </a:rPr>
              <a:t>Submit → get(input) · worker → get / create</a:t>
            </a:r>
          </a:p>
        </p:txBody>
      </p:sp>
      <p:sp>
        <p:nvSpPr>
          <p:cNvPr id="41" name="Rounded Rectangle 40"/>
          <p:cNvSpPr/>
          <p:nvPr/>
        </p:nvSpPr>
        <p:spPr>
          <a:xfrm>
            <a:off x="4076700" y="5158740"/>
            <a:ext cx="3276600" cy="800100"/>
          </a:xfrm>
          <a:prstGeom prst="roundRect">
            <a:avLst>
              <a:gd name="adj" fmla="val 12380"/>
            </a:avLst>
          </a:prstGeom>
          <a:solidFill>
            <a:srgbClr val="FFFFFF"/>
          </a:solidFill>
          <a:ln w="7620">
            <a:solidFill>
              <a:srgbClr val="315E9C"/>
            </a:solidFill>
          </a:ln>
          <a:effectLst/>
        </p:spPr>
        <p:txBody>
          <a:bodyPr rtlCol="0" anchor="ctr"/>
          <a:lstStyle/>
          <a:p>
            <a:pPr algn="ctr"/>
          </a:p>
        </p:txBody>
      </p:sp>
      <p:sp>
        <p:nvSpPr>
          <p:cNvPr id="42" name="TextBox 41"/>
          <p:cNvSpPr txBox="1"/>
          <p:nvPr/>
        </p:nvSpPr>
        <p:spPr>
          <a:xfrm>
            <a:off x="4244340" y="5326380"/>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Messaging</a:t>
            </a:r>
          </a:p>
        </p:txBody>
      </p:sp>
      <p:sp>
        <p:nvSpPr>
          <p:cNvPr id="43" name="TextBox 42"/>
          <p:cNvSpPr txBox="1"/>
          <p:nvPr/>
        </p:nvSpPr>
        <p:spPr>
          <a:xfrm>
            <a:off x="4244340" y="5675680"/>
            <a:ext cx="2941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send · poll · ack</a:t>
            </a:r>
          </a:p>
        </p:txBody>
      </p:sp>
      <p:cxnSp>
        <p:nvCxnSpPr>
          <p:cNvPr id="44" name="Connector 43"/>
          <p:cNvCxnSpPr/>
          <p:nvPr/>
        </p:nvCxnSpPr>
        <p:spPr>
          <a:xfrm>
            <a:off x="5715000" y="4381500"/>
            <a:ext cx="0" cy="777240"/>
          </a:xfrm>
          <a:prstGeom prst="line">
            <a:avLst/>
          </a:prstGeom>
          <a:ln w="15240">
            <a:solidFill>
              <a:srgbClr val="315E9C"/>
            </a:solidFill>
          </a:ln>
          <a:effectLst/>
        </p:spPr>
      </p:cxnSp>
      <p:sp>
        <p:nvSpPr>
          <p:cNvPr id="45" name="Freeform 44"/>
          <p:cNvSpPr/>
          <p:nvPr/>
        </p:nvSpPr>
        <p:spPr>
          <a:xfrm>
            <a:off x="5676900" y="505968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46" name="Connector 45"/>
          <p:cNvCxnSpPr/>
          <p:nvPr/>
        </p:nvCxnSpPr>
        <p:spPr>
          <a:xfrm>
            <a:off x="1805939" y="4381500"/>
            <a:ext cx="0" cy="1173480"/>
          </a:xfrm>
          <a:prstGeom prst="line">
            <a:avLst/>
          </a:prstGeom>
          <a:ln w="15240">
            <a:solidFill>
              <a:srgbClr val="315E9C"/>
            </a:solidFill>
          </a:ln>
          <a:effectLst/>
        </p:spPr>
      </p:cxnSp>
      <p:cxnSp>
        <p:nvCxnSpPr>
          <p:cNvPr id="47" name="Connector 46"/>
          <p:cNvCxnSpPr/>
          <p:nvPr/>
        </p:nvCxnSpPr>
        <p:spPr>
          <a:xfrm>
            <a:off x="1805939" y="5554980"/>
            <a:ext cx="2270761" cy="0"/>
          </a:xfrm>
          <a:prstGeom prst="line">
            <a:avLst/>
          </a:prstGeom>
          <a:ln w="15240">
            <a:solidFill>
              <a:srgbClr val="315E9C"/>
            </a:solidFill>
          </a:ln>
          <a:effectLst/>
        </p:spPr>
      </p:cxnSp>
      <p:sp>
        <p:nvSpPr>
          <p:cNvPr id="48" name="Freeform 47"/>
          <p:cNvSpPr/>
          <p:nvPr/>
        </p:nvSpPr>
        <p:spPr>
          <a:xfrm>
            <a:off x="3977640" y="55168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9" name="TextBox 48"/>
          <p:cNvSpPr txBox="1"/>
          <p:nvPr/>
        </p:nvSpPr>
        <p:spPr>
          <a:xfrm>
            <a:off x="2148840" y="4770120"/>
            <a:ext cx="3276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315E9C"/>
                </a:solidFill>
                <a:latin typeface="DejaVu Sans"/>
              </a:rPr>
              <a:t>Outbox → CompletionDelivery.accept</a:t>
            </a:r>
          </a:p>
        </p:txBody>
      </p:sp>
      <p:cxnSp>
        <p:nvCxnSpPr>
          <p:cNvPr id="50" name="Connector 49"/>
          <p:cNvCxnSpPr/>
          <p:nvPr/>
        </p:nvCxnSpPr>
        <p:spPr>
          <a:xfrm>
            <a:off x="7353300" y="5554980"/>
            <a:ext cx="419100" cy="0"/>
          </a:xfrm>
          <a:prstGeom prst="line">
            <a:avLst/>
          </a:prstGeom>
          <a:ln w="15240">
            <a:solidFill>
              <a:srgbClr val="315E9C"/>
            </a:solidFill>
          </a:ln>
          <a:effectLst/>
        </p:spPr>
      </p:cxnSp>
      <p:cxnSp>
        <p:nvCxnSpPr>
          <p:cNvPr id="51" name="Connector 50"/>
          <p:cNvCxnSpPr/>
          <p:nvPr/>
        </p:nvCxnSpPr>
        <p:spPr>
          <a:xfrm flipV="1">
            <a:off x="7772400" y="4191000"/>
            <a:ext cx="0" cy="1363980"/>
          </a:xfrm>
          <a:prstGeom prst="line">
            <a:avLst/>
          </a:prstGeom>
          <a:ln w="15240">
            <a:solidFill>
              <a:srgbClr val="315E9C"/>
            </a:solidFill>
          </a:ln>
          <a:effectLst/>
        </p:spPr>
      </p:cxnSp>
      <p:cxnSp>
        <p:nvCxnSpPr>
          <p:cNvPr id="52" name="Connector 51"/>
          <p:cNvCxnSpPr/>
          <p:nvPr/>
        </p:nvCxnSpPr>
        <p:spPr>
          <a:xfrm>
            <a:off x="7772400" y="4191000"/>
            <a:ext cx="457200" cy="0"/>
          </a:xfrm>
          <a:prstGeom prst="line">
            <a:avLst/>
          </a:prstGeom>
          <a:ln w="15240">
            <a:solidFill>
              <a:srgbClr val="315E9C"/>
            </a:solidFill>
          </a:ln>
          <a:effectLst/>
        </p:spPr>
      </p:cxnSp>
      <p:sp>
        <p:nvSpPr>
          <p:cNvPr id="53" name="Freeform 52"/>
          <p:cNvSpPr/>
          <p:nvPr/>
        </p:nvSpPr>
        <p:spPr>
          <a:xfrm>
            <a:off x="8130540" y="41529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54" name="TextBox 53"/>
          <p:cNvSpPr txBox="1"/>
          <p:nvPr/>
        </p:nvSpPr>
        <p:spPr>
          <a:xfrm>
            <a:off x="6111240" y="4770120"/>
            <a:ext cx="1600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send → get(ref)</a:t>
            </a:r>
          </a:p>
        </p:txBody>
      </p:sp>
      <p:sp>
        <p:nvSpPr>
          <p:cNvPr id="55" name="Rounded Rectangle 54"/>
          <p:cNvSpPr/>
          <p:nvPr/>
        </p:nvSpPr>
        <p:spPr>
          <a:xfrm>
            <a:off x="8229600" y="5158740"/>
            <a:ext cx="341376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56" name="TextBox 55"/>
          <p:cNvSpPr txBox="1"/>
          <p:nvPr/>
        </p:nvSpPr>
        <p:spPr>
          <a:xfrm>
            <a:off x="8397240" y="5326380"/>
            <a:ext cx="30784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DeTTa DA / FileStorage</a:t>
            </a:r>
          </a:p>
        </p:txBody>
      </p:sp>
      <p:sp>
        <p:nvSpPr>
          <p:cNvPr id="57" name="TextBox 56"/>
          <p:cNvSpPr txBox="1"/>
          <p:nvPr/>
        </p:nvSpPr>
        <p:spPr>
          <a:xfrm>
            <a:off x="8397240" y="5665927"/>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Opaque put · get · availability</a:t>
            </a:r>
          </a:p>
        </p:txBody>
      </p:sp>
      <p:cxnSp>
        <p:nvCxnSpPr>
          <p:cNvPr id="58" name="Connector 57"/>
          <p:cNvCxnSpPr/>
          <p:nvPr/>
        </p:nvCxnSpPr>
        <p:spPr>
          <a:xfrm>
            <a:off x="9936480" y="4381500"/>
            <a:ext cx="0" cy="777240"/>
          </a:xfrm>
          <a:prstGeom prst="line">
            <a:avLst/>
          </a:prstGeom>
          <a:ln w="15240">
            <a:solidFill>
              <a:srgbClr val="007C78"/>
            </a:solidFill>
          </a:ln>
          <a:effectLst/>
        </p:spPr>
      </p:cxnSp>
      <p:sp>
        <p:nvSpPr>
          <p:cNvPr id="59" name="Freeform 58"/>
          <p:cNvSpPr/>
          <p:nvPr/>
        </p:nvSpPr>
        <p:spPr>
          <a:xfrm>
            <a:off x="9898380" y="505968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60" name="TextBox 59"/>
          <p:cNvSpPr txBox="1"/>
          <p:nvPr/>
        </p:nvSpPr>
        <p:spPr>
          <a:xfrm>
            <a:off x="662940" y="6065520"/>
            <a:ext cx="10363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Optional finality uses a separate caller + approved digest + signer; M1.2 does not invoke it.</a:t>
            </a:r>
          </a:p>
        </p:txBody>
      </p:sp>
      <p:cxnSp>
        <p:nvCxnSpPr>
          <p:cNvPr id="61" name="Connector 60"/>
          <p:cNvCxnSpPr/>
          <p:nvPr/>
        </p:nvCxnSpPr>
        <p:spPr>
          <a:xfrm>
            <a:off x="548640" y="6393180"/>
            <a:ext cx="11094720" cy="0"/>
          </a:xfrm>
          <a:prstGeom prst="line">
            <a:avLst/>
          </a:prstGeom>
          <a:ln w="7620">
            <a:solidFill>
              <a:srgbClr val="C9D2D4"/>
            </a:solidFill>
          </a:ln>
          <a:effectLst/>
        </p:spPr>
      </p:cxnSp>
      <p:sp>
        <p:nvSpPr>
          <p:cNvPr id="62" name="TextBox 6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program.py · ports.py · execution.py</a:t>
            </a:r>
          </a:p>
        </p:txBody>
      </p:sp>
      <p:sp>
        <p:nvSpPr>
          <p:cNvPr id="63" name="TextBox 6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BOUNDARY · APPLICATION-NEUTRAL PERSISTENCE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DA boundary remains application-neutral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external adapter translates application references into generic coordinates and opaque bytes.</a:t>
            </a:r>
          </a:p>
        </p:txBody>
      </p:sp>
      <p:sp>
        <p:nvSpPr>
          <p:cNvPr id="5" name="Rounded Rectangle 4"/>
          <p:cNvSpPr/>
          <p:nvPr/>
        </p:nvSpPr>
        <p:spPr>
          <a:xfrm>
            <a:off x="548640" y="1927859"/>
            <a:ext cx="3429000" cy="1249680"/>
          </a:xfrm>
          <a:prstGeom prst="roundRect">
            <a:avLst>
              <a:gd name="adj" fmla="val 7926"/>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95500"/>
            <a:ext cx="3093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Application contracts</a:t>
            </a:r>
          </a:p>
        </p:txBody>
      </p:sp>
      <p:sp>
        <p:nvSpPr>
          <p:cNvPr id="7" name="TextBox 6"/>
          <p:cNvSpPr txBox="1"/>
          <p:nvPr/>
        </p:nvSpPr>
        <p:spPr>
          <a:xfrm>
            <a:off x="716280" y="2464308"/>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Scope · references · replay</a:t>
            </a:r>
          </a:p>
        </p:txBody>
      </p:sp>
      <p:sp>
        <p:nvSpPr>
          <p:cNvPr id="8" name="TextBox 7"/>
          <p:cNvSpPr txBox="1"/>
          <p:nvPr/>
        </p:nvSpPr>
        <p:spPr>
          <a:xfrm>
            <a:off x="716280" y="2717901"/>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identity</a:t>
            </a:r>
          </a:p>
        </p:txBody>
      </p:sp>
      <p:sp>
        <p:nvSpPr>
          <p:cNvPr id="9" name="Rounded Rectangle 8"/>
          <p:cNvSpPr/>
          <p:nvPr/>
        </p:nvSpPr>
        <p:spPr>
          <a:xfrm>
            <a:off x="4716780" y="1927859"/>
            <a:ext cx="308610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0" name="TextBox 9"/>
          <p:cNvSpPr txBox="1"/>
          <p:nvPr/>
        </p:nvSpPr>
        <p:spPr>
          <a:xfrm>
            <a:off x="4884420" y="2095500"/>
            <a:ext cx="27508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External adapter</a:t>
            </a:r>
          </a:p>
        </p:txBody>
      </p:sp>
      <p:sp>
        <p:nvSpPr>
          <p:cNvPr id="11" name="TextBox 10"/>
          <p:cNvSpPr txBox="1"/>
          <p:nvPr/>
        </p:nvSpPr>
        <p:spPr>
          <a:xfrm>
            <a:off x="4884420" y="2464308"/>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Opaque payload + generic</a:t>
            </a:r>
          </a:p>
        </p:txBody>
      </p:sp>
      <p:sp>
        <p:nvSpPr>
          <p:cNvPr id="12" name="TextBox 11"/>
          <p:cNvSpPr txBox="1"/>
          <p:nvPr/>
        </p:nvSpPr>
        <p:spPr>
          <a:xfrm>
            <a:off x="4884420" y="2717901"/>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coordinate</a:t>
            </a:r>
          </a:p>
        </p:txBody>
      </p:sp>
      <p:sp>
        <p:nvSpPr>
          <p:cNvPr id="13" name="Rounded Rectangle 12"/>
          <p:cNvSpPr/>
          <p:nvPr/>
        </p:nvSpPr>
        <p:spPr>
          <a:xfrm>
            <a:off x="8542020" y="1927859"/>
            <a:ext cx="310134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4" name="TextBox 13"/>
          <p:cNvSpPr txBox="1"/>
          <p:nvPr/>
        </p:nvSpPr>
        <p:spPr>
          <a:xfrm>
            <a:off x="8709660" y="2095500"/>
            <a:ext cx="276606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DeTTa core</a:t>
            </a:r>
          </a:p>
        </p:txBody>
      </p:sp>
      <p:sp>
        <p:nvSpPr>
          <p:cNvPr id="15" name="TextBox 14"/>
          <p:cNvSpPr txBox="1"/>
          <p:nvPr/>
        </p:nvSpPr>
        <p:spPr>
          <a:xfrm>
            <a:off x="8709660" y="2464308"/>
            <a:ext cx="276606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DA encoding + FileStorage</a:t>
            </a:r>
          </a:p>
        </p:txBody>
      </p:sp>
      <p:cxnSp>
        <p:nvCxnSpPr>
          <p:cNvPr id="16" name="Connector 15"/>
          <p:cNvCxnSpPr/>
          <p:nvPr/>
        </p:nvCxnSpPr>
        <p:spPr>
          <a:xfrm>
            <a:off x="3977640" y="2552700"/>
            <a:ext cx="739140" cy="0"/>
          </a:xfrm>
          <a:prstGeom prst="line">
            <a:avLst/>
          </a:prstGeom>
          <a:ln w="15240">
            <a:solidFill>
              <a:srgbClr val="007C78"/>
            </a:solidFill>
          </a:ln>
          <a:effectLst/>
        </p:spPr>
      </p:cxnSp>
      <p:sp>
        <p:nvSpPr>
          <p:cNvPr id="17" name="Freeform 16"/>
          <p:cNvSpPr/>
          <p:nvPr/>
        </p:nvSpPr>
        <p:spPr>
          <a:xfrm>
            <a:off x="461772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8" name="Connector 17"/>
          <p:cNvCxnSpPr/>
          <p:nvPr/>
        </p:nvCxnSpPr>
        <p:spPr>
          <a:xfrm>
            <a:off x="7802880" y="2552700"/>
            <a:ext cx="739140" cy="0"/>
          </a:xfrm>
          <a:prstGeom prst="line">
            <a:avLst/>
          </a:prstGeom>
          <a:ln w="15240">
            <a:solidFill>
              <a:srgbClr val="007C78"/>
            </a:solidFill>
          </a:ln>
          <a:effectLst/>
        </p:spPr>
      </p:cxnSp>
      <p:sp>
        <p:nvSpPr>
          <p:cNvPr id="19" name="Freeform 18"/>
          <p:cNvSpPr/>
          <p:nvPr/>
        </p:nvSpPr>
        <p:spPr>
          <a:xfrm>
            <a:off x="844296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0" name="TextBox 19"/>
          <p:cNvSpPr txBox="1"/>
          <p:nvPr/>
        </p:nvSpPr>
        <p:spPr>
          <a:xfrm>
            <a:off x="571500" y="3634740"/>
            <a:ext cx="7620000" cy="370636"/>
          </a:xfrm>
          <a:prstGeom prst="rect">
            <a:avLst/>
          </a:prstGeom>
          <a:noFill/>
        </p:spPr>
        <p:txBody>
          <a:bodyPr wrap="none" lIns="0" rIns="0" tIns="0" bIns="0" anchor="t" anchorCtr="0">
            <a:noAutofit/>
          </a:bodyPr>
          <a:lstStyle/>
          <a:p>
            <a:pPr algn="l">
              <a:lnSpc>
                <a:spcPct val="100000"/>
              </a:lnSpc>
              <a:spcBef>
                <a:spcPts val="0"/>
              </a:spcBef>
              <a:spcAft>
                <a:spcPts val="0"/>
              </a:spcAft>
            </a:pPr>
            <a:r>
              <a:rPr sz="2280" b="1">
                <a:solidFill>
                  <a:srgbClr val="102B3F"/>
                </a:solidFill>
                <a:latin typeface="DejaVu Sans"/>
              </a:rPr>
              <a:t>4 data shares + 2 parity shares</a:t>
            </a:r>
          </a:p>
        </p:txBody>
      </p:sp>
      <p:sp>
        <p:nvSpPr>
          <p:cNvPr id="21" name="Rounded Rectangle 20"/>
          <p:cNvSpPr/>
          <p:nvPr/>
        </p:nvSpPr>
        <p:spPr>
          <a:xfrm>
            <a:off x="56388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2" name="TextBox 21"/>
          <p:cNvSpPr txBox="1"/>
          <p:nvPr/>
        </p:nvSpPr>
        <p:spPr>
          <a:xfrm>
            <a:off x="8001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S1</a:t>
            </a:r>
          </a:p>
        </p:txBody>
      </p:sp>
      <p:sp>
        <p:nvSpPr>
          <p:cNvPr id="23" name="TextBox 22"/>
          <p:cNvSpPr txBox="1"/>
          <p:nvPr/>
        </p:nvSpPr>
        <p:spPr>
          <a:xfrm>
            <a:off x="6858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4" name="Rounded Rectangle 23"/>
          <p:cNvSpPr/>
          <p:nvPr/>
        </p:nvSpPr>
        <p:spPr>
          <a:xfrm>
            <a:off x="1729739"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1965959"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S2</a:t>
            </a:r>
          </a:p>
        </p:txBody>
      </p:sp>
      <p:sp>
        <p:nvSpPr>
          <p:cNvPr id="26" name="TextBox 25"/>
          <p:cNvSpPr txBox="1"/>
          <p:nvPr/>
        </p:nvSpPr>
        <p:spPr>
          <a:xfrm>
            <a:off x="185165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7" name="Rounded Rectangle 26"/>
          <p:cNvSpPr/>
          <p:nvPr/>
        </p:nvSpPr>
        <p:spPr>
          <a:xfrm>
            <a:off x="289560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8" name="TextBox 27"/>
          <p:cNvSpPr txBox="1"/>
          <p:nvPr/>
        </p:nvSpPr>
        <p:spPr>
          <a:xfrm>
            <a:off x="313182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S3</a:t>
            </a:r>
          </a:p>
        </p:txBody>
      </p:sp>
      <p:sp>
        <p:nvSpPr>
          <p:cNvPr id="29" name="TextBox 28"/>
          <p:cNvSpPr txBox="1"/>
          <p:nvPr/>
        </p:nvSpPr>
        <p:spPr>
          <a:xfrm>
            <a:off x="301752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0" name="Rounded Rectangle 29"/>
          <p:cNvSpPr/>
          <p:nvPr/>
        </p:nvSpPr>
        <p:spPr>
          <a:xfrm>
            <a:off x="406146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31" name="TextBox 30"/>
          <p:cNvSpPr txBox="1"/>
          <p:nvPr/>
        </p:nvSpPr>
        <p:spPr>
          <a:xfrm>
            <a:off x="429768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S4</a:t>
            </a:r>
          </a:p>
        </p:txBody>
      </p:sp>
      <p:sp>
        <p:nvSpPr>
          <p:cNvPr id="32" name="TextBox 31"/>
          <p:cNvSpPr txBox="1"/>
          <p:nvPr/>
        </p:nvSpPr>
        <p:spPr>
          <a:xfrm>
            <a:off x="418337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3" name="Rounded Rectangle 32"/>
          <p:cNvSpPr/>
          <p:nvPr/>
        </p:nvSpPr>
        <p:spPr>
          <a:xfrm>
            <a:off x="522732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4" name="TextBox 33"/>
          <p:cNvSpPr txBox="1"/>
          <p:nvPr/>
        </p:nvSpPr>
        <p:spPr>
          <a:xfrm>
            <a:off x="546354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S5</a:t>
            </a:r>
          </a:p>
        </p:txBody>
      </p:sp>
      <p:sp>
        <p:nvSpPr>
          <p:cNvPr id="35" name="TextBox 34"/>
          <p:cNvSpPr txBox="1"/>
          <p:nvPr/>
        </p:nvSpPr>
        <p:spPr>
          <a:xfrm>
            <a:off x="534924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6" name="Rounded Rectangle 35"/>
          <p:cNvSpPr/>
          <p:nvPr/>
        </p:nvSpPr>
        <p:spPr>
          <a:xfrm>
            <a:off x="639318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7" name="TextBox 36"/>
          <p:cNvSpPr txBox="1"/>
          <p:nvPr/>
        </p:nvSpPr>
        <p:spPr>
          <a:xfrm>
            <a:off x="66294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S6</a:t>
            </a:r>
          </a:p>
        </p:txBody>
      </p:sp>
      <p:sp>
        <p:nvSpPr>
          <p:cNvPr id="38" name="TextBox 37"/>
          <p:cNvSpPr txBox="1"/>
          <p:nvPr/>
        </p:nvSpPr>
        <p:spPr>
          <a:xfrm>
            <a:off x="65151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9" name="Rounded Rectangle 38"/>
          <p:cNvSpPr/>
          <p:nvPr/>
        </p:nvSpPr>
        <p:spPr>
          <a:xfrm>
            <a:off x="8077200" y="3855719"/>
            <a:ext cx="3566160" cy="1485900"/>
          </a:xfrm>
          <a:prstGeom prst="roundRect">
            <a:avLst>
              <a:gd name="adj" fmla="val 6666"/>
            </a:avLst>
          </a:prstGeom>
          <a:solidFill>
            <a:srgbClr val="FFFFFF"/>
          </a:solidFill>
          <a:ln w="7620">
            <a:solidFill>
              <a:srgbClr val="007C78"/>
            </a:solidFill>
          </a:ln>
          <a:effectLst/>
        </p:spPr>
        <p:txBody>
          <a:bodyPr rtlCol="0" anchor="ctr"/>
          <a:lstStyle/>
          <a:p>
            <a:pPr algn="ctr"/>
          </a:p>
        </p:txBody>
      </p:sp>
      <p:sp>
        <p:nvSpPr>
          <p:cNvPr id="40" name="TextBox 39"/>
          <p:cNvSpPr txBox="1"/>
          <p:nvPr/>
        </p:nvSpPr>
        <p:spPr>
          <a:xfrm>
            <a:off x="8244839" y="4023360"/>
            <a:ext cx="32308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Observed reconstruction</a:t>
            </a:r>
          </a:p>
        </p:txBody>
      </p:sp>
      <p:sp>
        <p:nvSpPr>
          <p:cNvPr id="41" name="TextBox 40"/>
          <p:cNvSpPr txBox="1"/>
          <p:nvPr/>
        </p:nvSpPr>
        <p:spPr>
          <a:xfrm>
            <a:off x="8244839" y="4372660"/>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Cached payload + two shares</a:t>
            </a:r>
          </a:p>
        </p:txBody>
      </p:sp>
      <p:sp>
        <p:nvSpPr>
          <p:cNvPr id="42" name="TextBox 41"/>
          <p:cNvSpPr txBox="1"/>
          <p:nvPr/>
        </p:nvSpPr>
        <p:spPr>
          <a:xfrm>
            <a:off x="8244839" y="4606747"/>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removed: exact bytes recovered. A</a:t>
            </a:r>
          </a:p>
        </p:txBody>
      </p:sp>
      <p:sp>
        <p:nvSpPr>
          <p:cNvPr id="43" name="TextBox 42"/>
          <p:cNvSpPr txBox="1"/>
          <p:nvPr/>
        </p:nvSpPr>
        <p:spPr>
          <a:xfrm>
            <a:off x="8244839" y="4840833"/>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third missing share is unavailable.</a:t>
            </a:r>
          </a:p>
        </p:txBody>
      </p:sp>
      <p:sp>
        <p:nvSpPr>
          <p:cNvPr id="44" name="Rounded Rectangle 4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5" name="TextBox 4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 DA core does not interpret Hive identities, truth values, attention balances or job state.</a:t>
            </a:r>
          </a:p>
        </p:txBody>
      </p:sp>
      <p:cxnSp>
        <p:nvCxnSpPr>
          <p:cNvPr id="46" name="Connector 45"/>
          <p:cNvCxnSpPr/>
          <p:nvPr/>
        </p:nvCxnSpPr>
        <p:spPr>
          <a:xfrm>
            <a:off x="548640" y="6393180"/>
            <a:ext cx="11094720" cy="0"/>
          </a:xfrm>
          <a:prstGeom prst="line">
            <a:avLst/>
          </a:prstGeom>
          <a:ln w="7620">
            <a:solidFill>
              <a:srgbClr val="C9D2D4"/>
            </a:solidFill>
          </a:ln>
          <a:effectLst/>
        </p:spPr>
      </p:cxnSp>
      <p:sp>
        <p:nvSpPr>
          <p:cNvPr id="47" name="TextBox 4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adapters/detta/src/main.rs · test_contract.py</a:t>
            </a:r>
          </a:p>
        </p:txBody>
      </p:sp>
      <p:sp>
        <p:nvSpPr>
          <p:cNvPr id="48" name="TextBox 4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PROVIDER REPLACEMENT</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Two independent substitutions, one design principle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Select semantics and capabilities explicitly; keep callers independent of provider internals.</a:t>
            </a:r>
          </a:p>
        </p:txBody>
      </p:sp>
      <p:sp>
        <p:nvSpPr>
          <p:cNvPr id="5" name="Rounded Rectangle 4"/>
          <p:cNvSpPr/>
          <p:nvPr/>
        </p:nvSpPr>
        <p:spPr>
          <a:xfrm>
            <a:off x="548640" y="1920239"/>
            <a:ext cx="5364480" cy="2667000"/>
          </a:xfrm>
          <a:prstGeom prst="roundRect">
            <a:avLst>
              <a:gd name="adj" fmla="val 3714"/>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87880"/>
            <a:ext cx="50292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AtomStorage · preserved M1/M2</a:t>
            </a:r>
          </a:p>
        </p:txBody>
      </p:sp>
      <p:sp>
        <p:nvSpPr>
          <p:cNvPr id="7" name="TextBox 6"/>
          <p:cNvSpPr txBox="1"/>
          <p:nvPr/>
        </p:nvSpPr>
        <p:spPr>
          <a:xfrm>
            <a:off x="716280" y="2495702"/>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Real local DeTTa or an independent</a:t>
            </a:r>
          </a:p>
        </p:txBody>
      </p:sp>
      <p:sp>
        <p:nvSpPr>
          <p:cNvPr id="8" name="TextBox 7"/>
          <p:cNvSpPr txBox="1"/>
          <p:nvPr/>
        </p:nvSpPr>
        <p:spPr>
          <a:xfrm>
            <a:off x="716280" y="2778556"/>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atomic-file fixture.</a:t>
            </a:r>
          </a:p>
        </p:txBody>
      </p:sp>
      <p:sp>
        <p:nvSpPr>
          <p:cNvPr id="9" name="TextBox 8"/>
          <p:cNvSpPr txBox="1"/>
          <p:nvPr/>
        </p:nvSpPr>
        <p:spPr>
          <a:xfrm>
            <a:off x="716280" y="3061411"/>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0" name="TextBox 9"/>
          <p:cNvSpPr txBox="1"/>
          <p:nvPr/>
        </p:nvSpPr>
        <p:spPr>
          <a:xfrm>
            <a:off x="716280" y="3344265"/>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In-process and private stdio bindings pass</a:t>
            </a:r>
          </a:p>
        </p:txBody>
      </p:sp>
      <p:sp>
        <p:nvSpPr>
          <p:cNvPr id="11" name="TextBox 10"/>
          <p:cNvSpPr txBox="1"/>
          <p:nvPr/>
        </p:nvSpPr>
        <p:spPr>
          <a:xfrm>
            <a:off x="716280" y="3627119"/>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the same workflow.</a:t>
            </a:r>
          </a:p>
        </p:txBody>
      </p:sp>
      <p:sp>
        <p:nvSpPr>
          <p:cNvPr id="12" name="Rounded Rectangle 11"/>
          <p:cNvSpPr/>
          <p:nvPr/>
        </p:nvSpPr>
        <p:spPr>
          <a:xfrm>
            <a:off x="6096000" y="1920239"/>
            <a:ext cx="5547360" cy="2667000"/>
          </a:xfrm>
          <a:prstGeom prst="roundRect">
            <a:avLst>
              <a:gd name="adj" fmla="val 3714"/>
            </a:avLst>
          </a:prstGeom>
          <a:solidFill>
            <a:srgbClr val="E4EBF5"/>
          </a:solidFill>
          <a:ln w="7620">
            <a:solidFill>
              <a:srgbClr val="315E9C"/>
            </a:solidFill>
          </a:ln>
          <a:effectLst/>
        </p:spPr>
        <p:txBody>
          <a:bodyPr rtlCol="0" anchor="ctr"/>
          <a:lstStyle/>
          <a:p>
            <a:pPr algn="ctr"/>
          </a:p>
        </p:txBody>
      </p:sp>
      <p:sp>
        <p:nvSpPr>
          <p:cNvPr id="13" name="TextBox 12"/>
          <p:cNvSpPr txBox="1"/>
          <p:nvPr/>
        </p:nvSpPr>
        <p:spPr>
          <a:xfrm>
            <a:off x="6263640" y="2087880"/>
            <a:ext cx="521208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Attention · new in M3</a:t>
            </a:r>
          </a:p>
        </p:txBody>
      </p:sp>
      <p:sp>
        <p:nvSpPr>
          <p:cNvPr id="14" name="TextBox 13"/>
          <p:cNvSpPr txBox="1"/>
          <p:nvPr/>
        </p:nvSpPr>
        <p:spPr>
          <a:xfrm>
            <a:off x="6263640" y="2495702"/>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SQLite owner or an independent atomic-file</a:t>
            </a:r>
          </a:p>
        </p:txBody>
      </p:sp>
      <p:sp>
        <p:nvSpPr>
          <p:cNvPr id="15" name="TextBox 14"/>
          <p:cNvSpPr txBox="1"/>
          <p:nvPr/>
        </p:nvSpPr>
        <p:spPr>
          <a:xfrm>
            <a:off x="6263640" y="2778556"/>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fixture.</a:t>
            </a:r>
          </a:p>
        </p:txBody>
      </p:sp>
      <p:sp>
        <p:nvSpPr>
          <p:cNvPr id="16" name="TextBox 15"/>
          <p:cNvSpPr txBox="1"/>
          <p:nvPr/>
        </p:nvSpPr>
        <p:spPr>
          <a:xfrm>
            <a:off x="6263640" y="3061411"/>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7" name="TextBox 16"/>
          <p:cNvSpPr txBox="1"/>
          <p:nvPr/>
        </p:nvSpPr>
        <p:spPr>
          <a:xfrm>
            <a:off x="6263640" y="3344265"/>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Same STI policy, tasks and budgets;</a:t>
            </a:r>
          </a:p>
        </p:txBody>
      </p:sp>
      <p:sp>
        <p:nvSpPr>
          <p:cNvPr id="18" name="TextBox 17"/>
          <p:cNvSpPr txBox="1"/>
          <p:nvPr/>
        </p:nvSpPr>
        <p:spPr>
          <a:xfrm>
            <a:off x="6263640" y="3627119"/>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unchanged consumer produces matching</a:t>
            </a:r>
          </a:p>
        </p:txBody>
      </p:sp>
      <p:sp>
        <p:nvSpPr>
          <p:cNvPr id="19" name="TextBox 18"/>
          <p:cNvSpPr txBox="1"/>
          <p:nvPr/>
        </p:nvSpPr>
        <p:spPr>
          <a:xfrm>
            <a:off x="6263640" y="3909974"/>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outcomes.</a:t>
            </a:r>
          </a:p>
        </p:txBody>
      </p:sp>
      <p:sp>
        <p:nvSpPr>
          <p:cNvPr id="20" name="TextBox 19"/>
          <p:cNvSpPr txBox="1"/>
          <p:nvPr/>
        </p:nvSpPr>
        <p:spPr>
          <a:xfrm>
            <a:off x="579120" y="4945380"/>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No shared owner transitions, inheritance or private-table access in the attention</a:t>
            </a:r>
          </a:p>
        </p:txBody>
      </p:sp>
      <p:sp>
        <p:nvSpPr>
          <p:cNvPr id="21" name="TextBox 20"/>
          <p:cNvSpPr txBox="1"/>
          <p:nvPr/>
        </p:nvSpPr>
        <p:spPr>
          <a:xfrm>
            <a:off x="579120" y="5228234"/>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replacement.</a:t>
            </a:r>
          </a:p>
        </p:txBody>
      </p:sp>
      <p:sp>
        <p:nvSpPr>
          <p:cNvPr id="22" name="Rounded Rectangle 2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3" name="TextBox 22"/>
          <p:cNvSpPr txBox="1"/>
          <p:nvPr/>
        </p:nvSpPr>
        <p:spPr>
          <a:xfrm>
            <a:off x="716280" y="5905500"/>
            <a:ext cx="1074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These are fresh-store replacements. Existing accepted state is not migrated.</a:t>
            </a:r>
          </a:p>
        </p:txBody>
      </p:sp>
      <p:cxnSp>
        <p:nvCxnSpPr>
          <p:cNvPr id="24" name="Connector 23"/>
          <p:cNvCxnSpPr/>
          <p:nvPr/>
        </p:nvCxnSpPr>
        <p:spPr>
          <a:xfrm>
            <a:off x="548640" y="6393180"/>
            <a:ext cx="11094720" cy="0"/>
          </a:xfrm>
          <a:prstGeom prst="line">
            <a:avLst/>
          </a:prstGeom>
          <a:ln w="7620">
            <a:solidFill>
              <a:srgbClr val="C9D2D4"/>
            </a:solidFill>
          </a:ln>
          <a:effectLst/>
        </p:spPr>
      </p:cxnSp>
      <p:sp>
        <p:nvSpPr>
          <p:cNvPr id="25" name="TextBox 2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m11-swap-demo.json · m3/final/comparison.json</a:t>
            </a:r>
          </a:p>
        </p:txBody>
      </p:sp>
      <p:sp>
        <p:nvSpPr>
          <p:cNvPr id="26" name="TextBox 2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PRIVACY AND AUTHORIZATION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Private state has explicit owners and placement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trusted Hive actor maps to an operator-configured private scope and credential.</a:t>
            </a:r>
          </a:p>
        </p:txBody>
      </p:sp>
      <p:sp>
        <p:nvSpPr>
          <p:cNvPr id="5" name="Rounded Rectangle 4"/>
          <p:cNvSpPr/>
          <p:nvPr/>
        </p:nvSpPr>
        <p:spPr>
          <a:xfrm>
            <a:off x="548640" y="1851659"/>
            <a:ext cx="7162800" cy="3710940"/>
          </a:xfrm>
          <a:prstGeom prst="roundRect">
            <a:avLst>
              <a:gd name="adj" fmla="val 2874"/>
            </a:avLst>
          </a:prstGeom>
          <a:solidFill>
            <a:srgbClr val="E4EBF5"/>
          </a:solidFill>
          <a:ln>
            <a:noFill/>
          </a:ln>
          <a:effectLst/>
        </p:spPr>
        <p:txBody>
          <a:bodyPr rtlCol="0" anchor="ctr"/>
          <a:lstStyle/>
          <a:p>
            <a:pPr algn="ctr"/>
          </a:p>
        </p:txBody>
      </p:sp>
      <p:sp>
        <p:nvSpPr>
          <p:cNvPr id="6" name="TextBox 5"/>
          <p:cNvSpPr txBox="1"/>
          <p:nvPr/>
        </p:nvSpPr>
        <p:spPr>
          <a:xfrm>
            <a:off x="746760" y="2042159"/>
            <a:ext cx="6781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PRIVATE LOCAL COMPOSITION</a:t>
            </a:r>
          </a:p>
        </p:txBody>
      </p:sp>
      <p:sp>
        <p:nvSpPr>
          <p:cNvPr id="7" name="Rounded Rectangle 6"/>
          <p:cNvSpPr/>
          <p:nvPr/>
        </p:nvSpPr>
        <p:spPr>
          <a:xfrm>
            <a:off x="746760" y="2506980"/>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8" name="TextBox 7"/>
          <p:cNvSpPr txBox="1"/>
          <p:nvPr/>
        </p:nvSpPr>
        <p:spPr>
          <a:xfrm>
            <a:off x="914400" y="267462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C1 · Episodes</a:t>
            </a:r>
          </a:p>
        </p:txBody>
      </p:sp>
      <p:sp>
        <p:nvSpPr>
          <p:cNvPr id="9" name="TextBox 8"/>
          <p:cNvSpPr txBox="1"/>
          <p:nvPr/>
        </p:nvSpPr>
        <p:spPr>
          <a:xfrm>
            <a:off x="914400" y="303367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History + delivery intents</a:t>
            </a:r>
          </a:p>
        </p:txBody>
      </p:sp>
      <p:sp>
        <p:nvSpPr>
          <p:cNvPr id="10" name="Rounded Rectangle 9"/>
          <p:cNvSpPr/>
          <p:nvPr/>
        </p:nvSpPr>
        <p:spPr>
          <a:xfrm>
            <a:off x="4229100" y="2506980"/>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1" name="TextBox 10"/>
          <p:cNvSpPr txBox="1"/>
          <p:nvPr/>
        </p:nvSpPr>
        <p:spPr>
          <a:xfrm>
            <a:off x="4396740" y="267462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C2 · Beliefs</a:t>
            </a:r>
          </a:p>
        </p:txBody>
      </p:sp>
      <p:sp>
        <p:nvSpPr>
          <p:cNvPr id="12" name="TextBox 11"/>
          <p:cNvSpPr txBox="1"/>
          <p:nvPr/>
        </p:nvSpPr>
        <p:spPr>
          <a:xfrm>
            <a:off x="4396740" y="303367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Supports + exact attempts</a:t>
            </a:r>
          </a:p>
        </p:txBody>
      </p:sp>
      <p:sp>
        <p:nvSpPr>
          <p:cNvPr id="13" name="Rounded Rectangle 12"/>
          <p:cNvSpPr/>
          <p:nvPr/>
        </p:nvSpPr>
        <p:spPr>
          <a:xfrm>
            <a:off x="746760" y="3931919"/>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914400" y="409956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C3 · Attention</a:t>
            </a:r>
          </a:p>
        </p:txBody>
      </p:sp>
      <p:sp>
        <p:nvSpPr>
          <p:cNvPr id="15" name="TextBox 14"/>
          <p:cNvSpPr txBox="1"/>
          <p:nvPr/>
        </p:nvSpPr>
        <p:spPr>
          <a:xfrm>
            <a:off x="914400" y="445861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STI + clock + causal replay</a:t>
            </a:r>
          </a:p>
        </p:txBody>
      </p:sp>
      <p:sp>
        <p:nvSpPr>
          <p:cNvPr id="16" name="Rounded Rectangle 15"/>
          <p:cNvSpPr/>
          <p:nvPr/>
        </p:nvSpPr>
        <p:spPr>
          <a:xfrm>
            <a:off x="4229100" y="3931919"/>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7" name="TextBox 16"/>
          <p:cNvSpPr txBox="1"/>
          <p:nvPr/>
        </p:nvSpPr>
        <p:spPr>
          <a:xfrm>
            <a:off x="4396740" y="409956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C4 · Controller</a:t>
            </a:r>
          </a:p>
        </p:txBody>
      </p:sp>
      <p:sp>
        <p:nvSpPr>
          <p:cNvPr id="18" name="TextBox 17"/>
          <p:cNvSpPr txBox="1"/>
          <p:nvPr/>
        </p:nvSpPr>
        <p:spPr>
          <a:xfrm>
            <a:off x="4396740" y="445861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Budgets + progress +</a:t>
            </a:r>
          </a:p>
        </p:txBody>
      </p:sp>
      <p:sp>
        <p:nvSpPr>
          <p:cNvPr id="19" name="TextBox 18"/>
          <p:cNvSpPr txBox="1"/>
          <p:nvPr/>
        </p:nvSpPr>
        <p:spPr>
          <a:xfrm>
            <a:off x="4396740" y="470245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feedback</a:t>
            </a:r>
          </a:p>
        </p:txBody>
      </p:sp>
      <p:sp>
        <p:nvSpPr>
          <p:cNvPr id="20" name="Rounded Rectangle 19"/>
          <p:cNvSpPr/>
          <p:nvPr/>
        </p:nvSpPr>
        <p:spPr>
          <a:xfrm>
            <a:off x="8244839" y="1851659"/>
            <a:ext cx="3398519" cy="1615439"/>
          </a:xfrm>
          <a:prstGeom prst="roundRect">
            <a:avLst>
              <a:gd name="adj" fmla="val 6132"/>
            </a:avLst>
          </a:prstGeom>
          <a:solidFill>
            <a:srgbClr val="DCEFE8"/>
          </a:solidFill>
          <a:ln w="7620">
            <a:solidFill>
              <a:srgbClr val="007C78"/>
            </a:solidFill>
          </a:ln>
          <a:effectLst/>
        </p:spPr>
        <p:txBody>
          <a:bodyPr rtlCol="0" anchor="ctr"/>
          <a:lstStyle/>
          <a:p>
            <a:pPr algn="ctr"/>
          </a:p>
        </p:txBody>
      </p:sp>
      <p:sp>
        <p:nvSpPr>
          <p:cNvPr id="21" name="TextBox 20"/>
          <p:cNvSpPr txBox="1"/>
          <p:nvPr/>
        </p:nvSpPr>
        <p:spPr>
          <a:xfrm>
            <a:off x="8412480" y="2019300"/>
            <a:ext cx="306324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Public Hive receipt</a:t>
            </a:r>
          </a:p>
        </p:txBody>
      </p:sp>
      <p:sp>
        <p:nvSpPr>
          <p:cNvPr id="22" name="TextBox 21"/>
          <p:cNvSpPr txBox="1"/>
          <p:nvPr/>
        </p:nvSpPr>
        <p:spPr>
          <a:xfrm>
            <a:off x="8412480" y="24076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Generated counters, status</a:t>
            </a:r>
          </a:p>
        </p:txBody>
      </p:sp>
      <p:sp>
        <p:nvSpPr>
          <p:cNvPr id="23" name="TextBox 22"/>
          <p:cNvSpPr txBox="1"/>
          <p:nvPr/>
        </p:nvSpPr>
        <p:spPr>
          <a:xfrm>
            <a:off x="8412480" y="26807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public command receipt</a:t>
            </a:r>
          </a:p>
        </p:txBody>
      </p:sp>
      <p:sp>
        <p:nvSpPr>
          <p:cNvPr id="24" name="TextBox 23"/>
          <p:cNvSpPr txBox="1"/>
          <p:nvPr/>
        </p:nvSpPr>
        <p:spPr>
          <a:xfrm>
            <a:off x="8412480" y="29538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ID.</a:t>
            </a:r>
          </a:p>
        </p:txBody>
      </p:sp>
      <p:sp>
        <p:nvSpPr>
          <p:cNvPr id="25" name="Rounded Rectangle 24"/>
          <p:cNvSpPr/>
          <p:nvPr/>
        </p:nvSpPr>
        <p:spPr>
          <a:xfrm>
            <a:off x="8244839" y="3756660"/>
            <a:ext cx="3398519" cy="1805939"/>
          </a:xfrm>
          <a:prstGeom prst="roundRect">
            <a:avLst>
              <a:gd name="adj" fmla="val 5485"/>
            </a:avLst>
          </a:prstGeom>
          <a:solidFill>
            <a:srgbClr val="F3E7CE"/>
          </a:solidFill>
          <a:ln w="7620">
            <a:solidFill>
              <a:srgbClr val="A86A15"/>
            </a:solidFill>
          </a:ln>
          <a:effectLst/>
        </p:spPr>
        <p:txBody>
          <a:bodyPr rtlCol="0" anchor="ctr"/>
          <a:lstStyle/>
          <a:p>
            <a:pPr algn="ctr"/>
          </a:p>
        </p:txBody>
      </p:sp>
      <p:sp>
        <p:nvSpPr>
          <p:cNvPr id="26" name="TextBox 25"/>
          <p:cNvSpPr txBox="1"/>
          <p:nvPr/>
        </p:nvSpPr>
        <p:spPr>
          <a:xfrm>
            <a:off x="8412480" y="3924300"/>
            <a:ext cx="306324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A86A15"/>
                </a:solidFill>
                <a:latin typeface="DejaVu Sans"/>
              </a:rPr>
              <a:t>Private trace</a:t>
            </a:r>
          </a:p>
        </p:txBody>
      </p:sp>
      <p:sp>
        <p:nvSpPr>
          <p:cNvPr id="27" name="TextBox 26"/>
          <p:cNvSpPr txBox="1"/>
          <p:nvPr/>
        </p:nvSpPr>
        <p:spPr>
          <a:xfrm>
            <a:off x="8412480" y="43126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Task/support hashes,</a:t>
            </a:r>
          </a:p>
        </p:txBody>
      </p:sp>
      <p:sp>
        <p:nvSpPr>
          <p:cNvPr id="28" name="TextBox 27"/>
          <p:cNvSpPr txBox="1"/>
          <p:nvPr/>
        </p:nvSpPr>
        <p:spPr>
          <a:xfrm>
            <a:off x="8412480" y="45857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premises, lineage, attention</a:t>
            </a:r>
          </a:p>
        </p:txBody>
      </p:sp>
      <p:sp>
        <p:nvSpPr>
          <p:cNvPr id="29" name="TextBox 28"/>
          <p:cNvSpPr txBox="1"/>
          <p:nvPr/>
        </p:nvSpPr>
        <p:spPr>
          <a:xfrm>
            <a:off x="8412480" y="48588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payloads stay private.</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Shared M1 wire and DA contracts stay unchanged; every owner rechecks current authorization.</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cognition.py · inference_program/program.py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CONTRACT DECISIONS BEFORE BEHAVIOR</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Executable contracts make the inference step finite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supported task is explicit, immutable and grounded before the controller starts.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CONTRACT</a:t>
            </a:r>
          </a:p>
        </p:txBody>
      </p:sp>
      <p:sp>
        <p:nvSpPr>
          <p:cNvPr id="6" name="TextBox 5"/>
          <p:cNvSpPr txBox="1"/>
          <p:nvPr/>
        </p:nvSpPr>
        <p:spPr>
          <a:xfrm>
            <a:off x="3185160" y="1790700"/>
            <a:ext cx="4518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WHAT IS FIXED</a:t>
            </a:r>
          </a:p>
        </p:txBody>
      </p:sp>
      <p:sp>
        <p:nvSpPr>
          <p:cNvPr id="7" name="TextBox 6"/>
          <p:cNvSpPr txBox="1"/>
          <p:nvPr/>
        </p:nvSpPr>
        <p:spPr>
          <a:xfrm>
            <a:off x="7947659" y="1790700"/>
            <a:ext cx="35737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WHY IT MATTERS</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Context + task</a:t>
            </a:r>
          </a:p>
        </p:txBody>
      </p:sp>
      <p:sp>
        <p:nvSpPr>
          <p:cNvPr id="10" name="TextBox 9"/>
          <p:cNvSpPr txBox="1"/>
          <p:nvPr/>
        </p:nvSpPr>
        <p:spPr>
          <a:xfrm>
            <a:off x="3185160" y="224028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context; exact role references</a:t>
            </a:r>
          </a:p>
        </p:txBody>
      </p:sp>
      <p:sp>
        <p:nvSpPr>
          <p:cNvPr id="11" name="TextBox 10"/>
          <p:cNvSpPr txBox="1"/>
          <p:nvPr/>
        </p:nvSpPr>
        <p:spPr>
          <a:xfrm>
            <a:off x="7947659" y="224028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Labels cannot merge distinct identities</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Workset</a:t>
            </a:r>
          </a:p>
        </p:txBody>
      </p:sp>
      <p:sp>
        <p:nvSpPr>
          <p:cNvPr id="14" name="TextBox 13"/>
          <p:cNvSpPr txBox="1"/>
          <p:nvPr/>
        </p:nvSpPr>
        <p:spPr>
          <a:xfrm>
            <a:off x="3185160" y="293370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1–16 unique immutable tasks</a:t>
            </a:r>
          </a:p>
        </p:txBody>
      </p:sp>
      <p:sp>
        <p:nvSpPr>
          <p:cNvPr id="15" name="TextBox 14"/>
          <p:cNvSpPr txBox="1"/>
          <p:nvPr/>
        </p:nvSpPr>
        <p:spPr>
          <a:xfrm>
            <a:off x="7947659" y="293370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search or automatic task</a:t>
            </a:r>
          </a:p>
        </p:txBody>
      </p:sp>
      <p:sp>
        <p:nvSpPr>
          <p:cNvPr id="16" name="TextBox 15"/>
          <p:cNvSpPr txBox="1"/>
          <p:nvPr/>
        </p:nvSpPr>
        <p:spPr>
          <a:xfrm>
            <a:off x="7947659" y="316778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expansion</a:t>
            </a:r>
          </a:p>
        </p:txBody>
      </p:sp>
      <p:sp>
        <p:nvSpPr>
          <p:cNvPr id="17" name="Rounded Rectangle 16"/>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8" name="TextBox 17"/>
          <p:cNvSpPr txBox="1"/>
          <p:nvPr/>
        </p:nvSpPr>
        <p:spPr>
          <a:xfrm>
            <a:off x="670560" y="3627119"/>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Premise snapshot</a:t>
            </a:r>
          </a:p>
        </p:txBody>
      </p:sp>
      <p:sp>
        <p:nvSpPr>
          <p:cNvPr id="19" name="TextBox 18"/>
          <p:cNvSpPr txBox="1"/>
          <p:nvPr/>
        </p:nvSpPr>
        <p:spPr>
          <a:xfrm>
            <a:off x="3185160" y="3627119"/>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Claim / context / revision / support ID</a:t>
            </a:r>
          </a:p>
        </p:txBody>
      </p:sp>
      <p:sp>
        <p:nvSpPr>
          <p:cNvPr id="20" name="TextBox 19"/>
          <p:cNvSpPr txBox="1"/>
          <p:nvPr/>
        </p:nvSpPr>
        <p:spPr>
          <a:xfrm>
            <a:off x="7947659" y="3627119"/>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silent substitution with latest state</a:t>
            </a:r>
          </a:p>
        </p:txBody>
      </p:sp>
      <p:sp>
        <p:nvSpPr>
          <p:cNvPr id="21" name="Rounded Rectangle 20"/>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2" name="TextBox 21"/>
          <p:cNvSpPr txBox="1"/>
          <p:nvPr/>
        </p:nvSpPr>
        <p:spPr>
          <a:xfrm>
            <a:off x="670560" y="43205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Derived support</a:t>
            </a:r>
          </a:p>
        </p:txBody>
      </p:sp>
      <p:sp>
        <p:nvSpPr>
          <p:cNvPr id="23" name="TextBox 22"/>
          <p:cNvSpPr txBox="1"/>
          <p:nvPr/>
        </p:nvSpPr>
        <p:spPr>
          <a:xfrm>
            <a:off x="3185160" y="432054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Closed tag + inherited roots / ancestry</a:t>
            </a:r>
          </a:p>
        </p:txBody>
      </p:sp>
      <p:sp>
        <p:nvSpPr>
          <p:cNvPr id="24" name="TextBox 23"/>
          <p:cNvSpPr txBox="1"/>
          <p:nvPr/>
        </p:nvSpPr>
        <p:spPr>
          <a:xfrm>
            <a:off x="7947659" y="432054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fresh observation or evidence</a:t>
            </a:r>
          </a:p>
        </p:txBody>
      </p:sp>
      <p:sp>
        <p:nvSpPr>
          <p:cNvPr id="25" name="TextBox 24"/>
          <p:cNvSpPr txBox="1"/>
          <p:nvPr/>
        </p:nvSpPr>
        <p:spPr>
          <a:xfrm>
            <a:off x="7947659" y="455462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count</a:t>
            </a:r>
          </a:p>
        </p:txBody>
      </p:sp>
      <p:sp>
        <p:nvSpPr>
          <p:cNvPr id="26" name="Rounded Rectangle 25"/>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7" name="TextBox 26"/>
          <p:cNvSpPr txBox="1"/>
          <p:nvPr/>
        </p:nvSpPr>
        <p:spPr>
          <a:xfrm>
            <a:off x="670560" y="50139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Work budget</a:t>
            </a:r>
          </a:p>
        </p:txBody>
      </p:sp>
      <p:sp>
        <p:nvSpPr>
          <p:cNvPr id="28" name="TextBox 27"/>
          <p:cNvSpPr txBox="1"/>
          <p:nvPr/>
        </p:nvSpPr>
        <p:spPr>
          <a:xfrm>
            <a:off x="3185160" y="501396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Candidates, attempts, generation, deadline</a:t>
            </a:r>
          </a:p>
        </p:txBody>
      </p:sp>
      <p:sp>
        <p:nvSpPr>
          <p:cNvPr id="29" name="TextBox 28"/>
          <p:cNvSpPr txBox="1"/>
          <p:nvPr/>
        </p:nvSpPr>
        <p:spPr>
          <a:xfrm>
            <a:off x="7947659" y="501396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Restart cannot silently refill the</a:t>
            </a:r>
          </a:p>
        </p:txBody>
      </p:sp>
      <p:sp>
        <p:nvSpPr>
          <p:cNvPr id="30" name="TextBox 29"/>
          <p:cNvSpPr txBox="1"/>
          <p:nvPr/>
        </p:nvSpPr>
        <p:spPr>
          <a:xfrm>
            <a:off x="7947659" y="524804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allowance</a:t>
            </a:r>
          </a:p>
        </p:txBody>
      </p:sp>
      <p:sp>
        <p:nvSpPr>
          <p:cNvPr id="31" name="Rounded Rectangle 3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2" name="TextBox 31"/>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Profile mismatch, malformed response or changed semantic intent fails explicitly.</a:t>
            </a:r>
          </a:p>
        </p:txBody>
      </p:sp>
      <p:cxnSp>
        <p:nvCxnSpPr>
          <p:cNvPr id="33" name="Connector 32"/>
          <p:cNvCxnSpPr/>
          <p:nvPr/>
        </p:nvCxnSpPr>
        <p:spPr>
          <a:xfrm>
            <a:off x="548640" y="6393180"/>
            <a:ext cx="11094720" cy="0"/>
          </a:xfrm>
          <a:prstGeom prst="line">
            <a:avLst/>
          </a:prstGeom>
          <a:ln w="7620">
            <a:solidFill>
              <a:srgbClr val="C9D2D4"/>
            </a:solidFill>
          </a:ln>
          <a:effectLst/>
        </p:spPr>
      </p:cxnSp>
      <p:sp>
        <p:nvSpPr>
          <p:cNvPr id="34" name="TextBox 3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attention_contracts.py · cognition_contracts.py</a:t>
            </a:r>
          </a:p>
        </p:txBody>
      </p:sp>
      <p:sp>
        <p:nvSpPr>
          <p:cNvPr id="35" name="TextBox 3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EPISODIC MEMORY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C1: one occurrence, one position in the 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Immutable event atoms sit behind a stable episode identity and a committed sequence.</a:t>
            </a:r>
          </a:p>
        </p:txBody>
      </p:sp>
      <p:sp>
        <p:nvSpPr>
          <p:cNvPr id="5" name="Rounded Rectangle 4"/>
          <p:cNvSpPr/>
          <p:nvPr/>
        </p:nvSpPr>
        <p:spPr>
          <a:xfrm>
            <a:off x="548640" y="1798320"/>
            <a:ext cx="2533635" cy="304800"/>
          </a:xfrm>
          <a:prstGeom prst="roundRect">
            <a:avLst>
              <a:gd name="adj" fmla="val 17500"/>
            </a:avLst>
          </a:prstGeom>
          <a:solidFill>
            <a:srgbClr val="E4EBF5"/>
          </a:solidFill>
          <a:ln>
            <a:noFill/>
          </a:ln>
          <a:effectLst/>
        </p:spPr>
        <p:txBody>
          <a:bodyPr rtlCol="0" anchor="ctr"/>
          <a:lstStyle/>
          <a:p>
            <a:pPr algn="ctr"/>
          </a:p>
        </p:txBody>
      </p:sp>
      <p:sp>
        <p:nvSpPr>
          <p:cNvPr id="6" name="TextBox 5"/>
          <p:cNvSpPr txBox="1"/>
          <p:nvPr/>
        </p:nvSpPr>
        <p:spPr>
          <a:xfrm>
            <a:off x="655320" y="1851659"/>
            <a:ext cx="2343135"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EpisodeRef = scope + ID</a:t>
            </a:r>
          </a:p>
        </p:txBody>
      </p:sp>
      <p:sp>
        <p:nvSpPr>
          <p:cNvPr id="7" name="Rounded Rectangle 6"/>
          <p:cNvSpPr/>
          <p:nvPr/>
        </p:nvSpPr>
        <p:spPr>
          <a:xfrm>
            <a:off x="5486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8" name="TextBox 7"/>
          <p:cNvSpPr txBox="1"/>
          <p:nvPr/>
        </p:nvSpPr>
        <p:spPr>
          <a:xfrm>
            <a:off x="7162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1 · Report</a:t>
            </a:r>
          </a:p>
        </p:txBody>
      </p:sp>
      <p:sp>
        <p:nvSpPr>
          <p:cNvPr id="9" name="TextBox 8"/>
          <p:cNvSpPr txBox="1"/>
          <p:nvPr/>
        </p:nvSpPr>
        <p:spPr>
          <a:xfrm>
            <a:off x="7162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No numerical claim</a:t>
            </a:r>
          </a:p>
        </p:txBody>
      </p:sp>
      <p:cxnSp>
        <p:nvCxnSpPr>
          <p:cNvPr id="10" name="Connector 9"/>
          <p:cNvCxnSpPr/>
          <p:nvPr/>
        </p:nvCxnSpPr>
        <p:spPr>
          <a:xfrm>
            <a:off x="3185160" y="3147060"/>
            <a:ext cx="144780" cy="0"/>
          </a:xfrm>
          <a:prstGeom prst="line">
            <a:avLst/>
          </a:prstGeom>
          <a:ln w="15240">
            <a:solidFill>
              <a:srgbClr val="315E9C"/>
            </a:solidFill>
          </a:ln>
          <a:effectLst/>
        </p:spPr>
      </p:cxnSp>
      <p:sp>
        <p:nvSpPr>
          <p:cNvPr id="11" name="Freeform 10"/>
          <p:cNvSpPr/>
          <p:nvPr/>
        </p:nvSpPr>
        <p:spPr>
          <a:xfrm>
            <a:off x="32308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2" name="Rounded Rectangle 11"/>
          <p:cNvSpPr/>
          <p:nvPr/>
        </p:nvSpPr>
        <p:spPr>
          <a:xfrm>
            <a:off x="33680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3535679"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2 · Assessment</a:t>
            </a:r>
          </a:p>
        </p:txBody>
      </p:sp>
      <p:sp>
        <p:nvSpPr>
          <p:cNvPr id="14" name="TextBox 13"/>
          <p:cNvSpPr txBox="1"/>
          <p:nvPr/>
        </p:nvSpPr>
        <p:spPr>
          <a:xfrm>
            <a:off x="3535679"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Explicit strength /</a:t>
            </a:r>
          </a:p>
        </p:txBody>
      </p:sp>
      <p:sp>
        <p:nvSpPr>
          <p:cNvPr id="15" name="TextBox 14"/>
          <p:cNvSpPr txBox="1"/>
          <p:nvPr/>
        </p:nvSpPr>
        <p:spPr>
          <a:xfrm>
            <a:off x="3535679" y="3233928"/>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confidence</a:t>
            </a:r>
          </a:p>
        </p:txBody>
      </p:sp>
      <p:cxnSp>
        <p:nvCxnSpPr>
          <p:cNvPr id="16" name="Connector 15"/>
          <p:cNvCxnSpPr/>
          <p:nvPr/>
        </p:nvCxnSpPr>
        <p:spPr>
          <a:xfrm>
            <a:off x="6004559" y="3147060"/>
            <a:ext cx="144781" cy="0"/>
          </a:xfrm>
          <a:prstGeom prst="line">
            <a:avLst/>
          </a:prstGeom>
          <a:ln w="15240">
            <a:solidFill>
              <a:srgbClr val="315E9C"/>
            </a:solidFill>
          </a:ln>
          <a:effectLst/>
        </p:spPr>
      </p:cxnSp>
      <p:sp>
        <p:nvSpPr>
          <p:cNvPr id="17" name="Freeform 16"/>
          <p:cNvSpPr/>
          <p:nvPr/>
        </p:nvSpPr>
        <p:spPr>
          <a:xfrm>
            <a:off x="60502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8" name="Rounded Rectangle 17"/>
          <p:cNvSpPr/>
          <p:nvPr/>
        </p:nvSpPr>
        <p:spPr>
          <a:xfrm>
            <a:off x="61874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63550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3 · Copy</a:t>
            </a:r>
          </a:p>
        </p:txBody>
      </p:sp>
      <p:sp>
        <p:nvSpPr>
          <p:cNvPr id="20" name="TextBox 19"/>
          <p:cNvSpPr txBox="1"/>
          <p:nvPr/>
        </p:nvSpPr>
        <p:spPr>
          <a:xfrm>
            <a:off x="63550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Inherits original roots</a:t>
            </a:r>
          </a:p>
        </p:txBody>
      </p:sp>
      <p:cxnSp>
        <p:nvCxnSpPr>
          <p:cNvPr id="21" name="Connector 20"/>
          <p:cNvCxnSpPr/>
          <p:nvPr/>
        </p:nvCxnSpPr>
        <p:spPr>
          <a:xfrm>
            <a:off x="8823960" y="3147060"/>
            <a:ext cx="144780" cy="0"/>
          </a:xfrm>
          <a:prstGeom prst="line">
            <a:avLst/>
          </a:prstGeom>
          <a:ln w="15240">
            <a:solidFill>
              <a:srgbClr val="315E9C"/>
            </a:solidFill>
          </a:ln>
          <a:effectLst/>
        </p:spPr>
      </p:cxnSp>
      <p:sp>
        <p:nvSpPr>
          <p:cNvPr id="22" name="Freeform 21"/>
          <p:cNvSpPr/>
          <p:nvPr/>
        </p:nvSpPr>
        <p:spPr>
          <a:xfrm>
            <a:off x="88696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3" name="Rounded Rectangle 22"/>
          <p:cNvSpPr/>
          <p:nvPr/>
        </p:nvSpPr>
        <p:spPr>
          <a:xfrm>
            <a:off x="90068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91744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4 · Contrary</a:t>
            </a:r>
          </a:p>
        </p:txBody>
      </p:sp>
      <p:sp>
        <p:nvSpPr>
          <p:cNvPr id="25" name="TextBox 24"/>
          <p:cNvSpPr txBox="1"/>
          <p:nvPr/>
        </p:nvSpPr>
        <p:spPr>
          <a:xfrm>
            <a:off x="91744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Kept in the history</a:t>
            </a:r>
          </a:p>
        </p:txBody>
      </p:sp>
      <p:sp>
        <p:nvSpPr>
          <p:cNvPr id="26" name="Rounded Rectangle 25"/>
          <p:cNvSpPr/>
          <p:nvPr/>
        </p:nvSpPr>
        <p:spPr>
          <a:xfrm>
            <a:off x="548640" y="4236720"/>
            <a:ext cx="5364480" cy="1287780"/>
          </a:xfrm>
          <a:prstGeom prst="roundRect">
            <a:avLst>
              <a:gd name="adj" fmla="val 7692"/>
            </a:avLst>
          </a:prstGeom>
          <a:solidFill>
            <a:srgbClr val="DCEFE8"/>
          </a:solidFill>
          <a:ln w="7620">
            <a:solidFill>
              <a:srgbClr val="007C78"/>
            </a:solidFill>
          </a:ln>
          <a:effectLst/>
        </p:spPr>
        <p:txBody>
          <a:bodyPr rtlCol="0" anchor="ctr"/>
          <a:lstStyle/>
          <a:p>
            <a:pPr algn="ctr"/>
          </a:p>
        </p:txBody>
      </p:sp>
      <p:sp>
        <p:nvSpPr>
          <p:cNvPr id="27" name="TextBox 26"/>
          <p:cNvSpPr txBox="1"/>
          <p:nvPr/>
        </p:nvSpPr>
        <p:spPr>
          <a:xfrm>
            <a:off x="716280" y="440436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Same occurrence + same body</a:t>
            </a:r>
          </a:p>
        </p:txBody>
      </p:sp>
      <p:sp>
        <p:nvSpPr>
          <p:cNvPr id="28" name="TextBox 27"/>
          <p:cNvSpPr txBox="1"/>
          <p:nvPr/>
        </p:nvSpPr>
        <p:spPr>
          <a:xfrm>
            <a:off x="716280" y="4763414"/>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Return the original receipt, even under a new</a:t>
            </a:r>
          </a:p>
        </p:txBody>
      </p:sp>
      <p:sp>
        <p:nvSpPr>
          <p:cNvPr id="29" name="TextBox 28"/>
          <p:cNvSpPr txBox="1"/>
          <p:nvPr/>
        </p:nvSpPr>
        <p:spPr>
          <a:xfrm>
            <a:off x="716280" y="5017008"/>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request key. The head does not advance.</a:t>
            </a:r>
          </a:p>
        </p:txBody>
      </p:sp>
      <p:sp>
        <p:nvSpPr>
          <p:cNvPr id="30" name="Rounded Rectangle 29"/>
          <p:cNvSpPr/>
          <p:nvPr/>
        </p:nvSpPr>
        <p:spPr>
          <a:xfrm>
            <a:off x="6096000" y="4236720"/>
            <a:ext cx="5547360" cy="1287780"/>
          </a:xfrm>
          <a:prstGeom prst="roundRect">
            <a:avLst>
              <a:gd name="adj" fmla="val 7692"/>
            </a:avLst>
          </a:prstGeom>
          <a:solidFill>
            <a:srgbClr val="F3E7CE"/>
          </a:solidFill>
          <a:ln w="7620">
            <a:solidFill>
              <a:srgbClr val="A86A15"/>
            </a:solidFill>
          </a:ln>
          <a:effectLst/>
        </p:spPr>
        <p:txBody>
          <a:bodyPr rtlCol="0" anchor="ctr"/>
          <a:lstStyle/>
          <a:p>
            <a:pPr algn="ctr"/>
          </a:p>
        </p:txBody>
      </p:sp>
      <p:sp>
        <p:nvSpPr>
          <p:cNvPr id="31" name="TextBox 30"/>
          <p:cNvSpPr txBox="1"/>
          <p:nvPr/>
        </p:nvSpPr>
        <p:spPr>
          <a:xfrm>
            <a:off x="6263640" y="4404360"/>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A86A15"/>
                </a:solidFill>
                <a:latin typeface="DejaVu Sans"/>
              </a:rPr>
              <a:t>Same occurrence + changed meaning</a:t>
            </a:r>
          </a:p>
        </p:txBody>
      </p:sp>
      <p:sp>
        <p:nvSpPr>
          <p:cNvPr id="32" name="TextBox 31"/>
          <p:cNvSpPr txBox="1"/>
          <p:nvPr/>
        </p:nvSpPr>
        <p:spPr>
          <a:xfrm>
            <a:off x="6263640" y="4753660"/>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Conflict on body or provenance changes. Distinct</a:t>
            </a:r>
          </a:p>
        </p:txBody>
      </p:sp>
      <p:sp>
        <p:nvSpPr>
          <p:cNvPr id="33" name="TextBox 32"/>
          <p:cNvSpPr txBox="1"/>
          <p:nvPr/>
        </p:nvSpPr>
        <p:spPr>
          <a:xfrm>
            <a:off x="6263640" y="5007254"/>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real occurrences may share identical bytes.</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C1 commits event + evidence intent together; AtomStorage has already committed independently.</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episodes.py · tests/test_m2.py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M3.1 EVIDENCE DELIVERY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C1 delivery closes without understanding PLN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Completion attests durable processing. Belief support and numerical truth remain C2 responsibilities.</a:t>
            </a:r>
          </a:p>
        </p:txBody>
      </p:sp>
      <p:sp>
        <p:nvSpPr>
          <p:cNvPr id="5" name="Rounded Rectangle 4"/>
          <p:cNvSpPr/>
          <p:nvPr/>
        </p:nvSpPr>
        <p:spPr>
          <a:xfrm>
            <a:off x="548640" y="1981200"/>
            <a:ext cx="2133600" cy="1402080"/>
          </a:xfrm>
          <a:prstGeom prst="roundRect">
            <a:avLst>
              <a:gd name="adj" fmla="val 7065"/>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C1 event</a:t>
            </a:r>
          </a:p>
        </p:txBody>
      </p:sp>
      <p:sp>
        <p:nvSpPr>
          <p:cNvPr id="7" name="TextBox 6"/>
          <p:cNvSpPr txBox="1"/>
          <p:nvPr/>
        </p:nvSpPr>
        <p:spPr>
          <a:xfrm>
            <a:off x="716280" y="246888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Event + delivery</a:t>
            </a:r>
          </a:p>
        </p:txBody>
      </p:sp>
      <p:sp>
        <p:nvSpPr>
          <p:cNvPr id="8" name="TextBox 7"/>
          <p:cNvSpPr txBox="1"/>
          <p:nvPr/>
        </p:nvSpPr>
        <p:spPr>
          <a:xfrm>
            <a:off x="716280" y="270296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intent</a:t>
            </a:r>
          </a:p>
        </p:txBody>
      </p:sp>
      <p:cxnSp>
        <p:nvCxnSpPr>
          <p:cNvPr id="9" name="Connector 8"/>
          <p:cNvCxnSpPr/>
          <p:nvPr/>
        </p:nvCxnSpPr>
        <p:spPr>
          <a:xfrm>
            <a:off x="2682240" y="2682240"/>
            <a:ext cx="83820" cy="0"/>
          </a:xfrm>
          <a:prstGeom prst="line">
            <a:avLst/>
          </a:prstGeom>
          <a:ln w="15240">
            <a:solidFill>
              <a:srgbClr val="536775"/>
            </a:solidFill>
          </a:ln>
          <a:effectLst/>
        </p:spPr>
      </p:cxnSp>
      <p:sp>
        <p:nvSpPr>
          <p:cNvPr id="10" name="Freeform 9"/>
          <p:cNvSpPr/>
          <p:nvPr/>
        </p:nvSpPr>
        <p:spPr>
          <a:xfrm>
            <a:off x="266700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1" name="Rounded Rectangle 10"/>
          <p:cNvSpPr/>
          <p:nvPr/>
        </p:nvSpPr>
        <p:spPr>
          <a:xfrm>
            <a:off x="2788920" y="1981200"/>
            <a:ext cx="2133600" cy="1402080"/>
          </a:xfrm>
          <a:prstGeom prst="roundRect">
            <a:avLst>
              <a:gd name="adj" fmla="val 7065"/>
            </a:avLst>
          </a:prstGeom>
          <a:solidFill>
            <a:srgbClr val="FFFFFF"/>
          </a:solidFill>
          <a:ln w="7620">
            <a:solidFill>
              <a:srgbClr val="007C78"/>
            </a:solidFill>
          </a:ln>
          <a:effectLst/>
        </p:spPr>
        <p:txBody>
          <a:bodyPr rtlCol="0" anchor="ctr"/>
          <a:lstStyle/>
          <a:p>
            <a:pPr algn="ctr"/>
          </a:p>
        </p:txBody>
      </p:sp>
      <p:sp>
        <p:nvSpPr>
          <p:cNvPr id="12" name="TextBox 11"/>
          <p:cNvSpPr txBox="1"/>
          <p:nvPr/>
        </p:nvSpPr>
        <p:spPr>
          <a:xfrm>
            <a:off x="295656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C2 decision</a:t>
            </a:r>
          </a:p>
        </p:txBody>
      </p:sp>
      <p:sp>
        <p:nvSpPr>
          <p:cNvPr id="13" name="TextBox 12"/>
          <p:cNvSpPr txBox="1"/>
          <p:nvPr/>
        </p:nvSpPr>
        <p:spPr>
          <a:xfrm>
            <a:off x="2956560" y="246888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Full</a:t>
            </a:r>
          </a:p>
        </p:txBody>
      </p:sp>
      <p:sp>
        <p:nvSpPr>
          <p:cNvPr id="14" name="TextBox 13"/>
          <p:cNvSpPr txBox="1"/>
          <p:nvPr/>
        </p:nvSpPr>
        <p:spPr>
          <a:xfrm>
            <a:off x="2956560" y="270296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selected-profile</a:t>
            </a:r>
          </a:p>
        </p:txBody>
      </p:sp>
      <p:sp>
        <p:nvSpPr>
          <p:cNvPr id="15" name="TextBox 14"/>
          <p:cNvSpPr txBox="1"/>
          <p:nvPr/>
        </p:nvSpPr>
        <p:spPr>
          <a:xfrm>
            <a:off x="2956560" y="2937052"/>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result</a:t>
            </a:r>
          </a:p>
        </p:txBody>
      </p:sp>
      <p:cxnSp>
        <p:nvCxnSpPr>
          <p:cNvPr id="16" name="Connector 15"/>
          <p:cNvCxnSpPr/>
          <p:nvPr/>
        </p:nvCxnSpPr>
        <p:spPr>
          <a:xfrm>
            <a:off x="4922520" y="2682240"/>
            <a:ext cx="83820" cy="0"/>
          </a:xfrm>
          <a:prstGeom prst="line">
            <a:avLst/>
          </a:prstGeom>
          <a:ln w="15240">
            <a:solidFill>
              <a:srgbClr val="536775"/>
            </a:solidFill>
          </a:ln>
          <a:effectLst/>
        </p:spPr>
      </p:cxnSp>
      <p:sp>
        <p:nvSpPr>
          <p:cNvPr id="17" name="Freeform 16"/>
          <p:cNvSpPr/>
          <p:nvPr/>
        </p:nvSpPr>
        <p:spPr>
          <a:xfrm>
            <a:off x="490728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8" name="Rounded Rectangle 17"/>
          <p:cNvSpPr/>
          <p:nvPr/>
        </p:nvSpPr>
        <p:spPr>
          <a:xfrm>
            <a:off x="5029200" y="1981200"/>
            <a:ext cx="2133600" cy="1402080"/>
          </a:xfrm>
          <a:prstGeom prst="roundRect">
            <a:avLst>
              <a:gd name="adj" fmla="val 7065"/>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519684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Relay decision</a:t>
            </a:r>
          </a:p>
        </p:txBody>
      </p:sp>
      <p:sp>
        <p:nvSpPr>
          <p:cNvPr id="20" name="TextBox 19"/>
          <p:cNvSpPr txBox="1"/>
          <p:nvPr/>
        </p:nvSpPr>
        <p:spPr>
          <a:xfrm>
            <a:off x="5196840" y="246888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Validate + save</a:t>
            </a:r>
          </a:p>
        </p:txBody>
      </p:sp>
      <p:sp>
        <p:nvSpPr>
          <p:cNvPr id="21" name="TextBox 20"/>
          <p:cNvSpPr txBox="1"/>
          <p:nvPr/>
        </p:nvSpPr>
        <p:spPr>
          <a:xfrm>
            <a:off x="5196840" y="270296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completion</a:t>
            </a:r>
          </a:p>
        </p:txBody>
      </p:sp>
      <p:cxnSp>
        <p:nvCxnSpPr>
          <p:cNvPr id="22" name="Connector 21"/>
          <p:cNvCxnSpPr/>
          <p:nvPr/>
        </p:nvCxnSpPr>
        <p:spPr>
          <a:xfrm>
            <a:off x="7162800" y="2682240"/>
            <a:ext cx="83820" cy="0"/>
          </a:xfrm>
          <a:prstGeom prst="line">
            <a:avLst/>
          </a:prstGeom>
          <a:ln w="15240">
            <a:solidFill>
              <a:srgbClr val="536775"/>
            </a:solidFill>
          </a:ln>
          <a:effectLst/>
        </p:spPr>
      </p:cxnSp>
      <p:sp>
        <p:nvSpPr>
          <p:cNvPr id="23" name="Freeform 22"/>
          <p:cNvSpPr/>
          <p:nvPr/>
        </p:nvSpPr>
        <p:spPr>
          <a:xfrm>
            <a:off x="714756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4" name="Rounded Rectangle 23"/>
          <p:cNvSpPr/>
          <p:nvPr/>
        </p:nvSpPr>
        <p:spPr>
          <a:xfrm>
            <a:off x="7269480" y="1981200"/>
            <a:ext cx="2133600" cy="1402080"/>
          </a:xfrm>
          <a:prstGeom prst="roundRect">
            <a:avLst>
              <a:gd name="adj" fmla="val 7065"/>
            </a:avLst>
          </a:prstGeom>
          <a:solidFill>
            <a:srgbClr val="FFFFFF"/>
          </a:solidFill>
          <a:ln w="7620">
            <a:solidFill>
              <a:srgbClr val="007C78"/>
            </a:solidFill>
          </a:ln>
          <a:effectLst/>
        </p:spPr>
        <p:txBody>
          <a:bodyPr rtlCol="0" anchor="ctr"/>
          <a:lstStyle/>
          <a:p>
            <a:pPr algn="ctr"/>
          </a:p>
        </p:txBody>
      </p:sp>
      <p:sp>
        <p:nvSpPr>
          <p:cNvPr id="25" name="TextBox 24"/>
          <p:cNvSpPr txBox="1"/>
          <p:nvPr/>
        </p:nvSpPr>
        <p:spPr>
          <a:xfrm>
            <a:off x="743712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C1</a:t>
            </a:r>
          </a:p>
        </p:txBody>
      </p:sp>
      <p:sp>
        <p:nvSpPr>
          <p:cNvPr id="26" name="TextBox 25"/>
          <p:cNvSpPr txBox="1"/>
          <p:nvPr/>
        </p:nvSpPr>
        <p:spPr>
          <a:xfrm>
            <a:off x="7437120" y="239268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acknowledgment</a:t>
            </a:r>
          </a:p>
        </p:txBody>
      </p:sp>
      <p:sp>
        <p:nvSpPr>
          <p:cNvPr id="27" name="TextBox 26"/>
          <p:cNvSpPr txBox="1"/>
          <p:nvPr/>
        </p:nvSpPr>
        <p:spPr>
          <a:xfrm>
            <a:off x="7437120" y="271272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identity +</a:t>
            </a:r>
          </a:p>
        </p:txBody>
      </p:sp>
      <p:sp>
        <p:nvSpPr>
          <p:cNvPr id="28" name="TextBox 27"/>
          <p:cNvSpPr txBox="1"/>
          <p:nvPr/>
        </p:nvSpPr>
        <p:spPr>
          <a:xfrm>
            <a:off x="7437120" y="294680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live consumer</a:t>
            </a:r>
          </a:p>
        </p:txBody>
      </p:sp>
      <p:cxnSp>
        <p:nvCxnSpPr>
          <p:cNvPr id="29" name="Connector 28"/>
          <p:cNvCxnSpPr/>
          <p:nvPr/>
        </p:nvCxnSpPr>
        <p:spPr>
          <a:xfrm>
            <a:off x="9403080" y="2682240"/>
            <a:ext cx="83820" cy="0"/>
          </a:xfrm>
          <a:prstGeom prst="line">
            <a:avLst/>
          </a:prstGeom>
          <a:ln w="15240">
            <a:solidFill>
              <a:srgbClr val="536775"/>
            </a:solidFill>
          </a:ln>
          <a:effectLst/>
        </p:spPr>
      </p:cxnSp>
      <p:sp>
        <p:nvSpPr>
          <p:cNvPr id="30" name="Freeform 29"/>
          <p:cNvSpPr/>
          <p:nvPr/>
        </p:nvSpPr>
        <p:spPr>
          <a:xfrm>
            <a:off x="938784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31" name="Rounded Rectangle 30"/>
          <p:cNvSpPr/>
          <p:nvPr/>
        </p:nvSpPr>
        <p:spPr>
          <a:xfrm>
            <a:off x="9509760" y="1981200"/>
            <a:ext cx="2133600" cy="1402080"/>
          </a:xfrm>
          <a:prstGeom prst="roundRect">
            <a:avLst>
              <a:gd name="adj" fmla="val 7065"/>
            </a:avLst>
          </a:prstGeom>
          <a:solidFill>
            <a:srgbClr val="FFFFFF"/>
          </a:solidFill>
          <a:ln w="7620">
            <a:solidFill>
              <a:srgbClr val="315E9C"/>
            </a:solidFill>
          </a:ln>
          <a:effectLst/>
        </p:spPr>
        <p:txBody>
          <a:bodyPr rtlCol="0" anchor="ctr"/>
          <a:lstStyle/>
          <a:p>
            <a:pPr algn="ctr"/>
          </a:p>
        </p:txBody>
      </p:sp>
      <p:sp>
        <p:nvSpPr>
          <p:cNvPr id="32" name="TextBox 31"/>
          <p:cNvSpPr txBox="1"/>
          <p:nvPr/>
        </p:nvSpPr>
        <p:spPr>
          <a:xfrm>
            <a:off x="967740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Relay</a:t>
            </a:r>
          </a:p>
        </p:txBody>
      </p:sp>
      <p:sp>
        <p:nvSpPr>
          <p:cNvPr id="33" name="TextBox 32"/>
          <p:cNvSpPr txBox="1"/>
          <p:nvPr/>
        </p:nvSpPr>
        <p:spPr>
          <a:xfrm>
            <a:off x="9677400" y="239268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acknowledgment</a:t>
            </a:r>
          </a:p>
        </p:txBody>
      </p:sp>
      <p:sp>
        <p:nvSpPr>
          <p:cNvPr id="34" name="TextBox 33"/>
          <p:cNvSpPr txBox="1"/>
          <p:nvPr/>
        </p:nvSpPr>
        <p:spPr>
          <a:xfrm>
            <a:off x="9677400" y="271272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Save progress;</a:t>
            </a:r>
          </a:p>
        </p:txBody>
      </p:sp>
      <p:sp>
        <p:nvSpPr>
          <p:cNvPr id="35" name="TextBox 34"/>
          <p:cNvSpPr txBox="1"/>
          <p:nvPr/>
        </p:nvSpPr>
        <p:spPr>
          <a:xfrm>
            <a:off x="9677400" y="294680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replies</a:t>
            </a:r>
          </a:p>
        </p:txBody>
      </p:sp>
      <p:sp>
        <p:nvSpPr>
          <p:cNvPr id="36" name="Rounded Rectangle 35"/>
          <p:cNvSpPr/>
          <p:nvPr/>
        </p:nvSpPr>
        <p:spPr>
          <a:xfrm>
            <a:off x="548640" y="3840479"/>
            <a:ext cx="5364480" cy="1699259"/>
          </a:xfrm>
          <a:prstGeom prst="roundRect">
            <a:avLst>
              <a:gd name="adj" fmla="val 5829"/>
            </a:avLst>
          </a:prstGeom>
          <a:solidFill>
            <a:srgbClr val="DCEFE8"/>
          </a:solidFill>
          <a:ln w="7620">
            <a:solidFill>
              <a:srgbClr val="007C78"/>
            </a:solidFill>
          </a:ln>
          <a:effectLst/>
        </p:spPr>
        <p:txBody>
          <a:bodyPr rtlCol="0" anchor="ctr"/>
          <a:lstStyle/>
          <a:p>
            <a:pPr algn="ctr"/>
          </a:p>
        </p:txBody>
      </p:sp>
      <p:sp>
        <p:nvSpPr>
          <p:cNvPr id="37" name="TextBox 36"/>
          <p:cNvSpPr txBox="1"/>
          <p:nvPr/>
        </p:nvSpPr>
        <p:spPr>
          <a:xfrm>
            <a:off x="716280" y="4008119"/>
            <a:ext cx="5029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33 events · one persistent episode</a:t>
            </a:r>
          </a:p>
        </p:txBody>
      </p:sp>
      <p:sp>
        <p:nvSpPr>
          <p:cNvPr id="38" name="TextBox 37"/>
          <p:cNvSpPr txBox="1"/>
          <p:nvPr/>
        </p:nvSpPr>
        <p:spPr>
          <a:xfrm>
            <a:off x="716280" y="4396435"/>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Append 16 → drain to 0</a:t>
            </a:r>
          </a:p>
        </p:txBody>
      </p:sp>
      <p:sp>
        <p:nvSpPr>
          <p:cNvPr id="39" name="TextBox 38"/>
          <p:cNvSpPr txBox="1"/>
          <p:nvPr/>
        </p:nvSpPr>
        <p:spPr>
          <a:xfrm>
            <a:off x="716280" y="4669536"/>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Append 16 → drain to 0</a:t>
            </a:r>
          </a:p>
        </p:txBody>
      </p:sp>
      <p:sp>
        <p:nvSpPr>
          <p:cNvPr id="40" name="TextBox 39"/>
          <p:cNvSpPr txBox="1"/>
          <p:nvPr/>
        </p:nvSpPr>
        <p:spPr>
          <a:xfrm>
            <a:off x="716280" y="4942636"/>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Append 1 → drain to 0</a:t>
            </a:r>
          </a:p>
        </p:txBody>
      </p:sp>
      <p:sp>
        <p:nvSpPr>
          <p:cNvPr id="41" name="Rounded Rectangle 40"/>
          <p:cNvSpPr/>
          <p:nvPr/>
        </p:nvSpPr>
        <p:spPr>
          <a:xfrm>
            <a:off x="6096000" y="3840479"/>
            <a:ext cx="5547360" cy="1699259"/>
          </a:xfrm>
          <a:prstGeom prst="roundRect">
            <a:avLst>
              <a:gd name="adj" fmla="val 5829"/>
            </a:avLst>
          </a:prstGeom>
          <a:solidFill>
            <a:srgbClr val="E4EBF5"/>
          </a:solidFill>
          <a:ln w="7620">
            <a:solidFill>
              <a:srgbClr val="315E9C"/>
            </a:solidFill>
          </a:ln>
          <a:effectLst/>
        </p:spPr>
        <p:txBody>
          <a:bodyPr rtlCol="0" anchor="ctr"/>
          <a:lstStyle/>
          <a:p>
            <a:pPr algn="ctr"/>
          </a:p>
        </p:txBody>
      </p:sp>
      <p:sp>
        <p:nvSpPr>
          <p:cNvPr id="42" name="TextBox 41"/>
          <p:cNvSpPr txBox="1"/>
          <p:nvPr/>
        </p:nvSpPr>
        <p:spPr>
          <a:xfrm>
            <a:off x="6263640" y="4008119"/>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Acknowledgment is model-independent</a:t>
            </a:r>
          </a:p>
        </p:txBody>
      </p:sp>
      <p:sp>
        <p:nvSpPr>
          <p:cNvPr id="43" name="TextBox 42"/>
          <p:cNvSpPr txBox="1"/>
          <p:nvPr/>
        </p:nvSpPr>
        <p:spPr>
          <a:xfrm>
            <a:off x="6263640" y="4376928"/>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trusted relay checks C2's full decision. C1</a:t>
            </a:r>
          </a:p>
        </p:txBody>
      </p:sp>
      <p:sp>
        <p:nvSpPr>
          <p:cNvPr id="44" name="TextBox 43"/>
          <p:cNvSpPr txBox="1"/>
          <p:nvPr/>
        </p:nvSpPr>
        <p:spPr>
          <a:xfrm>
            <a:off x="6263640" y="464027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checks its event, delivery, request and selected</a:t>
            </a:r>
          </a:p>
        </p:txBody>
      </p:sp>
      <p:sp>
        <p:nvSpPr>
          <p:cNvPr id="45" name="TextBox 44"/>
          <p:cNvSpPr txBox="1"/>
          <p:nvPr/>
        </p:nvSpPr>
        <p:spPr>
          <a:xfrm>
            <a:off x="6263640" y="4903622"/>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consumer; it parses no PLN snapshot.</a:t>
            </a:r>
          </a:p>
        </p:txBody>
      </p:sp>
      <p:sp>
        <p:nvSpPr>
          <p:cNvPr id="46" name="Rounded Rectangle 4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7" name="TextBox 46"/>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16 pending deliveries is still the bound. Draining frees pending capacity; episode lifetime stays 256 events.</a:t>
            </a:r>
          </a:p>
        </p:txBody>
      </p:sp>
      <p:cxnSp>
        <p:nvCxnSpPr>
          <p:cNvPr id="48" name="Connector 47"/>
          <p:cNvCxnSpPr/>
          <p:nvPr/>
        </p:nvCxnSpPr>
        <p:spPr>
          <a:xfrm>
            <a:off x="548640" y="6393180"/>
            <a:ext cx="11094720" cy="0"/>
          </a:xfrm>
          <a:prstGeom prst="line">
            <a:avLst/>
          </a:prstGeom>
          <a:ln w="7620">
            <a:solidFill>
              <a:srgbClr val="C9D2D4"/>
            </a:solidFill>
          </a:ln>
          <a:effectLst/>
        </p:spPr>
      </p:cxnSp>
      <p:sp>
        <p:nvSpPr>
          <p:cNvPr id="49" name="TextBox 4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delivery_contracts.py · evidence_relay.py · m3_1 evidence</a:t>
            </a:r>
          </a:p>
        </p:txBody>
      </p:sp>
      <p:sp>
        <p:nvSpPr>
          <p:cNvPr id="50" name="TextBox 4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BELIEF REVISION</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C2: admitting evidence and changing belief are separate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New observations remain visible even when they cannot change the current aggregate.</a:t>
            </a:r>
          </a:p>
        </p:txBody>
      </p:sp>
      <p:sp>
        <p:nvSpPr>
          <p:cNvPr id="5" name="Rounded Rectangle 4"/>
          <p:cNvSpPr/>
          <p:nvPr/>
        </p:nvSpPr>
        <p:spPr>
          <a:xfrm>
            <a:off x="548640" y="1920239"/>
            <a:ext cx="2895600" cy="1371600"/>
          </a:xfrm>
          <a:prstGeom prst="roundRect">
            <a:avLst>
              <a:gd name="adj" fmla="val 7222"/>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87880"/>
            <a:ext cx="2560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Evidence submission</a:t>
            </a:r>
          </a:p>
        </p:txBody>
      </p:sp>
      <p:sp>
        <p:nvSpPr>
          <p:cNvPr id="7" name="TextBox 6"/>
          <p:cNvSpPr txBox="1"/>
          <p:nvPr/>
        </p:nvSpPr>
        <p:spPr>
          <a:xfrm>
            <a:off x="716280" y="2437180"/>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C1 evidence reference or an</a:t>
            </a:r>
          </a:p>
        </p:txBody>
      </p:sp>
      <p:sp>
        <p:nvSpPr>
          <p:cNvPr id="8" name="TextBox 7"/>
          <p:cNvSpPr txBox="1"/>
          <p:nvPr/>
        </p:nvSpPr>
        <p:spPr>
          <a:xfrm>
            <a:off x="716280" y="2642006"/>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existing C2 support; exact</a:t>
            </a:r>
          </a:p>
        </p:txBody>
      </p:sp>
      <p:sp>
        <p:nvSpPr>
          <p:cNvPr id="9" name="TextBox 8"/>
          <p:cNvSpPr txBox="1"/>
          <p:nvPr/>
        </p:nvSpPr>
        <p:spPr>
          <a:xfrm>
            <a:off x="716280" y="2846832"/>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claim and context.</a:t>
            </a:r>
          </a:p>
        </p:txBody>
      </p:sp>
      <p:cxnSp>
        <p:nvCxnSpPr>
          <p:cNvPr id="10" name="Connector 9"/>
          <p:cNvCxnSpPr/>
          <p:nvPr/>
        </p:nvCxnSpPr>
        <p:spPr>
          <a:xfrm>
            <a:off x="3444240" y="2606040"/>
            <a:ext cx="777240" cy="0"/>
          </a:xfrm>
          <a:prstGeom prst="line">
            <a:avLst/>
          </a:prstGeom>
          <a:ln w="15240">
            <a:solidFill>
              <a:srgbClr val="315E9C"/>
            </a:solidFill>
          </a:ln>
          <a:effectLst/>
        </p:spPr>
      </p:cxnSp>
      <p:sp>
        <p:nvSpPr>
          <p:cNvPr id="11" name="Freeform 10"/>
          <p:cNvSpPr/>
          <p:nvPr/>
        </p:nvSpPr>
        <p:spPr>
          <a:xfrm>
            <a:off x="4122420" y="2567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2" name="Rounded Rectangle 11"/>
          <p:cNvSpPr/>
          <p:nvPr/>
        </p:nvSpPr>
        <p:spPr>
          <a:xfrm>
            <a:off x="4221480" y="1920239"/>
            <a:ext cx="3048000" cy="1371600"/>
          </a:xfrm>
          <a:prstGeom prst="roundRect">
            <a:avLst>
              <a:gd name="adj" fmla="val 7222"/>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4389120" y="2087880"/>
            <a:ext cx="2712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Admission decision</a:t>
            </a:r>
          </a:p>
        </p:txBody>
      </p:sp>
      <p:sp>
        <p:nvSpPr>
          <p:cNvPr id="14" name="TextBox 13"/>
          <p:cNvSpPr txBox="1"/>
          <p:nvPr/>
        </p:nvSpPr>
        <p:spPr>
          <a:xfrm>
            <a:off x="4389120" y="2456687"/>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ADMITTED or DUPLICATE</a:t>
            </a:r>
          </a:p>
        </p:txBody>
      </p:sp>
      <p:sp>
        <p:nvSpPr>
          <p:cNvPr id="15" name="TextBox 14"/>
          <p:cNvSpPr txBox="1"/>
          <p:nvPr/>
        </p:nvSpPr>
        <p:spPr>
          <a:xfrm>
            <a:off x="4389120" y="2700528"/>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Track occurrence and</a:t>
            </a:r>
          </a:p>
        </p:txBody>
      </p:sp>
      <p:sp>
        <p:nvSpPr>
          <p:cNvPr id="16" name="TextBox 15"/>
          <p:cNvSpPr txBox="1"/>
          <p:nvPr/>
        </p:nvSpPr>
        <p:spPr>
          <a:xfrm>
            <a:off x="4389120" y="2944367"/>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provenance.</a:t>
            </a:r>
          </a:p>
        </p:txBody>
      </p:sp>
      <p:cxnSp>
        <p:nvCxnSpPr>
          <p:cNvPr id="17" name="Connector 16"/>
          <p:cNvCxnSpPr/>
          <p:nvPr/>
        </p:nvCxnSpPr>
        <p:spPr>
          <a:xfrm>
            <a:off x="7269480" y="2606040"/>
            <a:ext cx="777240" cy="0"/>
          </a:xfrm>
          <a:prstGeom prst="line">
            <a:avLst/>
          </a:prstGeom>
          <a:ln w="15240">
            <a:solidFill>
              <a:srgbClr val="315E9C"/>
            </a:solidFill>
          </a:ln>
          <a:effectLst/>
        </p:spPr>
      </p:cxnSp>
      <p:sp>
        <p:nvSpPr>
          <p:cNvPr id="18" name="Freeform 17"/>
          <p:cNvSpPr/>
          <p:nvPr/>
        </p:nvSpPr>
        <p:spPr>
          <a:xfrm>
            <a:off x="7947660" y="2567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9" name="Rounded Rectangle 18"/>
          <p:cNvSpPr/>
          <p:nvPr/>
        </p:nvSpPr>
        <p:spPr>
          <a:xfrm>
            <a:off x="8046720" y="1920239"/>
            <a:ext cx="3596640" cy="1371600"/>
          </a:xfrm>
          <a:prstGeom prst="roundRect">
            <a:avLst>
              <a:gd name="adj" fmla="val 7222"/>
            </a:avLst>
          </a:prstGeom>
          <a:solidFill>
            <a:srgbClr val="DCEFE8"/>
          </a:solidFill>
          <a:ln w="7620">
            <a:solidFill>
              <a:srgbClr val="007C78"/>
            </a:solidFill>
          </a:ln>
          <a:effectLst/>
        </p:spPr>
        <p:txBody>
          <a:bodyPr rtlCol="0" anchor="ctr"/>
          <a:lstStyle/>
          <a:p>
            <a:pPr algn="ctr"/>
          </a:p>
        </p:txBody>
      </p:sp>
      <p:sp>
        <p:nvSpPr>
          <p:cNvPr id="20" name="TextBox 19"/>
          <p:cNvSpPr txBox="1"/>
          <p:nvPr/>
        </p:nvSpPr>
        <p:spPr>
          <a:xfrm>
            <a:off x="8214359" y="2087880"/>
            <a:ext cx="326136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Numerical decision</a:t>
            </a:r>
          </a:p>
        </p:txBody>
      </p:sp>
      <p:sp>
        <p:nvSpPr>
          <p:cNvPr id="21" name="TextBox 20"/>
          <p:cNvSpPr txBox="1"/>
          <p:nvPr/>
        </p:nvSpPr>
        <p:spPr>
          <a:xfrm>
            <a:off x="8214359" y="2456687"/>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Initialize, revise, no change,</a:t>
            </a:r>
          </a:p>
        </p:txBody>
      </p:sp>
      <p:sp>
        <p:nvSpPr>
          <p:cNvPr id="22" name="TextBox 21"/>
          <p:cNvSpPr txBox="1"/>
          <p:nvPr/>
        </p:nvSpPr>
        <p:spPr>
          <a:xfrm>
            <a:off x="8214359" y="2700528"/>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retain alternative, or</a:t>
            </a:r>
          </a:p>
        </p:txBody>
      </p:sp>
      <p:sp>
        <p:nvSpPr>
          <p:cNvPr id="23" name="TextBox 22"/>
          <p:cNvSpPr txBox="1"/>
          <p:nvPr/>
        </p:nvSpPr>
        <p:spPr>
          <a:xfrm>
            <a:off x="8214359" y="2944367"/>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model-inapplicable.</a:t>
            </a:r>
          </a:p>
        </p:txBody>
      </p:sp>
      <p:sp>
        <p:nvSpPr>
          <p:cNvPr id="24" name="Rounded Rectangle 23"/>
          <p:cNvSpPr/>
          <p:nvPr/>
        </p:nvSpPr>
        <p:spPr>
          <a:xfrm>
            <a:off x="548640" y="3886200"/>
            <a:ext cx="5364480" cy="1607820"/>
          </a:xfrm>
          <a:prstGeom prst="roundRect">
            <a:avLst>
              <a:gd name="adj" fmla="val 6161"/>
            </a:avLst>
          </a:prstGeom>
          <a:solidFill>
            <a:srgbClr val="FFFFFF"/>
          </a:solidFill>
          <a:ln w="7620">
            <a:solidFill>
              <a:srgbClr val="007C78"/>
            </a:solidFill>
          </a:ln>
          <a:effectLst/>
        </p:spPr>
        <p:txBody>
          <a:bodyPr rtlCol="0" anchor="ctr"/>
          <a:lstStyle/>
          <a:p>
            <a:pPr algn="ctr"/>
          </a:p>
        </p:txBody>
      </p:sp>
      <p:sp>
        <p:nvSpPr>
          <p:cNvPr id="25" name="TextBox 24"/>
          <p:cNvSpPr txBox="1"/>
          <p:nvPr/>
        </p:nvSpPr>
        <p:spPr>
          <a:xfrm>
            <a:off x="716280" y="40538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Aggregate with exact coverage</a:t>
            </a:r>
          </a:p>
        </p:txBody>
      </p:sp>
      <p:sp>
        <p:nvSpPr>
          <p:cNvPr id="26" name="TextBox 25"/>
          <p:cNvSpPr txBox="1"/>
          <p:nvPr/>
        </p:nvSpPr>
        <p:spPr>
          <a:xfrm>
            <a:off x="716280" y="44324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Every numerical result names the contributing</a:t>
            </a:r>
          </a:p>
        </p:txBody>
      </p:sp>
      <p:sp>
        <p:nvSpPr>
          <p:cNvPr id="27" name="TextBox 26"/>
          <p:cNvSpPr txBox="1"/>
          <p:nvPr/>
        </p:nvSpPr>
        <p:spPr>
          <a:xfrm>
            <a:off x="716280" y="46957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leaves, origins, premises, formula and</a:t>
            </a:r>
          </a:p>
        </p:txBody>
      </p:sp>
      <p:sp>
        <p:nvSpPr>
          <p:cNvPr id="28" name="TextBox 27"/>
          <p:cNvSpPr txBox="1"/>
          <p:nvPr/>
        </p:nvSpPr>
        <p:spPr>
          <a:xfrm>
            <a:off x="716280" y="495909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assumption.</a:t>
            </a:r>
          </a:p>
        </p:txBody>
      </p:sp>
      <p:sp>
        <p:nvSpPr>
          <p:cNvPr id="29" name="Rounded Rectangle 28"/>
          <p:cNvSpPr/>
          <p:nvPr/>
        </p:nvSpPr>
        <p:spPr>
          <a:xfrm>
            <a:off x="6096000" y="3886200"/>
            <a:ext cx="5547360" cy="1607820"/>
          </a:xfrm>
          <a:prstGeom prst="roundRect">
            <a:avLst>
              <a:gd name="adj" fmla="val 6161"/>
            </a:avLst>
          </a:prstGeom>
          <a:solidFill>
            <a:srgbClr val="F3E7CE"/>
          </a:solidFill>
          <a:ln w="7620">
            <a:solidFill>
              <a:srgbClr val="A86A15"/>
            </a:solidFill>
          </a:ln>
          <a:effectLst/>
        </p:spPr>
        <p:txBody>
          <a:bodyPr rtlCol="0" anchor="ctr"/>
          <a:lstStyle/>
          <a:p>
            <a:pPr algn="ctr"/>
          </a:p>
        </p:txBody>
      </p:sp>
      <p:sp>
        <p:nvSpPr>
          <p:cNvPr id="30" name="TextBox 29"/>
          <p:cNvSpPr txBox="1"/>
          <p:nvPr/>
        </p:nvSpPr>
        <p:spPr>
          <a:xfrm>
            <a:off x="6263640" y="405384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Unaggregated alternatives</a:t>
            </a:r>
          </a:p>
        </p:txBody>
      </p:sp>
      <p:sp>
        <p:nvSpPr>
          <p:cNvPr id="31" name="TextBox 30"/>
          <p:cNvSpPr txBox="1"/>
          <p:nvPr/>
        </p:nvSpPr>
        <p:spPr>
          <a:xfrm>
            <a:off x="6263640" y="4422647"/>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Copied or contrary observations remain in the</a:t>
            </a:r>
          </a:p>
        </p:txBody>
      </p:sp>
      <p:sp>
        <p:nvSpPr>
          <p:cNvPr id="32" name="TextBox 31"/>
          <p:cNvSpPr txBox="1"/>
          <p:nvPr/>
        </p:nvSpPr>
        <p:spPr>
          <a:xfrm>
            <a:off x="6263640" y="468599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snapshot. Later eligible assumptions can combine</a:t>
            </a:r>
          </a:p>
        </p:txBody>
      </p:sp>
      <p:sp>
        <p:nvSpPr>
          <p:cNvPr id="33" name="TextBox 32"/>
          <p:cNvSpPr txBox="1"/>
          <p:nvPr/>
        </p:nvSpPr>
        <p:spPr>
          <a:xfrm>
            <a:off x="6263640" y="4949342"/>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existing supports.</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One saved truth value is not a summary of every observation. Read its coverage and alternatives.</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beliefs.py · memory_types.py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DERIVED-SUPPORT ADMISSION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derived conclusion inherits its evidence trail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result is a new support record, while its original observations and ancestry remain the same.</a:t>
            </a:r>
          </a:p>
        </p:txBody>
      </p:sp>
      <p:sp>
        <p:nvSpPr>
          <p:cNvPr id="5" name="Rounded Rectangle 4"/>
          <p:cNvSpPr/>
          <p:nvPr/>
        </p:nvSpPr>
        <p:spPr>
          <a:xfrm>
            <a:off x="54864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P</a:t>
            </a:r>
          </a:p>
        </p:txBody>
      </p:sp>
      <p:sp>
        <p:nvSpPr>
          <p:cNvPr id="7" name="TextBox 6"/>
          <p:cNvSpPr txBox="1"/>
          <p:nvPr/>
        </p:nvSpPr>
        <p:spPr>
          <a:xfrm>
            <a:off x="71628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8" name="TextBox 7"/>
          <p:cNvSpPr txBox="1"/>
          <p:nvPr/>
        </p:nvSpPr>
        <p:spPr>
          <a:xfrm>
            <a:off x="71628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9" name="Connector 8"/>
          <p:cNvCxnSpPr/>
          <p:nvPr/>
        </p:nvCxnSpPr>
        <p:spPr>
          <a:xfrm>
            <a:off x="1584960" y="2926079"/>
            <a:ext cx="0" cy="342900"/>
          </a:xfrm>
          <a:prstGeom prst="line">
            <a:avLst/>
          </a:prstGeom>
          <a:ln w="15240">
            <a:solidFill>
              <a:srgbClr val="315E9C"/>
            </a:solidFill>
          </a:ln>
          <a:effectLst/>
        </p:spPr>
      </p:cxnSp>
      <p:cxnSp>
        <p:nvCxnSpPr>
          <p:cNvPr id="10" name="Connector 9"/>
          <p:cNvCxnSpPr/>
          <p:nvPr/>
        </p:nvCxnSpPr>
        <p:spPr>
          <a:xfrm>
            <a:off x="1584960" y="3268979"/>
            <a:ext cx="4511040" cy="0"/>
          </a:xfrm>
          <a:prstGeom prst="line">
            <a:avLst/>
          </a:prstGeom>
          <a:ln w="15240">
            <a:solidFill>
              <a:srgbClr val="315E9C"/>
            </a:solidFill>
          </a:ln>
          <a:effectLst/>
        </p:spPr>
      </p:cxnSp>
      <p:sp>
        <p:nvSpPr>
          <p:cNvPr id="11" name="Rounded Rectangle 10"/>
          <p:cNvSpPr/>
          <p:nvPr/>
        </p:nvSpPr>
        <p:spPr>
          <a:xfrm>
            <a:off x="280416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297180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Q</a:t>
            </a:r>
          </a:p>
        </p:txBody>
      </p:sp>
      <p:sp>
        <p:nvSpPr>
          <p:cNvPr id="13" name="TextBox 12"/>
          <p:cNvSpPr txBox="1"/>
          <p:nvPr/>
        </p:nvSpPr>
        <p:spPr>
          <a:xfrm>
            <a:off x="297180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14" name="TextBox 13"/>
          <p:cNvSpPr txBox="1"/>
          <p:nvPr/>
        </p:nvSpPr>
        <p:spPr>
          <a:xfrm>
            <a:off x="297180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15" name="Connector 14"/>
          <p:cNvCxnSpPr/>
          <p:nvPr/>
        </p:nvCxnSpPr>
        <p:spPr>
          <a:xfrm>
            <a:off x="3840479" y="2926079"/>
            <a:ext cx="0" cy="342900"/>
          </a:xfrm>
          <a:prstGeom prst="line">
            <a:avLst/>
          </a:prstGeom>
          <a:ln w="15240">
            <a:solidFill>
              <a:srgbClr val="315E9C"/>
            </a:solidFill>
          </a:ln>
          <a:effectLst/>
        </p:spPr>
      </p:cxnSp>
      <p:cxnSp>
        <p:nvCxnSpPr>
          <p:cNvPr id="16" name="Connector 15"/>
          <p:cNvCxnSpPr/>
          <p:nvPr/>
        </p:nvCxnSpPr>
        <p:spPr>
          <a:xfrm>
            <a:off x="3840479" y="3268979"/>
            <a:ext cx="2255521" cy="0"/>
          </a:xfrm>
          <a:prstGeom prst="line">
            <a:avLst/>
          </a:prstGeom>
          <a:ln w="15240">
            <a:solidFill>
              <a:srgbClr val="315E9C"/>
            </a:solidFill>
          </a:ln>
          <a:effectLst/>
        </p:spPr>
      </p:cxnSp>
      <p:sp>
        <p:nvSpPr>
          <p:cNvPr id="17" name="Rounded Rectangle 16"/>
          <p:cNvSpPr/>
          <p:nvPr/>
        </p:nvSpPr>
        <p:spPr>
          <a:xfrm>
            <a:off x="505968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18" name="TextBox 17"/>
          <p:cNvSpPr txBox="1"/>
          <p:nvPr/>
        </p:nvSpPr>
        <p:spPr>
          <a:xfrm>
            <a:off x="522732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R</a:t>
            </a:r>
          </a:p>
        </p:txBody>
      </p:sp>
      <p:sp>
        <p:nvSpPr>
          <p:cNvPr id="19" name="TextBox 18"/>
          <p:cNvSpPr txBox="1"/>
          <p:nvPr/>
        </p:nvSpPr>
        <p:spPr>
          <a:xfrm>
            <a:off x="522732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20" name="TextBox 19"/>
          <p:cNvSpPr txBox="1"/>
          <p:nvPr/>
        </p:nvSpPr>
        <p:spPr>
          <a:xfrm>
            <a:off x="522732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21" name="Connector 20"/>
          <p:cNvCxnSpPr/>
          <p:nvPr/>
        </p:nvCxnSpPr>
        <p:spPr>
          <a:xfrm>
            <a:off x="6096000" y="2926079"/>
            <a:ext cx="0" cy="342900"/>
          </a:xfrm>
          <a:prstGeom prst="line">
            <a:avLst/>
          </a:prstGeom>
          <a:ln w="15240">
            <a:solidFill>
              <a:srgbClr val="315E9C"/>
            </a:solidFill>
          </a:ln>
          <a:effectLst/>
        </p:spPr>
      </p:cxnSp>
      <p:cxnSp>
        <p:nvCxnSpPr>
          <p:cNvPr id="22" name="Connector 21"/>
          <p:cNvCxnSpPr/>
          <p:nvPr/>
        </p:nvCxnSpPr>
        <p:spPr>
          <a:xfrm>
            <a:off x="6096000" y="3268979"/>
            <a:ext cx="0" cy="0"/>
          </a:xfrm>
          <a:prstGeom prst="line">
            <a:avLst/>
          </a:prstGeom>
          <a:ln w="15240">
            <a:solidFill>
              <a:srgbClr val="315E9C"/>
            </a:solidFill>
          </a:ln>
          <a:effectLst/>
        </p:spPr>
      </p:cxnSp>
      <p:sp>
        <p:nvSpPr>
          <p:cNvPr id="23" name="Rounded Rectangle 22"/>
          <p:cNvSpPr/>
          <p:nvPr/>
        </p:nvSpPr>
        <p:spPr>
          <a:xfrm>
            <a:off x="731520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24" name="TextBox 23"/>
          <p:cNvSpPr txBox="1"/>
          <p:nvPr/>
        </p:nvSpPr>
        <p:spPr>
          <a:xfrm>
            <a:off x="7482839"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P ⇒ Q</a:t>
            </a:r>
          </a:p>
        </p:txBody>
      </p:sp>
      <p:sp>
        <p:nvSpPr>
          <p:cNvPr id="25" name="TextBox 24"/>
          <p:cNvSpPr txBox="1"/>
          <p:nvPr/>
        </p:nvSpPr>
        <p:spPr>
          <a:xfrm>
            <a:off x="7482839"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26" name="TextBox 25"/>
          <p:cNvSpPr txBox="1"/>
          <p:nvPr/>
        </p:nvSpPr>
        <p:spPr>
          <a:xfrm>
            <a:off x="7482839"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27" name="Connector 26"/>
          <p:cNvCxnSpPr/>
          <p:nvPr/>
        </p:nvCxnSpPr>
        <p:spPr>
          <a:xfrm>
            <a:off x="8351520" y="2926079"/>
            <a:ext cx="0" cy="342900"/>
          </a:xfrm>
          <a:prstGeom prst="line">
            <a:avLst/>
          </a:prstGeom>
          <a:ln w="15240">
            <a:solidFill>
              <a:srgbClr val="315E9C"/>
            </a:solidFill>
          </a:ln>
          <a:effectLst/>
        </p:spPr>
      </p:cxnSp>
      <p:cxnSp>
        <p:nvCxnSpPr>
          <p:cNvPr id="28" name="Connector 27"/>
          <p:cNvCxnSpPr/>
          <p:nvPr/>
        </p:nvCxnSpPr>
        <p:spPr>
          <a:xfrm flipH="1">
            <a:off x="6096000" y="3268979"/>
            <a:ext cx="2255520" cy="0"/>
          </a:xfrm>
          <a:prstGeom prst="line">
            <a:avLst/>
          </a:prstGeom>
          <a:ln w="15240">
            <a:solidFill>
              <a:srgbClr val="315E9C"/>
            </a:solidFill>
          </a:ln>
          <a:effectLst/>
        </p:spPr>
      </p:cxnSp>
      <p:sp>
        <p:nvSpPr>
          <p:cNvPr id="29" name="Rounded Rectangle 28"/>
          <p:cNvSpPr/>
          <p:nvPr/>
        </p:nvSpPr>
        <p:spPr>
          <a:xfrm>
            <a:off x="957072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30" name="TextBox 29"/>
          <p:cNvSpPr txBox="1"/>
          <p:nvPr/>
        </p:nvSpPr>
        <p:spPr>
          <a:xfrm>
            <a:off x="973836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Q ⇒ R</a:t>
            </a:r>
          </a:p>
        </p:txBody>
      </p:sp>
      <p:sp>
        <p:nvSpPr>
          <p:cNvPr id="31" name="TextBox 30"/>
          <p:cNvSpPr txBox="1"/>
          <p:nvPr/>
        </p:nvSpPr>
        <p:spPr>
          <a:xfrm>
            <a:off x="973836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32" name="TextBox 31"/>
          <p:cNvSpPr txBox="1"/>
          <p:nvPr/>
        </p:nvSpPr>
        <p:spPr>
          <a:xfrm>
            <a:off x="973836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33" name="Connector 32"/>
          <p:cNvCxnSpPr/>
          <p:nvPr/>
        </p:nvCxnSpPr>
        <p:spPr>
          <a:xfrm>
            <a:off x="10607040" y="2926079"/>
            <a:ext cx="0" cy="342900"/>
          </a:xfrm>
          <a:prstGeom prst="line">
            <a:avLst/>
          </a:prstGeom>
          <a:ln w="15240">
            <a:solidFill>
              <a:srgbClr val="315E9C"/>
            </a:solidFill>
          </a:ln>
          <a:effectLst/>
        </p:spPr>
      </p:cxnSp>
      <p:cxnSp>
        <p:nvCxnSpPr>
          <p:cNvPr id="34" name="Connector 33"/>
          <p:cNvCxnSpPr/>
          <p:nvPr/>
        </p:nvCxnSpPr>
        <p:spPr>
          <a:xfrm flipH="1">
            <a:off x="6096000" y="3268979"/>
            <a:ext cx="4511040" cy="0"/>
          </a:xfrm>
          <a:prstGeom prst="line">
            <a:avLst/>
          </a:prstGeom>
          <a:ln w="15240">
            <a:solidFill>
              <a:srgbClr val="315E9C"/>
            </a:solidFill>
          </a:ln>
          <a:effectLst/>
        </p:spPr>
      </p:cxnSp>
      <p:cxnSp>
        <p:nvCxnSpPr>
          <p:cNvPr id="35" name="Connector 34"/>
          <p:cNvCxnSpPr/>
          <p:nvPr/>
        </p:nvCxnSpPr>
        <p:spPr>
          <a:xfrm>
            <a:off x="6096000" y="3268979"/>
            <a:ext cx="0" cy="457200"/>
          </a:xfrm>
          <a:prstGeom prst="line">
            <a:avLst/>
          </a:prstGeom>
          <a:ln w="15240">
            <a:solidFill>
              <a:srgbClr val="007C78"/>
            </a:solidFill>
          </a:ln>
          <a:effectLst/>
        </p:spPr>
      </p:cxnSp>
      <p:sp>
        <p:nvSpPr>
          <p:cNvPr id="36" name="Freeform 35"/>
          <p:cNvSpPr/>
          <p:nvPr/>
        </p:nvSpPr>
        <p:spPr>
          <a:xfrm>
            <a:off x="6057900" y="362712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37" name="Rounded Rectangle 36"/>
          <p:cNvSpPr/>
          <p:nvPr/>
        </p:nvSpPr>
        <p:spPr>
          <a:xfrm>
            <a:off x="3208020" y="3726179"/>
            <a:ext cx="5775960" cy="1082040"/>
          </a:xfrm>
          <a:prstGeom prst="roundRect">
            <a:avLst>
              <a:gd name="adj" fmla="val 9154"/>
            </a:avLst>
          </a:prstGeom>
          <a:solidFill>
            <a:srgbClr val="DCEFE8"/>
          </a:solidFill>
          <a:ln w="7620">
            <a:solidFill>
              <a:srgbClr val="007C78"/>
            </a:solidFill>
          </a:ln>
          <a:effectLst/>
        </p:spPr>
        <p:txBody>
          <a:bodyPr rtlCol="0" anchor="ctr"/>
          <a:lstStyle/>
          <a:p>
            <a:pPr algn="ctr"/>
          </a:p>
        </p:txBody>
      </p:sp>
      <p:sp>
        <p:nvSpPr>
          <p:cNvPr id="38" name="TextBox 37"/>
          <p:cNvSpPr txBox="1"/>
          <p:nvPr/>
        </p:nvSpPr>
        <p:spPr>
          <a:xfrm>
            <a:off x="3375660" y="3893819"/>
            <a:ext cx="544068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Derived P ⇒ R</a:t>
            </a:r>
          </a:p>
        </p:txBody>
      </p:sp>
      <p:sp>
        <p:nvSpPr>
          <p:cNvPr id="39" name="TextBox 38"/>
          <p:cNvSpPr txBox="1"/>
          <p:nvPr/>
        </p:nvSpPr>
        <p:spPr>
          <a:xfrm>
            <a:off x="3375660" y="4301642"/>
            <a:ext cx="54406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Inherited evidence roots + actual grounded ancestry</a:t>
            </a:r>
          </a:p>
        </p:txBody>
      </p:sp>
      <p:sp>
        <p:nvSpPr>
          <p:cNvPr id="40" name="TextBox 39"/>
          <p:cNvSpPr txBox="1"/>
          <p:nvPr/>
        </p:nvSpPr>
        <p:spPr>
          <a:xfrm>
            <a:off x="594360" y="518160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Unknown target: initialize inferential support. Existing truth: keep the alternative.</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No new observation, root, independence assertion or evidence count is created.</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derived_beliefs.py · pln_deduction.py</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KERNEL AND RUNTIME COMPATIBILITY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One grounded rule reuses the actual native PLN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replacement arithmetic and no general search loop: five explicit premises produce one proposal.</a:t>
            </a:r>
          </a:p>
        </p:txBody>
      </p:sp>
      <p:sp>
        <p:nvSpPr>
          <p:cNvPr id="5" name="Rounded Rectangle 4"/>
          <p:cNvSpPr/>
          <p:nvPr/>
        </p:nvSpPr>
        <p:spPr>
          <a:xfrm>
            <a:off x="548640" y="1981200"/>
            <a:ext cx="32004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148840"/>
            <a:ext cx="28651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Fusion PLNKernel</a:t>
            </a:r>
          </a:p>
        </p:txBody>
      </p:sp>
      <p:sp>
        <p:nvSpPr>
          <p:cNvPr id="7" name="TextBox 6"/>
          <p:cNvSpPr txBox="1"/>
          <p:nvPr/>
        </p:nvSpPr>
        <p:spPr>
          <a:xfrm>
            <a:off x="716280" y="2527401"/>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Exact bindings,</a:t>
            </a:r>
          </a:p>
        </p:txBody>
      </p:sp>
      <p:sp>
        <p:nvSpPr>
          <p:cNvPr id="8" name="TextBox 7"/>
          <p:cNvSpPr txBox="1"/>
          <p:nvPr/>
        </p:nvSpPr>
        <p:spPr>
          <a:xfrm>
            <a:off x="716280" y="2800502"/>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source/profile checks and</a:t>
            </a:r>
          </a:p>
        </p:txBody>
      </p:sp>
      <p:sp>
        <p:nvSpPr>
          <p:cNvPr id="9" name="TextBox 8"/>
          <p:cNvSpPr txBox="1"/>
          <p:nvPr/>
        </p:nvSpPr>
        <p:spPr>
          <a:xfrm>
            <a:off x="716280" y="3073603"/>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remaining deadline</a:t>
            </a:r>
          </a:p>
        </p:txBody>
      </p:sp>
      <p:sp>
        <p:nvSpPr>
          <p:cNvPr id="10" name="Rounded Rectangle 9"/>
          <p:cNvSpPr/>
          <p:nvPr/>
        </p:nvSpPr>
        <p:spPr>
          <a:xfrm>
            <a:off x="4267200" y="1981200"/>
            <a:ext cx="36576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11" name="TextBox 10"/>
          <p:cNvSpPr txBox="1"/>
          <p:nvPr/>
        </p:nvSpPr>
        <p:spPr>
          <a:xfrm>
            <a:off x="4434840" y="2148840"/>
            <a:ext cx="3322319"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Pinned Reachability</a:t>
            </a:r>
          </a:p>
        </p:txBody>
      </p:sp>
      <p:sp>
        <p:nvSpPr>
          <p:cNvPr id="12" name="TextBox 11"/>
          <p:cNvSpPr txBox="1"/>
          <p:nvPr/>
        </p:nvSpPr>
        <p:spPr>
          <a:xfrm>
            <a:off x="4434840" y="2527401"/>
            <a:ext cx="33223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PLNAdapter.apply_rule</a:t>
            </a:r>
          </a:p>
        </p:txBody>
      </p:sp>
      <p:sp>
        <p:nvSpPr>
          <p:cNvPr id="13" name="TextBox 12"/>
          <p:cNvSpPr txBox="1"/>
          <p:nvPr/>
        </p:nvSpPr>
        <p:spPr>
          <a:xfrm>
            <a:off x="4434840" y="2800502"/>
            <a:ext cx="33223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DeductionRule + guards</a:t>
            </a:r>
          </a:p>
        </p:txBody>
      </p:sp>
      <p:sp>
        <p:nvSpPr>
          <p:cNvPr id="14" name="Rounded Rectangle 13"/>
          <p:cNvSpPr/>
          <p:nvPr/>
        </p:nvSpPr>
        <p:spPr>
          <a:xfrm>
            <a:off x="8442960" y="1981200"/>
            <a:ext cx="32004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15" name="TextBox 14"/>
          <p:cNvSpPr txBox="1"/>
          <p:nvPr/>
        </p:nvSpPr>
        <p:spPr>
          <a:xfrm>
            <a:off x="8610600" y="2148840"/>
            <a:ext cx="28651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Native PLN / PeTTa</a:t>
            </a:r>
          </a:p>
        </p:txBody>
      </p:sp>
      <p:sp>
        <p:nvSpPr>
          <p:cNvPr id="16" name="TextBox 15"/>
          <p:cNvSpPr txBox="1"/>
          <p:nvPr/>
        </p:nvSpPr>
        <p:spPr>
          <a:xfrm>
            <a:off x="8610600" y="2527401"/>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Truth_Deduction</a:t>
            </a:r>
          </a:p>
        </p:txBody>
      </p:sp>
      <p:sp>
        <p:nvSpPr>
          <p:cNvPr id="17" name="TextBox 16"/>
          <p:cNvSpPr txBox="1"/>
          <p:nvPr/>
        </p:nvSpPr>
        <p:spPr>
          <a:xfrm>
            <a:off x="8610600" y="2800502"/>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SWI 10.1.14 + Janus</a:t>
            </a:r>
          </a:p>
        </p:txBody>
      </p:sp>
      <p:cxnSp>
        <p:nvCxnSpPr>
          <p:cNvPr id="18" name="Connector 17"/>
          <p:cNvCxnSpPr/>
          <p:nvPr/>
        </p:nvCxnSpPr>
        <p:spPr>
          <a:xfrm>
            <a:off x="3749040" y="2834640"/>
            <a:ext cx="518160" cy="0"/>
          </a:xfrm>
          <a:prstGeom prst="line">
            <a:avLst/>
          </a:prstGeom>
          <a:ln w="15240">
            <a:solidFill>
              <a:srgbClr val="007C78"/>
            </a:solidFill>
          </a:ln>
          <a:effectLst/>
        </p:spPr>
      </p:cxnSp>
      <p:sp>
        <p:nvSpPr>
          <p:cNvPr id="19" name="Freeform 18"/>
          <p:cNvSpPr/>
          <p:nvPr/>
        </p:nvSpPr>
        <p:spPr>
          <a:xfrm>
            <a:off x="4168140" y="27965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20" name="Connector 19"/>
          <p:cNvCxnSpPr/>
          <p:nvPr/>
        </p:nvCxnSpPr>
        <p:spPr>
          <a:xfrm>
            <a:off x="7924800" y="2834640"/>
            <a:ext cx="518160" cy="0"/>
          </a:xfrm>
          <a:prstGeom prst="line">
            <a:avLst/>
          </a:prstGeom>
          <a:ln w="15240">
            <a:solidFill>
              <a:srgbClr val="007C78"/>
            </a:solidFill>
          </a:ln>
          <a:effectLst/>
        </p:spPr>
      </p:cxnSp>
      <p:sp>
        <p:nvSpPr>
          <p:cNvPr id="21" name="Freeform 20"/>
          <p:cNvSpPr/>
          <p:nvPr/>
        </p:nvSpPr>
        <p:spPr>
          <a:xfrm>
            <a:off x="8343900" y="27965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2" name="Rounded Rectangle 21"/>
          <p:cNvSpPr/>
          <p:nvPr/>
        </p:nvSpPr>
        <p:spPr>
          <a:xfrm>
            <a:off x="548640" y="4175760"/>
            <a:ext cx="5364480" cy="1394460"/>
          </a:xfrm>
          <a:prstGeom prst="roundRect">
            <a:avLst>
              <a:gd name="adj" fmla="val 7103"/>
            </a:avLst>
          </a:prstGeom>
          <a:solidFill>
            <a:srgbClr val="E4EBF5"/>
          </a:solidFill>
          <a:ln w="7620">
            <a:solidFill>
              <a:srgbClr val="315E9C"/>
            </a:solidFill>
          </a:ln>
          <a:effectLst/>
        </p:spPr>
        <p:txBody>
          <a:bodyPr rtlCol="0" anchor="ctr"/>
          <a:lstStyle/>
          <a:p>
            <a:pPr algn="ctr"/>
          </a:p>
        </p:txBody>
      </p:sp>
      <p:sp>
        <p:nvSpPr>
          <p:cNvPr id="23" name="TextBox 22"/>
          <p:cNvSpPr txBox="1"/>
          <p:nvPr/>
        </p:nvSpPr>
        <p:spPr>
          <a:xfrm>
            <a:off x="716280" y="434340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Two probability checks</a:t>
            </a:r>
          </a:p>
        </p:txBody>
      </p:sp>
      <p:sp>
        <p:nvSpPr>
          <p:cNvPr id="24" name="TextBox 23"/>
          <p:cNvSpPr txBox="1"/>
          <p:nvPr/>
        </p:nvSpPr>
        <p:spPr>
          <a:xfrm>
            <a:off x="716280" y="471220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Upstream exact Python precheck and the native</a:t>
            </a:r>
          </a:p>
        </p:txBody>
      </p:sp>
      <p:sp>
        <p:nvSpPr>
          <p:cNvPr id="25" name="TextBox 24"/>
          <p:cNvSpPr txBox="1"/>
          <p:nvPr/>
        </p:nvSpPr>
        <p:spPr>
          <a:xfrm>
            <a:off x="716280" y="497555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consistency guard both apply.</a:t>
            </a:r>
          </a:p>
        </p:txBody>
      </p:sp>
      <p:sp>
        <p:nvSpPr>
          <p:cNvPr id="26" name="Rounded Rectangle 25"/>
          <p:cNvSpPr/>
          <p:nvPr/>
        </p:nvSpPr>
        <p:spPr>
          <a:xfrm>
            <a:off x="6096000" y="4175760"/>
            <a:ext cx="5547360" cy="1394460"/>
          </a:xfrm>
          <a:prstGeom prst="roundRect">
            <a:avLst>
              <a:gd name="adj" fmla="val 7103"/>
            </a:avLst>
          </a:prstGeom>
          <a:solidFill>
            <a:srgbClr val="E4EBF5"/>
          </a:solidFill>
          <a:ln w="7620">
            <a:solidFill>
              <a:srgbClr val="315E9C"/>
            </a:solidFill>
          </a:ln>
          <a:effectLst/>
        </p:spPr>
        <p:txBody>
          <a:bodyPr rtlCol="0" anchor="ctr"/>
          <a:lstStyle/>
          <a:p>
            <a:pPr algn="ctr"/>
          </a:p>
        </p:txBody>
      </p:sp>
      <p:sp>
        <p:nvSpPr>
          <p:cNvPr id="27" name="TextBox 26"/>
          <p:cNvSpPr txBox="1"/>
          <p:nvPr/>
        </p:nvSpPr>
        <p:spPr>
          <a:xfrm>
            <a:off x="6263640" y="434340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Separate compatibility profile</a:t>
            </a:r>
          </a:p>
        </p:txBody>
      </p:sp>
      <p:sp>
        <p:nvSpPr>
          <p:cNvPr id="28" name="TextBox 27"/>
          <p:cNvSpPr txBox="1"/>
          <p:nvPr/>
        </p:nvSpPr>
        <p:spPr>
          <a:xfrm>
            <a:off x="6263640" y="4712208"/>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Deduction has its own source/runtime allowlist;</a:t>
            </a:r>
          </a:p>
        </p:txBody>
      </p:sp>
      <p:sp>
        <p:nvSpPr>
          <p:cNvPr id="29" name="TextBox 28"/>
          <p:cNvSpPr txBox="1"/>
          <p:nvPr/>
        </p:nvSpPr>
        <p:spPr>
          <a:xfrm>
            <a:off x="6263640" y="497555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revision-only profile stays intact.</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Kernel output is a proposal. C2 performs final authorization, CAS and admission.</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deduction-sources.json · integration/pln/test_deduction.py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NUMERICAL EVIDENCE</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Native goldens check deduction and preserved revision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Independent expected values check pinned native formulas; no replacement math runs in the owners.</a:t>
            </a:r>
          </a:p>
        </p:txBody>
      </p:sp>
      <p:sp>
        <p:nvSpPr>
          <p:cNvPr id="5" name="Rounded Rectangle 4"/>
          <p:cNvSpPr/>
          <p:nvPr/>
        </p:nvSpPr>
        <p:spPr>
          <a:xfrm>
            <a:off x="548640" y="1889759"/>
            <a:ext cx="5364480" cy="2644140"/>
          </a:xfrm>
          <a:prstGeom prst="roundRect">
            <a:avLst>
              <a:gd name="adj" fmla="val 3746"/>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57400"/>
            <a:ext cx="5029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M3 · Grounded deduction</a:t>
            </a:r>
          </a:p>
        </p:txBody>
      </p:sp>
      <p:sp>
        <p:nvSpPr>
          <p:cNvPr id="7" name="TextBox 6"/>
          <p:cNvSpPr txBox="1"/>
          <p:nvPr/>
        </p:nvSpPr>
        <p:spPr>
          <a:xfrm>
            <a:off x="716280" y="2445715"/>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P, Q, R = (0.5, 0.8)</a:t>
            </a:r>
          </a:p>
        </p:txBody>
      </p:sp>
      <p:sp>
        <p:nvSpPr>
          <p:cNvPr id="8" name="TextBox 7"/>
          <p:cNvSpPr txBox="1"/>
          <p:nvPr/>
        </p:nvSpPr>
        <p:spPr>
          <a:xfrm>
            <a:off x="716280" y="2728569"/>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P⇒Q, Q⇒R = (0.8, 0.7)</a:t>
            </a:r>
          </a:p>
        </p:txBody>
      </p:sp>
      <p:sp>
        <p:nvSpPr>
          <p:cNvPr id="9" name="TextBox 8"/>
          <p:cNvSpPr txBox="1"/>
          <p:nvPr/>
        </p:nvSpPr>
        <p:spPr>
          <a:xfrm>
            <a:off x="716280" y="301142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0" name="TextBox 9"/>
          <p:cNvSpPr txBox="1"/>
          <p:nvPr/>
        </p:nvSpPr>
        <p:spPr>
          <a:xfrm>
            <a:off x="716280" y="329427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Expected P⇒R: (0.68, 0.3136)</a:t>
            </a:r>
          </a:p>
        </p:txBody>
      </p:sp>
      <p:sp>
        <p:nvSpPr>
          <p:cNvPr id="11" name="Rounded Rectangle 10"/>
          <p:cNvSpPr/>
          <p:nvPr/>
        </p:nvSpPr>
        <p:spPr>
          <a:xfrm>
            <a:off x="6096000" y="1889759"/>
            <a:ext cx="5547360" cy="2644140"/>
          </a:xfrm>
          <a:prstGeom prst="roundRect">
            <a:avLst>
              <a:gd name="adj" fmla="val 3746"/>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6263640" y="2057400"/>
            <a:ext cx="521208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M2 · Guarded revision</a:t>
            </a:r>
          </a:p>
        </p:txBody>
      </p:sp>
      <p:sp>
        <p:nvSpPr>
          <p:cNvPr id="13" name="TextBox 12"/>
          <p:cNvSpPr txBox="1"/>
          <p:nvPr/>
        </p:nvSpPr>
        <p:spPr>
          <a:xfrm>
            <a:off x="6263640" y="2445715"/>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(0.75, 0.50) + (0.25, 0.50)</a:t>
            </a:r>
          </a:p>
        </p:txBody>
      </p:sp>
      <p:sp>
        <p:nvSpPr>
          <p:cNvPr id="14" name="TextBox 13"/>
          <p:cNvSpPr txBox="1"/>
          <p:nvPr/>
        </p:nvSpPr>
        <p:spPr>
          <a:xfrm>
            <a:off x="6263640" y="2718815"/>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(0.50, 2/3)</a:t>
            </a:r>
          </a:p>
        </p:txBody>
      </p:sp>
      <p:sp>
        <p:nvSpPr>
          <p:cNvPr id="15" name="TextBox 14"/>
          <p:cNvSpPr txBox="1"/>
          <p:nvPr/>
        </p:nvSpPr>
        <p:spPr>
          <a:xfrm>
            <a:off x="6263640" y="2991916"/>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a:r>
          </a:p>
        </p:txBody>
      </p:sp>
      <p:sp>
        <p:nvSpPr>
          <p:cNvPr id="16" name="TextBox 15"/>
          <p:cNvSpPr txBox="1"/>
          <p:nvPr/>
        </p:nvSpPr>
        <p:spPr>
          <a:xfrm>
            <a:off x="6263640" y="3265017"/>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Unequal confidence 0.50 / 0.75</a:t>
            </a:r>
          </a:p>
        </p:txBody>
      </p:sp>
      <p:sp>
        <p:nvSpPr>
          <p:cNvPr id="17" name="TextBox 16"/>
          <p:cNvSpPr txBox="1"/>
          <p:nvPr/>
        </p:nvSpPr>
        <p:spPr>
          <a:xfrm>
            <a:off x="6263640" y="3538118"/>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(0.375, 0.80)</a:t>
            </a:r>
          </a:p>
        </p:txBody>
      </p:sp>
      <p:sp>
        <p:nvSpPr>
          <p:cNvPr id="18" name="TextBox 17"/>
          <p:cNvSpPr txBox="1"/>
          <p:nvPr/>
        </p:nvSpPr>
        <p:spPr>
          <a:xfrm>
            <a:off x="594360" y="4892040"/>
            <a:ext cx="10896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102B3F"/>
                </a:solidFill>
                <a:latin typeface="DejaVu Sans Mono"/>
              </a:rPr>
              <a:t>Observed deduction: 0.6800000000000002 / 0.31360000000000005</a:t>
            </a:r>
          </a:p>
        </p:txBody>
      </p:sp>
      <p:sp>
        <p:nvSpPr>
          <p:cNvPr id="19" name="TextBox 18"/>
          <p:cNvSpPr txBox="1"/>
          <p:nvPr/>
        </p:nvSpPr>
        <p:spPr>
          <a:xfrm>
            <a:off x="594360" y="531876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102B3F"/>
                </a:solidFill>
                <a:latin typeface="DejaVu Sans"/>
              </a:rPr>
              <a:t>Absolute tolerance 1e−12; finite-domain and lineage guards remain active.</a:t>
            </a:r>
          </a:p>
        </p:txBody>
      </p:sp>
      <p:sp>
        <p:nvSpPr>
          <p:cNvPr id="20" name="Rounded Rectangle 1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1" name="TextBox 20"/>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These are model-specific heuristics, not calibrated real-world confidence or proven entailment.</a:t>
            </a:r>
          </a:p>
        </p:txBody>
      </p:sp>
      <p:cxnSp>
        <p:nvCxnSpPr>
          <p:cNvPr id="22" name="Connector 21"/>
          <p:cNvCxnSpPr/>
          <p:nvPr/>
        </p:nvCxnSpPr>
        <p:spPr>
          <a:xfrm>
            <a:off x="548640" y="6393180"/>
            <a:ext cx="11094720" cy="0"/>
          </a:xfrm>
          <a:prstGeom prst="line">
            <a:avLst/>
          </a:prstGeom>
          <a:ln w="7620">
            <a:solidFill>
              <a:srgbClr val="C9D2D4"/>
            </a:solidFill>
          </a:ln>
          <a:effectLst/>
        </p:spPr>
      </p:cxnSp>
      <p:sp>
        <p:nvSpPr>
          <p:cNvPr id="23" name="TextBox 2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test_deduction.py · preserved test_revision.py</a:t>
            </a:r>
          </a:p>
        </p:txBody>
      </p:sp>
      <p:sp>
        <p:nvSpPr>
          <p:cNvPr id="24" name="TextBox 2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SHORT-TERM IMPORTANCE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C3: a small, independent attention policy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sti-additive-linear-decay/1 · integer STI · explicit logical time · persistent causal identity</a:t>
            </a:r>
          </a:p>
        </p:txBody>
      </p:sp>
      <p:sp>
        <p:nvSpPr>
          <p:cNvPr id="5" name="Rounded Rectangle 4"/>
          <p:cNvSpPr/>
          <p:nvPr/>
        </p:nvSpPr>
        <p:spPr>
          <a:xfrm>
            <a:off x="548640" y="1905000"/>
            <a:ext cx="3535679" cy="2522220"/>
          </a:xfrm>
          <a:prstGeom prst="roundRect">
            <a:avLst>
              <a:gd name="adj" fmla="val 3927"/>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Stimulate</a:t>
            </a:r>
          </a:p>
        </p:txBody>
      </p:sp>
      <p:sp>
        <p:nvSpPr>
          <p:cNvPr id="7" name="TextBox 6"/>
          <p:cNvSpPr txBox="1"/>
          <p:nvPr/>
        </p:nvSpPr>
        <p:spPr>
          <a:xfrm>
            <a:off x="71628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Add within per-target</a:t>
            </a:r>
          </a:p>
        </p:txBody>
      </p:sp>
      <p:sp>
        <p:nvSpPr>
          <p:cNvPr id="8" name="TextBox 7"/>
          <p:cNvSpPr txBox="1"/>
          <p:nvPr/>
        </p:nvSpPr>
        <p:spPr>
          <a:xfrm>
            <a:off x="71628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saturation. Refuse the whole</a:t>
            </a:r>
          </a:p>
        </p:txBody>
      </p:sp>
      <p:sp>
        <p:nvSpPr>
          <p:cNvPr id="9" name="TextBox 8"/>
          <p:cNvSpPr txBox="1"/>
          <p:nvPr/>
        </p:nvSpPr>
        <p:spPr>
          <a:xfrm>
            <a:off x="71628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change if the context</a:t>
            </a:r>
          </a:p>
        </p:txBody>
      </p:sp>
      <p:sp>
        <p:nvSpPr>
          <p:cNvPr id="10" name="TextBox 9"/>
          <p:cNvSpPr txBox="1"/>
          <p:nvPr/>
        </p:nvSpPr>
        <p:spPr>
          <a:xfrm>
            <a:off x="71628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budget would be exceeded.</a:t>
            </a:r>
          </a:p>
        </p:txBody>
      </p:sp>
      <p:sp>
        <p:nvSpPr>
          <p:cNvPr id="11" name="Rounded Rectangle 10"/>
          <p:cNvSpPr/>
          <p:nvPr/>
        </p:nvSpPr>
        <p:spPr>
          <a:xfrm>
            <a:off x="4328160" y="1905000"/>
            <a:ext cx="3535679" cy="2522220"/>
          </a:xfrm>
          <a:prstGeom prst="roundRect">
            <a:avLst>
              <a:gd name="adj" fmla="val 3927"/>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449580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Select</a:t>
            </a:r>
          </a:p>
        </p:txBody>
      </p:sp>
      <p:sp>
        <p:nvSpPr>
          <p:cNvPr id="13" name="TextBox 12"/>
          <p:cNvSpPr txBox="1"/>
          <p:nvPr/>
        </p:nvSpPr>
        <p:spPr>
          <a:xfrm>
            <a:off x="449580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Rank positive eligible</a:t>
            </a:r>
          </a:p>
        </p:txBody>
      </p:sp>
      <p:sp>
        <p:nvSpPr>
          <p:cNvPr id="14" name="TextBox 13"/>
          <p:cNvSpPr txBox="1"/>
          <p:nvPr/>
        </p:nvSpPr>
        <p:spPr>
          <a:xfrm>
            <a:off x="449580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targets by descending STI,</a:t>
            </a:r>
          </a:p>
        </p:txBody>
      </p:sp>
      <p:sp>
        <p:nvSpPr>
          <p:cNvPr id="15" name="TextBox 14"/>
          <p:cNvSpPr txBox="1"/>
          <p:nvPr/>
        </p:nvSpPr>
        <p:spPr>
          <a:xfrm>
            <a:off x="449580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then the full canonical</a:t>
            </a:r>
          </a:p>
        </p:txBody>
      </p:sp>
      <p:sp>
        <p:nvSpPr>
          <p:cNvPr id="16" name="TextBox 15"/>
          <p:cNvSpPr txBox="1"/>
          <p:nvPr/>
        </p:nvSpPr>
        <p:spPr>
          <a:xfrm>
            <a:off x="449580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reference. Reads do not</a:t>
            </a:r>
          </a:p>
        </p:txBody>
      </p:sp>
      <p:sp>
        <p:nvSpPr>
          <p:cNvPr id="17" name="TextBox 16"/>
          <p:cNvSpPr txBox="1"/>
          <p:nvPr/>
        </p:nvSpPr>
        <p:spPr>
          <a:xfrm>
            <a:off x="4495800" y="361187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decay state.</a:t>
            </a:r>
          </a:p>
        </p:txBody>
      </p:sp>
      <p:sp>
        <p:nvSpPr>
          <p:cNvPr id="18" name="Rounded Rectangle 17"/>
          <p:cNvSpPr/>
          <p:nvPr/>
        </p:nvSpPr>
        <p:spPr>
          <a:xfrm>
            <a:off x="8107680" y="1905000"/>
            <a:ext cx="3535679" cy="2522220"/>
          </a:xfrm>
          <a:prstGeom prst="roundRect">
            <a:avLst>
              <a:gd name="adj" fmla="val 3927"/>
            </a:avLst>
          </a:prstGeom>
          <a:solidFill>
            <a:srgbClr val="E4EBF5"/>
          </a:solidFill>
          <a:ln w="7620">
            <a:solidFill>
              <a:srgbClr val="315E9C"/>
            </a:solidFill>
          </a:ln>
          <a:effectLst/>
        </p:spPr>
        <p:txBody>
          <a:bodyPr rtlCol="0" anchor="ctr"/>
          <a:lstStyle/>
          <a:p>
            <a:pPr algn="ctr"/>
          </a:p>
        </p:txBody>
      </p:sp>
      <p:sp>
        <p:nvSpPr>
          <p:cNvPr id="19" name="TextBox 18"/>
          <p:cNvSpPr txBox="1"/>
          <p:nvPr/>
        </p:nvSpPr>
        <p:spPr>
          <a:xfrm>
            <a:off x="827532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Advance</a:t>
            </a:r>
          </a:p>
        </p:txBody>
      </p:sp>
      <p:sp>
        <p:nvSpPr>
          <p:cNvPr id="20" name="TextBox 19"/>
          <p:cNvSpPr txBox="1"/>
          <p:nvPr/>
        </p:nvSpPr>
        <p:spPr>
          <a:xfrm>
            <a:off x="827532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Explicitly decay by logical</a:t>
            </a:r>
          </a:p>
        </p:txBody>
      </p:sp>
      <p:sp>
        <p:nvSpPr>
          <p:cNvPr id="21" name="TextBox 20"/>
          <p:cNvSpPr txBox="1"/>
          <p:nvPr/>
        </p:nvSpPr>
        <p:spPr>
          <a:xfrm>
            <a:off x="827532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steps. Stored causal</a:t>
            </a:r>
          </a:p>
        </p:txBody>
      </p:sp>
      <p:sp>
        <p:nvSpPr>
          <p:cNvPr id="22" name="TextBox 21"/>
          <p:cNvSpPr txBox="1"/>
          <p:nvPr/>
        </p:nvSpPr>
        <p:spPr>
          <a:xfrm>
            <a:off x="827532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generation survives decay,</a:t>
            </a:r>
          </a:p>
        </p:txBody>
      </p:sp>
      <p:sp>
        <p:nvSpPr>
          <p:cNvPr id="23" name="TextBox 22"/>
          <p:cNvSpPr txBox="1"/>
          <p:nvPr/>
        </p:nvSpPr>
        <p:spPr>
          <a:xfrm>
            <a:off x="827532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new ingress and new step</a:t>
            </a:r>
          </a:p>
        </p:txBody>
      </p:sp>
      <p:sp>
        <p:nvSpPr>
          <p:cNvPr id="24" name="TextBox 23"/>
          <p:cNvSpPr txBox="1"/>
          <p:nvPr/>
        </p:nvSpPr>
        <p:spPr>
          <a:xfrm>
            <a:off x="8275320" y="361187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IDs.</a:t>
            </a:r>
          </a:p>
        </p:txBody>
      </p:sp>
      <p:sp>
        <p:nvSpPr>
          <p:cNvPr id="25" name="TextBox 24"/>
          <p:cNvSpPr txBox="1"/>
          <p:nvPr/>
        </p:nvSpPr>
        <p:spPr>
          <a:xfrm>
            <a:off x="586740" y="4785360"/>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Default limits: 100 STI per target · 300 per context · decay 1 per logical step</a:t>
            </a:r>
          </a:p>
        </p:txBody>
      </p:sp>
      <p:sp>
        <p:nvSpPr>
          <p:cNvPr id="26" name="TextBox 25"/>
          <p:cNvSpPr txBox="1"/>
          <p:nvPr/>
        </p:nvSpPr>
        <p:spPr>
          <a:xfrm>
            <a:off x="586740" y="5265420"/>
            <a:ext cx="10972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Only authority and opaque-reference syntax are required; no Hive, storage or PLN runtime.</a:t>
            </a:r>
          </a:p>
        </p:txBody>
      </p:sp>
      <p:sp>
        <p:nvSpPr>
          <p:cNvPr id="27" name="Rounded Rectangle 2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8" name="TextBox 27"/>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This reference policy is implemented. ECAN, LTI, diffusion and new attention research are out of scope.</a:t>
            </a:r>
          </a:p>
        </p:txBody>
      </p:sp>
      <p:cxnSp>
        <p:nvCxnSpPr>
          <p:cNvPr id="29" name="Connector 28"/>
          <p:cNvCxnSpPr/>
          <p:nvPr/>
        </p:nvCxnSpPr>
        <p:spPr>
          <a:xfrm>
            <a:off x="548640" y="6393180"/>
            <a:ext cx="11094720" cy="0"/>
          </a:xfrm>
          <a:prstGeom prst="line">
            <a:avLst/>
          </a:prstGeom>
          <a:ln w="7620">
            <a:solidFill>
              <a:srgbClr val="C9D2D4"/>
            </a:solidFill>
          </a:ln>
          <a:effectLst/>
        </p:spPr>
      </p:cxnSp>
      <p:sp>
        <p:nvSpPr>
          <p:cNvPr id="30" name="TextBox 2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attention.py · fixture_attention.py</a:t>
            </a:r>
          </a:p>
        </p:txBody>
      </p:sp>
      <p:sp>
        <p:nvSpPr>
          <p:cNvPr id="31" name="TextBox 3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CONTROLLED SUBSTITUTION EXPERIMENT</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Attention replacement preserves the measured outcome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Recorded M3 comparison: same tasks, evidence, policy and budgets; provider and preference vary.</a:t>
            </a:r>
          </a:p>
        </p:txBody>
      </p:sp>
      <p:sp>
        <p:nvSpPr>
          <p:cNvPr id="5" name="TextBox 4"/>
          <p:cNvSpPr txBox="1"/>
          <p:nvPr/>
        </p:nvSpPr>
        <p:spPr>
          <a:xfrm>
            <a:off x="6705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ATTENTION PROVIDER</a:t>
            </a:r>
          </a:p>
        </p:txBody>
      </p:sp>
      <p:sp>
        <p:nvSpPr>
          <p:cNvPr id="6" name="TextBox 5"/>
          <p:cNvSpPr txBox="1"/>
          <p:nvPr/>
        </p:nvSpPr>
        <p:spPr>
          <a:xfrm>
            <a:off x="5166360" y="1790700"/>
            <a:ext cx="1203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PREFER</a:t>
            </a:r>
          </a:p>
        </p:txBody>
      </p:sp>
      <p:sp>
        <p:nvSpPr>
          <p:cNvPr id="7" name="TextBox 6"/>
          <p:cNvSpPr txBox="1"/>
          <p:nvPr/>
        </p:nvSpPr>
        <p:spPr>
          <a:xfrm>
            <a:off x="6614159" y="1790700"/>
            <a:ext cx="23926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SELECTION ORDER</a:t>
            </a:r>
          </a:p>
        </p:txBody>
      </p:sp>
      <p:sp>
        <p:nvSpPr>
          <p:cNvPr id="8" name="TextBox 7"/>
          <p:cNvSpPr txBox="1"/>
          <p:nvPr/>
        </p:nvSpPr>
        <p:spPr>
          <a:xfrm>
            <a:off x="925068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STEP TIME</a:t>
            </a:r>
          </a:p>
        </p:txBody>
      </p:sp>
      <p:sp>
        <p:nvSpPr>
          <p:cNvPr id="9" name="Rounded Rectangle 8"/>
          <p:cNvSpPr/>
          <p:nvPr/>
        </p:nvSpPr>
        <p:spPr>
          <a:xfrm>
            <a:off x="548640" y="2110740"/>
            <a:ext cx="11094720" cy="632460"/>
          </a:xfrm>
          <a:prstGeom prst="roundRect">
            <a:avLst>
              <a:gd name="adj" fmla="val 7228"/>
            </a:avLst>
          </a:prstGeom>
          <a:solidFill>
            <a:srgbClr val="FFFFFF"/>
          </a:solidFill>
          <a:ln>
            <a:noFill/>
          </a:ln>
          <a:effectLst/>
        </p:spPr>
        <p:txBody>
          <a:bodyPr rtlCol="0" anchor="ctr"/>
          <a:lstStyle/>
          <a:p>
            <a:pPr algn="ctr"/>
          </a:p>
        </p:txBody>
      </p:sp>
      <p:sp>
        <p:nvSpPr>
          <p:cNvPr id="10" name="TextBox 9"/>
          <p:cNvSpPr txBox="1"/>
          <p:nvPr/>
        </p:nvSpPr>
        <p:spPr>
          <a:xfrm>
            <a:off x="670560" y="224028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SQLite</a:t>
            </a:r>
          </a:p>
        </p:txBody>
      </p:sp>
      <p:sp>
        <p:nvSpPr>
          <p:cNvPr id="11" name="TextBox 10"/>
          <p:cNvSpPr txBox="1"/>
          <p:nvPr/>
        </p:nvSpPr>
        <p:spPr>
          <a:xfrm>
            <a:off x="5166360" y="224028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a:t>
            </a:r>
          </a:p>
        </p:txBody>
      </p:sp>
      <p:sp>
        <p:nvSpPr>
          <p:cNvPr id="12" name="TextBox 11"/>
          <p:cNvSpPr txBox="1"/>
          <p:nvPr/>
        </p:nvSpPr>
        <p:spPr>
          <a:xfrm>
            <a:off x="6614159" y="224028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 → a</a:t>
            </a:r>
          </a:p>
        </p:txBody>
      </p:sp>
      <p:sp>
        <p:nvSpPr>
          <p:cNvPr id="13" name="TextBox 12"/>
          <p:cNvSpPr txBox="1"/>
          <p:nvPr/>
        </p:nvSpPr>
        <p:spPr>
          <a:xfrm>
            <a:off x="9250680" y="224028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0.744361 s</a:t>
            </a:r>
          </a:p>
        </p:txBody>
      </p:sp>
      <p:sp>
        <p:nvSpPr>
          <p:cNvPr id="14" name="Rounded Rectangle 13"/>
          <p:cNvSpPr/>
          <p:nvPr/>
        </p:nvSpPr>
        <p:spPr>
          <a:xfrm>
            <a:off x="548640" y="2781300"/>
            <a:ext cx="11094720" cy="632460"/>
          </a:xfrm>
          <a:prstGeom prst="roundRect">
            <a:avLst>
              <a:gd name="adj" fmla="val 7228"/>
            </a:avLst>
          </a:prstGeom>
          <a:solidFill>
            <a:srgbClr val="FFFFFF"/>
          </a:solidFill>
          <a:ln>
            <a:noFill/>
          </a:ln>
          <a:effectLst/>
        </p:spPr>
        <p:txBody>
          <a:bodyPr rtlCol="0" anchor="ctr"/>
          <a:lstStyle/>
          <a:p>
            <a:pPr algn="ctr"/>
          </a:p>
        </p:txBody>
      </p:sp>
      <p:sp>
        <p:nvSpPr>
          <p:cNvPr id="15" name="TextBox 14"/>
          <p:cNvSpPr txBox="1"/>
          <p:nvPr/>
        </p:nvSpPr>
        <p:spPr>
          <a:xfrm>
            <a:off x="670560" y="291084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SQLite</a:t>
            </a:r>
          </a:p>
        </p:txBody>
      </p:sp>
      <p:sp>
        <p:nvSpPr>
          <p:cNvPr id="16" name="TextBox 15"/>
          <p:cNvSpPr txBox="1"/>
          <p:nvPr/>
        </p:nvSpPr>
        <p:spPr>
          <a:xfrm>
            <a:off x="5166360" y="291084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a:t>
            </a:r>
          </a:p>
        </p:txBody>
      </p:sp>
      <p:sp>
        <p:nvSpPr>
          <p:cNvPr id="17" name="TextBox 16"/>
          <p:cNvSpPr txBox="1"/>
          <p:nvPr/>
        </p:nvSpPr>
        <p:spPr>
          <a:xfrm>
            <a:off x="6614159" y="291084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 b</a:t>
            </a:r>
          </a:p>
        </p:txBody>
      </p:sp>
      <p:sp>
        <p:nvSpPr>
          <p:cNvPr id="18" name="TextBox 17"/>
          <p:cNvSpPr txBox="1"/>
          <p:nvPr/>
        </p:nvSpPr>
        <p:spPr>
          <a:xfrm>
            <a:off x="9250680" y="291084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0.677157 s</a:t>
            </a:r>
          </a:p>
        </p:txBody>
      </p:sp>
      <p:sp>
        <p:nvSpPr>
          <p:cNvPr id="19" name="Rounded Rectangle 18"/>
          <p:cNvSpPr/>
          <p:nvPr/>
        </p:nvSpPr>
        <p:spPr>
          <a:xfrm>
            <a:off x="548640" y="3451860"/>
            <a:ext cx="11094720" cy="632460"/>
          </a:xfrm>
          <a:prstGeom prst="roundRect">
            <a:avLst>
              <a:gd name="adj" fmla="val 7228"/>
            </a:avLst>
          </a:prstGeom>
          <a:solidFill>
            <a:srgbClr val="FFFFFF"/>
          </a:solidFill>
          <a:ln>
            <a:noFill/>
          </a:ln>
          <a:effectLst/>
        </p:spPr>
        <p:txBody>
          <a:bodyPr rtlCol="0" anchor="ctr"/>
          <a:lstStyle/>
          <a:p>
            <a:pPr algn="ctr"/>
          </a:p>
        </p:txBody>
      </p:sp>
      <p:sp>
        <p:nvSpPr>
          <p:cNvPr id="20" name="TextBox 19"/>
          <p:cNvSpPr txBox="1"/>
          <p:nvPr/>
        </p:nvSpPr>
        <p:spPr>
          <a:xfrm>
            <a:off x="670560" y="358140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Atomic-file fixture</a:t>
            </a:r>
          </a:p>
        </p:txBody>
      </p:sp>
      <p:sp>
        <p:nvSpPr>
          <p:cNvPr id="21" name="TextBox 20"/>
          <p:cNvSpPr txBox="1"/>
          <p:nvPr/>
        </p:nvSpPr>
        <p:spPr>
          <a:xfrm>
            <a:off x="5166360" y="358140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a:t>
            </a:r>
          </a:p>
        </p:txBody>
      </p:sp>
      <p:sp>
        <p:nvSpPr>
          <p:cNvPr id="22" name="TextBox 21"/>
          <p:cNvSpPr txBox="1"/>
          <p:nvPr/>
        </p:nvSpPr>
        <p:spPr>
          <a:xfrm>
            <a:off x="6614159" y="358140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 → a</a:t>
            </a:r>
          </a:p>
        </p:txBody>
      </p:sp>
      <p:sp>
        <p:nvSpPr>
          <p:cNvPr id="23" name="TextBox 22"/>
          <p:cNvSpPr txBox="1"/>
          <p:nvPr/>
        </p:nvSpPr>
        <p:spPr>
          <a:xfrm>
            <a:off x="9250680" y="358140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0.726126 s</a:t>
            </a:r>
          </a:p>
        </p:txBody>
      </p:sp>
      <p:sp>
        <p:nvSpPr>
          <p:cNvPr id="24" name="Rounded Rectangle 23"/>
          <p:cNvSpPr/>
          <p:nvPr/>
        </p:nvSpPr>
        <p:spPr>
          <a:xfrm>
            <a:off x="548640" y="4122419"/>
            <a:ext cx="11094720" cy="632460"/>
          </a:xfrm>
          <a:prstGeom prst="roundRect">
            <a:avLst>
              <a:gd name="adj" fmla="val 7228"/>
            </a:avLst>
          </a:prstGeom>
          <a:solidFill>
            <a:srgbClr val="FFFFFF"/>
          </a:solidFill>
          <a:ln>
            <a:noFill/>
          </a:ln>
          <a:effectLst/>
        </p:spPr>
        <p:txBody>
          <a:bodyPr rtlCol="0" anchor="ctr"/>
          <a:lstStyle/>
          <a:p>
            <a:pPr algn="ctr"/>
          </a:p>
        </p:txBody>
      </p:sp>
      <p:sp>
        <p:nvSpPr>
          <p:cNvPr id="25" name="TextBox 24"/>
          <p:cNvSpPr txBox="1"/>
          <p:nvPr/>
        </p:nvSpPr>
        <p:spPr>
          <a:xfrm>
            <a:off x="670560" y="425196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Atomic-file fixture</a:t>
            </a:r>
          </a:p>
        </p:txBody>
      </p:sp>
      <p:sp>
        <p:nvSpPr>
          <p:cNvPr id="26" name="TextBox 25"/>
          <p:cNvSpPr txBox="1"/>
          <p:nvPr/>
        </p:nvSpPr>
        <p:spPr>
          <a:xfrm>
            <a:off x="5166360" y="425196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a:t>
            </a:r>
          </a:p>
        </p:txBody>
      </p:sp>
      <p:sp>
        <p:nvSpPr>
          <p:cNvPr id="27" name="TextBox 26"/>
          <p:cNvSpPr txBox="1"/>
          <p:nvPr/>
        </p:nvSpPr>
        <p:spPr>
          <a:xfrm>
            <a:off x="6614159" y="425196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 b</a:t>
            </a:r>
          </a:p>
        </p:txBody>
      </p:sp>
      <p:sp>
        <p:nvSpPr>
          <p:cNvPr id="28" name="TextBox 27"/>
          <p:cNvSpPr txBox="1"/>
          <p:nvPr/>
        </p:nvSpPr>
        <p:spPr>
          <a:xfrm>
            <a:off x="9250680" y="425196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0.641150 s</a:t>
            </a:r>
          </a:p>
        </p:txBody>
      </p:sp>
      <p:sp>
        <p:nvSpPr>
          <p:cNvPr id="29" name="Rounded Rectangle 28"/>
          <p:cNvSpPr/>
          <p:nvPr/>
        </p:nvSpPr>
        <p:spPr>
          <a:xfrm>
            <a:off x="548640" y="4914900"/>
            <a:ext cx="536448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30" name="TextBox 29"/>
          <p:cNvSpPr txBox="1"/>
          <p:nvPr/>
        </p:nvSpPr>
        <p:spPr>
          <a:xfrm>
            <a:off x="716280" y="5082540"/>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Every case</a:t>
            </a:r>
          </a:p>
        </p:txBody>
      </p:sp>
      <p:sp>
        <p:nvSpPr>
          <p:cNvPr id="31" name="TextBox 30"/>
          <p:cNvSpPr txBox="1"/>
          <p:nvPr/>
        </p:nvSpPr>
        <p:spPr>
          <a:xfrm>
            <a:off x="716280" y="5392826"/>
            <a:ext cx="5029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1 native call · 1 unique admission · 1 feedback credit</a:t>
            </a:r>
          </a:p>
        </p:txBody>
      </p:sp>
      <p:sp>
        <p:nvSpPr>
          <p:cNvPr id="32" name="Rounded Rectangle 31"/>
          <p:cNvSpPr/>
          <p:nvPr/>
        </p:nvSpPr>
        <p:spPr>
          <a:xfrm>
            <a:off x="6096000" y="4914900"/>
            <a:ext cx="554736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33" name="TextBox 32"/>
          <p:cNvSpPr txBox="1"/>
          <p:nvPr/>
        </p:nvSpPr>
        <p:spPr>
          <a:xfrm>
            <a:off x="6263640" y="5082540"/>
            <a:ext cx="52120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Reopen all owners</a:t>
            </a:r>
          </a:p>
        </p:txBody>
      </p:sp>
      <p:sp>
        <p:nvSpPr>
          <p:cNvPr id="34" name="TextBox 33"/>
          <p:cNvSpPr txBox="1"/>
          <p:nvPr/>
        </p:nvSpPr>
        <p:spPr>
          <a:xfrm>
            <a:off x="6263640" y="5392826"/>
            <a:ext cx="52120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Same receipt · zero additional native calls</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Four local observations demonstrate substitution and selection effect; they are not a performance ranking.</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m3/final/comparison.json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BOUNDED INFERENCE CONTROL</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C4: reserve work durably before invoking the rule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work budget limits physical evaluation opportunities, even when the process dies.</a:t>
            </a:r>
          </a:p>
        </p:txBody>
      </p:sp>
      <p:sp>
        <p:nvSpPr>
          <p:cNvPr id="5" name="Rounded Rectangle 4"/>
          <p:cNvSpPr/>
          <p:nvPr/>
        </p:nvSpPr>
        <p:spPr>
          <a:xfrm>
            <a:off x="548640" y="2019300"/>
            <a:ext cx="2636520" cy="1828800"/>
          </a:xfrm>
          <a:prstGeom prst="roundRect">
            <a:avLst>
              <a:gd name="adj" fmla="val 5416"/>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1 · Freeze</a:t>
            </a:r>
          </a:p>
        </p:txBody>
      </p:sp>
      <p:sp>
        <p:nvSpPr>
          <p:cNvPr id="7" name="TextBox 6"/>
          <p:cNvSpPr txBox="1"/>
          <p:nvPr/>
        </p:nvSpPr>
        <p:spPr>
          <a:xfrm>
            <a:off x="716280" y="2469794"/>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selection</a:t>
            </a:r>
          </a:p>
        </p:txBody>
      </p:sp>
      <p:sp>
        <p:nvSpPr>
          <p:cNvPr id="8" name="TextBox 7"/>
          <p:cNvSpPr txBox="1"/>
          <p:nvPr/>
        </p:nvSpPr>
        <p:spPr>
          <a:xfrm>
            <a:off x="716280" y="282884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Read the immutable</a:t>
            </a:r>
          </a:p>
        </p:txBody>
      </p:sp>
      <p:sp>
        <p:nvSpPr>
          <p:cNvPr id="9" name="TextBox 8"/>
          <p:cNvSpPr txBox="1"/>
          <p:nvPr/>
        </p:nvSpPr>
        <p:spPr>
          <a:xfrm>
            <a:off x="716280" y="309219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workset and exact</a:t>
            </a:r>
          </a:p>
        </p:txBody>
      </p:sp>
      <p:sp>
        <p:nvSpPr>
          <p:cNvPr id="10" name="TextBox 9"/>
          <p:cNvSpPr txBox="1"/>
          <p:nvPr/>
        </p:nvSpPr>
        <p:spPr>
          <a:xfrm>
            <a:off x="716280" y="3355543"/>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attention order.</a:t>
            </a:r>
          </a:p>
        </p:txBody>
      </p:sp>
      <p:cxnSp>
        <p:nvCxnSpPr>
          <p:cNvPr id="11" name="Connector 10"/>
          <p:cNvCxnSpPr/>
          <p:nvPr/>
        </p:nvCxnSpPr>
        <p:spPr>
          <a:xfrm>
            <a:off x="3185160" y="2933700"/>
            <a:ext cx="160019" cy="0"/>
          </a:xfrm>
          <a:prstGeom prst="line">
            <a:avLst/>
          </a:prstGeom>
          <a:ln w="15240">
            <a:solidFill>
              <a:srgbClr val="536775"/>
            </a:solidFill>
          </a:ln>
          <a:effectLst/>
        </p:spPr>
      </p:cxnSp>
      <p:sp>
        <p:nvSpPr>
          <p:cNvPr id="12" name="Freeform 11"/>
          <p:cNvSpPr/>
          <p:nvPr/>
        </p:nvSpPr>
        <p:spPr>
          <a:xfrm>
            <a:off x="32461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3" name="Rounded Rectangle 12"/>
          <p:cNvSpPr/>
          <p:nvPr/>
        </p:nvSpPr>
        <p:spPr>
          <a:xfrm>
            <a:off x="3368040" y="2019300"/>
            <a:ext cx="2636520" cy="1828800"/>
          </a:xfrm>
          <a:prstGeom prst="roundRect">
            <a:avLst>
              <a:gd name="adj" fmla="val 5416"/>
            </a:avLst>
          </a:prstGeom>
          <a:solidFill>
            <a:srgbClr val="FFFFFF"/>
          </a:solidFill>
          <a:ln w="7620">
            <a:solidFill>
              <a:srgbClr val="A86A15"/>
            </a:solidFill>
          </a:ln>
          <a:effectLst/>
        </p:spPr>
        <p:txBody>
          <a:bodyPr rtlCol="0" anchor="ctr"/>
          <a:lstStyle/>
          <a:p>
            <a:pPr algn="ctr"/>
          </a:p>
        </p:txBody>
      </p:sp>
      <p:sp>
        <p:nvSpPr>
          <p:cNvPr id="14" name="TextBox 13"/>
          <p:cNvSpPr txBox="1"/>
          <p:nvPr/>
        </p:nvSpPr>
        <p:spPr>
          <a:xfrm>
            <a:off x="3535679"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2 · Reserve</a:t>
            </a:r>
          </a:p>
        </p:txBody>
      </p:sp>
      <p:sp>
        <p:nvSpPr>
          <p:cNvPr id="15" name="TextBox 14"/>
          <p:cNvSpPr txBox="1"/>
          <p:nvPr/>
        </p:nvSpPr>
        <p:spPr>
          <a:xfrm>
            <a:off x="3535679" y="2469794"/>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attempt</a:t>
            </a:r>
          </a:p>
        </p:txBody>
      </p:sp>
      <p:sp>
        <p:nvSpPr>
          <p:cNvPr id="16" name="TextBox 15"/>
          <p:cNvSpPr txBox="1"/>
          <p:nvPr/>
        </p:nvSpPr>
        <p:spPr>
          <a:xfrm>
            <a:off x="3535679" y="282884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Commit candidate</a:t>
            </a:r>
          </a:p>
        </p:txBody>
      </p:sp>
      <p:sp>
        <p:nvSpPr>
          <p:cNvPr id="17" name="TextBox 16"/>
          <p:cNvSpPr txBox="1"/>
          <p:nvPr/>
        </p:nvSpPr>
        <p:spPr>
          <a:xfrm>
            <a:off x="3535679" y="309219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progress and a</a:t>
            </a:r>
          </a:p>
        </p:txBody>
      </p:sp>
      <p:sp>
        <p:nvSpPr>
          <p:cNvPr id="18" name="TextBox 17"/>
          <p:cNvSpPr txBox="1"/>
          <p:nvPr/>
        </p:nvSpPr>
        <p:spPr>
          <a:xfrm>
            <a:off x="3535679" y="3355543"/>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physical attempt slot.</a:t>
            </a:r>
          </a:p>
        </p:txBody>
      </p:sp>
      <p:cxnSp>
        <p:nvCxnSpPr>
          <p:cNvPr id="19" name="Connector 18"/>
          <p:cNvCxnSpPr/>
          <p:nvPr/>
        </p:nvCxnSpPr>
        <p:spPr>
          <a:xfrm>
            <a:off x="6004559" y="2933700"/>
            <a:ext cx="160021" cy="0"/>
          </a:xfrm>
          <a:prstGeom prst="line">
            <a:avLst/>
          </a:prstGeom>
          <a:ln w="15240">
            <a:solidFill>
              <a:srgbClr val="536775"/>
            </a:solidFill>
          </a:ln>
          <a:effectLst/>
        </p:spPr>
      </p:cxnSp>
      <p:sp>
        <p:nvSpPr>
          <p:cNvPr id="20" name="Freeform 19"/>
          <p:cNvSpPr/>
          <p:nvPr/>
        </p:nvSpPr>
        <p:spPr>
          <a:xfrm>
            <a:off x="60655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1" name="Rounded Rectangle 20"/>
          <p:cNvSpPr/>
          <p:nvPr/>
        </p:nvSpPr>
        <p:spPr>
          <a:xfrm>
            <a:off x="6187440" y="2019300"/>
            <a:ext cx="2636520" cy="1828800"/>
          </a:xfrm>
          <a:prstGeom prst="roundRect">
            <a:avLst>
              <a:gd name="adj" fmla="val 5416"/>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63550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3 · Ask C2</a:t>
            </a:r>
          </a:p>
        </p:txBody>
      </p:sp>
      <p:sp>
        <p:nvSpPr>
          <p:cNvPr id="23" name="TextBox 22"/>
          <p:cNvSpPr txBox="1"/>
          <p:nvPr/>
        </p:nvSpPr>
        <p:spPr>
          <a:xfrm>
            <a:off x="6355080" y="2545994"/>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Recover a decision or</a:t>
            </a:r>
          </a:p>
        </p:txBody>
      </p:sp>
      <p:sp>
        <p:nvSpPr>
          <p:cNvPr id="24" name="TextBox 23"/>
          <p:cNvSpPr txBox="1"/>
          <p:nvPr/>
        </p:nvSpPr>
        <p:spPr>
          <a:xfrm>
            <a:off x="6355080" y="2809341"/>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dispatch the exact</a:t>
            </a:r>
          </a:p>
        </p:txBody>
      </p:sp>
      <p:sp>
        <p:nvSpPr>
          <p:cNvPr id="25" name="TextBox 24"/>
          <p:cNvSpPr txBox="1"/>
          <p:nvPr/>
        </p:nvSpPr>
        <p:spPr>
          <a:xfrm>
            <a:off x="6355080" y="307268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derivation attempt.</a:t>
            </a:r>
          </a:p>
        </p:txBody>
      </p:sp>
      <p:cxnSp>
        <p:nvCxnSpPr>
          <p:cNvPr id="26" name="Connector 25"/>
          <p:cNvCxnSpPr/>
          <p:nvPr/>
        </p:nvCxnSpPr>
        <p:spPr>
          <a:xfrm>
            <a:off x="8823960" y="2933700"/>
            <a:ext cx="160020" cy="0"/>
          </a:xfrm>
          <a:prstGeom prst="line">
            <a:avLst/>
          </a:prstGeom>
          <a:ln w="15240">
            <a:solidFill>
              <a:srgbClr val="536775"/>
            </a:solidFill>
          </a:ln>
          <a:effectLst/>
        </p:spPr>
      </p:cxnSp>
      <p:sp>
        <p:nvSpPr>
          <p:cNvPr id="27" name="Freeform 26"/>
          <p:cNvSpPr/>
          <p:nvPr/>
        </p:nvSpPr>
        <p:spPr>
          <a:xfrm>
            <a:off x="88849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8" name="Rounded Rectangle 27"/>
          <p:cNvSpPr/>
          <p:nvPr/>
        </p:nvSpPr>
        <p:spPr>
          <a:xfrm>
            <a:off x="9006840" y="2019300"/>
            <a:ext cx="2636520" cy="1828800"/>
          </a:xfrm>
          <a:prstGeom prst="roundRect">
            <a:avLst>
              <a:gd name="adj" fmla="val 5416"/>
            </a:avLst>
          </a:prstGeom>
          <a:solidFill>
            <a:srgbClr val="FFFFFF"/>
          </a:solidFill>
          <a:ln w="7620">
            <a:solidFill>
              <a:srgbClr val="315E9C"/>
            </a:solidFill>
          </a:ln>
          <a:effectLst/>
        </p:spPr>
        <p:txBody>
          <a:bodyPr rtlCol="0" anchor="ctr"/>
          <a:lstStyle/>
          <a:p>
            <a:pPr algn="ctr"/>
          </a:p>
        </p:txBody>
      </p:sp>
      <p:sp>
        <p:nvSpPr>
          <p:cNvPr id="29" name="TextBox 28"/>
          <p:cNvSpPr txBox="1"/>
          <p:nvPr/>
        </p:nvSpPr>
        <p:spPr>
          <a:xfrm>
            <a:off x="91744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4 · Reconcile</a:t>
            </a:r>
          </a:p>
        </p:txBody>
      </p:sp>
      <p:sp>
        <p:nvSpPr>
          <p:cNvPr id="30" name="TextBox 29"/>
          <p:cNvSpPr txBox="1"/>
          <p:nvPr/>
        </p:nvSpPr>
        <p:spPr>
          <a:xfrm>
            <a:off x="9174480" y="2545994"/>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Save decision and</a:t>
            </a:r>
          </a:p>
        </p:txBody>
      </p:sp>
      <p:sp>
        <p:nvSpPr>
          <p:cNvPr id="31" name="TextBox 30"/>
          <p:cNvSpPr txBox="1"/>
          <p:nvPr/>
        </p:nvSpPr>
        <p:spPr>
          <a:xfrm>
            <a:off x="9174480" y="2809341"/>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causal feedback</a:t>
            </a:r>
          </a:p>
        </p:txBody>
      </p:sp>
      <p:sp>
        <p:nvSpPr>
          <p:cNvPr id="32" name="TextBox 31"/>
          <p:cNvSpPr txBox="1"/>
          <p:nvPr/>
        </p:nvSpPr>
        <p:spPr>
          <a:xfrm>
            <a:off x="9174480" y="307268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acknowledgment.</a:t>
            </a:r>
          </a:p>
        </p:txBody>
      </p:sp>
      <p:sp>
        <p:nvSpPr>
          <p:cNvPr id="33" name="Rounded Rectangle 32"/>
          <p:cNvSpPr/>
          <p:nvPr/>
        </p:nvSpPr>
        <p:spPr>
          <a:xfrm>
            <a:off x="548640" y="4305300"/>
            <a:ext cx="5364480" cy="1264920"/>
          </a:xfrm>
          <a:prstGeom prst="roundRect">
            <a:avLst>
              <a:gd name="adj" fmla="val 7831"/>
            </a:avLst>
          </a:prstGeom>
          <a:solidFill>
            <a:srgbClr val="F3E7CE"/>
          </a:solidFill>
          <a:ln w="7620">
            <a:solidFill>
              <a:srgbClr val="A86A15"/>
            </a:solidFill>
          </a:ln>
          <a:effectLst/>
        </p:spPr>
        <p:txBody>
          <a:bodyPr rtlCol="0" anchor="ctr"/>
          <a:lstStyle/>
          <a:p>
            <a:pPr algn="ctr"/>
          </a:p>
        </p:txBody>
      </p:sp>
      <p:sp>
        <p:nvSpPr>
          <p:cNvPr id="34" name="TextBox 33"/>
          <p:cNvSpPr txBox="1"/>
          <p:nvPr/>
        </p:nvSpPr>
        <p:spPr>
          <a:xfrm>
            <a:off x="716280" y="447294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Budget survives restart</a:t>
            </a:r>
          </a:p>
        </p:txBody>
      </p:sp>
      <p:sp>
        <p:nvSpPr>
          <p:cNvPr id="35" name="TextBox 34"/>
          <p:cNvSpPr txBox="1"/>
          <p:nvPr/>
        </p:nvSpPr>
        <p:spPr>
          <a:xfrm>
            <a:off x="716280" y="4841747"/>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Candidate count, reserved attempts, generation</a:t>
            </a:r>
          </a:p>
        </p:txBody>
      </p:sp>
      <p:sp>
        <p:nvSpPr>
          <p:cNvPr id="36" name="TextBox 35"/>
          <p:cNvSpPr txBox="1"/>
          <p:nvPr/>
        </p:nvSpPr>
        <p:spPr>
          <a:xfrm>
            <a:off x="716280" y="510509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limit and absolute deadline are persisted.</a:t>
            </a:r>
          </a:p>
        </p:txBody>
      </p:sp>
      <p:sp>
        <p:nvSpPr>
          <p:cNvPr id="37" name="Rounded Rectangle 36"/>
          <p:cNvSpPr/>
          <p:nvPr/>
        </p:nvSpPr>
        <p:spPr>
          <a:xfrm>
            <a:off x="6096000" y="4305300"/>
            <a:ext cx="5547360" cy="1264920"/>
          </a:xfrm>
          <a:prstGeom prst="roundRect">
            <a:avLst>
              <a:gd name="adj" fmla="val 7831"/>
            </a:avLst>
          </a:prstGeom>
          <a:solidFill>
            <a:srgbClr val="E4EBF5"/>
          </a:solidFill>
          <a:ln w="7620">
            <a:solidFill>
              <a:srgbClr val="315E9C"/>
            </a:solidFill>
          </a:ln>
          <a:effectLst/>
        </p:spPr>
        <p:txBody>
          <a:bodyPr rtlCol="0" anchor="ctr"/>
          <a:lstStyle/>
          <a:p>
            <a:pPr algn="ctr"/>
          </a:p>
        </p:txBody>
      </p:sp>
      <p:sp>
        <p:nvSpPr>
          <p:cNvPr id="38" name="TextBox 37"/>
          <p:cNvSpPr txBox="1"/>
          <p:nvPr/>
        </p:nvSpPr>
        <p:spPr>
          <a:xfrm>
            <a:off x="6263640" y="447294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Selection changes next step</a:t>
            </a:r>
          </a:p>
        </p:txBody>
      </p:sp>
      <p:sp>
        <p:nvSpPr>
          <p:cNvPr id="39" name="TextBox 38"/>
          <p:cNvSpPr txBox="1"/>
          <p:nvPr/>
        </p:nvSpPr>
        <p:spPr>
          <a:xfrm>
            <a:off x="6263640" y="4841747"/>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Current selection is frozen. A unique admission</a:t>
            </a:r>
          </a:p>
        </p:txBody>
      </p:sp>
      <p:sp>
        <p:nvSpPr>
          <p:cNvPr id="40" name="TextBox 39"/>
          <p:cNvSpPr txBox="1"/>
          <p:nvPr/>
        </p:nvSpPr>
        <p:spPr>
          <a:xfrm>
            <a:off x="6263640" y="510509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records one causal feedback intent.</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refund for a lost pending attempt. A new evaluation needs another slot and attempt identity.</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inference.py · deadlines.py</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M3.1 BOUNDED RECONCILIATION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C3 alone settles the feedback outcome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C4 asks about the exact recorded intent. Attention serializes application and retirement.</a:t>
            </a:r>
          </a:p>
        </p:txBody>
      </p:sp>
      <p:sp>
        <p:nvSpPr>
          <p:cNvPr id="5" name="Rounded Rectangle 4"/>
          <p:cNvSpPr/>
          <p:nvPr/>
        </p:nvSpPr>
        <p:spPr>
          <a:xfrm>
            <a:off x="548640" y="2057400"/>
            <a:ext cx="2971800" cy="1257300"/>
          </a:xfrm>
          <a:prstGeom prst="roundRect">
            <a:avLst>
              <a:gd name="adj" fmla="val 7878"/>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225040"/>
            <a:ext cx="26365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Exact feedback intent</a:t>
            </a:r>
          </a:p>
        </p:txBody>
      </p:sp>
      <p:sp>
        <p:nvSpPr>
          <p:cNvPr id="7" name="TextBox 6"/>
          <p:cNvSpPr txBox="1"/>
          <p:nvPr/>
        </p:nvSpPr>
        <p:spPr>
          <a:xfrm>
            <a:off x="716280" y="2574340"/>
            <a:ext cx="2636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Original clock, cause, parent,</a:t>
            </a:r>
          </a:p>
        </p:txBody>
      </p:sp>
      <p:sp>
        <p:nvSpPr>
          <p:cNvPr id="8" name="TextBox 7"/>
          <p:cNvSpPr txBox="1"/>
          <p:nvPr/>
        </p:nvSpPr>
        <p:spPr>
          <a:xfrm>
            <a:off x="716280" y="2779166"/>
            <a:ext cx="2636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generation and effect deadline</a:t>
            </a:r>
          </a:p>
        </p:txBody>
      </p:sp>
      <p:sp>
        <p:nvSpPr>
          <p:cNvPr id="9" name="Rounded Rectangle 8"/>
          <p:cNvSpPr/>
          <p:nvPr/>
        </p:nvSpPr>
        <p:spPr>
          <a:xfrm>
            <a:off x="4572000" y="2057400"/>
            <a:ext cx="2575560" cy="1257300"/>
          </a:xfrm>
          <a:prstGeom prst="roundRect">
            <a:avLst>
              <a:gd name="adj" fmla="val 7878"/>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739640" y="2225040"/>
            <a:ext cx="22402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C3 ·</a:t>
            </a:r>
          </a:p>
        </p:txBody>
      </p:sp>
      <p:sp>
        <p:nvSpPr>
          <p:cNvPr id="11" name="TextBox 10"/>
          <p:cNvSpPr txBox="1"/>
          <p:nvPr/>
        </p:nvSpPr>
        <p:spPr>
          <a:xfrm>
            <a:off x="4739640" y="2488387"/>
            <a:ext cx="22402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resolveFeedback</a:t>
            </a:r>
          </a:p>
        </p:txBody>
      </p:sp>
      <p:sp>
        <p:nvSpPr>
          <p:cNvPr id="12" name="TextBox 11"/>
          <p:cNvSpPr txBox="1"/>
          <p:nvPr/>
        </p:nvSpPr>
        <p:spPr>
          <a:xfrm>
            <a:off x="4739640" y="2827934"/>
            <a:ext cx="224028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One owner transaction</a:t>
            </a:r>
          </a:p>
        </p:txBody>
      </p:sp>
      <p:sp>
        <p:nvSpPr>
          <p:cNvPr id="13" name="TextBox 12"/>
          <p:cNvSpPr txBox="1"/>
          <p:nvPr/>
        </p:nvSpPr>
        <p:spPr>
          <a:xfrm>
            <a:off x="4739640" y="3032760"/>
            <a:ext cx="224028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or one file-owner lock</a:t>
            </a:r>
          </a:p>
        </p:txBody>
      </p:sp>
      <p:cxnSp>
        <p:nvCxnSpPr>
          <p:cNvPr id="14" name="Connector 13"/>
          <p:cNvCxnSpPr/>
          <p:nvPr/>
        </p:nvCxnSpPr>
        <p:spPr>
          <a:xfrm>
            <a:off x="3520440" y="2682240"/>
            <a:ext cx="1051560" cy="0"/>
          </a:xfrm>
          <a:prstGeom prst="line">
            <a:avLst/>
          </a:prstGeom>
          <a:ln w="15240">
            <a:solidFill>
              <a:srgbClr val="315E9C"/>
            </a:solidFill>
          </a:ln>
          <a:effectLst/>
        </p:spPr>
      </p:cxnSp>
      <p:sp>
        <p:nvSpPr>
          <p:cNvPr id="15" name="Freeform 14"/>
          <p:cNvSpPr/>
          <p:nvPr/>
        </p:nvSpPr>
        <p:spPr>
          <a:xfrm>
            <a:off x="4472940" y="26441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6" name="Rounded Rectangle 15"/>
          <p:cNvSpPr/>
          <p:nvPr/>
        </p:nvSpPr>
        <p:spPr>
          <a:xfrm>
            <a:off x="8153400" y="1813559"/>
            <a:ext cx="3489960" cy="1089660"/>
          </a:xfrm>
          <a:prstGeom prst="roundRect">
            <a:avLst>
              <a:gd name="adj" fmla="val 9090"/>
            </a:avLst>
          </a:prstGeom>
          <a:solidFill>
            <a:srgbClr val="DCEFE8"/>
          </a:solidFill>
          <a:ln w="7620">
            <a:solidFill>
              <a:srgbClr val="007C78"/>
            </a:solidFill>
          </a:ln>
          <a:effectLst/>
        </p:spPr>
        <p:txBody>
          <a:bodyPr rtlCol="0" anchor="ctr"/>
          <a:lstStyle/>
          <a:p>
            <a:pPr algn="ctr"/>
          </a:p>
        </p:txBody>
      </p:sp>
      <p:sp>
        <p:nvSpPr>
          <p:cNvPr id="17" name="TextBox 16"/>
          <p:cNvSpPr txBox="1"/>
          <p:nvPr/>
        </p:nvSpPr>
        <p:spPr>
          <a:xfrm>
            <a:off x="8321039" y="1981200"/>
            <a:ext cx="31546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APPLIED</a:t>
            </a:r>
          </a:p>
        </p:txBody>
      </p:sp>
      <p:sp>
        <p:nvSpPr>
          <p:cNvPr id="18" name="TextBox 17"/>
          <p:cNvSpPr txBox="1"/>
          <p:nvPr/>
        </p:nvSpPr>
        <p:spPr>
          <a:xfrm>
            <a:off x="8321039" y="2320747"/>
            <a:ext cx="3154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Return original durable receipt</a:t>
            </a:r>
          </a:p>
        </p:txBody>
      </p:sp>
      <p:cxnSp>
        <p:nvCxnSpPr>
          <p:cNvPr id="19" name="Connector 18"/>
          <p:cNvCxnSpPr/>
          <p:nvPr/>
        </p:nvCxnSpPr>
        <p:spPr>
          <a:xfrm>
            <a:off x="7147559" y="2682240"/>
            <a:ext cx="472441" cy="0"/>
          </a:xfrm>
          <a:prstGeom prst="line">
            <a:avLst/>
          </a:prstGeom>
          <a:ln w="15240">
            <a:solidFill>
              <a:srgbClr val="007C78"/>
            </a:solidFill>
          </a:ln>
          <a:effectLst/>
        </p:spPr>
      </p:cxnSp>
      <p:cxnSp>
        <p:nvCxnSpPr>
          <p:cNvPr id="20" name="Connector 19"/>
          <p:cNvCxnSpPr/>
          <p:nvPr/>
        </p:nvCxnSpPr>
        <p:spPr>
          <a:xfrm flipV="1">
            <a:off x="7620000" y="2362200"/>
            <a:ext cx="0" cy="320040"/>
          </a:xfrm>
          <a:prstGeom prst="line">
            <a:avLst/>
          </a:prstGeom>
          <a:ln w="15240">
            <a:solidFill>
              <a:srgbClr val="007C78"/>
            </a:solidFill>
          </a:ln>
          <a:effectLst/>
        </p:spPr>
      </p:cxnSp>
      <p:cxnSp>
        <p:nvCxnSpPr>
          <p:cNvPr id="21" name="Connector 20"/>
          <p:cNvCxnSpPr/>
          <p:nvPr/>
        </p:nvCxnSpPr>
        <p:spPr>
          <a:xfrm>
            <a:off x="7620000" y="2362200"/>
            <a:ext cx="533400" cy="0"/>
          </a:xfrm>
          <a:prstGeom prst="line">
            <a:avLst/>
          </a:prstGeom>
          <a:ln w="15240">
            <a:solidFill>
              <a:srgbClr val="007C78"/>
            </a:solidFill>
          </a:ln>
          <a:effectLst/>
        </p:spPr>
      </p:cxnSp>
      <p:sp>
        <p:nvSpPr>
          <p:cNvPr id="22" name="Freeform 21"/>
          <p:cNvSpPr/>
          <p:nvPr/>
        </p:nvSpPr>
        <p:spPr>
          <a:xfrm>
            <a:off x="8054340" y="23241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3" name="Rounded Rectangle 22"/>
          <p:cNvSpPr/>
          <p:nvPr/>
        </p:nvSpPr>
        <p:spPr>
          <a:xfrm>
            <a:off x="8153400" y="3086100"/>
            <a:ext cx="3489960" cy="1089660"/>
          </a:xfrm>
          <a:prstGeom prst="roundRect">
            <a:avLst>
              <a:gd name="adj" fmla="val 9090"/>
            </a:avLst>
          </a:prstGeom>
          <a:solidFill>
            <a:srgbClr val="F3E7CE"/>
          </a:solidFill>
          <a:ln w="7620">
            <a:solidFill>
              <a:srgbClr val="A86A15"/>
            </a:solidFill>
          </a:ln>
          <a:effectLst/>
        </p:spPr>
        <p:txBody>
          <a:bodyPr rtlCol="0" anchor="ctr"/>
          <a:lstStyle/>
          <a:p>
            <a:pPr algn="ctr"/>
          </a:p>
        </p:txBody>
      </p:sp>
      <p:sp>
        <p:nvSpPr>
          <p:cNvPr id="24" name="TextBox 23"/>
          <p:cNvSpPr txBox="1"/>
          <p:nvPr/>
        </p:nvSpPr>
        <p:spPr>
          <a:xfrm>
            <a:off x="8321039" y="3253740"/>
            <a:ext cx="31546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A86A15"/>
                </a:solidFill>
                <a:latin typeface="DejaVu Sans"/>
              </a:rPr>
              <a:t>RETIRED · NO CREDIT</a:t>
            </a:r>
          </a:p>
        </p:txBody>
      </p:sp>
      <p:sp>
        <p:nvSpPr>
          <p:cNvPr id="25" name="TextBox 24"/>
          <p:cNvSpPr txBox="1"/>
          <p:nvPr/>
        </p:nvSpPr>
        <p:spPr>
          <a:xfrm>
            <a:off x="8321039" y="3593287"/>
            <a:ext cx="3154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Expired or obsolete clock / parent</a:t>
            </a:r>
          </a:p>
        </p:txBody>
      </p:sp>
      <p:cxnSp>
        <p:nvCxnSpPr>
          <p:cNvPr id="26" name="Connector 25"/>
          <p:cNvCxnSpPr/>
          <p:nvPr/>
        </p:nvCxnSpPr>
        <p:spPr>
          <a:xfrm>
            <a:off x="7147559" y="2682240"/>
            <a:ext cx="472441" cy="0"/>
          </a:xfrm>
          <a:prstGeom prst="line">
            <a:avLst/>
          </a:prstGeom>
          <a:ln w="15240">
            <a:solidFill>
              <a:srgbClr val="A86A15"/>
            </a:solidFill>
          </a:ln>
          <a:effectLst/>
        </p:spPr>
      </p:cxnSp>
      <p:cxnSp>
        <p:nvCxnSpPr>
          <p:cNvPr id="27" name="Connector 26"/>
          <p:cNvCxnSpPr/>
          <p:nvPr/>
        </p:nvCxnSpPr>
        <p:spPr>
          <a:xfrm>
            <a:off x="7620000" y="2682240"/>
            <a:ext cx="0" cy="952500"/>
          </a:xfrm>
          <a:prstGeom prst="line">
            <a:avLst/>
          </a:prstGeom>
          <a:ln w="15240">
            <a:solidFill>
              <a:srgbClr val="A86A15"/>
            </a:solidFill>
          </a:ln>
          <a:effectLst/>
        </p:spPr>
      </p:cxnSp>
      <p:cxnSp>
        <p:nvCxnSpPr>
          <p:cNvPr id="28" name="Connector 27"/>
          <p:cNvCxnSpPr/>
          <p:nvPr/>
        </p:nvCxnSpPr>
        <p:spPr>
          <a:xfrm>
            <a:off x="7620000" y="3634740"/>
            <a:ext cx="533400" cy="0"/>
          </a:xfrm>
          <a:prstGeom prst="line">
            <a:avLst/>
          </a:prstGeom>
          <a:ln w="15240">
            <a:solidFill>
              <a:srgbClr val="A86A15"/>
            </a:solidFill>
          </a:ln>
          <a:effectLst/>
        </p:spPr>
      </p:cxnSp>
      <p:sp>
        <p:nvSpPr>
          <p:cNvPr id="29" name="Freeform 28"/>
          <p:cNvSpPr/>
          <p:nvPr/>
        </p:nvSpPr>
        <p:spPr>
          <a:xfrm>
            <a:off x="8054340" y="3596640"/>
            <a:ext cx="99060" cy="76200"/>
          </a:xfrm>
          <a:custGeom>
            <a:avLst/>
            <a:gdLst/>
            <a:ahLst/>
            <a:cxnLst/>
            <a:rect l="l" t="t" r="r" b="b"/>
            <a:pathLst>
              <a:path w="13" h="10">
                <a:moveTo>
                  <a:pt x="13" y="5"/>
                </a:moveTo>
                <a:lnTo>
                  <a:pt x="0" y="0"/>
                </a:lnTo>
                <a:lnTo>
                  <a:pt x="0" y="10"/>
                </a:lnTo>
                <a:close/>
              </a:path>
            </a:pathLst>
          </a:custGeom>
          <a:solidFill>
            <a:srgbClr val="A86A15"/>
          </a:solidFill>
          <a:ln>
            <a:noFill/>
          </a:ln>
          <a:effectLst/>
        </p:spPr>
        <p:txBody>
          <a:bodyPr rtlCol="0" anchor="ctr"/>
          <a:lstStyle/>
          <a:p>
            <a:pPr algn="ctr"/>
          </a:p>
        </p:txBody>
      </p:sp>
      <p:sp>
        <p:nvSpPr>
          <p:cNvPr id="30" name="Rounded Rectangle 29"/>
          <p:cNvSpPr/>
          <p:nvPr/>
        </p:nvSpPr>
        <p:spPr>
          <a:xfrm>
            <a:off x="8153400" y="4358640"/>
            <a:ext cx="3489960" cy="1089660"/>
          </a:xfrm>
          <a:prstGeom prst="roundRect">
            <a:avLst>
              <a:gd name="adj" fmla="val 9090"/>
            </a:avLst>
          </a:prstGeom>
          <a:solidFill>
            <a:srgbClr val="E4EBF5"/>
          </a:solidFill>
          <a:ln w="7620">
            <a:solidFill>
              <a:srgbClr val="315E9C"/>
            </a:solidFill>
          </a:ln>
          <a:effectLst/>
        </p:spPr>
        <p:txBody>
          <a:bodyPr rtlCol="0" anchor="ctr"/>
          <a:lstStyle/>
          <a:p>
            <a:pPr algn="ctr"/>
          </a:p>
        </p:txBody>
      </p:sp>
      <p:sp>
        <p:nvSpPr>
          <p:cNvPr id="31" name="TextBox 30"/>
          <p:cNvSpPr txBox="1"/>
          <p:nvPr/>
        </p:nvSpPr>
        <p:spPr>
          <a:xfrm>
            <a:off x="8321039" y="4526280"/>
            <a:ext cx="31546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PENDING</a:t>
            </a:r>
          </a:p>
        </p:txBody>
      </p:sp>
      <p:sp>
        <p:nvSpPr>
          <p:cNvPr id="32" name="TextBox 31"/>
          <p:cNvSpPr txBox="1"/>
          <p:nvPr/>
        </p:nvSpPr>
        <p:spPr>
          <a:xfrm>
            <a:off x="8321039" y="4865827"/>
            <a:ext cx="3154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Eligible, unavailable or malformed</a:t>
            </a:r>
          </a:p>
        </p:txBody>
      </p:sp>
      <p:cxnSp>
        <p:nvCxnSpPr>
          <p:cNvPr id="33" name="Connector 32"/>
          <p:cNvCxnSpPr/>
          <p:nvPr/>
        </p:nvCxnSpPr>
        <p:spPr>
          <a:xfrm>
            <a:off x="7147559" y="2682240"/>
            <a:ext cx="472441" cy="0"/>
          </a:xfrm>
          <a:prstGeom prst="line">
            <a:avLst/>
          </a:prstGeom>
          <a:ln w="15240">
            <a:solidFill>
              <a:srgbClr val="315E9C"/>
            </a:solidFill>
          </a:ln>
          <a:effectLst/>
        </p:spPr>
      </p:cxnSp>
      <p:cxnSp>
        <p:nvCxnSpPr>
          <p:cNvPr id="34" name="Connector 33"/>
          <p:cNvCxnSpPr/>
          <p:nvPr/>
        </p:nvCxnSpPr>
        <p:spPr>
          <a:xfrm>
            <a:off x="7620000" y="2682240"/>
            <a:ext cx="0" cy="2225040"/>
          </a:xfrm>
          <a:prstGeom prst="line">
            <a:avLst/>
          </a:prstGeom>
          <a:ln w="15240">
            <a:solidFill>
              <a:srgbClr val="315E9C"/>
            </a:solidFill>
          </a:ln>
          <a:effectLst/>
        </p:spPr>
      </p:cxnSp>
      <p:cxnSp>
        <p:nvCxnSpPr>
          <p:cNvPr id="35" name="Connector 34"/>
          <p:cNvCxnSpPr/>
          <p:nvPr/>
        </p:nvCxnSpPr>
        <p:spPr>
          <a:xfrm>
            <a:off x="7620000" y="4907280"/>
            <a:ext cx="533400" cy="0"/>
          </a:xfrm>
          <a:prstGeom prst="line">
            <a:avLst/>
          </a:prstGeom>
          <a:ln w="15240">
            <a:solidFill>
              <a:srgbClr val="315E9C"/>
            </a:solidFill>
          </a:ln>
          <a:effectLst/>
        </p:spPr>
      </p:cxnSp>
      <p:sp>
        <p:nvSpPr>
          <p:cNvPr id="36" name="Freeform 35"/>
          <p:cNvSpPr/>
          <p:nvPr/>
        </p:nvSpPr>
        <p:spPr>
          <a:xfrm>
            <a:off x="8054340" y="48691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7" name="Rounded Rectangle 36"/>
          <p:cNvSpPr/>
          <p:nvPr/>
        </p:nvSpPr>
        <p:spPr>
          <a:xfrm>
            <a:off x="548640" y="3832860"/>
            <a:ext cx="6598920" cy="1615439"/>
          </a:xfrm>
          <a:prstGeom prst="roundRect">
            <a:avLst>
              <a:gd name="adj" fmla="val 6132"/>
            </a:avLst>
          </a:prstGeom>
          <a:solidFill>
            <a:srgbClr val="FFFFFF"/>
          </a:solidFill>
          <a:ln w="7620">
            <a:solidFill>
              <a:srgbClr val="007C78"/>
            </a:solidFill>
          </a:ln>
          <a:effectLst/>
        </p:spPr>
        <p:txBody>
          <a:bodyPr rtlCol="0" anchor="ctr"/>
          <a:lstStyle/>
          <a:p>
            <a:pPr algn="ctr"/>
          </a:p>
        </p:txBody>
      </p:sp>
      <p:sp>
        <p:nvSpPr>
          <p:cNvPr id="38" name="TextBox 37"/>
          <p:cNvSpPr txBox="1"/>
          <p:nvPr/>
        </p:nvSpPr>
        <p:spPr>
          <a:xfrm>
            <a:off x="716280" y="4000500"/>
            <a:ext cx="62636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C4 keeps a separate closure journal</a:t>
            </a:r>
          </a:p>
        </p:txBody>
      </p:sp>
      <p:sp>
        <p:nvSpPr>
          <p:cNvPr id="39" name="TextBox 38"/>
          <p:cNvSpPr txBox="1"/>
          <p:nvPr/>
        </p:nvSpPr>
        <p:spPr>
          <a:xfrm>
            <a:off x="716280" y="4379061"/>
            <a:ext cx="62636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1–16 resolutions per call · 128 commands per step</a:t>
            </a:r>
          </a:p>
        </p:txBody>
      </p:sp>
      <p:sp>
        <p:nvSpPr>
          <p:cNvPr id="40" name="TextBox 39"/>
          <p:cNvSpPr txBox="1"/>
          <p:nvPr/>
        </p:nvSpPr>
        <p:spPr>
          <a:xfrm>
            <a:off x="716280" y="4632655"/>
            <a:ext cx="62636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Original execution, spent budget and deadline stay fixed.</a:t>
            </a:r>
          </a:p>
        </p:txBody>
      </p:sp>
      <p:sp>
        <p:nvSpPr>
          <p:cNvPr id="41" name="TextBox 40"/>
          <p:cNvSpPr txBox="1"/>
          <p:nvPr/>
        </p:nvSpPr>
        <p:spPr>
          <a:xfrm>
            <a:off x="716280" y="4886248"/>
            <a:ext cx="62636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Reconciliation makes zero new native formula calls.</a:t>
            </a:r>
          </a:p>
        </p:txBody>
      </p:sp>
      <p:sp>
        <p:nvSpPr>
          <p:cNvPr id="42" name="Rounded Rectangle 4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3" name="TextBox 4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Applied before a lost reply → recover once. Retired first → delayed delivery cannot award credit.</a:t>
            </a:r>
          </a:p>
        </p:txBody>
      </p:sp>
      <p:cxnSp>
        <p:nvCxnSpPr>
          <p:cNvPr id="44" name="Connector 43"/>
          <p:cNvCxnSpPr/>
          <p:nvPr/>
        </p:nvCxnSpPr>
        <p:spPr>
          <a:xfrm>
            <a:off x="548640" y="6393180"/>
            <a:ext cx="11094720" cy="0"/>
          </a:xfrm>
          <a:prstGeom prst="line">
            <a:avLst/>
          </a:prstGeom>
          <a:ln w="7620">
            <a:solidFill>
              <a:srgbClr val="C9D2D4"/>
            </a:solidFill>
          </a:ln>
          <a:effectLst/>
        </p:spPr>
      </p:cxnSp>
      <p:sp>
        <p:nvSpPr>
          <p:cNvPr id="45" name="TextBox 4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attention.py · fixture_attention.py · inference.py</a:t>
            </a:r>
          </a:p>
        </p:txBody>
      </p:sp>
      <p:sp>
        <p:nvSpPr>
          <p:cNvPr id="46" name="TextBox 4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RECOVERY · ACTUAL SIGKILL</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Five crash boundaries, independent owner commits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10 direct boundary cases + 5 actual Hive caller boundary cases in the recorded M3 run.</a:t>
            </a:r>
          </a:p>
        </p:txBody>
      </p:sp>
      <p:sp>
        <p:nvSpPr>
          <p:cNvPr id="5" name="TextBox 4"/>
          <p:cNvSpPr txBox="1"/>
          <p:nvPr/>
        </p:nvSpPr>
        <p:spPr>
          <a:xfrm>
            <a:off x="670560" y="1790700"/>
            <a:ext cx="3566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PROCESS DIES AFTER…</a:t>
            </a:r>
          </a:p>
        </p:txBody>
      </p:sp>
      <p:sp>
        <p:nvSpPr>
          <p:cNvPr id="6" name="TextBox 5"/>
          <p:cNvSpPr txBox="1"/>
          <p:nvPr/>
        </p:nvSpPr>
        <p:spPr>
          <a:xfrm>
            <a:off x="4480560" y="1790700"/>
            <a:ext cx="2956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DURABLE FACT</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RECOVERY RESULT</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Attention stimulus commit</a:t>
            </a:r>
          </a:p>
        </p:txBody>
      </p:sp>
      <p:sp>
        <p:nvSpPr>
          <p:cNvPr id="10" name="TextBox 9"/>
          <p:cNvSpPr txBox="1"/>
          <p:nvPr/>
        </p:nvSpPr>
        <p:spPr>
          <a:xfrm>
            <a:off x="4480560" y="224028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C3 causal receipt</a:t>
            </a:r>
          </a:p>
        </p:txBody>
      </p:sp>
      <p:sp>
        <p:nvSpPr>
          <p:cNvPr id="11" name="TextBox 10"/>
          <p:cNvSpPr txBox="1"/>
          <p:nvPr/>
        </p:nvSpPr>
        <p:spPr>
          <a:xfrm>
            <a:off x="7680959" y="224028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Replay does not add STI again</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C4 attempt reservation</a:t>
            </a:r>
          </a:p>
        </p:txBody>
      </p:sp>
      <p:sp>
        <p:nvSpPr>
          <p:cNvPr id="14" name="TextBox 13"/>
          <p:cNvSpPr txBox="1"/>
          <p:nvPr/>
        </p:nvSpPr>
        <p:spPr>
          <a:xfrm>
            <a:off x="4480560" y="293370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Slot already spent</a:t>
            </a:r>
          </a:p>
        </p:txBody>
      </p:sp>
      <p:sp>
        <p:nvSpPr>
          <p:cNvPr id="15" name="TextBox 14"/>
          <p:cNvSpPr txBox="1"/>
          <p:nvPr/>
        </p:nvSpPr>
        <p:spPr>
          <a:xfrm>
            <a:off x="7680959" y="293370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One-slot budget can end without a result</a:t>
            </a:r>
          </a:p>
        </p:txBody>
      </p:sp>
      <p:sp>
        <p:nvSpPr>
          <p:cNvPr id="16" name="Rounded Rectangle 15"/>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7" name="TextBox 16"/>
          <p:cNvSpPr txBox="1"/>
          <p:nvPr/>
        </p:nvSpPr>
        <p:spPr>
          <a:xfrm>
            <a:off x="670560" y="3627119"/>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Kernel return; before C2 commit</a:t>
            </a:r>
          </a:p>
        </p:txBody>
      </p:sp>
      <p:sp>
        <p:nvSpPr>
          <p:cNvPr id="18" name="TextBox 17"/>
          <p:cNvSpPr txBox="1"/>
          <p:nvPr/>
        </p:nvSpPr>
        <p:spPr>
          <a:xfrm>
            <a:off x="4480560" y="3627119"/>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Pending attempt; no admission</a:t>
            </a:r>
          </a:p>
        </p:txBody>
      </p:sp>
      <p:sp>
        <p:nvSpPr>
          <p:cNvPr id="19" name="TextBox 18"/>
          <p:cNvSpPr txBox="1"/>
          <p:nvPr/>
        </p:nvSpPr>
        <p:spPr>
          <a:xfrm>
            <a:off x="7680959" y="3627119"/>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Another evaluation needs another slot</a:t>
            </a:r>
          </a:p>
        </p:txBody>
      </p:sp>
      <p:sp>
        <p:nvSpPr>
          <p:cNvPr id="20" name="Rounded Rectangle 19"/>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1" name="TextBox 20"/>
          <p:cNvSpPr txBox="1"/>
          <p:nvPr/>
        </p:nvSpPr>
        <p:spPr>
          <a:xfrm>
            <a:off x="670560" y="432054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C2 belief commit</a:t>
            </a:r>
          </a:p>
        </p:txBody>
      </p:sp>
      <p:sp>
        <p:nvSpPr>
          <p:cNvPr id="22" name="TextBox 21"/>
          <p:cNvSpPr txBox="1"/>
          <p:nvPr/>
        </p:nvSpPr>
        <p:spPr>
          <a:xfrm>
            <a:off x="4480560" y="432054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Authoritative saved decision</a:t>
            </a:r>
          </a:p>
        </p:txBody>
      </p:sp>
      <p:sp>
        <p:nvSpPr>
          <p:cNvPr id="23" name="TextBox 22"/>
          <p:cNvSpPr txBox="1"/>
          <p:nvPr/>
        </p:nvSpPr>
        <p:spPr>
          <a:xfrm>
            <a:off x="7680959" y="432054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without another native call</a:t>
            </a:r>
          </a:p>
        </p:txBody>
      </p:sp>
      <p:sp>
        <p:nvSpPr>
          <p:cNvPr id="24" name="Rounded Rectangle 23"/>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5" name="TextBox 24"/>
          <p:cNvSpPr txBox="1"/>
          <p:nvPr/>
        </p:nvSpPr>
        <p:spPr>
          <a:xfrm>
            <a:off x="670560" y="501396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C3 feedback commit; before C4</a:t>
            </a:r>
          </a:p>
        </p:txBody>
      </p:sp>
      <p:sp>
        <p:nvSpPr>
          <p:cNvPr id="26" name="TextBox 25"/>
          <p:cNvSpPr txBox="1"/>
          <p:nvPr/>
        </p:nvSpPr>
        <p:spPr>
          <a:xfrm>
            <a:off x="670560" y="5248046"/>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ack</a:t>
            </a:r>
          </a:p>
        </p:txBody>
      </p:sp>
      <p:sp>
        <p:nvSpPr>
          <p:cNvPr id="27" name="TextBox 26"/>
          <p:cNvSpPr txBox="1"/>
          <p:nvPr/>
        </p:nvSpPr>
        <p:spPr>
          <a:xfrm>
            <a:off x="4480560" y="501396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Credit recorded by logical</a:t>
            </a:r>
          </a:p>
        </p:txBody>
      </p:sp>
      <p:sp>
        <p:nvSpPr>
          <p:cNvPr id="28" name="TextBox 27"/>
          <p:cNvSpPr txBox="1"/>
          <p:nvPr/>
        </p:nvSpPr>
        <p:spPr>
          <a:xfrm>
            <a:off x="4480560" y="5248046"/>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cause</a:t>
            </a:r>
          </a:p>
        </p:txBody>
      </p:sp>
      <p:sp>
        <p:nvSpPr>
          <p:cNvPr id="29" name="TextBox 28"/>
          <p:cNvSpPr txBox="1"/>
          <p:nvPr/>
        </p:nvSpPr>
        <p:spPr>
          <a:xfrm>
            <a:off x="7680959" y="501396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ack without a second credit</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The evidence proves tested local process recovery, not a distributed transaction or power-loss durability.</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test_m3_recovery.py · test_m3_integration.py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BOUNDARY GUARANTEES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Authorization, replay and profiles remain live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Cached success does not bypass current authority, and compatibility is never silently widened.</a:t>
            </a:r>
          </a:p>
        </p:txBody>
      </p:sp>
      <p:sp>
        <p:nvSpPr>
          <p:cNvPr id="5" name="TextBox 4"/>
          <p:cNvSpPr txBox="1"/>
          <p:nvPr/>
        </p:nvSpPr>
        <p:spPr>
          <a:xfrm>
            <a:off x="670560" y="1790700"/>
            <a:ext cx="3642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TRIGGER</a:t>
            </a:r>
          </a:p>
        </p:txBody>
      </p:sp>
      <p:sp>
        <p:nvSpPr>
          <p:cNvPr id="6" name="TextBox 5"/>
          <p:cNvSpPr txBox="1"/>
          <p:nvPr/>
        </p:nvSpPr>
        <p:spPr>
          <a:xfrm>
            <a:off x="4556760" y="1790700"/>
            <a:ext cx="3337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DECISION</a:t>
            </a:r>
          </a:p>
        </p:txBody>
      </p:sp>
      <p:sp>
        <p:nvSpPr>
          <p:cNvPr id="7" name="TextBox 6"/>
          <p:cNvSpPr txBox="1"/>
          <p:nvPr/>
        </p:nvSpPr>
        <p:spPr>
          <a:xfrm>
            <a:off x="8138159" y="1790700"/>
            <a:ext cx="3383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PRESERVED BOUNDARY</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Same key, altered nested request</a:t>
            </a:r>
          </a:p>
        </p:txBody>
      </p:sp>
      <p:sp>
        <p:nvSpPr>
          <p:cNvPr id="10" name="TextBox 9"/>
          <p:cNvSpPr txBox="1"/>
          <p:nvPr/>
        </p:nvSpPr>
        <p:spPr>
          <a:xfrm>
            <a:off x="4556760" y="224028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CONFLICT / validation refusal</a:t>
            </a:r>
          </a:p>
        </p:txBody>
      </p:sp>
      <p:sp>
        <p:nvSpPr>
          <p:cNvPr id="11" name="TextBox 10"/>
          <p:cNvSpPr txBox="1"/>
          <p:nvPr/>
        </p:nvSpPr>
        <p:spPr>
          <a:xfrm>
            <a:off x="8138159" y="224028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immutable semantic intent</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Permission revoked before replay</a:t>
            </a:r>
          </a:p>
        </p:txBody>
      </p:sp>
      <p:sp>
        <p:nvSpPr>
          <p:cNvPr id="14" name="TextBox 13"/>
          <p:cNvSpPr txBox="1"/>
          <p:nvPr/>
        </p:nvSpPr>
        <p:spPr>
          <a:xfrm>
            <a:off x="4556760" y="293370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DENIED</a:t>
            </a:r>
          </a:p>
        </p:txBody>
      </p:sp>
      <p:sp>
        <p:nvSpPr>
          <p:cNvPr id="15" name="TextBox 14"/>
          <p:cNvSpPr txBox="1"/>
          <p:nvPr/>
        </p:nvSpPr>
        <p:spPr>
          <a:xfrm>
            <a:off x="8138159" y="293370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Live authority even for cached</a:t>
            </a:r>
          </a:p>
        </p:txBody>
      </p:sp>
      <p:sp>
        <p:nvSpPr>
          <p:cNvPr id="16" name="TextBox 15"/>
          <p:cNvSpPr txBox="1"/>
          <p:nvPr/>
        </p:nvSpPr>
        <p:spPr>
          <a:xfrm>
            <a:off x="8138159" y="316778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receipts</a:t>
            </a:r>
          </a:p>
        </p:txBody>
      </p:sp>
      <p:sp>
        <p:nvSpPr>
          <p:cNvPr id="17" name="Rounded Rectangle 16"/>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8" name="TextBox 17"/>
          <p:cNvSpPr txBox="1"/>
          <p:nvPr/>
        </p:nvSpPr>
        <p:spPr>
          <a:xfrm>
            <a:off x="670560" y="3627119"/>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Authority / CAS changes during</a:t>
            </a:r>
          </a:p>
        </p:txBody>
      </p:sp>
      <p:sp>
        <p:nvSpPr>
          <p:cNvPr id="19" name="TextBox 18"/>
          <p:cNvSpPr txBox="1"/>
          <p:nvPr/>
        </p:nvSpPr>
        <p:spPr>
          <a:xfrm>
            <a:off x="670560" y="3861206"/>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math</a:t>
            </a:r>
          </a:p>
        </p:txBody>
      </p:sp>
      <p:sp>
        <p:nvSpPr>
          <p:cNvPr id="20" name="TextBox 19"/>
          <p:cNvSpPr txBox="1"/>
          <p:nvPr/>
        </p:nvSpPr>
        <p:spPr>
          <a:xfrm>
            <a:off x="4556760" y="3627119"/>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Refuse final admission</a:t>
            </a:r>
          </a:p>
        </p:txBody>
      </p:sp>
      <p:sp>
        <p:nvSpPr>
          <p:cNvPr id="21" name="TextBox 20"/>
          <p:cNvSpPr txBox="1"/>
          <p:nvPr/>
        </p:nvSpPr>
        <p:spPr>
          <a:xfrm>
            <a:off x="8138159" y="3627119"/>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C2 rechecks before its own commit</a:t>
            </a:r>
          </a:p>
        </p:txBody>
      </p:sp>
      <p:sp>
        <p:nvSpPr>
          <p:cNvPr id="22" name="Rounded Rectangle 21"/>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3" name="TextBox 22"/>
          <p:cNvSpPr txBox="1"/>
          <p:nvPr/>
        </p:nvSpPr>
        <p:spPr>
          <a:xfrm>
            <a:off x="670560" y="432054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Runtime or response binding</a:t>
            </a:r>
          </a:p>
        </p:txBody>
      </p:sp>
      <p:sp>
        <p:nvSpPr>
          <p:cNvPr id="24" name="TextBox 23"/>
          <p:cNvSpPr txBox="1"/>
          <p:nvPr/>
        </p:nvSpPr>
        <p:spPr>
          <a:xfrm>
            <a:off x="670560" y="4554626"/>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changes</a:t>
            </a:r>
          </a:p>
        </p:txBody>
      </p:sp>
      <p:sp>
        <p:nvSpPr>
          <p:cNvPr id="25" name="TextBox 24"/>
          <p:cNvSpPr txBox="1"/>
          <p:nvPr/>
        </p:nvSpPr>
        <p:spPr>
          <a:xfrm>
            <a:off x="4556760" y="432054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Explicit compatibility failure</a:t>
            </a:r>
          </a:p>
        </p:txBody>
      </p:sp>
      <p:sp>
        <p:nvSpPr>
          <p:cNvPr id="26" name="TextBox 25"/>
          <p:cNvSpPr txBox="1"/>
          <p:nvPr/>
        </p:nvSpPr>
        <p:spPr>
          <a:xfrm>
            <a:off x="8138159" y="432054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weaker fallback or invented</a:t>
            </a:r>
          </a:p>
        </p:txBody>
      </p:sp>
      <p:sp>
        <p:nvSpPr>
          <p:cNvPr id="27" name="TextBox 26"/>
          <p:cNvSpPr txBox="1"/>
          <p:nvPr/>
        </p:nvSpPr>
        <p:spPr>
          <a:xfrm>
            <a:off x="8138159" y="455462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result</a:t>
            </a:r>
          </a:p>
        </p:txBody>
      </p:sp>
      <p:sp>
        <p:nvSpPr>
          <p:cNvPr id="28" name="Rounded Rectangle 27"/>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9" name="TextBox 28"/>
          <p:cNvSpPr txBox="1"/>
          <p:nvPr/>
        </p:nvSpPr>
        <p:spPr>
          <a:xfrm>
            <a:off x="670560" y="501396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Clock advances before feedback</a:t>
            </a:r>
          </a:p>
        </p:txBody>
      </p:sp>
      <p:sp>
        <p:nvSpPr>
          <p:cNvPr id="30" name="TextBox 29"/>
          <p:cNvSpPr txBox="1"/>
          <p:nvPr/>
        </p:nvSpPr>
        <p:spPr>
          <a:xfrm>
            <a:off x="4556760" y="501396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Retire without credit via owner</a:t>
            </a:r>
          </a:p>
        </p:txBody>
      </p:sp>
      <p:sp>
        <p:nvSpPr>
          <p:cNvPr id="31" name="TextBox 30"/>
          <p:cNvSpPr txBox="1"/>
          <p:nvPr/>
        </p:nvSpPr>
        <p:spPr>
          <a:xfrm>
            <a:off x="8138159" y="501396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Original clock, parent and</a:t>
            </a:r>
          </a:p>
        </p:txBody>
      </p:sp>
      <p:sp>
        <p:nvSpPr>
          <p:cNvPr id="32" name="TextBox 31"/>
          <p:cNvSpPr txBox="1"/>
          <p:nvPr/>
        </p:nvSpPr>
        <p:spPr>
          <a:xfrm>
            <a:off x="8138159" y="524804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generation retained</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Attention ingress and feedback have distinct trusted bindings; selection never grants authority.</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cognition.py · derived_beliefs.py · tests/test_m3.py</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NATIVE INTEGRATION</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One real Hive action reaches the entire private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Existing authenticated Programs runtime → fusion-inference / infer-generated.</a:t>
            </a:r>
          </a:p>
        </p:txBody>
      </p:sp>
      <p:sp>
        <p:nvSpPr>
          <p:cNvPr id="5" name="Rounded Rectangle 4"/>
          <p:cNvSpPr/>
          <p:nvPr/>
        </p:nvSpPr>
        <p:spPr>
          <a:xfrm>
            <a:off x="548640" y="1790700"/>
            <a:ext cx="11094720" cy="647700"/>
          </a:xfrm>
          <a:prstGeom prst="roundRect">
            <a:avLst>
              <a:gd name="adj" fmla="val 14117"/>
            </a:avLst>
          </a:prstGeom>
          <a:solidFill>
            <a:srgbClr val="0B2233"/>
          </a:solidFill>
          <a:ln>
            <a:noFill/>
          </a:ln>
          <a:effectLst/>
        </p:spPr>
        <p:txBody>
          <a:bodyPr rtlCol="0" anchor="ctr"/>
          <a:lstStyle/>
          <a:p>
            <a:pPr algn="ctr"/>
          </a:p>
        </p:txBody>
      </p:sp>
      <p:sp>
        <p:nvSpPr>
          <p:cNvPr id="6" name="TextBox 5"/>
          <p:cNvSpPr txBox="1"/>
          <p:nvPr/>
        </p:nvSpPr>
        <p:spPr>
          <a:xfrm>
            <a:off x="762000" y="1973580"/>
            <a:ext cx="105918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0">
                <a:solidFill>
                  <a:srgbClr val="FFFFFF"/>
                </a:solidFill>
                <a:latin typeface="DejaVu Sans Mono"/>
              </a:rPr>
              <a:t>POST /api/programs/fusion-inference/act</a:t>
            </a:r>
          </a:p>
        </p:txBody>
      </p:sp>
      <p:sp>
        <p:nvSpPr>
          <p:cNvPr id="7" name="Rounded Rectangle 6"/>
          <p:cNvSpPr/>
          <p:nvPr/>
        </p:nvSpPr>
        <p:spPr>
          <a:xfrm>
            <a:off x="54864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8" name="TextBox 7"/>
          <p:cNvSpPr txBox="1"/>
          <p:nvPr/>
        </p:nvSpPr>
        <p:spPr>
          <a:xfrm>
            <a:off x="63246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Native Hive</a:t>
            </a:r>
          </a:p>
        </p:txBody>
      </p:sp>
      <p:cxnSp>
        <p:nvCxnSpPr>
          <p:cNvPr id="9" name="Connector 8"/>
          <p:cNvCxnSpPr/>
          <p:nvPr/>
        </p:nvCxnSpPr>
        <p:spPr>
          <a:xfrm>
            <a:off x="1310640" y="3291840"/>
            <a:ext cx="0" cy="2232660"/>
          </a:xfrm>
          <a:prstGeom prst="line">
            <a:avLst/>
          </a:prstGeom>
          <a:ln w="15240">
            <a:solidFill>
              <a:srgbClr val="C9D2D4"/>
            </a:solidFill>
            <a:prstDash val="dash"/>
          </a:ln>
          <a:effectLst/>
        </p:spPr>
      </p:cxnSp>
      <p:sp>
        <p:nvSpPr>
          <p:cNvPr id="10" name="Rounded Rectangle 9"/>
          <p:cNvSpPr/>
          <p:nvPr/>
        </p:nvSpPr>
        <p:spPr>
          <a:xfrm>
            <a:off x="373380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1" name="TextBox 10"/>
          <p:cNvSpPr txBox="1"/>
          <p:nvPr/>
        </p:nvSpPr>
        <p:spPr>
          <a:xfrm>
            <a:off x="3817619"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Scenario + relay</a:t>
            </a:r>
          </a:p>
        </p:txBody>
      </p:sp>
      <p:cxnSp>
        <p:nvCxnSpPr>
          <p:cNvPr id="12" name="Connector 11"/>
          <p:cNvCxnSpPr/>
          <p:nvPr/>
        </p:nvCxnSpPr>
        <p:spPr>
          <a:xfrm>
            <a:off x="4495800" y="3291840"/>
            <a:ext cx="0" cy="2232660"/>
          </a:xfrm>
          <a:prstGeom prst="line">
            <a:avLst/>
          </a:prstGeom>
          <a:ln w="15240">
            <a:solidFill>
              <a:srgbClr val="C9D2D4"/>
            </a:solidFill>
            <a:prstDash val="dash"/>
          </a:ln>
          <a:effectLst/>
        </p:spPr>
      </p:cxnSp>
      <p:sp>
        <p:nvSpPr>
          <p:cNvPr id="13" name="Rounded Rectangle 12"/>
          <p:cNvSpPr/>
          <p:nvPr/>
        </p:nvSpPr>
        <p:spPr>
          <a:xfrm>
            <a:off x="6918959"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4" name="TextBox 13"/>
          <p:cNvSpPr txBox="1"/>
          <p:nvPr/>
        </p:nvSpPr>
        <p:spPr>
          <a:xfrm>
            <a:off x="700278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C4 / C3 / C2</a:t>
            </a:r>
          </a:p>
        </p:txBody>
      </p:sp>
      <p:cxnSp>
        <p:nvCxnSpPr>
          <p:cNvPr id="15" name="Connector 14"/>
          <p:cNvCxnSpPr/>
          <p:nvPr/>
        </p:nvCxnSpPr>
        <p:spPr>
          <a:xfrm>
            <a:off x="7680959" y="3291840"/>
            <a:ext cx="0" cy="2232660"/>
          </a:xfrm>
          <a:prstGeom prst="line">
            <a:avLst/>
          </a:prstGeom>
          <a:ln w="15240">
            <a:solidFill>
              <a:srgbClr val="C9D2D4"/>
            </a:solidFill>
            <a:prstDash val="dash"/>
          </a:ln>
          <a:effectLst/>
        </p:spPr>
      </p:cxnSp>
      <p:sp>
        <p:nvSpPr>
          <p:cNvPr id="16" name="Rounded Rectangle 15"/>
          <p:cNvSpPr/>
          <p:nvPr/>
        </p:nvSpPr>
        <p:spPr>
          <a:xfrm>
            <a:off x="1010412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7" name="TextBox 16"/>
          <p:cNvSpPr txBox="1"/>
          <p:nvPr/>
        </p:nvSpPr>
        <p:spPr>
          <a:xfrm>
            <a:off x="1018794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Native PLN</a:t>
            </a:r>
          </a:p>
        </p:txBody>
      </p:sp>
      <p:cxnSp>
        <p:nvCxnSpPr>
          <p:cNvPr id="18" name="Connector 17"/>
          <p:cNvCxnSpPr/>
          <p:nvPr/>
        </p:nvCxnSpPr>
        <p:spPr>
          <a:xfrm>
            <a:off x="10866120" y="3291840"/>
            <a:ext cx="0" cy="2232660"/>
          </a:xfrm>
          <a:prstGeom prst="line">
            <a:avLst/>
          </a:prstGeom>
          <a:ln w="15240">
            <a:solidFill>
              <a:srgbClr val="C9D2D4"/>
            </a:solidFill>
            <a:prstDash val="dash"/>
          </a:ln>
          <a:effectLst/>
        </p:spPr>
      </p:cxnSp>
      <p:sp>
        <p:nvSpPr>
          <p:cNvPr id="19" name="Rectangle 18"/>
          <p:cNvSpPr/>
          <p:nvPr/>
        </p:nvSpPr>
        <p:spPr>
          <a:xfrm>
            <a:off x="1341120" y="3337560"/>
            <a:ext cx="3663315" cy="205740"/>
          </a:xfrm>
          <a:prstGeom prst="rect">
            <a:avLst/>
          </a:prstGeom>
          <a:solidFill>
            <a:srgbClr val="F4F2EB"/>
          </a:solidFill>
          <a:ln>
            <a:noFill/>
          </a:ln>
          <a:effectLst/>
        </p:spPr>
        <p:txBody>
          <a:bodyPr rtlCol="0" anchor="ctr"/>
          <a:lstStyle/>
          <a:p>
            <a:pPr algn="ctr"/>
          </a:p>
        </p:txBody>
      </p:sp>
      <p:sp>
        <p:nvSpPr>
          <p:cNvPr id="20" name="TextBox 19"/>
          <p:cNvSpPr txBox="1"/>
          <p:nvPr/>
        </p:nvSpPr>
        <p:spPr>
          <a:xfrm>
            <a:off x="1371600" y="3337560"/>
            <a:ext cx="1019556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Trusted actor; generated seed + preference</a:t>
            </a:r>
          </a:p>
        </p:txBody>
      </p:sp>
      <p:cxnSp>
        <p:nvCxnSpPr>
          <p:cNvPr id="21" name="Connector 20"/>
          <p:cNvCxnSpPr/>
          <p:nvPr/>
        </p:nvCxnSpPr>
        <p:spPr>
          <a:xfrm>
            <a:off x="1310640" y="3558540"/>
            <a:ext cx="3185160" cy="0"/>
          </a:xfrm>
          <a:prstGeom prst="line">
            <a:avLst/>
          </a:prstGeom>
          <a:ln w="15240">
            <a:solidFill>
              <a:srgbClr val="007C78"/>
            </a:solidFill>
          </a:ln>
          <a:effectLst/>
        </p:spPr>
      </p:cxnSp>
      <p:sp>
        <p:nvSpPr>
          <p:cNvPr id="22" name="Freeform 21"/>
          <p:cNvSpPr/>
          <p:nvPr/>
        </p:nvSpPr>
        <p:spPr>
          <a:xfrm>
            <a:off x="4396740" y="35204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3" name="Rectangle 22"/>
          <p:cNvSpPr/>
          <p:nvPr/>
        </p:nvSpPr>
        <p:spPr>
          <a:xfrm>
            <a:off x="4526280" y="3779519"/>
            <a:ext cx="3390140" cy="205740"/>
          </a:xfrm>
          <a:prstGeom prst="rect">
            <a:avLst/>
          </a:prstGeom>
          <a:solidFill>
            <a:srgbClr val="F4F2EB"/>
          </a:solidFill>
          <a:ln>
            <a:noFill/>
          </a:ln>
          <a:effectLst/>
        </p:spPr>
        <p:txBody>
          <a:bodyPr rtlCol="0" anchor="ctr"/>
          <a:lstStyle/>
          <a:p>
            <a:pPr algn="ctr"/>
          </a:p>
        </p:txBody>
      </p:sp>
      <p:sp>
        <p:nvSpPr>
          <p:cNvPr id="24" name="TextBox 23"/>
          <p:cNvSpPr txBox="1"/>
          <p:nvPr/>
        </p:nvSpPr>
        <p:spPr>
          <a:xfrm>
            <a:off x="4556760" y="3779519"/>
            <a:ext cx="70104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C1 → relay → C2; two tasks, one attempt</a:t>
            </a:r>
          </a:p>
        </p:txBody>
      </p:sp>
      <p:cxnSp>
        <p:nvCxnSpPr>
          <p:cNvPr id="25" name="Connector 24"/>
          <p:cNvCxnSpPr/>
          <p:nvPr/>
        </p:nvCxnSpPr>
        <p:spPr>
          <a:xfrm>
            <a:off x="4495800" y="4000500"/>
            <a:ext cx="3185159" cy="0"/>
          </a:xfrm>
          <a:prstGeom prst="line">
            <a:avLst/>
          </a:prstGeom>
          <a:ln w="15240">
            <a:solidFill>
              <a:srgbClr val="007C78"/>
            </a:solidFill>
          </a:ln>
          <a:effectLst/>
        </p:spPr>
      </p:cxnSp>
      <p:sp>
        <p:nvSpPr>
          <p:cNvPr id="26" name="Freeform 25"/>
          <p:cNvSpPr/>
          <p:nvPr/>
        </p:nvSpPr>
        <p:spPr>
          <a:xfrm>
            <a:off x="7581900" y="39624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7" name="Rectangle 26"/>
          <p:cNvSpPr/>
          <p:nvPr/>
        </p:nvSpPr>
        <p:spPr>
          <a:xfrm>
            <a:off x="5631180" y="4221480"/>
            <a:ext cx="3339985" cy="205740"/>
          </a:xfrm>
          <a:prstGeom prst="rect">
            <a:avLst/>
          </a:prstGeom>
          <a:solidFill>
            <a:srgbClr val="F4F2EB"/>
          </a:solidFill>
          <a:ln>
            <a:noFill/>
          </a:ln>
          <a:effectLst/>
        </p:spPr>
        <p:txBody>
          <a:bodyPr rtlCol="0" anchor="ctr"/>
          <a:lstStyle/>
          <a:p>
            <a:pPr algn="ctr"/>
          </a:p>
        </p:txBody>
      </p:sp>
      <p:sp>
        <p:nvSpPr>
          <p:cNvPr id="28" name="TextBox 27"/>
          <p:cNvSpPr txBox="1"/>
          <p:nvPr/>
        </p:nvSpPr>
        <p:spPr>
          <a:xfrm>
            <a:off x="5661660" y="4221480"/>
            <a:ext cx="59055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Reserve → C2 → actual Truth_Deduction</a:t>
            </a:r>
          </a:p>
        </p:txBody>
      </p:sp>
      <p:cxnSp>
        <p:nvCxnSpPr>
          <p:cNvPr id="29" name="Connector 28"/>
          <p:cNvCxnSpPr/>
          <p:nvPr/>
        </p:nvCxnSpPr>
        <p:spPr>
          <a:xfrm>
            <a:off x="7680959" y="4442460"/>
            <a:ext cx="3185161" cy="0"/>
          </a:xfrm>
          <a:prstGeom prst="line">
            <a:avLst/>
          </a:prstGeom>
          <a:ln w="15240">
            <a:solidFill>
              <a:srgbClr val="007C78"/>
            </a:solidFill>
          </a:ln>
          <a:effectLst/>
        </p:spPr>
      </p:cxnSp>
      <p:sp>
        <p:nvSpPr>
          <p:cNvPr id="30" name="Freeform 29"/>
          <p:cNvSpPr/>
          <p:nvPr/>
        </p:nvSpPr>
        <p:spPr>
          <a:xfrm>
            <a:off x="10767060" y="44043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31" name="Rectangle 30"/>
          <p:cNvSpPr/>
          <p:nvPr/>
        </p:nvSpPr>
        <p:spPr>
          <a:xfrm>
            <a:off x="5631180" y="4663440"/>
            <a:ext cx="3678867" cy="205740"/>
          </a:xfrm>
          <a:prstGeom prst="rect">
            <a:avLst/>
          </a:prstGeom>
          <a:solidFill>
            <a:srgbClr val="F4F2EB"/>
          </a:solidFill>
          <a:ln>
            <a:noFill/>
          </a:ln>
          <a:effectLst/>
        </p:spPr>
        <p:txBody>
          <a:bodyPr rtlCol="0" anchor="ctr"/>
          <a:lstStyle/>
          <a:p>
            <a:pPr algn="ctr"/>
          </a:p>
        </p:txBody>
      </p:sp>
      <p:sp>
        <p:nvSpPr>
          <p:cNvPr id="32" name="TextBox 31"/>
          <p:cNvSpPr txBox="1"/>
          <p:nvPr/>
        </p:nvSpPr>
        <p:spPr>
          <a:xfrm>
            <a:off x="5661660" y="4663440"/>
            <a:ext cx="59055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Proposal → admission → one feedback credit</a:t>
            </a:r>
          </a:p>
        </p:txBody>
      </p:sp>
      <p:cxnSp>
        <p:nvCxnSpPr>
          <p:cNvPr id="33" name="Connector 32"/>
          <p:cNvCxnSpPr/>
          <p:nvPr/>
        </p:nvCxnSpPr>
        <p:spPr>
          <a:xfrm flipH="1">
            <a:off x="7680959" y="4884420"/>
            <a:ext cx="3185161" cy="0"/>
          </a:xfrm>
          <a:prstGeom prst="line">
            <a:avLst/>
          </a:prstGeom>
          <a:ln w="15240">
            <a:solidFill>
              <a:srgbClr val="007C78"/>
            </a:solidFill>
          </a:ln>
          <a:effectLst/>
        </p:spPr>
      </p:cxnSp>
      <p:sp>
        <p:nvSpPr>
          <p:cNvPr id="34" name="Freeform 33"/>
          <p:cNvSpPr/>
          <p:nvPr/>
        </p:nvSpPr>
        <p:spPr>
          <a:xfrm>
            <a:off x="7680960" y="484632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35" name="Rectangle 34"/>
          <p:cNvSpPr/>
          <p:nvPr/>
        </p:nvSpPr>
        <p:spPr>
          <a:xfrm>
            <a:off x="1341120" y="5196840"/>
            <a:ext cx="3347724" cy="205740"/>
          </a:xfrm>
          <a:prstGeom prst="rect">
            <a:avLst/>
          </a:prstGeom>
          <a:solidFill>
            <a:srgbClr val="F4F2EB"/>
          </a:solidFill>
          <a:ln>
            <a:noFill/>
          </a:ln>
          <a:effectLst/>
        </p:spPr>
        <p:txBody>
          <a:bodyPr rtlCol="0" anchor="ctr"/>
          <a:lstStyle/>
          <a:p>
            <a:pPr algn="ctr"/>
          </a:p>
        </p:txBody>
      </p:sp>
      <p:sp>
        <p:nvSpPr>
          <p:cNvPr id="36" name="TextBox 35"/>
          <p:cNvSpPr txBox="1"/>
          <p:nvPr/>
        </p:nvSpPr>
        <p:spPr>
          <a:xfrm>
            <a:off x="1371600" y="5196840"/>
            <a:ext cx="1019556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Record result; return counters + receipt</a:t>
            </a:r>
          </a:p>
        </p:txBody>
      </p:sp>
      <p:cxnSp>
        <p:nvCxnSpPr>
          <p:cNvPr id="37" name="Connector 36"/>
          <p:cNvCxnSpPr/>
          <p:nvPr/>
        </p:nvCxnSpPr>
        <p:spPr>
          <a:xfrm flipH="1">
            <a:off x="1310640" y="5417820"/>
            <a:ext cx="3185160" cy="0"/>
          </a:xfrm>
          <a:prstGeom prst="line">
            <a:avLst/>
          </a:prstGeom>
          <a:ln w="15240">
            <a:solidFill>
              <a:srgbClr val="007C78"/>
            </a:solidFill>
          </a:ln>
          <a:effectLst/>
        </p:spPr>
      </p:cxnSp>
      <p:sp>
        <p:nvSpPr>
          <p:cNvPr id="38" name="Freeform 37"/>
          <p:cNvSpPr/>
          <p:nvPr/>
        </p:nvSpPr>
        <p:spPr>
          <a:xfrm>
            <a:off x="1310640" y="537972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39" name="Rounded Rectangle 38"/>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0" name="TextBox 39"/>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One private episode: 10 generated observations + action + result. Public receipt contains no private trace.</a:t>
            </a:r>
          </a:p>
        </p:txBody>
      </p:sp>
      <p:cxnSp>
        <p:nvCxnSpPr>
          <p:cNvPr id="41" name="Connector 40"/>
          <p:cNvCxnSpPr/>
          <p:nvPr/>
        </p:nvCxnSpPr>
        <p:spPr>
          <a:xfrm>
            <a:off x="548640" y="6393180"/>
            <a:ext cx="11094720" cy="0"/>
          </a:xfrm>
          <a:prstGeom prst="line">
            <a:avLst/>
          </a:prstGeom>
          <a:ln w="7620">
            <a:solidFill>
              <a:srgbClr val="C9D2D4"/>
            </a:solidFill>
          </a:ln>
          <a:effectLst/>
        </p:spPr>
      </p:cxnSp>
      <p:sp>
        <p:nvSpPr>
          <p:cNvPr id="42" name="TextBox 4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inference_program/program.py · test_m3_integration.py</a:t>
            </a:r>
          </a:p>
        </p:txBody>
      </p:sp>
      <p:sp>
        <p:nvSpPr>
          <p:cNvPr id="43" name="TextBox 4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M3.1 ACTUAL CALLER PROGRESS</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Native Hive exposes execution and closure separately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infer-generated → restart → reconcile-generated(original_command, limit)</a:t>
            </a:r>
          </a:p>
        </p:txBody>
      </p:sp>
      <p:sp>
        <p:nvSpPr>
          <p:cNvPr id="5" name="Rounded Rectangle 4"/>
          <p:cNvSpPr/>
          <p:nvPr/>
        </p:nvSpPr>
        <p:spPr>
          <a:xfrm>
            <a:off x="548640" y="1905000"/>
            <a:ext cx="5364480" cy="1836420"/>
          </a:xfrm>
          <a:prstGeom prst="roundRect">
            <a:avLst>
              <a:gd name="adj" fmla="val 5394"/>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Original execution · immutable</a:t>
            </a:r>
          </a:p>
        </p:txBody>
      </p:sp>
      <p:sp>
        <p:nvSpPr>
          <p:cNvPr id="7" name="TextBox 6"/>
          <p:cNvSpPr txBox="1"/>
          <p:nvPr/>
        </p:nvSpPr>
        <p:spPr>
          <a:xfrm>
            <a:off x="716280" y="24512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One examined candidate</a:t>
            </a:r>
          </a:p>
        </p:txBody>
      </p:sp>
      <p:sp>
        <p:nvSpPr>
          <p:cNvPr id="8" name="TextBox 7"/>
          <p:cNvSpPr txBox="1"/>
          <p:nvPr/>
        </p:nvSpPr>
        <p:spPr>
          <a:xfrm>
            <a:off x="716280" y="27145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One reserved / completed attempt</a:t>
            </a:r>
          </a:p>
        </p:txBody>
      </p:sp>
      <p:sp>
        <p:nvSpPr>
          <p:cNvPr id="9" name="TextBox 8"/>
          <p:cNvSpPr txBox="1"/>
          <p:nvPr/>
        </p:nvSpPr>
        <p:spPr>
          <a:xfrm>
            <a:off x="716280" y="2977896"/>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One unique admission · zero feedback applied</a:t>
            </a:r>
          </a:p>
        </p:txBody>
      </p:sp>
      <p:sp>
        <p:nvSpPr>
          <p:cNvPr id="10" name="Rounded Rectangle 9"/>
          <p:cNvSpPr/>
          <p:nvPr/>
        </p:nvSpPr>
        <p:spPr>
          <a:xfrm>
            <a:off x="6278880" y="1905000"/>
            <a:ext cx="5364480" cy="1836420"/>
          </a:xfrm>
          <a:prstGeom prst="roundRect">
            <a:avLst>
              <a:gd name="adj" fmla="val 5394"/>
            </a:avLst>
          </a:prstGeom>
          <a:solidFill>
            <a:srgbClr val="DCEFE8"/>
          </a:solidFill>
          <a:ln w="7620">
            <a:solidFill>
              <a:srgbClr val="007C78"/>
            </a:solidFill>
          </a:ln>
          <a:effectLst/>
        </p:spPr>
        <p:txBody>
          <a:bodyPr rtlCol="0" anchor="ctr"/>
          <a:lstStyle/>
          <a:p>
            <a:pPr algn="ctr"/>
          </a:p>
        </p:txBody>
      </p:sp>
      <p:sp>
        <p:nvSpPr>
          <p:cNvPr id="11" name="TextBox 10"/>
          <p:cNvSpPr txBox="1"/>
          <p:nvPr/>
        </p:nvSpPr>
        <p:spPr>
          <a:xfrm>
            <a:off x="644652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Later closure · versioned</a:t>
            </a:r>
          </a:p>
        </p:txBody>
      </p:sp>
      <p:sp>
        <p:nvSpPr>
          <p:cNvPr id="12" name="TextBox 11"/>
          <p:cNvSpPr txBox="1"/>
          <p:nvPr/>
        </p:nvSpPr>
        <p:spPr>
          <a:xfrm>
            <a:off x="6446520" y="24512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Same original result and counters</a:t>
            </a:r>
          </a:p>
        </p:txBody>
      </p:sp>
      <p:sp>
        <p:nvSpPr>
          <p:cNvPr id="13" name="TextBox 12"/>
          <p:cNvSpPr txBox="1"/>
          <p:nvPr/>
        </p:nvSpPr>
        <p:spPr>
          <a:xfrm>
            <a:off x="6446520" y="27145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Evidence backlog and feedback outcomes</a:t>
            </a:r>
          </a:p>
        </p:txBody>
      </p:sp>
      <p:sp>
        <p:nvSpPr>
          <p:cNvPr id="14" name="TextBox 13"/>
          <p:cNvSpPr txBox="1"/>
          <p:nvPr/>
        </p:nvSpPr>
        <p:spPr>
          <a:xfrm>
            <a:off x="6446520" y="2977896"/>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Stale feedback retired without credit</a:t>
            </a:r>
          </a:p>
        </p:txBody>
      </p:sp>
      <p:cxnSp>
        <p:nvCxnSpPr>
          <p:cNvPr id="15" name="Connector 14"/>
          <p:cNvCxnSpPr/>
          <p:nvPr/>
        </p:nvCxnSpPr>
        <p:spPr>
          <a:xfrm>
            <a:off x="5913120" y="2819400"/>
            <a:ext cx="365760" cy="0"/>
          </a:xfrm>
          <a:prstGeom prst="line">
            <a:avLst/>
          </a:prstGeom>
          <a:ln w="15240">
            <a:solidFill>
              <a:srgbClr val="007C78"/>
            </a:solidFill>
          </a:ln>
          <a:effectLst/>
        </p:spPr>
      </p:cxnSp>
      <p:sp>
        <p:nvSpPr>
          <p:cNvPr id="16" name="Freeform 15"/>
          <p:cNvSpPr/>
          <p:nvPr/>
        </p:nvSpPr>
        <p:spPr>
          <a:xfrm>
            <a:off x="6179820" y="27813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7" name="Rounded Rectangle 16"/>
          <p:cNvSpPr/>
          <p:nvPr/>
        </p:nvSpPr>
        <p:spPr>
          <a:xfrm>
            <a:off x="548640" y="4076700"/>
            <a:ext cx="5364480" cy="1508760"/>
          </a:xfrm>
          <a:prstGeom prst="roundRect">
            <a:avLst>
              <a:gd name="adj" fmla="val 6565"/>
            </a:avLst>
          </a:prstGeom>
          <a:solidFill>
            <a:srgbClr val="FFFFFF"/>
          </a:solidFill>
          <a:ln w="7620">
            <a:solidFill>
              <a:srgbClr val="007C78"/>
            </a:solidFill>
          </a:ln>
          <a:effectLst/>
        </p:spPr>
        <p:txBody>
          <a:bodyPr rtlCol="0" anchor="ctr"/>
          <a:lstStyle/>
          <a:p>
            <a:pPr algn="ctr"/>
          </a:p>
        </p:txBody>
      </p:sp>
      <p:sp>
        <p:nvSpPr>
          <p:cNvPr id="18" name="TextBox 17"/>
          <p:cNvSpPr txBox="1"/>
          <p:nvPr/>
        </p:nvSpPr>
        <p:spPr>
          <a:xfrm>
            <a:off x="716280" y="424434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Lost reply after feedback applied</a:t>
            </a:r>
          </a:p>
        </p:txBody>
      </p:sp>
      <p:sp>
        <p:nvSpPr>
          <p:cNvPr id="19" name="TextBox 18"/>
          <p:cNvSpPr txBox="1"/>
          <p:nvPr/>
        </p:nvSpPr>
        <p:spPr>
          <a:xfrm>
            <a:off x="716280" y="4603394"/>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Recover the original receipt after expiry or</a:t>
            </a:r>
          </a:p>
        </p:txBody>
      </p:sp>
      <p:sp>
        <p:nvSpPr>
          <p:cNvPr id="20" name="TextBox 19"/>
          <p:cNvSpPr txBox="1"/>
          <p:nvPr/>
        </p:nvSpPr>
        <p:spPr>
          <a:xfrm>
            <a:off x="716280" y="486674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decay, even when current STI has reached zero.</a:t>
            </a:r>
          </a:p>
        </p:txBody>
      </p:sp>
      <p:sp>
        <p:nvSpPr>
          <p:cNvPr id="21" name="Rounded Rectangle 20"/>
          <p:cNvSpPr/>
          <p:nvPr/>
        </p:nvSpPr>
        <p:spPr>
          <a:xfrm>
            <a:off x="6278880" y="4076700"/>
            <a:ext cx="5364480" cy="1508760"/>
          </a:xfrm>
          <a:prstGeom prst="roundRect">
            <a:avLst>
              <a:gd name="adj" fmla="val 6565"/>
            </a:avLst>
          </a:prstGeom>
          <a:solidFill>
            <a:srgbClr val="F3E7CE"/>
          </a:solidFill>
          <a:ln w="7620">
            <a:solidFill>
              <a:srgbClr val="A86A15"/>
            </a:solidFill>
          </a:ln>
          <a:effectLst/>
        </p:spPr>
        <p:txBody>
          <a:bodyPr rtlCol="0" anchor="ctr"/>
          <a:lstStyle/>
          <a:p>
            <a:pPr algn="ctr"/>
          </a:p>
        </p:txBody>
      </p:sp>
      <p:sp>
        <p:nvSpPr>
          <p:cNvPr id="22" name="TextBox 21"/>
          <p:cNvSpPr txBox="1"/>
          <p:nvPr/>
        </p:nvSpPr>
        <p:spPr>
          <a:xfrm>
            <a:off x="6446520" y="424434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Expired before execution</a:t>
            </a:r>
          </a:p>
        </p:txBody>
      </p:sp>
      <p:sp>
        <p:nvSpPr>
          <p:cNvPr id="23" name="TextBox 22"/>
          <p:cNvSpPr txBox="1"/>
          <p:nvPr/>
        </p:nvSpPr>
        <p:spPr>
          <a:xfrm>
            <a:off x="6446520" y="4603394"/>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Hive can finish the action with zero admissions</a:t>
            </a:r>
          </a:p>
        </p:txBody>
      </p:sp>
      <p:sp>
        <p:nvSpPr>
          <p:cNvPr id="24" name="TextBox 23"/>
          <p:cNvSpPr txBox="1"/>
          <p:nvPr/>
        </p:nvSpPr>
        <p:spPr>
          <a:xfrm>
            <a:off x="6446520" y="486674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zero reservations. Those counts stay</a:t>
            </a:r>
          </a:p>
        </p:txBody>
      </p:sp>
      <p:sp>
        <p:nvSpPr>
          <p:cNvPr id="25" name="TextBox 24"/>
          <p:cNvSpPr txBox="1"/>
          <p:nvPr/>
        </p:nvSpPr>
        <p:spPr>
          <a:xfrm>
            <a:off x="6446520" y="513008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explicit.</a:t>
            </a:r>
          </a:p>
        </p:txBody>
      </p:sp>
      <p:sp>
        <p:nvSpPr>
          <p:cNvPr id="26" name="Rounded Rectangle 2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7" name="TextBox 26"/>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Public done / committed means the action returned. Detail reports execution, evidence and feedback closure.</a:t>
            </a:r>
          </a:p>
        </p:txBody>
      </p:sp>
      <p:cxnSp>
        <p:nvCxnSpPr>
          <p:cNvPr id="28" name="Connector 27"/>
          <p:cNvCxnSpPr/>
          <p:nvPr/>
        </p:nvCxnSpPr>
        <p:spPr>
          <a:xfrm>
            <a:off x="548640" y="6393180"/>
            <a:ext cx="11094720" cy="0"/>
          </a:xfrm>
          <a:prstGeom prst="line">
            <a:avLst/>
          </a:prstGeom>
          <a:ln w="7620">
            <a:solidFill>
              <a:srgbClr val="C9D2D4"/>
            </a:solidFill>
          </a:ln>
          <a:effectLst/>
        </p:spPr>
      </p:cxnSp>
      <p:sp>
        <p:nvSpPr>
          <p:cNvPr id="29" name="TextBox 2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inference_program/program.py · test_m3_1_integration.py</a:t>
            </a:r>
          </a:p>
        </p:txBody>
      </p:sp>
      <p:sp>
        <p:nvSpPr>
          <p:cNvPr id="30" name="TextBox 2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DEMONSTRATED BEHAVIOR</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The same one-attempt budget makes attention visible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Two eligible tasks have exact premises. Initial STI selects which one can consume the attempt.</a:t>
            </a:r>
          </a:p>
        </p:txBody>
      </p:sp>
      <p:sp>
        <p:nvSpPr>
          <p:cNvPr id="5" name="Rounded Rectangle 4"/>
          <p:cNvSpPr/>
          <p:nvPr/>
        </p:nvSpPr>
        <p:spPr>
          <a:xfrm>
            <a:off x="548640" y="1905000"/>
            <a:ext cx="5364480" cy="2872740"/>
          </a:xfrm>
          <a:prstGeom prst="roundRect">
            <a:avLst>
              <a:gd name="adj" fmla="val 3713"/>
            </a:avLst>
          </a:prstGeom>
          <a:solidFill>
            <a:srgbClr val="FFFFFF"/>
          </a:solidFill>
          <a:ln w="7620">
            <a:solidFill>
              <a:srgbClr val="C9D2D4"/>
            </a:solidFill>
          </a:ln>
          <a:effectLst/>
        </p:spPr>
        <p:txBody>
          <a:bodyPr rtlCol="0" anchor="ctr"/>
          <a:lstStyle/>
          <a:p>
            <a:pPr algn="ctr"/>
          </a:p>
        </p:txBody>
      </p:sp>
      <p:sp>
        <p:nvSpPr>
          <p:cNvPr id="6" name="TextBox 5"/>
          <p:cNvSpPr txBox="1"/>
          <p:nvPr/>
        </p:nvSpPr>
        <p:spPr>
          <a:xfrm>
            <a:off x="746760" y="2110740"/>
            <a:ext cx="4953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102B3F"/>
                </a:solidFill>
                <a:latin typeface="DejaVu Sans"/>
              </a:rPr>
              <a:t>Prefer task A</a:t>
            </a:r>
          </a:p>
        </p:txBody>
      </p:sp>
      <p:sp>
        <p:nvSpPr>
          <p:cNvPr id="7" name="TextBox 6"/>
          <p:cNvSpPr txBox="1"/>
          <p:nvPr/>
        </p:nvSpPr>
        <p:spPr>
          <a:xfrm>
            <a:off x="777240" y="2842260"/>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a:t>
            </a:r>
          </a:p>
        </p:txBody>
      </p:sp>
      <p:sp>
        <p:nvSpPr>
          <p:cNvPr id="8" name="Rounded Rectangle 7"/>
          <p:cNvSpPr/>
          <p:nvPr/>
        </p:nvSpPr>
        <p:spPr>
          <a:xfrm>
            <a:off x="1386840" y="2781300"/>
            <a:ext cx="3200400" cy="426720"/>
          </a:xfrm>
          <a:prstGeom prst="roundRect">
            <a:avLst>
              <a:gd name="adj" fmla="val 12500"/>
            </a:avLst>
          </a:prstGeom>
          <a:solidFill>
            <a:srgbClr val="E4EBF5"/>
          </a:solidFill>
          <a:ln>
            <a:noFill/>
          </a:ln>
          <a:effectLst/>
        </p:spPr>
        <p:txBody>
          <a:bodyPr rtlCol="0" anchor="ctr"/>
          <a:lstStyle/>
          <a:p>
            <a:pPr algn="ctr"/>
          </a:p>
        </p:txBody>
      </p:sp>
      <p:sp>
        <p:nvSpPr>
          <p:cNvPr id="9" name="TextBox 8"/>
          <p:cNvSpPr txBox="1"/>
          <p:nvPr/>
        </p:nvSpPr>
        <p:spPr>
          <a:xfrm>
            <a:off x="1493520" y="285750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20</a:t>
            </a:r>
          </a:p>
        </p:txBody>
      </p:sp>
      <p:sp>
        <p:nvSpPr>
          <p:cNvPr id="10" name="TextBox 9"/>
          <p:cNvSpPr txBox="1"/>
          <p:nvPr/>
        </p:nvSpPr>
        <p:spPr>
          <a:xfrm>
            <a:off x="777240" y="3512819"/>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B</a:t>
            </a:r>
          </a:p>
        </p:txBody>
      </p:sp>
      <p:sp>
        <p:nvSpPr>
          <p:cNvPr id="11" name="Rounded Rectangle 10"/>
          <p:cNvSpPr/>
          <p:nvPr/>
        </p:nvSpPr>
        <p:spPr>
          <a:xfrm>
            <a:off x="1386840" y="3451860"/>
            <a:ext cx="1600200" cy="426720"/>
          </a:xfrm>
          <a:prstGeom prst="roundRect">
            <a:avLst>
              <a:gd name="adj" fmla="val 12500"/>
            </a:avLst>
          </a:prstGeom>
          <a:solidFill>
            <a:srgbClr val="DCEFE8"/>
          </a:solidFill>
          <a:ln>
            <a:noFill/>
          </a:ln>
          <a:effectLst/>
        </p:spPr>
        <p:txBody>
          <a:bodyPr rtlCol="0" anchor="ctr"/>
          <a:lstStyle/>
          <a:p>
            <a:pPr algn="ctr"/>
          </a:p>
        </p:txBody>
      </p:sp>
      <p:sp>
        <p:nvSpPr>
          <p:cNvPr id="12" name="TextBox 11"/>
          <p:cNvSpPr txBox="1"/>
          <p:nvPr/>
        </p:nvSpPr>
        <p:spPr>
          <a:xfrm>
            <a:off x="1493520" y="352806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10</a:t>
            </a:r>
          </a:p>
        </p:txBody>
      </p:sp>
      <p:sp>
        <p:nvSpPr>
          <p:cNvPr id="13" name="TextBox 12"/>
          <p:cNvSpPr txBox="1"/>
          <p:nvPr/>
        </p:nvSpPr>
        <p:spPr>
          <a:xfrm>
            <a:off x="762000" y="4229100"/>
            <a:ext cx="49530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First attempt → A</a:t>
            </a:r>
          </a:p>
        </p:txBody>
      </p:sp>
      <p:sp>
        <p:nvSpPr>
          <p:cNvPr id="14" name="Rounded Rectangle 13"/>
          <p:cNvSpPr/>
          <p:nvPr/>
        </p:nvSpPr>
        <p:spPr>
          <a:xfrm>
            <a:off x="6278880" y="1905000"/>
            <a:ext cx="5364480" cy="2872740"/>
          </a:xfrm>
          <a:prstGeom prst="roundRect">
            <a:avLst>
              <a:gd name="adj" fmla="val 3713"/>
            </a:avLst>
          </a:prstGeom>
          <a:solidFill>
            <a:srgbClr val="FFFFFF"/>
          </a:solidFill>
          <a:ln w="7620">
            <a:solidFill>
              <a:srgbClr val="C9D2D4"/>
            </a:solidFill>
          </a:ln>
          <a:effectLst/>
        </p:spPr>
        <p:txBody>
          <a:bodyPr rtlCol="0" anchor="ctr"/>
          <a:lstStyle/>
          <a:p>
            <a:pPr algn="ctr"/>
          </a:p>
        </p:txBody>
      </p:sp>
      <p:sp>
        <p:nvSpPr>
          <p:cNvPr id="15" name="TextBox 14"/>
          <p:cNvSpPr txBox="1"/>
          <p:nvPr/>
        </p:nvSpPr>
        <p:spPr>
          <a:xfrm>
            <a:off x="6477000" y="2110740"/>
            <a:ext cx="4953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102B3F"/>
                </a:solidFill>
                <a:latin typeface="DejaVu Sans"/>
              </a:rPr>
              <a:t>Prefer task B</a:t>
            </a:r>
          </a:p>
        </p:txBody>
      </p:sp>
      <p:sp>
        <p:nvSpPr>
          <p:cNvPr id="16" name="TextBox 15"/>
          <p:cNvSpPr txBox="1"/>
          <p:nvPr/>
        </p:nvSpPr>
        <p:spPr>
          <a:xfrm>
            <a:off x="6507480" y="2842260"/>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a:t>
            </a:r>
          </a:p>
        </p:txBody>
      </p:sp>
      <p:sp>
        <p:nvSpPr>
          <p:cNvPr id="17" name="Rounded Rectangle 16"/>
          <p:cNvSpPr/>
          <p:nvPr/>
        </p:nvSpPr>
        <p:spPr>
          <a:xfrm>
            <a:off x="7117080" y="2781300"/>
            <a:ext cx="1600200" cy="426720"/>
          </a:xfrm>
          <a:prstGeom prst="roundRect">
            <a:avLst>
              <a:gd name="adj" fmla="val 12500"/>
            </a:avLst>
          </a:prstGeom>
          <a:solidFill>
            <a:srgbClr val="E4EBF5"/>
          </a:solidFill>
          <a:ln>
            <a:noFill/>
          </a:ln>
          <a:effectLst/>
        </p:spPr>
        <p:txBody>
          <a:bodyPr rtlCol="0" anchor="ctr"/>
          <a:lstStyle/>
          <a:p>
            <a:pPr algn="ctr"/>
          </a:p>
        </p:txBody>
      </p:sp>
      <p:sp>
        <p:nvSpPr>
          <p:cNvPr id="18" name="TextBox 17"/>
          <p:cNvSpPr txBox="1"/>
          <p:nvPr/>
        </p:nvSpPr>
        <p:spPr>
          <a:xfrm>
            <a:off x="7223759" y="285750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10</a:t>
            </a:r>
          </a:p>
        </p:txBody>
      </p:sp>
      <p:sp>
        <p:nvSpPr>
          <p:cNvPr id="19" name="TextBox 18"/>
          <p:cNvSpPr txBox="1"/>
          <p:nvPr/>
        </p:nvSpPr>
        <p:spPr>
          <a:xfrm>
            <a:off x="6507480" y="3512819"/>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B</a:t>
            </a:r>
          </a:p>
        </p:txBody>
      </p:sp>
      <p:sp>
        <p:nvSpPr>
          <p:cNvPr id="20" name="Rounded Rectangle 19"/>
          <p:cNvSpPr/>
          <p:nvPr/>
        </p:nvSpPr>
        <p:spPr>
          <a:xfrm>
            <a:off x="7117080" y="3451860"/>
            <a:ext cx="3200400" cy="426720"/>
          </a:xfrm>
          <a:prstGeom prst="roundRect">
            <a:avLst>
              <a:gd name="adj" fmla="val 12500"/>
            </a:avLst>
          </a:prstGeom>
          <a:solidFill>
            <a:srgbClr val="DCEFE8"/>
          </a:solidFill>
          <a:ln>
            <a:noFill/>
          </a:ln>
          <a:effectLst/>
        </p:spPr>
        <p:txBody>
          <a:bodyPr rtlCol="0" anchor="ctr"/>
          <a:lstStyle/>
          <a:p>
            <a:pPr algn="ctr"/>
          </a:p>
        </p:txBody>
      </p:sp>
      <p:sp>
        <p:nvSpPr>
          <p:cNvPr id="21" name="TextBox 20"/>
          <p:cNvSpPr txBox="1"/>
          <p:nvPr/>
        </p:nvSpPr>
        <p:spPr>
          <a:xfrm>
            <a:off x="7223759" y="352806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20</a:t>
            </a:r>
          </a:p>
        </p:txBody>
      </p:sp>
      <p:sp>
        <p:nvSpPr>
          <p:cNvPr id="22" name="TextBox 21"/>
          <p:cNvSpPr txBox="1"/>
          <p:nvPr/>
        </p:nvSpPr>
        <p:spPr>
          <a:xfrm>
            <a:off x="6492240" y="4229100"/>
            <a:ext cx="49530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First attempt → B</a:t>
            </a:r>
          </a:p>
        </p:txBody>
      </p:sp>
      <p:sp>
        <p:nvSpPr>
          <p:cNvPr id="23" name="TextBox 22"/>
          <p:cNvSpPr txBox="1"/>
          <p:nvPr/>
        </p:nvSpPr>
        <p:spPr>
          <a:xfrm>
            <a:off x="594360" y="5143500"/>
            <a:ext cx="10972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Both attention providers preserve this effect; replay adds no native call and no second credit.</a:t>
            </a:r>
          </a:p>
        </p:txBody>
      </p:sp>
      <p:sp>
        <p:nvSpPr>
          <p:cNvPr id="24" name="Rounded Rectangle 2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5" name="TextBox 24"/>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Attention changes scheduling. It does not alter premise truth values or manufacture independent evidence.</a:t>
            </a:r>
          </a:p>
        </p:txBody>
      </p:sp>
      <p:cxnSp>
        <p:nvCxnSpPr>
          <p:cNvPr id="26" name="Connector 25"/>
          <p:cNvCxnSpPr/>
          <p:nvPr/>
        </p:nvCxnSpPr>
        <p:spPr>
          <a:xfrm>
            <a:off x="548640" y="6393180"/>
            <a:ext cx="11094720" cy="0"/>
          </a:xfrm>
          <a:prstGeom prst="line">
            <a:avLst/>
          </a:prstGeom>
          <a:ln w="7620">
            <a:solidFill>
              <a:srgbClr val="C9D2D4"/>
            </a:solidFill>
          </a:ln>
          <a:effectLst/>
        </p:spPr>
      </p:cxnSp>
      <p:sp>
        <p:nvSpPr>
          <p:cNvPr id="27" name="TextBox 2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m3/final/comparison.json · native Hive scenario</a:t>
            </a:r>
          </a:p>
        </p:txBody>
      </p:sp>
      <p:sp>
        <p:nvSpPr>
          <p:cNvPr id="28" name="TextBox 2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EVIDENCE CLASSIFICATION</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Real providers and fixtures remain visibly separate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real runtime can execute generated inputs. Each claim carries its own evidence label.</a:t>
            </a:r>
          </a:p>
        </p:txBody>
      </p:sp>
      <p:sp>
        <p:nvSpPr>
          <p:cNvPr id="5" name="TextBox 4"/>
          <p:cNvSpPr txBox="1"/>
          <p:nvPr/>
        </p:nvSpPr>
        <p:spPr>
          <a:xfrm>
            <a:off x="670560" y="1790700"/>
            <a:ext cx="2118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CLASSIFICATION</a:t>
            </a:r>
          </a:p>
        </p:txBody>
      </p:sp>
      <p:sp>
        <p:nvSpPr>
          <p:cNvPr id="6" name="TextBox 5"/>
          <p:cNvSpPr txBox="1"/>
          <p:nvPr/>
        </p:nvSpPr>
        <p:spPr>
          <a:xfrm>
            <a:off x="3032760" y="1790700"/>
            <a:ext cx="4709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EXERCISED COMPONENTS</a:t>
            </a:r>
          </a:p>
        </p:txBody>
      </p:sp>
      <p:sp>
        <p:nvSpPr>
          <p:cNvPr id="7" name="TextBox 6"/>
          <p:cNvSpPr txBox="1"/>
          <p:nvPr/>
        </p:nvSpPr>
        <p:spPr>
          <a:xfrm>
            <a:off x="7985759" y="1790700"/>
            <a:ext cx="35356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WHAT THE RESULT SUPPORTS</a:t>
            </a:r>
          </a:p>
        </p:txBody>
      </p:sp>
      <p:sp>
        <p:nvSpPr>
          <p:cNvPr id="8" name="Rounded Rectangle 7"/>
          <p:cNvSpPr/>
          <p:nvPr/>
        </p:nvSpPr>
        <p:spPr>
          <a:xfrm>
            <a:off x="548640" y="2110740"/>
            <a:ext cx="11094720" cy="845819"/>
          </a:xfrm>
          <a:prstGeom prst="roundRect">
            <a:avLst>
              <a:gd name="adj" fmla="val 5405"/>
            </a:avLst>
          </a:prstGeom>
          <a:solidFill>
            <a:srgbClr val="FFFFFF"/>
          </a:solidFill>
          <a:ln>
            <a:noFill/>
          </a:ln>
          <a:effectLst/>
        </p:spPr>
        <p:txBody>
          <a:bodyPr rtlCol="0" anchor="ctr"/>
          <a:lstStyle/>
          <a:p>
            <a:pPr algn="ctr"/>
          </a:p>
        </p:txBody>
      </p:sp>
      <p:sp>
        <p:nvSpPr>
          <p:cNvPr id="9" name="TextBox 8"/>
          <p:cNvSpPr txBox="1"/>
          <p:nvPr/>
        </p:nvSpPr>
        <p:spPr>
          <a:xfrm>
            <a:off x="670560" y="2240280"/>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REAL PROVIDERS</a:t>
            </a:r>
          </a:p>
        </p:txBody>
      </p:sp>
      <p:sp>
        <p:nvSpPr>
          <p:cNvPr id="10" name="TextBox 9"/>
          <p:cNvSpPr txBox="1"/>
          <p:nvPr/>
        </p:nvSpPr>
        <p:spPr>
          <a:xfrm>
            <a:off x="3032760" y="2240280"/>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SQLite STI · local DeTTa · pinned native PLN</a:t>
            </a:r>
          </a:p>
        </p:txBody>
      </p:sp>
      <p:sp>
        <p:nvSpPr>
          <p:cNvPr id="11" name="TextBox 10"/>
          <p:cNvSpPr txBox="1"/>
          <p:nvPr/>
        </p:nvSpPr>
        <p:spPr>
          <a:xfrm>
            <a:off x="3032760" y="247436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Actual Hive Programs / Supervisor / PeTTa</a:t>
            </a:r>
          </a:p>
        </p:txBody>
      </p:sp>
      <p:sp>
        <p:nvSpPr>
          <p:cNvPr id="12" name="TextBox 11"/>
          <p:cNvSpPr txBox="1"/>
          <p:nvPr/>
        </p:nvSpPr>
        <p:spPr>
          <a:xfrm>
            <a:off x="7985759" y="224028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Native calls, owner persistence and</a:t>
            </a:r>
          </a:p>
        </p:txBody>
      </p:sp>
      <p:sp>
        <p:nvSpPr>
          <p:cNvPr id="13" name="TextBox 12"/>
          <p:cNvSpPr txBox="1"/>
          <p:nvPr/>
        </p:nvSpPr>
        <p:spPr>
          <a:xfrm>
            <a:off x="7985759" y="247436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tested runtime integration</a:t>
            </a:r>
          </a:p>
        </p:txBody>
      </p:sp>
      <p:sp>
        <p:nvSpPr>
          <p:cNvPr id="14" name="Rounded Rectangle 13"/>
          <p:cNvSpPr/>
          <p:nvPr/>
        </p:nvSpPr>
        <p:spPr>
          <a:xfrm>
            <a:off x="548640" y="2994660"/>
            <a:ext cx="11094720" cy="845819"/>
          </a:xfrm>
          <a:prstGeom prst="roundRect">
            <a:avLst>
              <a:gd name="adj" fmla="val 5405"/>
            </a:avLst>
          </a:prstGeom>
          <a:solidFill>
            <a:srgbClr val="FFFFFF"/>
          </a:solidFill>
          <a:ln>
            <a:noFill/>
          </a:ln>
          <a:effectLst/>
        </p:spPr>
        <p:txBody>
          <a:bodyPr rtlCol="0" anchor="ctr"/>
          <a:lstStyle/>
          <a:p>
            <a:pPr algn="ctr"/>
          </a:p>
        </p:txBody>
      </p:sp>
      <p:sp>
        <p:nvSpPr>
          <p:cNvPr id="15" name="TextBox 14"/>
          <p:cNvSpPr txBox="1"/>
          <p:nvPr/>
        </p:nvSpPr>
        <p:spPr>
          <a:xfrm>
            <a:off x="670560" y="3124200"/>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FIXTURES</a:t>
            </a:r>
          </a:p>
        </p:txBody>
      </p:sp>
      <p:sp>
        <p:nvSpPr>
          <p:cNvPr id="16" name="TextBox 15"/>
          <p:cNvSpPr txBox="1"/>
          <p:nvPr/>
        </p:nvSpPr>
        <p:spPr>
          <a:xfrm>
            <a:off x="3032760" y="3124200"/>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Generated tasks, observations, authority policy</a:t>
            </a:r>
          </a:p>
        </p:txBody>
      </p:sp>
      <p:sp>
        <p:nvSpPr>
          <p:cNvPr id="17" name="TextBox 16"/>
          <p:cNvSpPr txBox="1"/>
          <p:nvPr/>
        </p:nvSpPr>
        <p:spPr>
          <a:xfrm>
            <a:off x="3032760" y="335828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Independent atomic-file attention; guard/fault</a:t>
            </a:r>
          </a:p>
        </p:txBody>
      </p:sp>
      <p:sp>
        <p:nvSpPr>
          <p:cNvPr id="18" name="TextBox 17"/>
          <p:cNvSpPr txBox="1"/>
          <p:nvPr/>
        </p:nvSpPr>
        <p:spPr>
          <a:xfrm>
            <a:off x="3032760" y="3592372"/>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inputs</a:t>
            </a:r>
          </a:p>
        </p:txBody>
      </p:sp>
      <p:sp>
        <p:nvSpPr>
          <p:cNvPr id="19" name="TextBox 18"/>
          <p:cNvSpPr txBox="1"/>
          <p:nvPr/>
        </p:nvSpPr>
        <p:spPr>
          <a:xfrm>
            <a:off x="7985759" y="312420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Conformance, controlled replacement</a:t>
            </a:r>
          </a:p>
        </p:txBody>
      </p:sp>
      <p:sp>
        <p:nvSpPr>
          <p:cNvPr id="20" name="TextBox 19"/>
          <p:cNvSpPr txBox="1"/>
          <p:nvPr/>
        </p:nvSpPr>
        <p:spPr>
          <a:xfrm>
            <a:off x="7985759" y="335828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and deliberate refusal behavior</a:t>
            </a:r>
          </a:p>
        </p:txBody>
      </p:sp>
      <p:sp>
        <p:nvSpPr>
          <p:cNvPr id="21" name="Rounded Rectangle 20"/>
          <p:cNvSpPr/>
          <p:nvPr/>
        </p:nvSpPr>
        <p:spPr>
          <a:xfrm>
            <a:off x="548640" y="3878579"/>
            <a:ext cx="11094720" cy="845819"/>
          </a:xfrm>
          <a:prstGeom prst="roundRect">
            <a:avLst>
              <a:gd name="adj" fmla="val 5405"/>
            </a:avLst>
          </a:prstGeom>
          <a:solidFill>
            <a:srgbClr val="FFFFFF"/>
          </a:solidFill>
          <a:ln>
            <a:noFill/>
          </a:ln>
          <a:effectLst/>
        </p:spPr>
        <p:txBody>
          <a:bodyPr rtlCol="0" anchor="ctr"/>
          <a:lstStyle/>
          <a:p>
            <a:pPr algn="ctr"/>
          </a:p>
        </p:txBody>
      </p:sp>
      <p:sp>
        <p:nvSpPr>
          <p:cNvPr id="22" name="TextBox 21"/>
          <p:cNvSpPr txBox="1"/>
          <p:nvPr/>
        </p:nvSpPr>
        <p:spPr>
          <a:xfrm>
            <a:off x="670560" y="4008119"/>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BLOCKED</a:t>
            </a:r>
          </a:p>
        </p:txBody>
      </p:sp>
      <p:sp>
        <p:nvSpPr>
          <p:cNvPr id="23" name="TextBox 22"/>
          <p:cNvSpPr txBox="1"/>
          <p:nvPr/>
        </p:nvSpPr>
        <p:spPr>
          <a:xfrm>
            <a:off x="3032760" y="4008119"/>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None for supported M3.1 prerequisites</a:t>
            </a:r>
          </a:p>
        </p:txBody>
      </p:sp>
      <p:sp>
        <p:nvSpPr>
          <p:cNvPr id="24" name="TextBox 23"/>
          <p:cNvSpPr txBox="1"/>
          <p:nvPr/>
        </p:nvSpPr>
        <p:spPr>
          <a:xfrm>
            <a:off x="3032760" y="424220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Historical exact chain source unavailable</a:t>
            </a:r>
          </a:p>
        </p:txBody>
      </p:sp>
      <p:sp>
        <p:nvSpPr>
          <p:cNvPr id="25" name="TextBox 24"/>
          <p:cNvSpPr txBox="1"/>
          <p:nvPr/>
        </p:nvSpPr>
        <p:spPr>
          <a:xfrm>
            <a:off x="7985759" y="4008119"/>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missing M3.1 prerequisite is</a:t>
            </a:r>
          </a:p>
        </p:txBody>
      </p:sp>
      <p:sp>
        <p:nvSpPr>
          <p:cNvPr id="26" name="TextBox 25"/>
          <p:cNvSpPr txBox="1"/>
          <p:nvPr/>
        </p:nvSpPr>
        <p:spPr>
          <a:xfrm>
            <a:off x="7985759" y="424220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hidden</a:t>
            </a:r>
          </a:p>
        </p:txBody>
      </p:sp>
      <p:sp>
        <p:nvSpPr>
          <p:cNvPr id="27" name="TextBox 26"/>
          <p:cNvSpPr txBox="1"/>
          <p:nvPr/>
        </p:nvSpPr>
        <p:spPr>
          <a:xfrm>
            <a:off x="7985759" y="4476292"/>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by a fixture fallback</a:t>
            </a:r>
          </a:p>
        </p:txBody>
      </p:sp>
      <p:sp>
        <p:nvSpPr>
          <p:cNvPr id="28" name="Rounded Rectangle 27"/>
          <p:cNvSpPr/>
          <p:nvPr/>
        </p:nvSpPr>
        <p:spPr>
          <a:xfrm>
            <a:off x="548640" y="4762500"/>
            <a:ext cx="11094720" cy="845819"/>
          </a:xfrm>
          <a:prstGeom prst="roundRect">
            <a:avLst>
              <a:gd name="adj" fmla="val 5405"/>
            </a:avLst>
          </a:prstGeom>
          <a:solidFill>
            <a:srgbClr val="FFFFFF"/>
          </a:solidFill>
          <a:ln>
            <a:noFill/>
          </a:ln>
          <a:effectLst/>
        </p:spPr>
        <p:txBody>
          <a:bodyPr rtlCol="0" anchor="ctr"/>
          <a:lstStyle/>
          <a:p>
            <a:pPr algn="ctr"/>
          </a:p>
        </p:txBody>
      </p:sp>
      <p:sp>
        <p:nvSpPr>
          <p:cNvPr id="29" name="TextBox 28"/>
          <p:cNvSpPr txBox="1"/>
          <p:nvPr/>
        </p:nvSpPr>
        <p:spPr>
          <a:xfrm>
            <a:off x="670560" y="4892040"/>
            <a:ext cx="2118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NOT_RUN</a:t>
            </a:r>
          </a:p>
        </p:txBody>
      </p:sp>
      <p:sp>
        <p:nvSpPr>
          <p:cNvPr id="30" name="TextBox 29"/>
          <p:cNvSpPr txBox="1"/>
          <p:nvPr/>
        </p:nvSpPr>
        <p:spPr>
          <a:xfrm>
            <a:off x="3032760" y="4892040"/>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Chain, power loss, distributed failover,</a:t>
            </a:r>
          </a:p>
        </p:txBody>
      </p:sp>
      <p:sp>
        <p:nvSpPr>
          <p:cNvPr id="31" name="TextBox 30"/>
          <p:cNvSpPr txBox="1"/>
          <p:nvPr/>
        </p:nvSpPr>
        <p:spPr>
          <a:xfrm>
            <a:off x="3032760" y="5126126"/>
            <a:ext cx="470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empty-cache build, production quality/throughput</a:t>
            </a:r>
          </a:p>
        </p:txBody>
      </p:sp>
      <p:sp>
        <p:nvSpPr>
          <p:cNvPr id="32" name="TextBox 31"/>
          <p:cNvSpPr txBox="1"/>
          <p:nvPr/>
        </p:nvSpPr>
        <p:spPr>
          <a:xfrm>
            <a:off x="7985759" y="489204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claim for these extensions</a:t>
            </a:r>
          </a:p>
        </p:txBody>
      </p:sp>
      <p:sp>
        <p:nvSpPr>
          <p:cNvPr id="33" name="TextBox 32"/>
          <p:cNvSpPr txBox="1"/>
          <p:nvPr/>
        </p:nvSpPr>
        <p:spPr>
          <a:xfrm>
            <a:off x="7985759" y="512612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 excluded work</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m3_1/manifest.json · m3_1-evidence.md</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RECORDED M3.1 FINAL VERIFICATION</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Executed tests cover delivery, races and real crashes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aggregate includes repeated subsets. These counts must not be added into a unique test total.</a:t>
            </a:r>
          </a:p>
        </p:txBody>
      </p:sp>
      <p:sp>
        <p:nvSpPr>
          <p:cNvPr id="5" name="TextBox 4"/>
          <p:cNvSpPr txBox="1"/>
          <p:nvPr/>
        </p:nvSpPr>
        <p:spPr>
          <a:xfrm>
            <a:off x="670560" y="1790700"/>
            <a:ext cx="3870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COMMAND / LAYER</a:t>
            </a:r>
          </a:p>
        </p:txBody>
      </p:sp>
      <p:sp>
        <p:nvSpPr>
          <p:cNvPr id="6" name="TextBox 5"/>
          <p:cNvSpPr txBox="1"/>
          <p:nvPr/>
        </p:nvSpPr>
        <p:spPr>
          <a:xfrm>
            <a:off x="4785360" y="1790700"/>
            <a:ext cx="188975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CASES</a:t>
            </a:r>
          </a:p>
        </p:txBody>
      </p:sp>
      <p:sp>
        <p:nvSpPr>
          <p:cNvPr id="7" name="TextBox 6"/>
          <p:cNvSpPr txBox="1"/>
          <p:nvPr/>
        </p:nvSpPr>
        <p:spPr>
          <a:xfrm>
            <a:off x="6918959" y="1790700"/>
            <a:ext cx="46024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EVIDENCE TYPE</a:t>
            </a:r>
          </a:p>
        </p:txBody>
      </p:sp>
      <p:sp>
        <p:nvSpPr>
          <p:cNvPr id="8" name="Rounded Rectangle 7"/>
          <p:cNvSpPr/>
          <p:nvPr/>
        </p:nvSpPr>
        <p:spPr>
          <a:xfrm>
            <a:off x="548640" y="2110740"/>
            <a:ext cx="11094720" cy="563880"/>
          </a:xfrm>
          <a:prstGeom prst="roundRect">
            <a:avLst>
              <a:gd name="adj" fmla="val 8108"/>
            </a:avLst>
          </a:prstGeom>
          <a:solidFill>
            <a:srgbClr val="FFFFFF"/>
          </a:solidFill>
          <a:ln>
            <a:noFill/>
          </a:ln>
          <a:effectLst/>
        </p:spPr>
        <p:txBody>
          <a:bodyPr rtlCol="0" anchor="ctr"/>
          <a:lstStyle/>
          <a:p>
            <a:pPr algn="ctr"/>
          </a:p>
        </p:txBody>
      </p:sp>
      <p:sp>
        <p:nvSpPr>
          <p:cNvPr id="9" name="TextBox 8"/>
          <p:cNvSpPr txBox="1"/>
          <p:nvPr/>
        </p:nvSpPr>
        <p:spPr>
          <a:xfrm>
            <a:off x="670560" y="224028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Preserved M1–M3 regression</a:t>
            </a:r>
          </a:p>
        </p:txBody>
      </p:sp>
      <p:sp>
        <p:nvSpPr>
          <p:cNvPr id="10" name="TextBox 9"/>
          <p:cNvSpPr txBox="1"/>
          <p:nvPr/>
        </p:nvSpPr>
        <p:spPr>
          <a:xfrm>
            <a:off x="4785360" y="224028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127 aggregate</a:t>
            </a:r>
          </a:p>
        </p:txBody>
      </p:sp>
      <p:sp>
        <p:nvSpPr>
          <p:cNvPr id="11" name="TextBox 10"/>
          <p:cNvSpPr txBox="1"/>
          <p:nvPr/>
        </p:nvSpPr>
        <p:spPr>
          <a:xfrm>
            <a:off x="6918959" y="224028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Includes the new nine fixture methods; native</a:t>
            </a:r>
          </a:p>
        </p:txBody>
      </p:sp>
      <p:sp>
        <p:nvSpPr>
          <p:cNvPr id="12" name="TextBox 11"/>
          <p:cNvSpPr txBox="1"/>
          <p:nvPr/>
        </p:nvSpPr>
        <p:spPr>
          <a:xfrm>
            <a:off x="6918959" y="2464612"/>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suites rerun</a:t>
            </a:r>
          </a:p>
        </p:txBody>
      </p:sp>
      <p:sp>
        <p:nvSpPr>
          <p:cNvPr id="13" name="Rounded Rectangle 12"/>
          <p:cNvSpPr/>
          <p:nvPr/>
        </p:nvSpPr>
        <p:spPr>
          <a:xfrm>
            <a:off x="548640" y="2712720"/>
            <a:ext cx="11094720" cy="563880"/>
          </a:xfrm>
          <a:prstGeom prst="roundRect">
            <a:avLst>
              <a:gd name="adj" fmla="val 8108"/>
            </a:avLst>
          </a:prstGeom>
          <a:solidFill>
            <a:srgbClr val="FFFFFF"/>
          </a:solidFill>
          <a:ln>
            <a:noFill/>
          </a:ln>
          <a:effectLst/>
        </p:spPr>
        <p:txBody>
          <a:bodyPr rtlCol="0" anchor="ctr"/>
          <a:lstStyle/>
          <a:p>
            <a:pPr algn="ctr"/>
          </a:p>
        </p:txBody>
      </p:sp>
      <p:sp>
        <p:nvSpPr>
          <p:cNvPr id="14" name="TextBox 13"/>
          <p:cNvSpPr txBox="1"/>
          <p:nvPr/>
        </p:nvSpPr>
        <p:spPr>
          <a:xfrm>
            <a:off x="670560" y="284226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Explicit closure fixtures</a:t>
            </a:r>
          </a:p>
        </p:txBody>
      </p:sp>
      <p:sp>
        <p:nvSpPr>
          <p:cNvPr id="15" name="TextBox 14"/>
          <p:cNvSpPr txBox="1"/>
          <p:nvPr/>
        </p:nvSpPr>
        <p:spPr>
          <a:xfrm>
            <a:off x="4785360" y="284226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9</a:t>
            </a:r>
          </a:p>
        </p:txBody>
      </p:sp>
      <p:sp>
        <p:nvSpPr>
          <p:cNvPr id="16" name="TextBox 15"/>
          <p:cNvSpPr txBox="1"/>
          <p:nvPr/>
        </p:nvSpPr>
        <p:spPr>
          <a:xfrm>
            <a:off x="6918959" y="284226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C1 isolation, trust, capacity, races and old profiles</a:t>
            </a:r>
          </a:p>
        </p:txBody>
      </p:sp>
      <p:sp>
        <p:nvSpPr>
          <p:cNvPr id="17" name="Rounded Rectangle 16"/>
          <p:cNvSpPr/>
          <p:nvPr/>
        </p:nvSpPr>
        <p:spPr>
          <a:xfrm>
            <a:off x="548640" y="3314700"/>
            <a:ext cx="11094720" cy="563880"/>
          </a:xfrm>
          <a:prstGeom prst="roundRect">
            <a:avLst>
              <a:gd name="adj" fmla="val 8108"/>
            </a:avLst>
          </a:prstGeom>
          <a:solidFill>
            <a:srgbClr val="FFFFFF"/>
          </a:solidFill>
          <a:ln>
            <a:noFill/>
          </a:ln>
          <a:effectLst/>
        </p:spPr>
        <p:txBody>
          <a:bodyPr rtlCol="0" anchor="ctr"/>
          <a:lstStyle/>
          <a:p>
            <a:pPr algn="ctr"/>
          </a:p>
        </p:txBody>
      </p:sp>
      <p:sp>
        <p:nvSpPr>
          <p:cNvPr id="18" name="TextBox 17"/>
          <p:cNvSpPr txBox="1"/>
          <p:nvPr/>
        </p:nvSpPr>
        <p:spPr>
          <a:xfrm>
            <a:off x="670560" y="344424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Closure with real providers</a:t>
            </a:r>
          </a:p>
        </p:txBody>
      </p:sp>
      <p:sp>
        <p:nvSpPr>
          <p:cNvPr id="19" name="TextBox 18"/>
          <p:cNvSpPr txBox="1"/>
          <p:nvPr/>
        </p:nvSpPr>
        <p:spPr>
          <a:xfrm>
            <a:off x="4785360" y="344424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5</a:t>
            </a:r>
          </a:p>
        </p:txBody>
      </p:sp>
      <p:sp>
        <p:nvSpPr>
          <p:cNvPr id="20" name="TextBox 19"/>
          <p:cNvSpPr txBox="1"/>
          <p:nvPr/>
        </p:nvSpPr>
        <p:spPr>
          <a:xfrm>
            <a:off x="6918959" y="344424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Actual DeTTa / native PLN; both attention providers</a:t>
            </a:r>
          </a:p>
        </p:txBody>
      </p:sp>
      <p:sp>
        <p:nvSpPr>
          <p:cNvPr id="21" name="Rounded Rectangle 20"/>
          <p:cNvSpPr/>
          <p:nvPr/>
        </p:nvSpPr>
        <p:spPr>
          <a:xfrm>
            <a:off x="548640" y="3916679"/>
            <a:ext cx="11094720" cy="563880"/>
          </a:xfrm>
          <a:prstGeom prst="roundRect">
            <a:avLst>
              <a:gd name="adj" fmla="val 8108"/>
            </a:avLst>
          </a:prstGeom>
          <a:solidFill>
            <a:srgbClr val="FFFFFF"/>
          </a:solidFill>
          <a:ln>
            <a:noFill/>
          </a:ln>
          <a:effectLst/>
        </p:spPr>
        <p:txBody>
          <a:bodyPr rtlCol="0" anchor="ctr"/>
          <a:lstStyle/>
          <a:p>
            <a:pPr algn="ctr"/>
          </a:p>
        </p:txBody>
      </p:sp>
      <p:sp>
        <p:nvSpPr>
          <p:cNvPr id="22" name="TextBox 21"/>
          <p:cNvSpPr txBox="1"/>
          <p:nvPr/>
        </p:nvSpPr>
        <p:spPr>
          <a:xfrm>
            <a:off x="670560" y="4046219"/>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Direct process-kill recovery</a:t>
            </a:r>
          </a:p>
        </p:txBody>
      </p:sp>
      <p:sp>
        <p:nvSpPr>
          <p:cNvPr id="23" name="TextBox 22"/>
          <p:cNvSpPr txBox="1"/>
          <p:nvPr/>
        </p:nvSpPr>
        <p:spPr>
          <a:xfrm>
            <a:off x="4785360" y="4046219"/>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3 methods / 16 cases</a:t>
            </a:r>
          </a:p>
        </p:txBody>
      </p:sp>
      <p:sp>
        <p:nvSpPr>
          <p:cNvPr id="24" name="TextBox 23"/>
          <p:cNvSpPr txBox="1"/>
          <p:nvPr/>
        </p:nvSpPr>
        <p:spPr>
          <a:xfrm>
            <a:off x="6918959" y="4046219"/>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Eight evidence + eight feedback / closure</a:t>
            </a:r>
          </a:p>
        </p:txBody>
      </p:sp>
      <p:sp>
        <p:nvSpPr>
          <p:cNvPr id="25" name="TextBox 24"/>
          <p:cNvSpPr txBox="1"/>
          <p:nvPr/>
        </p:nvSpPr>
        <p:spPr>
          <a:xfrm>
            <a:off x="6918959" y="4270552"/>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boundaries</a:t>
            </a:r>
          </a:p>
        </p:txBody>
      </p:sp>
      <p:sp>
        <p:nvSpPr>
          <p:cNvPr id="26" name="Rounded Rectangle 25"/>
          <p:cNvSpPr/>
          <p:nvPr/>
        </p:nvSpPr>
        <p:spPr>
          <a:xfrm>
            <a:off x="548640" y="4518660"/>
            <a:ext cx="11094720" cy="563880"/>
          </a:xfrm>
          <a:prstGeom prst="roundRect">
            <a:avLst>
              <a:gd name="adj" fmla="val 8108"/>
            </a:avLst>
          </a:prstGeom>
          <a:solidFill>
            <a:srgbClr val="FFFFFF"/>
          </a:solidFill>
          <a:ln>
            <a:noFill/>
          </a:ln>
          <a:effectLst/>
        </p:spPr>
        <p:txBody>
          <a:bodyPr rtlCol="0" anchor="ctr"/>
          <a:lstStyle/>
          <a:p>
            <a:pPr algn="ctr"/>
          </a:p>
        </p:txBody>
      </p:sp>
      <p:sp>
        <p:nvSpPr>
          <p:cNvPr id="27" name="TextBox 26"/>
          <p:cNvSpPr txBox="1"/>
          <p:nvPr/>
        </p:nvSpPr>
        <p:spPr>
          <a:xfrm>
            <a:off x="670560" y="464820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Actual native Hive</a:t>
            </a:r>
          </a:p>
        </p:txBody>
      </p:sp>
      <p:sp>
        <p:nvSpPr>
          <p:cNvPr id="28" name="TextBox 27"/>
          <p:cNvSpPr txBox="1"/>
          <p:nvPr/>
        </p:nvSpPr>
        <p:spPr>
          <a:xfrm>
            <a:off x="4785360" y="464820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7</a:t>
            </a:r>
          </a:p>
        </p:txBody>
      </p:sp>
      <p:sp>
        <p:nvSpPr>
          <p:cNvPr id="29" name="TextBox 28"/>
          <p:cNvSpPr txBox="1"/>
          <p:nvPr/>
        </p:nvSpPr>
        <p:spPr>
          <a:xfrm>
            <a:off x="6918959" y="464820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Zero failures, errors or skips; four native caller kills</a:t>
            </a:r>
          </a:p>
        </p:txBody>
      </p:sp>
      <p:sp>
        <p:nvSpPr>
          <p:cNvPr id="30" name="Rounded Rectangle 29"/>
          <p:cNvSpPr/>
          <p:nvPr/>
        </p:nvSpPr>
        <p:spPr>
          <a:xfrm>
            <a:off x="548640" y="5120640"/>
            <a:ext cx="11094720" cy="563880"/>
          </a:xfrm>
          <a:prstGeom prst="roundRect">
            <a:avLst>
              <a:gd name="adj" fmla="val 8108"/>
            </a:avLst>
          </a:prstGeom>
          <a:solidFill>
            <a:srgbClr val="FFFFFF"/>
          </a:solidFill>
          <a:ln>
            <a:noFill/>
          </a:ln>
          <a:effectLst/>
        </p:spPr>
        <p:txBody>
          <a:bodyPr rtlCol="0" anchor="ctr"/>
          <a:lstStyle/>
          <a:p>
            <a:pPr algn="ctr"/>
          </a:p>
        </p:txBody>
      </p:sp>
      <p:sp>
        <p:nvSpPr>
          <p:cNvPr id="31" name="TextBox 30"/>
          <p:cNvSpPr txBox="1"/>
          <p:nvPr/>
        </p:nvSpPr>
        <p:spPr>
          <a:xfrm>
            <a:off x="670560" y="5250180"/>
            <a:ext cx="3870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Separate non-numerical probe</a:t>
            </a:r>
          </a:p>
        </p:txBody>
      </p:sp>
      <p:sp>
        <p:nvSpPr>
          <p:cNvPr id="32" name="TextBox 31"/>
          <p:cNvSpPr txBox="1"/>
          <p:nvPr/>
        </p:nvSpPr>
        <p:spPr>
          <a:xfrm>
            <a:off x="4785360" y="5250180"/>
            <a:ext cx="18897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2</a:t>
            </a:r>
          </a:p>
        </p:txBody>
      </p:sp>
      <p:sp>
        <p:nvSpPr>
          <p:cNvPr id="33" name="TextBox 32"/>
          <p:cNvSpPr txBox="1"/>
          <p:nvPr/>
        </p:nvSpPr>
        <p:spPr>
          <a:xfrm>
            <a:off x="6918959" y="5250180"/>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Report / unknown origin processed; numerical truth</a:t>
            </a:r>
          </a:p>
        </p:txBody>
      </p:sp>
      <p:sp>
        <p:nvSpPr>
          <p:cNvPr id="34" name="TextBox 33"/>
          <p:cNvSpPr txBox="1"/>
          <p:nvPr/>
        </p:nvSpPr>
        <p:spPr>
          <a:xfrm>
            <a:off x="6918959" y="5474512"/>
            <a:ext cx="46024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null</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Final execution: clean detached 1b17d74. Development failures and historical gap probes remain labelled.</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m3_1/final/verification.json · non-numeric-processing.json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GATE-BY-GATE RESULTS · 1 OF 2</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M3.1 gates: delivery and authoritative outcomes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12 supported gates passed. No supported runtime prerequisite remains blocked.</a:t>
            </a:r>
          </a:p>
        </p:txBody>
      </p:sp>
      <p:sp>
        <p:nvSpPr>
          <p:cNvPr id="5" name="TextBox 4"/>
          <p:cNvSpPr txBox="1"/>
          <p:nvPr/>
        </p:nvSpPr>
        <p:spPr>
          <a:xfrm>
            <a:off x="670560" y="1790700"/>
            <a:ext cx="2651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566160" y="1790700"/>
            <a:ext cx="11658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975860" y="1790700"/>
            <a:ext cx="65455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487680"/>
          </a:xfrm>
          <a:prstGeom prst="roundRect">
            <a:avLst>
              <a:gd name="adj" fmla="val 9375"/>
            </a:avLst>
          </a:prstGeom>
          <a:solidFill>
            <a:srgbClr val="FFFFFF"/>
          </a:solidFill>
          <a:ln>
            <a:noFill/>
          </a:ln>
          <a:effectLst/>
        </p:spPr>
        <p:txBody>
          <a:bodyPr rtlCol="0" anchor="ctr"/>
          <a:lstStyle/>
          <a:p>
            <a:pPr algn="ctr"/>
          </a:p>
        </p:txBody>
      </p:sp>
      <p:sp>
        <p:nvSpPr>
          <p:cNvPr id="9" name="TextBox 8"/>
          <p:cNvSpPr txBox="1"/>
          <p:nvPr/>
        </p:nvSpPr>
        <p:spPr>
          <a:xfrm>
            <a:off x="670560" y="224028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BASELINE</a:t>
            </a:r>
          </a:p>
        </p:txBody>
      </p:sp>
      <p:sp>
        <p:nvSpPr>
          <p:cNvPr id="10" name="TextBox 9"/>
          <p:cNvSpPr txBox="1"/>
          <p:nvPr/>
        </p:nvSpPr>
        <p:spPr>
          <a:xfrm>
            <a:off x="3566160" y="224028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1" name="TextBox 10"/>
          <p:cNvSpPr txBox="1"/>
          <p:nvPr/>
        </p:nvSpPr>
        <p:spPr>
          <a:xfrm>
            <a:off x="4975860" y="224028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M1–M3 regressions and pre-edit gap reproduction</a:t>
            </a:r>
          </a:p>
        </p:txBody>
      </p:sp>
      <p:sp>
        <p:nvSpPr>
          <p:cNvPr id="12" name="Rounded Rectangle 11"/>
          <p:cNvSpPr/>
          <p:nvPr/>
        </p:nvSpPr>
        <p:spPr>
          <a:xfrm>
            <a:off x="548640" y="2636520"/>
            <a:ext cx="11094720" cy="487680"/>
          </a:xfrm>
          <a:prstGeom prst="roundRect">
            <a:avLst>
              <a:gd name="adj" fmla="val 9375"/>
            </a:avLst>
          </a:prstGeom>
          <a:solidFill>
            <a:srgbClr val="FFFFFF"/>
          </a:solidFill>
          <a:ln>
            <a:noFill/>
          </a:ln>
          <a:effectLst/>
        </p:spPr>
        <p:txBody>
          <a:bodyPr rtlCol="0" anchor="ctr"/>
          <a:lstStyle/>
          <a:p>
            <a:pPr algn="ctr"/>
          </a:p>
        </p:txBody>
      </p:sp>
      <p:sp>
        <p:nvSpPr>
          <p:cNvPr id="13" name="TextBox 12"/>
          <p:cNvSpPr txBox="1"/>
          <p:nvPr/>
        </p:nvSpPr>
        <p:spPr>
          <a:xfrm>
            <a:off x="670560" y="276606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ACK_CONTRACT</a:t>
            </a:r>
          </a:p>
        </p:txBody>
      </p:sp>
      <p:sp>
        <p:nvSpPr>
          <p:cNvPr id="14" name="TextBox 13"/>
          <p:cNvSpPr txBox="1"/>
          <p:nvPr/>
        </p:nvSpPr>
        <p:spPr>
          <a:xfrm>
            <a:off x="3566160" y="276606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5" name="TextBox 14"/>
          <p:cNvSpPr txBox="1"/>
          <p:nvPr/>
        </p:nvSpPr>
        <p:spPr>
          <a:xfrm>
            <a:off x="4975860" y="276606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Trusted completion; C1 has no PLN snapshot dependency</a:t>
            </a:r>
          </a:p>
        </p:txBody>
      </p:sp>
      <p:sp>
        <p:nvSpPr>
          <p:cNvPr id="16" name="Rounded Rectangle 15"/>
          <p:cNvSpPr/>
          <p:nvPr/>
        </p:nvSpPr>
        <p:spPr>
          <a:xfrm>
            <a:off x="548640" y="3162300"/>
            <a:ext cx="11094720" cy="487680"/>
          </a:xfrm>
          <a:prstGeom prst="roundRect">
            <a:avLst>
              <a:gd name="adj" fmla="val 9375"/>
            </a:avLst>
          </a:prstGeom>
          <a:solidFill>
            <a:srgbClr val="FFFFFF"/>
          </a:solidFill>
          <a:ln>
            <a:noFill/>
          </a:ln>
          <a:effectLst/>
        </p:spPr>
        <p:txBody>
          <a:bodyPr rtlCol="0" anchor="ctr"/>
          <a:lstStyle/>
          <a:p>
            <a:pPr algn="ctr"/>
          </a:p>
        </p:txBody>
      </p:sp>
      <p:sp>
        <p:nvSpPr>
          <p:cNvPr id="17" name="TextBox 16"/>
          <p:cNvSpPr txBox="1"/>
          <p:nvPr/>
        </p:nvSpPr>
        <p:spPr>
          <a:xfrm>
            <a:off x="670560" y="329184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C1_C2_PROGRESS</a:t>
            </a:r>
          </a:p>
        </p:txBody>
      </p:sp>
      <p:sp>
        <p:nvSpPr>
          <p:cNvPr id="18" name="TextBox 17"/>
          <p:cNvSpPr txBox="1"/>
          <p:nvPr/>
        </p:nvSpPr>
        <p:spPr>
          <a:xfrm>
            <a:off x="3566160" y="329184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9" name="TextBox 18"/>
          <p:cNvSpPr txBox="1"/>
          <p:nvPr/>
        </p:nvSpPr>
        <p:spPr>
          <a:xfrm>
            <a:off x="4975860" y="329184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33 events; 16/16/1 drains; retained contrary evidence</a:t>
            </a:r>
          </a:p>
        </p:txBody>
      </p:sp>
      <p:sp>
        <p:nvSpPr>
          <p:cNvPr id="20" name="Rounded Rectangle 19"/>
          <p:cNvSpPr/>
          <p:nvPr/>
        </p:nvSpPr>
        <p:spPr>
          <a:xfrm>
            <a:off x="548640" y="3688079"/>
            <a:ext cx="11094720" cy="487680"/>
          </a:xfrm>
          <a:prstGeom prst="roundRect">
            <a:avLst>
              <a:gd name="adj" fmla="val 9375"/>
            </a:avLst>
          </a:prstGeom>
          <a:solidFill>
            <a:srgbClr val="FFFFFF"/>
          </a:solidFill>
          <a:ln>
            <a:noFill/>
          </a:ln>
          <a:effectLst/>
        </p:spPr>
        <p:txBody>
          <a:bodyPr rtlCol="0" anchor="ctr"/>
          <a:lstStyle/>
          <a:p>
            <a:pPr algn="ctr"/>
          </a:p>
        </p:txBody>
      </p:sp>
      <p:sp>
        <p:nvSpPr>
          <p:cNvPr id="21" name="TextBox 20"/>
          <p:cNvSpPr txBox="1"/>
          <p:nvPr/>
        </p:nvSpPr>
        <p:spPr>
          <a:xfrm>
            <a:off x="670560" y="3817619"/>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EVIDENCE_RECOVERY</a:t>
            </a:r>
          </a:p>
        </p:txBody>
      </p:sp>
      <p:sp>
        <p:nvSpPr>
          <p:cNvPr id="22" name="TextBox 21"/>
          <p:cNvSpPr txBox="1"/>
          <p:nvPr/>
        </p:nvSpPr>
        <p:spPr>
          <a:xfrm>
            <a:off x="3566160" y="3817619"/>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3" name="TextBox 22"/>
          <p:cNvSpPr txBox="1"/>
          <p:nvPr/>
        </p:nvSpPr>
        <p:spPr>
          <a:xfrm>
            <a:off x="4975860" y="3817619"/>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Eight direct + two native evidence kill cases</a:t>
            </a:r>
          </a:p>
        </p:txBody>
      </p:sp>
      <p:sp>
        <p:nvSpPr>
          <p:cNvPr id="24" name="Rounded Rectangle 23"/>
          <p:cNvSpPr/>
          <p:nvPr/>
        </p:nvSpPr>
        <p:spPr>
          <a:xfrm>
            <a:off x="548640" y="4213860"/>
            <a:ext cx="11094720" cy="487680"/>
          </a:xfrm>
          <a:prstGeom prst="roundRect">
            <a:avLst>
              <a:gd name="adj" fmla="val 9375"/>
            </a:avLst>
          </a:prstGeom>
          <a:solidFill>
            <a:srgbClr val="FFFFFF"/>
          </a:solidFill>
          <a:ln>
            <a:noFill/>
          </a:ln>
          <a:effectLst/>
        </p:spPr>
        <p:txBody>
          <a:bodyPr rtlCol="0" anchor="ctr"/>
          <a:lstStyle/>
          <a:p>
            <a:pPr algn="ctr"/>
          </a:p>
        </p:txBody>
      </p:sp>
      <p:sp>
        <p:nvSpPr>
          <p:cNvPr id="25" name="TextBox 24"/>
          <p:cNvSpPr txBox="1"/>
          <p:nvPr/>
        </p:nvSpPr>
        <p:spPr>
          <a:xfrm>
            <a:off x="670560" y="434340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FEEDBACK_CLOSURE</a:t>
            </a:r>
          </a:p>
        </p:txBody>
      </p:sp>
      <p:sp>
        <p:nvSpPr>
          <p:cNvPr id="26" name="TextBox 25"/>
          <p:cNvSpPr txBox="1"/>
          <p:nvPr/>
        </p:nvSpPr>
        <p:spPr>
          <a:xfrm>
            <a:off x="3566160" y="434340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7" name="TextBox 26"/>
          <p:cNvSpPr txBox="1"/>
          <p:nvPr/>
        </p:nvSpPr>
        <p:spPr>
          <a:xfrm>
            <a:off x="4975860" y="434340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Applied receipt, no-credit retirement or typed pending</a:t>
            </a:r>
          </a:p>
        </p:txBody>
      </p:sp>
      <p:sp>
        <p:nvSpPr>
          <p:cNvPr id="28" name="Rounded Rectangle 27"/>
          <p:cNvSpPr/>
          <p:nvPr/>
        </p:nvSpPr>
        <p:spPr>
          <a:xfrm>
            <a:off x="548640" y="4739640"/>
            <a:ext cx="11094720" cy="487680"/>
          </a:xfrm>
          <a:prstGeom prst="roundRect">
            <a:avLst>
              <a:gd name="adj" fmla="val 9375"/>
            </a:avLst>
          </a:prstGeom>
          <a:solidFill>
            <a:srgbClr val="FFFFFF"/>
          </a:solidFill>
          <a:ln>
            <a:noFill/>
          </a:ln>
          <a:effectLst/>
        </p:spPr>
        <p:txBody>
          <a:bodyPr rtlCol="0" anchor="ctr"/>
          <a:lstStyle/>
          <a:p>
            <a:pPr algn="ctr"/>
          </a:p>
        </p:txBody>
      </p:sp>
      <p:sp>
        <p:nvSpPr>
          <p:cNvPr id="29" name="TextBox 28"/>
          <p:cNvSpPr txBox="1"/>
          <p:nvPr/>
        </p:nvSpPr>
        <p:spPr>
          <a:xfrm>
            <a:off x="670560" y="486918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CAUSAL_RACES</a:t>
            </a:r>
          </a:p>
        </p:txBody>
      </p:sp>
      <p:sp>
        <p:nvSpPr>
          <p:cNvPr id="30" name="TextBox 29"/>
          <p:cNvSpPr txBox="1"/>
          <p:nvPr/>
        </p:nvSpPr>
        <p:spPr>
          <a:xfrm>
            <a:off x="3566160" y="486918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31" name="TextBox 30"/>
          <p:cNvSpPr txBox="1"/>
          <p:nvPr/>
        </p:nvSpPr>
        <p:spPr>
          <a:xfrm>
            <a:off x="4975860" y="486918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Eligible application versus retirement; both providers</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Fixture, real-provider, blocked and unrun results retain separate meanings.</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m3_1/manifest.json</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GATE-BY-GATE RESULTS · 2 OF 2</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M3.1 gates: bounded recovery and native integration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12 supported gates passed. No supported runtime prerequisite remains blocked.</a:t>
            </a:r>
          </a:p>
        </p:txBody>
      </p:sp>
      <p:sp>
        <p:nvSpPr>
          <p:cNvPr id="5" name="TextBox 4"/>
          <p:cNvSpPr txBox="1"/>
          <p:nvPr/>
        </p:nvSpPr>
        <p:spPr>
          <a:xfrm>
            <a:off x="670560" y="1790700"/>
            <a:ext cx="2651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566160" y="1790700"/>
            <a:ext cx="11658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975860" y="1790700"/>
            <a:ext cx="65455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487680"/>
          </a:xfrm>
          <a:prstGeom prst="roundRect">
            <a:avLst>
              <a:gd name="adj" fmla="val 9375"/>
            </a:avLst>
          </a:prstGeom>
          <a:solidFill>
            <a:srgbClr val="FFFFFF"/>
          </a:solidFill>
          <a:ln>
            <a:noFill/>
          </a:ln>
          <a:effectLst/>
        </p:spPr>
        <p:txBody>
          <a:bodyPr rtlCol="0" anchor="ctr"/>
          <a:lstStyle/>
          <a:p>
            <a:pPr algn="ctr"/>
          </a:p>
        </p:txBody>
      </p:sp>
      <p:sp>
        <p:nvSpPr>
          <p:cNvPr id="9" name="TextBox 8"/>
          <p:cNvSpPr txBox="1"/>
          <p:nvPr/>
        </p:nvSpPr>
        <p:spPr>
          <a:xfrm>
            <a:off x="670560" y="224028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BUDGETS</a:t>
            </a:r>
          </a:p>
        </p:txBody>
      </p:sp>
      <p:sp>
        <p:nvSpPr>
          <p:cNvPr id="10" name="TextBox 9"/>
          <p:cNvSpPr txBox="1"/>
          <p:nvPr/>
        </p:nvSpPr>
        <p:spPr>
          <a:xfrm>
            <a:off x="3566160" y="224028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1" name="TextBox 10"/>
          <p:cNvSpPr txBox="1"/>
          <p:nvPr/>
        </p:nvSpPr>
        <p:spPr>
          <a:xfrm>
            <a:off x="4975860" y="224028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Original execution fixed; zero new math during reconciliation</a:t>
            </a:r>
          </a:p>
        </p:txBody>
      </p:sp>
      <p:sp>
        <p:nvSpPr>
          <p:cNvPr id="12" name="Rounded Rectangle 11"/>
          <p:cNvSpPr/>
          <p:nvPr/>
        </p:nvSpPr>
        <p:spPr>
          <a:xfrm>
            <a:off x="548640" y="2636520"/>
            <a:ext cx="11094720" cy="487680"/>
          </a:xfrm>
          <a:prstGeom prst="roundRect">
            <a:avLst>
              <a:gd name="adj" fmla="val 9375"/>
            </a:avLst>
          </a:prstGeom>
          <a:solidFill>
            <a:srgbClr val="FFFFFF"/>
          </a:solidFill>
          <a:ln>
            <a:noFill/>
          </a:ln>
          <a:effectLst/>
        </p:spPr>
        <p:txBody>
          <a:bodyPr rtlCol="0" anchor="ctr"/>
          <a:lstStyle/>
          <a:p>
            <a:pPr algn="ctr"/>
          </a:p>
        </p:txBody>
      </p:sp>
      <p:sp>
        <p:nvSpPr>
          <p:cNvPr id="13" name="TextBox 12"/>
          <p:cNvSpPr txBox="1"/>
          <p:nvPr/>
        </p:nvSpPr>
        <p:spPr>
          <a:xfrm>
            <a:off x="670560" y="276606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PROVIDER_SWAP</a:t>
            </a:r>
          </a:p>
        </p:txBody>
      </p:sp>
      <p:sp>
        <p:nvSpPr>
          <p:cNvPr id="14" name="TextBox 13"/>
          <p:cNvSpPr txBox="1"/>
          <p:nvPr/>
        </p:nvSpPr>
        <p:spPr>
          <a:xfrm>
            <a:off x="3566160" y="276606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5" name="TextBox 14"/>
          <p:cNvSpPr txBox="1"/>
          <p:nvPr/>
        </p:nvSpPr>
        <p:spPr>
          <a:xfrm>
            <a:off x="4975860" y="276606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SQLite and independent atomic-file closure semantics</a:t>
            </a:r>
          </a:p>
        </p:txBody>
      </p:sp>
      <p:sp>
        <p:nvSpPr>
          <p:cNvPr id="16" name="Rounded Rectangle 15"/>
          <p:cNvSpPr/>
          <p:nvPr/>
        </p:nvSpPr>
        <p:spPr>
          <a:xfrm>
            <a:off x="548640" y="3162300"/>
            <a:ext cx="11094720" cy="487680"/>
          </a:xfrm>
          <a:prstGeom prst="roundRect">
            <a:avLst>
              <a:gd name="adj" fmla="val 9375"/>
            </a:avLst>
          </a:prstGeom>
          <a:solidFill>
            <a:srgbClr val="FFFFFF"/>
          </a:solidFill>
          <a:ln>
            <a:noFill/>
          </a:ln>
          <a:effectLst/>
        </p:spPr>
        <p:txBody>
          <a:bodyPr rtlCol="0" anchor="ctr"/>
          <a:lstStyle/>
          <a:p>
            <a:pPr algn="ctr"/>
          </a:p>
        </p:txBody>
      </p:sp>
      <p:sp>
        <p:nvSpPr>
          <p:cNvPr id="17" name="TextBox 16"/>
          <p:cNvSpPr txBox="1"/>
          <p:nvPr/>
        </p:nvSpPr>
        <p:spPr>
          <a:xfrm>
            <a:off x="670560" y="329184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AUTH_PRIVACY</a:t>
            </a:r>
          </a:p>
        </p:txBody>
      </p:sp>
      <p:sp>
        <p:nvSpPr>
          <p:cNvPr id="18" name="TextBox 17"/>
          <p:cNvSpPr txBox="1"/>
          <p:nvPr/>
        </p:nvSpPr>
        <p:spPr>
          <a:xfrm>
            <a:off x="3566160" y="329184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9" name="TextBox 18"/>
          <p:cNvSpPr txBox="1"/>
          <p:nvPr/>
        </p:nvSpPr>
        <p:spPr>
          <a:xfrm>
            <a:off x="4975860" y="329184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Live revocation, malformed replies and native isolation</a:t>
            </a:r>
          </a:p>
        </p:txBody>
      </p:sp>
      <p:sp>
        <p:nvSpPr>
          <p:cNvPr id="20" name="Rounded Rectangle 19"/>
          <p:cNvSpPr/>
          <p:nvPr/>
        </p:nvSpPr>
        <p:spPr>
          <a:xfrm>
            <a:off x="548640" y="3688079"/>
            <a:ext cx="11094720" cy="487680"/>
          </a:xfrm>
          <a:prstGeom prst="roundRect">
            <a:avLst>
              <a:gd name="adj" fmla="val 9375"/>
            </a:avLst>
          </a:prstGeom>
          <a:solidFill>
            <a:srgbClr val="FFFFFF"/>
          </a:solidFill>
          <a:ln>
            <a:noFill/>
          </a:ln>
          <a:effectLst/>
        </p:spPr>
        <p:txBody>
          <a:bodyPr rtlCol="0" anchor="ctr"/>
          <a:lstStyle/>
          <a:p>
            <a:pPr algn="ctr"/>
          </a:p>
        </p:txBody>
      </p:sp>
      <p:sp>
        <p:nvSpPr>
          <p:cNvPr id="21" name="TextBox 20"/>
          <p:cNvSpPr txBox="1"/>
          <p:nvPr/>
        </p:nvSpPr>
        <p:spPr>
          <a:xfrm>
            <a:off x="670560" y="3817619"/>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HIVE_M3_1</a:t>
            </a:r>
          </a:p>
        </p:txBody>
      </p:sp>
      <p:sp>
        <p:nvSpPr>
          <p:cNvPr id="22" name="TextBox 21"/>
          <p:cNvSpPr txBox="1"/>
          <p:nvPr/>
        </p:nvSpPr>
        <p:spPr>
          <a:xfrm>
            <a:off x="3566160" y="3817619"/>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3" name="TextBox 22"/>
          <p:cNvSpPr txBox="1"/>
          <p:nvPr/>
        </p:nvSpPr>
        <p:spPr>
          <a:xfrm>
            <a:off x="4975860" y="3817619"/>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Seven real native cases; four process kills</a:t>
            </a:r>
          </a:p>
        </p:txBody>
      </p:sp>
      <p:sp>
        <p:nvSpPr>
          <p:cNvPr id="24" name="Rounded Rectangle 23"/>
          <p:cNvSpPr/>
          <p:nvPr/>
        </p:nvSpPr>
        <p:spPr>
          <a:xfrm>
            <a:off x="548640" y="4213860"/>
            <a:ext cx="11094720" cy="487680"/>
          </a:xfrm>
          <a:prstGeom prst="roundRect">
            <a:avLst>
              <a:gd name="adj" fmla="val 9375"/>
            </a:avLst>
          </a:prstGeom>
          <a:solidFill>
            <a:srgbClr val="FFFFFF"/>
          </a:solidFill>
          <a:ln>
            <a:noFill/>
          </a:ln>
          <a:effectLst/>
        </p:spPr>
        <p:txBody>
          <a:bodyPr rtlCol="0" anchor="ctr"/>
          <a:lstStyle/>
          <a:p>
            <a:pPr algn="ctr"/>
          </a:p>
        </p:txBody>
      </p:sp>
      <p:sp>
        <p:nvSpPr>
          <p:cNvPr id="25" name="TextBox 24"/>
          <p:cNvSpPr txBox="1"/>
          <p:nvPr/>
        </p:nvSpPr>
        <p:spPr>
          <a:xfrm>
            <a:off x="670560" y="434340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COMPAT_REPRO</a:t>
            </a:r>
          </a:p>
        </p:txBody>
      </p:sp>
      <p:sp>
        <p:nvSpPr>
          <p:cNvPr id="26" name="TextBox 25"/>
          <p:cNvSpPr txBox="1"/>
          <p:nvPr/>
        </p:nvSpPr>
        <p:spPr>
          <a:xfrm>
            <a:off x="3566160" y="434340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7" name="TextBox 26"/>
          <p:cNvSpPr txBox="1"/>
          <p:nvPr/>
        </p:nvSpPr>
        <p:spPr>
          <a:xfrm>
            <a:off x="4975860" y="434340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Fresh pinned build; populated old copies reject new profile</a:t>
            </a:r>
          </a:p>
        </p:txBody>
      </p:sp>
      <p:sp>
        <p:nvSpPr>
          <p:cNvPr id="28" name="Rounded Rectangle 27"/>
          <p:cNvSpPr/>
          <p:nvPr/>
        </p:nvSpPr>
        <p:spPr>
          <a:xfrm>
            <a:off x="548640" y="4739640"/>
            <a:ext cx="11094720" cy="487680"/>
          </a:xfrm>
          <a:prstGeom prst="roundRect">
            <a:avLst>
              <a:gd name="adj" fmla="val 9375"/>
            </a:avLst>
          </a:prstGeom>
          <a:solidFill>
            <a:srgbClr val="FFFFFF"/>
          </a:solidFill>
          <a:ln>
            <a:noFill/>
          </a:ln>
          <a:effectLst/>
        </p:spPr>
        <p:txBody>
          <a:bodyPr rtlCol="0" anchor="ctr"/>
          <a:lstStyle/>
          <a:p>
            <a:pPr algn="ctr"/>
          </a:p>
        </p:txBody>
      </p:sp>
      <p:sp>
        <p:nvSpPr>
          <p:cNvPr id="29" name="TextBox 28"/>
          <p:cNvSpPr txBox="1"/>
          <p:nvPr/>
        </p:nvSpPr>
        <p:spPr>
          <a:xfrm>
            <a:off x="670560" y="486918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SCOPE</a:t>
            </a:r>
          </a:p>
        </p:txBody>
      </p:sp>
      <p:sp>
        <p:nvSpPr>
          <p:cNvPr id="30" name="TextBox 29"/>
          <p:cNvSpPr txBox="1"/>
          <p:nvPr/>
        </p:nvSpPr>
        <p:spPr>
          <a:xfrm>
            <a:off x="3566160" y="486918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31" name="TextBox 30"/>
          <p:cNvSpPr txBox="1"/>
          <p:nvPr/>
        </p:nvSpPr>
        <p:spPr>
          <a:xfrm>
            <a:off x="4975860" y="486918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Delivery closure only; DA and guarded math unchanged</a:t>
            </a:r>
          </a:p>
        </p:txBody>
      </p:sp>
      <p:sp>
        <p:nvSpPr>
          <p:cNvPr id="32" name="Rounded Rectangle 31"/>
          <p:cNvSpPr/>
          <p:nvPr/>
        </p:nvSpPr>
        <p:spPr>
          <a:xfrm>
            <a:off x="548640" y="5265420"/>
            <a:ext cx="11094720" cy="487680"/>
          </a:xfrm>
          <a:prstGeom prst="roundRect">
            <a:avLst>
              <a:gd name="adj" fmla="val 9375"/>
            </a:avLst>
          </a:prstGeom>
          <a:solidFill>
            <a:srgbClr val="FFFFFF"/>
          </a:solidFill>
          <a:ln>
            <a:noFill/>
          </a:ln>
          <a:effectLst/>
        </p:spPr>
        <p:txBody>
          <a:bodyPr rtlCol="0" anchor="ctr"/>
          <a:lstStyle/>
          <a:p>
            <a:pPr algn="ctr"/>
          </a:p>
        </p:txBody>
      </p:sp>
      <p:sp>
        <p:nvSpPr>
          <p:cNvPr id="33" name="TextBox 32"/>
          <p:cNvSpPr txBox="1"/>
          <p:nvPr/>
        </p:nvSpPr>
        <p:spPr>
          <a:xfrm>
            <a:off x="670560" y="5394960"/>
            <a:ext cx="2651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CHAIN</a:t>
            </a:r>
          </a:p>
        </p:txBody>
      </p:sp>
      <p:sp>
        <p:nvSpPr>
          <p:cNvPr id="34" name="TextBox 33"/>
          <p:cNvSpPr txBox="1"/>
          <p:nvPr/>
        </p:nvSpPr>
        <p:spPr>
          <a:xfrm>
            <a:off x="3566160" y="5394960"/>
            <a:ext cx="11658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NOT_RUN</a:t>
            </a:r>
          </a:p>
        </p:txBody>
      </p:sp>
      <p:sp>
        <p:nvSpPr>
          <p:cNvPr id="35" name="TextBox 34"/>
          <p:cNvSpPr txBox="1"/>
          <p:nvPr/>
        </p:nvSpPr>
        <p:spPr>
          <a:xfrm>
            <a:off x="4975860" y="5394960"/>
            <a:ext cx="65455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Excluded; no chain action or deployment</a:t>
            </a:r>
          </a:p>
        </p:txBody>
      </p:sp>
      <p:sp>
        <p:nvSpPr>
          <p:cNvPr id="36" name="Rounded Rectangle 3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7" name="TextBox 36"/>
          <p:cNvSpPr txBox="1"/>
          <p:nvPr/>
        </p:nvSpPr>
        <p:spPr>
          <a:xfrm>
            <a:off x="716280" y="5905500"/>
            <a:ext cx="10744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Fixture, real-provider, blocked and unrun results retain separate meanings.</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m3_1/manifest.json</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SOURCE AND EXECUTION LEDGER</a:t>
            </a:r>
          </a:p>
        </p:txBody>
      </p:sp>
      <p:sp>
        <p:nvSpPr>
          <p:cNvPr id="3" name="TextBox 2"/>
          <p:cNvSpPr txBox="1"/>
          <p:nvPr/>
        </p:nvSpPr>
        <p:spPr>
          <a:xfrm>
            <a:off x="533400" y="723900"/>
            <a:ext cx="11125200" cy="419404"/>
          </a:xfrm>
          <a:prstGeom prst="rect">
            <a:avLst/>
          </a:prstGeom>
          <a:noFill/>
        </p:spPr>
        <p:txBody>
          <a:bodyPr wrap="none" lIns="0" rIns="0" tIns="0" bIns="0" anchor="t" anchorCtr="0">
            <a:noAutofit/>
          </a:bodyPr>
          <a:lstStyle/>
          <a:p>
            <a:pPr algn="l">
              <a:lnSpc>
                <a:spcPct val="100000"/>
              </a:lnSpc>
              <a:spcBef>
                <a:spcPts val="0"/>
              </a:spcBef>
              <a:spcAft>
                <a:spcPts val="0"/>
              </a:spcAft>
            </a:pPr>
            <a:r>
              <a:rPr sz="2580" b="1">
                <a:solidFill>
                  <a:srgbClr val="102B3F"/>
                </a:solidFill>
                <a:latin typeface="DejaVu Sans"/>
              </a:rPr>
              <a:t>Reproducibility connects source, build and observed result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Exact implementation and provider identities make the evidence inspectable.</a:t>
            </a:r>
          </a:p>
        </p:txBody>
      </p:sp>
      <p:sp>
        <p:nvSpPr>
          <p:cNvPr id="5" name="TextBox 4"/>
          <p:cNvSpPr txBox="1"/>
          <p:nvPr/>
        </p:nvSpPr>
        <p:spPr>
          <a:xfrm>
            <a:off x="670560" y="1790700"/>
            <a:ext cx="2423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LAYER</a:t>
            </a:r>
          </a:p>
        </p:txBody>
      </p:sp>
      <p:sp>
        <p:nvSpPr>
          <p:cNvPr id="6" name="TextBox 5"/>
          <p:cNvSpPr txBox="1"/>
          <p:nvPr/>
        </p:nvSpPr>
        <p:spPr>
          <a:xfrm>
            <a:off x="3337560" y="1790700"/>
            <a:ext cx="3718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STATE</a:t>
            </a:r>
          </a:p>
        </p:txBody>
      </p:sp>
      <p:sp>
        <p:nvSpPr>
          <p:cNvPr id="7" name="TextBox 6"/>
          <p:cNvSpPr txBox="1"/>
          <p:nvPr/>
        </p:nvSpPr>
        <p:spPr>
          <a:xfrm>
            <a:off x="7299959" y="1790700"/>
            <a:ext cx="42214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BOUNDARY</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Requested / actual</a:t>
            </a:r>
          </a:p>
        </p:txBody>
      </p:sp>
      <p:sp>
        <p:nvSpPr>
          <p:cNvPr id="10" name="TextBox 9"/>
          <p:cNvSpPr txBox="1"/>
          <p:nvPr/>
        </p:nvSpPr>
        <p:spPr>
          <a:xfrm>
            <a:off x="670560" y="2474366"/>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start</a:t>
            </a:r>
          </a:p>
        </p:txBody>
      </p:sp>
      <p:sp>
        <p:nvSpPr>
          <p:cNvPr id="11" name="TextBox 10"/>
          <p:cNvSpPr txBox="1"/>
          <p:nvPr/>
        </p:nvSpPr>
        <p:spPr>
          <a:xfrm>
            <a:off x="3337560" y="224028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c4498ce → 3b34e00</a:t>
            </a:r>
          </a:p>
        </p:txBody>
      </p:sp>
      <p:sp>
        <p:nvSpPr>
          <p:cNvPr id="12" name="TextBox 11"/>
          <p:cNvSpPr txBox="1"/>
          <p:nvPr/>
        </p:nvSpPr>
        <p:spPr>
          <a:xfrm>
            <a:off x="7299959" y="224028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Presentation-only descendant; M3 code</a:t>
            </a:r>
          </a:p>
        </p:txBody>
      </p:sp>
      <p:sp>
        <p:nvSpPr>
          <p:cNvPr id="13" name="TextBox 12"/>
          <p:cNvSpPr txBox="1"/>
          <p:nvPr/>
        </p:nvSpPr>
        <p:spPr>
          <a:xfrm>
            <a:off x="7299959" y="247436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unchanged</a:t>
            </a:r>
          </a:p>
        </p:txBody>
      </p:sp>
      <p:sp>
        <p:nvSpPr>
          <p:cNvPr id="14" name="Rounded Rectangle 13"/>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5" name="TextBox 14"/>
          <p:cNvSpPr txBox="1"/>
          <p:nvPr/>
        </p:nvSpPr>
        <p:spPr>
          <a:xfrm>
            <a:off x="670560" y="293370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Clean tested</a:t>
            </a:r>
          </a:p>
        </p:txBody>
      </p:sp>
      <p:sp>
        <p:nvSpPr>
          <p:cNvPr id="16" name="TextBox 15"/>
          <p:cNvSpPr txBox="1"/>
          <p:nvPr/>
        </p:nvSpPr>
        <p:spPr>
          <a:xfrm>
            <a:off x="670560" y="3167786"/>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implementation</a:t>
            </a:r>
          </a:p>
        </p:txBody>
      </p:sp>
      <p:sp>
        <p:nvSpPr>
          <p:cNvPr id="17" name="TextBox 16"/>
          <p:cNvSpPr txBox="1"/>
          <p:nvPr/>
        </p:nvSpPr>
        <p:spPr>
          <a:xfrm>
            <a:off x="3337560" y="293370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1b17d74f2808</a:t>
            </a:r>
          </a:p>
        </p:txBody>
      </p:sp>
      <p:sp>
        <p:nvSpPr>
          <p:cNvPr id="18" name="TextBox 17"/>
          <p:cNvSpPr txBox="1"/>
          <p:nvPr/>
        </p:nvSpPr>
        <p:spPr>
          <a:xfrm>
            <a:off x="7299959" y="293370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Separate detached checkout; final verifier</a:t>
            </a:r>
          </a:p>
        </p:txBody>
      </p:sp>
      <p:sp>
        <p:nvSpPr>
          <p:cNvPr id="19" name="TextBox 18"/>
          <p:cNvSpPr txBox="1"/>
          <p:nvPr/>
        </p:nvSpPr>
        <p:spPr>
          <a:xfrm>
            <a:off x="7299959" y="316778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exit 0</a:t>
            </a:r>
          </a:p>
        </p:txBody>
      </p:sp>
      <p:sp>
        <p:nvSpPr>
          <p:cNvPr id="20" name="Rounded Rectangle 19"/>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21" name="TextBox 20"/>
          <p:cNvSpPr txBox="1"/>
          <p:nvPr/>
        </p:nvSpPr>
        <p:spPr>
          <a:xfrm>
            <a:off x="670560" y="3627119"/>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Evidence snapshot</a:t>
            </a:r>
          </a:p>
        </p:txBody>
      </p:sp>
      <p:sp>
        <p:nvSpPr>
          <p:cNvPr id="22" name="TextBox 21"/>
          <p:cNvSpPr txBox="1"/>
          <p:nvPr/>
        </p:nvSpPr>
        <p:spPr>
          <a:xfrm>
            <a:off x="3337560" y="3627119"/>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985d2f34ea8d</a:t>
            </a:r>
          </a:p>
        </p:txBody>
      </p:sp>
      <p:sp>
        <p:nvSpPr>
          <p:cNvPr id="23" name="TextBox 22"/>
          <p:cNvSpPr txBox="1"/>
          <p:nvPr/>
        </p:nvSpPr>
        <p:spPr>
          <a:xfrm>
            <a:off x="7299959" y="3627119"/>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implementation/test changes after</a:t>
            </a:r>
          </a:p>
        </p:txBody>
      </p:sp>
      <p:sp>
        <p:nvSpPr>
          <p:cNvPr id="24" name="TextBox 23"/>
          <p:cNvSpPr txBox="1"/>
          <p:nvPr/>
        </p:nvSpPr>
        <p:spPr>
          <a:xfrm>
            <a:off x="7299959" y="386120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verified SHA</a:t>
            </a:r>
          </a:p>
        </p:txBody>
      </p:sp>
      <p:sp>
        <p:nvSpPr>
          <p:cNvPr id="25" name="Rounded Rectangle 24"/>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6" name="TextBox 25"/>
          <p:cNvSpPr txBox="1"/>
          <p:nvPr/>
        </p:nvSpPr>
        <p:spPr>
          <a:xfrm>
            <a:off x="670560" y="432054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Fresh provider build</a:t>
            </a:r>
          </a:p>
        </p:txBody>
      </p:sp>
      <p:sp>
        <p:nvSpPr>
          <p:cNvPr id="27" name="TextBox 26"/>
          <p:cNvSpPr txBox="1"/>
          <p:nvPr/>
        </p:nvSpPr>
        <p:spPr>
          <a:xfrm>
            <a:off x="3337560" y="432054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337.508 seconds</a:t>
            </a:r>
          </a:p>
        </p:txBody>
      </p:sp>
      <p:sp>
        <p:nvSpPr>
          <p:cNvPr id="28" name="TextBox 27"/>
          <p:cNvSpPr txBox="1"/>
          <p:nvPr/>
        </p:nvSpPr>
        <p:spPr>
          <a:xfrm>
            <a:off x="7299959" y="432054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New native objects, venv and DeTTa target</a:t>
            </a:r>
          </a:p>
        </p:txBody>
      </p:sp>
      <p:sp>
        <p:nvSpPr>
          <p:cNvPr id="29" name="Rounded Rectangle 28"/>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30" name="TextBox 29"/>
          <p:cNvSpPr txBox="1"/>
          <p:nvPr/>
        </p:nvSpPr>
        <p:spPr>
          <a:xfrm>
            <a:off x="670560" y="501396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Pinned runtime</a:t>
            </a:r>
          </a:p>
        </p:txBody>
      </p:sp>
      <p:sp>
        <p:nvSpPr>
          <p:cNvPr id="31" name="TextBox 30"/>
          <p:cNvSpPr txBox="1"/>
          <p:nvPr/>
        </p:nvSpPr>
        <p:spPr>
          <a:xfrm>
            <a:off x="3337560" y="5013960"/>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SWI 10.1.14 · Python 3.12.12 · Janus</a:t>
            </a:r>
          </a:p>
        </p:txBody>
      </p:sp>
      <p:sp>
        <p:nvSpPr>
          <p:cNvPr id="32" name="TextBox 31"/>
          <p:cNvSpPr txBox="1"/>
          <p:nvPr/>
        </p:nvSpPr>
        <p:spPr>
          <a:xfrm>
            <a:off x="3337560" y="5248046"/>
            <a:ext cx="3718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1.5.3</a:t>
            </a:r>
          </a:p>
        </p:txBody>
      </p:sp>
      <p:sp>
        <p:nvSpPr>
          <p:cNvPr id="33" name="TextBox 32"/>
          <p:cNvSpPr txBox="1"/>
          <p:nvPr/>
        </p:nvSpPr>
        <p:spPr>
          <a:xfrm>
            <a:off x="7299959" y="5013960"/>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Dedicated deduction profile; no upstream</a:t>
            </a:r>
          </a:p>
        </p:txBody>
      </p:sp>
      <p:sp>
        <p:nvSpPr>
          <p:cNvPr id="34" name="TextBox 33"/>
          <p:cNvSpPr txBox="1"/>
          <p:nvPr/>
        </p:nvSpPr>
        <p:spPr>
          <a:xfrm>
            <a:off x="7299959" y="5248046"/>
            <a:ext cx="4221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patches</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Warm download caches are explicit. The fresh binary digest identifies this build, not cross-host bit reproducibility.</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m3_1/build.json · manifest.json · final/verification.json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GUARANTEES AND STOPPING POINT</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limitations are part of the contract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Accurate closure can still report pending work. No state migration is implied.</a:t>
            </a:r>
          </a:p>
        </p:txBody>
      </p:sp>
      <p:sp>
        <p:nvSpPr>
          <p:cNvPr id="5" name="Rounded Rectangle 4"/>
          <p:cNvSpPr/>
          <p:nvPr/>
        </p:nvSpPr>
        <p:spPr>
          <a:xfrm>
            <a:off x="548640" y="1905000"/>
            <a:ext cx="5364480" cy="1668780"/>
          </a:xfrm>
          <a:prstGeom prst="roundRect">
            <a:avLst>
              <a:gd name="adj" fmla="val 5936"/>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Conservative crash budget</a:t>
            </a:r>
          </a:p>
        </p:txBody>
      </p:sp>
      <p:sp>
        <p:nvSpPr>
          <p:cNvPr id="7" name="TextBox 6"/>
          <p:cNvSpPr txBox="1"/>
          <p:nvPr/>
        </p:nvSpPr>
        <p:spPr>
          <a:xfrm>
            <a:off x="716280" y="24512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 lost pending attempt consumes its slot.</a:t>
            </a:r>
          </a:p>
        </p:txBody>
      </p:sp>
      <p:sp>
        <p:nvSpPr>
          <p:cNvPr id="8" name="TextBox 7"/>
          <p:cNvSpPr txBox="1"/>
          <p:nvPr/>
        </p:nvSpPr>
        <p:spPr>
          <a:xfrm>
            <a:off x="716280" y="27243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Reconciliation never refunds or starts new</a:t>
            </a:r>
          </a:p>
        </p:txBody>
      </p:sp>
      <p:sp>
        <p:nvSpPr>
          <p:cNvPr id="9" name="TextBox 8"/>
          <p:cNvSpPr txBox="1"/>
          <p:nvPr/>
        </p:nvSpPr>
        <p:spPr>
          <a:xfrm>
            <a:off x="716280" y="29974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inference.</a:t>
            </a:r>
          </a:p>
        </p:txBody>
      </p:sp>
      <p:sp>
        <p:nvSpPr>
          <p:cNvPr id="10" name="Rounded Rectangle 9"/>
          <p:cNvSpPr/>
          <p:nvPr/>
        </p:nvSpPr>
        <p:spPr>
          <a:xfrm>
            <a:off x="6278880" y="1905000"/>
            <a:ext cx="5364480" cy="1668780"/>
          </a:xfrm>
          <a:prstGeom prst="roundRect">
            <a:avLst>
              <a:gd name="adj" fmla="val 593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644652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Finite closure capacity</a:t>
            </a:r>
          </a:p>
        </p:txBody>
      </p:sp>
      <p:sp>
        <p:nvSpPr>
          <p:cNvPr id="12" name="TextBox 11"/>
          <p:cNvSpPr txBox="1"/>
          <p:nvPr/>
        </p:nvSpPr>
        <p:spPr>
          <a:xfrm>
            <a:off x="6446520" y="24512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Eligible or unavailable feedback stays</a:t>
            </a:r>
          </a:p>
        </p:txBody>
      </p:sp>
      <p:sp>
        <p:nvSpPr>
          <p:cNvPr id="13" name="TextBox 12"/>
          <p:cNvSpPr txBox="1"/>
          <p:nvPr/>
        </p:nvSpPr>
        <p:spPr>
          <a:xfrm>
            <a:off x="6446520" y="27243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pending. Full command / cause journals are</a:t>
            </a:r>
          </a:p>
        </p:txBody>
      </p:sp>
      <p:sp>
        <p:nvSpPr>
          <p:cNvPr id="14" name="TextBox 13"/>
          <p:cNvSpPr txBox="1"/>
          <p:nvPr/>
        </p:nvSpPr>
        <p:spPr>
          <a:xfrm>
            <a:off x="6446520" y="29974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not evicted.</a:t>
            </a:r>
          </a:p>
        </p:txBody>
      </p:sp>
      <p:sp>
        <p:nvSpPr>
          <p:cNvPr id="15" name="Rounded Rectangle 14"/>
          <p:cNvSpPr/>
          <p:nvPr/>
        </p:nvSpPr>
        <p:spPr>
          <a:xfrm>
            <a:off x="548640" y="3848100"/>
            <a:ext cx="5364480" cy="1668780"/>
          </a:xfrm>
          <a:prstGeom prst="roundRect">
            <a:avLst>
              <a:gd name="adj" fmla="val 5936"/>
            </a:avLst>
          </a:prstGeom>
          <a:solidFill>
            <a:srgbClr val="E4EBF5"/>
          </a:solidFill>
          <a:ln w="7620">
            <a:solidFill>
              <a:srgbClr val="315E9C"/>
            </a:solidFill>
          </a:ln>
          <a:effectLst/>
        </p:spPr>
        <p:txBody>
          <a:bodyPr rtlCol="0" anchor="ctr"/>
          <a:lstStyle/>
          <a:p>
            <a:pPr algn="ctr"/>
          </a:p>
        </p:txBody>
      </p:sp>
      <p:sp>
        <p:nvSpPr>
          <p:cNvPr id="16" name="TextBox 15"/>
          <p:cNvSpPr txBox="1"/>
          <p:nvPr/>
        </p:nvSpPr>
        <p:spPr>
          <a:xfrm>
            <a:off x="716280" y="40157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Fresh profiles, fresh journals</a:t>
            </a:r>
          </a:p>
        </p:txBody>
      </p:sp>
      <p:sp>
        <p:nvSpPr>
          <p:cNvPr id="17" name="TextBox 16"/>
          <p:cNvSpPr txBox="1"/>
          <p:nvPr/>
        </p:nvSpPr>
        <p:spPr>
          <a:xfrm>
            <a:off x="716280" y="43943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Old M3 pending work cannot be repaired here.</a:t>
            </a:r>
          </a:p>
        </p:txBody>
      </p:sp>
      <p:sp>
        <p:nvSpPr>
          <p:cNvPr id="18" name="TextBox 17"/>
          <p:cNvSpPr txBox="1"/>
          <p:nvPr/>
        </p:nvSpPr>
        <p:spPr>
          <a:xfrm>
            <a:off x="716280" y="46674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Old stores reject the new profile and retain old</a:t>
            </a:r>
          </a:p>
        </p:txBody>
      </p:sp>
      <p:sp>
        <p:nvSpPr>
          <p:cNvPr id="19" name="TextBox 18"/>
          <p:cNvSpPr txBox="1"/>
          <p:nvPr/>
        </p:nvSpPr>
        <p:spPr>
          <a:xfrm>
            <a:off x="716280" y="49405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replay.</a:t>
            </a:r>
          </a:p>
        </p:txBody>
      </p:sp>
      <p:sp>
        <p:nvSpPr>
          <p:cNvPr id="20" name="Rounded Rectangle 19"/>
          <p:cNvSpPr/>
          <p:nvPr/>
        </p:nvSpPr>
        <p:spPr>
          <a:xfrm>
            <a:off x="6278880" y="3848100"/>
            <a:ext cx="5364480" cy="1668780"/>
          </a:xfrm>
          <a:prstGeom prst="roundRect">
            <a:avLst>
              <a:gd name="adj" fmla="val 5936"/>
            </a:avLst>
          </a:prstGeom>
          <a:solidFill>
            <a:srgbClr val="E4EBF5"/>
          </a:solidFill>
          <a:ln w="7620">
            <a:solidFill>
              <a:srgbClr val="315E9C"/>
            </a:solidFill>
          </a:ln>
          <a:effectLst/>
        </p:spPr>
        <p:txBody>
          <a:bodyPr rtlCol="0" anchor="ctr"/>
          <a:lstStyle/>
          <a:p>
            <a:pPr algn="ctr"/>
          </a:p>
        </p:txBody>
      </p:sp>
      <p:sp>
        <p:nvSpPr>
          <p:cNvPr id="21" name="TextBox 20"/>
          <p:cNvSpPr txBox="1"/>
          <p:nvPr/>
        </p:nvSpPr>
        <p:spPr>
          <a:xfrm>
            <a:off x="6446520" y="40157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Local recovery evidence</a:t>
            </a:r>
          </a:p>
        </p:txBody>
      </p:sp>
      <p:sp>
        <p:nvSpPr>
          <p:cNvPr id="22" name="TextBox 21"/>
          <p:cNvSpPr txBox="1"/>
          <p:nvPr/>
        </p:nvSpPr>
        <p:spPr>
          <a:xfrm>
            <a:off x="6446520" y="43943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Same host, cooperative clock, intact files and</a:t>
            </a:r>
          </a:p>
        </p:txBody>
      </p:sp>
      <p:sp>
        <p:nvSpPr>
          <p:cNvPr id="23" name="TextBox 22"/>
          <p:cNvSpPr txBox="1"/>
          <p:nvPr/>
        </p:nvSpPr>
        <p:spPr>
          <a:xfrm>
            <a:off x="6446520" y="46674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trusted operator. Power loss and distributed</a:t>
            </a:r>
          </a:p>
        </p:txBody>
      </p:sp>
      <p:sp>
        <p:nvSpPr>
          <p:cNvPr id="24" name="TextBox 23"/>
          <p:cNvSpPr txBox="1"/>
          <p:nvPr/>
        </p:nvSpPr>
        <p:spPr>
          <a:xfrm>
            <a:off x="6446520" y="49405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failover unrun.</a:t>
            </a:r>
          </a:p>
        </p:txBody>
      </p:sp>
      <p:sp>
        <p:nvSpPr>
          <p:cNvPr id="25" name="Rounded Rectangle 24"/>
          <p:cNvSpPr/>
          <p:nvPr/>
        </p:nvSpPr>
        <p:spPr>
          <a:xfrm>
            <a:off x="548640" y="5829300"/>
            <a:ext cx="11094720" cy="403859"/>
          </a:xfrm>
          <a:prstGeom prst="roundRect">
            <a:avLst>
              <a:gd name="adj" fmla="val 15094"/>
            </a:avLst>
          </a:prstGeom>
          <a:solidFill>
            <a:srgbClr val="EBE5F3"/>
          </a:solidFill>
          <a:ln>
            <a:noFill/>
          </a:ln>
          <a:effectLst/>
        </p:spPr>
        <p:txBody>
          <a:bodyPr rtlCol="0" anchor="ctr"/>
          <a:lstStyle/>
          <a:p>
            <a:pPr algn="ctr"/>
          </a:p>
        </p:txBody>
      </p:sp>
      <p:sp>
        <p:nvSpPr>
          <p:cNvPr id="26" name="TextBox 25"/>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Stopped at M3.1: no new cognition, scheduler, ECAN, LTI, search, migration or chain work.</a:t>
            </a:r>
          </a:p>
        </p:txBody>
      </p:sp>
      <p:cxnSp>
        <p:nvCxnSpPr>
          <p:cNvPr id="27" name="Connector 26"/>
          <p:cNvCxnSpPr/>
          <p:nvPr/>
        </p:nvCxnSpPr>
        <p:spPr>
          <a:xfrm>
            <a:off x="548640" y="6393180"/>
            <a:ext cx="11094720" cy="0"/>
          </a:xfrm>
          <a:prstGeom prst="line">
            <a:avLst/>
          </a:prstGeom>
          <a:ln w="7620">
            <a:solidFill>
              <a:srgbClr val="C9D2D4"/>
            </a:solidFill>
          </a:ln>
          <a:effectLst/>
        </p:spPr>
      </p:cxnSp>
      <p:sp>
        <p:nvSpPr>
          <p:cNvPr id="28" name="TextBox 2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m3_1-evidence.md · compatibility and recovery limits</a:t>
            </a:r>
          </a:p>
        </p:txBody>
      </p:sp>
      <p:sp>
        <p:nvSpPr>
          <p:cNvPr id="29" name="TextBox 2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04 / TAKEAWAY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348740"/>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Keep the evidence.</a:t>
            </a:r>
          </a:p>
        </p:txBody>
      </p:sp>
      <p:sp>
        <p:nvSpPr>
          <p:cNvPr id="5" name="TextBox 4"/>
          <p:cNvSpPr txBox="1"/>
          <p:nvPr/>
        </p:nvSpPr>
        <p:spPr>
          <a:xfrm>
            <a:off x="548640" y="1979676"/>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Preserve the budget.</a:t>
            </a:r>
          </a:p>
        </p:txBody>
      </p:sp>
      <p:sp>
        <p:nvSpPr>
          <p:cNvPr id="6" name="TextBox 5"/>
          <p:cNvSpPr txBox="1"/>
          <p:nvPr/>
        </p:nvSpPr>
        <p:spPr>
          <a:xfrm>
            <a:off x="548640" y="2610612"/>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Account for every effect.</a:t>
            </a:r>
          </a:p>
        </p:txBody>
      </p:sp>
      <p:sp>
        <p:nvSpPr>
          <p:cNvPr id="7" name="TextBox 6"/>
          <p:cNvSpPr txBox="1"/>
          <p:nvPr/>
        </p:nvSpPr>
        <p:spPr>
          <a:xfrm>
            <a:off x="586740" y="3870960"/>
            <a:ext cx="10439400" cy="380619"/>
          </a:xfrm>
          <a:prstGeom prst="rect">
            <a:avLst/>
          </a:prstGeom>
          <a:noFill/>
        </p:spPr>
        <p:txBody>
          <a:bodyPr wrap="none" lIns="0" rIns="0" tIns="0" bIns="0" anchor="t" anchorCtr="0">
            <a:noAutofit/>
          </a:bodyPr>
          <a:lstStyle/>
          <a:p>
            <a:pPr algn="l">
              <a:lnSpc>
                <a:spcPct val="100000"/>
              </a:lnSpc>
              <a:spcBef>
                <a:spcPts val="0"/>
              </a:spcBef>
              <a:spcAft>
                <a:spcPts val="0"/>
              </a:spcAft>
            </a:pPr>
            <a:r>
              <a:rPr sz="2220" b="0">
                <a:solidFill>
                  <a:srgbClr val="AAC0CC"/>
                </a:solidFill>
                <a:latin typeface="DejaVu Sans"/>
              </a:rPr>
              <a:t>Real Hive + native PLN + replaceable attention</a:t>
            </a:r>
          </a:p>
        </p:txBody>
      </p:sp>
      <p:sp>
        <p:nvSpPr>
          <p:cNvPr id="8" name="TextBox 7"/>
          <p:cNvSpPr txBox="1"/>
          <p:nvPr/>
        </p:nvSpPr>
        <p:spPr>
          <a:xfrm>
            <a:off x="586740" y="4251579"/>
            <a:ext cx="10439400" cy="380619"/>
          </a:xfrm>
          <a:prstGeom prst="rect">
            <a:avLst/>
          </a:prstGeom>
          <a:noFill/>
        </p:spPr>
        <p:txBody>
          <a:bodyPr wrap="none" lIns="0" rIns="0" tIns="0" bIns="0" anchor="t" anchorCtr="0">
            <a:noAutofit/>
          </a:bodyPr>
          <a:lstStyle/>
          <a:p>
            <a:pPr algn="l">
              <a:lnSpc>
                <a:spcPct val="100000"/>
              </a:lnSpc>
              <a:spcBef>
                <a:spcPts val="0"/>
              </a:spcBef>
              <a:spcAft>
                <a:spcPts val="0"/>
              </a:spcAft>
            </a:pPr>
            <a:r>
              <a:rPr sz="2220" b="0">
                <a:solidFill>
                  <a:srgbClr val="AAC0CC"/>
                </a:solidFill>
                <a:latin typeface="DejaVu Sans"/>
              </a:rPr>
              <a:t>with separate execution and closure progress.</a:t>
            </a:r>
          </a:p>
        </p:txBody>
      </p:sp>
      <p:sp>
        <p:nvSpPr>
          <p:cNvPr id="9" name="Rounded Rectangle 8"/>
          <p:cNvSpPr/>
          <p:nvPr/>
        </p:nvSpPr>
        <p:spPr>
          <a:xfrm>
            <a:off x="579120" y="5417820"/>
            <a:ext cx="4582968" cy="304800"/>
          </a:xfrm>
          <a:prstGeom prst="roundRect">
            <a:avLst>
              <a:gd name="adj" fmla="val 17500"/>
            </a:avLst>
          </a:prstGeom>
          <a:solidFill>
            <a:srgbClr val="DCEFE8"/>
          </a:solidFill>
          <a:ln>
            <a:noFill/>
          </a:ln>
          <a:effectLst/>
        </p:spPr>
        <p:txBody>
          <a:bodyPr rtlCol="0" anchor="ctr"/>
          <a:lstStyle/>
          <a:p>
            <a:pPr algn="ctr"/>
          </a:p>
        </p:txBody>
      </p:sp>
      <p:sp>
        <p:nvSpPr>
          <p:cNvPr id="10" name="TextBox 9"/>
          <p:cNvSpPr txBox="1"/>
          <p:nvPr/>
        </p:nvSpPr>
        <p:spPr>
          <a:xfrm>
            <a:off x="685800" y="5471160"/>
            <a:ext cx="4392468"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M3.1 COMPLETE · 12 SUPPORTED GATES PASS</a:t>
            </a:r>
          </a:p>
        </p:txBody>
      </p:sp>
      <p:cxnSp>
        <p:nvCxnSpPr>
          <p:cNvPr id="11" name="Connector 10"/>
          <p:cNvCxnSpPr/>
          <p:nvPr/>
        </p:nvCxnSpPr>
        <p:spPr>
          <a:xfrm>
            <a:off x="548640" y="6393180"/>
            <a:ext cx="11094720" cy="0"/>
          </a:xfrm>
          <a:prstGeom prst="line">
            <a:avLst/>
          </a:prstGeom>
          <a:ln w="7620">
            <a:solidFill>
              <a:srgbClr val="536775"/>
            </a:solidFill>
          </a:ln>
          <a:effectLst/>
        </p:spPr>
      </p:cxnSp>
      <p:sp>
        <p:nvSpPr>
          <p:cNvPr id="12" name="TextBox 1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M3.1 / M3.1 tested 1b17d74 · evidence 985d2f3</a:t>
            </a:r>
          </a:p>
        </p:txBody>
      </p:sp>
      <p:sp>
        <p:nvSpPr>
          <p:cNvPr id="13" name="TextBox 1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A / CODE NAVIGATION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Implementation map: responsibilities stay local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Follow interfaces and owner journals before following concrete provider classes.</a:t>
            </a:r>
          </a:p>
        </p:txBody>
      </p:sp>
      <p:sp>
        <p:nvSpPr>
          <p:cNvPr id="5" name="TextBox 4"/>
          <p:cNvSpPr txBox="1"/>
          <p:nvPr/>
        </p:nvSpPr>
        <p:spPr>
          <a:xfrm>
            <a:off x="670560" y="1790700"/>
            <a:ext cx="2194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RESPONSIBILITY</a:t>
            </a:r>
          </a:p>
        </p:txBody>
      </p:sp>
      <p:sp>
        <p:nvSpPr>
          <p:cNvPr id="6" name="TextBox 5"/>
          <p:cNvSpPr txBox="1"/>
          <p:nvPr/>
        </p:nvSpPr>
        <p:spPr>
          <a:xfrm>
            <a:off x="3108960" y="1790700"/>
            <a:ext cx="4861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FILES / SURFACE</a:t>
            </a:r>
          </a:p>
        </p:txBody>
      </p:sp>
      <p:sp>
        <p:nvSpPr>
          <p:cNvPr id="7" name="TextBox 6"/>
          <p:cNvSpPr txBox="1"/>
          <p:nvPr/>
        </p:nvSpPr>
        <p:spPr>
          <a:xfrm>
            <a:off x="8214359" y="1790700"/>
            <a:ext cx="3307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C1 / relay / original C2</a:t>
            </a:r>
          </a:p>
        </p:txBody>
      </p:sp>
      <p:sp>
        <p:nvSpPr>
          <p:cNvPr id="10" name="TextBox 9"/>
          <p:cNvSpPr txBox="1"/>
          <p:nvPr/>
        </p:nvSpPr>
        <p:spPr>
          <a:xfrm>
            <a:off x="3108960" y="224028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episodes.py · evidence_relay.py · delivery_contracts.py</a:t>
            </a:r>
          </a:p>
        </p:txBody>
      </p:sp>
      <p:sp>
        <p:nvSpPr>
          <p:cNvPr id="11" name="TextBox 10"/>
          <p:cNvSpPr txBox="1"/>
          <p:nvPr/>
        </p:nvSpPr>
        <p:spPr>
          <a:xfrm>
            <a:off x="8214359" y="224028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History; delivery + trusted</a:t>
            </a:r>
          </a:p>
        </p:txBody>
      </p:sp>
      <p:sp>
        <p:nvSpPr>
          <p:cNvPr id="12" name="TextBox 11"/>
          <p:cNvSpPr txBox="1"/>
          <p:nvPr/>
        </p:nvSpPr>
        <p:spPr>
          <a:xfrm>
            <a:off x="8214359" y="246461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completion</a:t>
            </a:r>
          </a:p>
        </p:txBody>
      </p:sp>
      <p:sp>
        <p:nvSpPr>
          <p:cNvPr id="13" name="Rounded Rectangle 12"/>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4" name="TextBox 13"/>
          <p:cNvSpPr txBox="1"/>
          <p:nvPr/>
        </p:nvSpPr>
        <p:spPr>
          <a:xfrm>
            <a:off x="670560" y="285750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C2 derived admission</a:t>
            </a:r>
          </a:p>
        </p:txBody>
      </p:sp>
      <p:sp>
        <p:nvSpPr>
          <p:cNvPr id="15" name="TextBox 14"/>
          <p:cNvSpPr txBox="1"/>
          <p:nvPr/>
        </p:nvSpPr>
        <p:spPr>
          <a:xfrm>
            <a:off x="3108960" y="285750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derived_beliefs.py · cognition_contracts.py</a:t>
            </a:r>
          </a:p>
        </p:txBody>
      </p:sp>
      <p:sp>
        <p:nvSpPr>
          <p:cNvPr id="16" name="TextBox 15"/>
          <p:cNvSpPr txBox="1"/>
          <p:nvPr/>
        </p:nvSpPr>
        <p:spPr>
          <a:xfrm>
            <a:off x="8214359" y="285750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Fresh derived-beliefs.sqlite · local v3</a:t>
            </a:r>
          </a:p>
        </p:txBody>
      </p:sp>
      <p:sp>
        <p:nvSpPr>
          <p:cNvPr id="17" name="Rounded Rectangle 16"/>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18" name="TextBox 17"/>
          <p:cNvSpPr txBox="1"/>
          <p:nvPr/>
        </p:nvSpPr>
        <p:spPr>
          <a:xfrm>
            <a:off x="670560" y="3474719"/>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attention</a:t>
            </a:r>
          </a:p>
        </p:txBody>
      </p:sp>
      <p:sp>
        <p:nvSpPr>
          <p:cNvPr id="19" name="TextBox 18"/>
          <p:cNvSpPr txBox="1"/>
          <p:nvPr/>
        </p:nvSpPr>
        <p:spPr>
          <a:xfrm>
            <a:off x="3108960" y="3474719"/>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attention.py · adapters/fixture_attention.py</a:t>
            </a:r>
          </a:p>
        </p:txBody>
      </p:sp>
      <p:sp>
        <p:nvSpPr>
          <p:cNvPr id="20" name="TextBox 19"/>
          <p:cNvSpPr txBox="1"/>
          <p:nvPr/>
        </p:nvSpPr>
        <p:spPr>
          <a:xfrm>
            <a:off x="8214359" y="3474719"/>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SQLite or independent atomic-file</a:t>
            </a:r>
          </a:p>
        </p:txBody>
      </p:sp>
      <p:sp>
        <p:nvSpPr>
          <p:cNvPr id="21" name="TextBox 20"/>
          <p:cNvSpPr txBox="1"/>
          <p:nvPr/>
        </p:nvSpPr>
        <p:spPr>
          <a:xfrm>
            <a:off x="8214359" y="369905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state</a:t>
            </a:r>
          </a:p>
        </p:txBody>
      </p:sp>
      <p:sp>
        <p:nvSpPr>
          <p:cNvPr id="22" name="Rounded Rectangle 21"/>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3" name="TextBox 22"/>
          <p:cNvSpPr txBox="1"/>
          <p:nvPr/>
        </p:nvSpPr>
        <p:spPr>
          <a:xfrm>
            <a:off x="670560" y="409194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Pure PLN providers</a:t>
            </a:r>
          </a:p>
        </p:txBody>
      </p:sp>
      <p:sp>
        <p:nvSpPr>
          <p:cNvPr id="24" name="TextBox 23"/>
          <p:cNvSpPr txBox="1"/>
          <p:nvPr/>
        </p:nvSpPr>
        <p:spPr>
          <a:xfrm>
            <a:off x="3108960" y="409194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adapters/pln_deduction.py · pln_revision.py</a:t>
            </a:r>
          </a:p>
        </p:txBody>
      </p:sp>
      <p:sp>
        <p:nvSpPr>
          <p:cNvPr id="25" name="TextBox 24"/>
          <p:cNvSpPr txBox="1"/>
          <p:nvPr/>
        </p:nvSpPr>
        <p:spPr>
          <a:xfrm>
            <a:off x="8214359" y="409194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domain state</a:t>
            </a:r>
          </a:p>
        </p:txBody>
      </p:sp>
      <p:sp>
        <p:nvSpPr>
          <p:cNvPr id="26" name="Rounded Rectangle 25"/>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27" name="TextBox 26"/>
          <p:cNvSpPr txBox="1"/>
          <p:nvPr/>
        </p:nvSpPr>
        <p:spPr>
          <a:xfrm>
            <a:off x="670560" y="470916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C4 controller</a:t>
            </a:r>
          </a:p>
        </p:txBody>
      </p:sp>
      <p:sp>
        <p:nvSpPr>
          <p:cNvPr id="28" name="TextBox 27"/>
          <p:cNvSpPr txBox="1"/>
          <p:nvPr/>
        </p:nvSpPr>
        <p:spPr>
          <a:xfrm>
            <a:off x="3108960" y="470916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inference.py · deadlines.py</a:t>
            </a:r>
          </a:p>
        </p:txBody>
      </p:sp>
      <p:sp>
        <p:nvSpPr>
          <p:cNvPr id="29" name="TextBox 28"/>
          <p:cNvSpPr txBox="1"/>
          <p:nvPr/>
        </p:nvSpPr>
        <p:spPr>
          <a:xfrm>
            <a:off x="8214359" y="470916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Budgets / execution + separate</a:t>
            </a:r>
          </a:p>
        </p:txBody>
      </p:sp>
      <p:sp>
        <p:nvSpPr>
          <p:cNvPr id="30" name="TextBox 29"/>
          <p:cNvSpPr txBox="1"/>
          <p:nvPr/>
        </p:nvSpPr>
        <p:spPr>
          <a:xfrm>
            <a:off x="8214359" y="493349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closure journal</a:t>
            </a:r>
          </a:p>
        </p:txBody>
      </p:sp>
      <p:sp>
        <p:nvSpPr>
          <p:cNvPr id="31" name="Rounded Rectangle 30"/>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2" name="TextBox 31"/>
          <p:cNvSpPr txBox="1"/>
          <p:nvPr/>
        </p:nvSpPr>
        <p:spPr>
          <a:xfrm>
            <a:off x="670560" y="532638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Composition / native</a:t>
            </a:r>
          </a:p>
        </p:txBody>
      </p:sp>
      <p:sp>
        <p:nvSpPr>
          <p:cNvPr id="33" name="TextBox 32"/>
          <p:cNvSpPr txBox="1"/>
          <p:nvPr/>
        </p:nvSpPr>
        <p:spPr>
          <a:xfrm>
            <a:off x="670560" y="5550712"/>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caller</a:t>
            </a:r>
          </a:p>
        </p:txBody>
      </p:sp>
      <p:sp>
        <p:nvSpPr>
          <p:cNvPr id="34" name="TextBox 33"/>
          <p:cNvSpPr txBox="1"/>
          <p:nvPr/>
        </p:nvSpPr>
        <p:spPr>
          <a:xfrm>
            <a:off x="3108960" y="532638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cognition.py · hive/inference_program/</a:t>
            </a:r>
          </a:p>
        </p:txBody>
      </p:sp>
      <p:sp>
        <p:nvSpPr>
          <p:cNvPr id="35" name="TextBox 34"/>
          <p:cNvSpPr txBox="1"/>
          <p:nvPr/>
        </p:nvSpPr>
        <p:spPr>
          <a:xfrm>
            <a:off x="8214359" y="532638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Explicit provider bindings; caller</a:t>
            </a:r>
          </a:p>
        </p:txBody>
      </p:sp>
      <p:sp>
        <p:nvSpPr>
          <p:cNvPr id="36" name="TextBox 35"/>
          <p:cNvSpPr txBox="1"/>
          <p:nvPr/>
        </p:nvSpPr>
        <p:spPr>
          <a:xfrm>
            <a:off x="8214359" y="555071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receipt</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architecture.md · ports.py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B / SOURCE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Exact sources identify the verified native stack</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Full revisions are printed here; source files and built binary hashes remain in the committed evidence.</a:t>
            </a:r>
          </a:p>
        </p:txBody>
      </p:sp>
      <p:sp>
        <p:nvSpPr>
          <p:cNvPr id="5" name="Rounded Rectangle 4"/>
          <p:cNvSpPr/>
          <p:nvPr/>
        </p:nvSpPr>
        <p:spPr>
          <a:xfrm>
            <a:off x="548640" y="1821180"/>
            <a:ext cx="11094720" cy="441959"/>
          </a:xfrm>
          <a:prstGeom prst="roundRect">
            <a:avLst>
              <a:gd name="adj" fmla="val 10344"/>
            </a:avLst>
          </a:prstGeom>
          <a:solidFill>
            <a:srgbClr val="FFFFFF"/>
          </a:solidFill>
          <a:ln>
            <a:noFill/>
          </a:ln>
          <a:effectLst/>
        </p:spPr>
        <p:txBody>
          <a:bodyPr rtlCol="0" anchor="ctr"/>
          <a:lstStyle/>
          <a:p>
            <a:pPr algn="ctr"/>
          </a:p>
        </p:txBody>
      </p:sp>
      <p:sp>
        <p:nvSpPr>
          <p:cNvPr id="6" name="TextBox 5"/>
          <p:cNvSpPr txBox="1"/>
          <p:nvPr/>
        </p:nvSpPr>
        <p:spPr>
          <a:xfrm>
            <a:off x="678180" y="1927859"/>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Fusion · tested</a:t>
            </a:r>
          </a:p>
        </p:txBody>
      </p:sp>
      <p:sp>
        <p:nvSpPr>
          <p:cNvPr id="7" name="TextBox 6"/>
          <p:cNvSpPr txBox="1"/>
          <p:nvPr/>
        </p:nvSpPr>
        <p:spPr>
          <a:xfrm>
            <a:off x="3390900" y="1927859"/>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1b17d74f2808703894ea55c9539adf264bc87976</a:t>
            </a:r>
          </a:p>
        </p:txBody>
      </p:sp>
      <p:sp>
        <p:nvSpPr>
          <p:cNvPr id="8" name="Rounded Rectangle 7"/>
          <p:cNvSpPr/>
          <p:nvPr/>
        </p:nvSpPr>
        <p:spPr>
          <a:xfrm>
            <a:off x="548640" y="2308860"/>
            <a:ext cx="11094720" cy="441959"/>
          </a:xfrm>
          <a:prstGeom prst="roundRect">
            <a:avLst>
              <a:gd name="adj" fmla="val 10344"/>
            </a:avLst>
          </a:prstGeom>
          <a:solidFill>
            <a:srgbClr val="FFFFFF"/>
          </a:solidFill>
          <a:ln>
            <a:noFill/>
          </a:ln>
          <a:effectLst/>
        </p:spPr>
        <p:txBody>
          <a:bodyPr rtlCol="0" anchor="ctr"/>
          <a:lstStyle/>
          <a:p>
            <a:pPr algn="ctr"/>
          </a:p>
        </p:txBody>
      </p:sp>
      <p:sp>
        <p:nvSpPr>
          <p:cNvPr id="9" name="TextBox 8"/>
          <p:cNvSpPr txBox="1"/>
          <p:nvPr/>
        </p:nvSpPr>
        <p:spPr>
          <a:xfrm>
            <a:off x="678180" y="241554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Hive schematics</a:t>
            </a:r>
          </a:p>
        </p:txBody>
      </p:sp>
      <p:sp>
        <p:nvSpPr>
          <p:cNvPr id="10" name="TextBox 9"/>
          <p:cNvSpPr txBox="1"/>
          <p:nvPr/>
        </p:nvSpPr>
        <p:spPr>
          <a:xfrm>
            <a:off x="3390900" y="241554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4af00db4e395375484dd48d0b9068a59afcf01f8</a:t>
            </a:r>
          </a:p>
        </p:txBody>
      </p:sp>
      <p:sp>
        <p:nvSpPr>
          <p:cNvPr id="11" name="Rounded Rectangle 10"/>
          <p:cNvSpPr/>
          <p:nvPr/>
        </p:nvSpPr>
        <p:spPr>
          <a:xfrm>
            <a:off x="548640" y="2796540"/>
            <a:ext cx="11094720" cy="441959"/>
          </a:xfrm>
          <a:prstGeom prst="roundRect">
            <a:avLst>
              <a:gd name="adj" fmla="val 10344"/>
            </a:avLst>
          </a:prstGeom>
          <a:solidFill>
            <a:srgbClr val="FFFFFF"/>
          </a:solidFill>
          <a:ln>
            <a:noFill/>
          </a:ln>
          <a:effectLst/>
        </p:spPr>
        <p:txBody>
          <a:bodyPr rtlCol="0" anchor="ctr"/>
          <a:lstStyle/>
          <a:p>
            <a:pPr algn="ctr"/>
          </a:p>
        </p:txBody>
      </p:sp>
      <p:sp>
        <p:nvSpPr>
          <p:cNvPr id="12" name="TextBox 11"/>
          <p:cNvSpPr txBox="1"/>
          <p:nvPr/>
        </p:nvSpPr>
        <p:spPr>
          <a:xfrm>
            <a:off x="678180" y="290322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Hive</a:t>
            </a:r>
          </a:p>
        </p:txBody>
      </p:sp>
      <p:sp>
        <p:nvSpPr>
          <p:cNvPr id="13" name="TextBox 12"/>
          <p:cNvSpPr txBox="1"/>
          <p:nvPr/>
        </p:nvSpPr>
        <p:spPr>
          <a:xfrm>
            <a:off x="3390900" y="290322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34b0fb32ab3806e5609fc89bb7535518a35e1aea</a:t>
            </a:r>
          </a:p>
        </p:txBody>
      </p:sp>
      <p:sp>
        <p:nvSpPr>
          <p:cNvPr id="14" name="Rounded Rectangle 13"/>
          <p:cNvSpPr/>
          <p:nvPr/>
        </p:nvSpPr>
        <p:spPr>
          <a:xfrm>
            <a:off x="548640" y="3284219"/>
            <a:ext cx="11094720" cy="441959"/>
          </a:xfrm>
          <a:prstGeom prst="roundRect">
            <a:avLst>
              <a:gd name="adj" fmla="val 10344"/>
            </a:avLst>
          </a:prstGeom>
          <a:solidFill>
            <a:srgbClr val="FFFFFF"/>
          </a:solidFill>
          <a:ln>
            <a:noFill/>
          </a:ln>
          <a:effectLst/>
        </p:spPr>
        <p:txBody>
          <a:bodyPr rtlCol="0" anchor="ctr"/>
          <a:lstStyle/>
          <a:p>
            <a:pPr algn="ctr"/>
          </a:p>
        </p:txBody>
      </p:sp>
      <p:sp>
        <p:nvSpPr>
          <p:cNvPr id="15" name="TextBox 14"/>
          <p:cNvSpPr txBox="1"/>
          <p:nvPr/>
        </p:nvSpPr>
        <p:spPr>
          <a:xfrm>
            <a:off x="678180" y="339090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DeTTa</a:t>
            </a:r>
          </a:p>
        </p:txBody>
      </p:sp>
      <p:sp>
        <p:nvSpPr>
          <p:cNvPr id="16" name="TextBox 15"/>
          <p:cNvSpPr txBox="1"/>
          <p:nvPr/>
        </p:nvSpPr>
        <p:spPr>
          <a:xfrm>
            <a:off x="3390900" y="339090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272888f264dd2dde18b574cabb53c266b0dac2ec</a:t>
            </a:r>
          </a:p>
        </p:txBody>
      </p:sp>
      <p:sp>
        <p:nvSpPr>
          <p:cNvPr id="17" name="Rounded Rectangle 16"/>
          <p:cNvSpPr/>
          <p:nvPr/>
        </p:nvSpPr>
        <p:spPr>
          <a:xfrm>
            <a:off x="548640" y="3771900"/>
            <a:ext cx="11094720" cy="441959"/>
          </a:xfrm>
          <a:prstGeom prst="roundRect">
            <a:avLst>
              <a:gd name="adj" fmla="val 10344"/>
            </a:avLst>
          </a:prstGeom>
          <a:solidFill>
            <a:srgbClr val="FFFFFF"/>
          </a:solidFill>
          <a:ln>
            <a:noFill/>
          </a:ln>
          <a:effectLst/>
        </p:spPr>
        <p:txBody>
          <a:bodyPr rtlCol="0" anchor="ctr"/>
          <a:lstStyle/>
          <a:p>
            <a:pPr algn="ctr"/>
          </a:p>
        </p:txBody>
      </p:sp>
      <p:sp>
        <p:nvSpPr>
          <p:cNvPr id="18" name="TextBox 17"/>
          <p:cNvSpPr txBox="1"/>
          <p:nvPr/>
        </p:nvSpPr>
        <p:spPr>
          <a:xfrm>
            <a:off x="678180" y="3878579"/>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Reachability</a:t>
            </a:r>
          </a:p>
        </p:txBody>
      </p:sp>
      <p:sp>
        <p:nvSpPr>
          <p:cNvPr id="19" name="TextBox 18"/>
          <p:cNvSpPr txBox="1"/>
          <p:nvPr/>
        </p:nvSpPr>
        <p:spPr>
          <a:xfrm>
            <a:off x="3390900" y="3878579"/>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dd56f3f053ed90239de5377021a7d3b3fbf424ac</a:t>
            </a:r>
          </a:p>
        </p:txBody>
      </p:sp>
      <p:sp>
        <p:nvSpPr>
          <p:cNvPr id="20" name="Rounded Rectangle 19"/>
          <p:cNvSpPr/>
          <p:nvPr/>
        </p:nvSpPr>
        <p:spPr>
          <a:xfrm>
            <a:off x="548640" y="4259580"/>
            <a:ext cx="11094720" cy="441959"/>
          </a:xfrm>
          <a:prstGeom prst="roundRect">
            <a:avLst>
              <a:gd name="adj" fmla="val 10344"/>
            </a:avLst>
          </a:prstGeom>
          <a:solidFill>
            <a:srgbClr val="FFFFFF"/>
          </a:solidFill>
          <a:ln>
            <a:noFill/>
          </a:ln>
          <a:effectLst/>
        </p:spPr>
        <p:txBody>
          <a:bodyPr rtlCol="0" anchor="ctr"/>
          <a:lstStyle/>
          <a:p>
            <a:pPr algn="ctr"/>
          </a:p>
        </p:txBody>
      </p:sp>
      <p:sp>
        <p:nvSpPr>
          <p:cNvPr id="21" name="TextBox 20"/>
          <p:cNvSpPr txBox="1"/>
          <p:nvPr/>
        </p:nvSpPr>
        <p:spPr>
          <a:xfrm>
            <a:off x="678180" y="436626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PLN</a:t>
            </a:r>
          </a:p>
        </p:txBody>
      </p:sp>
      <p:sp>
        <p:nvSpPr>
          <p:cNvPr id="22" name="TextBox 21"/>
          <p:cNvSpPr txBox="1"/>
          <p:nvPr/>
        </p:nvSpPr>
        <p:spPr>
          <a:xfrm>
            <a:off x="3390900" y="436626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4405956947c4b53c7ff01bd565aa3b114bc970a1</a:t>
            </a:r>
          </a:p>
        </p:txBody>
      </p:sp>
      <p:sp>
        <p:nvSpPr>
          <p:cNvPr id="23" name="Rounded Rectangle 22"/>
          <p:cNvSpPr/>
          <p:nvPr/>
        </p:nvSpPr>
        <p:spPr>
          <a:xfrm>
            <a:off x="548640" y="4747260"/>
            <a:ext cx="11094720" cy="441959"/>
          </a:xfrm>
          <a:prstGeom prst="roundRect">
            <a:avLst>
              <a:gd name="adj" fmla="val 10344"/>
            </a:avLst>
          </a:prstGeom>
          <a:solidFill>
            <a:srgbClr val="FFFFFF"/>
          </a:solidFill>
          <a:ln>
            <a:noFill/>
          </a:ln>
          <a:effectLst/>
        </p:spPr>
        <p:txBody>
          <a:bodyPr rtlCol="0" anchor="ctr"/>
          <a:lstStyle/>
          <a:p>
            <a:pPr algn="ctr"/>
          </a:p>
        </p:txBody>
      </p:sp>
      <p:sp>
        <p:nvSpPr>
          <p:cNvPr id="24" name="TextBox 23"/>
          <p:cNvSpPr txBox="1"/>
          <p:nvPr/>
        </p:nvSpPr>
        <p:spPr>
          <a:xfrm>
            <a:off x="678180" y="485394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PeTTa</a:t>
            </a:r>
          </a:p>
        </p:txBody>
      </p:sp>
      <p:sp>
        <p:nvSpPr>
          <p:cNvPr id="25" name="TextBox 24"/>
          <p:cNvSpPr txBox="1"/>
          <p:nvPr/>
        </p:nvSpPr>
        <p:spPr>
          <a:xfrm>
            <a:off x="3390900" y="485394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ae66fa8e41dcd5539d614706bd4e5cfb34f9608d</a:t>
            </a:r>
          </a:p>
        </p:txBody>
      </p:sp>
      <p:sp>
        <p:nvSpPr>
          <p:cNvPr id="26" name="Rounded Rectangle 25"/>
          <p:cNvSpPr/>
          <p:nvPr/>
        </p:nvSpPr>
        <p:spPr>
          <a:xfrm>
            <a:off x="548640" y="5234940"/>
            <a:ext cx="11094720" cy="441959"/>
          </a:xfrm>
          <a:prstGeom prst="roundRect">
            <a:avLst>
              <a:gd name="adj" fmla="val 10344"/>
            </a:avLst>
          </a:prstGeom>
          <a:solidFill>
            <a:srgbClr val="FFFFFF"/>
          </a:solidFill>
          <a:ln>
            <a:noFill/>
          </a:ln>
          <a:effectLst/>
        </p:spPr>
        <p:txBody>
          <a:bodyPr rtlCol="0" anchor="ctr"/>
          <a:lstStyle/>
          <a:p>
            <a:pPr algn="ctr"/>
          </a:p>
        </p:txBody>
      </p:sp>
      <p:sp>
        <p:nvSpPr>
          <p:cNvPr id="27" name="TextBox 26"/>
          <p:cNvSpPr txBox="1"/>
          <p:nvPr/>
        </p:nvSpPr>
        <p:spPr>
          <a:xfrm>
            <a:off x="678180" y="534162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SWI 10.1.14</a:t>
            </a:r>
          </a:p>
        </p:txBody>
      </p:sp>
      <p:sp>
        <p:nvSpPr>
          <p:cNvPr id="28" name="TextBox 27"/>
          <p:cNvSpPr txBox="1"/>
          <p:nvPr/>
        </p:nvSpPr>
        <p:spPr>
          <a:xfrm>
            <a:off x="3390900" y="534162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69775434c8226897626b226aefcc8266499f1e2e</a:t>
            </a:r>
          </a:p>
        </p:txBody>
      </p:sp>
      <p:sp>
        <p:nvSpPr>
          <p:cNvPr id="29" name="Rounded Rectangle 28"/>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0" name="TextBox 29"/>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metta-attention inspected at 3e1c8147; not used as the bounded STI provider.</a:t>
            </a:r>
          </a:p>
        </p:txBody>
      </p:sp>
      <p:cxnSp>
        <p:nvCxnSpPr>
          <p:cNvPr id="31" name="Connector 30"/>
          <p:cNvCxnSpPr/>
          <p:nvPr/>
        </p:nvCxnSpPr>
        <p:spPr>
          <a:xfrm>
            <a:off x="548640" y="6393180"/>
            <a:ext cx="11094720" cy="0"/>
          </a:xfrm>
          <a:prstGeom prst="line">
            <a:avLst/>
          </a:prstGeom>
          <a:ln w="7620">
            <a:solidFill>
              <a:srgbClr val="C9D2D4"/>
            </a:solidFill>
          </a:ln>
          <a:effectLst/>
        </p:spPr>
      </p:cxnSp>
      <p:sp>
        <p:nvSpPr>
          <p:cNvPr id="32" name="TextBox 3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m3_1/final/verification.json · build.json</a:t>
            </a:r>
          </a:p>
        </p:txBody>
      </p:sp>
      <p:sp>
        <p:nvSpPr>
          <p:cNvPr id="33" name="TextBox 3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C / CONTRACT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Profiles and bounds make compatibility explicit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fusion-delivery-closure/1 selects fresh C1 / C3 / C4 journals; C2 and the math stay unchanged.</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PORT / PROFILE</a:t>
            </a:r>
          </a:p>
        </p:txBody>
      </p:sp>
      <p:sp>
        <p:nvSpPr>
          <p:cNvPr id="6" name="TextBox 5"/>
          <p:cNvSpPr txBox="1"/>
          <p:nvPr/>
        </p:nvSpPr>
        <p:spPr>
          <a:xfrm>
            <a:off x="3185160" y="1790700"/>
            <a:ext cx="4404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EXPLICIT SELECTION</a:t>
            </a:r>
          </a:p>
        </p:txBody>
      </p:sp>
      <p:sp>
        <p:nvSpPr>
          <p:cNvPr id="7" name="TextBox 6"/>
          <p:cNvSpPr txBox="1"/>
          <p:nvPr/>
        </p:nvSpPr>
        <p:spPr>
          <a:xfrm>
            <a:off x="7833359" y="1790700"/>
            <a:ext cx="3688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KEY BOUND</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C1 · local 3.0.0</a:t>
            </a:r>
          </a:p>
        </p:txBody>
      </p:sp>
      <p:sp>
        <p:nvSpPr>
          <p:cNvPr id="10" name="TextBox 9"/>
          <p:cNvSpPr txBox="1"/>
          <p:nvPr/>
        </p:nvSpPr>
        <p:spPr>
          <a:xfrm>
            <a:off x="3185160" y="224028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episode-delivery-completion/1</a:t>
            </a:r>
          </a:p>
        </p:txBody>
      </p:sp>
      <p:sp>
        <p:nvSpPr>
          <p:cNvPr id="11" name="TextBox 10"/>
          <p:cNvSpPr txBox="1"/>
          <p:nvPr/>
        </p:nvSpPr>
        <p:spPr>
          <a:xfrm>
            <a:off x="7833359" y="22402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16 pending; 256 events; trusted</a:t>
            </a:r>
          </a:p>
        </p:txBody>
      </p:sp>
      <p:sp>
        <p:nvSpPr>
          <p:cNvPr id="12" name="TextBox 11"/>
          <p:cNvSpPr txBox="1"/>
          <p:nvPr/>
        </p:nvSpPr>
        <p:spPr>
          <a:xfrm>
            <a:off x="7833359" y="246461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completion only</a:t>
            </a:r>
          </a:p>
        </p:txBody>
      </p:sp>
      <p:sp>
        <p:nvSpPr>
          <p:cNvPr id="13" name="Rounded Rectangle 12"/>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4" name="TextBox 13"/>
          <p:cNvSpPr txBox="1"/>
          <p:nvPr/>
        </p:nvSpPr>
        <p:spPr>
          <a:xfrm>
            <a:off x="670560" y="28575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C2 derived · local</a:t>
            </a:r>
          </a:p>
        </p:txBody>
      </p:sp>
      <p:sp>
        <p:nvSpPr>
          <p:cNvPr id="15" name="TextBox 14"/>
          <p:cNvSpPr txBox="1"/>
          <p:nvPr/>
        </p:nvSpPr>
        <p:spPr>
          <a:xfrm>
            <a:off x="670560" y="3081832"/>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3.0.0</a:t>
            </a:r>
          </a:p>
        </p:txBody>
      </p:sp>
      <p:sp>
        <p:nvSpPr>
          <p:cNvPr id="16" name="TextBox 15"/>
          <p:cNvSpPr txBox="1"/>
          <p:nvPr/>
        </p:nvSpPr>
        <p:spPr>
          <a:xfrm>
            <a:off x="3185160" y="285750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pln-derived-private/1 · unchanged</a:t>
            </a:r>
          </a:p>
        </p:txBody>
      </p:sp>
      <p:sp>
        <p:nvSpPr>
          <p:cNvPr id="17" name="TextBox 16"/>
          <p:cNvSpPr txBox="1"/>
          <p:nvPr/>
        </p:nvSpPr>
        <p:spPr>
          <a:xfrm>
            <a:off x="7833359" y="285750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Historical premises and inherited support</a:t>
            </a:r>
          </a:p>
        </p:txBody>
      </p:sp>
      <p:sp>
        <p:nvSpPr>
          <p:cNvPr id="18" name="TextBox 17"/>
          <p:cNvSpPr txBox="1"/>
          <p:nvPr/>
        </p:nvSpPr>
        <p:spPr>
          <a:xfrm>
            <a:off x="7833359" y="308183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roots</a:t>
            </a:r>
          </a:p>
        </p:txBody>
      </p:sp>
      <p:sp>
        <p:nvSpPr>
          <p:cNvPr id="19" name="Rounded Rectangle 18"/>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20" name="TextBox 19"/>
          <p:cNvSpPr txBox="1"/>
          <p:nvPr/>
        </p:nvSpPr>
        <p:spPr>
          <a:xfrm>
            <a:off x="670560" y="3474719"/>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 local 2.1.0</a:t>
            </a:r>
          </a:p>
        </p:txBody>
      </p:sp>
      <p:sp>
        <p:nvSpPr>
          <p:cNvPr id="21" name="TextBox 20"/>
          <p:cNvSpPr txBox="1"/>
          <p:nvPr/>
        </p:nvSpPr>
        <p:spPr>
          <a:xfrm>
            <a:off x="3185160" y="3474719"/>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sti-additive-linear-decay-closure/1</a:t>
            </a:r>
          </a:p>
        </p:txBody>
      </p:sp>
      <p:sp>
        <p:nvSpPr>
          <p:cNvPr id="22" name="TextBox 21"/>
          <p:cNvSpPr txBox="1"/>
          <p:nvPr/>
        </p:nvSpPr>
        <p:spPr>
          <a:xfrm>
            <a:off x="7833359" y="3474719"/>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Existing STI, cause and command</a:t>
            </a:r>
          </a:p>
        </p:txBody>
      </p:sp>
      <p:sp>
        <p:nvSpPr>
          <p:cNvPr id="23" name="TextBox 22"/>
          <p:cNvSpPr txBox="1"/>
          <p:nvPr/>
        </p:nvSpPr>
        <p:spPr>
          <a:xfrm>
            <a:off x="7833359" y="369905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capacities</a:t>
            </a:r>
          </a:p>
        </p:txBody>
      </p:sp>
      <p:sp>
        <p:nvSpPr>
          <p:cNvPr id="24" name="Rounded Rectangle 23"/>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5" name="TextBox 24"/>
          <p:cNvSpPr txBox="1"/>
          <p:nvPr/>
        </p:nvSpPr>
        <p:spPr>
          <a:xfrm>
            <a:off x="670560" y="40919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C4 · local 2.1.0</a:t>
            </a:r>
          </a:p>
        </p:txBody>
      </p:sp>
      <p:sp>
        <p:nvSpPr>
          <p:cNvPr id="26" name="TextBox 25"/>
          <p:cNvSpPr txBox="1"/>
          <p:nvPr/>
        </p:nvSpPr>
        <p:spPr>
          <a:xfrm>
            <a:off x="3185160" y="409194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bounded-grounded-closure/1</a:t>
            </a:r>
          </a:p>
        </p:txBody>
      </p:sp>
      <p:sp>
        <p:nvSpPr>
          <p:cNvPr id="27" name="TextBox 26"/>
          <p:cNvSpPr txBox="1"/>
          <p:nvPr/>
        </p:nvSpPr>
        <p:spPr>
          <a:xfrm>
            <a:off x="7833359" y="409194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1–16 resolutions/call; 128</a:t>
            </a:r>
          </a:p>
        </p:txBody>
      </p:sp>
      <p:sp>
        <p:nvSpPr>
          <p:cNvPr id="28" name="TextBox 27"/>
          <p:cNvSpPr txBox="1"/>
          <p:nvPr/>
        </p:nvSpPr>
        <p:spPr>
          <a:xfrm>
            <a:off x="7833359" y="431627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commands/step</a:t>
            </a:r>
          </a:p>
        </p:txBody>
      </p:sp>
      <p:sp>
        <p:nvSpPr>
          <p:cNvPr id="29" name="Rounded Rectangle 28"/>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30" name="TextBox 29"/>
          <p:cNvSpPr txBox="1"/>
          <p:nvPr/>
        </p:nvSpPr>
        <p:spPr>
          <a:xfrm>
            <a:off x="670560" y="47091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PLN kernel · local</a:t>
            </a:r>
          </a:p>
        </p:txBody>
      </p:sp>
      <p:sp>
        <p:nvSpPr>
          <p:cNvPr id="31" name="TextBox 30"/>
          <p:cNvSpPr txBox="1"/>
          <p:nvPr/>
        </p:nvSpPr>
        <p:spPr>
          <a:xfrm>
            <a:off x="670560" y="4933492"/>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2.0.0</a:t>
            </a:r>
          </a:p>
        </p:txBody>
      </p:sp>
      <p:sp>
        <p:nvSpPr>
          <p:cNvPr id="32" name="TextBox 31"/>
          <p:cNvSpPr txBox="1"/>
          <p:nvPr/>
        </p:nvSpPr>
        <p:spPr>
          <a:xfrm>
            <a:off x="3185160" y="470916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grounded-five-premise-deduction/1</a:t>
            </a:r>
          </a:p>
        </p:txBody>
      </p:sp>
      <p:sp>
        <p:nvSpPr>
          <p:cNvPr id="33" name="TextBox 32"/>
          <p:cNvSpPr txBox="1"/>
          <p:nvPr/>
        </p:nvSpPr>
        <p:spPr>
          <a:xfrm>
            <a:off x="7833359" y="470916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unchanged native rule; five exact</a:t>
            </a:r>
          </a:p>
        </p:txBody>
      </p:sp>
      <p:sp>
        <p:nvSpPr>
          <p:cNvPr id="34" name="TextBox 33"/>
          <p:cNvSpPr txBox="1"/>
          <p:nvPr/>
        </p:nvSpPr>
        <p:spPr>
          <a:xfrm>
            <a:off x="7833359" y="493349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premises</a:t>
            </a:r>
          </a:p>
        </p:txBody>
      </p:sp>
      <p:sp>
        <p:nvSpPr>
          <p:cNvPr id="35" name="Rounded Rectangle 34"/>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6" name="TextBox 35"/>
          <p:cNvSpPr txBox="1"/>
          <p:nvPr/>
        </p:nvSpPr>
        <p:spPr>
          <a:xfrm>
            <a:off x="670560" y="53263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Historical M1 / M2 / M3</a:t>
            </a:r>
          </a:p>
        </p:txBody>
      </p:sp>
      <p:sp>
        <p:nvSpPr>
          <p:cNvPr id="37" name="TextBox 36"/>
          <p:cNvSpPr txBox="1"/>
          <p:nvPr/>
        </p:nvSpPr>
        <p:spPr>
          <a:xfrm>
            <a:off x="3185160" y="532638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Original descriptors remain selectable</a:t>
            </a:r>
          </a:p>
        </p:txBody>
      </p:sp>
      <p:sp>
        <p:nvSpPr>
          <p:cNvPr id="38" name="TextBox 37"/>
          <p:cNvSpPr txBox="1"/>
          <p:nvPr/>
        </p:nvSpPr>
        <p:spPr>
          <a:xfrm>
            <a:off x="7833359" y="53263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silent upgrade; no live state migration</a:t>
            </a:r>
          </a:p>
        </p:txBody>
      </p:sp>
      <p:cxnSp>
        <p:nvCxnSpPr>
          <p:cNvPr id="39" name="Connector 38"/>
          <p:cNvCxnSpPr/>
          <p:nvPr/>
        </p:nvCxnSpPr>
        <p:spPr>
          <a:xfrm>
            <a:off x="548640" y="6393180"/>
            <a:ext cx="11094720" cy="0"/>
          </a:xfrm>
          <a:prstGeom prst="line">
            <a:avLst/>
          </a:prstGeom>
          <a:ln w="7620">
            <a:solidFill>
              <a:srgbClr val="C9D2D4"/>
            </a:solidFill>
          </a:ln>
          <a:effectLst/>
        </p:spPr>
      </p:cxnSp>
      <p:sp>
        <p:nvSpPr>
          <p:cNvPr id="40" name="TextBox 3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contracts.md · cognition.py</a:t>
            </a:r>
          </a:p>
        </p:txBody>
      </p:sp>
      <p:sp>
        <p:nvSpPr>
          <p:cNvPr id="41" name="TextBox 4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D / EXISTING-STATE COMPATIBILITY</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New profiles close the seam; old stores stay explicit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M3 findings were reproduced before edits. M3.1 is an opt-in contract extension.</a:t>
            </a:r>
          </a:p>
        </p:txBody>
      </p:sp>
      <p:sp>
        <p:nvSpPr>
          <p:cNvPr id="5" name="Rounded Rectangle 4"/>
          <p:cNvSpPr/>
          <p:nvPr/>
        </p:nvSpPr>
        <p:spPr>
          <a:xfrm>
            <a:off x="548640" y="1981200"/>
            <a:ext cx="5364480" cy="2362200"/>
          </a:xfrm>
          <a:prstGeom prst="roundRect">
            <a:avLst>
              <a:gd name="adj" fmla="val 4193"/>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14884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A86A15"/>
                </a:solidFill>
                <a:latin typeface="DejaVu Sans"/>
              </a:rPr>
              <a:t>Historical M3 profile</a:t>
            </a:r>
          </a:p>
        </p:txBody>
      </p:sp>
      <p:sp>
        <p:nvSpPr>
          <p:cNvPr id="7" name="TextBox 6"/>
          <p:cNvSpPr txBox="1"/>
          <p:nvPr/>
        </p:nvSpPr>
        <p:spPr>
          <a:xfrm>
            <a:off x="716280" y="254690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C1 expects a closed v2 acknowledgment.</a:t>
            </a:r>
          </a:p>
        </p:txBody>
      </p:sp>
      <p:sp>
        <p:nvSpPr>
          <p:cNvPr id="8" name="TextBox 7"/>
          <p:cNvSpPr txBox="1"/>
          <p:nvPr/>
        </p:nvSpPr>
        <p:spPr>
          <a:xfrm>
            <a:off x="716280" y="282976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C2 emits a v3 decision.</a:t>
            </a:r>
          </a:p>
        </p:txBody>
      </p:sp>
      <p:sp>
        <p:nvSpPr>
          <p:cNvPr id="9" name="TextBox 8"/>
          <p:cNvSpPr txBox="1"/>
          <p:nvPr/>
        </p:nvSpPr>
        <p:spPr>
          <a:xfrm>
            <a:off x="716280" y="3112617"/>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Delivery remains pending; stale feedback</a:t>
            </a:r>
          </a:p>
        </p:txBody>
      </p:sp>
      <p:sp>
        <p:nvSpPr>
          <p:cNvPr id="10" name="TextBox 9"/>
          <p:cNvSpPr txBox="1"/>
          <p:nvPr/>
        </p:nvSpPr>
        <p:spPr>
          <a:xfrm>
            <a:off x="716280" y="3395472"/>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can remain CONFLICT.</a:t>
            </a:r>
          </a:p>
        </p:txBody>
      </p:sp>
      <p:sp>
        <p:nvSpPr>
          <p:cNvPr id="11" name="Rounded Rectangle 10"/>
          <p:cNvSpPr/>
          <p:nvPr/>
        </p:nvSpPr>
        <p:spPr>
          <a:xfrm>
            <a:off x="6278880" y="1981200"/>
            <a:ext cx="5364480" cy="2362200"/>
          </a:xfrm>
          <a:prstGeom prst="roundRect">
            <a:avLst>
              <a:gd name="adj" fmla="val 4193"/>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6446520" y="214884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007C78"/>
                </a:solidFill>
                <a:latin typeface="DejaVu Sans"/>
              </a:rPr>
              <a:t>Fresh M3.1 profile</a:t>
            </a:r>
          </a:p>
        </p:txBody>
      </p:sp>
      <p:sp>
        <p:nvSpPr>
          <p:cNvPr id="13" name="TextBox 12"/>
          <p:cNvSpPr txBox="1"/>
          <p:nvPr/>
        </p:nvSpPr>
        <p:spPr>
          <a:xfrm>
            <a:off x="6446520" y="254690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Relay validates C2; C1 gets narrow</a:t>
            </a:r>
          </a:p>
        </p:txBody>
      </p:sp>
      <p:sp>
        <p:nvSpPr>
          <p:cNvPr id="14" name="TextBox 13"/>
          <p:cNvSpPr txBox="1"/>
          <p:nvPr/>
        </p:nvSpPr>
        <p:spPr>
          <a:xfrm>
            <a:off x="6446520" y="282976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completion.</a:t>
            </a:r>
          </a:p>
        </p:txBody>
      </p:sp>
      <p:sp>
        <p:nvSpPr>
          <p:cNvPr id="15" name="TextBox 14"/>
          <p:cNvSpPr txBox="1"/>
          <p:nvPr/>
        </p:nvSpPr>
        <p:spPr>
          <a:xfrm>
            <a:off x="6446520" y="3112617"/>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Attention resolves original feedback.</a:t>
            </a:r>
          </a:p>
        </p:txBody>
      </p:sp>
      <p:sp>
        <p:nvSpPr>
          <p:cNvPr id="16" name="TextBox 15"/>
          <p:cNvSpPr txBox="1"/>
          <p:nvPr/>
        </p:nvSpPr>
        <p:spPr>
          <a:xfrm>
            <a:off x="6446520" y="3395472"/>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C4 tracks closure separately from execution.</a:t>
            </a:r>
          </a:p>
        </p:txBody>
      </p:sp>
      <p:sp>
        <p:nvSpPr>
          <p:cNvPr id="17" name="Rounded Rectangle 16"/>
          <p:cNvSpPr/>
          <p:nvPr/>
        </p:nvSpPr>
        <p:spPr>
          <a:xfrm>
            <a:off x="548640" y="4693920"/>
            <a:ext cx="11094720" cy="891540"/>
          </a:xfrm>
          <a:prstGeom prst="roundRect">
            <a:avLst>
              <a:gd name="adj" fmla="val 11111"/>
            </a:avLst>
          </a:prstGeom>
          <a:solidFill>
            <a:srgbClr val="E4EBF5"/>
          </a:solidFill>
          <a:ln w="7620">
            <a:solidFill>
              <a:srgbClr val="315E9C"/>
            </a:solidFill>
          </a:ln>
          <a:effectLst/>
        </p:spPr>
        <p:txBody>
          <a:bodyPr rtlCol="0" anchor="ctr"/>
          <a:lstStyle/>
          <a:p>
            <a:pPr algn="ctr"/>
          </a:p>
        </p:txBody>
      </p:sp>
      <p:sp>
        <p:nvSpPr>
          <p:cNvPr id="18" name="TextBox 17"/>
          <p:cNvSpPr txBox="1"/>
          <p:nvPr/>
        </p:nvSpPr>
        <p:spPr>
          <a:xfrm>
            <a:off x="716280" y="4861560"/>
            <a:ext cx="107594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Populated old stores → new selection: UNSUPPORTED_PROFILE</a:t>
            </a:r>
          </a:p>
        </p:txBody>
      </p:sp>
      <p:sp>
        <p:nvSpPr>
          <p:cNvPr id="19" name="TextBox 18"/>
          <p:cNvSpPr txBox="1"/>
          <p:nvPr/>
        </p:nvSpPr>
        <p:spPr>
          <a:xfrm>
            <a:off x="716280" y="5220614"/>
            <a:ext cx="1075944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Disposable copies reject without modification and still replay under the original profile. User stores are untouched.</a:t>
            </a:r>
          </a:p>
        </p:txBody>
      </p:sp>
      <p:sp>
        <p:nvSpPr>
          <p:cNvPr id="20" name="Rounded Rectangle 1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1" name="TextBox 20"/>
          <p:cNvSpPr txBox="1"/>
          <p:nvPr/>
        </p:nvSpPr>
        <p:spPr>
          <a:xfrm>
            <a:off x="716280" y="5905500"/>
            <a:ext cx="10744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No automatic conversion, repair of pre-existing pending work, invented acknowledgment or weakened validation.</a:t>
            </a:r>
          </a:p>
        </p:txBody>
      </p:sp>
      <p:cxnSp>
        <p:nvCxnSpPr>
          <p:cNvPr id="22" name="Connector 21"/>
          <p:cNvCxnSpPr/>
          <p:nvPr/>
        </p:nvCxnSpPr>
        <p:spPr>
          <a:xfrm>
            <a:off x="548640" y="6393180"/>
            <a:ext cx="11094720" cy="0"/>
          </a:xfrm>
          <a:prstGeom prst="line">
            <a:avLst/>
          </a:prstGeom>
          <a:ln w="7620">
            <a:solidFill>
              <a:srgbClr val="C9D2D4"/>
            </a:solidFill>
          </a:ln>
          <a:effectLst/>
        </p:spPr>
      </p:cxnSp>
      <p:sp>
        <p:nvSpPr>
          <p:cNvPr id="23" name="TextBox 2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m3_1/baseline/gaps.json · test_m3_1_compat.py</a:t>
            </a:r>
          </a:p>
        </p:txBody>
      </p:sp>
      <p:sp>
        <p:nvSpPr>
          <p:cNvPr id="24" name="TextBox 2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E / PRESERVED M1.2 SEQUENCE</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One native operation crosses the existing interfaces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caller stores intent; each provider commits only its own state.</a:t>
            </a:r>
          </a:p>
        </p:txBody>
      </p:sp>
      <p:sp>
        <p:nvSpPr>
          <p:cNvPr id="5" name="Rounded Rectangle 4"/>
          <p:cNvSpPr/>
          <p:nvPr/>
        </p:nvSpPr>
        <p:spPr>
          <a:xfrm>
            <a:off x="495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6" name="TextBox 5"/>
          <p:cNvSpPr txBox="1"/>
          <p:nvPr/>
        </p:nvSpPr>
        <p:spPr>
          <a:xfrm>
            <a:off x="579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Real Hive</a:t>
            </a:r>
          </a:p>
        </p:txBody>
      </p:sp>
      <p:cxnSp>
        <p:nvCxnSpPr>
          <p:cNvPr id="7" name="Connector 6"/>
          <p:cNvCxnSpPr/>
          <p:nvPr/>
        </p:nvCxnSpPr>
        <p:spPr>
          <a:xfrm>
            <a:off x="1181100" y="2301240"/>
            <a:ext cx="0" cy="3489960"/>
          </a:xfrm>
          <a:prstGeom prst="line">
            <a:avLst/>
          </a:prstGeom>
          <a:ln w="15240">
            <a:solidFill>
              <a:srgbClr val="C9D2D4"/>
            </a:solidFill>
            <a:prstDash val="dash"/>
          </a:ln>
          <a:effectLst/>
        </p:spPr>
      </p:cxnSp>
      <p:sp>
        <p:nvSpPr>
          <p:cNvPr id="8" name="Rounded Rectangle 7"/>
          <p:cNvSpPr/>
          <p:nvPr/>
        </p:nvSpPr>
        <p:spPr>
          <a:xfrm>
            <a:off x="2971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9" name="TextBox 8"/>
          <p:cNvSpPr txBox="1"/>
          <p:nvPr/>
        </p:nvSpPr>
        <p:spPr>
          <a:xfrm>
            <a:off x="3055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Caller receipt</a:t>
            </a:r>
          </a:p>
        </p:txBody>
      </p:sp>
      <p:cxnSp>
        <p:nvCxnSpPr>
          <p:cNvPr id="10" name="Connector 9"/>
          <p:cNvCxnSpPr/>
          <p:nvPr/>
        </p:nvCxnSpPr>
        <p:spPr>
          <a:xfrm>
            <a:off x="3657600" y="2301240"/>
            <a:ext cx="0" cy="3489960"/>
          </a:xfrm>
          <a:prstGeom prst="line">
            <a:avLst/>
          </a:prstGeom>
          <a:ln w="15240">
            <a:solidFill>
              <a:srgbClr val="C9D2D4"/>
            </a:solidFill>
            <a:prstDash val="dash"/>
          </a:ln>
          <a:effectLst/>
        </p:spPr>
      </p:cxnSp>
      <p:sp>
        <p:nvSpPr>
          <p:cNvPr id="11" name="Rounded Rectangle 10"/>
          <p:cNvSpPr/>
          <p:nvPr/>
        </p:nvSpPr>
        <p:spPr>
          <a:xfrm>
            <a:off x="5448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12" name="TextBox 11"/>
          <p:cNvSpPr txBox="1"/>
          <p:nvPr/>
        </p:nvSpPr>
        <p:spPr>
          <a:xfrm>
            <a:off x="5532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AtomStorage</a:t>
            </a:r>
          </a:p>
        </p:txBody>
      </p:sp>
      <p:cxnSp>
        <p:nvCxnSpPr>
          <p:cNvPr id="13" name="Connector 12"/>
          <p:cNvCxnSpPr/>
          <p:nvPr/>
        </p:nvCxnSpPr>
        <p:spPr>
          <a:xfrm>
            <a:off x="6134100" y="2301240"/>
            <a:ext cx="0" cy="3489960"/>
          </a:xfrm>
          <a:prstGeom prst="line">
            <a:avLst/>
          </a:prstGeom>
          <a:ln w="15240">
            <a:solidFill>
              <a:srgbClr val="C9D2D4"/>
            </a:solidFill>
            <a:prstDash val="dash"/>
          </a:ln>
          <a:effectLst/>
        </p:spPr>
      </p:cxnSp>
      <p:sp>
        <p:nvSpPr>
          <p:cNvPr id="14" name="Rounded Rectangle 13"/>
          <p:cNvSpPr/>
          <p:nvPr/>
        </p:nvSpPr>
        <p:spPr>
          <a:xfrm>
            <a:off x="7924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5" name="TextBox 14"/>
          <p:cNvSpPr txBox="1"/>
          <p:nvPr/>
        </p:nvSpPr>
        <p:spPr>
          <a:xfrm>
            <a:off x="8008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Execution</a:t>
            </a:r>
          </a:p>
        </p:txBody>
      </p:sp>
      <p:cxnSp>
        <p:nvCxnSpPr>
          <p:cNvPr id="16" name="Connector 15"/>
          <p:cNvCxnSpPr/>
          <p:nvPr/>
        </p:nvCxnSpPr>
        <p:spPr>
          <a:xfrm>
            <a:off x="8610600" y="2301240"/>
            <a:ext cx="0" cy="3489960"/>
          </a:xfrm>
          <a:prstGeom prst="line">
            <a:avLst/>
          </a:prstGeom>
          <a:ln w="15240">
            <a:solidFill>
              <a:srgbClr val="C9D2D4"/>
            </a:solidFill>
            <a:prstDash val="dash"/>
          </a:ln>
          <a:effectLst/>
        </p:spPr>
      </p:cxnSp>
      <p:sp>
        <p:nvSpPr>
          <p:cNvPr id="17" name="Rounded Rectangle 16"/>
          <p:cNvSpPr/>
          <p:nvPr/>
        </p:nvSpPr>
        <p:spPr>
          <a:xfrm>
            <a:off x="104013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8" name="TextBox 17"/>
          <p:cNvSpPr txBox="1"/>
          <p:nvPr/>
        </p:nvSpPr>
        <p:spPr>
          <a:xfrm>
            <a:off x="10485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Messaging</a:t>
            </a:r>
          </a:p>
        </p:txBody>
      </p:sp>
      <p:cxnSp>
        <p:nvCxnSpPr>
          <p:cNvPr id="19" name="Connector 18"/>
          <p:cNvCxnSpPr/>
          <p:nvPr/>
        </p:nvCxnSpPr>
        <p:spPr>
          <a:xfrm>
            <a:off x="11087100" y="2301240"/>
            <a:ext cx="0" cy="3489960"/>
          </a:xfrm>
          <a:prstGeom prst="line">
            <a:avLst/>
          </a:prstGeom>
          <a:ln w="15240">
            <a:solidFill>
              <a:srgbClr val="C9D2D4"/>
            </a:solidFill>
            <a:prstDash val="dash"/>
          </a:ln>
          <a:effectLst/>
        </p:spPr>
      </p:cxnSp>
      <p:sp>
        <p:nvSpPr>
          <p:cNvPr id="20" name="Rectangle 19"/>
          <p:cNvSpPr/>
          <p:nvPr/>
        </p:nvSpPr>
        <p:spPr>
          <a:xfrm>
            <a:off x="1211580" y="2301240"/>
            <a:ext cx="1774686" cy="198120"/>
          </a:xfrm>
          <a:prstGeom prst="rect">
            <a:avLst/>
          </a:prstGeom>
          <a:solidFill>
            <a:srgbClr val="F4F2EB"/>
          </a:solidFill>
          <a:ln>
            <a:noFill/>
          </a:ln>
          <a:effectLst/>
        </p:spPr>
        <p:txBody>
          <a:bodyPr rtlCol="0" anchor="ctr"/>
          <a:lstStyle/>
          <a:p>
            <a:pPr algn="ctr"/>
          </a:p>
        </p:txBody>
      </p:sp>
      <p:sp>
        <p:nvSpPr>
          <p:cNvPr id="21" name="TextBox 20"/>
          <p:cNvSpPr txBox="1"/>
          <p:nvPr/>
        </p:nvSpPr>
        <p:spPr>
          <a:xfrm>
            <a:off x="1242060" y="230124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Save original intent</a:t>
            </a:r>
          </a:p>
        </p:txBody>
      </p:sp>
      <p:cxnSp>
        <p:nvCxnSpPr>
          <p:cNvPr id="22" name="Connector 21"/>
          <p:cNvCxnSpPr/>
          <p:nvPr/>
        </p:nvCxnSpPr>
        <p:spPr>
          <a:xfrm>
            <a:off x="1181100" y="2514600"/>
            <a:ext cx="2476500" cy="0"/>
          </a:xfrm>
          <a:prstGeom prst="line">
            <a:avLst/>
          </a:prstGeom>
          <a:ln w="15240">
            <a:solidFill>
              <a:srgbClr val="315E9C"/>
            </a:solidFill>
          </a:ln>
          <a:effectLst/>
        </p:spPr>
      </p:cxnSp>
      <p:sp>
        <p:nvSpPr>
          <p:cNvPr id="23" name="Freeform 22"/>
          <p:cNvSpPr/>
          <p:nvPr/>
        </p:nvSpPr>
        <p:spPr>
          <a:xfrm>
            <a:off x="3558540" y="24765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4" name="Rectangle 23"/>
          <p:cNvSpPr/>
          <p:nvPr/>
        </p:nvSpPr>
        <p:spPr>
          <a:xfrm>
            <a:off x="1211580" y="2697480"/>
            <a:ext cx="3339911" cy="198120"/>
          </a:xfrm>
          <a:prstGeom prst="rect">
            <a:avLst/>
          </a:prstGeom>
          <a:solidFill>
            <a:srgbClr val="F4F2EB"/>
          </a:solidFill>
          <a:ln>
            <a:noFill/>
          </a:ln>
          <a:effectLst/>
        </p:spPr>
        <p:txBody>
          <a:bodyPr rtlCol="0" anchor="ctr"/>
          <a:lstStyle/>
          <a:p>
            <a:pPr algn="ctr"/>
          </a:p>
        </p:txBody>
      </p:sp>
      <p:sp>
        <p:nvSpPr>
          <p:cNvPr id="25" name="TextBox 24"/>
          <p:cNvSpPr txBox="1"/>
          <p:nvPr/>
        </p:nvSpPr>
        <p:spPr>
          <a:xfrm>
            <a:off x="1242060" y="269748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create → real DeTTa persistence receipt</a:t>
            </a:r>
          </a:p>
        </p:txBody>
      </p:sp>
      <p:cxnSp>
        <p:nvCxnSpPr>
          <p:cNvPr id="26" name="Connector 25"/>
          <p:cNvCxnSpPr/>
          <p:nvPr/>
        </p:nvCxnSpPr>
        <p:spPr>
          <a:xfrm>
            <a:off x="1181100" y="2910840"/>
            <a:ext cx="4953000" cy="0"/>
          </a:xfrm>
          <a:prstGeom prst="line">
            <a:avLst/>
          </a:prstGeom>
          <a:ln w="15240">
            <a:solidFill>
              <a:srgbClr val="007C78"/>
            </a:solidFill>
          </a:ln>
          <a:effectLst/>
        </p:spPr>
      </p:cxnSp>
      <p:sp>
        <p:nvSpPr>
          <p:cNvPr id="27" name="Freeform 26"/>
          <p:cNvSpPr/>
          <p:nvPr/>
        </p:nvSpPr>
        <p:spPr>
          <a:xfrm>
            <a:off x="6035040" y="28727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8" name="Rectangle 27"/>
          <p:cNvSpPr/>
          <p:nvPr/>
        </p:nvSpPr>
        <p:spPr>
          <a:xfrm>
            <a:off x="1211580" y="3093720"/>
            <a:ext cx="3220997" cy="198120"/>
          </a:xfrm>
          <a:prstGeom prst="rect">
            <a:avLst/>
          </a:prstGeom>
          <a:solidFill>
            <a:srgbClr val="F4F2EB"/>
          </a:solidFill>
          <a:ln>
            <a:noFill/>
          </a:ln>
          <a:effectLst/>
        </p:spPr>
        <p:txBody>
          <a:bodyPr rtlCol="0" anchor="ctr"/>
          <a:lstStyle/>
          <a:p>
            <a:pPr algn="ctr"/>
          </a:p>
        </p:txBody>
      </p:sp>
      <p:sp>
        <p:nvSpPr>
          <p:cNvPr id="29" name="TextBox 28"/>
          <p:cNvSpPr txBox="1"/>
          <p:nvPr/>
        </p:nvSpPr>
        <p:spPr>
          <a:xfrm>
            <a:off x="1242060" y="309372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send reference to fixture counterparty</a:t>
            </a:r>
          </a:p>
        </p:txBody>
      </p:sp>
      <p:cxnSp>
        <p:nvCxnSpPr>
          <p:cNvPr id="30" name="Connector 29"/>
          <p:cNvCxnSpPr/>
          <p:nvPr/>
        </p:nvCxnSpPr>
        <p:spPr>
          <a:xfrm>
            <a:off x="1181100" y="3307079"/>
            <a:ext cx="9906000" cy="0"/>
          </a:xfrm>
          <a:prstGeom prst="line">
            <a:avLst/>
          </a:prstGeom>
          <a:ln w="15240">
            <a:solidFill>
              <a:srgbClr val="315E9C"/>
            </a:solidFill>
          </a:ln>
          <a:effectLst/>
        </p:spPr>
      </p:cxnSp>
      <p:sp>
        <p:nvSpPr>
          <p:cNvPr id="31" name="Freeform 30"/>
          <p:cNvSpPr/>
          <p:nvPr/>
        </p:nvSpPr>
        <p:spPr>
          <a:xfrm>
            <a:off x="10988040" y="32689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2" name="Rectangle 31"/>
          <p:cNvSpPr/>
          <p:nvPr/>
        </p:nvSpPr>
        <p:spPr>
          <a:xfrm>
            <a:off x="1211580" y="3489960"/>
            <a:ext cx="3895189" cy="198120"/>
          </a:xfrm>
          <a:prstGeom prst="rect">
            <a:avLst/>
          </a:prstGeom>
          <a:solidFill>
            <a:srgbClr val="F4F2EB"/>
          </a:solidFill>
          <a:ln>
            <a:noFill/>
          </a:ln>
          <a:effectLst/>
        </p:spPr>
        <p:txBody>
          <a:bodyPr rtlCol="0" anchor="ctr"/>
          <a:lstStyle/>
          <a:p>
            <a:pPr algn="ctr"/>
          </a:p>
        </p:txBody>
      </p:sp>
      <p:sp>
        <p:nvSpPr>
          <p:cNvPr id="33" name="TextBox 32"/>
          <p:cNvSpPr txBox="1"/>
          <p:nvPr/>
        </p:nvSpPr>
        <p:spPr>
          <a:xfrm>
            <a:off x="1242060" y="348996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submit inspect_atom → durable job acceptance</a:t>
            </a:r>
          </a:p>
        </p:txBody>
      </p:sp>
      <p:cxnSp>
        <p:nvCxnSpPr>
          <p:cNvPr id="34" name="Connector 33"/>
          <p:cNvCxnSpPr/>
          <p:nvPr/>
        </p:nvCxnSpPr>
        <p:spPr>
          <a:xfrm>
            <a:off x="1181100" y="3703319"/>
            <a:ext cx="7429500" cy="0"/>
          </a:xfrm>
          <a:prstGeom prst="line">
            <a:avLst/>
          </a:prstGeom>
          <a:ln w="15240">
            <a:solidFill>
              <a:srgbClr val="315E9C"/>
            </a:solidFill>
          </a:ln>
          <a:effectLst/>
        </p:spPr>
      </p:cxnSp>
      <p:sp>
        <p:nvSpPr>
          <p:cNvPr id="35" name="Freeform 34"/>
          <p:cNvSpPr/>
          <p:nvPr/>
        </p:nvSpPr>
        <p:spPr>
          <a:xfrm>
            <a:off x="8511540" y="36652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6" name="Rectangle 35"/>
          <p:cNvSpPr/>
          <p:nvPr/>
        </p:nvSpPr>
        <p:spPr>
          <a:xfrm>
            <a:off x="1211580" y="3886200"/>
            <a:ext cx="2233597" cy="198120"/>
          </a:xfrm>
          <a:prstGeom prst="rect">
            <a:avLst/>
          </a:prstGeom>
          <a:solidFill>
            <a:srgbClr val="F4F2EB"/>
          </a:solidFill>
          <a:ln>
            <a:noFill/>
          </a:ln>
          <a:effectLst/>
        </p:spPr>
        <p:txBody>
          <a:bodyPr rtlCol="0" anchor="ctr"/>
          <a:lstStyle/>
          <a:p>
            <a:pPr algn="ctr"/>
          </a:p>
        </p:txBody>
      </p:sp>
      <p:sp>
        <p:nvSpPr>
          <p:cNvPr id="37" name="TextBox 36"/>
          <p:cNvSpPr txBox="1"/>
          <p:nvPr/>
        </p:nvSpPr>
        <p:spPr>
          <a:xfrm>
            <a:off x="1242060" y="38862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Save pending job context</a:t>
            </a:r>
          </a:p>
        </p:txBody>
      </p:sp>
      <p:cxnSp>
        <p:nvCxnSpPr>
          <p:cNvPr id="38" name="Connector 37"/>
          <p:cNvCxnSpPr/>
          <p:nvPr/>
        </p:nvCxnSpPr>
        <p:spPr>
          <a:xfrm>
            <a:off x="1181100" y="4099560"/>
            <a:ext cx="2476500" cy="0"/>
          </a:xfrm>
          <a:prstGeom prst="line">
            <a:avLst/>
          </a:prstGeom>
          <a:ln w="15240">
            <a:solidFill>
              <a:srgbClr val="315E9C"/>
            </a:solidFill>
          </a:ln>
          <a:effectLst/>
        </p:spPr>
      </p:cxnSp>
      <p:sp>
        <p:nvSpPr>
          <p:cNvPr id="39" name="Freeform 38"/>
          <p:cNvSpPr/>
          <p:nvPr/>
        </p:nvSpPr>
        <p:spPr>
          <a:xfrm>
            <a:off x="3558540" y="40614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0" name="Rectangle 39"/>
          <p:cNvSpPr/>
          <p:nvPr/>
        </p:nvSpPr>
        <p:spPr>
          <a:xfrm>
            <a:off x="3916679" y="4282440"/>
            <a:ext cx="3432854" cy="198120"/>
          </a:xfrm>
          <a:prstGeom prst="rect">
            <a:avLst/>
          </a:prstGeom>
          <a:solidFill>
            <a:srgbClr val="F4F2EB"/>
          </a:solidFill>
          <a:ln>
            <a:noFill/>
          </a:ln>
          <a:effectLst/>
        </p:spPr>
        <p:txBody>
          <a:bodyPr rtlCol="0" anchor="ctr"/>
          <a:lstStyle/>
          <a:p>
            <a:pPr algn="ctr"/>
          </a:p>
        </p:txBody>
      </p:sp>
      <p:sp>
        <p:nvSpPr>
          <p:cNvPr id="41" name="TextBox 40"/>
          <p:cNvSpPr txBox="1"/>
          <p:nvPr/>
        </p:nvSpPr>
        <p:spPr>
          <a:xfrm>
            <a:off x="3947160" y="428244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6 Worker reads input; result atom commits</a:t>
            </a:r>
          </a:p>
        </p:txBody>
      </p:sp>
      <p:cxnSp>
        <p:nvCxnSpPr>
          <p:cNvPr id="42" name="Connector 41"/>
          <p:cNvCxnSpPr/>
          <p:nvPr/>
        </p:nvCxnSpPr>
        <p:spPr>
          <a:xfrm flipH="1">
            <a:off x="6134100" y="4495800"/>
            <a:ext cx="2476500" cy="0"/>
          </a:xfrm>
          <a:prstGeom prst="line">
            <a:avLst/>
          </a:prstGeom>
          <a:ln w="15240">
            <a:solidFill>
              <a:srgbClr val="007C78"/>
            </a:solidFill>
          </a:ln>
          <a:effectLst/>
        </p:spPr>
      </p:cxnSp>
      <p:sp>
        <p:nvSpPr>
          <p:cNvPr id="43" name="Freeform 42"/>
          <p:cNvSpPr/>
          <p:nvPr/>
        </p:nvSpPr>
        <p:spPr>
          <a:xfrm>
            <a:off x="6134100" y="445770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44" name="Rectangle 43"/>
          <p:cNvSpPr/>
          <p:nvPr/>
        </p:nvSpPr>
        <p:spPr>
          <a:xfrm>
            <a:off x="3916679" y="4678680"/>
            <a:ext cx="4536117" cy="198120"/>
          </a:xfrm>
          <a:prstGeom prst="rect">
            <a:avLst/>
          </a:prstGeom>
          <a:solidFill>
            <a:srgbClr val="F4F2EB"/>
          </a:solidFill>
          <a:ln>
            <a:noFill/>
          </a:ln>
          <a:effectLst/>
        </p:spPr>
        <p:txBody>
          <a:bodyPr rtlCol="0" anchor="ctr"/>
          <a:lstStyle/>
          <a:p>
            <a:pPr algn="ctr"/>
          </a:p>
        </p:txBody>
      </p:sp>
      <p:sp>
        <p:nvSpPr>
          <p:cNvPr id="45" name="TextBox 44"/>
          <p:cNvSpPr txBox="1"/>
          <p:nvPr/>
        </p:nvSpPr>
        <p:spPr>
          <a:xfrm>
            <a:off x="3947160" y="467868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7 Terminal + outbox commit; mailbox accepts separately</a:t>
            </a:r>
          </a:p>
        </p:txBody>
      </p:sp>
      <p:cxnSp>
        <p:nvCxnSpPr>
          <p:cNvPr id="46" name="Connector 45"/>
          <p:cNvCxnSpPr/>
          <p:nvPr/>
        </p:nvCxnSpPr>
        <p:spPr>
          <a:xfrm>
            <a:off x="8610600" y="4892040"/>
            <a:ext cx="2476500" cy="0"/>
          </a:xfrm>
          <a:prstGeom prst="line">
            <a:avLst/>
          </a:prstGeom>
          <a:ln w="15240">
            <a:solidFill>
              <a:srgbClr val="315E9C"/>
            </a:solidFill>
          </a:ln>
          <a:effectLst/>
        </p:spPr>
      </p:cxnSp>
      <p:sp>
        <p:nvSpPr>
          <p:cNvPr id="47" name="Freeform 46"/>
          <p:cNvSpPr/>
          <p:nvPr/>
        </p:nvSpPr>
        <p:spPr>
          <a:xfrm>
            <a:off x="10988040" y="4853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8" name="Rectangle 47"/>
          <p:cNvSpPr/>
          <p:nvPr/>
        </p:nvSpPr>
        <p:spPr>
          <a:xfrm>
            <a:off x="1211580" y="5295900"/>
            <a:ext cx="4108162" cy="198120"/>
          </a:xfrm>
          <a:prstGeom prst="rect">
            <a:avLst/>
          </a:prstGeom>
          <a:solidFill>
            <a:srgbClr val="F4F2EB"/>
          </a:solidFill>
          <a:ln>
            <a:noFill/>
          </a:ln>
          <a:effectLst/>
        </p:spPr>
        <p:txBody>
          <a:bodyPr rtlCol="0" anchor="ctr"/>
          <a:lstStyle/>
          <a:p>
            <a:pPr algn="ctr"/>
          </a:p>
        </p:txBody>
      </p:sp>
      <p:sp>
        <p:nvSpPr>
          <p:cNvPr id="49" name="TextBox 48"/>
          <p:cNvSpPr txBox="1"/>
          <p:nvPr/>
        </p:nvSpPr>
        <p:spPr>
          <a:xfrm>
            <a:off x="1242060" y="52959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8 Recover status → poll → get result → accept → ack</a:t>
            </a:r>
          </a:p>
        </p:txBody>
      </p:sp>
      <p:cxnSp>
        <p:nvCxnSpPr>
          <p:cNvPr id="50" name="Connector 49"/>
          <p:cNvCxnSpPr/>
          <p:nvPr/>
        </p:nvCxnSpPr>
        <p:spPr>
          <a:xfrm>
            <a:off x="1181100" y="5509260"/>
            <a:ext cx="9906000" cy="0"/>
          </a:xfrm>
          <a:prstGeom prst="line">
            <a:avLst/>
          </a:prstGeom>
          <a:ln w="15240">
            <a:solidFill>
              <a:srgbClr val="315E9C"/>
            </a:solidFill>
          </a:ln>
          <a:effectLst/>
        </p:spPr>
      </p:cxnSp>
      <p:sp>
        <p:nvSpPr>
          <p:cNvPr id="51" name="Freeform 50"/>
          <p:cNvSpPr/>
          <p:nvPr/>
        </p:nvSpPr>
        <p:spPr>
          <a:xfrm>
            <a:off x="10988040" y="54711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52" name="Connector 51"/>
          <p:cNvCxnSpPr/>
          <p:nvPr/>
        </p:nvCxnSpPr>
        <p:spPr>
          <a:xfrm>
            <a:off x="548640" y="6393180"/>
            <a:ext cx="11094720" cy="0"/>
          </a:xfrm>
          <a:prstGeom prst="line">
            <a:avLst/>
          </a:prstGeom>
          <a:ln w="7620">
            <a:solidFill>
              <a:srgbClr val="C9D2D4"/>
            </a:solidFill>
          </a:ln>
          <a:effectLst/>
        </p:spPr>
      </p:cxnSp>
      <p:sp>
        <p:nvSpPr>
          <p:cNvPr id="53" name="TextBox 5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program.py · execution.py · messaging.py</a:t>
            </a:r>
          </a:p>
        </p:txBody>
      </p:sp>
      <p:sp>
        <p:nvSpPr>
          <p:cNvPr id="54" name="TextBox 5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F / HISTORICAL CHAIN EVIDENCE</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Historical M1: one result reached an isolated chain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This is the earlier protocol-peer artifact. No M1.2, M2, M3 or M3.1 Hive result was submitted.</a:t>
            </a:r>
          </a:p>
        </p:txBody>
      </p:sp>
      <p:sp>
        <p:nvSpPr>
          <p:cNvPr id="5" name="Rounded Rectangle 4"/>
          <p:cNvSpPr/>
          <p:nvPr/>
        </p:nvSpPr>
        <p:spPr>
          <a:xfrm>
            <a:off x="54864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PENDING</a:t>
            </a:r>
          </a:p>
        </p:txBody>
      </p:sp>
      <p:sp>
        <p:nvSpPr>
          <p:cNvPr id="7" name="TextBox 6"/>
          <p:cNvSpPr txBox="1"/>
          <p:nvPr/>
        </p:nvSpPr>
        <p:spPr>
          <a:xfrm>
            <a:off x="71628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Signed deploy accepted</a:t>
            </a:r>
          </a:p>
        </p:txBody>
      </p:sp>
      <p:cxnSp>
        <p:nvCxnSpPr>
          <p:cNvPr id="8" name="Connector 7"/>
          <p:cNvCxnSpPr/>
          <p:nvPr/>
        </p:nvCxnSpPr>
        <p:spPr>
          <a:xfrm>
            <a:off x="4084319" y="2537460"/>
            <a:ext cx="213361" cy="0"/>
          </a:xfrm>
          <a:prstGeom prst="line">
            <a:avLst/>
          </a:prstGeom>
          <a:ln w="15240">
            <a:solidFill>
              <a:srgbClr val="536775"/>
            </a:solidFill>
          </a:ln>
          <a:effectLst/>
        </p:spPr>
      </p:cxnSp>
      <p:sp>
        <p:nvSpPr>
          <p:cNvPr id="9" name="Freeform 8"/>
          <p:cNvSpPr/>
          <p:nvPr/>
        </p:nvSpPr>
        <p:spPr>
          <a:xfrm>
            <a:off x="419862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0" name="Rounded Rectangle 9"/>
          <p:cNvSpPr/>
          <p:nvPr/>
        </p:nvSpPr>
        <p:spPr>
          <a:xfrm>
            <a:off x="432816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449580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INCLUDED</a:t>
            </a:r>
          </a:p>
        </p:txBody>
      </p:sp>
      <p:sp>
        <p:nvSpPr>
          <p:cNvPr id="12" name="TextBox 11"/>
          <p:cNvSpPr txBox="1"/>
          <p:nvPr/>
        </p:nvSpPr>
        <p:spPr>
          <a:xfrm>
            <a:off x="449580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Block observed; effects pending</a:t>
            </a:r>
          </a:p>
        </p:txBody>
      </p:sp>
      <p:cxnSp>
        <p:nvCxnSpPr>
          <p:cNvPr id="13" name="Connector 12"/>
          <p:cNvCxnSpPr/>
          <p:nvPr/>
        </p:nvCxnSpPr>
        <p:spPr>
          <a:xfrm>
            <a:off x="7863839" y="2537460"/>
            <a:ext cx="213361" cy="0"/>
          </a:xfrm>
          <a:prstGeom prst="line">
            <a:avLst/>
          </a:prstGeom>
          <a:ln w="15240">
            <a:solidFill>
              <a:srgbClr val="536775"/>
            </a:solidFill>
          </a:ln>
          <a:effectLst/>
        </p:spPr>
      </p:cxnSp>
      <p:sp>
        <p:nvSpPr>
          <p:cNvPr id="14" name="Freeform 13"/>
          <p:cNvSpPr/>
          <p:nvPr/>
        </p:nvSpPr>
        <p:spPr>
          <a:xfrm>
            <a:off x="797814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5" name="Rounded Rectangle 14"/>
          <p:cNvSpPr/>
          <p:nvPr/>
        </p:nvSpPr>
        <p:spPr>
          <a:xfrm>
            <a:off x="8107680" y="1965959"/>
            <a:ext cx="3535679" cy="1143000"/>
          </a:xfrm>
          <a:prstGeom prst="roundRect">
            <a:avLst>
              <a:gd name="adj" fmla="val 8666"/>
            </a:avLst>
          </a:prstGeom>
          <a:solidFill>
            <a:srgbClr val="DCEFE8"/>
          </a:solidFill>
          <a:ln w="7620">
            <a:solidFill>
              <a:srgbClr val="007C78"/>
            </a:solidFill>
          </a:ln>
          <a:effectLst/>
        </p:spPr>
        <p:txBody>
          <a:bodyPr rtlCol="0" anchor="ctr"/>
          <a:lstStyle/>
          <a:p>
            <a:pPr algn="ctr"/>
          </a:p>
        </p:txBody>
      </p:sp>
      <p:sp>
        <p:nvSpPr>
          <p:cNvPr id="16" name="TextBox 15"/>
          <p:cNvSpPr txBox="1"/>
          <p:nvPr/>
        </p:nvSpPr>
        <p:spPr>
          <a:xfrm>
            <a:off x="827532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FINALIZED</a:t>
            </a:r>
          </a:p>
        </p:txBody>
      </p:sp>
      <p:sp>
        <p:nvSpPr>
          <p:cNvPr id="17" name="TextBox 16"/>
          <p:cNvSpPr txBox="1"/>
          <p:nvPr/>
        </p:nvSpPr>
        <p:spPr>
          <a:xfrm>
            <a:off x="827532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Deploy effects reported finalized</a:t>
            </a:r>
          </a:p>
        </p:txBody>
      </p:sp>
      <p:sp>
        <p:nvSpPr>
          <p:cNvPr id="18" name="TextBox 17"/>
          <p:cNvSpPr txBox="1"/>
          <p:nvPr/>
        </p:nvSpPr>
        <p:spPr>
          <a:xfrm>
            <a:off x="571500" y="3550919"/>
            <a:ext cx="53340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M1 recorded observation</a:t>
            </a:r>
          </a:p>
        </p:txBody>
      </p:sp>
      <p:sp>
        <p:nvSpPr>
          <p:cNvPr id="19" name="TextBox 18"/>
          <p:cNvSpPr txBox="1"/>
          <p:nvPr/>
        </p:nvSpPr>
        <p:spPr>
          <a:xfrm>
            <a:off x="571500" y="3954779"/>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Block height</a:t>
            </a:r>
          </a:p>
        </p:txBody>
      </p:sp>
      <p:sp>
        <p:nvSpPr>
          <p:cNvPr id="20" name="TextBox 19"/>
          <p:cNvSpPr txBox="1"/>
          <p:nvPr/>
        </p:nvSpPr>
        <p:spPr>
          <a:xfrm>
            <a:off x="3093720" y="3954779"/>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a:t>
            </a:r>
          </a:p>
        </p:txBody>
      </p:sp>
      <p:sp>
        <p:nvSpPr>
          <p:cNvPr id="21" name="TextBox 20"/>
          <p:cNvSpPr txBox="1"/>
          <p:nvPr/>
        </p:nvSpPr>
        <p:spPr>
          <a:xfrm>
            <a:off x="571500" y="430530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error</a:t>
            </a:r>
          </a:p>
        </p:txBody>
      </p:sp>
      <p:sp>
        <p:nvSpPr>
          <p:cNvPr id="22" name="TextBox 21"/>
          <p:cNvSpPr txBox="1"/>
          <p:nvPr/>
        </p:nvSpPr>
        <p:spPr>
          <a:xfrm>
            <a:off x="3093720" y="430530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false</a:t>
            </a:r>
          </a:p>
        </p:txBody>
      </p:sp>
      <p:sp>
        <p:nvSpPr>
          <p:cNvPr id="23" name="TextBox 22"/>
          <p:cNvSpPr txBox="1"/>
          <p:nvPr/>
        </p:nvSpPr>
        <p:spPr>
          <a:xfrm>
            <a:off x="571500" y="465582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Rejection count</a:t>
            </a:r>
          </a:p>
        </p:txBody>
      </p:sp>
      <p:sp>
        <p:nvSpPr>
          <p:cNvPr id="24" name="TextBox 23"/>
          <p:cNvSpPr txBox="1"/>
          <p:nvPr/>
        </p:nvSpPr>
        <p:spPr>
          <a:xfrm>
            <a:off x="3093720" y="465582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0</a:t>
            </a:r>
          </a:p>
        </p:txBody>
      </p:sp>
      <p:sp>
        <p:nvSpPr>
          <p:cNvPr id="25" name="TextBox 24"/>
          <p:cNvSpPr txBox="1"/>
          <p:nvPr/>
        </p:nvSpPr>
        <p:spPr>
          <a:xfrm>
            <a:off x="571500" y="500634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cost</a:t>
            </a:r>
          </a:p>
        </p:txBody>
      </p:sp>
      <p:sp>
        <p:nvSpPr>
          <p:cNvPr id="26" name="TextBox 25"/>
          <p:cNvSpPr txBox="1"/>
          <p:nvPr/>
        </p:nvSpPr>
        <p:spPr>
          <a:xfrm>
            <a:off x="3093720" y="500634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351 phlo</a:t>
            </a:r>
          </a:p>
        </p:txBody>
      </p:sp>
      <p:sp>
        <p:nvSpPr>
          <p:cNvPr id="27" name="Rounded Rectangle 26"/>
          <p:cNvSpPr/>
          <p:nvPr/>
        </p:nvSpPr>
        <p:spPr>
          <a:xfrm>
            <a:off x="5981700" y="3444240"/>
            <a:ext cx="5661660" cy="1943100"/>
          </a:xfrm>
          <a:prstGeom prst="roundRect">
            <a:avLst>
              <a:gd name="adj" fmla="val 5098"/>
            </a:avLst>
          </a:prstGeom>
          <a:solidFill>
            <a:srgbClr val="FFFFFF"/>
          </a:solidFill>
          <a:ln>
            <a:noFill/>
          </a:ln>
          <a:effectLst/>
        </p:spPr>
        <p:txBody>
          <a:bodyPr rtlCol="0" anchor="ctr"/>
          <a:lstStyle/>
          <a:p>
            <a:pPr algn="ctr"/>
          </a:p>
        </p:txBody>
      </p:sp>
      <p:sp>
        <p:nvSpPr>
          <p:cNvPr id="28" name="TextBox 27"/>
          <p:cNvSpPr txBox="1"/>
          <p:nvPr/>
        </p:nvSpPr>
        <p:spPr>
          <a:xfrm>
            <a:off x="6179820" y="3634740"/>
            <a:ext cx="5181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Historical commitment digest</a:t>
            </a:r>
          </a:p>
        </p:txBody>
      </p:sp>
      <p:sp>
        <p:nvSpPr>
          <p:cNvPr id="29" name="TextBox 28"/>
          <p:cNvSpPr txBox="1"/>
          <p:nvPr/>
        </p:nvSpPr>
        <p:spPr>
          <a:xfrm>
            <a:off x="6179820" y="4046219"/>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f9236451ff785dc58315251cf864a3d1</a:t>
            </a:r>
          </a:p>
        </p:txBody>
      </p:sp>
      <p:sp>
        <p:nvSpPr>
          <p:cNvPr id="30" name="TextBox 29"/>
          <p:cNvSpPr txBox="1"/>
          <p:nvPr/>
        </p:nvSpPr>
        <p:spPr>
          <a:xfrm>
            <a:off x="6179820" y="428030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0938412551cf45f448055061bc953ea1</a:t>
            </a:r>
          </a:p>
        </p:txBody>
      </p:sp>
      <p:sp>
        <p:nvSpPr>
          <p:cNvPr id="31" name="TextBox 30"/>
          <p:cNvSpPr txBox="1"/>
          <p:nvPr/>
        </p:nvSpPr>
        <p:spPr>
          <a:xfrm>
            <a:off x="6179820" y="4762500"/>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 local validator; direct node observations.</a:t>
            </a:r>
          </a:p>
        </p:txBody>
      </p:sp>
      <p:sp>
        <p:nvSpPr>
          <p:cNvPr id="32" name="TextBox 31"/>
          <p:cNvSpPr txBox="1"/>
          <p:nvPr/>
        </p:nvSpPr>
        <p:spPr>
          <a:xfrm>
            <a:off x="6179820" y="499658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Not a consensus proof or production test.</a:t>
            </a:r>
          </a:p>
        </p:txBody>
      </p:sp>
      <p:sp>
        <p:nvSpPr>
          <p:cNvPr id="33" name="Rounded Rectangle 32"/>
          <p:cNvSpPr/>
          <p:nvPr/>
        </p:nvSpPr>
        <p:spPr>
          <a:xfrm>
            <a:off x="548640" y="5829300"/>
            <a:ext cx="11094720" cy="403859"/>
          </a:xfrm>
          <a:prstGeom prst="roundRect">
            <a:avLst>
              <a:gd name="adj" fmla="val 15094"/>
            </a:avLst>
          </a:prstGeom>
          <a:solidFill>
            <a:srgbClr val="F3E7CE"/>
          </a:solidFill>
          <a:ln>
            <a:noFill/>
          </a:ln>
          <a:effectLst/>
        </p:spPr>
        <p:txBody>
          <a:bodyPr rtlCol="0" anchor="ctr"/>
          <a:lstStyle/>
          <a:p>
            <a:pPr algn="ctr"/>
          </a:p>
        </p:txBody>
      </p:sp>
      <p:sp>
        <p:nvSpPr>
          <p:cNvPr id="34" name="TextBox 33"/>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A86A15"/>
                </a:solidFill>
                <a:latin typeface="DejaVu Sans"/>
              </a:rPr>
              <a:t>M3.1 CHAIN = NOT_RUN. Historical source reproduction requires exact F1R3 changes or a separate rebaseline.</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evidence/chain-demo.json · M1 historical</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G / COMMANDS AND PREREQUISITES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Reproduce the supported M3.1 gates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Use the tested revision or a reviewed descendant, with source access and a fresh destination.</a:t>
            </a:r>
          </a:p>
        </p:txBody>
      </p:sp>
      <p:sp>
        <p:nvSpPr>
          <p:cNvPr id="5" name="Rounded Rectangle 4"/>
          <p:cNvSpPr/>
          <p:nvPr/>
        </p:nvSpPr>
        <p:spPr>
          <a:xfrm>
            <a:off x="548640" y="1866900"/>
            <a:ext cx="11094720" cy="1424940"/>
          </a:xfrm>
          <a:prstGeom prst="roundRect">
            <a:avLst>
              <a:gd name="adj" fmla="val 6417"/>
            </a:avLst>
          </a:prstGeom>
          <a:solidFill>
            <a:srgbClr val="0B2233"/>
          </a:solidFill>
          <a:ln>
            <a:noFill/>
          </a:ln>
          <a:effectLst/>
        </p:spPr>
        <p:txBody>
          <a:bodyPr rtlCol="0" anchor="ctr"/>
          <a:lstStyle/>
          <a:p>
            <a:pPr algn="ctr"/>
          </a:p>
        </p:txBody>
      </p:sp>
      <p:sp>
        <p:nvSpPr>
          <p:cNvPr id="6" name="TextBox 5"/>
          <p:cNvSpPr txBox="1"/>
          <p:nvPr/>
        </p:nvSpPr>
        <p:spPr>
          <a:xfrm>
            <a:off x="762000" y="2034539"/>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BUILD FRESH PINNED PROVIDERS</a:t>
            </a:r>
          </a:p>
        </p:txBody>
      </p:sp>
      <p:sp>
        <p:nvSpPr>
          <p:cNvPr id="7" name="TextBox 6"/>
          <p:cNvSpPr txBox="1"/>
          <p:nvPr/>
        </p:nvSpPr>
        <p:spPr>
          <a:xfrm>
            <a:off x="762000" y="239268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8" name="TextBox 7"/>
          <p:cNvSpPr txBox="1"/>
          <p:nvPr/>
        </p:nvSpPr>
        <p:spPr>
          <a:xfrm>
            <a:off x="762000" y="27584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scripts/build_m3.py artifacts/m3_1/providers</a:t>
            </a:r>
          </a:p>
        </p:txBody>
      </p:sp>
      <p:sp>
        <p:nvSpPr>
          <p:cNvPr id="9" name="Rounded Rectangle 8"/>
          <p:cNvSpPr/>
          <p:nvPr/>
        </p:nvSpPr>
        <p:spPr>
          <a:xfrm>
            <a:off x="548640" y="3543300"/>
            <a:ext cx="11094720" cy="1424940"/>
          </a:xfrm>
          <a:prstGeom prst="roundRect">
            <a:avLst>
              <a:gd name="adj" fmla="val 6417"/>
            </a:avLst>
          </a:prstGeom>
          <a:solidFill>
            <a:srgbClr val="0B2233"/>
          </a:solidFill>
          <a:ln>
            <a:noFill/>
          </a:ln>
          <a:effectLst/>
        </p:spPr>
        <p:txBody>
          <a:bodyPr rtlCol="0" anchor="ctr"/>
          <a:lstStyle/>
          <a:p>
            <a:pPr algn="ctr"/>
          </a:p>
        </p:txBody>
      </p:sp>
      <p:sp>
        <p:nvSpPr>
          <p:cNvPr id="10" name="TextBox 9"/>
          <p:cNvSpPr txBox="1"/>
          <p:nvPr/>
        </p:nvSpPr>
        <p:spPr>
          <a:xfrm>
            <a:off x="762000" y="3710940"/>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VERIFY M1–M3 REGRESSION + CLOSURE + REAL PROVIDERS + NATIVE HIVE</a:t>
            </a:r>
          </a:p>
        </p:txBody>
      </p:sp>
      <p:sp>
        <p:nvSpPr>
          <p:cNvPr id="11" name="TextBox 10"/>
          <p:cNvSpPr txBox="1"/>
          <p:nvPr/>
        </p:nvSpPr>
        <p:spPr>
          <a:xfrm>
            <a:off x="762000" y="4069079"/>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12" name="TextBox 11"/>
          <p:cNvSpPr txBox="1"/>
          <p:nvPr/>
        </p:nvSpPr>
        <p:spPr>
          <a:xfrm>
            <a:off x="762000" y="44348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scripts/verify_m3_1.py artifacts/m3_1/providers/environment.json</a:t>
            </a:r>
          </a:p>
        </p:txBody>
      </p:sp>
      <p:sp>
        <p:nvSpPr>
          <p:cNvPr id="13" name="TextBox 12"/>
          <p:cNvSpPr txBox="1"/>
          <p:nvPr/>
        </p:nvSpPr>
        <p:spPr>
          <a:xfrm>
            <a:off x="594360" y="5311140"/>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Read: manifest.json → final/verification.json → suite logs → source-audit.json</a:t>
            </a:r>
          </a:p>
        </p:txBody>
      </p:sp>
      <p:sp>
        <p:nvSpPr>
          <p:cNvPr id="14" name="Rounded Rectangle 1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15" name="TextBox 14"/>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Source access, fixture tests, native execution and archived evidence are separate reproducibility requirements.</a:t>
            </a:r>
          </a:p>
        </p:txBody>
      </p:sp>
      <p:cxnSp>
        <p:nvCxnSpPr>
          <p:cNvPr id="16" name="Connector 15"/>
          <p:cNvCxnSpPr/>
          <p:nvPr/>
        </p:nvCxnSpPr>
        <p:spPr>
          <a:xfrm>
            <a:off x="548640" y="6393180"/>
            <a:ext cx="11094720" cy="0"/>
          </a:xfrm>
          <a:prstGeom prst="line">
            <a:avLst/>
          </a:prstGeom>
          <a:ln w="7620">
            <a:solidFill>
              <a:srgbClr val="C9D2D4"/>
            </a:solidFill>
          </a:ln>
          <a:effectLst/>
        </p:spPr>
      </p:cxnSp>
      <p:sp>
        <p:nvSpPr>
          <p:cNvPr id="17" name="TextBox 1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runbook.md · build_m3.py · verify_m3_1.py</a:t>
            </a:r>
          </a:p>
        </p:txBody>
      </p:sp>
      <p:sp>
        <p:nvSpPr>
          <p:cNvPr id="18" name="TextBox 1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H / OPERATIONAL SEMANTICS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Retry identities answer different questions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Preserve the logical cause while distinguishing transport replay from physical evaluation attempts.</a:t>
            </a:r>
          </a:p>
        </p:txBody>
      </p:sp>
      <p:sp>
        <p:nvSpPr>
          <p:cNvPr id="5" name="TextBox 4"/>
          <p:cNvSpPr txBox="1"/>
          <p:nvPr/>
        </p:nvSpPr>
        <p:spPr>
          <a:xfrm>
            <a:off x="670560" y="1790700"/>
            <a:ext cx="2613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IDENTITY / STATE</a:t>
            </a:r>
          </a:p>
        </p:txBody>
      </p:sp>
      <p:sp>
        <p:nvSpPr>
          <p:cNvPr id="6" name="TextBox 5"/>
          <p:cNvSpPr txBox="1"/>
          <p:nvPr/>
        </p:nvSpPr>
        <p:spPr>
          <a:xfrm>
            <a:off x="3528060" y="1790700"/>
            <a:ext cx="3756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MEANING</a:t>
            </a:r>
          </a:p>
        </p:txBody>
      </p:sp>
      <p:sp>
        <p:nvSpPr>
          <p:cNvPr id="7" name="TextBox 6"/>
          <p:cNvSpPr txBox="1"/>
          <p:nvPr/>
        </p:nvSpPr>
        <p:spPr>
          <a:xfrm>
            <a:off x="7528559" y="1790700"/>
            <a:ext cx="39928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RECOVERY ACTION</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Request / step ID</a:t>
            </a:r>
          </a:p>
        </p:txBody>
      </p:sp>
      <p:sp>
        <p:nvSpPr>
          <p:cNvPr id="10" name="TextBox 9"/>
          <p:cNvSpPr txBox="1"/>
          <p:nvPr/>
        </p:nvSpPr>
        <p:spPr>
          <a:xfrm>
            <a:off x="3528060" y="224028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immutable command intent</a:t>
            </a:r>
          </a:p>
        </p:txBody>
      </p:sp>
      <p:sp>
        <p:nvSpPr>
          <p:cNvPr id="11" name="TextBox 10"/>
          <p:cNvSpPr txBox="1"/>
          <p:nvPr/>
        </p:nvSpPr>
        <p:spPr>
          <a:xfrm>
            <a:off x="7528559" y="224028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Same body replays; changed body conflicts</a:t>
            </a:r>
          </a:p>
        </p:txBody>
      </p:sp>
      <p:sp>
        <p:nvSpPr>
          <p:cNvPr id="12" name="Rounded Rectangle 11"/>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3" name="TextBox 12"/>
          <p:cNvSpPr txBox="1"/>
          <p:nvPr/>
        </p:nvSpPr>
        <p:spPr>
          <a:xfrm>
            <a:off x="670560" y="285750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Logical derivation ID</a:t>
            </a:r>
          </a:p>
        </p:txBody>
      </p:sp>
      <p:sp>
        <p:nvSpPr>
          <p:cNvPr id="14" name="TextBox 13"/>
          <p:cNvSpPr txBox="1"/>
          <p:nvPr/>
        </p:nvSpPr>
        <p:spPr>
          <a:xfrm>
            <a:off x="3528060" y="285750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The same exact grounded conclusion</a:t>
            </a:r>
          </a:p>
        </p:txBody>
      </p:sp>
      <p:sp>
        <p:nvSpPr>
          <p:cNvPr id="15" name="TextBox 14"/>
          <p:cNvSpPr txBox="1"/>
          <p:nvPr/>
        </p:nvSpPr>
        <p:spPr>
          <a:xfrm>
            <a:off x="7528559" y="285750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Deduplicate admission and causal feedback</a:t>
            </a:r>
          </a:p>
        </p:txBody>
      </p:sp>
      <p:sp>
        <p:nvSpPr>
          <p:cNvPr id="16" name="Rounded Rectangle 15"/>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17" name="TextBox 16"/>
          <p:cNvSpPr txBox="1"/>
          <p:nvPr/>
        </p:nvSpPr>
        <p:spPr>
          <a:xfrm>
            <a:off x="670560" y="3474719"/>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Attempt key + reserved</a:t>
            </a:r>
          </a:p>
        </p:txBody>
      </p:sp>
      <p:sp>
        <p:nvSpPr>
          <p:cNvPr id="18" name="TextBox 17"/>
          <p:cNvSpPr txBox="1"/>
          <p:nvPr/>
        </p:nvSpPr>
        <p:spPr>
          <a:xfrm>
            <a:off x="670560" y="369905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slot</a:t>
            </a:r>
          </a:p>
        </p:txBody>
      </p:sp>
      <p:sp>
        <p:nvSpPr>
          <p:cNvPr id="19" name="TextBox 18"/>
          <p:cNvSpPr txBox="1"/>
          <p:nvPr/>
        </p:nvSpPr>
        <p:spPr>
          <a:xfrm>
            <a:off x="3528060" y="3474719"/>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physical evaluation opportunity</a:t>
            </a:r>
          </a:p>
        </p:txBody>
      </p:sp>
      <p:sp>
        <p:nvSpPr>
          <p:cNvPr id="20" name="TextBox 19"/>
          <p:cNvSpPr txBox="1"/>
          <p:nvPr/>
        </p:nvSpPr>
        <p:spPr>
          <a:xfrm>
            <a:off x="7528559" y="3474719"/>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Pending death spends slot; new key needs</a:t>
            </a:r>
          </a:p>
        </p:txBody>
      </p:sp>
      <p:sp>
        <p:nvSpPr>
          <p:cNvPr id="21" name="TextBox 20"/>
          <p:cNvSpPr txBox="1"/>
          <p:nvPr/>
        </p:nvSpPr>
        <p:spPr>
          <a:xfrm>
            <a:off x="7528559" y="3699052"/>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budget</a:t>
            </a:r>
          </a:p>
        </p:txBody>
      </p:sp>
      <p:sp>
        <p:nvSpPr>
          <p:cNvPr id="22" name="Rounded Rectangle 21"/>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3" name="TextBox 22"/>
          <p:cNvSpPr txBox="1"/>
          <p:nvPr/>
        </p:nvSpPr>
        <p:spPr>
          <a:xfrm>
            <a:off x="670560" y="409194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Committed C2 decision</a:t>
            </a:r>
          </a:p>
        </p:txBody>
      </p:sp>
      <p:sp>
        <p:nvSpPr>
          <p:cNvPr id="24" name="TextBox 23"/>
          <p:cNvSpPr txBox="1"/>
          <p:nvPr/>
        </p:nvSpPr>
        <p:spPr>
          <a:xfrm>
            <a:off x="3528060" y="409194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Saved authoritative admission outcome</a:t>
            </a:r>
          </a:p>
        </p:txBody>
      </p:sp>
      <p:sp>
        <p:nvSpPr>
          <p:cNvPr id="25" name="TextBox 24"/>
          <p:cNvSpPr txBox="1"/>
          <p:nvPr/>
        </p:nvSpPr>
        <p:spPr>
          <a:xfrm>
            <a:off x="7528559" y="409194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Read first; do not recalculate</a:t>
            </a:r>
          </a:p>
        </p:txBody>
      </p:sp>
      <p:sp>
        <p:nvSpPr>
          <p:cNvPr id="26" name="Rounded Rectangle 25"/>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27" name="TextBox 26"/>
          <p:cNvSpPr txBox="1"/>
          <p:nvPr/>
        </p:nvSpPr>
        <p:spPr>
          <a:xfrm>
            <a:off x="670560" y="470916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causal feedback</a:t>
            </a:r>
          </a:p>
        </p:txBody>
      </p:sp>
      <p:sp>
        <p:nvSpPr>
          <p:cNvPr id="28" name="TextBox 27"/>
          <p:cNvSpPr txBox="1"/>
          <p:nvPr/>
        </p:nvSpPr>
        <p:spPr>
          <a:xfrm>
            <a:off x="670560" y="493349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receipt</a:t>
            </a:r>
          </a:p>
        </p:txBody>
      </p:sp>
      <p:sp>
        <p:nvSpPr>
          <p:cNvPr id="29" name="TextBox 28"/>
          <p:cNvSpPr txBox="1"/>
          <p:nvPr/>
        </p:nvSpPr>
        <p:spPr>
          <a:xfrm>
            <a:off x="3528060" y="470916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workflow credit for logical admission</a:t>
            </a:r>
          </a:p>
        </p:txBody>
      </p:sp>
      <p:sp>
        <p:nvSpPr>
          <p:cNvPr id="30" name="TextBox 29"/>
          <p:cNvSpPr txBox="1"/>
          <p:nvPr/>
        </p:nvSpPr>
        <p:spPr>
          <a:xfrm>
            <a:off x="7528559" y="470916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Recover acknowledgment; do not credit</a:t>
            </a:r>
          </a:p>
        </p:txBody>
      </p:sp>
      <p:sp>
        <p:nvSpPr>
          <p:cNvPr id="31" name="TextBox 30"/>
          <p:cNvSpPr txBox="1"/>
          <p:nvPr/>
        </p:nvSpPr>
        <p:spPr>
          <a:xfrm>
            <a:off x="7528559" y="4933492"/>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twice</a:t>
            </a:r>
          </a:p>
        </p:txBody>
      </p:sp>
      <p:sp>
        <p:nvSpPr>
          <p:cNvPr id="32" name="Rounded Rectangle 31"/>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3" name="TextBox 32"/>
          <p:cNvSpPr txBox="1"/>
          <p:nvPr/>
        </p:nvSpPr>
        <p:spPr>
          <a:xfrm>
            <a:off x="670560" y="532638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Deadline / generation</a:t>
            </a:r>
          </a:p>
        </p:txBody>
      </p:sp>
      <p:sp>
        <p:nvSpPr>
          <p:cNvPr id="34" name="TextBox 33"/>
          <p:cNvSpPr txBox="1"/>
          <p:nvPr/>
        </p:nvSpPr>
        <p:spPr>
          <a:xfrm>
            <a:off x="670560" y="555071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watermark</a:t>
            </a:r>
          </a:p>
        </p:txBody>
      </p:sp>
      <p:sp>
        <p:nvSpPr>
          <p:cNvPr id="35" name="TextBox 34"/>
          <p:cNvSpPr txBox="1"/>
          <p:nvPr/>
        </p:nvSpPr>
        <p:spPr>
          <a:xfrm>
            <a:off x="3528060" y="532638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Durable limits across process restarts</a:t>
            </a:r>
          </a:p>
        </p:txBody>
      </p:sp>
      <p:sp>
        <p:nvSpPr>
          <p:cNvPr id="36" name="TextBox 35"/>
          <p:cNvSpPr txBox="1"/>
          <p:nvPr/>
        </p:nvSpPr>
        <p:spPr>
          <a:xfrm>
            <a:off x="7528559" y="532638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Do not reset, refund or implicitly retime</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M3.1 / inference.py · derived_beliefs.py · attention.py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Omega × ASI — Bounded inference and owner-authoritative delivery closure</dc:title>
  <dc:subject>Through M3.1: private memory, bounded native inference, delivery and feedback closure</dc:subject>
  <dc:creator>Omega × ASI module-interface project</dc:creator>
  <cp:keywords>Omega, ASI, M3.1, ELI16, Hive, DeTTa, PLN, memory, attention, bounded inference, recovery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