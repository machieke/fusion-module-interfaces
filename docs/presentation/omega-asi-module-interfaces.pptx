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helicopter view, all fifteen module responsibilities and function dependencies before the implementation details. M1.1 separated owner commits and proved an independent AtomStorage replacement. M1.2 now connects a pinned real Hive runtime through its native Programs action route, with real DeTTa and a fixture counterparty. The cognitive modules remain specifications. These are engineering contracts, not a final community AtomSpace or numerical model. Suggested delivery: 30–35 minutes through slide 26; seven appendices support discussion. Current evidence is the recorded 16 October 2026 M1.2 run, implementation bb22ef5, evidence snapshot 4ee5cbe.</a:t>
            </a:r>
          </a:p>
          <a:p/>
          <a:p>
            <a:r>
              <a:t>Source: M1.2 evidence snapshot 4ee5cbe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thesis remains behavior, authority and evidence. A matching method name is insufficient: profiles define semantics and guarantees. Only the state owner may write its state. Receipts describe specific facts rather than one universal success. The real Hive operator action generates a non-sensitive sample, stores it through AtomStorage, sends its reference to a labelled fixture counterparty, submits inspect_atom, recovers completion, records its accepted outcome and acknowledges delivery. Chain submission is not part of this M1.2 path.</a:t>
            </a:r>
          </a:p>
          <a:p/>
          <a:p>
            <a:r>
              <a:t>Source: 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fifteen modules remain visible: five cognition modules, five shared application ports, three control/policy functions and two provider-facing responsibilities. Hive is a consumer of these modules, not a newly invented sixteenth module. Dashed violet boxes remain specifications. Blue is the implemented local contract harness. DeTTa is real local DA/FileStorage; an independent file provider is a contract fixture. Finality has a historical real isolated-chain observation from M1, but the M1.2 chain gate was not run. Native Hive authentication is real; the downstream Fusion credential/scope policy remains a development fixture. No cognitive module is implemented by this increment.</a:t>
            </a:r>
          </a:p>
          <a:p/>
          <a:p>
            <a:r>
              <a:t>Source: 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 persists opaque payloads and erasure shares. AtomStorage owns the application reference metadata, immutable revision and semantic replay keys. Relations describe explicit ordered roles; a link is not automatically a belief. Search is a rebuildable projection that exposes its watermark, not the authoritative store. Episodic memory adds occurrence identities and episode-local ordering, so equal payload bytes may describe different observations. Its full private history remains client-side. This design deliberately does not require a parser, ontology, embedding model or LLM just to store data. Additional relation operations are outgoing/incoming; episode reads are readEpisode/findEpisodes. Those future contracts remain unimplemented through M1.2.</a:t>
            </a:r>
          </a:p>
          <a:p/>
          <a:p>
            <a:r>
              <a:t>Source: 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Belief revision is the only owner of the truth/evidence aggregate. Its numerical profile has not been selected as a universal model. The PLN kernel is pure over ordered immutable premise snapshots and returns a proposal; it cannot update beliefs or choose its own agenda. ECAN owns attention and logical time, including allocation, decay and tie-breaking under a declared policy. readAttention is also part of its contract. Inference control orchestrates retrieval, belief snapshots, rules and feedback within candidate, rule, generation and time budgets. Control stores its own step receipts/checkpoint, not the other owners' state. Reviewers and maintainers for these new contracts remain unassigned.</a:t>
            </a:r>
          </a:p>
          <a:p/>
          <a:p>
            <a:r>
              <a:t>Source: 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Messaging owns accepted inbox entries, acknowledgements and replay. Execution owns jobs and the completion outbox, and accepts only inspect_atom. Its result atoms belong to AtomStorage, a separate owner. Registry and resolver select a configured descriptor, not permission. Finality is a separate adapter with a historical real M1 observation; it is not invoked by the real Hive M1.2 workflow. Native Hive authenticates the operator and supplies trusted actor context. Fusion then enforces current scope, method and route policy through a labelled local test-policy implementation. Caller-supplied identity does not confer authority.</a:t>
            </a:r>
          </a:p>
          <a:p/>
          <a:p>
            <a:r>
              <a:t>Source: 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declared runtime dependency view, not a claim that the cognitive loop was executed. Arrows point from a caller to the port it invokes. Inference control calls Search.query, attention.select and submitStimulus, belief.readBelief and submitEvidence, and PLN.applyRule. Episode history produces EvidenceRef values for the orchestrator; episode writes do not invoke hidden truth setters. Relations can persist ordinary atom records and episodic memory stores referenced payloads. AtomStorage then calls the opaque DA storage port: this is the solid implemented path. Search reads immutable records/events and belief revision consumes evidence/atom snapshots; those data dependencies are named below the diagram to avoid a misleading tangle of arrows. Interface imports remain acyclic; runtime feedback is expressed through explicit commands and values.</a:t>
            </a:r>
          </a:p>
          <a:p/>
          <a:p>
            <a:r>
              <a:t>Source: ports.py + contracts.md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 the real native dispatch into the thin plugin, which holds a caller-owned receipt and uses Subprocess/Peer through descriptor-bound validation. Direct storage, messaging and execution calls all cross the same authenticated boundary. Trusted composition supplies concrete owners; the plugin never constructs them or accesses their tables. Messaging.send validates the referenced bytes through caller-authorized AtomStorage.get; Execution.submit reads the input before accepting a new job. The worker calls declared AtomStorage get/create, then execution commits terminal state/outbox. CompletionDelivery.accept belongs to the mailbox owner and commits separately. Chain remains a separate, uninvoked adapter. This is a logical call map; it does not force one process per module.</a:t>
            </a:r>
          </a:p>
          <a:p/>
          <a:p>
            <a:r>
              <a:t>Source: program.py · ports.py · execution.py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replaces the old M1 shared-journal drawing. M1.1 split atom metadata, messages and execution into separately committed owner stores and declared the dependencies actually exercised by the worker. Execution's own terminal state and outbox are atomic with each other, not with atom persistence or mailbox acceptance. Wire replay metadata is colocated with execution, while cross-owner operations have owner-local replay. M1.2 adds only a minimal caller boundary receipt, not episodes or a new journal framework. It serializes one caller journal and permits one unfinished intent per dedicated route. All observations concern persistent local files and process restart.</a:t>
            </a:r>
          </a:p>
          <a:p/>
          <a:p>
            <a:r>
              <a:t>Source: architecture.md · atoms.py · messaging.py · program.py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committed M1.2 matrix contains 4 workflows: DeTTa and fixture-files under both in-process and private subprocess bindings. These peers remain fixtures; this matrix is not relabelled as the new native Hive test. Execution depends on declared AtomStorage and CompletionDelivery ports and does not inspect concrete atom owners. The file fixture owns atomic payload/record files and is independently implemented. This proves substitutability in the documented fresh-store profile. It is not another DA network, live namespace switching, a journal migration or distributed placement. M1.2 preserves these boundaries without changing fusion/.</a:t>
            </a:r>
          </a:p>
          <a:p/>
          <a:p>
            <a:r>
              <a:t>Source: evidence/m1_2/m11-swap-demo.json · test_m11.py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resolver uses fixed consumer requirements, exact profiles, supported operations, privacy and claimed guarantees. Binding invocation and success replies carry the selected descriptor token; response validation checks shape, scope, references, integrity, receipts and known correlation. The native adapter loads operator-selected descriptors and uses that same boundary. Native-path tests reject an incompatible profile and a changed descriptor. Wire remains 1.0.0; the /2 messaging and execution profiles describe neutral process-restart receipts and recoverable status. They do not imply live 1.x rolling interoperability. No proof verifier is installed, so required verification fails closed.</a:t>
            </a:r>
          </a:p>
          <a:p/>
          <a:p>
            <a:r>
              <a:t>Source: registry.py · bindings.py · responses.py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diagram shows native action fields, not a complete copy-paste HTTP request; the actual body also includes the swarm and an empty items list. Hive authenticates the operator, checks swarm visibility, rejects identity fields in params, and delivers trusted actor/command context. An exact principal/swarm configuration selects credential, scope, reply route and a fixture counterparty. The plugin accepts only an integer seed and no arbitrary input bytes. Stable keys cover input creation, sharing, job submission and acknowledgement. On retry, status/get/poll/ack continue to enforce the current Fusion policy. Test credentials and private configuration are never embedded in the deck.</a:t>
            </a:r>
          </a:p>
          <a:p/>
          <a:p>
            <a:r>
              <a:t>Source: ProgramActions.person_act · integration/hive/program/program.py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old runtime-unavailable statement is historical. The user supplied clean omegahive-schematics 4af00db4e395375484dd48d0b9068a59afcf01f8; its component map names 34b0fb3. Authorized SSH retrieved PhysixSNET/omegahive at 34b0fb32ab3806e5609fc89bb7535518a35e1aea. The different observed remote HEAD was not silently selected. Native startup is python -m hive. The test driver uses its lock, startup recovery and create_app in a separate OS process, with real PeTTa and the default Supervisor. It signs in and traverses the actual Programs route. Native baseline tests have their declared fake process driver; the new real-caller tests do not. No LLM or mind is started. This pin selects an engineering experiment, not a final community product release.</a:t>
            </a:r>
          </a:p>
          <a:p/>
          <a:p>
            <a:r>
              <a:t>Source: sources.json · discovery.md · native-baseline.xml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effects originate in the real native operation, not a renamed protocol demo. The caller first commits its original intent. AtomStorage persists generated bytes in actual DeTTa, then Messaging accepts a reference for the explicitly labelled fixture counterparty. DelegatedExecution accepts only inspect_atom under the original key and correlation. The caller records the accepted job. A separate real worker reads/persists through AtomStorage, then commits execution terminal state/outbox. Messaging accepts the completion in a separate transaction. The final arrow summarizes the reconciliation expanded on the next slides: status /2 restores known correlation, poll and get verify the completion, caller acceptance commits, and a stable-key acknowledgement follows. This is not one distributed transaction.</a:t>
            </a:r>
          </a:p>
          <a:p/>
          <a:p>
            <a:r>
              <a:t>Source: program.py · execution.py · messaging.py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facts are independent. A result atom can persist while the job is still queued after worker death. A succeeded job may have an unsent outbox when a reply route is full. A caller may have recorded its accepted outcome while acknowledgement is still pending. The plugin commits its outcome before acknowledgement to deduplicate that gap, and rechecks live authorization before returning it on replay. A failed worker completion is verified, recorded and acknowledged as an error, never transformed into empty memory or successful inspection. There is no exactly-once display or physical-execution guarantee. The original acceptance receipt in the trace remains queued/not-observed because it describes admission, not the later outcome.</a:t>
            </a:r>
          </a:p>
          <a:p/>
          <a:p>
            <a:r>
              <a:t>Source: contracts.md · m1_2-evidence.md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actual OS-process kills, not exceptions standing in for restart. The test caller is a native Hive app process with real authentication and dispatch. Trusted configuration enables a SIGSTOP checkpoint; the test waits for its marker and sends SIGKILL. Admission-loss occurs after durable Fusion acceptance but before saving the job in the caller record. Submission-loss occurs after that local record commits. Acceptance-loss occurs after outcome commit and before ack. A new app process signs in against the same native data directory and reconciles the original request. Tests assert stable job identity, two total atoms (input and one result), one outbox, one completion, one caller outcome and no delivery after ack. The receipt is a minimal boundary record, not an episodic-memory implementation.</a:t>
            </a:r>
          </a:p>
          <a:p/>
          <a:p>
            <a:r>
              <a:t>Source: test_integration.py · hive-integration.xml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native worker-recovery test kills the existing worker after AtomStorage has committed the result and before execution terminal state/outbox commit. The test observes two atoms, one queued job and no outbox, then restarts and verifies one result. In the full-route test, a labelled fixture fills the dedicated reply route. Flush reports zero sent and one pending. The native operation refuses the unrelated delivery and does not record an accepted outcome. After fixture cleanup, flush and native completion succeed. A separate test revokes worker create authority after admission and observes an explicit UNAUTHORIZED failed completion without a result atom. Temporary input unavailability is exercised in the preserved M1.1 matrix; the new native representative provider-failure case is route backpressure. No cross-owner atomicity is claimed.</a:t>
            </a:r>
          </a:p>
          <a:p/>
          <a:p>
            <a:r>
              <a:t>Source: execution.py · test_m11.py · test_integration.py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unchanged DA boundary is exercised against a freshly fetched clean secured-contract-spaces revision 272888f264dd2dde18b574cabb53c266b0dac2ec. No Hive-specific schema is added to DeTTa. Application references and replay semantics belong above opaque DA. Conformance removes the cached payload and two erasure shares and verifies reconstruction; three missing shares and corruption fail explicitly. This is actual local library execution, not a validator/custody network or an indefinite-retention claim. The independent atomic-file provider is an AtomStorage contract fixture, not a second DA network. The clean-source rebaseline excludes historical dirty storage-format and custody-pruning additions and reruns applicable tests.</a:t>
            </a:r>
          </a:p>
          <a:p/>
          <a:p>
            <a:r>
              <a:t>Source: adapters/detta/src/main.rs · test_contract.py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row here is tested through the actual native route, except the trusted operator's setup/failure injection. The first row is rejected by Hive before plugin effects. The plugin uses the authenticated actor/swarm mapping and current module credentials; it cannot nominate a principal in the request body. Changed descriptor identity fails binding consistency at the server even if its advertised method set looks compatible. Cached success still requires live status/get/poll/ack authority. The worker rechecks its own and requester permissions after admission. Fusion's credential/scope policy is explicitly a local test policy, not production SCS or isolation against the same OS user.</a:t>
            </a:r>
          </a:p>
          <a:p/>
          <a:p>
            <a:r>
              <a:t>Source: program_actions.py · policy.py · test_integration.py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native dispatch is not a wrapper named Omega around Peer. It is the verified Hive app and plugin mechanism with real PeTTa. TestClient is an ASGI test transport and the caller driver is a test harness, not a substituted runtime. The new caller tests use the real default Supervisor without starting minds; the 34 upstream baseline tests use their labelled fake process driver. DeTTa is real local library storage. Mailbox and execution are actual Fusion implementations, while the payload, counterparty and policy are fixtures. The deterministic inspect operation is plumbing, not a cognitive capability. No live LLM is used. The historical chain observation is neither erased nor represented as a new same-artifact Hive-to-chain run.</a:t>
            </a:r>
          </a:p>
          <a:p/>
          <a:p>
            <a:r>
              <a:t>Source: m1_2-evidence.md · manifest.json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the committed M1.2 verification JSON, not a new test run for this deck. The 51 fixture tests are included in the full 90-test matrix. Clean upstream DeTTa passes 62 DA and 38 storage tests; the historical dirty checkout passed 40 storage tests because it included two local additions. The native baseline is 34 selected tests, not the full Hive suite. The new real-caller suite has 13 cases covering success/replay, three caller kill points, worker death, route backpressure, worker revocation and six negative conditions. All final run commands returned zero; native JUnit records no failures, errors or skips. Development failures and their corrections remain in the evidence directory. No new benchmark or integration run is implied by rebuilding the presentation.</a:t>
            </a:r>
          </a:p>
          <a:p/>
          <a:p>
            <a:r>
              <a:t>Source: evidence/m1_2/verification.json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source values: actor user:operator; swarm s_2ccf3f15; input ref a1b8c6b7-5dce-58c2-8880-c8492bbc3b36, digest 2e1748d637a3c6173c6021f3597fa403a43293c21f5ac861ce7921a90d7276b9, 53 bytes. Job and completion delivery ID 37fb2f12-9a0b-5eb7-9927-31208c06c687. Correlation and caller receipt 0573fa6e03b2edbc73855e849eab46b8c93d223c96cc67d4d5b8828cf96e7306. Result ref aa57a16c-94e2-5d5d-9ee7-121ae3dbfc82, digest cd2f727689b41e243ee78207d058d00b8be64932abbfd86a02851dfcbac400bb. Both atom receipts identify detta-local-rs/1, local-files-process-restart, six shares and threshold four, with no chain or custody certificate. Native outcome is done after result verification and acknowledgement. The initial job receipt still says queued/not-observed because it describes acceptance. This artifact was not submitted to a chain in M1.2.</a:t>
            </a:r>
          </a:p>
          <a:p/>
          <a:p>
            <a:r>
              <a:t>Source: evidence/m1_2/hive-trace.json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obtainability, buildability and a passing integration are separate questions. Authorized SSH fetches retrieved the exact Hive and DeTTa commits. Public pinned PeTTa/SWI sources and SWI submodule commits identify native inputs. The native build took 139.595 seconds on the recorded host; it observed Prolog-to-Python 42, Python-to-Prolog 2, and a generated PeTTa expression 42. It compiled a private SWI prefix and installed hash-locked dependencies, rebuilding Janus with --no-cache against that prefix. No prior venv, target or binary was copied. Python and Cargo download caches were warm; an entirely empty-cache build is unrun. The CMake cache-type guard and inherited virtual-environment issue were corrected and recorded. The verifier-only import-order correction was obtained by Git fast-forward before the final tests. None of these engineering choices changes upstream source or implies production deployment portability.</a:t>
            </a:r>
          </a:p>
          <a:p/>
          <a:p>
            <a:r>
              <a:t>Source: build_hive.py · native-build.json · 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board is generated from the M1.2 manifest. All nine required gates pass within the documented local profile. CHAIN is NOT_RUN, not failed and not a fixture substitute. Historical F1R3 reproduction remains blocked for its undistributed dirty source and untracked input; it would need authorized exact changes or a separately validated clean rebaseline. That optional source distribution issue does not block Hive-to-DeTTa. Empty-cache builds and the full Hive suite are intentionally unrun. Source availability alone does not pass the entrypoint or real-provider gate. Executed failed attempts remain recorded separately from the final successful run.</a:t>
            </a:r>
          </a:p>
          <a:p/>
          <a:p>
            <a:r>
              <a:t>Source: evidence/m1_2/manifest.json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stopping point moved from a missing Hive runtime to an evidenced native seam, without implementing M2. The next separately authorized increment can now be chosen from actual integration findings: private episodic provenance and explicitly profiled belief revision remain the cognitive roadmap, followed by attention and bounded inference. Existing upstream mathematics is not redefined here. Production transport/auth/isolation, distributed custody, independently verified proofs, performance characterization and live state migration remain outside this experiment. The minimal caller receipt is not a substitute for episodic memory. Do not describe the future entire Hive workflow or cognition as complete because one deterministic operation is integrated.</a:t>
            </a:r>
          </a:p>
          <a:p/>
          <a:p>
            <a:r>
              <a:t>Source: ADR 006–007 · m1_2-evidence.md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demonstrated change: a pinned real Hive runtime now invokes the same contracts and recovers across actual caller and worker process death. The consumer remains backend-independent, DA remains application-neutral, owner commits remain separate, and current authority still applies on replay. A fixture is labelled as a fixture; a historical chain observation does not become a new real-caller chain pass. The complete evidence, exact sources, build recipe and failure history are available in the repository. This presentation updates the explanation of completed M1.1/M1.2 work; it adds no runtime or cognitive implementation. Pause for discussion before the appendices.</a:t>
            </a:r>
          </a:p>
          <a:p/>
          <a:p>
            <a:r>
              <a:t>Source: M1.2 implementation bb22ef5 · evidence 4ee5cbe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actual adapter is integration/hive/program/program.py, registered by plugin.json. It owns only the caller receipt. native_caller.py is a test transport around the unmodified app, not a runtime replacement. The plugin invokes the same public validated binding as protocol consumers. Service is an authenticated facade; owner logic is now in atoms.py, messaging.py and execution.py, not all in service.py as the original deck suggested. composition.py alone selects concrete owner implementations. Execution depends on AtomStorage and trusted CompletionDelivery. The file fixture is independent of AtomOwner. The original Rust opaque adapter remains unchanged. Chain composition remains separate and unrun by this native flow.</a:t>
            </a:r>
          </a:p>
          <a:p/>
          <a:p>
            <a:r>
              <a:t>Source: integration/hive/ · fusion/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Episode expected_sequence and belief expected_revision make concurrent updates explicit. Replayed evidence must not add weight; derived cycles and overlapping roots cannot manufacture independent support. Reachability's guarded trueagi-pln-stv-finite-k1/v1 implementation is a candidate for review, not a selected universal model. metta-attention exposes STI/LTI/VLTI and direct setters, so it cannot be silently advertised as the proposed STI-only policy. Attention requires a declared budget, saturation, conservation or nonconservation, decay and tie-breaking behavior. Inference control must bound feedback generations and work, and define durable checkpoint semantics before advertising crash safety. These obligations belong to future milestones; new cognitive services remain absent.</a:t>
            </a:r>
          </a:p>
          <a:p/>
          <a:p>
            <a:r>
              <a:t>Source: ports.py · contracts.md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Permanent-for-unchanged-request failures also include INVALID_ARGUMENT and DEADLINE_EXCEEDED. INTERNAL is reserved and not automatically retryable. NOT_AVAILABLE covers missing persisted DA for a known ref and queued results; NOT_FOUND is absent metadata. Overload never silently drops acknowledged work. When transport fails after acceptance, the caller can retry the same semantic mutation or query the job owner. Already accepted mutations recover their original receipt even after the deadline expires, while new admissions and worker starts still honor the deadline. Empty poll means an authorized, known-empty inbox; failures do not become empty recall results. Live policy still applies to retries.</a:t>
            </a:r>
          </a:p>
          <a:p/>
          <a:p>
            <a:r>
              <a:t>Source: contracts.md · service.py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tested Fusion commit: bb22ef5e28b089b80132b40bcf5a1bbfc38b065b. Evidence snapshot: 4ee5cbe8b84689a5d2432530083738b263142f90. Hive 34b0fb32ab3806e5609fc89bb7535518a35e1aea; clean DeTTa 272888f264dd2dde18b574cabb53c266b0dac2ec; PeTTa ae66fa8e41dcd5539d614706bd4e5cfb34f9608d; SWI 69775434c8226897626b226aefcc8266499f1e2e; schematics 4af00db4e395375484dd48d0b9068a59afcf01f8. The native build used Fusion 1a627b0; only verifier import ordering changed before bb22ef5 verification. The final evidence descendant changes no implementation. Rust/Cargo 1.88.0, CMake 3.16.3, GCC 9.4.0 and uv 0.10.7 are recorded. Original supplied siblings remain unchanged. Historical F1R3 used a dirty tree at 9ec1096e1077 plus an untracked input; that historical source state is not distributed by the new recipe. The selected Hive revision is the one named by the supplied schematics, not a silent choice of remote HEAD.</a:t>
            </a:r>
          </a:p>
          <a:p/>
          <a:p>
            <a:r>
              <a:t>Source: m1_2/manifest.json · final-source-state.json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both two-line commands from a fresh Fusion checkout at the evidence revision or a reviewed descendant. artifacts/native must be absent or empty: the build refuses to overwrite existing work. SSH must already authorize access to the exact Hive and DeTTa repositories and host keys must be established. Public PeTTa and SWI sources are fetched at full commits. Cargo uses offline locked downloads; the native pip step uses hashes and --no-cache and builds Janus for the private SWI prefix. No dependency target directory, venv or binary is copied from the original workspace. The verifier deliberately hides real source paths for fixture-only testing, then runs the four-way matrix, upstream DeTTa, native baseline and actual caller tests. Chain is separate and not run. The runbook explains Linux prerequisites, missing optional native headers, the CMake guard correction and cache population limits. Building this deck does not rerun those integration tests.</a:t>
            </a:r>
          </a:p>
          <a:p/>
          <a:p>
            <a:r>
              <a:t>Source: runbook.md · build_hive.py · verify_m12.py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Preserve this historical result without promoting it into the new real-caller gate. The M1 chain JSON records pending, included with effect finality Pending, then finalized, at height 3 with no execution error, no rejection and cost 351 phlo. The committed digest belongs to the original protocol-peer result, not the generated native Hive result on slide 22. The M1 adapter used a registered approved digest, injected signer and durable signed intent against one isolated local node. That source had local changes and an untracked input. Exact historical reproduction remains blocked until those authorized bytes are supplied or a different clean revision is separately validated. No chain process or transaction was run during M1.2 or this presentation update. Finality does not establish indefinite off-chain availability.</a:t>
            </a:r>
          </a:p>
          <a:p/>
          <a:p>
            <a:r>
              <a:t>Source: evidence/chain-demo.json · M1 historical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new performance benchmark is presented. The original M1 single-sample timing chart has been removed from the current evidence story; those measurements remain in historical JSON. The native build and suite durations are reproducibility observations, not runtime latency or throughput claims. One local worker and one pending caller intent per dedicated route bound the tested profile. Production authorization, multi-host DA custody, generic external effects, live rolling upgrades, named-person/mind action paths, full Hive regression and all cognitive work remain unrun or unsupported. The deck makes no claim that rebuilding slides extends any integration guarantee.</a:t>
            </a:r>
          </a:p>
          <a:p/>
          <a:p>
            <a:r>
              <a:t>Source: m1_2-evidence.md · manifest.json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233"/>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AAC0CC"/>
                </a:solidFill>
                <a:latin typeface="DejaVu Sans"/>
              </a:rPr>
              <a:t>MODULE-INTERFACE ARCHITECTURE</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FFFFFF"/>
                </a:solidFill>
                <a:latin typeface="DejaVu Sans"/>
              </a:rPr>
              <a:t/>
            </a:r>
          </a:p>
        </p:txBody>
      </p:sp>
      <p:sp>
        <p:nvSpPr>
          <p:cNvPr id="4" name="TextBox 3"/>
          <p:cNvSpPr txBox="1"/>
          <p:nvPr/>
        </p:nvSpPr>
        <p:spPr>
          <a:xfrm>
            <a:off x="548640" y="1287780"/>
            <a:ext cx="10134600" cy="665683"/>
          </a:xfrm>
          <a:prstGeom prst="rect">
            <a:avLst/>
          </a:prstGeom>
          <a:noFill/>
        </p:spPr>
        <p:txBody>
          <a:bodyPr wrap="none" lIns="0" rIns="0" tIns="0" bIns="0" anchor="t" anchorCtr="0">
            <a:noAutofit/>
          </a:bodyPr>
          <a:lstStyle/>
          <a:p>
            <a:pPr algn="l">
              <a:lnSpc>
                <a:spcPct val="100000"/>
              </a:lnSpc>
              <a:spcBef>
                <a:spcPts val="0"/>
              </a:spcBef>
              <a:spcAft>
                <a:spcPts val="0"/>
              </a:spcAft>
            </a:pPr>
            <a:r>
              <a:rPr sz="4680" b="1">
                <a:solidFill>
                  <a:srgbClr val="FFFFFF"/>
                </a:solidFill>
                <a:latin typeface="DejaVu Sans"/>
              </a:rPr>
              <a:t>One responsibility.</a:t>
            </a:r>
          </a:p>
        </p:txBody>
      </p:sp>
      <p:sp>
        <p:nvSpPr>
          <p:cNvPr id="5" name="TextBox 4"/>
          <p:cNvSpPr txBox="1"/>
          <p:nvPr/>
        </p:nvSpPr>
        <p:spPr>
          <a:xfrm>
            <a:off x="548640" y="1953463"/>
            <a:ext cx="10134600" cy="665683"/>
          </a:xfrm>
          <a:prstGeom prst="rect">
            <a:avLst/>
          </a:prstGeom>
          <a:noFill/>
        </p:spPr>
        <p:txBody>
          <a:bodyPr wrap="none" lIns="0" rIns="0" tIns="0" bIns="0" anchor="t" anchorCtr="0">
            <a:noAutofit/>
          </a:bodyPr>
          <a:lstStyle/>
          <a:p>
            <a:pPr algn="l">
              <a:lnSpc>
                <a:spcPct val="100000"/>
              </a:lnSpc>
              <a:spcBef>
                <a:spcPts val="0"/>
              </a:spcBef>
              <a:spcAft>
                <a:spcPts val="0"/>
              </a:spcAft>
            </a:pPr>
            <a:r>
              <a:rPr sz="4680" b="1">
                <a:solidFill>
                  <a:srgbClr val="FFFFFF"/>
                </a:solidFill>
                <a:latin typeface="DejaVu Sans"/>
              </a:rPr>
              <a:t>One state owner.</a:t>
            </a:r>
          </a:p>
        </p:txBody>
      </p:sp>
      <p:sp>
        <p:nvSpPr>
          <p:cNvPr id="6" name="TextBox 5"/>
          <p:cNvSpPr txBox="1"/>
          <p:nvPr/>
        </p:nvSpPr>
        <p:spPr>
          <a:xfrm>
            <a:off x="548640" y="2619146"/>
            <a:ext cx="10134600" cy="665683"/>
          </a:xfrm>
          <a:prstGeom prst="rect">
            <a:avLst/>
          </a:prstGeom>
          <a:noFill/>
        </p:spPr>
        <p:txBody>
          <a:bodyPr wrap="none" lIns="0" rIns="0" tIns="0" bIns="0" anchor="t" anchorCtr="0">
            <a:noAutofit/>
          </a:bodyPr>
          <a:lstStyle/>
          <a:p>
            <a:pPr algn="l">
              <a:lnSpc>
                <a:spcPct val="100000"/>
              </a:lnSpc>
              <a:spcBef>
                <a:spcPts val="0"/>
              </a:spcBef>
              <a:spcAft>
                <a:spcPts val="0"/>
              </a:spcAft>
            </a:pPr>
            <a:r>
              <a:rPr sz="4680" b="1">
                <a:solidFill>
                  <a:srgbClr val="FFFFFF"/>
                </a:solidFill>
                <a:latin typeface="DejaVu Sans"/>
              </a:rPr>
              <a:t>Many possible backends.</a:t>
            </a:r>
          </a:p>
        </p:txBody>
      </p:sp>
      <p:sp>
        <p:nvSpPr>
          <p:cNvPr id="7" name="TextBox 6"/>
          <p:cNvSpPr txBox="1"/>
          <p:nvPr/>
        </p:nvSpPr>
        <p:spPr>
          <a:xfrm>
            <a:off x="579120" y="3672840"/>
            <a:ext cx="9525000" cy="409651"/>
          </a:xfrm>
          <a:prstGeom prst="rect">
            <a:avLst/>
          </a:prstGeom>
          <a:noFill/>
        </p:spPr>
        <p:txBody>
          <a:bodyPr wrap="none" lIns="0" rIns="0" tIns="0" bIns="0" anchor="t" anchorCtr="0">
            <a:noAutofit/>
          </a:bodyPr>
          <a:lstStyle/>
          <a:p>
            <a:pPr algn="l">
              <a:lnSpc>
                <a:spcPct val="100000"/>
              </a:lnSpc>
              <a:spcBef>
                <a:spcPts val="0"/>
              </a:spcBef>
              <a:spcAft>
                <a:spcPts val="0"/>
              </a:spcAft>
            </a:pPr>
            <a:r>
              <a:rPr sz="2520" b="0">
                <a:solidFill>
                  <a:srgbClr val="AAC0CC"/>
                </a:solidFill>
                <a:latin typeface="DejaVu Sans"/>
              </a:rPr>
              <a:t>Omega Hive × ASI:chain</a:t>
            </a:r>
          </a:p>
        </p:txBody>
      </p:sp>
      <p:sp>
        <p:nvSpPr>
          <p:cNvPr id="8" name="TextBox 7"/>
          <p:cNvSpPr txBox="1"/>
          <p:nvPr/>
        </p:nvSpPr>
        <p:spPr>
          <a:xfrm>
            <a:off x="579120" y="4191000"/>
            <a:ext cx="98298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0">
                <a:solidFill>
                  <a:srgbClr val="FFFFFF"/>
                </a:solidFill>
                <a:latin typeface="DejaVu Sans"/>
              </a:rPr>
              <a:t>From independent module contracts to a real Hive caller that recovers</a:t>
            </a:r>
          </a:p>
        </p:txBody>
      </p:sp>
      <p:sp>
        <p:nvSpPr>
          <p:cNvPr id="9" name="Rounded Rectangle 8"/>
          <p:cNvSpPr/>
          <p:nvPr/>
        </p:nvSpPr>
        <p:spPr>
          <a:xfrm>
            <a:off x="579120" y="5151120"/>
            <a:ext cx="1602075" cy="289560"/>
          </a:xfrm>
          <a:prstGeom prst="roundRect">
            <a:avLst>
              <a:gd name="adj" fmla="val 18421"/>
            </a:avLst>
          </a:prstGeom>
          <a:solidFill>
            <a:srgbClr val="DCEFE8"/>
          </a:solidFill>
          <a:ln>
            <a:noFill/>
          </a:ln>
          <a:effectLst/>
        </p:spPr>
        <p:txBody>
          <a:bodyPr rtlCol="0" anchor="ctr"/>
          <a:lstStyle/>
          <a:p>
            <a:pPr algn="ctr"/>
          </a:p>
        </p:txBody>
      </p:sp>
      <p:sp>
        <p:nvSpPr>
          <p:cNvPr id="10" name="TextBox 9"/>
          <p:cNvSpPr txBox="1"/>
          <p:nvPr/>
        </p:nvSpPr>
        <p:spPr>
          <a:xfrm>
            <a:off x="685800" y="5204460"/>
            <a:ext cx="1411575"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1">
                <a:solidFill>
                  <a:srgbClr val="007C78"/>
                </a:solidFill>
                <a:latin typeface="DejaVu Sans"/>
              </a:rPr>
              <a:t>M1.2 COMPLETE</a:t>
            </a:r>
          </a:p>
        </p:txBody>
      </p:sp>
      <p:sp>
        <p:nvSpPr>
          <p:cNvPr id="11" name="Rounded Rectangle 10"/>
          <p:cNvSpPr/>
          <p:nvPr/>
        </p:nvSpPr>
        <p:spPr>
          <a:xfrm>
            <a:off x="2788920" y="5151120"/>
            <a:ext cx="1721807" cy="289560"/>
          </a:xfrm>
          <a:prstGeom prst="roundRect">
            <a:avLst>
              <a:gd name="adj" fmla="val 18421"/>
            </a:avLst>
          </a:prstGeom>
          <a:solidFill>
            <a:srgbClr val="EBE5F3"/>
          </a:solidFill>
          <a:ln>
            <a:noFill/>
          </a:ln>
          <a:effectLst/>
        </p:spPr>
        <p:txBody>
          <a:bodyPr rtlCol="0" anchor="ctr"/>
          <a:lstStyle/>
          <a:p>
            <a:pPr algn="ctr"/>
          </a:p>
        </p:txBody>
      </p:sp>
      <p:sp>
        <p:nvSpPr>
          <p:cNvPr id="12" name="TextBox 11"/>
          <p:cNvSpPr txBox="1"/>
          <p:nvPr/>
        </p:nvSpPr>
        <p:spPr>
          <a:xfrm>
            <a:off x="2895600" y="5204460"/>
            <a:ext cx="1531307"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1">
                <a:solidFill>
                  <a:srgbClr val="7458A2"/>
                </a:solidFill>
                <a:latin typeface="DejaVu Sans"/>
              </a:rPr>
              <a:t>M2 NOT STARTED</a:t>
            </a:r>
          </a:p>
        </p:txBody>
      </p:sp>
      <p:sp>
        <p:nvSpPr>
          <p:cNvPr id="13" name="TextBox 12"/>
          <p:cNvSpPr txBox="1"/>
          <p:nvPr/>
        </p:nvSpPr>
        <p:spPr>
          <a:xfrm>
            <a:off x="579120" y="5745480"/>
            <a:ext cx="99060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AAC0CC"/>
                </a:solidFill>
                <a:latin typeface="DejaVu Sans"/>
              </a:rPr>
              <a:t>Architecture review • 16 October 2026 • verified native integration</a:t>
            </a:r>
          </a:p>
        </p:txBody>
      </p:sp>
      <p:cxnSp>
        <p:nvCxnSpPr>
          <p:cNvPr id="14" name="Connector 13"/>
          <p:cNvCxnSpPr/>
          <p:nvPr/>
        </p:nvCxnSpPr>
        <p:spPr>
          <a:xfrm>
            <a:off x="548640" y="6393180"/>
            <a:ext cx="11094720" cy="0"/>
          </a:xfrm>
          <a:prstGeom prst="line">
            <a:avLst/>
          </a:prstGeom>
          <a:ln w="7620">
            <a:solidFill>
              <a:srgbClr val="536775"/>
            </a:solidFill>
          </a:ln>
          <a:effectLst/>
        </p:spPr>
      </p:cxnSp>
      <p:sp>
        <p:nvSpPr>
          <p:cNvPr id="15" name="TextBox 14"/>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AAC0CC"/>
                </a:solidFill>
                <a:latin typeface="DejaVu Sans"/>
              </a:rPr>
              <a:t>OMEGA × ASI / THROUGH M1.2 / M1.2 evidence snapshot 4ee5cbe</a:t>
            </a:r>
          </a:p>
        </p:txBody>
      </p:sp>
      <p:sp>
        <p:nvSpPr>
          <p:cNvPr id="16" name="TextBox 15"/>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AAC0CC"/>
                </a:solidFill>
                <a:latin typeface="DejaVu Sans Mono"/>
              </a:rPr>
              <a:t>01 / 33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01 / HELICOPTER VIEW</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The architecture separates three commitments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 function boundary, an authority boundary, and an evidence boundary.</a:t>
            </a:r>
          </a:p>
        </p:txBody>
      </p:sp>
      <p:sp>
        <p:nvSpPr>
          <p:cNvPr id="5" name="Rounded Rectangle 4"/>
          <p:cNvSpPr/>
          <p:nvPr/>
        </p:nvSpPr>
        <p:spPr>
          <a:xfrm>
            <a:off x="548640" y="1943100"/>
            <a:ext cx="3535679" cy="2514600"/>
          </a:xfrm>
          <a:prstGeom prst="roundRect">
            <a:avLst>
              <a:gd name="adj" fmla="val 4545"/>
            </a:avLst>
          </a:prstGeom>
          <a:solidFill>
            <a:srgbClr val="FFFFFF"/>
          </a:solidFill>
          <a:ln>
            <a:noFill/>
          </a:ln>
          <a:effectLst/>
        </p:spPr>
        <p:txBody>
          <a:bodyPr rtlCol="0" anchor="ctr"/>
          <a:lstStyle/>
          <a:p>
            <a:pPr algn="ctr"/>
          </a:p>
        </p:txBody>
      </p:sp>
      <p:sp>
        <p:nvSpPr>
          <p:cNvPr id="6" name="TextBox 5"/>
          <p:cNvSpPr txBox="1"/>
          <p:nvPr/>
        </p:nvSpPr>
        <p:spPr>
          <a:xfrm>
            <a:off x="746760" y="2133600"/>
            <a:ext cx="3124200" cy="477926"/>
          </a:xfrm>
          <a:prstGeom prst="rect">
            <a:avLst/>
          </a:prstGeom>
          <a:noFill/>
        </p:spPr>
        <p:txBody>
          <a:bodyPr wrap="none" lIns="0" rIns="0" tIns="0" bIns="0" anchor="t" anchorCtr="0">
            <a:noAutofit/>
          </a:bodyPr>
          <a:lstStyle/>
          <a:p>
            <a:pPr algn="l">
              <a:lnSpc>
                <a:spcPct val="100000"/>
              </a:lnSpc>
              <a:spcBef>
                <a:spcPts val="0"/>
              </a:spcBef>
              <a:spcAft>
                <a:spcPts val="0"/>
              </a:spcAft>
            </a:pPr>
            <a:r>
              <a:rPr sz="2940" b="0">
                <a:solidFill>
                  <a:srgbClr val="007C78"/>
                </a:solidFill>
                <a:latin typeface="DejaVu Sans Mono"/>
              </a:rPr>
              <a:t>01</a:t>
            </a:r>
          </a:p>
        </p:txBody>
      </p:sp>
      <p:sp>
        <p:nvSpPr>
          <p:cNvPr id="7" name="TextBox 6"/>
          <p:cNvSpPr txBox="1"/>
          <p:nvPr/>
        </p:nvSpPr>
        <p:spPr>
          <a:xfrm>
            <a:off x="746760" y="2735580"/>
            <a:ext cx="313944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102B3F"/>
                </a:solidFill>
                <a:latin typeface="DejaVu Sans"/>
              </a:rPr>
              <a:t>Replace behavior</a:t>
            </a:r>
          </a:p>
        </p:txBody>
      </p:sp>
      <p:sp>
        <p:nvSpPr>
          <p:cNvPr id="8" name="TextBox 7"/>
          <p:cNvSpPr txBox="1"/>
          <p:nvPr/>
        </p:nvSpPr>
        <p:spPr>
          <a:xfrm>
            <a:off x="746760" y="3037941"/>
            <a:ext cx="313944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102B3F"/>
                </a:solidFill>
                <a:latin typeface="DejaVu Sans"/>
              </a:rPr>
              <a:t>safely</a:t>
            </a:r>
          </a:p>
        </p:txBody>
      </p:sp>
      <p:sp>
        <p:nvSpPr>
          <p:cNvPr id="9" name="TextBox 8"/>
          <p:cNvSpPr txBox="1"/>
          <p:nvPr/>
        </p:nvSpPr>
        <p:spPr>
          <a:xfrm>
            <a:off x="746760" y="3451860"/>
            <a:ext cx="30861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Select a versioned contract</a:t>
            </a:r>
          </a:p>
        </p:txBody>
      </p:sp>
      <p:sp>
        <p:nvSpPr>
          <p:cNvPr id="10" name="TextBox 9"/>
          <p:cNvSpPr txBox="1"/>
          <p:nvPr/>
        </p:nvSpPr>
        <p:spPr>
          <a:xfrm>
            <a:off x="746760" y="3705453"/>
            <a:ext cx="30861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and semantic profile. Keep the</a:t>
            </a:r>
          </a:p>
        </p:txBody>
      </p:sp>
      <p:sp>
        <p:nvSpPr>
          <p:cNvPr id="11" name="TextBox 10"/>
          <p:cNvSpPr txBox="1"/>
          <p:nvPr/>
        </p:nvSpPr>
        <p:spPr>
          <a:xfrm>
            <a:off x="746760" y="3959047"/>
            <a:ext cx="30861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consumer independent of the</a:t>
            </a:r>
          </a:p>
        </p:txBody>
      </p:sp>
      <p:sp>
        <p:nvSpPr>
          <p:cNvPr id="12" name="TextBox 11"/>
          <p:cNvSpPr txBox="1"/>
          <p:nvPr/>
        </p:nvSpPr>
        <p:spPr>
          <a:xfrm>
            <a:off x="746760" y="4212640"/>
            <a:ext cx="30861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provider.</a:t>
            </a:r>
          </a:p>
        </p:txBody>
      </p:sp>
      <p:sp>
        <p:nvSpPr>
          <p:cNvPr id="13" name="Rounded Rectangle 12"/>
          <p:cNvSpPr/>
          <p:nvPr/>
        </p:nvSpPr>
        <p:spPr>
          <a:xfrm>
            <a:off x="4328160" y="1943100"/>
            <a:ext cx="3535679" cy="2514600"/>
          </a:xfrm>
          <a:prstGeom prst="roundRect">
            <a:avLst>
              <a:gd name="adj" fmla="val 4545"/>
            </a:avLst>
          </a:prstGeom>
          <a:solidFill>
            <a:srgbClr val="FFFFFF"/>
          </a:solidFill>
          <a:ln>
            <a:noFill/>
          </a:ln>
          <a:effectLst/>
        </p:spPr>
        <p:txBody>
          <a:bodyPr rtlCol="0" anchor="ctr"/>
          <a:lstStyle/>
          <a:p>
            <a:pPr algn="ctr"/>
          </a:p>
        </p:txBody>
      </p:sp>
      <p:sp>
        <p:nvSpPr>
          <p:cNvPr id="14" name="TextBox 13"/>
          <p:cNvSpPr txBox="1"/>
          <p:nvPr/>
        </p:nvSpPr>
        <p:spPr>
          <a:xfrm>
            <a:off x="4526280" y="2133600"/>
            <a:ext cx="3124200" cy="477926"/>
          </a:xfrm>
          <a:prstGeom prst="rect">
            <a:avLst/>
          </a:prstGeom>
          <a:noFill/>
        </p:spPr>
        <p:txBody>
          <a:bodyPr wrap="none" lIns="0" rIns="0" tIns="0" bIns="0" anchor="t" anchorCtr="0">
            <a:noAutofit/>
          </a:bodyPr>
          <a:lstStyle/>
          <a:p>
            <a:pPr algn="l">
              <a:lnSpc>
                <a:spcPct val="100000"/>
              </a:lnSpc>
              <a:spcBef>
                <a:spcPts val="0"/>
              </a:spcBef>
              <a:spcAft>
                <a:spcPts val="0"/>
              </a:spcAft>
            </a:pPr>
            <a:r>
              <a:rPr sz="2940" b="0">
                <a:solidFill>
                  <a:srgbClr val="007C78"/>
                </a:solidFill>
                <a:latin typeface="DejaVu Sans Mono"/>
              </a:rPr>
              <a:t>02</a:t>
            </a:r>
          </a:p>
        </p:txBody>
      </p:sp>
      <p:sp>
        <p:nvSpPr>
          <p:cNvPr id="15" name="TextBox 14"/>
          <p:cNvSpPr txBox="1"/>
          <p:nvPr/>
        </p:nvSpPr>
        <p:spPr>
          <a:xfrm>
            <a:off x="4526280" y="2735580"/>
            <a:ext cx="313944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102B3F"/>
                </a:solidFill>
                <a:latin typeface="DejaVu Sans"/>
              </a:rPr>
              <a:t>Write through the</a:t>
            </a:r>
          </a:p>
        </p:txBody>
      </p:sp>
      <p:sp>
        <p:nvSpPr>
          <p:cNvPr id="16" name="TextBox 15"/>
          <p:cNvSpPr txBox="1"/>
          <p:nvPr/>
        </p:nvSpPr>
        <p:spPr>
          <a:xfrm>
            <a:off x="4526280" y="3037941"/>
            <a:ext cx="313944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102B3F"/>
                </a:solidFill>
                <a:latin typeface="DejaVu Sans"/>
              </a:rPr>
              <a:t>owner</a:t>
            </a:r>
          </a:p>
        </p:txBody>
      </p:sp>
      <p:sp>
        <p:nvSpPr>
          <p:cNvPr id="17" name="TextBox 16"/>
          <p:cNvSpPr txBox="1"/>
          <p:nvPr/>
        </p:nvSpPr>
        <p:spPr>
          <a:xfrm>
            <a:off x="4526280" y="3451860"/>
            <a:ext cx="30861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Episodes, beliefs, attention</a:t>
            </a:r>
          </a:p>
        </p:txBody>
      </p:sp>
      <p:sp>
        <p:nvSpPr>
          <p:cNvPr id="18" name="TextBox 17"/>
          <p:cNvSpPr txBox="1"/>
          <p:nvPr/>
        </p:nvSpPr>
        <p:spPr>
          <a:xfrm>
            <a:off x="4526280" y="3705453"/>
            <a:ext cx="30861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and jobs each have a single</a:t>
            </a:r>
          </a:p>
        </p:txBody>
      </p:sp>
      <p:sp>
        <p:nvSpPr>
          <p:cNvPr id="19" name="TextBox 18"/>
          <p:cNvSpPr txBox="1"/>
          <p:nvPr/>
        </p:nvSpPr>
        <p:spPr>
          <a:xfrm>
            <a:off x="4526280" y="3959047"/>
            <a:ext cx="30861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logical authority for their</a:t>
            </a:r>
          </a:p>
        </p:txBody>
      </p:sp>
      <p:sp>
        <p:nvSpPr>
          <p:cNvPr id="20" name="TextBox 19"/>
          <p:cNvSpPr txBox="1"/>
          <p:nvPr/>
        </p:nvSpPr>
        <p:spPr>
          <a:xfrm>
            <a:off x="4526280" y="4212640"/>
            <a:ext cx="30861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state.</a:t>
            </a:r>
          </a:p>
        </p:txBody>
      </p:sp>
      <p:sp>
        <p:nvSpPr>
          <p:cNvPr id="21" name="Rounded Rectangle 20"/>
          <p:cNvSpPr/>
          <p:nvPr/>
        </p:nvSpPr>
        <p:spPr>
          <a:xfrm>
            <a:off x="8107680" y="1943100"/>
            <a:ext cx="3535679" cy="2514600"/>
          </a:xfrm>
          <a:prstGeom prst="roundRect">
            <a:avLst>
              <a:gd name="adj" fmla="val 4545"/>
            </a:avLst>
          </a:prstGeom>
          <a:solidFill>
            <a:srgbClr val="FFFFFF"/>
          </a:solidFill>
          <a:ln>
            <a:noFill/>
          </a:ln>
          <a:effectLst/>
        </p:spPr>
        <p:txBody>
          <a:bodyPr rtlCol="0" anchor="ctr"/>
          <a:lstStyle/>
          <a:p>
            <a:pPr algn="ctr"/>
          </a:p>
        </p:txBody>
      </p:sp>
      <p:sp>
        <p:nvSpPr>
          <p:cNvPr id="22" name="TextBox 21"/>
          <p:cNvSpPr txBox="1"/>
          <p:nvPr/>
        </p:nvSpPr>
        <p:spPr>
          <a:xfrm>
            <a:off x="8305800" y="2133600"/>
            <a:ext cx="3124200" cy="477926"/>
          </a:xfrm>
          <a:prstGeom prst="rect">
            <a:avLst/>
          </a:prstGeom>
          <a:noFill/>
        </p:spPr>
        <p:txBody>
          <a:bodyPr wrap="none" lIns="0" rIns="0" tIns="0" bIns="0" anchor="t" anchorCtr="0">
            <a:noAutofit/>
          </a:bodyPr>
          <a:lstStyle/>
          <a:p>
            <a:pPr algn="l">
              <a:lnSpc>
                <a:spcPct val="100000"/>
              </a:lnSpc>
              <a:spcBef>
                <a:spcPts val="0"/>
              </a:spcBef>
              <a:spcAft>
                <a:spcPts val="0"/>
              </a:spcAft>
            </a:pPr>
            <a:r>
              <a:rPr sz="2940" b="0">
                <a:solidFill>
                  <a:srgbClr val="007C78"/>
                </a:solidFill>
                <a:latin typeface="DejaVu Sans Mono"/>
              </a:rPr>
              <a:t>03</a:t>
            </a:r>
          </a:p>
        </p:txBody>
      </p:sp>
      <p:sp>
        <p:nvSpPr>
          <p:cNvPr id="23" name="TextBox 22"/>
          <p:cNvSpPr txBox="1"/>
          <p:nvPr/>
        </p:nvSpPr>
        <p:spPr>
          <a:xfrm>
            <a:off x="8305800" y="2735580"/>
            <a:ext cx="313944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102B3F"/>
                </a:solidFill>
                <a:latin typeface="DejaVu Sans"/>
              </a:rPr>
              <a:t>Name what was</a:t>
            </a:r>
          </a:p>
        </p:txBody>
      </p:sp>
      <p:sp>
        <p:nvSpPr>
          <p:cNvPr id="24" name="TextBox 23"/>
          <p:cNvSpPr txBox="1"/>
          <p:nvPr/>
        </p:nvSpPr>
        <p:spPr>
          <a:xfrm>
            <a:off x="8305800" y="3037941"/>
            <a:ext cx="313944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102B3F"/>
                </a:solidFill>
                <a:latin typeface="DejaVu Sans"/>
              </a:rPr>
              <a:t>observed</a:t>
            </a:r>
          </a:p>
        </p:txBody>
      </p:sp>
      <p:sp>
        <p:nvSpPr>
          <p:cNvPr id="25" name="TextBox 24"/>
          <p:cNvSpPr txBox="1"/>
          <p:nvPr/>
        </p:nvSpPr>
        <p:spPr>
          <a:xfrm>
            <a:off x="8305800" y="3451860"/>
            <a:ext cx="30861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Storage, delivery, execution</a:t>
            </a:r>
          </a:p>
        </p:txBody>
      </p:sp>
      <p:sp>
        <p:nvSpPr>
          <p:cNvPr id="26" name="TextBox 25"/>
          <p:cNvSpPr txBox="1"/>
          <p:nvPr/>
        </p:nvSpPr>
        <p:spPr>
          <a:xfrm>
            <a:off x="8305800" y="3705453"/>
            <a:ext cx="30861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and finality carry separate</a:t>
            </a:r>
          </a:p>
        </p:txBody>
      </p:sp>
      <p:sp>
        <p:nvSpPr>
          <p:cNvPr id="27" name="TextBox 26"/>
          <p:cNvSpPr txBox="1"/>
          <p:nvPr/>
        </p:nvSpPr>
        <p:spPr>
          <a:xfrm>
            <a:off x="8305800" y="3959047"/>
            <a:ext cx="30861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receipts and explicit limits.</a:t>
            </a:r>
          </a:p>
        </p:txBody>
      </p:sp>
      <p:sp>
        <p:nvSpPr>
          <p:cNvPr id="28" name="TextBox 27"/>
          <p:cNvSpPr txBox="1"/>
          <p:nvPr/>
        </p:nvSpPr>
        <p:spPr>
          <a:xfrm>
            <a:off x="571500" y="4800600"/>
            <a:ext cx="1066800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102B3F"/>
                </a:solidFill>
                <a:latin typeface="DejaVu Sans"/>
              </a:rPr>
              <a:t>One real Hive operation exercises these boundaries</a:t>
            </a:r>
          </a:p>
        </p:txBody>
      </p:sp>
      <p:sp>
        <p:nvSpPr>
          <p:cNvPr id="29" name="Rounded Rectangle 28"/>
          <p:cNvSpPr/>
          <p:nvPr/>
        </p:nvSpPr>
        <p:spPr>
          <a:xfrm>
            <a:off x="548640" y="5303520"/>
            <a:ext cx="1645920" cy="502920"/>
          </a:xfrm>
          <a:prstGeom prst="roundRect">
            <a:avLst>
              <a:gd name="adj" fmla="val 12121"/>
            </a:avLst>
          </a:prstGeom>
          <a:solidFill>
            <a:srgbClr val="DCEFE8"/>
          </a:solidFill>
          <a:ln>
            <a:noFill/>
          </a:ln>
          <a:effectLst/>
        </p:spPr>
        <p:txBody>
          <a:bodyPr rtlCol="0" anchor="ctr"/>
          <a:lstStyle/>
          <a:p>
            <a:pPr algn="ctr"/>
          </a:p>
        </p:txBody>
      </p:sp>
      <p:sp>
        <p:nvSpPr>
          <p:cNvPr id="30" name="TextBox 29"/>
          <p:cNvSpPr txBox="1"/>
          <p:nvPr/>
        </p:nvSpPr>
        <p:spPr>
          <a:xfrm>
            <a:off x="670560" y="5471160"/>
            <a:ext cx="14478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1">
                <a:solidFill>
                  <a:srgbClr val="007C78"/>
                </a:solidFill>
                <a:latin typeface="DejaVu Sans"/>
              </a:rPr>
              <a:t>STORE</a:t>
            </a:r>
          </a:p>
        </p:txBody>
      </p:sp>
      <p:cxnSp>
        <p:nvCxnSpPr>
          <p:cNvPr id="31" name="Connector 30"/>
          <p:cNvCxnSpPr/>
          <p:nvPr/>
        </p:nvCxnSpPr>
        <p:spPr>
          <a:xfrm>
            <a:off x="2209800" y="5554980"/>
            <a:ext cx="190500" cy="0"/>
          </a:xfrm>
          <a:prstGeom prst="line">
            <a:avLst/>
          </a:prstGeom>
          <a:ln w="15240">
            <a:solidFill>
              <a:srgbClr val="536775"/>
            </a:solidFill>
          </a:ln>
          <a:effectLst/>
        </p:spPr>
      </p:cxnSp>
      <p:sp>
        <p:nvSpPr>
          <p:cNvPr id="32" name="Freeform 31"/>
          <p:cNvSpPr/>
          <p:nvPr/>
        </p:nvSpPr>
        <p:spPr>
          <a:xfrm>
            <a:off x="2301240" y="551688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33" name="Rounded Rectangle 32"/>
          <p:cNvSpPr/>
          <p:nvPr/>
        </p:nvSpPr>
        <p:spPr>
          <a:xfrm>
            <a:off x="2438400" y="5303520"/>
            <a:ext cx="1645920" cy="502920"/>
          </a:xfrm>
          <a:prstGeom prst="roundRect">
            <a:avLst>
              <a:gd name="adj" fmla="val 12121"/>
            </a:avLst>
          </a:prstGeom>
          <a:solidFill>
            <a:srgbClr val="DCEFE8"/>
          </a:solidFill>
          <a:ln>
            <a:noFill/>
          </a:ln>
          <a:effectLst/>
        </p:spPr>
        <p:txBody>
          <a:bodyPr rtlCol="0" anchor="ctr"/>
          <a:lstStyle/>
          <a:p>
            <a:pPr algn="ctr"/>
          </a:p>
        </p:txBody>
      </p:sp>
      <p:sp>
        <p:nvSpPr>
          <p:cNvPr id="34" name="TextBox 33"/>
          <p:cNvSpPr txBox="1"/>
          <p:nvPr/>
        </p:nvSpPr>
        <p:spPr>
          <a:xfrm>
            <a:off x="2560320" y="5471160"/>
            <a:ext cx="14478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1">
                <a:solidFill>
                  <a:srgbClr val="007C78"/>
                </a:solidFill>
                <a:latin typeface="DejaVu Sans"/>
              </a:rPr>
              <a:t>SHARE REF</a:t>
            </a:r>
          </a:p>
        </p:txBody>
      </p:sp>
      <p:cxnSp>
        <p:nvCxnSpPr>
          <p:cNvPr id="35" name="Connector 34"/>
          <p:cNvCxnSpPr/>
          <p:nvPr/>
        </p:nvCxnSpPr>
        <p:spPr>
          <a:xfrm>
            <a:off x="4099560" y="5554980"/>
            <a:ext cx="190500" cy="0"/>
          </a:xfrm>
          <a:prstGeom prst="line">
            <a:avLst/>
          </a:prstGeom>
          <a:ln w="15240">
            <a:solidFill>
              <a:srgbClr val="536775"/>
            </a:solidFill>
          </a:ln>
          <a:effectLst/>
        </p:spPr>
      </p:cxnSp>
      <p:sp>
        <p:nvSpPr>
          <p:cNvPr id="36" name="Freeform 35"/>
          <p:cNvSpPr/>
          <p:nvPr/>
        </p:nvSpPr>
        <p:spPr>
          <a:xfrm>
            <a:off x="4191000" y="551688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37" name="Rounded Rectangle 36"/>
          <p:cNvSpPr/>
          <p:nvPr/>
        </p:nvSpPr>
        <p:spPr>
          <a:xfrm>
            <a:off x="4328160" y="5303520"/>
            <a:ext cx="1645920" cy="502920"/>
          </a:xfrm>
          <a:prstGeom prst="roundRect">
            <a:avLst>
              <a:gd name="adj" fmla="val 12121"/>
            </a:avLst>
          </a:prstGeom>
          <a:solidFill>
            <a:srgbClr val="DCEFE8"/>
          </a:solidFill>
          <a:ln>
            <a:noFill/>
          </a:ln>
          <a:effectLst/>
        </p:spPr>
        <p:txBody>
          <a:bodyPr rtlCol="0" anchor="ctr"/>
          <a:lstStyle/>
          <a:p>
            <a:pPr algn="ctr"/>
          </a:p>
        </p:txBody>
      </p:sp>
      <p:sp>
        <p:nvSpPr>
          <p:cNvPr id="38" name="TextBox 37"/>
          <p:cNvSpPr txBox="1"/>
          <p:nvPr/>
        </p:nvSpPr>
        <p:spPr>
          <a:xfrm>
            <a:off x="4450080" y="5471160"/>
            <a:ext cx="14478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1">
                <a:solidFill>
                  <a:srgbClr val="007C78"/>
                </a:solidFill>
                <a:latin typeface="DejaVu Sans"/>
              </a:rPr>
              <a:t>DELEGATE</a:t>
            </a:r>
          </a:p>
        </p:txBody>
      </p:sp>
      <p:cxnSp>
        <p:nvCxnSpPr>
          <p:cNvPr id="39" name="Connector 38"/>
          <p:cNvCxnSpPr/>
          <p:nvPr/>
        </p:nvCxnSpPr>
        <p:spPr>
          <a:xfrm>
            <a:off x="5989320" y="5554980"/>
            <a:ext cx="190500" cy="0"/>
          </a:xfrm>
          <a:prstGeom prst="line">
            <a:avLst/>
          </a:prstGeom>
          <a:ln w="15240">
            <a:solidFill>
              <a:srgbClr val="536775"/>
            </a:solidFill>
          </a:ln>
          <a:effectLst/>
        </p:spPr>
      </p:cxnSp>
      <p:sp>
        <p:nvSpPr>
          <p:cNvPr id="40" name="Freeform 39"/>
          <p:cNvSpPr/>
          <p:nvPr/>
        </p:nvSpPr>
        <p:spPr>
          <a:xfrm>
            <a:off x="6080760" y="551688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41" name="Rounded Rectangle 40"/>
          <p:cNvSpPr/>
          <p:nvPr/>
        </p:nvSpPr>
        <p:spPr>
          <a:xfrm>
            <a:off x="6217920" y="5303520"/>
            <a:ext cx="1645920" cy="502920"/>
          </a:xfrm>
          <a:prstGeom prst="roundRect">
            <a:avLst>
              <a:gd name="adj" fmla="val 12121"/>
            </a:avLst>
          </a:prstGeom>
          <a:solidFill>
            <a:srgbClr val="DCEFE8"/>
          </a:solidFill>
          <a:ln>
            <a:noFill/>
          </a:ln>
          <a:effectLst/>
        </p:spPr>
        <p:txBody>
          <a:bodyPr rtlCol="0" anchor="ctr"/>
          <a:lstStyle/>
          <a:p>
            <a:pPr algn="ctr"/>
          </a:p>
        </p:txBody>
      </p:sp>
      <p:sp>
        <p:nvSpPr>
          <p:cNvPr id="42" name="TextBox 41"/>
          <p:cNvSpPr txBox="1"/>
          <p:nvPr/>
        </p:nvSpPr>
        <p:spPr>
          <a:xfrm>
            <a:off x="6339840" y="5471160"/>
            <a:ext cx="14478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1">
                <a:solidFill>
                  <a:srgbClr val="007C78"/>
                </a:solidFill>
                <a:latin typeface="DejaVu Sans"/>
              </a:rPr>
              <a:t>RECOVER</a:t>
            </a:r>
          </a:p>
        </p:txBody>
      </p:sp>
      <p:cxnSp>
        <p:nvCxnSpPr>
          <p:cNvPr id="43" name="Connector 42"/>
          <p:cNvCxnSpPr/>
          <p:nvPr/>
        </p:nvCxnSpPr>
        <p:spPr>
          <a:xfrm>
            <a:off x="7879080" y="5554980"/>
            <a:ext cx="190500" cy="0"/>
          </a:xfrm>
          <a:prstGeom prst="line">
            <a:avLst/>
          </a:prstGeom>
          <a:ln w="15240">
            <a:solidFill>
              <a:srgbClr val="536775"/>
            </a:solidFill>
          </a:ln>
          <a:effectLst/>
        </p:spPr>
      </p:cxnSp>
      <p:sp>
        <p:nvSpPr>
          <p:cNvPr id="44" name="Freeform 43"/>
          <p:cNvSpPr/>
          <p:nvPr/>
        </p:nvSpPr>
        <p:spPr>
          <a:xfrm>
            <a:off x="7970520" y="551688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45" name="Rounded Rectangle 44"/>
          <p:cNvSpPr/>
          <p:nvPr/>
        </p:nvSpPr>
        <p:spPr>
          <a:xfrm>
            <a:off x="8107680" y="5303520"/>
            <a:ext cx="1645920" cy="502920"/>
          </a:xfrm>
          <a:prstGeom prst="roundRect">
            <a:avLst>
              <a:gd name="adj" fmla="val 12121"/>
            </a:avLst>
          </a:prstGeom>
          <a:solidFill>
            <a:srgbClr val="DCEFE8"/>
          </a:solidFill>
          <a:ln>
            <a:noFill/>
          </a:ln>
          <a:effectLst/>
        </p:spPr>
        <p:txBody>
          <a:bodyPr rtlCol="0" anchor="ctr"/>
          <a:lstStyle/>
          <a:p>
            <a:pPr algn="ctr"/>
          </a:p>
        </p:txBody>
      </p:sp>
      <p:sp>
        <p:nvSpPr>
          <p:cNvPr id="46" name="TextBox 45"/>
          <p:cNvSpPr txBox="1"/>
          <p:nvPr/>
        </p:nvSpPr>
        <p:spPr>
          <a:xfrm>
            <a:off x="8229600" y="5471160"/>
            <a:ext cx="14478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1">
                <a:solidFill>
                  <a:srgbClr val="007C78"/>
                </a:solidFill>
                <a:latin typeface="DejaVu Sans"/>
              </a:rPr>
              <a:t>ACCEPT</a:t>
            </a:r>
          </a:p>
        </p:txBody>
      </p:sp>
      <p:cxnSp>
        <p:nvCxnSpPr>
          <p:cNvPr id="47" name="Connector 46"/>
          <p:cNvCxnSpPr/>
          <p:nvPr/>
        </p:nvCxnSpPr>
        <p:spPr>
          <a:xfrm>
            <a:off x="9768840" y="5554980"/>
            <a:ext cx="190500" cy="0"/>
          </a:xfrm>
          <a:prstGeom prst="line">
            <a:avLst/>
          </a:prstGeom>
          <a:ln w="15240">
            <a:solidFill>
              <a:srgbClr val="536775"/>
            </a:solidFill>
          </a:ln>
          <a:effectLst/>
        </p:spPr>
      </p:cxnSp>
      <p:sp>
        <p:nvSpPr>
          <p:cNvPr id="48" name="Freeform 47"/>
          <p:cNvSpPr/>
          <p:nvPr/>
        </p:nvSpPr>
        <p:spPr>
          <a:xfrm>
            <a:off x="9860280" y="551688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49" name="Rounded Rectangle 48"/>
          <p:cNvSpPr/>
          <p:nvPr/>
        </p:nvSpPr>
        <p:spPr>
          <a:xfrm>
            <a:off x="9997440" y="5303520"/>
            <a:ext cx="1645920" cy="502920"/>
          </a:xfrm>
          <a:prstGeom prst="roundRect">
            <a:avLst>
              <a:gd name="adj" fmla="val 12121"/>
            </a:avLst>
          </a:prstGeom>
          <a:solidFill>
            <a:srgbClr val="DCEFE8"/>
          </a:solidFill>
          <a:ln>
            <a:noFill/>
          </a:ln>
          <a:effectLst/>
        </p:spPr>
        <p:txBody>
          <a:bodyPr rtlCol="0" anchor="ctr"/>
          <a:lstStyle/>
          <a:p>
            <a:pPr algn="ctr"/>
          </a:p>
        </p:txBody>
      </p:sp>
      <p:sp>
        <p:nvSpPr>
          <p:cNvPr id="50" name="TextBox 49"/>
          <p:cNvSpPr txBox="1"/>
          <p:nvPr/>
        </p:nvSpPr>
        <p:spPr>
          <a:xfrm>
            <a:off x="10119360" y="5471160"/>
            <a:ext cx="14478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1">
                <a:solidFill>
                  <a:srgbClr val="007C78"/>
                </a:solidFill>
                <a:latin typeface="DejaVu Sans"/>
              </a:rPr>
              <a:t>ACK</a:t>
            </a:r>
          </a:p>
        </p:txBody>
      </p:sp>
      <p:cxnSp>
        <p:nvCxnSpPr>
          <p:cNvPr id="51" name="Connector 50"/>
          <p:cNvCxnSpPr/>
          <p:nvPr/>
        </p:nvCxnSpPr>
        <p:spPr>
          <a:xfrm>
            <a:off x="548640" y="6393180"/>
            <a:ext cx="11094720" cy="0"/>
          </a:xfrm>
          <a:prstGeom prst="line">
            <a:avLst/>
          </a:prstGeom>
          <a:ln w="7620">
            <a:solidFill>
              <a:srgbClr val="C9D2D4"/>
            </a:solidFill>
          </a:ln>
          <a:effectLst/>
        </p:spPr>
      </p:cxnSp>
      <p:sp>
        <p:nvSpPr>
          <p:cNvPr id="52" name="TextBox 51"/>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M1.2 / architecture.md</a:t>
            </a:r>
          </a:p>
        </p:txBody>
      </p:sp>
      <p:sp>
        <p:nvSpPr>
          <p:cNvPr id="53" name="TextBox 52"/>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02 / 33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01 / SYSTEM MAP</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Fifteen modules; four responsibility groups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Real Hive consumes these ports; module, process and repository boundaries remain independent.</a:t>
            </a:r>
          </a:p>
        </p:txBody>
      </p:sp>
      <p:sp>
        <p:nvSpPr>
          <p:cNvPr id="5" name="Rounded Rectangle 4"/>
          <p:cNvSpPr/>
          <p:nvPr/>
        </p:nvSpPr>
        <p:spPr>
          <a:xfrm>
            <a:off x="548640" y="1752600"/>
            <a:ext cx="2438400" cy="3771900"/>
          </a:xfrm>
          <a:prstGeom prst="roundRect">
            <a:avLst>
              <a:gd name="adj" fmla="val 4375"/>
            </a:avLst>
          </a:prstGeom>
          <a:solidFill>
            <a:srgbClr val="EBE5F3"/>
          </a:solidFill>
          <a:ln>
            <a:noFill/>
          </a:ln>
          <a:effectLst/>
        </p:spPr>
        <p:txBody>
          <a:bodyPr rtlCol="0" anchor="ctr"/>
          <a:lstStyle/>
          <a:p>
            <a:pPr algn="ctr"/>
          </a:p>
        </p:txBody>
      </p:sp>
      <p:sp>
        <p:nvSpPr>
          <p:cNvPr id="6" name="TextBox 5"/>
          <p:cNvSpPr txBox="1"/>
          <p:nvPr/>
        </p:nvSpPr>
        <p:spPr>
          <a:xfrm>
            <a:off x="685800" y="1912620"/>
            <a:ext cx="2164080"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1">
                <a:solidFill>
                  <a:srgbClr val="102B3F"/>
                </a:solidFill>
                <a:latin typeface="DejaVu Sans"/>
              </a:rPr>
              <a:t>CLIENT / COGNITION</a:t>
            </a:r>
          </a:p>
        </p:txBody>
      </p:sp>
      <p:sp>
        <p:nvSpPr>
          <p:cNvPr id="7" name="Rounded Rectangle 6"/>
          <p:cNvSpPr/>
          <p:nvPr/>
        </p:nvSpPr>
        <p:spPr>
          <a:xfrm>
            <a:off x="3200400" y="1752600"/>
            <a:ext cx="3048000" cy="3771900"/>
          </a:xfrm>
          <a:prstGeom prst="roundRect">
            <a:avLst>
              <a:gd name="adj" fmla="val 3500"/>
            </a:avLst>
          </a:prstGeom>
          <a:solidFill>
            <a:srgbClr val="E4EBF5"/>
          </a:solidFill>
          <a:ln>
            <a:noFill/>
          </a:ln>
          <a:effectLst/>
        </p:spPr>
        <p:txBody>
          <a:bodyPr rtlCol="0" anchor="ctr"/>
          <a:lstStyle/>
          <a:p>
            <a:pPr algn="ctr"/>
          </a:p>
        </p:txBody>
      </p:sp>
      <p:sp>
        <p:nvSpPr>
          <p:cNvPr id="8" name="TextBox 7"/>
          <p:cNvSpPr txBox="1"/>
          <p:nvPr/>
        </p:nvSpPr>
        <p:spPr>
          <a:xfrm>
            <a:off x="3337560" y="1912620"/>
            <a:ext cx="2773680"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1">
                <a:solidFill>
                  <a:srgbClr val="102B3F"/>
                </a:solidFill>
                <a:latin typeface="DejaVu Sans"/>
              </a:rPr>
              <a:t>SHARED APPLICATION PORTS</a:t>
            </a:r>
          </a:p>
        </p:txBody>
      </p:sp>
      <p:sp>
        <p:nvSpPr>
          <p:cNvPr id="9" name="Rounded Rectangle 8"/>
          <p:cNvSpPr/>
          <p:nvPr/>
        </p:nvSpPr>
        <p:spPr>
          <a:xfrm>
            <a:off x="6461759" y="1752600"/>
            <a:ext cx="2453640" cy="3771900"/>
          </a:xfrm>
          <a:prstGeom prst="roundRect">
            <a:avLst>
              <a:gd name="adj" fmla="val 4347"/>
            </a:avLst>
          </a:prstGeom>
          <a:solidFill>
            <a:srgbClr val="E7ECEB"/>
          </a:solidFill>
          <a:ln>
            <a:noFill/>
          </a:ln>
          <a:effectLst/>
        </p:spPr>
        <p:txBody>
          <a:bodyPr rtlCol="0" anchor="ctr"/>
          <a:lstStyle/>
          <a:p>
            <a:pPr algn="ctr"/>
          </a:p>
        </p:txBody>
      </p:sp>
      <p:sp>
        <p:nvSpPr>
          <p:cNvPr id="10" name="TextBox 9"/>
          <p:cNvSpPr txBox="1"/>
          <p:nvPr/>
        </p:nvSpPr>
        <p:spPr>
          <a:xfrm>
            <a:off x="6598920" y="1912620"/>
            <a:ext cx="2179320"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1">
                <a:solidFill>
                  <a:srgbClr val="102B3F"/>
                </a:solidFill>
                <a:latin typeface="DejaVu Sans"/>
              </a:rPr>
              <a:t>CONTROL &amp; POLICY</a:t>
            </a:r>
          </a:p>
        </p:txBody>
      </p:sp>
      <p:sp>
        <p:nvSpPr>
          <p:cNvPr id="11" name="Rounded Rectangle 10"/>
          <p:cNvSpPr/>
          <p:nvPr/>
        </p:nvSpPr>
        <p:spPr>
          <a:xfrm>
            <a:off x="9128760" y="1752600"/>
            <a:ext cx="2514600" cy="3771900"/>
          </a:xfrm>
          <a:prstGeom prst="roundRect">
            <a:avLst>
              <a:gd name="adj" fmla="val 4242"/>
            </a:avLst>
          </a:prstGeom>
          <a:solidFill>
            <a:srgbClr val="DCEFE8"/>
          </a:solidFill>
          <a:ln>
            <a:noFill/>
          </a:ln>
          <a:effectLst/>
        </p:spPr>
        <p:txBody>
          <a:bodyPr rtlCol="0" anchor="ctr"/>
          <a:lstStyle/>
          <a:p>
            <a:pPr algn="ctr"/>
          </a:p>
        </p:txBody>
      </p:sp>
      <p:sp>
        <p:nvSpPr>
          <p:cNvPr id="12" name="TextBox 11"/>
          <p:cNvSpPr txBox="1"/>
          <p:nvPr/>
        </p:nvSpPr>
        <p:spPr>
          <a:xfrm>
            <a:off x="9265920" y="1912620"/>
            <a:ext cx="2240280"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1">
                <a:solidFill>
                  <a:srgbClr val="102B3F"/>
                </a:solidFill>
                <a:latin typeface="DejaVu Sans"/>
              </a:rPr>
              <a:t>PROVIDER ADAPTERS</a:t>
            </a:r>
          </a:p>
        </p:txBody>
      </p:sp>
      <p:sp>
        <p:nvSpPr>
          <p:cNvPr id="13" name="Rounded Rectangle 12"/>
          <p:cNvSpPr/>
          <p:nvPr/>
        </p:nvSpPr>
        <p:spPr>
          <a:xfrm>
            <a:off x="685800" y="2286000"/>
            <a:ext cx="2164080" cy="472439"/>
          </a:xfrm>
          <a:prstGeom prst="roundRect">
            <a:avLst>
              <a:gd name="adj" fmla="val 20967"/>
            </a:avLst>
          </a:prstGeom>
          <a:solidFill>
            <a:srgbClr val="FFFFFF"/>
          </a:solidFill>
          <a:ln w="7620">
            <a:solidFill>
              <a:srgbClr val="7458A2"/>
            </a:solidFill>
            <a:prstDash val="dash"/>
          </a:ln>
          <a:effectLst/>
        </p:spPr>
        <p:txBody>
          <a:bodyPr rtlCol="0" anchor="ctr"/>
          <a:lstStyle/>
          <a:p>
            <a:pPr algn="ctr"/>
          </a:p>
        </p:txBody>
      </p:sp>
      <p:sp>
        <p:nvSpPr>
          <p:cNvPr id="14" name="TextBox 13"/>
          <p:cNvSpPr txBox="1"/>
          <p:nvPr/>
        </p:nvSpPr>
        <p:spPr>
          <a:xfrm>
            <a:off x="853440" y="2453640"/>
            <a:ext cx="18288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7458A2"/>
                </a:solidFill>
                <a:latin typeface="DejaVu Sans"/>
              </a:rPr>
              <a:t>Episodic memory</a:t>
            </a:r>
          </a:p>
        </p:txBody>
      </p:sp>
      <p:sp>
        <p:nvSpPr>
          <p:cNvPr id="15" name="Rounded Rectangle 14"/>
          <p:cNvSpPr/>
          <p:nvPr/>
        </p:nvSpPr>
        <p:spPr>
          <a:xfrm>
            <a:off x="685800" y="2880360"/>
            <a:ext cx="2164080" cy="472439"/>
          </a:xfrm>
          <a:prstGeom prst="roundRect">
            <a:avLst>
              <a:gd name="adj" fmla="val 20967"/>
            </a:avLst>
          </a:prstGeom>
          <a:solidFill>
            <a:srgbClr val="FFFFFF"/>
          </a:solidFill>
          <a:ln w="7620">
            <a:solidFill>
              <a:srgbClr val="7458A2"/>
            </a:solidFill>
            <a:prstDash val="dash"/>
          </a:ln>
          <a:effectLst/>
        </p:spPr>
        <p:txBody>
          <a:bodyPr rtlCol="0" anchor="ctr"/>
          <a:lstStyle/>
          <a:p>
            <a:pPr algn="ctr"/>
          </a:p>
        </p:txBody>
      </p:sp>
      <p:sp>
        <p:nvSpPr>
          <p:cNvPr id="16" name="TextBox 15"/>
          <p:cNvSpPr txBox="1"/>
          <p:nvPr/>
        </p:nvSpPr>
        <p:spPr>
          <a:xfrm>
            <a:off x="853440" y="3048000"/>
            <a:ext cx="18288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7458A2"/>
                </a:solidFill>
                <a:latin typeface="DejaVu Sans"/>
              </a:rPr>
              <a:t>Belief revision</a:t>
            </a:r>
          </a:p>
        </p:txBody>
      </p:sp>
      <p:sp>
        <p:nvSpPr>
          <p:cNvPr id="17" name="Rounded Rectangle 16"/>
          <p:cNvSpPr/>
          <p:nvPr/>
        </p:nvSpPr>
        <p:spPr>
          <a:xfrm>
            <a:off x="685800" y="3474719"/>
            <a:ext cx="2164080" cy="472439"/>
          </a:xfrm>
          <a:prstGeom prst="roundRect">
            <a:avLst>
              <a:gd name="adj" fmla="val 20967"/>
            </a:avLst>
          </a:prstGeom>
          <a:solidFill>
            <a:srgbClr val="FFFFFF"/>
          </a:solidFill>
          <a:ln w="7620">
            <a:solidFill>
              <a:srgbClr val="7458A2"/>
            </a:solidFill>
            <a:prstDash val="dash"/>
          </a:ln>
          <a:effectLst/>
        </p:spPr>
        <p:txBody>
          <a:bodyPr rtlCol="0" anchor="ctr"/>
          <a:lstStyle/>
          <a:p>
            <a:pPr algn="ctr"/>
          </a:p>
        </p:txBody>
      </p:sp>
      <p:sp>
        <p:nvSpPr>
          <p:cNvPr id="18" name="TextBox 17"/>
          <p:cNvSpPr txBox="1"/>
          <p:nvPr/>
        </p:nvSpPr>
        <p:spPr>
          <a:xfrm>
            <a:off x="853440" y="3642360"/>
            <a:ext cx="18288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7458A2"/>
                </a:solidFill>
                <a:latin typeface="DejaVu Sans"/>
              </a:rPr>
              <a:t>PLN kernel</a:t>
            </a:r>
          </a:p>
        </p:txBody>
      </p:sp>
      <p:sp>
        <p:nvSpPr>
          <p:cNvPr id="19" name="Rounded Rectangle 18"/>
          <p:cNvSpPr/>
          <p:nvPr/>
        </p:nvSpPr>
        <p:spPr>
          <a:xfrm>
            <a:off x="685800" y="4069079"/>
            <a:ext cx="2164080" cy="472439"/>
          </a:xfrm>
          <a:prstGeom prst="roundRect">
            <a:avLst>
              <a:gd name="adj" fmla="val 20967"/>
            </a:avLst>
          </a:prstGeom>
          <a:solidFill>
            <a:srgbClr val="FFFFFF"/>
          </a:solidFill>
          <a:ln w="7620">
            <a:solidFill>
              <a:srgbClr val="7458A2"/>
            </a:solidFill>
            <a:prstDash val="dash"/>
          </a:ln>
          <a:effectLst/>
        </p:spPr>
        <p:txBody>
          <a:bodyPr rtlCol="0" anchor="ctr"/>
          <a:lstStyle/>
          <a:p>
            <a:pPr algn="ctr"/>
          </a:p>
        </p:txBody>
      </p:sp>
      <p:sp>
        <p:nvSpPr>
          <p:cNvPr id="20" name="TextBox 19"/>
          <p:cNvSpPr txBox="1"/>
          <p:nvPr/>
        </p:nvSpPr>
        <p:spPr>
          <a:xfrm>
            <a:off x="853440" y="4236720"/>
            <a:ext cx="18288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7458A2"/>
                </a:solidFill>
                <a:latin typeface="DejaVu Sans"/>
              </a:rPr>
              <a:t>ECAN / attention</a:t>
            </a:r>
          </a:p>
        </p:txBody>
      </p:sp>
      <p:sp>
        <p:nvSpPr>
          <p:cNvPr id="21" name="Rounded Rectangle 20"/>
          <p:cNvSpPr/>
          <p:nvPr/>
        </p:nvSpPr>
        <p:spPr>
          <a:xfrm>
            <a:off x="685800" y="4663440"/>
            <a:ext cx="2164080" cy="472439"/>
          </a:xfrm>
          <a:prstGeom prst="roundRect">
            <a:avLst>
              <a:gd name="adj" fmla="val 20967"/>
            </a:avLst>
          </a:prstGeom>
          <a:solidFill>
            <a:srgbClr val="FFFFFF"/>
          </a:solidFill>
          <a:ln w="7620">
            <a:solidFill>
              <a:srgbClr val="7458A2"/>
            </a:solidFill>
            <a:prstDash val="dash"/>
          </a:ln>
          <a:effectLst/>
        </p:spPr>
        <p:txBody>
          <a:bodyPr rtlCol="0" anchor="ctr"/>
          <a:lstStyle/>
          <a:p>
            <a:pPr algn="ctr"/>
          </a:p>
        </p:txBody>
      </p:sp>
      <p:sp>
        <p:nvSpPr>
          <p:cNvPr id="22" name="TextBox 21"/>
          <p:cNvSpPr txBox="1"/>
          <p:nvPr/>
        </p:nvSpPr>
        <p:spPr>
          <a:xfrm>
            <a:off x="853440" y="4831080"/>
            <a:ext cx="18288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7458A2"/>
                </a:solidFill>
                <a:latin typeface="DejaVu Sans"/>
              </a:rPr>
              <a:t>Inference control</a:t>
            </a:r>
          </a:p>
        </p:txBody>
      </p:sp>
      <p:sp>
        <p:nvSpPr>
          <p:cNvPr id="23" name="Rounded Rectangle 22"/>
          <p:cNvSpPr/>
          <p:nvPr/>
        </p:nvSpPr>
        <p:spPr>
          <a:xfrm>
            <a:off x="3337560" y="2286000"/>
            <a:ext cx="2773680" cy="472439"/>
          </a:xfrm>
          <a:prstGeom prst="roundRect">
            <a:avLst>
              <a:gd name="adj" fmla="val 20967"/>
            </a:avLst>
          </a:prstGeom>
          <a:solidFill>
            <a:srgbClr val="FFFFFF"/>
          </a:solidFill>
          <a:ln w="7620">
            <a:solidFill>
              <a:srgbClr val="315E9C"/>
            </a:solidFill>
          </a:ln>
          <a:effectLst/>
        </p:spPr>
        <p:txBody>
          <a:bodyPr rtlCol="0" anchor="ctr"/>
          <a:lstStyle/>
          <a:p>
            <a:pPr algn="ctr"/>
          </a:p>
        </p:txBody>
      </p:sp>
      <p:sp>
        <p:nvSpPr>
          <p:cNvPr id="24" name="TextBox 23"/>
          <p:cNvSpPr txBox="1"/>
          <p:nvPr/>
        </p:nvSpPr>
        <p:spPr>
          <a:xfrm>
            <a:off x="3505200" y="2453640"/>
            <a:ext cx="24384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315E9C"/>
                </a:solidFill>
                <a:latin typeface="DejaVu Sans"/>
              </a:rPr>
              <a:t>AtomStorage</a:t>
            </a:r>
          </a:p>
        </p:txBody>
      </p:sp>
      <p:sp>
        <p:nvSpPr>
          <p:cNvPr id="25" name="Rounded Rectangle 24"/>
          <p:cNvSpPr/>
          <p:nvPr/>
        </p:nvSpPr>
        <p:spPr>
          <a:xfrm>
            <a:off x="3337560" y="2880360"/>
            <a:ext cx="2773680" cy="472439"/>
          </a:xfrm>
          <a:prstGeom prst="roundRect">
            <a:avLst>
              <a:gd name="adj" fmla="val 20967"/>
            </a:avLst>
          </a:prstGeom>
          <a:solidFill>
            <a:srgbClr val="FFFFFF"/>
          </a:solidFill>
          <a:ln w="7620">
            <a:solidFill>
              <a:srgbClr val="7458A2"/>
            </a:solidFill>
            <a:prstDash val="dash"/>
          </a:ln>
          <a:effectLst/>
        </p:spPr>
        <p:txBody>
          <a:bodyPr rtlCol="0" anchor="ctr"/>
          <a:lstStyle/>
          <a:p>
            <a:pPr algn="ctr"/>
          </a:p>
        </p:txBody>
      </p:sp>
      <p:sp>
        <p:nvSpPr>
          <p:cNvPr id="26" name="TextBox 25"/>
          <p:cNvSpPr txBox="1"/>
          <p:nvPr/>
        </p:nvSpPr>
        <p:spPr>
          <a:xfrm>
            <a:off x="3505200" y="3048000"/>
            <a:ext cx="24384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7458A2"/>
                </a:solidFill>
                <a:latin typeface="DejaVu Sans"/>
              </a:rPr>
              <a:t>Relations · spec</a:t>
            </a:r>
          </a:p>
        </p:txBody>
      </p:sp>
      <p:sp>
        <p:nvSpPr>
          <p:cNvPr id="27" name="Rounded Rectangle 26"/>
          <p:cNvSpPr/>
          <p:nvPr/>
        </p:nvSpPr>
        <p:spPr>
          <a:xfrm>
            <a:off x="3337560" y="3474719"/>
            <a:ext cx="2773680" cy="472439"/>
          </a:xfrm>
          <a:prstGeom prst="roundRect">
            <a:avLst>
              <a:gd name="adj" fmla="val 20967"/>
            </a:avLst>
          </a:prstGeom>
          <a:solidFill>
            <a:srgbClr val="FFFFFF"/>
          </a:solidFill>
          <a:ln w="7620">
            <a:solidFill>
              <a:srgbClr val="7458A2"/>
            </a:solidFill>
            <a:prstDash val="dash"/>
          </a:ln>
          <a:effectLst/>
        </p:spPr>
        <p:txBody>
          <a:bodyPr rtlCol="0" anchor="ctr"/>
          <a:lstStyle/>
          <a:p>
            <a:pPr algn="ctr"/>
          </a:p>
        </p:txBody>
      </p:sp>
      <p:sp>
        <p:nvSpPr>
          <p:cNvPr id="28" name="TextBox 27"/>
          <p:cNvSpPr txBox="1"/>
          <p:nvPr/>
        </p:nvSpPr>
        <p:spPr>
          <a:xfrm>
            <a:off x="3505200" y="3642360"/>
            <a:ext cx="24384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7458A2"/>
                </a:solidFill>
                <a:latin typeface="DejaVu Sans"/>
              </a:rPr>
              <a:t>Search projection · spec</a:t>
            </a:r>
          </a:p>
        </p:txBody>
      </p:sp>
      <p:sp>
        <p:nvSpPr>
          <p:cNvPr id="29" name="Rounded Rectangle 28"/>
          <p:cNvSpPr/>
          <p:nvPr/>
        </p:nvSpPr>
        <p:spPr>
          <a:xfrm>
            <a:off x="3337560" y="4069079"/>
            <a:ext cx="2773680" cy="472439"/>
          </a:xfrm>
          <a:prstGeom prst="roundRect">
            <a:avLst>
              <a:gd name="adj" fmla="val 20967"/>
            </a:avLst>
          </a:prstGeom>
          <a:solidFill>
            <a:srgbClr val="FFFFFF"/>
          </a:solidFill>
          <a:ln w="7620">
            <a:solidFill>
              <a:srgbClr val="315E9C"/>
            </a:solidFill>
          </a:ln>
          <a:effectLst/>
        </p:spPr>
        <p:txBody>
          <a:bodyPr rtlCol="0" anchor="ctr"/>
          <a:lstStyle/>
          <a:p>
            <a:pPr algn="ctr"/>
          </a:p>
        </p:txBody>
      </p:sp>
      <p:sp>
        <p:nvSpPr>
          <p:cNvPr id="30" name="TextBox 29"/>
          <p:cNvSpPr txBox="1"/>
          <p:nvPr/>
        </p:nvSpPr>
        <p:spPr>
          <a:xfrm>
            <a:off x="3505200" y="4236720"/>
            <a:ext cx="24384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315E9C"/>
                </a:solidFill>
                <a:latin typeface="DejaVu Sans"/>
              </a:rPr>
              <a:t>Agent messaging</a:t>
            </a:r>
          </a:p>
        </p:txBody>
      </p:sp>
      <p:sp>
        <p:nvSpPr>
          <p:cNvPr id="31" name="Rounded Rectangle 30"/>
          <p:cNvSpPr/>
          <p:nvPr/>
        </p:nvSpPr>
        <p:spPr>
          <a:xfrm>
            <a:off x="3337560" y="4663440"/>
            <a:ext cx="2773680" cy="472439"/>
          </a:xfrm>
          <a:prstGeom prst="roundRect">
            <a:avLst>
              <a:gd name="adj" fmla="val 20967"/>
            </a:avLst>
          </a:prstGeom>
          <a:solidFill>
            <a:srgbClr val="FFFFFF"/>
          </a:solidFill>
          <a:ln w="7620">
            <a:solidFill>
              <a:srgbClr val="315E9C"/>
            </a:solidFill>
          </a:ln>
          <a:effectLst/>
        </p:spPr>
        <p:txBody>
          <a:bodyPr rtlCol="0" anchor="ctr"/>
          <a:lstStyle/>
          <a:p>
            <a:pPr algn="ctr"/>
          </a:p>
        </p:txBody>
      </p:sp>
      <p:sp>
        <p:nvSpPr>
          <p:cNvPr id="32" name="TextBox 31"/>
          <p:cNvSpPr txBox="1"/>
          <p:nvPr/>
        </p:nvSpPr>
        <p:spPr>
          <a:xfrm>
            <a:off x="3505200" y="4831080"/>
            <a:ext cx="24384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315E9C"/>
                </a:solidFill>
                <a:latin typeface="DejaVu Sans"/>
              </a:rPr>
              <a:t>Delegated execution</a:t>
            </a:r>
          </a:p>
        </p:txBody>
      </p:sp>
      <p:sp>
        <p:nvSpPr>
          <p:cNvPr id="33" name="Rounded Rectangle 32"/>
          <p:cNvSpPr/>
          <p:nvPr/>
        </p:nvSpPr>
        <p:spPr>
          <a:xfrm>
            <a:off x="6598920" y="2286000"/>
            <a:ext cx="2179320" cy="723900"/>
          </a:xfrm>
          <a:prstGeom prst="roundRect">
            <a:avLst>
              <a:gd name="adj" fmla="val 13684"/>
            </a:avLst>
          </a:prstGeom>
          <a:solidFill>
            <a:srgbClr val="FFFFFF"/>
          </a:solidFill>
          <a:ln w="7620">
            <a:solidFill>
              <a:srgbClr val="315E9C"/>
            </a:solidFill>
          </a:ln>
          <a:effectLst/>
        </p:spPr>
        <p:txBody>
          <a:bodyPr rtlCol="0" anchor="ctr"/>
          <a:lstStyle/>
          <a:p>
            <a:pPr algn="ctr"/>
          </a:p>
        </p:txBody>
      </p:sp>
      <p:sp>
        <p:nvSpPr>
          <p:cNvPr id="34" name="TextBox 33"/>
          <p:cNvSpPr txBox="1"/>
          <p:nvPr/>
        </p:nvSpPr>
        <p:spPr>
          <a:xfrm>
            <a:off x="6766559" y="2453640"/>
            <a:ext cx="1844039"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Registry</a:t>
            </a:r>
          </a:p>
        </p:txBody>
      </p:sp>
      <p:sp>
        <p:nvSpPr>
          <p:cNvPr id="35" name="Rounded Rectangle 34"/>
          <p:cNvSpPr/>
          <p:nvPr/>
        </p:nvSpPr>
        <p:spPr>
          <a:xfrm>
            <a:off x="6598920" y="3108960"/>
            <a:ext cx="2179320" cy="723900"/>
          </a:xfrm>
          <a:prstGeom prst="roundRect">
            <a:avLst>
              <a:gd name="adj" fmla="val 13684"/>
            </a:avLst>
          </a:prstGeom>
          <a:solidFill>
            <a:srgbClr val="FFFFFF"/>
          </a:solidFill>
          <a:ln w="7620">
            <a:solidFill>
              <a:srgbClr val="315E9C"/>
            </a:solidFill>
          </a:ln>
          <a:effectLst/>
        </p:spPr>
        <p:txBody>
          <a:bodyPr rtlCol="0" anchor="ctr"/>
          <a:lstStyle/>
          <a:p>
            <a:pPr algn="ctr"/>
          </a:p>
        </p:txBody>
      </p:sp>
      <p:sp>
        <p:nvSpPr>
          <p:cNvPr id="36" name="TextBox 35"/>
          <p:cNvSpPr txBox="1"/>
          <p:nvPr/>
        </p:nvSpPr>
        <p:spPr>
          <a:xfrm>
            <a:off x="6766559" y="3276600"/>
            <a:ext cx="1844039"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Compatibility</a:t>
            </a:r>
          </a:p>
        </p:txBody>
      </p:sp>
      <p:sp>
        <p:nvSpPr>
          <p:cNvPr id="37" name="TextBox 36"/>
          <p:cNvSpPr txBox="1"/>
          <p:nvPr/>
        </p:nvSpPr>
        <p:spPr>
          <a:xfrm>
            <a:off x="6766559" y="3491179"/>
            <a:ext cx="1844039"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resolver</a:t>
            </a:r>
          </a:p>
        </p:txBody>
      </p:sp>
      <p:sp>
        <p:nvSpPr>
          <p:cNvPr id="38" name="Rounded Rectangle 37"/>
          <p:cNvSpPr/>
          <p:nvPr/>
        </p:nvSpPr>
        <p:spPr>
          <a:xfrm>
            <a:off x="6598920" y="3931919"/>
            <a:ext cx="2179320" cy="723900"/>
          </a:xfrm>
          <a:prstGeom prst="roundRect">
            <a:avLst>
              <a:gd name="adj" fmla="val 13684"/>
            </a:avLst>
          </a:prstGeom>
          <a:solidFill>
            <a:srgbClr val="FFFFFF"/>
          </a:solidFill>
          <a:ln w="7620">
            <a:solidFill>
              <a:srgbClr val="315E9C"/>
            </a:solidFill>
          </a:ln>
          <a:effectLst/>
        </p:spPr>
        <p:txBody>
          <a:bodyPr rtlCol="0" anchor="ctr"/>
          <a:lstStyle/>
          <a:p>
            <a:pPr algn="ctr"/>
          </a:p>
        </p:txBody>
      </p:sp>
      <p:sp>
        <p:nvSpPr>
          <p:cNvPr id="39" name="TextBox 38"/>
          <p:cNvSpPr txBox="1"/>
          <p:nvPr/>
        </p:nvSpPr>
        <p:spPr>
          <a:xfrm>
            <a:off x="6766559" y="4099560"/>
            <a:ext cx="1844039"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Authorization</a:t>
            </a:r>
          </a:p>
        </p:txBody>
      </p:sp>
      <p:sp>
        <p:nvSpPr>
          <p:cNvPr id="40" name="Rounded Rectangle 39"/>
          <p:cNvSpPr/>
          <p:nvPr/>
        </p:nvSpPr>
        <p:spPr>
          <a:xfrm>
            <a:off x="9265920" y="2286000"/>
            <a:ext cx="2240280" cy="1097280"/>
          </a:xfrm>
          <a:prstGeom prst="roundRect">
            <a:avLst>
              <a:gd name="adj" fmla="val 9027"/>
            </a:avLst>
          </a:prstGeom>
          <a:solidFill>
            <a:srgbClr val="FFFFFF"/>
          </a:solidFill>
          <a:ln w="7620">
            <a:solidFill>
              <a:srgbClr val="007C78"/>
            </a:solidFill>
          </a:ln>
          <a:effectLst/>
        </p:spPr>
        <p:txBody>
          <a:bodyPr rtlCol="0" anchor="ctr"/>
          <a:lstStyle/>
          <a:p>
            <a:pPr algn="ctr"/>
          </a:p>
        </p:txBody>
      </p:sp>
      <p:sp>
        <p:nvSpPr>
          <p:cNvPr id="41" name="TextBox 40"/>
          <p:cNvSpPr txBox="1"/>
          <p:nvPr/>
        </p:nvSpPr>
        <p:spPr>
          <a:xfrm>
            <a:off x="9433560" y="2453640"/>
            <a:ext cx="19050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007C78"/>
                </a:solidFill>
                <a:latin typeface="DejaVu Sans"/>
              </a:rPr>
              <a:t>DA storage</a:t>
            </a:r>
          </a:p>
        </p:txBody>
      </p:sp>
      <p:sp>
        <p:nvSpPr>
          <p:cNvPr id="42" name="TextBox 41"/>
          <p:cNvSpPr txBox="1"/>
          <p:nvPr/>
        </p:nvSpPr>
        <p:spPr>
          <a:xfrm>
            <a:off x="9433560" y="2793187"/>
            <a:ext cx="19050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Real DeTTa libraries</a:t>
            </a:r>
          </a:p>
        </p:txBody>
      </p:sp>
      <p:sp>
        <p:nvSpPr>
          <p:cNvPr id="43" name="Rounded Rectangle 42"/>
          <p:cNvSpPr/>
          <p:nvPr/>
        </p:nvSpPr>
        <p:spPr>
          <a:xfrm>
            <a:off x="9265920" y="3695700"/>
            <a:ext cx="2240280" cy="1280160"/>
          </a:xfrm>
          <a:prstGeom prst="roundRect">
            <a:avLst>
              <a:gd name="adj" fmla="val 7738"/>
            </a:avLst>
          </a:prstGeom>
          <a:solidFill>
            <a:srgbClr val="FFFFFF"/>
          </a:solidFill>
          <a:ln w="7620">
            <a:solidFill>
              <a:srgbClr val="A86A15"/>
            </a:solidFill>
          </a:ln>
          <a:effectLst/>
        </p:spPr>
        <p:txBody>
          <a:bodyPr rtlCol="0" anchor="ctr"/>
          <a:lstStyle/>
          <a:p>
            <a:pPr algn="ctr"/>
          </a:p>
        </p:txBody>
      </p:sp>
      <p:sp>
        <p:nvSpPr>
          <p:cNvPr id="44" name="TextBox 43"/>
          <p:cNvSpPr txBox="1"/>
          <p:nvPr/>
        </p:nvSpPr>
        <p:spPr>
          <a:xfrm>
            <a:off x="9433560" y="3863340"/>
            <a:ext cx="19050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A86A15"/>
                </a:solidFill>
                <a:latin typeface="DejaVu Sans"/>
              </a:rPr>
              <a:t>Consensus /</a:t>
            </a:r>
          </a:p>
        </p:txBody>
      </p:sp>
      <p:sp>
        <p:nvSpPr>
          <p:cNvPr id="45" name="TextBox 44"/>
          <p:cNvSpPr txBox="1"/>
          <p:nvPr/>
        </p:nvSpPr>
        <p:spPr>
          <a:xfrm>
            <a:off x="9433560" y="4116933"/>
            <a:ext cx="19050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A86A15"/>
                </a:solidFill>
                <a:latin typeface="DejaVu Sans"/>
              </a:rPr>
              <a:t>finality</a:t>
            </a:r>
          </a:p>
        </p:txBody>
      </p:sp>
      <p:sp>
        <p:nvSpPr>
          <p:cNvPr id="46" name="TextBox 45"/>
          <p:cNvSpPr txBox="1"/>
          <p:nvPr/>
        </p:nvSpPr>
        <p:spPr>
          <a:xfrm>
            <a:off x="9433560" y="4446727"/>
            <a:ext cx="19050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M1 historical; M1.2</a:t>
            </a:r>
          </a:p>
        </p:txBody>
      </p:sp>
      <p:sp>
        <p:nvSpPr>
          <p:cNvPr id="47" name="TextBox 46"/>
          <p:cNvSpPr txBox="1"/>
          <p:nvPr/>
        </p:nvSpPr>
        <p:spPr>
          <a:xfrm>
            <a:off x="9433560" y="4661306"/>
            <a:ext cx="19050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NOT_RUN</a:t>
            </a:r>
          </a:p>
        </p:txBody>
      </p:sp>
      <p:sp>
        <p:nvSpPr>
          <p:cNvPr id="48" name="TextBox 47"/>
          <p:cNvSpPr txBox="1"/>
          <p:nvPr/>
        </p:nvSpPr>
        <p:spPr>
          <a:xfrm>
            <a:off x="6598920" y="4945380"/>
            <a:ext cx="214884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536775"/>
                </a:solidFill>
                <a:latin typeface="DejaVu Sans"/>
              </a:rPr>
              <a:t>Local harness policy</a:t>
            </a:r>
          </a:p>
        </p:txBody>
      </p:sp>
      <p:sp>
        <p:nvSpPr>
          <p:cNvPr id="49" name="TextBox 48"/>
          <p:cNvSpPr txBox="1"/>
          <p:nvPr/>
        </p:nvSpPr>
        <p:spPr>
          <a:xfrm>
            <a:off x="6598920" y="5140452"/>
            <a:ext cx="214884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536775"/>
                </a:solidFill>
                <a:latin typeface="DejaVu Sans"/>
              </a:rPr>
              <a:t>and static descriptors</a:t>
            </a:r>
          </a:p>
        </p:txBody>
      </p:sp>
      <p:sp>
        <p:nvSpPr>
          <p:cNvPr id="50" name="Rounded Rectangle 49"/>
          <p:cNvSpPr/>
          <p:nvPr/>
        </p:nvSpPr>
        <p:spPr>
          <a:xfrm>
            <a:off x="548640" y="5791200"/>
            <a:ext cx="1851444" cy="274320"/>
          </a:xfrm>
          <a:prstGeom prst="roundRect">
            <a:avLst>
              <a:gd name="adj" fmla="val 19444"/>
            </a:avLst>
          </a:prstGeom>
          <a:solidFill>
            <a:srgbClr val="EBE5F3"/>
          </a:solidFill>
          <a:ln>
            <a:noFill/>
          </a:ln>
          <a:effectLst/>
        </p:spPr>
        <p:txBody>
          <a:bodyPr rtlCol="0" anchor="ctr"/>
          <a:lstStyle/>
          <a:p>
            <a:pPr algn="ctr"/>
          </a:p>
        </p:txBody>
      </p:sp>
      <p:sp>
        <p:nvSpPr>
          <p:cNvPr id="51" name="TextBox 50"/>
          <p:cNvSpPr txBox="1"/>
          <p:nvPr/>
        </p:nvSpPr>
        <p:spPr>
          <a:xfrm>
            <a:off x="655320" y="5844540"/>
            <a:ext cx="1660944"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1">
                <a:solidFill>
                  <a:srgbClr val="7458A2"/>
                </a:solidFill>
                <a:latin typeface="DejaVu Sans"/>
              </a:rPr>
              <a:t>SPECIFICATION ONLY</a:t>
            </a:r>
          </a:p>
        </p:txBody>
      </p:sp>
      <p:sp>
        <p:nvSpPr>
          <p:cNvPr id="52" name="Rounded Rectangle 51"/>
          <p:cNvSpPr/>
          <p:nvPr/>
        </p:nvSpPr>
        <p:spPr>
          <a:xfrm>
            <a:off x="2849880" y="5791200"/>
            <a:ext cx="2108954" cy="274320"/>
          </a:xfrm>
          <a:prstGeom prst="roundRect">
            <a:avLst>
              <a:gd name="adj" fmla="val 19444"/>
            </a:avLst>
          </a:prstGeom>
          <a:solidFill>
            <a:srgbClr val="E4EBF5"/>
          </a:solidFill>
          <a:ln>
            <a:noFill/>
          </a:ln>
          <a:effectLst/>
        </p:spPr>
        <p:txBody>
          <a:bodyPr rtlCol="0" anchor="ctr"/>
          <a:lstStyle/>
          <a:p>
            <a:pPr algn="ctr"/>
          </a:p>
        </p:txBody>
      </p:sp>
      <p:sp>
        <p:nvSpPr>
          <p:cNvPr id="53" name="TextBox 52"/>
          <p:cNvSpPr txBox="1"/>
          <p:nvPr/>
        </p:nvSpPr>
        <p:spPr>
          <a:xfrm>
            <a:off x="2956560" y="5844540"/>
            <a:ext cx="1918454"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1">
                <a:solidFill>
                  <a:srgbClr val="315E9C"/>
                </a:solidFill>
                <a:latin typeface="DejaVu Sans"/>
              </a:rPr>
              <a:t>IMPLEMENTED HARNESS</a:t>
            </a:r>
          </a:p>
        </p:txBody>
      </p:sp>
      <p:sp>
        <p:nvSpPr>
          <p:cNvPr id="54" name="Rounded Rectangle 53"/>
          <p:cNvSpPr/>
          <p:nvPr/>
        </p:nvSpPr>
        <p:spPr>
          <a:xfrm>
            <a:off x="5433060" y="5791200"/>
            <a:ext cx="2548227" cy="274320"/>
          </a:xfrm>
          <a:prstGeom prst="roundRect">
            <a:avLst>
              <a:gd name="adj" fmla="val 19444"/>
            </a:avLst>
          </a:prstGeom>
          <a:solidFill>
            <a:srgbClr val="DCEFE8"/>
          </a:solidFill>
          <a:ln>
            <a:noFill/>
          </a:ln>
          <a:effectLst/>
        </p:spPr>
        <p:txBody>
          <a:bodyPr rtlCol="0" anchor="ctr"/>
          <a:lstStyle/>
          <a:p>
            <a:pPr algn="ctr"/>
          </a:p>
        </p:txBody>
      </p:sp>
      <p:sp>
        <p:nvSpPr>
          <p:cNvPr id="55" name="TextBox 54"/>
          <p:cNvSpPr txBox="1"/>
          <p:nvPr/>
        </p:nvSpPr>
        <p:spPr>
          <a:xfrm>
            <a:off x="5539740" y="5844540"/>
            <a:ext cx="2357727"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1">
                <a:solidFill>
                  <a:srgbClr val="007C78"/>
                </a:solidFill>
                <a:latin typeface="DejaVu Sans"/>
              </a:rPr>
              <a:t>REAL PROVIDER INTEGRATION</a:t>
            </a:r>
          </a:p>
        </p:txBody>
      </p:sp>
      <p:cxnSp>
        <p:nvCxnSpPr>
          <p:cNvPr id="56" name="Connector 55"/>
          <p:cNvCxnSpPr/>
          <p:nvPr/>
        </p:nvCxnSpPr>
        <p:spPr>
          <a:xfrm>
            <a:off x="548640" y="6393180"/>
            <a:ext cx="11094720" cy="0"/>
          </a:xfrm>
          <a:prstGeom prst="line">
            <a:avLst/>
          </a:prstGeom>
          <a:ln w="7620">
            <a:solidFill>
              <a:srgbClr val="C9D2D4"/>
            </a:solidFill>
          </a:ln>
          <a:effectLst/>
        </p:spPr>
      </p:cxnSp>
      <p:sp>
        <p:nvSpPr>
          <p:cNvPr id="57" name="TextBox 56"/>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M1.2 / architecture.md</a:t>
            </a:r>
          </a:p>
        </p:txBody>
      </p:sp>
      <p:sp>
        <p:nvSpPr>
          <p:cNvPr id="58" name="TextBox 57"/>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03 / 33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01 / RESPONSIBILITY ATLAS · 1 OF 3</a:t>
            </a:r>
          </a:p>
        </p:txBody>
      </p:sp>
      <p:sp>
        <p:nvSpPr>
          <p:cNvPr id="3" name="TextBox 2"/>
          <p:cNvSpPr txBox="1"/>
          <p:nvPr/>
        </p:nvSpPr>
        <p:spPr>
          <a:xfrm>
            <a:off x="533400" y="723900"/>
            <a:ext cx="11125200" cy="497433"/>
          </a:xfrm>
          <a:prstGeom prst="rect">
            <a:avLst/>
          </a:prstGeom>
          <a:noFill/>
        </p:spPr>
        <p:txBody>
          <a:bodyPr wrap="none" lIns="0" rIns="0" tIns="0" bIns="0" anchor="t" anchorCtr="0">
            <a:noAutofit/>
          </a:bodyPr>
          <a:lstStyle/>
          <a:p>
            <a:pPr algn="l">
              <a:lnSpc>
                <a:spcPct val="100000"/>
              </a:lnSpc>
              <a:spcBef>
                <a:spcPts val="0"/>
              </a:spcBef>
              <a:spcAft>
                <a:spcPts val="0"/>
              </a:spcAft>
            </a:pPr>
            <a:r>
              <a:rPr sz="3060" b="1">
                <a:solidFill>
                  <a:srgbClr val="102B3F"/>
                </a:solidFill>
                <a:latin typeface="DejaVu Sans"/>
              </a:rPr>
              <a:t>Data responsibilities: bytes → references → history</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 first five modules separate persistence, identity, structure, discovery and provenance.</a:t>
            </a:r>
          </a:p>
        </p:txBody>
      </p:sp>
      <p:sp>
        <p:nvSpPr>
          <p:cNvPr id="5" name="TextBox 4"/>
          <p:cNvSpPr txBox="1"/>
          <p:nvPr/>
        </p:nvSpPr>
        <p:spPr>
          <a:xfrm>
            <a:off x="670560" y="1790700"/>
            <a:ext cx="2270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MODULE</a:t>
            </a:r>
          </a:p>
        </p:txBody>
      </p:sp>
      <p:sp>
        <p:nvSpPr>
          <p:cNvPr id="6" name="TextBox 5"/>
          <p:cNvSpPr txBox="1"/>
          <p:nvPr/>
        </p:nvSpPr>
        <p:spPr>
          <a:xfrm>
            <a:off x="3185160" y="1790700"/>
            <a:ext cx="43281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FUNCTION / PRIMARY OPERATIONS</a:t>
            </a:r>
          </a:p>
        </p:txBody>
      </p:sp>
      <p:sp>
        <p:nvSpPr>
          <p:cNvPr id="7" name="TextBox 6"/>
          <p:cNvSpPr txBox="1"/>
          <p:nvPr/>
        </p:nvSpPr>
        <p:spPr>
          <a:xfrm>
            <a:off x="7757159" y="1790700"/>
            <a:ext cx="37642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OWNED STATE / STATUS</a:t>
            </a:r>
          </a:p>
        </p:txBody>
      </p:sp>
      <p:sp>
        <p:nvSpPr>
          <p:cNvPr id="8" name="Rounded Rectangle 7"/>
          <p:cNvSpPr/>
          <p:nvPr/>
        </p:nvSpPr>
        <p:spPr>
          <a:xfrm>
            <a:off x="548640" y="2110740"/>
            <a:ext cx="11094720" cy="662940"/>
          </a:xfrm>
          <a:prstGeom prst="roundRect">
            <a:avLst>
              <a:gd name="adj" fmla="val 6896"/>
            </a:avLst>
          </a:prstGeom>
          <a:solidFill>
            <a:srgbClr val="FFFFFF"/>
          </a:solidFill>
          <a:ln>
            <a:noFill/>
          </a:ln>
          <a:effectLst/>
        </p:spPr>
        <p:txBody>
          <a:bodyPr rtlCol="0" anchor="ctr"/>
          <a:lstStyle/>
          <a:p>
            <a:pPr algn="ctr"/>
          </a:p>
        </p:txBody>
      </p:sp>
      <p:sp>
        <p:nvSpPr>
          <p:cNvPr id="9" name="TextBox 8"/>
          <p:cNvSpPr txBox="1"/>
          <p:nvPr/>
        </p:nvSpPr>
        <p:spPr>
          <a:xfrm>
            <a:off x="670560" y="2240280"/>
            <a:ext cx="22707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DA storage</a:t>
            </a:r>
          </a:p>
        </p:txBody>
      </p:sp>
      <p:sp>
        <p:nvSpPr>
          <p:cNvPr id="10" name="TextBox 9"/>
          <p:cNvSpPr txBox="1"/>
          <p:nvPr/>
        </p:nvSpPr>
        <p:spPr>
          <a:xfrm>
            <a:off x="3185160" y="2240280"/>
            <a:ext cx="43281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Persist opaque bytes</a:t>
            </a:r>
          </a:p>
        </p:txBody>
      </p:sp>
      <p:sp>
        <p:nvSpPr>
          <p:cNvPr id="11" name="TextBox 10"/>
          <p:cNvSpPr txBox="1"/>
          <p:nvPr/>
        </p:nvSpPr>
        <p:spPr>
          <a:xfrm>
            <a:off x="3185160" y="2484120"/>
            <a:ext cx="43281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put · get · availability</a:t>
            </a:r>
          </a:p>
        </p:txBody>
      </p:sp>
      <p:sp>
        <p:nvSpPr>
          <p:cNvPr id="12" name="TextBox 11"/>
          <p:cNvSpPr txBox="1"/>
          <p:nvPr/>
        </p:nvSpPr>
        <p:spPr>
          <a:xfrm>
            <a:off x="7757159" y="2240280"/>
            <a:ext cx="3764279"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Payloads and shares</a:t>
            </a:r>
          </a:p>
        </p:txBody>
      </p:sp>
      <p:sp>
        <p:nvSpPr>
          <p:cNvPr id="13" name="TextBox 12"/>
          <p:cNvSpPr txBox="1"/>
          <p:nvPr/>
        </p:nvSpPr>
        <p:spPr>
          <a:xfrm>
            <a:off x="7757159" y="2484120"/>
            <a:ext cx="3764279"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REAL LOCAL PROVIDER</a:t>
            </a:r>
          </a:p>
        </p:txBody>
      </p:sp>
      <p:sp>
        <p:nvSpPr>
          <p:cNvPr id="14" name="Rounded Rectangle 13"/>
          <p:cNvSpPr/>
          <p:nvPr/>
        </p:nvSpPr>
        <p:spPr>
          <a:xfrm>
            <a:off x="548640" y="2811780"/>
            <a:ext cx="11094720" cy="662940"/>
          </a:xfrm>
          <a:prstGeom prst="roundRect">
            <a:avLst>
              <a:gd name="adj" fmla="val 6896"/>
            </a:avLst>
          </a:prstGeom>
          <a:solidFill>
            <a:srgbClr val="FFFFFF"/>
          </a:solidFill>
          <a:ln>
            <a:noFill/>
          </a:ln>
          <a:effectLst/>
        </p:spPr>
        <p:txBody>
          <a:bodyPr rtlCol="0" anchor="ctr"/>
          <a:lstStyle/>
          <a:p>
            <a:pPr algn="ctr"/>
          </a:p>
        </p:txBody>
      </p:sp>
      <p:sp>
        <p:nvSpPr>
          <p:cNvPr id="15" name="TextBox 14"/>
          <p:cNvSpPr txBox="1"/>
          <p:nvPr/>
        </p:nvSpPr>
        <p:spPr>
          <a:xfrm>
            <a:off x="670560" y="2941320"/>
            <a:ext cx="22707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AtomStorage</a:t>
            </a:r>
          </a:p>
        </p:txBody>
      </p:sp>
      <p:sp>
        <p:nvSpPr>
          <p:cNvPr id="16" name="TextBox 15"/>
          <p:cNvSpPr txBox="1"/>
          <p:nvPr/>
        </p:nvSpPr>
        <p:spPr>
          <a:xfrm>
            <a:off x="3185160" y="2941320"/>
            <a:ext cx="43281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Assign scoped immutable references</a:t>
            </a:r>
          </a:p>
        </p:txBody>
      </p:sp>
      <p:sp>
        <p:nvSpPr>
          <p:cNvPr id="17" name="TextBox 16"/>
          <p:cNvSpPr txBox="1"/>
          <p:nvPr/>
        </p:nvSpPr>
        <p:spPr>
          <a:xfrm>
            <a:off x="3185160" y="3185160"/>
            <a:ext cx="43281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create · get · getMany · availability</a:t>
            </a:r>
          </a:p>
        </p:txBody>
      </p:sp>
      <p:sp>
        <p:nvSpPr>
          <p:cNvPr id="18" name="TextBox 17"/>
          <p:cNvSpPr txBox="1"/>
          <p:nvPr/>
        </p:nvSpPr>
        <p:spPr>
          <a:xfrm>
            <a:off x="7757159" y="2941320"/>
            <a:ext cx="3764279"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Reference + replay metadata</a:t>
            </a:r>
          </a:p>
        </p:txBody>
      </p:sp>
      <p:sp>
        <p:nvSpPr>
          <p:cNvPr id="19" name="TextBox 18"/>
          <p:cNvSpPr txBox="1"/>
          <p:nvPr/>
        </p:nvSpPr>
        <p:spPr>
          <a:xfrm>
            <a:off x="7757159" y="3185160"/>
            <a:ext cx="3764279"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IMPLEMENTED</a:t>
            </a:r>
          </a:p>
        </p:txBody>
      </p:sp>
      <p:sp>
        <p:nvSpPr>
          <p:cNvPr id="20" name="Rounded Rectangle 19"/>
          <p:cNvSpPr/>
          <p:nvPr/>
        </p:nvSpPr>
        <p:spPr>
          <a:xfrm>
            <a:off x="548640" y="3512819"/>
            <a:ext cx="11094720" cy="662940"/>
          </a:xfrm>
          <a:prstGeom prst="roundRect">
            <a:avLst>
              <a:gd name="adj" fmla="val 6896"/>
            </a:avLst>
          </a:prstGeom>
          <a:solidFill>
            <a:srgbClr val="FFFFFF"/>
          </a:solidFill>
          <a:ln>
            <a:noFill/>
          </a:ln>
          <a:effectLst/>
        </p:spPr>
        <p:txBody>
          <a:bodyPr rtlCol="0" anchor="ctr"/>
          <a:lstStyle/>
          <a:p>
            <a:pPr algn="ctr"/>
          </a:p>
        </p:txBody>
      </p:sp>
      <p:sp>
        <p:nvSpPr>
          <p:cNvPr id="21" name="TextBox 20"/>
          <p:cNvSpPr txBox="1"/>
          <p:nvPr/>
        </p:nvSpPr>
        <p:spPr>
          <a:xfrm>
            <a:off x="670560" y="3642360"/>
            <a:ext cx="22707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Relations</a:t>
            </a:r>
          </a:p>
        </p:txBody>
      </p:sp>
      <p:sp>
        <p:nvSpPr>
          <p:cNvPr id="22" name="TextBox 21"/>
          <p:cNvSpPr txBox="1"/>
          <p:nvPr/>
        </p:nvSpPr>
        <p:spPr>
          <a:xfrm>
            <a:off x="3185160" y="3642360"/>
            <a:ext cx="43281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Represent ordered structural roles</a:t>
            </a:r>
          </a:p>
        </p:txBody>
      </p:sp>
      <p:sp>
        <p:nvSpPr>
          <p:cNvPr id="23" name="TextBox 22"/>
          <p:cNvSpPr txBox="1"/>
          <p:nvPr/>
        </p:nvSpPr>
        <p:spPr>
          <a:xfrm>
            <a:off x="3185160" y="3886200"/>
            <a:ext cx="43281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assertRelation · getRelation</a:t>
            </a:r>
          </a:p>
        </p:txBody>
      </p:sp>
      <p:sp>
        <p:nvSpPr>
          <p:cNvPr id="24" name="TextBox 23"/>
          <p:cNvSpPr txBox="1"/>
          <p:nvPr/>
        </p:nvSpPr>
        <p:spPr>
          <a:xfrm>
            <a:off x="7757159" y="3642360"/>
            <a:ext cx="3764279"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Immutable relation records</a:t>
            </a:r>
          </a:p>
        </p:txBody>
      </p:sp>
      <p:sp>
        <p:nvSpPr>
          <p:cNvPr id="25" name="TextBox 24"/>
          <p:cNvSpPr txBox="1"/>
          <p:nvPr/>
        </p:nvSpPr>
        <p:spPr>
          <a:xfrm>
            <a:off x="7757159" y="3886200"/>
            <a:ext cx="3764279"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SPECIFIED</a:t>
            </a:r>
          </a:p>
        </p:txBody>
      </p:sp>
      <p:sp>
        <p:nvSpPr>
          <p:cNvPr id="26" name="Rounded Rectangle 25"/>
          <p:cNvSpPr/>
          <p:nvPr/>
        </p:nvSpPr>
        <p:spPr>
          <a:xfrm>
            <a:off x="548640" y="4213860"/>
            <a:ext cx="11094720" cy="662940"/>
          </a:xfrm>
          <a:prstGeom prst="roundRect">
            <a:avLst>
              <a:gd name="adj" fmla="val 6896"/>
            </a:avLst>
          </a:prstGeom>
          <a:solidFill>
            <a:srgbClr val="FFFFFF"/>
          </a:solidFill>
          <a:ln>
            <a:noFill/>
          </a:ln>
          <a:effectLst/>
        </p:spPr>
        <p:txBody>
          <a:bodyPr rtlCol="0" anchor="ctr"/>
          <a:lstStyle/>
          <a:p>
            <a:pPr algn="ctr"/>
          </a:p>
        </p:txBody>
      </p:sp>
      <p:sp>
        <p:nvSpPr>
          <p:cNvPr id="27" name="TextBox 26"/>
          <p:cNvSpPr txBox="1"/>
          <p:nvPr/>
        </p:nvSpPr>
        <p:spPr>
          <a:xfrm>
            <a:off x="670560" y="4343400"/>
            <a:ext cx="22707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Search projection</a:t>
            </a:r>
          </a:p>
        </p:txBody>
      </p:sp>
      <p:sp>
        <p:nvSpPr>
          <p:cNvPr id="28" name="TextBox 27"/>
          <p:cNvSpPr txBox="1"/>
          <p:nvPr/>
        </p:nvSpPr>
        <p:spPr>
          <a:xfrm>
            <a:off x="3185160" y="4343400"/>
            <a:ext cx="43281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Find references at a known watermark</a:t>
            </a:r>
          </a:p>
        </p:txBody>
      </p:sp>
      <p:sp>
        <p:nvSpPr>
          <p:cNvPr id="29" name="TextBox 28"/>
          <p:cNvSpPr txBox="1"/>
          <p:nvPr/>
        </p:nvSpPr>
        <p:spPr>
          <a:xfrm>
            <a:off x="3185160" y="4587240"/>
            <a:ext cx="43281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query</a:t>
            </a:r>
          </a:p>
        </p:txBody>
      </p:sp>
      <p:sp>
        <p:nvSpPr>
          <p:cNvPr id="30" name="TextBox 29"/>
          <p:cNvSpPr txBox="1"/>
          <p:nvPr/>
        </p:nvSpPr>
        <p:spPr>
          <a:xfrm>
            <a:off x="7757159" y="4343400"/>
            <a:ext cx="3764279"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Rebuildable index</a:t>
            </a:r>
          </a:p>
        </p:txBody>
      </p:sp>
      <p:sp>
        <p:nvSpPr>
          <p:cNvPr id="31" name="TextBox 30"/>
          <p:cNvSpPr txBox="1"/>
          <p:nvPr/>
        </p:nvSpPr>
        <p:spPr>
          <a:xfrm>
            <a:off x="7757159" y="4587240"/>
            <a:ext cx="3764279"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SPECIFIED</a:t>
            </a:r>
          </a:p>
        </p:txBody>
      </p:sp>
      <p:sp>
        <p:nvSpPr>
          <p:cNvPr id="32" name="Rounded Rectangle 31"/>
          <p:cNvSpPr/>
          <p:nvPr/>
        </p:nvSpPr>
        <p:spPr>
          <a:xfrm>
            <a:off x="548640" y="4914900"/>
            <a:ext cx="11094720" cy="662940"/>
          </a:xfrm>
          <a:prstGeom prst="roundRect">
            <a:avLst>
              <a:gd name="adj" fmla="val 6896"/>
            </a:avLst>
          </a:prstGeom>
          <a:solidFill>
            <a:srgbClr val="FFFFFF"/>
          </a:solidFill>
          <a:ln>
            <a:noFill/>
          </a:ln>
          <a:effectLst/>
        </p:spPr>
        <p:txBody>
          <a:bodyPr rtlCol="0" anchor="ctr"/>
          <a:lstStyle/>
          <a:p>
            <a:pPr algn="ctr"/>
          </a:p>
        </p:txBody>
      </p:sp>
      <p:sp>
        <p:nvSpPr>
          <p:cNvPr id="33" name="TextBox 32"/>
          <p:cNvSpPr txBox="1"/>
          <p:nvPr/>
        </p:nvSpPr>
        <p:spPr>
          <a:xfrm>
            <a:off x="670560" y="5044440"/>
            <a:ext cx="22707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Episodic memory</a:t>
            </a:r>
          </a:p>
        </p:txBody>
      </p:sp>
      <p:sp>
        <p:nvSpPr>
          <p:cNvPr id="34" name="TextBox 33"/>
          <p:cNvSpPr txBox="1"/>
          <p:nvPr/>
        </p:nvSpPr>
        <p:spPr>
          <a:xfrm>
            <a:off x="3185160" y="5044440"/>
            <a:ext cx="43281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Preserve ordered events + provenance</a:t>
            </a:r>
          </a:p>
        </p:txBody>
      </p:sp>
      <p:sp>
        <p:nvSpPr>
          <p:cNvPr id="35" name="TextBox 34"/>
          <p:cNvSpPr txBox="1"/>
          <p:nvPr/>
        </p:nvSpPr>
        <p:spPr>
          <a:xfrm>
            <a:off x="3185160" y="5288280"/>
            <a:ext cx="43281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recordEpisode · appendEvent</a:t>
            </a:r>
          </a:p>
        </p:txBody>
      </p:sp>
      <p:sp>
        <p:nvSpPr>
          <p:cNvPr id="36" name="TextBox 35"/>
          <p:cNvSpPr txBox="1"/>
          <p:nvPr/>
        </p:nvSpPr>
        <p:spPr>
          <a:xfrm>
            <a:off x="7757159" y="5044440"/>
            <a:ext cx="3764279"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Private episode history</a:t>
            </a:r>
          </a:p>
        </p:txBody>
      </p:sp>
      <p:sp>
        <p:nvSpPr>
          <p:cNvPr id="37" name="TextBox 36"/>
          <p:cNvSpPr txBox="1"/>
          <p:nvPr/>
        </p:nvSpPr>
        <p:spPr>
          <a:xfrm>
            <a:off x="7757159" y="5288280"/>
            <a:ext cx="3764279"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SPECIFIED · M2</a:t>
            </a:r>
          </a:p>
        </p:txBody>
      </p:sp>
      <p:sp>
        <p:nvSpPr>
          <p:cNvPr id="38" name="Rounded Rectangle 37"/>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9" name="TextBox 38"/>
          <p:cNvSpPr txBox="1"/>
          <p:nvPr/>
        </p:nvSpPr>
        <p:spPr>
          <a:xfrm>
            <a:off x="716280" y="5905500"/>
            <a:ext cx="10744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Capture and retrieve data before choosing its meaning.</a:t>
            </a:r>
          </a:p>
        </p:txBody>
      </p:sp>
      <p:cxnSp>
        <p:nvCxnSpPr>
          <p:cNvPr id="40" name="Connector 39"/>
          <p:cNvCxnSpPr/>
          <p:nvPr/>
        </p:nvCxnSpPr>
        <p:spPr>
          <a:xfrm>
            <a:off x="548640" y="6393180"/>
            <a:ext cx="11094720" cy="0"/>
          </a:xfrm>
          <a:prstGeom prst="line">
            <a:avLst/>
          </a:prstGeom>
          <a:ln w="7620">
            <a:solidFill>
              <a:srgbClr val="C9D2D4"/>
            </a:solidFill>
          </a:ln>
          <a:effectLst/>
        </p:spPr>
      </p:cxnSp>
      <p:sp>
        <p:nvSpPr>
          <p:cNvPr id="41" name="TextBox 40"/>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M1.2 / architecture.md</a:t>
            </a:r>
          </a:p>
        </p:txBody>
      </p:sp>
      <p:sp>
        <p:nvSpPr>
          <p:cNvPr id="42" name="TextBox 41"/>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04 / 33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01 / RESPONSIBILITY ATLAS · 2 OF 3</a:t>
            </a:r>
          </a:p>
        </p:txBody>
      </p:sp>
      <p:sp>
        <p:nvSpPr>
          <p:cNvPr id="3" name="TextBox 2"/>
          <p:cNvSpPr txBox="1"/>
          <p:nvPr/>
        </p:nvSpPr>
        <p:spPr>
          <a:xfrm>
            <a:off x="533400" y="723900"/>
            <a:ext cx="11125200" cy="468172"/>
          </a:xfrm>
          <a:prstGeom prst="rect">
            <a:avLst/>
          </a:prstGeom>
          <a:noFill/>
        </p:spPr>
        <p:txBody>
          <a:bodyPr wrap="none" lIns="0" rIns="0" tIns="0" bIns="0" anchor="t" anchorCtr="0">
            <a:noAutofit/>
          </a:bodyPr>
          <a:lstStyle/>
          <a:p>
            <a:pPr algn="l">
              <a:lnSpc>
                <a:spcPct val="100000"/>
              </a:lnSpc>
              <a:spcBef>
                <a:spcPts val="0"/>
              </a:spcBef>
              <a:spcAft>
                <a:spcPts val="0"/>
              </a:spcAft>
            </a:pPr>
            <a:r>
              <a:rPr sz="2879" b="1">
                <a:solidFill>
                  <a:srgbClr val="102B3F"/>
                </a:solidFill>
                <a:latin typeface="DejaVu Sans"/>
              </a:rPr>
              <a:t>Cognitive responsibilities: history ≠ truth ≠ attention</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All four modules below are typed specifications. Fusion adds no cognitive provider.</a:t>
            </a:r>
          </a:p>
        </p:txBody>
      </p:sp>
      <p:sp>
        <p:nvSpPr>
          <p:cNvPr id="5" name="TextBox 4"/>
          <p:cNvSpPr txBox="1"/>
          <p:nvPr/>
        </p:nvSpPr>
        <p:spPr>
          <a:xfrm>
            <a:off x="670560" y="1790700"/>
            <a:ext cx="2270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MODULE</a:t>
            </a:r>
          </a:p>
        </p:txBody>
      </p:sp>
      <p:sp>
        <p:nvSpPr>
          <p:cNvPr id="6" name="TextBox 5"/>
          <p:cNvSpPr txBox="1"/>
          <p:nvPr/>
        </p:nvSpPr>
        <p:spPr>
          <a:xfrm>
            <a:off x="3185160" y="1790700"/>
            <a:ext cx="4556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FUNCTION / PRIMARY OPERATIONS</a:t>
            </a:r>
          </a:p>
        </p:txBody>
      </p:sp>
      <p:sp>
        <p:nvSpPr>
          <p:cNvPr id="7" name="TextBox 6"/>
          <p:cNvSpPr txBox="1"/>
          <p:nvPr/>
        </p:nvSpPr>
        <p:spPr>
          <a:xfrm>
            <a:off x="7985759" y="1790700"/>
            <a:ext cx="35356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OWNED STATE / EXCLUSION</a:t>
            </a:r>
          </a:p>
        </p:txBody>
      </p:sp>
      <p:sp>
        <p:nvSpPr>
          <p:cNvPr id="8" name="Rounded Rectangle 7"/>
          <p:cNvSpPr/>
          <p:nvPr/>
        </p:nvSpPr>
        <p:spPr>
          <a:xfrm>
            <a:off x="548640" y="2110740"/>
            <a:ext cx="11094720" cy="792480"/>
          </a:xfrm>
          <a:prstGeom prst="roundRect">
            <a:avLst>
              <a:gd name="adj" fmla="val 5769"/>
            </a:avLst>
          </a:prstGeom>
          <a:solidFill>
            <a:srgbClr val="FFFFFF"/>
          </a:solidFill>
          <a:ln>
            <a:noFill/>
          </a:ln>
          <a:effectLst/>
        </p:spPr>
        <p:txBody>
          <a:bodyPr rtlCol="0" anchor="ctr"/>
          <a:lstStyle/>
          <a:p>
            <a:pPr algn="ctr"/>
          </a:p>
        </p:txBody>
      </p:sp>
      <p:sp>
        <p:nvSpPr>
          <p:cNvPr id="9" name="TextBox 8"/>
          <p:cNvSpPr txBox="1"/>
          <p:nvPr/>
        </p:nvSpPr>
        <p:spPr>
          <a:xfrm>
            <a:off x="670560" y="2240280"/>
            <a:ext cx="22707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Belief revision</a:t>
            </a:r>
          </a:p>
        </p:txBody>
      </p:sp>
      <p:sp>
        <p:nvSpPr>
          <p:cNvPr id="10" name="TextBox 9"/>
          <p:cNvSpPr txBox="1"/>
          <p:nvPr/>
        </p:nvSpPr>
        <p:spPr>
          <a:xfrm>
            <a:off x="3185160" y="2240280"/>
            <a:ext cx="45567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Revise under an explicit numerical model</a:t>
            </a:r>
          </a:p>
        </p:txBody>
      </p:sp>
      <p:sp>
        <p:nvSpPr>
          <p:cNvPr id="11" name="TextBox 10"/>
          <p:cNvSpPr txBox="1"/>
          <p:nvPr/>
        </p:nvSpPr>
        <p:spPr>
          <a:xfrm>
            <a:off x="3185160" y="2484120"/>
            <a:ext cx="45567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submitEvidence · readBelief</a:t>
            </a:r>
          </a:p>
        </p:txBody>
      </p:sp>
      <p:sp>
        <p:nvSpPr>
          <p:cNvPr id="12" name="TextBox 11"/>
          <p:cNvSpPr txBox="1"/>
          <p:nvPr/>
        </p:nvSpPr>
        <p:spPr>
          <a:xfrm>
            <a:off x="7985759" y="2240280"/>
            <a:ext cx="3535679"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Belief + evidence ledger</a:t>
            </a:r>
          </a:p>
        </p:txBody>
      </p:sp>
      <p:sp>
        <p:nvSpPr>
          <p:cNvPr id="13" name="TextBox 12"/>
          <p:cNvSpPr txBox="1"/>
          <p:nvPr/>
        </p:nvSpPr>
        <p:spPr>
          <a:xfrm>
            <a:off x="7985759" y="2484120"/>
            <a:ext cx="3535679"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No agenda or attention writes</a:t>
            </a:r>
          </a:p>
        </p:txBody>
      </p:sp>
      <p:sp>
        <p:nvSpPr>
          <p:cNvPr id="14" name="Rounded Rectangle 13"/>
          <p:cNvSpPr/>
          <p:nvPr/>
        </p:nvSpPr>
        <p:spPr>
          <a:xfrm>
            <a:off x="548640" y="2941320"/>
            <a:ext cx="11094720" cy="792480"/>
          </a:xfrm>
          <a:prstGeom prst="roundRect">
            <a:avLst>
              <a:gd name="adj" fmla="val 5769"/>
            </a:avLst>
          </a:prstGeom>
          <a:solidFill>
            <a:srgbClr val="FFFFFF"/>
          </a:solidFill>
          <a:ln>
            <a:noFill/>
          </a:ln>
          <a:effectLst/>
        </p:spPr>
        <p:txBody>
          <a:bodyPr rtlCol="0" anchor="ctr"/>
          <a:lstStyle/>
          <a:p>
            <a:pPr algn="ctr"/>
          </a:p>
        </p:txBody>
      </p:sp>
      <p:sp>
        <p:nvSpPr>
          <p:cNvPr id="15" name="TextBox 14"/>
          <p:cNvSpPr txBox="1"/>
          <p:nvPr/>
        </p:nvSpPr>
        <p:spPr>
          <a:xfrm>
            <a:off x="670560" y="3070860"/>
            <a:ext cx="22707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PLN kernel</a:t>
            </a:r>
          </a:p>
        </p:txBody>
      </p:sp>
      <p:sp>
        <p:nvSpPr>
          <p:cNvPr id="16" name="TextBox 15"/>
          <p:cNvSpPr txBox="1"/>
          <p:nvPr/>
        </p:nvSpPr>
        <p:spPr>
          <a:xfrm>
            <a:off x="3185160" y="3070860"/>
            <a:ext cx="45567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Apply a rule to explicit premises</a:t>
            </a:r>
          </a:p>
        </p:txBody>
      </p:sp>
      <p:sp>
        <p:nvSpPr>
          <p:cNvPr id="17" name="TextBox 16"/>
          <p:cNvSpPr txBox="1"/>
          <p:nvPr/>
        </p:nvSpPr>
        <p:spPr>
          <a:xfrm>
            <a:off x="3185160" y="3314700"/>
            <a:ext cx="45567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profiles · applyRule</a:t>
            </a:r>
          </a:p>
        </p:txBody>
      </p:sp>
      <p:sp>
        <p:nvSpPr>
          <p:cNvPr id="18" name="TextBox 17"/>
          <p:cNvSpPr txBox="1"/>
          <p:nvPr/>
        </p:nvSpPr>
        <p:spPr>
          <a:xfrm>
            <a:off x="7985759" y="3070860"/>
            <a:ext cx="3535679"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No mutable domain state</a:t>
            </a:r>
          </a:p>
        </p:txBody>
      </p:sp>
      <p:sp>
        <p:nvSpPr>
          <p:cNvPr id="19" name="TextBox 18"/>
          <p:cNvSpPr txBox="1"/>
          <p:nvPr/>
        </p:nvSpPr>
        <p:spPr>
          <a:xfrm>
            <a:off x="7985759" y="3314700"/>
            <a:ext cx="3535679"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Returns a proposed derivation</a:t>
            </a:r>
          </a:p>
        </p:txBody>
      </p:sp>
      <p:sp>
        <p:nvSpPr>
          <p:cNvPr id="20" name="Rounded Rectangle 19"/>
          <p:cNvSpPr/>
          <p:nvPr/>
        </p:nvSpPr>
        <p:spPr>
          <a:xfrm>
            <a:off x="548640" y="3771900"/>
            <a:ext cx="11094720" cy="792480"/>
          </a:xfrm>
          <a:prstGeom prst="roundRect">
            <a:avLst>
              <a:gd name="adj" fmla="val 5769"/>
            </a:avLst>
          </a:prstGeom>
          <a:solidFill>
            <a:srgbClr val="FFFFFF"/>
          </a:solidFill>
          <a:ln>
            <a:noFill/>
          </a:ln>
          <a:effectLst/>
        </p:spPr>
        <p:txBody>
          <a:bodyPr rtlCol="0" anchor="ctr"/>
          <a:lstStyle/>
          <a:p>
            <a:pPr algn="ctr"/>
          </a:p>
        </p:txBody>
      </p:sp>
      <p:sp>
        <p:nvSpPr>
          <p:cNvPr id="21" name="TextBox 20"/>
          <p:cNvSpPr txBox="1"/>
          <p:nvPr/>
        </p:nvSpPr>
        <p:spPr>
          <a:xfrm>
            <a:off x="670560" y="3901440"/>
            <a:ext cx="22707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ECAN / attention</a:t>
            </a:r>
          </a:p>
        </p:txBody>
      </p:sp>
      <p:sp>
        <p:nvSpPr>
          <p:cNvPr id="22" name="TextBox 21"/>
          <p:cNvSpPr txBox="1"/>
          <p:nvPr/>
        </p:nvSpPr>
        <p:spPr>
          <a:xfrm>
            <a:off x="3185160" y="3901440"/>
            <a:ext cx="45567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Allocate, select and decay attention</a:t>
            </a:r>
          </a:p>
        </p:txBody>
      </p:sp>
      <p:sp>
        <p:nvSpPr>
          <p:cNvPr id="23" name="TextBox 22"/>
          <p:cNvSpPr txBox="1"/>
          <p:nvPr/>
        </p:nvSpPr>
        <p:spPr>
          <a:xfrm>
            <a:off x="3185160" y="4145279"/>
            <a:ext cx="45567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submitStimulus · select · advance</a:t>
            </a:r>
          </a:p>
        </p:txBody>
      </p:sp>
      <p:sp>
        <p:nvSpPr>
          <p:cNvPr id="24" name="TextBox 23"/>
          <p:cNvSpPr txBox="1"/>
          <p:nvPr/>
        </p:nvSpPr>
        <p:spPr>
          <a:xfrm>
            <a:off x="7985759" y="3901440"/>
            <a:ext cx="3535679"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Attention balances + logical time</a:t>
            </a:r>
          </a:p>
        </p:txBody>
      </p:sp>
      <p:sp>
        <p:nvSpPr>
          <p:cNvPr id="25" name="TextBox 24"/>
          <p:cNvSpPr txBox="1"/>
          <p:nvPr/>
        </p:nvSpPr>
        <p:spPr>
          <a:xfrm>
            <a:off x="7985759" y="4145279"/>
            <a:ext cx="3535679"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No PLN dependency</a:t>
            </a:r>
          </a:p>
        </p:txBody>
      </p:sp>
      <p:sp>
        <p:nvSpPr>
          <p:cNvPr id="26" name="Rounded Rectangle 25"/>
          <p:cNvSpPr/>
          <p:nvPr/>
        </p:nvSpPr>
        <p:spPr>
          <a:xfrm>
            <a:off x="548640" y="4602480"/>
            <a:ext cx="11094720" cy="792480"/>
          </a:xfrm>
          <a:prstGeom prst="roundRect">
            <a:avLst>
              <a:gd name="adj" fmla="val 5769"/>
            </a:avLst>
          </a:prstGeom>
          <a:solidFill>
            <a:srgbClr val="FFFFFF"/>
          </a:solidFill>
          <a:ln>
            <a:noFill/>
          </a:ln>
          <a:effectLst/>
        </p:spPr>
        <p:txBody>
          <a:bodyPr rtlCol="0" anchor="ctr"/>
          <a:lstStyle/>
          <a:p>
            <a:pPr algn="ctr"/>
          </a:p>
        </p:txBody>
      </p:sp>
      <p:sp>
        <p:nvSpPr>
          <p:cNvPr id="27" name="TextBox 26"/>
          <p:cNvSpPr txBox="1"/>
          <p:nvPr/>
        </p:nvSpPr>
        <p:spPr>
          <a:xfrm>
            <a:off x="670560" y="4732020"/>
            <a:ext cx="22707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Inference control</a:t>
            </a:r>
          </a:p>
        </p:txBody>
      </p:sp>
      <p:sp>
        <p:nvSpPr>
          <p:cNvPr id="28" name="TextBox 27"/>
          <p:cNvSpPr txBox="1"/>
          <p:nvPr/>
        </p:nvSpPr>
        <p:spPr>
          <a:xfrm>
            <a:off x="3185160" y="4732020"/>
            <a:ext cx="45567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Schedule bounded reasoning work</a:t>
            </a:r>
          </a:p>
        </p:txBody>
      </p:sp>
      <p:sp>
        <p:nvSpPr>
          <p:cNvPr id="29" name="TextBox 28"/>
          <p:cNvSpPr txBox="1"/>
          <p:nvPr/>
        </p:nvSpPr>
        <p:spPr>
          <a:xfrm>
            <a:off x="3185160" y="4975860"/>
            <a:ext cx="45567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step</a:t>
            </a:r>
          </a:p>
        </p:txBody>
      </p:sp>
      <p:sp>
        <p:nvSpPr>
          <p:cNvPr id="30" name="TextBox 29"/>
          <p:cNvSpPr txBox="1"/>
          <p:nvPr/>
        </p:nvSpPr>
        <p:spPr>
          <a:xfrm>
            <a:off x="7985759" y="4732020"/>
            <a:ext cx="3535679"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Step receipts + checkpoint</a:t>
            </a:r>
          </a:p>
        </p:txBody>
      </p:sp>
      <p:sp>
        <p:nvSpPr>
          <p:cNvPr id="31" name="TextBox 30"/>
          <p:cNvSpPr txBox="1"/>
          <p:nvPr/>
        </p:nvSpPr>
        <p:spPr>
          <a:xfrm>
            <a:off x="7985759" y="4975860"/>
            <a:ext cx="3535679"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No ownership of truth or attention</a:t>
            </a:r>
          </a:p>
        </p:txBody>
      </p:sp>
      <p:sp>
        <p:nvSpPr>
          <p:cNvPr id="32" name="Rounded Rectangle 31"/>
          <p:cNvSpPr/>
          <p:nvPr/>
        </p:nvSpPr>
        <p:spPr>
          <a:xfrm>
            <a:off x="548640" y="5829300"/>
            <a:ext cx="11094720" cy="403859"/>
          </a:xfrm>
          <a:prstGeom prst="roundRect">
            <a:avLst>
              <a:gd name="adj" fmla="val 15094"/>
            </a:avLst>
          </a:prstGeom>
          <a:solidFill>
            <a:srgbClr val="EBE5F3"/>
          </a:solidFill>
          <a:ln>
            <a:noFill/>
          </a:ln>
          <a:effectLst/>
        </p:spPr>
        <p:txBody>
          <a:bodyPr rtlCol="0" anchor="ctr"/>
          <a:lstStyle/>
          <a:p>
            <a:pPr algn="ctr"/>
          </a:p>
        </p:txBody>
      </p:sp>
      <p:sp>
        <p:nvSpPr>
          <p:cNvPr id="33" name="TextBox 32"/>
          <p:cNvSpPr txBox="1"/>
          <p:nvPr/>
        </p:nvSpPr>
        <p:spPr>
          <a:xfrm>
            <a:off x="716280" y="5905500"/>
            <a:ext cx="10744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7458A2"/>
                </a:solidFill>
                <a:latin typeface="DejaVu Sans"/>
              </a:rPr>
              <a:t>Mathematics and attention policy remain explicit review gates.</a:t>
            </a:r>
          </a:p>
        </p:txBody>
      </p:sp>
      <p:cxnSp>
        <p:nvCxnSpPr>
          <p:cNvPr id="34" name="Connector 33"/>
          <p:cNvCxnSpPr/>
          <p:nvPr/>
        </p:nvCxnSpPr>
        <p:spPr>
          <a:xfrm>
            <a:off x="548640" y="6393180"/>
            <a:ext cx="11094720" cy="0"/>
          </a:xfrm>
          <a:prstGeom prst="line">
            <a:avLst/>
          </a:prstGeom>
          <a:ln w="7620">
            <a:solidFill>
              <a:srgbClr val="C9D2D4"/>
            </a:solidFill>
          </a:ln>
          <a:effectLst/>
        </p:spPr>
      </p:cxnSp>
      <p:sp>
        <p:nvSpPr>
          <p:cNvPr id="35" name="TextBox 34"/>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M1.2 / architecture.md</a:t>
            </a:r>
          </a:p>
        </p:txBody>
      </p:sp>
      <p:sp>
        <p:nvSpPr>
          <p:cNvPr id="36" name="TextBox 35"/>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05 / 33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01 / RESPONSIBILITY ATLAS · 3 OF 3</a:t>
            </a:r>
          </a:p>
        </p:txBody>
      </p:sp>
      <p:sp>
        <p:nvSpPr>
          <p:cNvPr id="3" name="TextBox 2"/>
          <p:cNvSpPr txBox="1"/>
          <p:nvPr/>
        </p:nvSpPr>
        <p:spPr>
          <a:xfrm>
            <a:off x="533400" y="723900"/>
            <a:ext cx="11125200" cy="399897"/>
          </a:xfrm>
          <a:prstGeom prst="rect">
            <a:avLst/>
          </a:prstGeom>
          <a:noFill/>
        </p:spPr>
        <p:txBody>
          <a:bodyPr wrap="none" lIns="0" rIns="0" tIns="0" bIns="0" anchor="t" anchorCtr="0">
            <a:noAutofit/>
          </a:bodyPr>
          <a:lstStyle/>
          <a:p>
            <a:pPr algn="l">
              <a:lnSpc>
                <a:spcPct val="100000"/>
              </a:lnSpc>
              <a:spcBef>
                <a:spcPts val="0"/>
              </a:spcBef>
              <a:spcAft>
                <a:spcPts val="0"/>
              </a:spcAft>
            </a:pPr>
            <a:r>
              <a:rPr sz="2460" b="1">
                <a:solidFill>
                  <a:srgbClr val="102B3F"/>
                </a:solidFill>
                <a:latin typeface="DejaVu Sans"/>
              </a:rPr>
              <a:t>Control responsibilities: move work without moving authority</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 remaining six modules connect owners and report exactly what happened.</a:t>
            </a:r>
          </a:p>
        </p:txBody>
      </p:sp>
      <p:sp>
        <p:nvSpPr>
          <p:cNvPr id="5" name="TextBox 4"/>
          <p:cNvSpPr txBox="1"/>
          <p:nvPr/>
        </p:nvSpPr>
        <p:spPr>
          <a:xfrm>
            <a:off x="670560" y="1790700"/>
            <a:ext cx="2270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MODULE</a:t>
            </a:r>
          </a:p>
        </p:txBody>
      </p:sp>
      <p:sp>
        <p:nvSpPr>
          <p:cNvPr id="6" name="TextBox 5"/>
          <p:cNvSpPr txBox="1"/>
          <p:nvPr/>
        </p:nvSpPr>
        <p:spPr>
          <a:xfrm>
            <a:off x="3185160" y="1790700"/>
            <a:ext cx="42519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FUNCTION / PRIMARY OPERATIONS</a:t>
            </a:r>
          </a:p>
        </p:txBody>
      </p:sp>
      <p:sp>
        <p:nvSpPr>
          <p:cNvPr id="7" name="TextBox 6"/>
          <p:cNvSpPr txBox="1"/>
          <p:nvPr/>
        </p:nvSpPr>
        <p:spPr>
          <a:xfrm>
            <a:off x="7680959" y="1790700"/>
            <a:ext cx="38404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OWNED STATE / STATUS</a:t>
            </a:r>
          </a:p>
        </p:txBody>
      </p:sp>
      <p:sp>
        <p:nvSpPr>
          <p:cNvPr id="8" name="Rounded Rectangle 7"/>
          <p:cNvSpPr/>
          <p:nvPr/>
        </p:nvSpPr>
        <p:spPr>
          <a:xfrm>
            <a:off x="548640" y="2110740"/>
            <a:ext cx="11094720" cy="586740"/>
          </a:xfrm>
          <a:prstGeom prst="roundRect">
            <a:avLst>
              <a:gd name="adj" fmla="val 7792"/>
            </a:avLst>
          </a:prstGeom>
          <a:solidFill>
            <a:srgbClr val="FFFFFF"/>
          </a:solidFill>
          <a:ln>
            <a:noFill/>
          </a:ln>
          <a:effectLst/>
        </p:spPr>
        <p:txBody>
          <a:bodyPr rtlCol="0" anchor="ctr"/>
          <a:lstStyle/>
          <a:p>
            <a:pPr algn="ctr"/>
          </a:p>
        </p:txBody>
      </p:sp>
      <p:sp>
        <p:nvSpPr>
          <p:cNvPr id="9" name="TextBox 8"/>
          <p:cNvSpPr txBox="1"/>
          <p:nvPr/>
        </p:nvSpPr>
        <p:spPr>
          <a:xfrm>
            <a:off x="670560" y="224028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Messaging</a:t>
            </a:r>
          </a:p>
        </p:txBody>
      </p:sp>
      <p:sp>
        <p:nvSpPr>
          <p:cNvPr id="10" name="TextBox 9"/>
          <p:cNvSpPr txBox="1"/>
          <p:nvPr/>
        </p:nvSpPr>
        <p:spPr>
          <a:xfrm>
            <a:off x="3185160" y="2240280"/>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Accept, deliver, acknowledge</a:t>
            </a:r>
          </a:p>
        </p:txBody>
      </p:sp>
      <p:sp>
        <p:nvSpPr>
          <p:cNvPr id="11" name="TextBox 10"/>
          <p:cNvSpPr txBox="1"/>
          <p:nvPr/>
        </p:nvSpPr>
        <p:spPr>
          <a:xfrm>
            <a:off x="3185160" y="2464612"/>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send · poll · ack</a:t>
            </a:r>
          </a:p>
        </p:txBody>
      </p:sp>
      <p:sp>
        <p:nvSpPr>
          <p:cNvPr id="12" name="TextBox 11"/>
          <p:cNvSpPr txBox="1"/>
          <p:nvPr/>
        </p:nvSpPr>
        <p:spPr>
          <a:xfrm>
            <a:off x="7680959" y="2240280"/>
            <a:ext cx="3840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Inbox + deduplication · IMPLEMENTED</a:t>
            </a:r>
          </a:p>
        </p:txBody>
      </p:sp>
      <p:sp>
        <p:nvSpPr>
          <p:cNvPr id="13" name="Rounded Rectangle 12"/>
          <p:cNvSpPr/>
          <p:nvPr/>
        </p:nvSpPr>
        <p:spPr>
          <a:xfrm>
            <a:off x="548640" y="2735580"/>
            <a:ext cx="11094720" cy="586740"/>
          </a:xfrm>
          <a:prstGeom prst="roundRect">
            <a:avLst>
              <a:gd name="adj" fmla="val 7792"/>
            </a:avLst>
          </a:prstGeom>
          <a:solidFill>
            <a:srgbClr val="FFFFFF"/>
          </a:solidFill>
          <a:ln>
            <a:noFill/>
          </a:ln>
          <a:effectLst/>
        </p:spPr>
        <p:txBody>
          <a:bodyPr rtlCol="0" anchor="ctr"/>
          <a:lstStyle/>
          <a:p>
            <a:pPr algn="ctr"/>
          </a:p>
        </p:txBody>
      </p:sp>
      <p:sp>
        <p:nvSpPr>
          <p:cNvPr id="14" name="TextBox 13"/>
          <p:cNvSpPr txBox="1"/>
          <p:nvPr/>
        </p:nvSpPr>
        <p:spPr>
          <a:xfrm>
            <a:off x="670560" y="286512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Execution</a:t>
            </a:r>
          </a:p>
        </p:txBody>
      </p:sp>
      <p:sp>
        <p:nvSpPr>
          <p:cNvPr id="15" name="TextBox 14"/>
          <p:cNvSpPr txBox="1"/>
          <p:nvPr/>
        </p:nvSpPr>
        <p:spPr>
          <a:xfrm>
            <a:off x="3185160" y="2865120"/>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Run one named operation</a:t>
            </a:r>
          </a:p>
        </p:txBody>
      </p:sp>
      <p:sp>
        <p:nvSpPr>
          <p:cNvPr id="16" name="TextBox 15"/>
          <p:cNvSpPr txBox="1"/>
          <p:nvPr/>
        </p:nvSpPr>
        <p:spPr>
          <a:xfrm>
            <a:off x="3185160" y="3089452"/>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submit · status · result</a:t>
            </a:r>
          </a:p>
        </p:txBody>
      </p:sp>
      <p:sp>
        <p:nvSpPr>
          <p:cNvPr id="17" name="TextBox 16"/>
          <p:cNvSpPr txBox="1"/>
          <p:nvPr/>
        </p:nvSpPr>
        <p:spPr>
          <a:xfrm>
            <a:off x="7680959" y="2865120"/>
            <a:ext cx="3840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Jobs + completion outbox · IMPLEMENTED</a:t>
            </a:r>
          </a:p>
        </p:txBody>
      </p:sp>
      <p:sp>
        <p:nvSpPr>
          <p:cNvPr id="18" name="Rounded Rectangle 17"/>
          <p:cNvSpPr/>
          <p:nvPr/>
        </p:nvSpPr>
        <p:spPr>
          <a:xfrm>
            <a:off x="548640" y="3360419"/>
            <a:ext cx="11094720" cy="586740"/>
          </a:xfrm>
          <a:prstGeom prst="roundRect">
            <a:avLst>
              <a:gd name="adj" fmla="val 7792"/>
            </a:avLst>
          </a:prstGeom>
          <a:solidFill>
            <a:srgbClr val="FFFFFF"/>
          </a:solidFill>
          <a:ln>
            <a:noFill/>
          </a:ln>
          <a:effectLst/>
        </p:spPr>
        <p:txBody>
          <a:bodyPr rtlCol="0" anchor="ctr"/>
          <a:lstStyle/>
          <a:p>
            <a:pPr algn="ctr"/>
          </a:p>
        </p:txBody>
      </p:sp>
      <p:sp>
        <p:nvSpPr>
          <p:cNvPr id="19" name="TextBox 18"/>
          <p:cNvSpPr txBox="1"/>
          <p:nvPr/>
        </p:nvSpPr>
        <p:spPr>
          <a:xfrm>
            <a:off x="670560" y="348996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Registry</a:t>
            </a:r>
          </a:p>
        </p:txBody>
      </p:sp>
      <p:sp>
        <p:nvSpPr>
          <p:cNvPr id="20" name="TextBox 19"/>
          <p:cNvSpPr txBox="1"/>
          <p:nvPr/>
        </p:nvSpPr>
        <p:spPr>
          <a:xfrm>
            <a:off x="3185160" y="3489960"/>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Describe configured providers</a:t>
            </a:r>
          </a:p>
        </p:txBody>
      </p:sp>
      <p:sp>
        <p:nvSpPr>
          <p:cNvPr id="21" name="TextBox 20"/>
          <p:cNvSpPr txBox="1"/>
          <p:nvPr/>
        </p:nvSpPr>
        <p:spPr>
          <a:xfrm>
            <a:off x="3185160" y="3714292"/>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descriptors</a:t>
            </a:r>
          </a:p>
        </p:txBody>
      </p:sp>
      <p:sp>
        <p:nvSpPr>
          <p:cNvPr id="22" name="TextBox 21"/>
          <p:cNvSpPr txBox="1"/>
          <p:nvPr/>
        </p:nvSpPr>
        <p:spPr>
          <a:xfrm>
            <a:off x="7680959" y="3489960"/>
            <a:ext cx="3840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Static configuration · IMPLEMENTED</a:t>
            </a:r>
          </a:p>
        </p:txBody>
      </p:sp>
      <p:sp>
        <p:nvSpPr>
          <p:cNvPr id="23" name="Rounded Rectangle 22"/>
          <p:cNvSpPr/>
          <p:nvPr/>
        </p:nvSpPr>
        <p:spPr>
          <a:xfrm>
            <a:off x="548640" y="3985260"/>
            <a:ext cx="11094720" cy="586740"/>
          </a:xfrm>
          <a:prstGeom prst="roundRect">
            <a:avLst>
              <a:gd name="adj" fmla="val 7792"/>
            </a:avLst>
          </a:prstGeom>
          <a:solidFill>
            <a:srgbClr val="FFFFFF"/>
          </a:solidFill>
          <a:ln>
            <a:noFill/>
          </a:ln>
          <a:effectLst/>
        </p:spPr>
        <p:txBody>
          <a:bodyPr rtlCol="0" anchor="ctr"/>
          <a:lstStyle/>
          <a:p>
            <a:pPr algn="ctr"/>
          </a:p>
        </p:txBody>
      </p:sp>
      <p:sp>
        <p:nvSpPr>
          <p:cNvPr id="24" name="TextBox 23"/>
          <p:cNvSpPr txBox="1"/>
          <p:nvPr/>
        </p:nvSpPr>
        <p:spPr>
          <a:xfrm>
            <a:off x="670560" y="411480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Resolver</a:t>
            </a:r>
          </a:p>
        </p:txBody>
      </p:sp>
      <p:sp>
        <p:nvSpPr>
          <p:cNvPr id="25" name="TextBox 24"/>
          <p:cNvSpPr txBox="1"/>
          <p:nvPr/>
        </p:nvSpPr>
        <p:spPr>
          <a:xfrm>
            <a:off x="3185160" y="4114800"/>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Match required semantics</a:t>
            </a:r>
          </a:p>
        </p:txBody>
      </p:sp>
      <p:sp>
        <p:nvSpPr>
          <p:cNvPr id="26" name="TextBox 25"/>
          <p:cNvSpPr txBox="1"/>
          <p:nvPr/>
        </p:nvSpPr>
        <p:spPr>
          <a:xfrm>
            <a:off x="3185160" y="4339132"/>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resolve</a:t>
            </a:r>
          </a:p>
        </p:txBody>
      </p:sp>
      <p:sp>
        <p:nvSpPr>
          <p:cNvPr id="27" name="TextBox 26"/>
          <p:cNvSpPr txBox="1"/>
          <p:nvPr/>
        </p:nvSpPr>
        <p:spPr>
          <a:xfrm>
            <a:off x="7680959" y="4114800"/>
            <a:ext cx="3840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No mutable state · IMPLEMENTED</a:t>
            </a:r>
          </a:p>
        </p:txBody>
      </p:sp>
      <p:sp>
        <p:nvSpPr>
          <p:cNvPr id="28" name="Rounded Rectangle 27"/>
          <p:cNvSpPr/>
          <p:nvPr/>
        </p:nvSpPr>
        <p:spPr>
          <a:xfrm>
            <a:off x="548640" y="4610100"/>
            <a:ext cx="11094720" cy="586740"/>
          </a:xfrm>
          <a:prstGeom prst="roundRect">
            <a:avLst>
              <a:gd name="adj" fmla="val 7792"/>
            </a:avLst>
          </a:prstGeom>
          <a:solidFill>
            <a:srgbClr val="FFFFFF"/>
          </a:solidFill>
          <a:ln>
            <a:noFill/>
          </a:ln>
          <a:effectLst/>
        </p:spPr>
        <p:txBody>
          <a:bodyPr rtlCol="0" anchor="ctr"/>
          <a:lstStyle/>
          <a:p>
            <a:pPr algn="ctr"/>
          </a:p>
        </p:txBody>
      </p:sp>
      <p:sp>
        <p:nvSpPr>
          <p:cNvPr id="29" name="TextBox 28"/>
          <p:cNvSpPr txBox="1"/>
          <p:nvPr/>
        </p:nvSpPr>
        <p:spPr>
          <a:xfrm>
            <a:off x="670560" y="473964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Consensus / finality</a:t>
            </a:r>
          </a:p>
        </p:txBody>
      </p:sp>
      <p:sp>
        <p:nvSpPr>
          <p:cNvPr id="30" name="TextBox 29"/>
          <p:cNvSpPr txBox="1"/>
          <p:nvPr/>
        </p:nvSpPr>
        <p:spPr>
          <a:xfrm>
            <a:off x="3185160" y="4739640"/>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Submit approved commitment; observe</a:t>
            </a:r>
          </a:p>
        </p:txBody>
      </p:sp>
      <p:sp>
        <p:nvSpPr>
          <p:cNvPr id="31" name="TextBox 30"/>
          <p:cNvSpPr txBox="1"/>
          <p:nvPr/>
        </p:nvSpPr>
        <p:spPr>
          <a:xfrm>
            <a:off x="3185160" y="4963972"/>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submit · observe</a:t>
            </a:r>
          </a:p>
        </p:txBody>
      </p:sp>
      <p:sp>
        <p:nvSpPr>
          <p:cNvPr id="32" name="TextBox 31"/>
          <p:cNvSpPr txBox="1"/>
          <p:nvPr/>
        </p:nvSpPr>
        <p:spPr>
          <a:xfrm>
            <a:off x="7680959" y="4739640"/>
            <a:ext cx="3840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Signed intents · HISTORICAL M1</a:t>
            </a:r>
          </a:p>
        </p:txBody>
      </p:sp>
      <p:sp>
        <p:nvSpPr>
          <p:cNvPr id="33" name="Rounded Rectangle 32"/>
          <p:cNvSpPr/>
          <p:nvPr/>
        </p:nvSpPr>
        <p:spPr>
          <a:xfrm>
            <a:off x="548640" y="5234940"/>
            <a:ext cx="11094720" cy="586740"/>
          </a:xfrm>
          <a:prstGeom prst="roundRect">
            <a:avLst>
              <a:gd name="adj" fmla="val 7792"/>
            </a:avLst>
          </a:prstGeom>
          <a:solidFill>
            <a:srgbClr val="FFFFFF"/>
          </a:solidFill>
          <a:ln>
            <a:noFill/>
          </a:ln>
          <a:effectLst/>
        </p:spPr>
        <p:txBody>
          <a:bodyPr rtlCol="0" anchor="ctr"/>
          <a:lstStyle/>
          <a:p>
            <a:pPr algn="ctr"/>
          </a:p>
        </p:txBody>
      </p:sp>
      <p:sp>
        <p:nvSpPr>
          <p:cNvPr id="34" name="TextBox 33"/>
          <p:cNvSpPr txBox="1"/>
          <p:nvPr/>
        </p:nvSpPr>
        <p:spPr>
          <a:xfrm>
            <a:off x="670560" y="536448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Authorization</a:t>
            </a:r>
          </a:p>
        </p:txBody>
      </p:sp>
      <p:sp>
        <p:nvSpPr>
          <p:cNvPr id="35" name="TextBox 34"/>
          <p:cNvSpPr txBox="1"/>
          <p:nvPr/>
        </p:nvSpPr>
        <p:spPr>
          <a:xfrm>
            <a:off x="3185160" y="5364480"/>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Check current caller + scope + method</a:t>
            </a:r>
          </a:p>
        </p:txBody>
      </p:sp>
      <p:sp>
        <p:nvSpPr>
          <p:cNvPr id="36" name="TextBox 35"/>
          <p:cNvSpPr txBox="1"/>
          <p:nvPr/>
        </p:nvSpPr>
        <p:spPr>
          <a:xfrm>
            <a:off x="3185160" y="5588812"/>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authorize / live policy checks</a:t>
            </a:r>
          </a:p>
        </p:txBody>
      </p:sp>
      <p:sp>
        <p:nvSpPr>
          <p:cNvPr id="37" name="TextBox 36"/>
          <p:cNvSpPr txBox="1"/>
          <p:nvPr/>
        </p:nvSpPr>
        <p:spPr>
          <a:xfrm>
            <a:off x="7680959" y="5364480"/>
            <a:ext cx="3840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Server-owned policy · LOCAL FIXTURE</a:t>
            </a:r>
          </a:p>
        </p:txBody>
      </p:sp>
      <p:cxnSp>
        <p:nvCxnSpPr>
          <p:cNvPr id="38" name="Connector 37"/>
          <p:cNvCxnSpPr/>
          <p:nvPr/>
        </p:nvCxnSpPr>
        <p:spPr>
          <a:xfrm>
            <a:off x="548640" y="6393180"/>
            <a:ext cx="11094720" cy="0"/>
          </a:xfrm>
          <a:prstGeom prst="line">
            <a:avLst/>
          </a:prstGeom>
          <a:ln w="7620">
            <a:solidFill>
              <a:srgbClr val="C9D2D4"/>
            </a:solidFill>
          </a:ln>
          <a:effectLst/>
        </p:spPr>
      </p:cxnSp>
      <p:sp>
        <p:nvSpPr>
          <p:cNvPr id="39" name="TextBox 38"/>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M1.2 / architecture.md</a:t>
            </a:r>
          </a:p>
        </p:txBody>
      </p:sp>
      <p:sp>
        <p:nvSpPr>
          <p:cNvPr id="40" name="TextBox 39"/>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06 / 33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01 / DEPENDENCY MAP · DATA AND COGNITION</a:t>
            </a:r>
          </a:p>
        </p:txBody>
      </p:sp>
      <p:sp>
        <p:nvSpPr>
          <p:cNvPr id="3" name="TextBox 2"/>
          <p:cNvSpPr txBox="1"/>
          <p:nvPr/>
        </p:nvSpPr>
        <p:spPr>
          <a:xfrm>
            <a:off x="533400" y="723900"/>
            <a:ext cx="11125200" cy="468172"/>
          </a:xfrm>
          <a:prstGeom prst="rect">
            <a:avLst/>
          </a:prstGeom>
          <a:noFill/>
        </p:spPr>
        <p:txBody>
          <a:bodyPr wrap="none" lIns="0" rIns="0" tIns="0" bIns="0" anchor="t" anchorCtr="0">
            <a:noAutofit/>
          </a:bodyPr>
          <a:lstStyle/>
          <a:p>
            <a:pPr algn="l">
              <a:lnSpc>
                <a:spcPct val="100000"/>
              </a:lnSpc>
              <a:spcBef>
                <a:spcPts val="0"/>
              </a:spcBef>
              <a:spcAft>
                <a:spcPts val="0"/>
              </a:spcAft>
            </a:pPr>
            <a:r>
              <a:rPr sz="2879" b="1">
                <a:solidFill>
                  <a:srgbClr val="102B3F"/>
                </a:solidFill>
                <a:latin typeface="DejaVu Sans"/>
              </a:rPr>
              <a:t>Function dependencies: the proposed cognitive path</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Dashed arrows = specified calls. Solid arrow = implemented call. Direction = caller → provider.</a:t>
            </a:r>
          </a:p>
        </p:txBody>
      </p:sp>
      <p:sp>
        <p:nvSpPr>
          <p:cNvPr id="5" name="Rounded Rectangle 4"/>
          <p:cNvSpPr/>
          <p:nvPr/>
        </p:nvSpPr>
        <p:spPr>
          <a:xfrm>
            <a:off x="548640" y="1988820"/>
            <a:ext cx="2484120" cy="929640"/>
          </a:xfrm>
          <a:prstGeom prst="roundRect">
            <a:avLst>
              <a:gd name="adj" fmla="val 10655"/>
            </a:avLst>
          </a:prstGeom>
          <a:solidFill>
            <a:srgbClr val="EBE5F3"/>
          </a:solidFill>
          <a:ln w="7620">
            <a:solidFill>
              <a:srgbClr val="7458A2"/>
            </a:solidFill>
            <a:prstDash val="dash"/>
          </a:ln>
          <a:effectLst/>
        </p:spPr>
        <p:txBody>
          <a:bodyPr rtlCol="0" anchor="ctr"/>
          <a:lstStyle/>
          <a:p>
            <a:pPr algn="ctr"/>
          </a:p>
        </p:txBody>
      </p:sp>
      <p:sp>
        <p:nvSpPr>
          <p:cNvPr id="6" name="TextBox 5"/>
          <p:cNvSpPr txBox="1"/>
          <p:nvPr/>
        </p:nvSpPr>
        <p:spPr>
          <a:xfrm>
            <a:off x="716280" y="2156460"/>
            <a:ext cx="214884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7458A2"/>
                </a:solidFill>
                <a:latin typeface="DejaVu Sans"/>
              </a:rPr>
              <a:t>Inference control</a:t>
            </a:r>
          </a:p>
        </p:txBody>
      </p:sp>
      <p:sp>
        <p:nvSpPr>
          <p:cNvPr id="7" name="TextBox 6"/>
          <p:cNvSpPr txBox="1"/>
          <p:nvPr/>
        </p:nvSpPr>
        <p:spPr>
          <a:xfrm>
            <a:off x="716280" y="2505760"/>
            <a:ext cx="214884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step(budget)</a:t>
            </a:r>
          </a:p>
        </p:txBody>
      </p:sp>
      <p:sp>
        <p:nvSpPr>
          <p:cNvPr id="8" name="Rounded Rectangle 7"/>
          <p:cNvSpPr/>
          <p:nvPr/>
        </p:nvSpPr>
        <p:spPr>
          <a:xfrm>
            <a:off x="3931919" y="1927859"/>
            <a:ext cx="3307079" cy="845819"/>
          </a:xfrm>
          <a:prstGeom prst="roundRect">
            <a:avLst>
              <a:gd name="adj" fmla="val 11711"/>
            </a:avLst>
          </a:prstGeom>
          <a:solidFill>
            <a:srgbClr val="FFFFFF"/>
          </a:solidFill>
          <a:ln w="7620">
            <a:solidFill>
              <a:srgbClr val="7458A2"/>
            </a:solidFill>
            <a:prstDash val="dash"/>
          </a:ln>
          <a:effectLst/>
        </p:spPr>
        <p:txBody>
          <a:bodyPr rtlCol="0" anchor="ctr"/>
          <a:lstStyle/>
          <a:p>
            <a:pPr algn="ctr"/>
          </a:p>
        </p:txBody>
      </p:sp>
      <p:sp>
        <p:nvSpPr>
          <p:cNvPr id="9" name="TextBox 8"/>
          <p:cNvSpPr txBox="1"/>
          <p:nvPr/>
        </p:nvSpPr>
        <p:spPr>
          <a:xfrm>
            <a:off x="4099560" y="2095500"/>
            <a:ext cx="29718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7458A2"/>
                </a:solidFill>
                <a:latin typeface="DejaVu Sans"/>
              </a:rPr>
              <a:t>Search</a:t>
            </a:r>
          </a:p>
        </p:txBody>
      </p:sp>
      <p:sp>
        <p:nvSpPr>
          <p:cNvPr id="10" name="TextBox 9"/>
          <p:cNvSpPr txBox="1"/>
          <p:nvPr/>
        </p:nvSpPr>
        <p:spPr>
          <a:xfrm>
            <a:off x="4099560" y="2425293"/>
            <a:ext cx="29718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query(profile, watermark)</a:t>
            </a:r>
          </a:p>
        </p:txBody>
      </p:sp>
      <p:sp>
        <p:nvSpPr>
          <p:cNvPr id="11" name="Rounded Rectangle 10"/>
          <p:cNvSpPr/>
          <p:nvPr/>
        </p:nvSpPr>
        <p:spPr>
          <a:xfrm>
            <a:off x="7680959" y="1927859"/>
            <a:ext cx="3307079" cy="845819"/>
          </a:xfrm>
          <a:prstGeom prst="roundRect">
            <a:avLst>
              <a:gd name="adj" fmla="val 11711"/>
            </a:avLst>
          </a:prstGeom>
          <a:solidFill>
            <a:srgbClr val="FFFFFF"/>
          </a:solidFill>
          <a:ln w="7620">
            <a:solidFill>
              <a:srgbClr val="7458A2"/>
            </a:solidFill>
            <a:prstDash val="dash"/>
          </a:ln>
          <a:effectLst/>
        </p:spPr>
        <p:txBody>
          <a:bodyPr rtlCol="0" anchor="ctr"/>
          <a:lstStyle/>
          <a:p>
            <a:pPr algn="ctr"/>
          </a:p>
        </p:txBody>
      </p:sp>
      <p:sp>
        <p:nvSpPr>
          <p:cNvPr id="12" name="TextBox 11"/>
          <p:cNvSpPr txBox="1"/>
          <p:nvPr/>
        </p:nvSpPr>
        <p:spPr>
          <a:xfrm>
            <a:off x="7848600" y="2095500"/>
            <a:ext cx="29718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7458A2"/>
                </a:solidFill>
                <a:latin typeface="DejaVu Sans"/>
              </a:rPr>
              <a:t>ECAN / attention</a:t>
            </a:r>
          </a:p>
        </p:txBody>
      </p:sp>
      <p:sp>
        <p:nvSpPr>
          <p:cNvPr id="13" name="TextBox 12"/>
          <p:cNvSpPr txBox="1"/>
          <p:nvPr/>
        </p:nvSpPr>
        <p:spPr>
          <a:xfrm>
            <a:off x="7848600" y="2425293"/>
            <a:ext cx="29718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select · submitStimulus</a:t>
            </a:r>
          </a:p>
        </p:txBody>
      </p:sp>
      <p:sp>
        <p:nvSpPr>
          <p:cNvPr id="14" name="Rounded Rectangle 13"/>
          <p:cNvSpPr/>
          <p:nvPr/>
        </p:nvSpPr>
        <p:spPr>
          <a:xfrm>
            <a:off x="3931919" y="3489960"/>
            <a:ext cx="3307079" cy="845819"/>
          </a:xfrm>
          <a:prstGeom prst="roundRect">
            <a:avLst>
              <a:gd name="adj" fmla="val 11711"/>
            </a:avLst>
          </a:prstGeom>
          <a:solidFill>
            <a:srgbClr val="FFFFFF"/>
          </a:solidFill>
          <a:ln w="7620">
            <a:solidFill>
              <a:srgbClr val="7458A2"/>
            </a:solidFill>
            <a:prstDash val="dash"/>
          </a:ln>
          <a:effectLst/>
        </p:spPr>
        <p:txBody>
          <a:bodyPr rtlCol="0" anchor="ctr"/>
          <a:lstStyle/>
          <a:p>
            <a:pPr algn="ctr"/>
          </a:p>
        </p:txBody>
      </p:sp>
      <p:sp>
        <p:nvSpPr>
          <p:cNvPr id="15" name="TextBox 14"/>
          <p:cNvSpPr txBox="1"/>
          <p:nvPr/>
        </p:nvSpPr>
        <p:spPr>
          <a:xfrm>
            <a:off x="4099560" y="3657600"/>
            <a:ext cx="29718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7458A2"/>
                </a:solidFill>
                <a:latin typeface="DejaVu Sans"/>
              </a:rPr>
              <a:t>Belief revision</a:t>
            </a:r>
          </a:p>
        </p:txBody>
      </p:sp>
      <p:sp>
        <p:nvSpPr>
          <p:cNvPr id="16" name="TextBox 15"/>
          <p:cNvSpPr txBox="1"/>
          <p:nvPr/>
        </p:nvSpPr>
        <p:spPr>
          <a:xfrm>
            <a:off x="4099560" y="3987393"/>
            <a:ext cx="29718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readBelief · submitEvidence</a:t>
            </a:r>
          </a:p>
        </p:txBody>
      </p:sp>
      <p:sp>
        <p:nvSpPr>
          <p:cNvPr id="17" name="Rounded Rectangle 16"/>
          <p:cNvSpPr/>
          <p:nvPr/>
        </p:nvSpPr>
        <p:spPr>
          <a:xfrm>
            <a:off x="7680959" y="3489960"/>
            <a:ext cx="3307079" cy="845819"/>
          </a:xfrm>
          <a:prstGeom prst="roundRect">
            <a:avLst>
              <a:gd name="adj" fmla="val 11711"/>
            </a:avLst>
          </a:prstGeom>
          <a:solidFill>
            <a:srgbClr val="FFFFFF"/>
          </a:solidFill>
          <a:ln w="7620">
            <a:solidFill>
              <a:srgbClr val="7458A2"/>
            </a:solidFill>
            <a:prstDash val="dash"/>
          </a:ln>
          <a:effectLst/>
        </p:spPr>
        <p:txBody>
          <a:bodyPr rtlCol="0" anchor="ctr"/>
          <a:lstStyle/>
          <a:p>
            <a:pPr algn="ctr"/>
          </a:p>
        </p:txBody>
      </p:sp>
      <p:sp>
        <p:nvSpPr>
          <p:cNvPr id="18" name="TextBox 17"/>
          <p:cNvSpPr txBox="1"/>
          <p:nvPr/>
        </p:nvSpPr>
        <p:spPr>
          <a:xfrm>
            <a:off x="7848600" y="3657600"/>
            <a:ext cx="29718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7458A2"/>
                </a:solidFill>
                <a:latin typeface="DejaVu Sans"/>
              </a:rPr>
              <a:t>PLN kernel</a:t>
            </a:r>
          </a:p>
        </p:txBody>
      </p:sp>
      <p:sp>
        <p:nvSpPr>
          <p:cNvPr id="19" name="TextBox 18"/>
          <p:cNvSpPr txBox="1"/>
          <p:nvPr/>
        </p:nvSpPr>
        <p:spPr>
          <a:xfrm>
            <a:off x="7848600" y="3987393"/>
            <a:ext cx="29718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applyRule(premise snapshots)</a:t>
            </a:r>
          </a:p>
        </p:txBody>
      </p:sp>
      <p:cxnSp>
        <p:nvCxnSpPr>
          <p:cNvPr id="20" name="Connector 19"/>
          <p:cNvCxnSpPr/>
          <p:nvPr/>
        </p:nvCxnSpPr>
        <p:spPr>
          <a:xfrm>
            <a:off x="3032760" y="2209800"/>
            <a:ext cx="899159" cy="0"/>
          </a:xfrm>
          <a:prstGeom prst="line">
            <a:avLst/>
          </a:prstGeom>
          <a:ln w="15240">
            <a:solidFill>
              <a:srgbClr val="7458A2"/>
            </a:solidFill>
            <a:prstDash val="dash"/>
          </a:ln>
          <a:effectLst/>
        </p:spPr>
      </p:cxnSp>
      <p:sp>
        <p:nvSpPr>
          <p:cNvPr id="21" name="Freeform 20"/>
          <p:cNvSpPr/>
          <p:nvPr/>
        </p:nvSpPr>
        <p:spPr>
          <a:xfrm>
            <a:off x="3832860" y="2171700"/>
            <a:ext cx="99060" cy="76200"/>
          </a:xfrm>
          <a:custGeom>
            <a:avLst/>
            <a:gdLst/>
            <a:ahLst/>
            <a:cxnLst/>
            <a:rect l="l" t="t" r="r" b="b"/>
            <a:pathLst>
              <a:path w="13" h="10">
                <a:moveTo>
                  <a:pt x="13" y="5"/>
                </a:moveTo>
                <a:lnTo>
                  <a:pt x="0" y="0"/>
                </a:lnTo>
                <a:lnTo>
                  <a:pt x="0" y="10"/>
                </a:lnTo>
                <a:close/>
              </a:path>
            </a:pathLst>
          </a:custGeom>
          <a:solidFill>
            <a:srgbClr val="7458A2"/>
          </a:solidFill>
          <a:ln>
            <a:noFill/>
          </a:ln>
          <a:effectLst/>
        </p:spPr>
        <p:txBody>
          <a:bodyPr rtlCol="0" anchor="ctr"/>
          <a:lstStyle/>
          <a:p>
            <a:pPr algn="ctr"/>
          </a:p>
        </p:txBody>
      </p:sp>
      <p:cxnSp>
        <p:nvCxnSpPr>
          <p:cNvPr id="22" name="Connector 21"/>
          <p:cNvCxnSpPr/>
          <p:nvPr/>
        </p:nvCxnSpPr>
        <p:spPr>
          <a:xfrm>
            <a:off x="3032760" y="2118360"/>
            <a:ext cx="373380" cy="0"/>
          </a:xfrm>
          <a:prstGeom prst="line">
            <a:avLst/>
          </a:prstGeom>
          <a:ln w="15240">
            <a:solidFill>
              <a:srgbClr val="7458A2"/>
            </a:solidFill>
            <a:prstDash val="dash"/>
          </a:ln>
          <a:effectLst/>
        </p:spPr>
      </p:cxnSp>
      <p:cxnSp>
        <p:nvCxnSpPr>
          <p:cNvPr id="23" name="Connector 22"/>
          <p:cNvCxnSpPr/>
          <p:nvPr/>
        </p:nvCxnSpPr>
        <p:spPr>
          <a:xfrm flipV="1">
            <a:off x="3406140" y="1714500"/>
            <a:ext cx="0" cy="403860"/>
          </a:xfrm>
          <a:prstGeom prst="line">
            <a:avLst/>
          </a:prstGeom>
          <a:ln w="15240">
            <a:solidFill>
              <a:srgbClr val="7458A2"/>
            </a:solidFill>
            <a:prstDash val="dash"/>
          </a:ln>
          <a:effectLst/>
        </p:spPr>
      </p:cxnSp>
      <p:cxnSp>
        <p:nvCxnSpPr>
          <p:cNvPr id="24" name="Connector 23"/>
          <p:cNvCxnSpPr/>
          <p:nvPr/>
        </p:nvCxnSpPr>
        <p:spPr>
          <a:xfrm>
            <a:off x="3406140" y="1714500"/>
            <a:ext cx="5928360" cy="0"/>
          </a:xfrm>
          <a:prstGeom prst="line">
            <a:avLst/>
          </a:prstGeom>
          <a:ln w="15240">
            <a:solidFill>
              <a:srgbClr val="7458A2"/>
            </a:solidFill>
            <a:prstDash val="dash"/>
          </a:ln>
          <a:effectLst/>
        </p:spPr>
      </p:cxnSp>
      <p:cxnSp>
        <p:nvCxnSpPr>
          <p:cNvPr id="25" name="Connector 24"/>
          <p:cNvCxnSpPr/>
          <p:nvPr/>
        </p:nvCxnSpPr>
        <p:spPr>
          <a:xfrm>
            <a:off x="9334500" y="1714500"/>
            <a:ext cx="0" cy="213359"/>
          </a:xfrm>
          <a:prstGeom prst="line">
            <a:avLst/>
          </a:prstGeom>
          <a:ln w="15240">
            <a:solidFill>
              <a:srgbClr val="7458A2"/>
            </a:solidFill>
            <a:prstDash val="dash"/>
          </a:ln>
          <a:effectLst/>
        </p:spPr>
      </p:cxnSp>
      <p:sp>
        <p:nvSpPr>
          <p:cNvPr id="26" name="Freeform 25"/>
          <p:cNvSpPr/>
          <p:nvPr/>
        </p:nvSpPr>
        <p:spPr>
          <a:xfrm>
            <a:off x="9296400" y="1828800"/>
            <a:ext cx="76200" cy="99060"/>
          </a:xfrm>
          <a:custGeom>
            <a:avLst/>
            <a:gdLst/>
            <a:ahLst/>
            <a:cxnLst/>
            <a:rect l="l" t="t" r="r" b="b"/>
            <a:pathLst>
              <a:path w="10" h="13">
                <a:moveTo>
                  <a:pt x="5" y="13"/>
                </a:moveTo>
                <a:lnTo>
                  <a:pt x="10" y="0"/>
                </a:lnTo>
                <a:lnTo>
                  <a:pt x="0" y="0"/>
                </a:lnTo>
                <a:close/>
              </a:path>
            </a:pathLst>
          </a:custGeom>
          <a:solidFill>
            <a:srgbClr val="7458A2"/>
          </a:solidFill>
          <a:ln>
            <a:noFill/>
          </a:ln>
          <a:effectLst/>
        </p:spPr>
        <p:txBody>
          <a:bodyPr rtlCol="0" anchor="ctr"/>
          <a:lstStyle/>
          <a:p>
            <a:pPr algn="ctr"/>
          </a:p>
        </p:txBody>
      </p:sp>
      <p:cxnSp>
        <p:nvCxnSpPr>
          <p:cNvPr id="27" name="Connector 26"/>
          <p:cNvCxnSpPr/>
          <p:nvPr/>
        </p:nvCxnSpPr>
        <p:spPr>
          <a:xfrm>
            <a:off x="3032760" y="2575560"/>
            <a:ext cx="396240" cy="0"/>
          </a:xfrm>
          <a:prstGeom prst="line">
            <a:avLst/>
          </a:prstGeom>
          <a:ln w="15240">
            <a:solidFill>
              <a:srgbClr val="7458A2"/>
            </a:solidFill>
            <a:prstDash val="dash"/>
          </a:ln>
          <a:effectLst/>
        </p:spPr>
      </p:cxnSp>
      <p:cxnSp>
        <p:nvCxnSpPr>
          <p:cNvPr id="28" name="Connector 27"/>
          <p:cNvCxnSpPr/>
          <p:nvPr/>
        </p:nvCxnSpPr>
        <p:spPr>
          <a:xfrm>
            <a:off x="3429000" y="2575560"/>
            <a:ext cx="0" cy="1310640"/>
          </a:xfrm>
          <a:prstGeom prst="line">
            <a:avLst/>
          </a:prstGeom>
          <a:ln w="15240">
            <a:solidFill>
              <a:srgbClr val="7458A2"/>
            </a:solidFill>
            <a:prstDash val="dash"/>
          </a:ln>
          <a:effectLst/>
        </p:spPr>
      </p:cxnSp>
      <p:cxnSp>
        <p:nvCxnSpPr>
          <p:cNvPr id="29" name="Connector 28"/>
          <p:cNvCxnSpPr/>
          <p:nvPr/>
        </p:nvCxnSpPr>
        <p:spPr>
          <a:xfrm>
            <a:off x="3429000" y="3886200"/>
            <a:ext cx="502919" cy="0"/>
          </a:xfrm>
          <a:prstGeom prst="line">
            <a:avLst/>
          </a:prstGeom>
          <a:ln w="15240">
            <a:solidFill>
              <a:srgbClr val="7458A2"/>
            </a:solidFill>
            <a:prstDash val="dash"/>
          </a:ln>
          <a:effectLst/>
        </p:spPr>
      </p:cxnSp>
      <p:sp>
        <p:nvSpPr>
          <p:cNvPr id="30" name="Freeform 29"/>
          <p:cNvSpPr/>
          <p:nvPr/>
        </p:nvSpPr>
        <p:spPr>
          <a:xfrm>
            <a:off x="3832860" y="3848100"/>
            <a:ext cx="99060" cy="76200"/>
          </a:xfrm>
          <a:custGeom>
            <a:avLst/>
            <a:gdLst/>
            <a:ahLst/>
            <a:cxnLst/>
            <a:rect l="l" t="t" r="r" b="b"/>
            <a:pathLst>
              <a:path w="13" h="10">
                <a:moveTo>
                  <a:pt x="13" y="5"/>
                </a:moveTo>
                <a:lnTo>
                  <a:pt x="0" y="0"/>
                </a:lnTo>
                <a:lnTo>
                  <a:pt x="0" y="10"/>
                </a:lnTo>
                <a:close/>
              </a:path>
            </a:pathLst>
          </a:custGeom>
          <a:solidFill>
            <a:srgbClr val="7458A2"/>
          </a:solidFill>
          <a:ln>
            <a:noFill/>
          </a:ln>
          <a:effectLst/>
        </p:spPr>
        <p:txBody>
          <a:bodyPr rtlCol="0" anchor="ctr"/>
          <a:lstStyle/>
          <a:p>
            <a:pPr algn="ctr"/>
          </a:p>
        </p:txBody>
      </p:sp>
      <p:cxnSp>
        <p:nvCxnSpPr>
          <p:cNvPr id="31" name="Connector 30"/>
          <p:cNvCxnSpPr/>
          <p:nvPr/>
        </p:nvCxnSpPr>
        <p:spPr>
          <a:xfrm>
            <a:off x="3032760" y="2705100"/>
            <a:ext cx="198119" cy="0"/>
          </a:xfrm>
          <a:prstGeom prst="line">
            <a:avLst/>
          </a:prstGeom>
          <a:ln w="15240">
            <a:solidFill>
              <a:srgbClr val="7458A2"/>
            </a:solidFill>
            <a:prstDash val="dash"/>
          </a:ln>
          <a:effectLst/>
        </p:spPr>
      </p:cxnSp>
      <p:cxnSp>
        <p:nvCxnSpPr>
          <p:cNvPr id="32" name="Connector 31"/>
          <p:cNvCxnSpPr/>
          <p:nvPr/>
        </p:nvCxnSpPr>
        <p:spPr>
          <a:xfrm>
            <a:off x="3230879" y="2705100"/>
            <a:ext cx="0" cy="449579"/>
          </a:xfrm>
          <a:prstGeom prst="line">
            <a:avLst/>
          </a:prstGeom>
          <a:ln w="15240">
            <a:solidFill>
              <a:srgbClr val="7458A2"/>
            </a:solidFill>
            <a:prstDash val="dash"/>
          </a:ln>
          <a:effectLst/>
        </p:spPr>
      </p:cxnSp>
      <p:cxnSp>
        <p:nvCxnSpPr>
          <p:cNvPr id="33" name="Connector 32"/>
          <p:cNvCxnSpPr/>
          <p:nvPr/>
        </p:nvCxnSpPr>
        <p:spPr>
          <a:xfrm>
            <a:off x="3230879" y="3154679"/>
            <a:ext cx="6103621" cy="0"/>
          </a:xfrm>
          <a:prstGeom prst="line">
            <a:avLst/>
          </a:prstGeom>
          <a:ln w="15240">
            <a:solidFill>
              <a:srgbClr val="7458A2"/>
            </a:solidFill>
            <a:prstDash val="dash"/>
          </a:ln>
          <a:effectLst/>
        </p:spPr>
      </p:cxnSp>
      <p:cxnSp>
        <p:nvCxnSpPr>
          <p:cNvPr id="34" name="Connector 33"/>
          <p:cNvCxnSpPr/>
          <p:nvPr/>
        </p:nvCxnSpPr>
        <p:spPr>
          <a:xfrm>
            <a:off x="9334500" y="3154679"/>
            <a:ext cx="0" cy="335281"/>
          </a:xfrm>
          <a:prstGeom prst="line">
            <a:avLst/>
          </a:prstGeom>
          <a:ln w="15240">
            <a:solidFill>
              <a:srgbClr val="7458A2"/>
            </a:solidFill>
            <a:prstDash val="dash"/>
          </a:ln>
          <a:effectLst/>
        </p:spPr>
      </p:cxnSp>
      <p:sp>
        <p:nvSpPr>
          <p:cNvPr id="35" name="Freeform 34"/>
          <p:cNvSpPr/>
          <p:nvPr/>
        </p:nvSpPr>
        <p:spPr>
          <a:xfrm>
            <a:off x="9296400" y="3390900"/>
            <a:ext cx="76200" cy="99060"/>
          </a:xfrm>
          <a:custGeom>
            <a:avLst/>
            <a:gdLst/>
            <a:ahLst/>
            <a:cxnLst/>
            <a:rect l="l" t="t" r="r" b="b"/>
            <a:pathLst>
              <a:path w="10" h="13">
                <a:moveTo>
                  <a:pt x="5" y="13"/>
                </a:moveTo>
                <a:lnTo>
                  <a:pt x="10" y="0"/>
                </a:lnTo>
                <a:lnTo>
                  <a:pt x="0" y="0"/>
                </a:lnTo>
                <a:close/>
              </a:path>
            </a:pathLst>
          </a:custGeom>
          <a:solidFill>
            <a:srgbClr val="7458A2"/>
          </a:solidFill>
          <a:ln>
            <a:noFill/>
          </a:ln>
          <a:effectLst/>
        </p:spPr>
        <p:txBody>
          <a:bodyPr rtlCol="0" anchor="ctr"/>
          <a:lstStyle/>
          <a:p>
            <a:pPr algn="ctr"/>
          </a:p>
        </p:txBody>
      </p:sp>
      <p:sp>
        <p:nvSpPr>
          <p:cNvPr id="36" name="TextBox 35"/>
          <p:cNvSpPr txBox="1"/>
          <p:nvPr/>
        </p:nvSpPr>
        <p:spPr>
          <a:xfrm>
            <a:off x="4000500" y="2933700"/>
            <a:ext cx="49530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7458A2"/>
                </a:solidFill>
                <a:latin typeface="DejaVu Sans"/>
              </a:rPr>
              <a:t>Calls carry snapshots, evidence and bounded feedback</a:t>
            </a:r>
          </a:p>
        </p:txBody>
      </p:sp>
      <p:sp>
        <p:nvSpPr>
          <p:cNvPr id="37" name="Rounded Rectangle 36"/>
          <p:cNvSpPr/>
          <p:nvPr/>
        </p:nvSpPr>
        <p:spPr>
          <a:xfrm>
            <a:off x="548640" y="3489960"/>
            <a:ext cx="2484120" cy="845819"/>
          </a:xfrm>
          <a:prstGeom prst="roundRect">
            <a:avLst>
              <a:gd name="adj" fmla="val 11711"/>
            </a:avLst>
          </a:prstGeom>
          <a:solidFill>
            <a:srgbClr val="FFFFFF"/>
          </a:solidFill>
          <a:ln w="7620">
            <a:solidFill>
              <a:srgbClr val="7458A2"/>
            </a:solidFill>
            <a:prstDash val="dash"/>
          </a:ln>
          <a:effectLst/>
        </p:spPr>
        <p:txBody>
          <a:bodyPr rtlCol="0" anchor="ctr"/>
          <a:lstStyle/>
          <a:p>
            <a:pPr algn="ctr"/>
          </a:p>
        </p:txBody>
      </p:sp>
      <p:sp>
        <p:nvSpPr>
          <p:cNvPr id="38" name="TextBox 37"/>
          <p:cNvSpPr txBox="1"/>
          <p:nvPr/>
        </p:nvSpPr>
        <p:spPr>
          <a:xfrm>
            <a:off x="716280" y="3657600"/>
            <a:ext cx="214884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7458A2"/>
                </a:solidFill>
                <a:latin typeface="DejaVu Sans"/>
              </a:rPr>
              <a:t>Episodic memory</a:t>
            </a:r>
          </a:p>
        </p:txBody>
      </p:sp>
      <p:sp>
        <p:nvSpPr>
          <p:cNvPr id="39" name="TextBox 38"/>
          <p:cNvSpPr txBox="1"/>
          <p:nvPr/>
        </p:nvSpPr>
        <p:spPr>
          <a:xfrm>
            <a:off x="716280" y="3948379"/>
            <a:ext cx="214884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536775"/>
                </a:solidFill>
                <a:latin typeface="DejaVu Sans"/>
              </a:rPr>
              <a:t>appendEvent · readEpisode</a:t>
            </a:r>
          </a:p>
        </p:txBody>
      </p:sp>
      <p:sp>
        <p:nvSpPr>
          <p:cNvPr id="40" name="TextBox 39"/>
          <p:cNvSpPr txBox="1"/>
          <p:nvPr/>
        </p:nvSpPr>
        <p:spPr>
          <a:xfrm>
            <a:off x="3200400" y="4533900"/>
            <a:ext cx="84429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Episodes emit evidence; the orchestrator submits it to revision.</a:t>
            </a:r>
          </a:p>
        </p:txBody>
      </p:sp>
      <p:sp>
        <p:nvSpPr>
          <p:cNvPr id="41" name="Rounded Rectangle 40"/>
          <p:cNvSpPr/>
          <p:nvPr/>
        </p:nvSpPr>
        <p:spPr>
          <a:xfrm>
            <a:off x="548640" y="5181600"/>
            <a:ext cx="2484120" cy="609600"/>
          </a:xfrm>
          <a:prstGeom prst="roundRect">
            <a:avLst>
              <a:gd name="adj" fmla="val 16250"/>
            </a:avLst>
          </a:prstGeom>
          <a:solidFill>
            <a:srgbClr val="FFFFFF"/>
          </a:solidFill>
          <a:ln w="7620">
            <a:solidFill>
              <a:srgbClr val="7458A2"/>
            </a:solidFill>
            <a:prstDash val="dash"/>
          </a:ln>
          <a:effectLst/>
        </p:spPr>
        <p:txBody>
          <a:bodyPr rtlCol="0" anchor="ctr"/>
          <a:lstStyle/>
          <a:p>
            <a:pPr algn="ctr"/>
          </a:p>
        </p:txBody>
      </p:sp>
      <p:sp>
        <p:nvSpPr>
          <p:cNvPr id="42" name="TextBox 41"/>
          <p:cNvSpPr txBox="1"/>
          <p:nvPr/>
        </p:nvSpPr>
        <p:spPr>
          <a:xfrm>
            <a:off x="716280" y="5349240"/>
            <a:ext cx="21488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7458A2"/>
                </a:solidFill>
                <a:latin typeface="DejaVu Sans"/>
              </a:rPr>
              <a:t>Relations</a:t>
            </a:r>
          </a:p>
        </p:txBody>
      </p:sp>
      <p:sp>
        <p:nvSpPr>
          <p:cNvPr id="43" name="Rounded Rectangle 42"/>
          <p:cNvSpPr/>
          <p:nvPr/>
        </p:nvSpPr>
        <p:spPr>
          <a:xfrm>
            <a:off x="3931919" y="5181600"/>
            <a:ext cx="3307079" cy="609600"/>
          </a:xfrm>
          <a:prstGeom prst="roundRect">
            <a:avLst>
              <a:gd name="adj" fmla="val 16250"/>
            </a:avLst>
          </a:prstGeom>
          <a:solidFill>
            <a:srgbClr val="FFFFFF"/>
          </a:solidFill>
          <a:ln w="7620">
            <a:solidFill>
              <a:srgbClr val="315E9C"/>
            </a:solidFill>
          </a:ln>
          <a:effectLst/>
        </p:spPr>
        <p:txBody>
          <a:bodyPr rtlCol="0" anchor="ctr"/>
          <a:lstStyle/>
          <a:p>
            <a:pPr algn="ctr"/>
          </a:p>
        </p:txBody>
      </p:sp>
      <p:sp>
        <p:nvSpPr>
          <p:cNvPr id="44" name="TextBox 43"/>
          <p:cNvSpPr txBox="1"/>
          <p:nvPr/>
        </p:nvSpPr>
        <p:spPr>
          <a:xfrm>
            <a:off x="4099560" y="5349240"/>
            <a:ext cx="29718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315E9C"/>
                </a:solidFill>
                <a:latin typeface="DejaVu Sans"/>
              </a:rPr>
              <a:t>AtomStorage</a:t>
            </a:r>
          </a:p>
        </p:txBody>
      </p:sp>
      <p:sp>
        <p:nvSpPr>
          <p:cNvPr id="45" name="Rounded Rectangle 44"/>
          <p:cNvSpPr/>
          <p:nvPr/>
        </p:nvSpPr>
        <p:spPr>
          <a:xfrm>
            <a:off x="7680959" y="5181600"/>
            <a:ext cx="3307079" cy="609600"/>
          </a:xfrm>
          <a:prstGeom prst="roundRect">
            <a:avLst>
              <a:gd name="adj" fmla="val 16250"/>
            </a:avLst>
          </a:prstGeom>
          <a:solidFill>
            <a:srgbClr val="FFFFFF"/>
          </a:solidFill>
          <a:ln w="7620">
            <a:solidFill>
              <a:srgbClr val="007C78"/>
            </a:solidFill>
          </a:ln>
          <a:effectLst/>
        </p:spPr>
        <p:txBody>
          <a:bodyPr rtlCol="0" anchor="ctr"/>
          <a:lstStyle/>
          <a:p>
            <a:pPr algn="ctr"/>
          </a:p>
        </p:txBody>
      </p:sp>
      <p:sp>
        <p:nvSpPr>
          <p:cNvPr id="46" name="TextBox 45"/>
          <p:cNvSpPr txBox="1"/>
          <p:nvPr/>
        </p:nvSpPr>
        <p:spPr>
          <a:xfrm>
            <a:off x="7848600" y="5349240"/>
            <a:ext cx="29718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007C78"/>
                </a:solidFill>
                <a:latin typeface="DejaVu Sans"/>
              </a:rPr>
              <a:t>DA storage</a:t>
            </a:r>
          </a:p>
        </p:txBody>
      </p:sp>
      <p:cxnSp>
        <p:nvCxnSpPr>
          <p:cNvPr id="47" name="Connector 46"/>
          <p:cNvCxnSpPr/>
          <p:nvPr/>
        </p:nvCxnSpPr>
        <p:spPr>
          <a:xfrm>
            <a:off x="3032760" y="5486400"/>
            <a:ext cx="899159" cy="0"/>
          </a:xfrm>
          <a:prstGeom prst="line">
            <a:avLst/>
          </a:prstGeom>
          <a:ln w="15240">
            <a:solidFill>
              <a:srgbClr val="7458A2"/>
            </a:solidFill>
            <a:prstDash val="dash"/>
          </a:ln>
          <a:effectLst/>
        </p:spPr>
      </p:cxnSp>
      <p:sp>
        <p:nvSpPr>
          <p:cNvPr id="48" name="Freeform 47"/>
          <p:cNvSpPr/>
          <p:nvPr/>
        </p:nvSpPr>
        <p:spPr>
          <a:xfrm>
            <a:off x="3832860" y="5448300"/>
            <a:ext cx="99060" cy="76200"/>
          </a:xfrm>
          <a:custGeom>
            <a:avLst/>
            <a:gdLst/>
            <a:ahLst/>
            <a:cxnLst/>
            <a:rect l="l" t="t" r="r" b="b"/>
            <a:pathLst>
              <a:path w="13" h="10">
                <a:moveTo>
                  <a:pt x="13" y="5"/>
                </a:moveTo>
                <a:lnTo>
                  <a:pt x="0" y="0"/>
                </a:lnTo>
                <a:lnTo>
                  <a:pt x="0" y="10"/>
                </a:lnTo>
                <a:close/>
              </a:path>
            </a:pathLst>
          </a:custGeom>
          <a:solidFill>
            <a:srgbClr val="7458A2"/>
          </a:solidFill>
          <a:ln>
            <a:noFill/>
          </a:ln>
          <a:effectLst/>
        </p:spPr>
        <p:txBody>
          <a:bodyPr rtlCol="0" anchor="ctr"/>
          <a:lstStyle/>
          <a:p>
            <a:pPr algn="ctr"/>
          </a:p>
        </p:txBody>
      </p:sp>
      <p:sp>
        <p:nvSpPr>
          <p:cNvPr id="49" name="TextBox 48"/>
          <p:cNvSpPr txBox="1"/>
          <p:nvPr/>
        </p:nvSpPr>
        <p:spPr>
          <a:xfrm>
            <a:off x="3154679" y="5189220"/>
            <a:ext cx="74676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0">
                <a:solidFill>
                  <a:srgbClr val="7458A2"/>
                </a:solidFill>
                <a:latin typeface="DejaVu Sans"/>
              </a:rPr>
              <a:t>create</a:t>
            </a:r>
          </a:p>
        </p:txBody>
      </p:sp>
      <p:cxnSp>
        <p:nvCxnSpPr>
          <p:cNvPr id="50" name="Connector 49"/>
          <p:cNvCxnSpPr/>
          <p:nvPr/>
        </p:nvCxnSpPr>
        <p:spPr>
          <a:xfrm>
            <a:off x="7239000" y="5486400"/>
            <a:ext cx="441959" cy="0"/>
          </a:xfrm>
          <a:prstGeom prst="line">
            <a:avLst/>
          </a:prstGeom>
          <a:ln w="15240">
            <a:solidFill>
              <a:srgbClr val="007C78"/>
            </a:solidFill>
          </a:ln>
          <a:effectLst/>
        </p:spPr>
      </p:cxnSp>
      <p:sp>
        <p:nvSpPr>
          <p:cNvPr id="51" name="Freeform 50"/>
          <p:cNvSpPr/>
          <p:nvPr/>
        </p:nvSpPr>
        <p:spPr>
          <a:xfrm>
            <a:off x="7581900" y="544830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52" name="TextBox 51"/>
          <p:cNvSpPr txBox="1"/>
          <p:nvPr/>
        </p:nvSpPr>
        <p:spPr>
          <a:xfrm>
            <a:off x="7330439" y="5189220"/>
            <a:ext cx="723900"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0">
                <a:solidFill>
                  <a:srgbClr val="007C78"/>
                </a:solidFill>
                <a:latin typeface="DejaVu Sans"/>
              </a:rPr>
              <a:t>put/get</a:t>
            </a:r>
          </a:p>
        </p:txBody>
      </p:sp>
      <p:cxnSp>
        <p:nvCxnSpPr>
          <p:cNvPr id="53" name="Connector 52"/>
          <p:cNvCxnSpPr/>
          <p:nvPr/>
        </p:nvCxnSpPr>
        <p:spPr>
          <a:xfrm>
            <a:off x="1790700" y="4335780"/>
            <a:ext cx="0" cy="609600"/>
          </a:xfrm>
          <a:prstGeom prst="line">
            <a:avLst/>
          </a:prstGeom>
          <a:ln w="15240">
            <a:solidFill>
              <a:srgbClr val="7458A2"/>
            </a:solidFill>
            <a:prstDash val="dash"/>
          </a:ln>
          <a:effectLst/>
        </p:spPr>
      </p:cxnSp>
      <p:cxnSp>
        <p:nvCxnSpPr>
          <p:cNvPr id="54" name="Connector 53"/>
          <p:cNvCxnSpPr/>
          <p:nvPr/>
        </p:nvCxnSpPr>
        <p:spPr>
          <a:xfrm>
            <a:off x="1790700" y="4945380"/>
            <a:ext cx="3162300" cy="0"/>
          </a:xfrm>
          <a:prstGeom prst="line">
            <a:avLst/>
          </a:prstGeom>
          <a:ln w="15240">
            <a:solidFill>
              <a:srgbClr val="7458A2"/>
            </a:solidFill>
            <a:prstDash val="dash"/>
          </a:ln>
          <a:effectLst/>
        </p:spPr>
      </p:cxnSp>
      <p:cxnSp>
        <p:nvCxnSpPr>
          <p:cNvPr id="55" name="Connector 54"/>
          <p:cNvCxnSpPr/>
          <p:nvPr/>
        </p:nvCxnSpPr>
        <p:spPr>
          <a:xfrm>
            <a:off x="4953000" y="4945380"/>
            <a:ext cx="0" cy="236220"/>
          </a:xfrm>
          <a:prstGeom prst="line">
            <a:avLst/>
          </a:prstGeom>
          <a:ln w="15240">
            <a:solidFill>
              <a:srgbClr val="7458A2"/>
            </a:solidFill>
            <a:prstDash val="dash"/>
          </a:ln>
          <a:effectLst/>
        </p:spPr>
      </p:cxnSp>
      <p:sp>
        <p:nvSpPr>
          <p:cNvPr id="56" name="Freeform 55"/>
          <p:cNvSpPr/>
          <p:nvPr/>
        </p:nvSpPr>
        <p:spPr>
          <a:xfrm>
            <a:off x="4914900" y="5082540"/>
            <a:ext cx="76200" cy="99060"/>
          </a:xfrm>
          <a:custGeom>
            <a:avLst/>
            <a:gdLst/>
            <a:ahLst/>
            <a:cxnLst/>
            <a:rect l="l" t="t" r="r" b="b"/>
            <a:pathLst>
              <a:path w="10" h="13">
                <a:moveTo>
                  <a:pt x="5" y="13"/>
                </a:moveTo>
                <a:lnTo>
                  <a:pt x="10" y="0"/>
                </a:lnTo>
                <a:lnTo>
                  <a:pt x="0" y="0"/>
                </a:lnTo>
                <a:close/>
              </a:path>
            </a:pathLst>
          </a:custGeom>
          <a:solidFill>
            <a:srgbClr val="7458A2"/>
          </a:solidFill>
          <a:ln>
            <a:noFill/>
          </a:ln>
          <a:effectLst/>
        </p:spPr>
        <p:txBody>
          <a:bodyPr rtlCol="0" anchor="ctr"/>
          <a:lstStyle/>
          <a:p>
            <a:pPr algn="ctr"/>
          </a:p>
        </p:txBody>
      </p:sp>
      <p:sp>
        <p:nvSpPr>
          <p:cNvPr id="57" name="TextBox 56"/>
          <p:cNvSpPr txBox="1"/>
          <p:nvPr/>
        </p:nvSpPr>
        <p:spPr>
          <a:xfrm>
            <a:off x="5539740" y="4869180"/>
            <a:ext cx="52959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536775"/>
                </a:solidFill>
                <a:latin typeface="DejaVu Sans"/>
              </a:rPr>
              <a:t>Search reads records/events; revision reads evidence snapshots.</a:t>
            </a:r>
          </a:p>
        </p:txBody>
      </p:sp>
      <p:cxnSp>
        <p:nvCxnSpPr>
          <p:cNvPr id="58" name="Connector 57"/>
          <p:cNvCxnSpPr/>
          <p:nvPr/>
        </p:nvCxnSpPr>
        <p:spPr>
          <a:xfrm>
            <a:off x="548640" y="6393180"/>
            <a:ext cx="11094720" cy="0"/>
          </a:xfrm>
          <a:prstGeom prst="line">
            <a:avLst/>
          </a:prstGeom>
          <a:ln w="7620">
            <a:solidFill>
              <a:srgbClr val="C9D2D4"/>
            </a:solidFill>
          </a:ln>
          <a:effectLst/>
        </p:spPr>
      </p:cxnSp>
      <p:sp>
        <p:nvSpPr>
          <p:cNvPr id="59" name="TextBox 58"/>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M1.2 / ports.py + contracts.md</a:t>
            </a:r>
          </a:p>
        </p:txBody>
      </p:sp>
      <p:sp>
        <p:nvSpPr>
          <p:cNvPr id="60" name="TextBox 59"/>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07 / 33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01 / DEPENDENCY MAP · RUNTIME CONTROL</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Function dependencies: the real native path</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Solid arrows = exercised calls. Every provider effect crosses an existing validated interface.</a:t>
            </a:r>
          </a:p>
        </p:txBody>
      </p:sp>
      <p:sp>
        <p:nvSpPr>
          <p:cNvPr id="5" name="Rounded Rectangle 4"/>
          <p:cNvSpPr/>
          <p:nvPr/>
        </p:nvSpPr>
        <p:spPr>
          <a:xfrm>
            <a:off x="548640" y="1874520"/>
            <a:ext cx="2514600" cy="990600"/>
          </a:xfrm>
          <a:prstGeom prst="roundRect">
            <a:avLst>
              <a:gd name="adj" fmla="val 10000"/>
            </a:avLst>
          </a:prstGeom>
          <a:solidFill>
            <a:srgbClr val="DCEFE8"/>
          </a:solidFill>
          <a:ln w="7620">
            <a:solidFill>
              <a:srgbClr val="007C78"/>
            </a:solidFill>
          </a:ln>
          <a:effectLst/>
        </p:spPr>
        <p:txBody>
          <a:bodyPr rtlCol="0" anchor="ctr"/>
          <a:lstStyle/>
          <a:p>
            <a:pPr algn="ctr"/>
          </a:p>
        </p:txBody>
      </p:sp>
      <p:sp>
        <p:nvSpPr>
          <p:cNvPr id="6" name="TextBox 5"/>
          <p:cNvSpPr txBox="1"/>
          <p:nvPr/>
        </p:nvSpPr>
        <p:spPr>
          <a:xfrm>
            <a:off x="716280" y="2042159"/>
            <a:ext cx="21793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007C78"/>
                </a:solidFill>
                <a:latin typeface="DejaVu Sans"/>
              </a:rPr>
              <a:t>Native Hive</a:t>
            </a:r>
          </a:p>
        </p:txBody>
      </p:sp>
      <p:sp>
        <p:nvSpPr>
          <p:cNvPr id="7" name="TextBox 6"/>
          <p:cNvSpPr txBox="1"/>
          <p:nvPr/>
        </p:nvSpPr>
        <p:spPr>
          <a:xfrm>
            <a:off x="716280" y="2391460"/>
            <a:ext cx="21793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POST /programs/…/act</a:t>
            </a:r>
          </a:p>
        </p:txBody>
      </p:sp>
      <p:sp>
        <p:nvSpPr>
          <p:cNvPr id="8" name="TextBox 7"/>
          <p:cNvSpPr txBox="1"/>
          <p:nvPr/>
        </p:nvSpPr>
        <p:spPr>
          <a:xfrm>
            <a:off x="716280" y="2596286"/>
            <a:ext cx="21793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Trusted actor + command</a:t>
            </a:r>
          </a:p>
        </p:txBody>
      </p:sp>
      <p:sp>
        <p:nvSpPr>
          <p:cNvPr id="9" name="Rounded Rectangle 8"/>
          <p:cNvSpPr/>
          <p:nvPr/>
        </p:nvSpPr>
        <p:spPr>
          <a:xfrm>
            <a:off x="4076700" y="1874520"/>
            <a:ext cx="3276600" cy="990600"/>
          </a:xfrm>
          <a:prstGeom prst="roundRect">
            <a:avLst>
              <a:gd name="adj" fmla="val 10000"/>
            </a:avLst>
          </a:prstGeom>
          <a:solidFill>
            <a:srgbClr val="E4EBF5"/>
          </a:solidFill>
          <a:ln w="7620">
            <a:solidFill>
              <a:srgbClr val="315E9C"/>
            </a:solidFill>
          </a:ln>
          <a:effectLst/>
        </p:spPr>
        <p:txBody>
          <a:bodyPr rtlCol="0" anchor="ctr"/>
          <a:lstStyle/>
          <a:p>
            <a:pPr algn="ctr"/>
          </a:p>
        </p:txBody>
      </p:sp>
      <p:sp>
        <p:nvSpPr>
          <p:cNvPr id="10" name="TextBox 9"/>
          <p:cNvSpPr txBox="1"/>
          <p:nvPr/>
        </p:nvSpPr>
        <p:spPr>
          <a:xfrm>
            <a:off x="4244340" y="2042159"/>
            <a:ext cx="29413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315E9C"/>
                </a:solidFill>
                <a:latin typeface="DejaVu Sans"/>
              </a:rPr>
              <a:t>Fusion inspect plugin</a:t>
            </a:r>
          </a:p>
        </p:txBody>
      </p:sp>
      <p:sp>
        <p:nvSpPr>
          <p:cNvPr id="11" name="TextBox 10"/>
          <p:cNvSpPr txBox="1"/>
          <p:nvPr/>
        </p:nvSpPr>
        <p:spPr>
          <a:xfrm>
            <a:off x="4244340" y="2391460"/>
            <a:ext cx="29413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Owns caller receipts</a:t>
            </a:r>
          </a:p>
        </p:txBody>
      </p:sp>
      <p:sp>
        <p:nvSpPr>
          <p:cNvPr id="12" name="TextBox 11"/>
          <p:cNvSpPr txBox="1"/>
          <p:nvPr/>
        </p:nvSpPr>
        <p:spPr>
          <a:xfrm>
            <a:off x="4244340" y="2596286"/>
            <a:ext cx="29413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Uses selected stdio binding</a:t>
            </a:r>
          </a:p>
        </p:txBody>
      </p:sp>
      <p:sp>
        <p:nvSpPr>
          <p:cNvPr id="13" name="Rounded Rectangle 12"/>
          <p:cNvSpPr/>
          <p:nvPr/>
        </p:nvSpPr>
        <p:spPr>
          <a:xfrm>
            <a:off x="8229600" y="1874520"/>
            <a:ext cx="3413760" cy="990600"/>
          </a:xfrm>
          <a:prstGeom prst="roundRect">
            <a:avLst>
              <a:gd name="adj" fmla="val 10000"/>
            </a:avLst>
          </a:prstGeom>
          <a:solidFill>
            <a:srgbClr val="FFFFFF"/>
          </a:solidFill>
          <a:ln w="7620">
            <a:solidFill>
              <a:srgbClr val="315E9C"/>
            </a:solidFill>
          </a:ln>
          <a:effectLst/>
        </p:spPr>
        <p:txBody>
          <a:bodyPr rtlCol="0" anchor="ctr"/>
          <a:lstStyle/>
          <a:p>
            <a:pPr algn="ctr"/>
          </a:p>
        </p:txBody>
      </p:sp>
      <p:sp>
        <p:nvSpPr>
          <p:cNvPr id="14" name="TextBox 13"/>
          <p:cNvSpPr txBox="1"/>
          <p:nvPr/>
        </p:nvSpPr>
        <p:spPr>
          <a:xfrm>
            <a:off x="8397240" y="2042159"/>
            <a:ext cx="3078479"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315E9C"/>
                </a:solidFill>
                <a:latin typeface="DejaVu Sans"/>
              </a:rPr>
              <a:t>Registry + resolver</a:t>
            </a:r>
          </a:p>
        </p:txBody>
      </p:sp>
      <p:sp>
        <p:nvSpPr>
          <p:cNvPr id="15" name="TextBox 14"/>
          <p:cNvSpPr txBox="1"/>
          <p:nvPr/>
        </p:nvSpPr>
        <p:spPr>
          <a:xfrm>
            <a:off x="8397240" y="2391460"/>
            <a:ext cx="307847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describe → select</a:t>
            </a:r>
          </a:p>
        </p:txBody>
      </p:sp>
      <p:sp>
        <p:nvSpPr>
          <p:cNvPr id="16" name="TextBox 15"/>
          <p:cNvSpPr txBox="1"/>
          <p:nvPr/>
        </p:nvSpPr>
        <p:spPr>
          <a:xfrm>
            <a:off x="8397240" y="2596286"/>
            <a:ext cx="307847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Pin full descriptor tokens</a:t>
            </a:r>
          </a:p>
        </p:txBody>
      </p:sp>
      <p:cxnSp>
        <p:nvCxnSpPr>
          <p:cNvPr id="17" name="Connector 16"/>
          <p:cNvCxnSpPr/>
          <p:nvPr/>
        </p:nvCxnSpPr>
        <p:spPr>
          <a:xfrm>
            <a:off x="3063240" y="2377440"/>
            <a:ext cx="1013460" cy="0"/>
          </a:xfrm>
          <a:prstGeom prst="line">
            <a:avLst/>
          </a:prstGeom>
          <a:ln w="15240">
            <a:solidFill>
              <a:srgbClr val="007C78"/>
            </a:solidFill>
          </a:ln>
          <a:effectLst/>
        </p:spPr>
      </p:cxnSp>
      <p:sp>
        <p:nvSpPr>
          <p:cNvPr id="18" name="Freeform 17"/>
          <p:cNvSpPr/>
          <p:nvPr/>
        </p:nvSpPr>
        <p:spPr>
          <a:xfrm>
            <a:off x="3977640" y="233934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cxnSp>
        <p:nvCxnSpPr>
          <p:cNvPr id="19" name="Connector 18"/>
          <p:cNvCxnSpPr/>
          <p:nvPr/>
        </p:nvCxnSpPr>
        <p:spPr>
          <a:xfrm>
            <a:off x="7353300" y="2377440"/>
            <a:ext cx="876300" cy="0"/>
          </a:xfrm>
          <a:prstGeom prst="line">
            <a:avLst/>
          </a:prstGeom>
          <a:ln w="15240">
            <a:solidFill>
              <a:srgbClr val="315E9C"/>
            </a:solidFill>
          </a:ln>
          <a:effectLst/>
        </p:spPr>
      </p:cxnSp>
      <p:sp>
        <p:nvSpPr>
          <p:cNvPr id="20" name="Freeform 19"/>
          <p:cNvSpPr/>
          <p:nvPr/>
        </p:nvSpPr>
        <p:spPr>
          <a:xfrm>
            <a:off x="8130540" y="233934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21" name="Rounded Rectangle 20"/>
          <p:cNvSpPr/>
          <p:nvPr/>
        </p:nvSpPr>
        <p:spPr>
          <a:xfrm>
            <a:off x="4076700" y="3467100"/>
            <a:ext cx="3276600" cy="914400"/>
          </a:xfrm>
          <a:prstGeom prst="roundRect">
            <a:avLst>
              <a:gd name="adj" fmla="val 10833"/>
            </a:avLst>
          </a:prstGeom>
          <a:solidFill>
            <a:srgbClr val="E4EBF5"/>
          </a:solidFill>
          <a:ln w="7620">
            <a:solidFill>
              <a:srgbClr val="315E9C"/>
            </a:solidFill>
          </a:ln>
          <a:effectLst/>
        </p:spPr>
        <p:txBody>
          <a:bodyPr rtlCol="0" anchor="ctr"/>
          <a:lstStyle/>
          <a:p>
            <a:pPr algn="ctr"/>
          </a:p>
        </p:txBody>
      </p:sp>
      <p:sp>
        <p:nvSpPr>
          <p:cNvPr id="22" name="TextBox 21"/>
          <p:cNvSpPr txBox="1"/>
          <p:nvPr/>
        </p:nvSpPr>
        <p:spPr>
          <a:xfrm>
            <a:off x="4244340" y="3634740"/>
            <a:ext cx="2941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315E9C"/>
                </a:solidFill>
                <a:latin typeface="DejaVu Sans"/>
              </a:rPr>
              <a:t>Validated binding + policy</a:t>
            </a:r>
          </a:p>
        </p:txBody>
      </p:sp>
      <p:sp>
        <p:nvSpPr>
          <p:cNvPr id="23" name="TextBox 22"/>
          <p:cNvSpPr txBox="1"/>
          <p:nvPr/>
        </p:nvSpPr>
        <p:spPr>
          <a:xfrm>
            <a:off x="4244340" y="3954779"/>
            <a:ext cx="29413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Wire/profile checks · live authority</a:t>
            </a:r>
          </a:p>
        </p:txBody>
      </p:sp>
      <p:cxnSp>
        <p:nvCxnSpPr>
          <p:cNvPr id="24" name="Connector 23"/>
          <p:cNvCxnSpPr/>
          <p:nvPr/>
        </p:nvCxnSpPr>
        <p:spPr>
          <a:xfrm>
            <a:off x="5715000" y="2865120"/>
            <a:ext cx="0" cy="601980"/>
          </a:xfrm>
          <a:prstGeom prst="line">
            <a:avLst/>
          </a:prstGeom>
          <a:ln w="15240">
            <a:solidFill>
              <a:srgbClr val="315E9C"/>
            </a:solidFill>
          </a:ln>
          <a:effectLst/>
        </p:spPr>
      </p:cxnSp>
      <p:sp>
        <p:nvSpPr>
          <p:cNvPr id="25" name="Freeform 24"/>
          <p:cNvSpPr/>
          <p:nvPr/>
        </p:nvSpPr>
        <p:spPr>
          <a:xfrm>
            <a:off x="5676900" y="3368040"/>
            <a:ext cx="76200" cy="99060"/>
          </a:xfrm>
          <a:custGeom>
            <a:avLst/>
            <a:gdLst/>
            <a:ahLst/>
            <a:cxnLst/>
            <a:rect l="l" t="t" r="r" b="b"/>
            <a:pathLst>
              <a:path w="10" h="13">
                <a:moveTo>
                  <a:pt x="5" y="13"/>
                </a:moveTo>
                <a:lnTo>
                  <a:pt x="10" y="0"/>
                </a:lnTo>
                <a:lnTo>
                  <a:pt x="0" y="0"/>
                </a:lnTo>
                <a:close/>
              </a:path>
            </a:pathLst>
          </a:custGeom>
          <a:solidFill>
            <a:srgbClr val="315E9C"/>
          </a:solidFill>
          <a:ln>
            <a:noFill/>
          </a:ln>
          <a:effectLst/>
        </p:spPr>
        <p:txBody>
          <a:bodyPr rtlCol="0" anchor="ctr"/>
          <a:lstStyle/>
          <a:p>
            <a:pPr algn="ctr"/>
          </a:p>
        </p:txBody>
      </p:sp>
      <p:sp>
        <p:nvSpPr>
          <p:cNvPr id="26" name="Rounded Rectangle 25"/>
          <p:cNvSpPr/>
          <p:nvPr/>
        </p:nvSpPr>
        <p:spPr>
          <a:xfrm>
            <a:off x="548640" y="3467100"/>
            <a:ext cx="2514600" cy="914400"/>
          </a:xfrm>
          <a:prstGeom prst="roundRect">
            <a:avLst>
              <a:gd name="adj" fmla="val 10833"/>
            </a:avLst>
          </a:prstGeom>
          <a:solidFill>
            <a:srgbClr val="FFFFFF"/>
          </a:solidFill>
          <a:ln w="7620">
            <a:solidFill>
              <a:srgbClr val="315E9C"/>
            </a:solidFill>
          </a:ln>
          <a:effectLst/>
        </p:spPr>
        <p:txBody>
          <a:bodyPr rtlCol="0" anchor="ctr"/>
          <a:lstStyle/>
          <a:p>
            <a:pPr algn="ctr"/>
          </a:p>
        </p:txBody>
      </p:sp>
      <p:sp>
        <p:nvSpPr>
          <p:cNvPr id="27" name="TextBox 26"/>
          <p:cNvSpPr txBox="1"/>
          <p:nvPr/>
        </p:nvSpPr>
        <p:spPr>
          <a:xfrm>
            <a:off x="716280" y="3634740"/>
            <a:ext cx="21793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Execution</a:t>
            </a:r>
          </a:p>
        </p:txBody>
      </p:sp>
      <p:sp>
        <p:nvSpPr>
          <p:cNvPr id="28" name="TextBox 27"/>
          <p:cNvSpPr txBox="1"/>
          <p:nvPr/>
        </p:nvSpPr>
        <p:spPr>
          <a:xfrm>
            <a:off x="716280" y="3993794"/>
            <a:ext cx="217932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submit · status · result</a:t>
            </a:r>
          </a:p>
        </p:txBody>
      </p:sp>
      <p:sp>
        <p:nvSpPr>
          <p:cNvPr id="29" name="Rounded Rectangle 28"/>
          <p:cNvSpPr/>
          <p:nvPr/>
        </p:nvSpPr>
        <p:spPr>
          <a:xfrm>
            <a:off x="8229600" y="3467100"/>
            <a:ext cx="3413760" cy="914400"/>
          </a:xfrm>
          <a:prstGeom prst="roundRect">
            <a:avLst>
              <a:gd name="adj" fmla="val 10833"/>
            </a:avLst>
          </a:prstGeom>
          <a:solidFill>
            <a:srgbClr val="FFFFFF"/>
          </a:solidFill>
          <a:ln w="7620">
            <a:solidFill>
              <a:srgbClr val="315E9C"/>
            </a:solidFill>
          </a:ln>
          <a:effectLst/>
        </p:spPr>
        <p:txBody>
          <a:bodyPr rtlCol="0" anchor="ctr"/>
          <a:lstStyle/>
          <a:p>
            <a:pPr algn="ctr"/>
          </a:p>
        </p:txBody>
      </p:sp>
      <p:sp>
        <p:nvSpPr>
          <p:cNvPr id="30" name="TextBox 29"/>
          <p:cNvSpPr txBox="1"/>
          <p:nvPr/>
        </p:nvSpPr>
        <p:spPr>
          <a:xfrm>
            <a:off x="8397240" y="3634740"/>
            <a:ext cx="3078479"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AtomStorage</a:t>
            </a:r>
          </a:p>
        </p:txBody>
      </p:sp>
      <p:sp>
        <p:nvSpPr>
          <p:cNvPr id="31" name="TextBox 30"/>
          <p:cNvSpPr txBox="1"/>
          <p:nvPr/>
        </p:nvSpPr>
        <p:spPr>
          <a:xfrm>
            <a:off x="8397240" y="3993794"/>
            <a:ext cx="307847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create · get · getMany · availability</a:t>
            </a:r>
          </a:p>
        </p:txBody>
      </p:sp>
      <p:cxnSp>
        <p:nvCxnSpPr>
          <p:cNvPr id="32" name="Connector 31"/>
          <p:cNvCxnSpPr/>
          <p:nvPr/>
        </p:nvCxnSpPr>
        <p:spPr>
          <a:xfrm flipH="1">
            <a:off x="3063240" y="3916679"/>
            <a:ext cx="1013460" cy="0"/>
          </a:xfrm>
          <a:prstGeom prst="line">
            <a:avLst/>
          </a:prstGeom>
          <a:ln w="15240">
            <a:solidFill>
              <a:srgbClr val="315E9C"/>
            </a:solidFill>
          </a:ln>
          <a:effectLst/>
        </p:spPr>
      </p:cxnSp>
      <p:sp>
        <p:nvSpPr>
          <p:cNvPr id="33" name="Freeform 32"/>
          <p:cNvSpPr/>
          <p:nvPr/>
        </p:nvSpPr>
        <p:spPr>
          <a:xfrm>
            <a:off x="3063240" y="3878580"/>
            <a:ext cx="99060" cy="76200"/>
          </a:xfrm>
          <a:custGeom>
            <a:avLst/>
            <a:gdLst/>
            <a:ahLst/>
            <a:cxnLst/>
            <a:rect l="l" t="t" r="r" b="b"/>
            <a:pathLst>
              <a:path w="13" h="10">
                <a:moveTo>
                  <a:pt x="0" y="5"/>
                </a:moveTo>
                <a:lnTo>
                  <a:pt x="13" y="10"/>
                </a:lnTo>
                <a:lnTo>
                  <a:pt x="13" y="0"/>
                </a:lnTo>
                <a:close/>
              </a:path>
            </a:pathLst>
          </a:custGeom>
          <a:solidFill>
            <a:srgbClr val="315E9C"/>
          </a:solidFill>
          <a:ln>
            <a:noFill/>
          </a:ln>
          <a:effectLst/>
        </p:spPr>
        <p:txBody>
          <a:bodyPr rtlCol="0" anchor="ctr"/>
          <a:lstStyle/>
          <a:p>
            <a:pPr algn="ctr"/>
          </a:p>
        </p:txBody>
      </p:sp>
      <p:cxnSp>
        <p:nvCxnSpPr>
          <p:cNvPr id="34" name="Connector 33"/>
          <p:cNvCxnSpPr/>
          <p:nvPr/>
        </p:nvCxnSpPr>
        <p:spPr>
          <a:xfrm>
            <a:off x="7353300" y="3916679"/>
            <a:ext cx="876300" cy="0"/>
          </a:xfrm>
          <a:prstGeom prst="line">
            <a:avLst/>
          </a:prstGeom>
          <a:ln w="15240">
            <a:solidFill>
              <a:srgbClr val="315E9C"/>
            </a:solidFill>
          </a:ln>
          <a:effectLst/>
        </p:spPr>
      </p:cxnSp>
      <p:sp>
        <p:nvSpPr>
          <p:cNvPr id="35" name="Freeform 34"/>
          <p:cNvSpPr/>
          <p:nvPr/>
        </p:nvSpPr>
        <p:spPr>
          <a:xfrm>
            <a:off x="8130540" y="387858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cxnSp>
        <p:nvCxnSpPr>
          <p:cNvPr id="36" name="Connector 35"/>
          <p:cNvCxnSpPr/>
          <p:nvPr/>
        </p:nvCxnSpPr>
        <p:spPr>
          <a:xfrm flipV="1">
            <a:off x="1805939" y="3154679"/>
            <a:ext cx="0" cy="312421"/>
          </a:xfrm>
          <a:prstGeom prst="line">
            <a:avLst/>
          </a:prstGeom>
          <a:ln w="15240">
            <a:solidFill>
              <a:srgbClr val="315E9C"/>
            </a:solidFill>
          </a:ln>
          <a:effectLst/>
        </p:spPr>
      </p:cxnSp>
      <p:cxnSp>
        <p:nvCxnSpPr>
          <p:cNvPr id="37" name="Connector 36"/>
          <p:cNvCxnSpPr/>
          <p:nvPr/>
        </p:nvCxnSpPr>
        <p:spPr>
          <a:xfrm>
            <a:off x="1805939" y="3154679"/>
            <a:ext cx="8130541" cy="0"/>
          </a:xfrm>
          <a:prstGeom prst="line">
            <a:avLst/>
          </a:prstGeom>
          <a:ln w="15240">
            <a:solidFill>
              <a:srgbClr val="315E9C"/>
            </a:solidFill>
          </a:ln>
          <a:effectLst/>
        </p:spPr>
      </p:cxnSp>
      <p:cxnSp>
        <p:nvCxnSpPr>
          <p:cNvPr id="38" name="Connector 37"/>
          <p:cNvCxnSpPr/>
          <p:nvPr/>
        </p:nvCxnSpPr>
        <p:spPr>
          <a:xfrm>
            <a:off x="9936480" y="3154679"/>
            <a:ext cx="0" cy="312421"/>
          </a:xfrm>
          <a:prstGeom prst="line">
            <a:avLst/>
          </a:prstGeom>
          <a:ln w="15240">
            <a:solidFill>
              <a:srgbClr val="315E9C"/>
            </a:solidFill>
          </a:ln>
          <a:effectLst/>
        </p:spPr>
      </p:cxnSp>
      <p:sp>
        <p:nvSpPr>
          <p:cNvPr id="39" name="Freeform 38"/>
          <p:cNvSpPr/>
          <p:nvPr/>
        </p:nvSpPr>
        <p:spPr>
          <a:xfrm>
            <a:off x="9898380" y="3368040"/>
            <a:ext cx="76200" cy="99060"/>
          </a:xfrm>
          <a:custGeom>
            <a:avLst/>
            <a:gdLst/>
            <a:ahLst/>
            <a:cxnLst/>
            <a:rect l="l" t="t" r="r" b="b"/>
            <a:pathLst>
              <a:path w="10" h="13">
                <a:moveTo>
                  <a:pt x="5" y="13"/>
                </a:moveTo>
                <a:lnTo>
                  <a:pt x="10" y="0"/>
                </a:lnTo>
                <a:lnTo>
                  <a:pt x="0" y="0"/>
                </a:lnTo>
                <a:close/>
              </a:path>
            </a:pathLst>
          </a:custGeom>
          <a:solidFill>
            <a:srgbClr val="315E9C"/>
          </a:solidFill>
          <a:ln>
            <a:noFill/>
          </a:ln>
          <a:effectLst/>
        </p:spPr>
        <p:txBody>
          <a:bodyPr rtlCol="0" anchor="ctr"/>
          <a:lstStyle/>
          <a:p>
            <a:pPr algn="ctr"/>
          </a:p>
        </p:txBody>
      </p:sp>
      <p:sp>
        <p:nvSpPr>
          <p:cNvPr id="40" name="TextBox 39"/>
          <p:cNvSpPr txBox="1"/>
          <p:nvPr/>
        </p:nvSpPr>
        <p:spPr>
          <a:xfrm>
            <a:off x="6096000" y="2941320"/>
            <a:ext cx="53340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315E9C"/>
                </a:solidFill>
                <a:latin typeface="DejaVu Sans"/>
              </a:rPr>
              <a:t>Submit → get(input) · worker → get / create</a:t>
            </a:r>
          </a:p>
        </p:txBody>
      </p:sp>
      <p:sp>
        <p:nvSpPr>
          <p:cNvPr id="41" name="Rounded Rectangle 40"/>
          <p:cNvSpPr/>
          <p:nvPr/>
        </p:nvSpPr>
        <p:spPr>
          <a:xfrm>
            <a:off x="4076700" y="5158740"/>
            <a:ext cx="3276600" cy="800100"/>
          </a:xfrm>
          <a:prstGeom prst="roundRect">
            <a:avLst>
              <a:gd name="adj" fmla="val 12380"/>
            </a:avLst>
          </a:prstGeom>
          <a:solidFill>
            <a:srgbClr val="FFFFFF"/>
          </a:solidFill>
          <a:ln w="7620">
            <a:solidFill>
              <a:srgbClr val="315E9C"/>
            </a:solidFill>
          </a:ln>
          <a:effectLst/>
        </p:spPr>
        <p:txBody>
          <a:bodyPr rtlCol="0" anchor="ctr"/>
          <a:lstStyle/>
          <a:p>
            <a:pPr algn="ctr"/>
          </a:p>
        </p:txBody>
      </p:sp>
      <p:sp>
        <p:nvSpPr>
          <p:cNvPr id="42" name="TextBox 41"/>
          <p:cNvSpPr txBox="1"/>
          <p:nvPr/>
        </p:nvSpPr>
        <p:spPr>
          <a:xfrm>
            <a:off x="4244340" y="5326380"/>
            <a:ext cx="29413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315E9C"/>
                </a:solidFill>
                <a:latin typeface="DejaVu Sans"/>
              </a:rPr>
              <a:t>Messaging</a:t>
            </a:r>
          </a:p>
        </p:txBody>
      </p:sp>
      <p:sp>
        <p:nvSpPr>
          <p:cNvPr id="43" name="TextBox 42"/>
          <p:cNvSpPr txBox="1"/>
          <p:nvPr/>
        </p:nvSpPr>
        <p:spPr>
          <a:xfrm>
            <a:off x="4244340" y="5675680"/>
            <a:ext cx="294132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send · poll · ack</a:t>
            </a:r>
          </a:p>
        </p:txBody>
      </p:sp>
      <p:cxnSp>
        <p:nvCxnSpPr>
          <p:cNvPr id="44" name="Connector 43"/>
          <p:cNvCxnSpPr/>
          <p:nvPr/>
        </p:nvCxnSpPr>
        <p:spPr>
          <a:xfrm>
            <a:off x="5715000" y="4381500"/>
            <a:ext cx="0" cy="777240"/>
          </a:xfrm>
          <a:prstGeom prst="line">
            <a:avLst/>
          </a:prstGeom>
          <a:ln w="15240">
            <a:solidFill>
              <a:srgbClr val="315E9C"/>
            </a:solidFill>
          </a:ln>
          <a:effectLst/>
        </p:spPr>
      </p:cxnSp>
      <p:sp>
        <p:nvSpPr>
          <p:cNvPr id="45" name="Freeform 44"/>
          <p:cNvSpPr/>
          <p:nvPr/>
        </p:nvSpPr>
        <p:spPr>
          <a:xfrm>
            <a:off x="5676900" y="5059680"/>
            <a:ext cx="76200" cy="99060"/>
          </a:xfrm>
          <a:custGeom>
            <a:avLst/>
            <a:gdLst/>
            <a:ahLst/>
            <a:cxnLst/>
            <a:rect l="l" t="t" r="r" b="b"/>
            <a:pathLst>
              <a:path w="10" h="13">
                <a:moveTo>
                  <a:pt x="5" y="13"/>
                </a:moveTo>
                <a:lnTo>
                  <a:pt x="10" y="0"/>
                </a:lnTo>
                <a:lnTo>
                  <a:pt x="0" y="0"/>
                </a:lnTo>
                <a:close/>
              </a:path>
            </a:pathLst>
          </a:custGeom>
          <a:solidFill>
            <a:srgbClr val="315E9C"/>
          </a:solidFill>
          <a:ln>
            <a:noFill/>
          </a:ln>
          <a:effectLst/>
        </p:spPr>
        <p:txBody>
          <a:bodyPr rtlCol="0" anchor="ctr"/>
          <a:lstStyle/>
          <a:p>
            <a:pPr algn="ctr"/>
          </a:p>
        </p:txBody>
      </p:sp>
      <p:cxnSp>
        <p:nvCxnSpPr>
          <p:cNvPr id="46" name="Connector 45"/>
          <p:cNvCxnSpPr/>
          <p:nvPr/>
        </p:nvCxnSpPr>
        <p:spPr>
          <a:xfrm>
            <a:off x="1805939" y="4381500"/>
            <a:ext cx="0" cy="1173480"/>
          </a:xfrm>
          <a:prstGeom prst="line">
            <a:avLst/>
          </a:prstGeom>
          <a:ln w="15240">
            <a:solidFill>
              <a:srgbClr val="315E9C"/>
            </a:solidFill>
          </a:ln>
          <a:effectLst/>
        </p:spPr>
      </p:cxnSp>
      <p:cxnSp>
        <p:nvCxnSpPr>
          <p:cNvPr id="47" name="Connector 46"/>
          <p:cNvCxnSpPr/>
          <p:nvPr/>
        </p:nvCxnSpPr>
        <p:spPr>
          <a:xfrm>
            <a:off x="1805939" y="5554980"/>
            <a:ext cx="2270761" cy="0"/>
          </a:xfrm>
          <a:prstGeom prst="line">
            <a:avLst/>
          </a:prstGeom>
          <a:ln w="15240">
            <a:solidFill>
              <a:srgbClr val="315E9C"/>
            </a:solidFill>
          </a:ln>
          <a:effectLst/>
        </p:spPr>
      </p:cxnSp>
      <p:sp>
        <p:nvSpPr>
          <p:cNvPr id="48" name="Freeform 47"/>
          <p:cNvSpPr/>
          <p:nvPr/>
        </p:nvSpPr>
        <p:spPr>
          <a:xfrm>
            <a:off x="3977640" y="551688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49" name="TextBox 48"/>
          <p:cNvSpPr txBox="1"/>
          <p:nvPr/>
        </p:nvSpPr>
        <p:spPr>
          <a:xfrm>
            <a:off x="2148840" y="4770120"/>
            <a:ext cx="32766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0">
                <a:solidFill>
                  <a:srgbClr val="315E9C"/>
                </a:solidFill>
                <a:latin typeface="DejaVu Sans"/>
              </a:rPr>
              <a:t>Outbox → CompletionDelivery.accept</a:t>
            </a:r>
          </a:p>
        </p:txBody>
      </p:sp>
      <p:cxnSp>
        <p:nvCxnSpPr>
          <p:cNvPr id="50" name="Connector 49"/>
          <p:cNvCxnSpPr/>
          <p:nvPr/>
        </p:nvCxnSpPr>
        <p:spPr>
          <a:xfrm>
            <a:off x="7353300" y="5554980"/>
            <a:ext cx="419100" cy="0"/>
          </a:xfrm>
          <a:prstGeom prst="line">
            <a:avLst/>
          </a:prstGeom>
          <a:ln w="15240">
            <a:solidFill>
              <a:srgbClr val="315E9C"/>
            </a:solidFill>
          </a:ln>
          <a:effectLst/>
        </p:spPr>
      </p:cxnSp>
      <p:cxnSp>
        <p:nvCxnSpPr>
          <p:cNvPr id="51" name="Connector 50"/>
          <p:cNvCxnSpPr/>
          <p:nvPr/>
        </p:nvCxnSpPr>
        <p:spPr>
          <a:xfrm flipV="1">
            <a:off x="7772400" y="4191000"/>
            <a:ext cx="0" cy="1363980"/>
          </a:xfrm>
          <a:prstGeom prst="line">
            <a:avLst/>
          </a:prstGeom>
          <a:ln w="15240">
            <a:solidFill>
              <a:srgbClr val="315E9C"/>
            </a:solidFill>
          </a:ln>
          <a:effectLst/>
        </p:spPr>
      </p:cxnSp>
      <p:cxnSp>
        <p:nvCxnSpPr>
          <p:cNvPr id="52" name="Connector 51"/>
          <p:cNvCxnSpPr/>
          <p:nvPr/>
        </p:nvCxnSpPr>
        <p:spPr>
          <a:xfrm>
            <a:off x="7772400" y="4191000"/>
            <a:ext cx="457200" cy="0"/>
          </a:xfrm>
          <a:prstGeom prst="line">
            <a:avLst/>
          </a:prstGeom>
          <a:ln w="15240">
            <a:solidFill>
              <a:srgbClr val="315E9C"/>
            </a:solidFill>
          </a:ln>
          <a:effectLst/>
        </p:spPr>
      </p:cxnSp>
      <p:sp>
        <p:nvSpPr>
          <p:cNvPr id="53" name="Freeform 52"/>
          <p:cNvSpPr/>
          <p:nvPr/>
        </p:nvSpPr>
        <p:spPr>
          <a:xfrm>
            <a:off x="8130540" y="415290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54" name="TextBox 53"/>
          <p:cNvSpPr txBox="1"/>
          <p:nvPr/>
        </p:nvSpPr>
        <p:spPr>
          <a:xfrm>
            <a:off x="6111240" y="4770120"/>
            <a:ext cx="16002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315E9C"/>
                </a:solidFill>
                <a:latin typeface="DejaVu Sans"/>
              </a:rPr>
              <a:t>send → get(ref)</a:t>
            </a:r>
          </a:p>
        </p:txBody>
      </p:sp>
      <p:sp>
        <p:nvSpPr>
          <p:cNvPr id="55" name="Rounded Rectangle 54"/>
          <p:cNvSpPr/>
          <p:nvPr/>
        </p:nvSpPr>
        <p:spPr>
          <a:xfrm>
            <a:off x="8229600" y="5158740"/>
            <a:ext cx="3413760" cy="800100"/>
          </a:xfrm>
          <a:prstGeom prst="roundRect">
            <a:avLst>
              <a:gd name="adj" fmla="val 12380"/>
            </a:avLst>
          </a:prstGeom>
          <a:solidFill>
            <a:srgbClr val="DCEFE8"/>
          </a:solidFill>
          <a:ln w="7620">
            <a:solidFill>
              <a:srgbClr val="007C78"/>
            </a:solidFill>
          </a:ln>
          <a:effectLst/>
        </p:spPr>
        <p:txBody>
          <a:bodyPr rtlCol="0" anchor="ctr"/>
          <a:lstStyle/>
          <a:p>
            <a:pPr algn="ctr"/>
          </a:p>
        </p:txBody>
      </p:sp>
      <p:sp>
        <p:nvSpPr>
          <p:cNvPr id="56" name="TextBox 55"/>
          <p:cNvSpPr txBox="1"/>
          <p:nvPr/>
        </p:nvSpPr>
        <p:spPr>
          <a:xfrm>
            <a:off x="8397240" y="5326380"/>
            <a:ext cx="3078479"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007C78"/>
                </a:solidFill>
                <a:latin typeface="DejaVu Sans"/>
              </a:rPr>
              <a:t>DeTTa DA / FileStorage</a:t>
            </a:r>
          </a:p>
        </p:txBody>
      </p:sp>
      <p:sp>
        <p:nvSpPr>
          <p:cNvPr id="57" name="TextBox 56"/>
          <p:cNvSpPr txBox="1"/>
          <p:nvPr/>
        </p:nvSpPr>
        <p:spPr>
          <a:xfrm>
            <a:off x="8397240" y="5665927"/>
            <a:ext cx="307847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Opaque put · get · availability</a:t>
            </a:r>
          </a:p>
        </p:txBody>
      </p:sp>
      <p:cxnSp>
        <p:nvCxnSpPr>
          <p:cNvPr id="58" name="Connector 57"/>
          <p:cNvCxnSpPr/>
          <p:nvPr/>
        </p:nvCxnSpPr>
        <p:spPr>
          <a:xfrm>
            <a:off x="9936480" y="4381500"/>
            <a:ext cx="0" cy="777240"/>
          </a:xfrm>
          <a:prstGeom prst="line">
            <a:avLst/>
          </a:prstGeom>
          <a:ln w="15240">
            <a:solidFill>
              <a:srgbClr val="007C78"/>
            </a:solidFill>
          </a:ln>
          <a:effectLst/>
        </p:spPr>
      </p:cxnSp>
      <p:sp>
        <p:nvSpPr>
          <p:cNvPr id="59" name="Freeform 58"/>
          <p:cNvSpPr/>
          <p:nvPr/>
        </p:nvSpPr>
        <p:spPr>
          <a:xfrm>
            <a:off x="9898380" y="5059680"/>
            <a:ext cx="76200" cy="99060"/>
          </a:xfrm>
          <a:custGeom>
            <a:avLst/>
            <a:gdLst/>
            <a:ahLst/>
            <a:cxnLst/>
            <a:rect l="l" t="t" r="r" b="b"/>
            <a:pathLst>
              <a:path w="10" h="13">
                <a:moveTo>
                  <a:pt x="5" y="13"/>
                </a:moveTo>
                <a:lnTo>
                  <a:pt x="10" y="0"/>
                </a:lnTo>
                <a:lnTo>
                  <a:pt x="0" y="0"/>
                </a:lnTo>
                <a:close/>
              </a:path>
            </a:pathLst>
          </a:custGeom>
          <a:solidFill>
            <a:srgbClr val="007C78"/>
          </a:solidFill>
          <a:ln>
            <a:noFill/>
          </a:ln>
          <a:effectLst/>
        </p:spPr>
        <p:txBody>
          <a:bodyPr rtlCol="0" anchor="ctr"/>
          <a:lstStyle/>
          <a:p>
            <a:pPr algn="ctr"/>
          </a:p>
        </p:txBody>
      </p:sp>
      <p:sp>
        <p:nvSpPr>
          <p:cNvPr id="60" name="TextBox 59"/>
          <p:cNvSpPr txBox="1"/>
          <p:nvPr/>
        </p:nvSpPr>
        <p:spPr>
          <a:xfrm>
            <a:off x="662940" y="6065520"/>
            <a:ext cx="103632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Optional finality uses a separate caller + approved digest + signer; M1.2 does not invoke it.</a:t>
            </a:r>
          </a:p>
        </p:txBody>
      </p:sp>
      <p:cxnSp>
        <p:nvCxnSpPr>
          <p:cNvPr id="61" name="Connector 60"/>
          <p:cNvCxnSpPr/>
          <p:nvPr/>
        </p:nvCxnSpPr>
        <p:spPr>
          <a:xfrm>
            <a:off x="548640" y="6393180"/>
            <a:ext cx="11094720" cy="0"/>
          </a:xfrm>
          <a:prstGeom prst="line">
            <a:avLst/>
          </a:prstGeom>
          <a:ln w="7620">
            <a:solidFill>
              <a:srgbClr val="C9D2D4"/>
            </a:solidFill>
          </a:ln>
          <a:effectLst/>
        </p:spPr>
      </p:cxnSp>
      <p:sp>
        <p:nvSpPr>
          <p:cNvPr id="62" name="TextBox 61"/>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M1.2 / program.py · ports.py · execution.py</a:t>
            </a:r>
          </a:p>
        </p:txBody>
      </p:sp>
      <p:sp>
        <p:nvSpPr>
          <p:cNvPr id="63" name="TextBox 62"/>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08 / 33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02 / OWNERSHIP · M1.1 PRESERVED</a:t>
            </a:r>
          </a:p>
        </p:txBody>
      </p:sp>
      <p:sp>
        <p:nvSpPr>
          <p:cNvPr id="3" name="TextBox 2"/>
          <p:cNvSpPr txBox="1"/>
          <p:nvPr/>
        </p:nvSpPr>
        <p:spPr>
          <a:xfrm>
            <a:off x="533400" y="723900"/>
            <a:ext cx="11125200" cy="458419"/>
          </a:xfrm>
          <a:prstGeom prst="rect">
            <a:avLst/>
          </a:prstGeom>
          <a:noFill/>
        </p:spPr>
        <p:txBody>
          <a:bodyPr wrap="none" lIns="0" rIns="0" tIns="0" bIns="0" anchor="t" anchorCtr="0">
            <a:noAutofit/>
          </a:bodyPr>
          <a:lstStyle/>
          <a:p>
            <a:pPr algn="l">
              <a:lnSpc>
                <a:spcPct val="100000"/>
              </a:lnSpc>
              <a:spcBef>
                <a:spcPts val="0"/>
              </a:spcBef>
              <a:spcAft>
                <a:spcPts val="0"/>
              </a:spcAft>
            </a:pPr>
            <a:r>
              <a:rPr sz="2820" b="1">
                <a:solidFill>
                  <a:srgbClr val="102B3F"/>
                </a:solidFill>
                <a:latin typeface="DejaVu Sans"/>
              </a:rPr>
              <a:t>Separate owners now have separate durable commits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Result atoms, execution state, mailbox acceptance and caller acceptance do not share a transaction.</a:t>
            </a:r>
          </a:p>
        </p:txBody>
      </p:sp>
      <p:sp>
        <p:nvSpPr>
          <p:cNvPr id="5" name="Rounded Rectangle 4"/>
          <p:cNvSpPr/>
          <p:nvPr/>
        </p:nvSpPr>
        <p:spPr>
          <a:xfrm>
            <a:off x="548640" y="1905000"/>
            <a:ext cx="3535679" cy="1676400"/>
          </a:xfrm>
          <a:prstGeom prst="roundRect">
            <a:avLst>
              <a:gd name="adj" fmla="val 5909"/>
            </a:avLst>
          </a:prstGeom>
          <a:solidFill>
            <a:srgbClr val="FFFFFF"/>
          </a:solidFill>
          <a:ln w="7620">
            <a:solidFill>
              <a:srgbClr val="007C78"/>
            </a:solidFill>
          </a:ln>
          <a:effectLst/>
        </p:spPr>
        <p:txBody>
          <a:bodyPr rtlCol="0" anchor="ctr"/>
          <a:lstStyle/>
          <a:p>
            <a:pPr algn="ctr"/>
          </a:p>
        </p:txBody>
      </p:sp>
      <p:sp>
        <p:nvSpPr>
          <p:cNvPr id="6" name="TextBox 5"/>
          <p:cNvSpPr txBox="1"/>
          <p:nvPr/>
        </p:nvSpPr>
        <p:spPr>
          <a:xfrm>
            <a:off x="716280" y="2072639"/>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007C78"/>
                </a:solidFill>
                <a:latin typeface="DejaVu Sans"/>
              </a:rPr>
              <a:t>IMMUTABLE REFS + REPLAY</a:t>
            </a:r>
          </a:p>
        </p:txBody>
      </p:sp>
      <p:sp>
        <p:nvSpPr>
          <p:cNvPr id="7" name="TextBox 6"/>
          <p:cNvSpPr txBox="1"/>
          <p:nvPr/>
        </p:nvSpPr>
        <p:spPr>
          <a:xfrm>
            <a:off x="716280" y="2308860"/>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007C78"/>
                </a:solidFill>
                <a:latin typeface="DejaVu Sans"/>
              </a:rPr>
              <a:t>AtomStorage</a:t>
            </a:r>
          </a:p>
        </p:txBody>
      </p:sp>
      <p:sp>
        <p:nvSpPr>
          <p:cNvPr id="8" name="TextBox 7"/>
          <p:cNvSpPr txBox="1"/>
          <p:nvPr/>
        </p:nvSpPr>
        <p:spPr>
          <a:xfrm>
            <a:off x="716280" y="2667914"/>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Own metadata journal over</a:t>
            </a:r>
          </a:p>
        </p:txBody>
      </p:sp>
      <p:sp>
        <p:nvSpPr>
          <p:cNvPr id="9" name="TextBox 8"/>
          <p:cNvSpPr txBox="1"/>
          <p:nvPr/>
        </p:nvSpPr>
        <p:spPr>
          <a:xfrm>
            <a:off x="716280" y="2902000"/>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opaque DA; independent file</a:t>
            </a:r>
          </a:p>
        </p:txBody>
      </p:sp>
      <p:sp>
        <p:nvSpPr>
          <p:cNvPr id="10" name="TextBox 9"/>
          <p:cNvSpPr txBox="1"/>
          <p:nvPr/>
        </p:nvSpPr>
        <p:spPr>
          <a:xfrm>
            <a:off x="716280" y="3136087"/>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fixture also supported.</a:t>
            </a:r>
          </a:p>
        </p:txBody>
      </p:sp>
      <p:sp>
        <p:nvSpPr>
          <p:cNvPr id="11" name="Rounded Rectangle 10"/>
          <p:cNvSpPr/>
          <p:nvPr/>
        </p:nvSpPr>
        <p:spPr>
          <a:xfrm>
            <a:off x="4328160" y="1905000"/>
            <a:ext cx="3535679" cy="1676400"/>
          </a:xfrm>
          <a:prstGeom prst="roundRect">
            <a:avLst>
              <a:gd name="adj" fmla="val 5909"/>
            </a:avLst>
          </a:prstGeom>
          <a:solidFill>
            <a:srgbClr val="FFFFFF"/>
          </a:solidFill>
          <a:ln w="7620">
            <a:solidFill>
              <a:srgbClr val="315E9C"/>
            </a:solidFill>
          </a:ln>
          <a:effectLst/>
        </p:spPr>
        <p:txBody>
          <a:bodyPr rtlCol="0" anchor="ctr"/>
          <a:lstStyle/>
          <a:p>
            <a:pPr algn="ctr"/>
          </a:p>
        </p:txBody>
      </p:sp>
      <p:sp>
        <p:nvSpPr>
          <p:cNvPr id="12" name="TextBox 11"/>
          <p:cNvSpPr txBox="1"/>
          <p:nvPr/>
        </p:nvSpPr>
        <p:spPr>
          <a:xfrm>
            <a:off x="4495800" y="2072639"/>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315E9C"/>
                </a:solidFill>
                <a:latin typeface="DejaVu Sans"/>
              </a:rPr>
              <a:t>JOBS + COMPLETION OUTBOX</a:t>
            </a:r>
          </a:p>
        </p:txBody>
      </p:sp>
      <p:sp>
        <p:nvSpPr>
          <p:cNvPr id="13" name="TextBox 12"/>
          <p:cNvSpPr txBox="1"/>
          <p:nvPr/>
        </p:nvSpPr>
        <p:spPr>
          <a:xfrm>
            <a:off x="4495800" y="2308860"/>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Execution</a:t>
            </a:r>
          </a:p>
        </p:txBody>
      </p:sp>
      <p:sp>
        <p:nvSpPr>
          <p:cNvPr id="14" name="TextBox 13"/>
          <p:cNvSpPr txBox="1"/>
          <p:nvPr/>
        </p:nvSpPr>
        <p:spPr>
          <a:xfrm>
            <a:off x="4495800" y="2667914"/>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One terminal-state transaction;</a:t>
            </a:r>
          </a:p>
        </p:txBody>
      </p:sp>
      <p:sp>
        <p:nvSpPr>
          <p:cNvPr id="15" name="TextBox 14"/>
          <p:cNvSpPr txBox="1"/>
          <p:nvPr/>
        </p:nvSpPr>
        <p:spPr>
          <a:xfrm>
            <a:off x="4495800" y="2902000"/>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result persistence already</a:t>
            </a:r>
          </a:p>
        </p:txBody>
      </p:sp>
      <p:sp>
        <p:nvSpPr>
          <p:cNvPr id="16" name="TextBox 15"/>
          <p:cNvSpPr txBox="1"/>
          <p:nvPr/>
        </p:nvSpPr>
        <p:spPr>
          <a:xfrm>
            <a:off x="4495800" y="3136087"/>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committed.</a:t>
            </a:r>
          </a:p>
        </p:txBody>
      </p:sp>
      <p:sp>
        <p:nvSpPr>
          <p:cNvPr id="17" name="Rounded Rectangle 16"/>
          <p:cNvSpPr/>
          <p:nvPr/>
        </p:nvSpPr>
        <p:spPr>
          <a:xfrm>
            <a:off x="8107680" y="1905000"/>
            <a:ext cx="3535679" cy="1676400"/>
          </a:xfrm>
          <a:prstGeom prst="roundRect">
            <a:avLst>
              <a:gd name="adj" fmla="val 5909"/>
            </a:avLst>
          </a:prstGeom>
          <a:solidFill>
            <a:srgbClr val="FFFFFF"/>
          </a:solidFill>
          <a:ln w="7620">
            <a:solidFill>
              <a:srgbClr val="315E9C"/>
            </a:solidFill>
          </a:ln>
          <a:effectLst/>
        </p:spPr>
        <p:txBody>
          <a:bodyPr rtlCol="0" anchor="ctr"/>
          <a:lstStyle/>
          <a:p>
            <a:pPr algn="ctr"/>
          </a:p>
        </p:txBody>
      </p:sp>
      <p:sp>
        <p:nvSpPr>
          <p:cNvPr id="18" name="TextBox 17"/>
          <p:cNvSpPr txBox="1"/>
          <p:nvPr/>
        </p:nvSpPr>
        <p:spPr>
          <a:xfrm>
            <a:off x="8275320" y="2072639"/>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315E9C"/>
                </a:solidFill>
                <a:latin typeface="DejaVu Sans"/>
              </a:rPr>
              <a:t>INBOX + ACKNOWLEDGEMENTS</a:t>
            </a:r>
          </a:p>
        </p:txBody>
      </p:sp>
      <p:sp>
        <p:nvSpPr>
          <p:cNvPr id="19" name="TextBox 18"/>
          <p:cNvSpPr txBox="1"/>
          <p:nvPr/>
        </p:nvSpPr>
        <p:spPr>
          <a:xfrm>
            <a:off x="8275320" y="2308860"/>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Messaging</a:t>
            </a:r>
          </a:p>
        </p:txBody>
      </p:sp>
      <p:sp>
        <p:nvSpPr>
          <p:cNvPr id="20" name="TextBox 19"/>
          <p:cNvSpPr txBox="1"/>
          <p:nvPr/>
        </p:nvSpPr>
        <p:spPr>
          <a:xfrm>
            <a:off x="8275320" y="2667914"/>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Own acceptance and ack journal;</a:t>
            </a:r>
          </a:p>
        </p:txBody>
      </p:sp>
      <p:sp>
        <p:nvSpPr>
          <p:cNvPr id="21" name="TextBox 20"/>
          <p:cNvSpPr txBox="1"/>
          <p:nvPr/>
        </p:nvSpPr>
        <p:spPr>
          <a:xfrm>
            <a:off x="8275320" y="2902000"/>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delivery may repeat until</a:t>
            </a:r>
          </a:p>
        </p:txBody>
      </p:sp>
      <p:sp>
        <p:nvSpPr>
          <p:cNvPr id="22" name="TextBox 21"/>
          <p:cNvSpPr txBox="1"/>
          <p:nvPr/>
        </p:nvSpPr>
        <p:spPr>
          <a:xfrm>
            <a:off x="8275320" y="3136087"/>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acknowledged.</a:t>
            </a:r>
          </a:p>
        </p:txBody>
      </p:sp>
      <p:sp>
        <p:nvSpPr>
          <p:cNvPr id="23" name="Rounded Rectangle 22"/>
          <p:cNvSpPr/>
          <p:nvPr/>
        </p:nvSpPr>
        <p:spPr>
          <a:xfrm>
            <a:off x="548640" y="3855719"/>
            <a:ext cx="3535679" cy="1676400"/>
          </a:xfrm>
          <a:prstGeom prst="roundRect">
            <a:avLst>
              <a:gd name="adj" fmla="val 5909"/>
            </a:avLst>
          </a:prstGeom>
          <a:solidFill>
            <a:srgbClr val="FFFFFF"/>
          </a:solidFill>
          <a:ln w="7620">
            <a:solidFill>
              <a:srgbClr val="007C78"/>
            </a:solidFill>
          </a:ln>
          <a:effectLst/>
        </p:spPr>
        <p:txBody>
          <a:bodyPr rtlCol="0" anchor="ctr"/>
          <a:lstStyle/>
          <a:p>
            <a:pPr algn="ctr"/>
          </a:p>
        </p:txBody>
      </p:sp>
      <p:sp>
        <p:nvSpPr>
          <p:cNvPr id="24" name="TextBox 23"/>
          <p:cNvSpPr txBox="1"/>
          <p:nvPr/>
        </p:nvSpPr>
        <p:spPr>
          <a:xfrm>
            <a:off x="716280" y="4023360"/>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007C78"/>
                </a:solidFill>
                <a:latin typeface="DejaVu Sans"/>
              </a:rPr>
              <a:t>INTENT + ACCEPTED OUTCOME</a:t>
            </a:r>
          </a:p>
        </p:txBody>
      </p:sp>
      <p:sp>
        <p:nvSpPr>
          <p:cNvPr id="25" name="TextBox 24"/>
          <p:cNvSpPr txBox="1"/>
          <p:nvPr/>
        </p:nvSpPr>
        <p:spPr>
          <a:xfrm>
            <a:off x="716280" y="4259580"/>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007C78"/>
                </a:solidFill>
                <a:latin typeface="DejaVu Sans"/>
              </a:rPr>
              <a:t>Native caller</a:t>
            </a:r>
          </a:p>
        </p:txBody>
      </p:sp>
      <p:sp>
        <p:nvSpPr>
          <p:cNvPr id="26" name="TextBox 25"/>
          <p:cNvSpPr txBox="1"/>
          <p:nvPr/>
        </p:nvSpPr>
        <p:spPr>
          <a:xfrm>
            <a:off x="716280" y="4618634"/>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Minimal plugin receipt; stable job</a:t>
            </a:r>
          </a:p>
        </p:txBody>
      </p:sp>
      <p:sp>
        <p:nvSpPr>
          <p:cNvPr id="27" name="TextBox 26"/>
          <p:cNvSpPr txBox="1"/>
          <p:nvPr/>
        </p:nvSpPr>
        <p:spPr>
          <a:xfrm>
            <a:off x="716280" y="4852720"/>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context survives loss of caller</a:t>
            </a:r>
          </a:p>
        </p:txBody>
      </p:sp>
      <p:sp>
        <p:nvSpPr>
          <p:cNvPr id="28" name="TextBox 27"/>
          <p:cNvSpPr txBox="1"/>
          <p:nvPr/>
        </p:nvSpPr>
        <p:spPr>
          <a:xfrm>
            <a:off x="716280" y="5086807"/>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RAM.</a:t>
            </a:r>
          </a:p>
        </p:txBody>
      </p:sp>
      <p:sp>
        <p:nvSpPr>
          <p:cNvPr id="29" name="Rounded Rectangle 28"/>
          <p:cNvSpPr/>
          <p:nvPr/>
        </p:nvSpPr>
        <p:spPr>
          <a:xfrm>
            <a:off x="4328160" y="3855719"/>
            <a:ext cx="3535679" cy="1676400"/>
          </a:xfrm>
          <a:prstGeom prst="roundRect">
            <a:avLst>
              <a:gd name="adj" fmla="val 5909"/>
            </a:avLst>
          </a:prstGeom>
          <a:solidFill>
            <a:srgbClr val="FFFFFF"/>
          </a:solidFill>
          <a:ln w="7620">
            <a:solidFill>
              <a:srgbClr val="315E9C"/>
            </a:solidFill>
          </a:ln>
          <a:effectLst/>
        </p:spPr>
        <p:txBody>
          <a:bodyPr rtlCol="0" anchor="ctr"/>
          <a:lstStyle/>
          <a:p>
            <a:pPr algn="ctr"/>
          </a:p>
        </p:txBody>
      </p:sp>
      <p:sp>
        <p:nvSpPr>
          <p:cNvPr id="30" name="TextBox 29"/>
          <p:cNvSpPr txBox="1"/>
          <p:nvPr/>
        </p:nvSpPr>
        <p:spPr>
          <a:xfrm>
            <a:off x="4495800" y="4023360"/>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315E9C"/>
                </a:solidFill>
                <a:latin typeface="DejaVu Sans"/>
              </a:rPr>
              <a:t>MUTATION RESPONSE + FINGERPRINT</a:t>
            </a:r>
          </a:p>
        </p:txBody>
      </p:sp>
      <p:sp>
        <p:nvSpPr>
          <p:cNvPr id="31" name="TextBox 30"/>
          <p:cNvSpPr txBox="1"/>
          <p:nvPr/>
        </p:nvSpPr>
        <p:spPr>
          <a:xfrm>
            <a:off x="4495800" y="4259580"/>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Wire admission</a:t>
            </a:r>
          </a:p>
        </p:txBody>
      </p:sp>
      <p:sp>
        <p:nvSpPr>
          <p:cNvPr id="32" name="TextBox 31"/>
          <p:cNvSpPr txBox="1"/>
          <p:nvPr/>
        </p:nvSpPr>
        <p:spPr>
          <a:xfrm>
            <a:off x="4495800" y="4618634"/>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Colocated with execution; each</a:t>
            </a:r>
          </a:p>
        </p:txBody>
      </p:sp>
      <p:sp>
        <p:nvSpPr>
          <p:cNvPr id="33" name="TextBox 32"/>
          <p:cNvSpPr txBox="1"/>
          <p:nvPr/>
        </p:nvSpPr>
        <p:spPr>
          <a:xfrm>
            <a:off x="4495800" y="4852720"/>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effect owner also keeps replay</a:t>
            </a:r>
          </a:p>
        </p:txBody>
      </p:sp>
      <p:sp>
        <p:nvSpPr>
          <p:cNvPr id="34" name="TextBox 33"/>
          <p:cNvSpPr txBox="1"/>
          <p:nvPr/>
        </p:nvSpPr>
        <p:spPr>
          <a:xfrm>
            <a:off x="4495800" y="5086807"/>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identity.</a:t>
            </a:r>
          </a:p>
        </p:txBody>
      </p:sp>
      <p:sp>
        <p:nvSpPr>
          <p:cNvPr id="35" name="Rounded Rectangle 34"/>
          <p:cNvSpPr/>
          <p:nvPr/>
        </p:nvSpPr>
        <p:spPr>
          <a:xfrm>
            <a:off x="8107680" y="3855719"/>
            <a:ext cx="3535679" cy="1676400"/>
          </a:xfrm>
          <a:prstGeom prst="roundRect">
            <a:avLst>
              <a:gd name="adj" fmla="val 5909"/>
            </a:avLst>
          </a:prstGeom>
          <a:solidFill>
            <a:srgbClr val="FFFFFF"/>
          </a:solidFill>
          <a:ln w="7620">
            <a:solidFill>
              <a:srgbClr val="A86A15"/>
            </a:solidFill>
          </a:ln>
          <a:effectLst/>
        </p:spPr>
        <p:txBody>
          <a:bodyPr rtlCol="0" anchor="ctr"/>
          <a:lstStyle/>
          <a:p>
            <a:pPr algn="ctr"/>
          </a:p>
        </p:txBody>
      </p:sp>
      <p:sp>
        <p:nvSpPr>
          <p:cNvPr id="36" name="TextBox 35"/>
          <p:cNvSpPr txBox="1"/>
          <p:nvPr/>
        </p:nvSpPr>
        <p:spPr>
          <a:xfrm>
            <a:off x="8275320" y="4023360"/>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A86A15"/>
                </a:solidFill>
                <a:latin typeface="DejaVu Sans"/>
              </a:rPr>
              <a:t>CURRENT GRANTS + ROUTES</a:t>
            </a:r>
          </a:p>
        </p:txBody>
      </p:sp>
      <p:sp>
        <p:nvSpPr>
          <p:cNvPr id="37" name="TextBox 36"/>
          <p:cNvSpPr txBox="1"/>
          <p:nvPr/>
        </p:nvSpPr>
        <p:spPr>
          <a:xfrm>
            <a:off x="8275320" y="4259580"/>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A86A15"/>
                </a:solidFill>
                <a:latin typeface="DejaVu Sans"/>
              </a:rPr>
              <a:t>Authorization</a:t>
            </a:r>
          </a:p>
        </p:txBody>
      </p:sp>
      <p:sp>
        <p:nvSpPr>
          <p:cNvPr id="38" name="TextBox 37"/>
          <p:cNvSpPr txBox="1"/>
          <p:nvPr/>
        </p:nvSpPr>
        <p:spPr>
          <a:xfrm>
            <a:off x="8275320" y="4618634"/>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Operator-owned configuration;</a:t>
            </a:r>
          </a:p>
        </p:txBody>
      </p:sp>
      <p:sp>
        <p:nvSpPr>
          <p:cNvPr id="39" name="TextBox 38"/>
          <p:cNvSpPr txBox="1"/>
          <p:nvPr/>
        </p:nvSpPr>
        <p:spPr>
          <a:xfrm>
            <a:off x="8275320" y="4852720"/>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access is rechecked on retries and</a:t>
            </a:r>
          </a:p>
        </p:txBody>
      </p:sp>
      <p:sp>
        <p:nvSpPr>
          <p:cNvPr id="40" name="TextBox 39"/>
          <p:cNvSpPr txBox="1"/>
          <p:nvPr/>
        </p:nvSpPr>
        <p:spPr>
          <a:xfrm>
            <a:off x="8275320" y="5086807"/>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work.</a:t>
            </a:r>
          </a:p>
        </p:txBody>
      </p:sp>
      <p:sp>
        <p:nvSpPr>
          <p:cNvPr id="41" name="Rounded Rectangle 40"/>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42" name="TextBox 41"/>
          <p:cNvSpPr txBox="1"/>
          <p:nvPr/>
        </p:nvSpPr>
        <p:spPr>
          <a:xfrm>
            <a:off x="716280" y="5905500"/>
            <a:ext cx="107442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Co-location is allowed. Foreign SQL and shared transaction assumptions are not part of the contracts.</a:t>
            </a:r>
          </a:p>
        </p:txBody>
      </p:sp>
      <p:cxnSp>
        <p:nvCxnSpPr>
          <p:cNvPr id="43" name="Connector 42"/>
          <p:cNvCxnSpPr/>
          <p:nvPr/>
        </p:nvCxnSpPr>
        <p:spPr>
          <a:xfrm>
            <a:off x="548640" y="6393180"/>
            <a:ext cx="11094720" cy="0"/>
          </a:xfrm>
          <a:prstGeom prst="line">
            <a:avLst/>
          </a:prstGeom>
          <a:ln w="7620">
            <a:solidFill>
              <a:srgbClr val="C9D2D4"/>
            </a:solidFill>
          </a:ln>
          <a:effectLst/>
        </p:spPr>
      </p:cxnSp>
      <p:sp>
        <p:nvSpPr>
          <p:cNvPr id="44" name="TextBox 43"/>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M1.2 / architecture.md · atoms.py · messaging.py · program.py</a:t>
            </a:r>
          </a:p>
        </p:txBody>
      </p:sp>
      <p:sp>
        <p:nvSpPr>
          <p:cNvPr id="45" name="TextBox 44"/>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09 / 33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02 / SUBSTITUTION · FOUR-WAY MATRIX</a:t>
            </a:r>
          </a:p>
        </p:txBody>
      </p:sp>
      <p:sp>
        <p:nvSpPr>
          <p:cNvPr id="3" name="TextBox 2"/>
          <p:cNvSpPr txBox="1"/>
          <p:nvPr/>
        </p:nvSpPr>
        <p:spPr>
          <a:xfrm>
            <a:off x="533400" y="723900"/>
            <a:ext cx="11125200" cy="468172"/>
          </a:xfrm>
          <a:prstGeom prst="rect">
            <a:avLst/>
          </a:prstGeom>
          <a:noFill/>
        </p:spPr>
        <p:txBody>
          <a:bodyPr wrap="none" lIns="0" rIns="0" tIns="0" bIns="0" anchor="t" anchorCtr="0">
            <a:noAutofit/>
          </a:bodyPr>
          <a:lstStyle/>
          <a:p>
            <a:pPr algn="l">
              <a:lnSpc>
                <a:spcPct val="100000"/>
              </a:lnSpc>
              <a:spcBef>
                <a:spcPts val="0"/>
              </a:spcBef>
              <a:spcAft>
                <a:spcPts val="0"/>
              </a:spcAft>
            </a:pPr>
            <a:r>
              <a:rPr sz="2879" b="1">
                <a:solidFill>
                  <a:srgbClr val="102B3F"/>
                </a:solidFill>
                <a:latin typeface="DejaVu Sans"/>
              </a:rPr>
              <a:t>AtomStorage replacement is independently exercised</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Protocol fixture callers exercise two providers and two transports; the worker logic is unchanged.</a:t>
            </a:r>
          </a:p>
        </p:txBody>
      </p:sp>
      <p:sp>
        <p:nvSpPr>
          <p:cNvPr id="5" name="TextBox 4"/>
          <p:cNvSpPr txBox="1"/>
          <p:nvPr/>
        </p:nvSpPr>
        <p:spPr>
          <a:xfrm>
            <a:off x="670560" y="1790700"/>
            <a:ext cx="36423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SELECTED ATOMSTORAGE</a:t>
            </a:r>
          </a:p>
        </p:txBody>
      </p:sp>
      <p:sp>
        <p:nvSpPr>
          <p:cNvPr id="6" name="TextBox 5"/>
          <p:cNvSpPr txBox="1"/>
          <p:nvPr/>
        </p:nvSpPr>
        <p:spPr>
          <a:xfrm>
            <a:off x="4556760" y="1790700"/>
            <a:ext cx="336041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IN-PROCESS BINDING</a:t>
            </a:r>
          </a:p>
        </p:txBody>
      </p:sp>
      <p:sp>
        <p:nvSpPr>
          <p:cNvPr id="7" name="TextBox 6"/>
          <p:cNvSpPr txBox="1"/>
          <p:nvPr/>
        </p:nvSpPr>
        <p:spPr>
          <a:xfrm>
            <a:off x="8161020" y="1790700"/>
            <a:ext cx="336041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PRIVATE STDIO BINDING</a:t>
            </a:r>
          </a:p>
        </p:txBody>
      </p:sp>
      <p:sp>
        <p:nvSpPr>
          <p:cNvPr id="8" name="Rounded Rectangle 7"/>
          <p:cNvSpPr/>
          <p:nvPr/>
        </p:nvSpPr>
        <p:spPr>
          <a:xfrm>
            <a:off x="548640" y="2110740"/>
            <a:ext cx="11094720" cy="952500"/>
          </a:xfrm>
          <a:prstGeom prst="roundRect">
            <a:avLst>
              <a:gd name="adj" fmla="val 4800"/>
            </a:avLst>
          </a:prstGeom>
          <a:solidFill>
            <a:srgbClr val="FFFFFF"/>
          </a:solidFill>
          <a:ln>
            <a:noFill/>
          </a:ln>
          <a:effectLst/>
        </p:spPr>
        <p:txBody>
          <a:bodyPr rtlCol="0" anchor="ctr"/>
          <a:lstStyle/>
          <a:p>
            <a:pPr algn="ctr"/>
          </a:p>
        </p:txBody>
      </p:sp>
      <p:sp>
        <p:nvSpPr>
          <p:cNvPr id="9" name="TextBox 8"/>
          <p:cNvSpPr txBox="1"/>
          <p:nvPr/>
        </p:nvSpPr>
        <p:spPr>
          <a:xfrm>
            <a:off x="670560" y="2240280"/>
            <a:ext cx="364236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102B3F"/>
                </a:solidFill>
                <a:latin typeface="DejaVu Sans"/>
              </a:rPr>
              <a:t>Real DeTTa libraries</a:t>
            </a:r>
          </a:p>
        </p:txBody>
      </p:sp>
      <p:sp>
        <p:nvSpPr>
          <p:cNvPr id="10" name="TextBox 9"/>
          <p:cNvSpPr txBox="1"/>
          <p:nvPr/>
        </p:nvSpPr>
        <p:spPr>
          <a:xfrm>
            <a:off x="4556760" y="2240280"/>
            <a:ext cx="3360419"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PASS · independent workflow</a:t>
            </a:r>
          </a:p>
        </p:txBody>
      </p:sp>
      <p:sp>
        <p:nvSpPr>
          <p:cNvPr id="11" name="TextBox 10"/>
          <p:cNvSpPr txBox="1"/>
          <p:nvPr/>
        </p:nvSpPr>
        <p:spPr>
          <a:xfrm>
            <a:off x="8161020" y="2240280"/>
            <a:ext cx="3360419"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PASS · independent workflow</a:t>
            </a:r>
          </a:p>
        </p:txBody>
      </p:sp>
      <p:sp>
        <p:nvSpPr>
          <p:cNvPr id="12" name="Rounded Rectangle 11"/>
          <p:cNvSpPr/>
          <p:nvPr/>
        </p:nvSpPr>
        <p:spPr>
          <a:xfrm>
            <a:off x="548640" y="3101340"/>
            <a:ext cx="11094720" cy="952500"/>
          </a:xfrm>
          <a:prstGeom prst="roundRect">
            <a:avLst>
              <a:gd name="adj" fmla="val 4800"/>
            </a:avLst>
          </a:prstGeom>
          <a:solidFill>
            <a:srgbClr val="FFFFFF"/>
          </a:solidFill>
          <a:ln>
            <a:noFill/>
          </a:ln>
          <a:effectLst/>
        </p:spPr>
        <p:txBody>
          <a:bodyPr rtlCol="0" anchor="ctr"/>
          <a:lstStyle/>
          <a:p>
            <a:pPr algn="ctr"/>
          </a:p>
        </p:txBody>
      </p:sp>
      <p:sp>
        <p:nvSpPr>
          <p:cNvPr id="13" name="TextBox 12"/>
          <p:cNvSpPr txBox="1"/>
          <p:nvPr/>
        </p:nvSpPr>
        <p:spPr>
          <a:xfrm>
            <a:off x="670560" y="3230879"/>
            <a:ext cx="364236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102B3F"/>
                </a:solidFill>
                <a:latin typeface="DejaVu Sans"/>
              </a:rPr>
              <a:t>Atomic-file fixture</a:t>
            </a:r>
          </a:p>
        </p:txBody>
      </p:sp>
      <p:sp>
        <p:nvSpPr>
          <p:cNvPr id="14" name="TextBox 13"/>
          <p:cNvSpPr txBox="1"/>
          <p:nvPr/>
        </p:nvSpPr>
        <p:spPr>
          <a:xfrm>
            <a:off x="4556760" y="3230879"/>
            <a:ext cx="3360419"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PASS · independent workflow</a:t>
            </a:r>
          </a:p>
        </p:txBody>
      </p:sp>
      <p:sp>
        <p:nvSpPr>
          <p:cNvPr id="15" name="TextBox 14"/>
          <p:cNvSpPr txBox="1"/>
          <p:nvPr/>
        </p:nvSpPr>
        <p:spPr>
          <a:xfrm>
            <a:off x="8161020" y="3230879"/>
            <a:ext cx="3360419"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PASS · independent workflow</a:t>
            </a:r>
          </a:p>
        </p:txBody>
      </p:sp>
      <p:sp>
        <p:nvSpPr>
          <p:cNvPr id="16" name="Rounded Rectangle 15"/>
          <p:cNvSpPr/>
          <p:nvPr/>
        </p:nvSpPr>
        <p:spPr>
          <a:xfrm>
            <a:off x="548640" y="4511040"/>
            <a:ext cx="5364480" cy="1066800"/>
          </a:xfrm>
          <a:prstGeom prst="roundRect">
            <a:avLst>
              <a:gd name="adj" fmla="val 9285"/>
            </a:avLst>
          </a:prstGeom>
          <a:solidFill>
            <a:srgbClr val="E4EBF5"/>
          </a:solidFill>
          <a:ln w="7620">
            <a:solidFill>
              <a:srgbClr val="315E9C"/>
            </a:solidFill>
          </a:ln>
          <a:effectLst/>
        </p:spPr>
        <p:txBody>
          <a:bodyPr rtlCol="0" anchor="ctr"/>
          <a:lstStyle/>
          <a:p>
            <a:pPr algn="ctr"/>
          </a:p>
        </p:txBody>
      </p:sp>
      <p:sp>
        <p:nvSpPr>
          <p:cNvPr id="17" name="TextBox 16"/>
          <p:cNvSpPr txBox="1"/>
          <p:nvPr/>
        </p:nvSpPr>
        <p:spPr>
          <a:xfrm>
            <a:off x="716280" y="4678680"/>
            <a:ext cx="502920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315E9C"/>
                </a:solidFill>
                <a:latin typeface="DejaVu Sans"/>
              </a:rPr>
              <a:t>Independent implementation</a:t>
            </a:r>
          </a:p>
        </p:txBody>
      </p:sp>
      <p:sp>
        <p:nvSpPr>
          <p:cNvPr id="18" name="TextBox 17"/>
          <p:cNvSpPr txBox="1"/>
          <p:nvPr/>
        </p:nvSpPr>
        <p:spPr>
          <a:xfrm>
            <a:off x="716280" y="5047488"/>
            <a:ext cx="50292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The file fixture does not inherit AtomOwner or use its</a:t>
            </a:r>
          </a:p>
        </p:txBody>
      </p:sp>
      <p:sp>
        <p:nvSpPr>
          <p:cNvPr id="19" name="TextBox 18"/>
          <p:cNvSpPr txBox="1"/>
          <p:nvPr/>
        </p:nvSpPr>
        <p:spPr>
          <a:xfrm>
            <a:off x="716280" y="5281574"/>
            <a:ext cx="50292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SQLite atom table.</a:t>
            </a:r>
          </a:p>
        </p:txBody>
      </p:sp>
      <p:sp>
        <p:nvSpPr>
          <p:cNvPr id="20" name="Rounded Rectangle 19"/>
          <p:cNvSpPr/>
          <p:nvPr/>
        </p:nvSpPr>
        <p:spPr>
          <a:xfrm>
            <a:off x="6096000" y="4511040"/>
            <a:ext cx="5547360" cy="1066800"/>
          </a:xfrm>
          <a:prstGeom prst="roundRect">
            <a:avLst>
              <a:gd name="adj" fmla="val 9285"/>
            </a:avLst>
          </a:prstGeom>
          <a:solidFill>
            <a:srgbClr val="F3E7CE"/>
          </a:solidFill>
          <a:ln w="7620">
            <a:solidFill>
              <a:srgbClr val="A86A15"/>
            </a:solidFill>
          </a:ln>
          <a:effectLst/>
        </p:spPr>
        <p:txBody>
          <a:bodyPr rtlCol="0" anchor="ctr"/>
          <a:lstStyle/>
          <a:p>
            <a:pPr algn="ctr"/>
          </a:p>
        </p:txBody>
      </p:sp>
      <p:sp>
        <p:nvSpPr>
          <p:cNvPr id="21" name="TextBox 20"/>
          <p:cNvSpPr txBox="1"/>
          <p:nvPr/>
        </p:nvSpPr>
        <p:spPr>
          <a:xfrm>
            <a:off x="6263640" y="4678680"/>
            <a:ext cx="521208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A86A15"/>
                </a:solidFill>
                <a:latin typeface="DejaVu Sans"/>
              </a:rPr>
              <a:t>Fresh stores only</a:t>
            </a:r>
          </a:p>
        </p:txBody>
      </p:sp>
      <p:sp>
        <p:nvSpPr>
          <p:cNvPr id="22" name="TextBox 21"/>
          <p:cNvSpPr txBox="1"/>
          <p:nvPr/>
        </p:nvSpPr>
        <p:spPr>
          <a:xfrm>
            <a:off x="6263640" y="5047488"/>
            <a:ext cx="52120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 accepted jobs or existing references are moved</a:t>
            </a:r>
          </a:p>
        </p:txBody>
      </p:sp>
      <p:sp>
        <p:nvSpPr>
          <p:cNvPr id="23" name="TextBox 22"/>
          <p:cNvSpPr txBox="1"/>
          <p:nvPr/>
        </p:nvSpPr>
        <p:spPr>
          <a:xfrm>
            <a:off x="6263640" y="5281574"/>
            <a:ext cx="52120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between providers.</a:t>
            </a:r>
          </a:p>
        </p:txBody>
      </p:sp>
      <p:sp>
        <p:nvSpPr>
          <p:cNvPr id="24" name="Rounded Rectangle 23"/>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25" name="TextBox 24"/>
          <p:cNvSpPr txBox="1"/>
          <p:nvPr/>
        </p:nvSpPr>
        <p:spPr>
          <a:xfrm>
            <a:off x="716280" y="5905500"/>
            <a:ext cx="10744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Interface, implementation, transport and placement remain independent choices.</a:t>
            </a:r>
          </a:p>
        </p:txBody>
      </p:sp>
      <p:cxnSp>
        <p:nvCxnSpPr>
          <p:cNvPr id="26" name="Connector 25"/>
          <p:cNvCxnSpPr/>
          <p:nvPr/>
        </p:nvCxnSpPr>
        <p:spPr>
          <a:xfrm>
            <a:off x="548640" y="6393180"/>
            <a:ext cx="11094720" cy="0"/>
          </a:xfrm>
          <a:prstGeom prst="line">
            <a:avLst/>
          </a:prstGeom>
          <a:ln w="7620">
            <a:solidFill>
              <a:srgbClr val="C9D2D4"/>
            </a:solidFill>
          </a:ln>
          <a:effectLst/>
        </p:spPr>
      </p:cxnSp>
      <p:sp>
        <p:nvSpPr>
          <p:cNvPr id="27" name="TextBox 26"/>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M1.2 / evidence/m1_2/m11-swap-demo.json · test_m11.py</a:t>
            </a:r>
          </a:p>
        </p:txBody>
      </p:sp>
      <p:sp>
        <p:nvSpPr>
          <p:cNvPr id="28" name="TextBox 27"/>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10 / 33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02 / COMPATIBILITY · EXACT PROFILES</a:t>
            </a:r>
          </a:p>
        </p:txBody>
      </p:sp>
      <p:sp>
        <p:nvSpPr>
          <p:cNvPr id="3" name="TextBox 2"/>
          <p:cNvSpPr txBox="1"/>
          <p:nvPr/>
        </p:nvSpPr>
        <p:spPr>
          <a:xfrm>
            <a:off x="533400" y="723900"/>
            <a:ext cx="11125200" cy="487680"/>
          </a:xfrm>
          <a:prstGeom prst="rect">
            <a:avLst/>
          </a:prstGeom>
          <a:noFill/>
        </p:spPr>
        <p:txBody>
          <a:bodyPr wrap="none" lIns="0" rIns="0" tIns="0" bIns="0" anchor="t" anchorCtr="0">
            <a:noAutofit/>
          </a:bodyPr>
          <a:lstStyle/>
          <a:p>
            <a:pPr algn="l">
              <a:lnSpc>
                <a:spcPct val="100000"/>
              </a:lnSpc>
              <a:spcBef>
                <a:spcPts val="0"/>
              </a:spcBef>
              <a:spcAft>
                <a:spcPts val="0"/>
              </a:spcAft>
            </a:pPr>
            <a:r>
              <a:rPr sz="3000" b="1">
                <a:solidFill>
                  <a:srgbClr val="102B3F"/>
                </a:solidFill>
                <a:latin typeface="DejaVu Sans"/>
              </a:rPr>
              <a:t>Compatibility binds semantics and selected replies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Consumer requirements are independent of provider advertisements.</a:t>
            </a:r>
          </a:p>
        </p:txBody>
      </p:sp>
      <p:sp>
        <p:nvSpPr>
          <p:cNvPr id="5" name="Rounded Rectangle 4"/>
          <p:cNvSpPr/>
          <p:nvPr/>
        </p:nvSpPr>
        <p:spPr>
          <a:xfrm>
            <a:off x="548640" y="2004059"/>
            <a:ext cx="2636520" cy="1318260"/>
          </a:xfrm>
          <a:prstGeom prst="roundRect">
            <a:avLst>
              <a:gd name="adj" fmla="val 7514"/>
            </a:avLst>
          </a:prstGeom>
          <a:solidFill>
            <a:srgbClr val="FFFFFF"/>
          </a:solidFill>
          <a:ln w="7620">
            <a:solidFill>
              <a:srgbClr val="315E9C"/>
            </a:solidFill>
          </a:ln>
          <a:effectLst/>
        </p:spPr>
        <p:txBody>
          <a:bodyPr rtlCol="0" anchor="ctr"/>
          <a:lstStyle/>
          <a:p>
            <a:pPr algn="ctr"/>
          </a:p>
        </p:txBody>
      </p:sp>
      <p:sp>
        <p:nvSpPr>
          <p:cNvPr id="6" name="TextBox 5"/>
          <p:cNvSpPr txBox="1"/>
          <p:nvPr/>
        </p:nvSpPr>
        <p:spPr>
          <a:xfrm>
            <a:off x="716280" y="2171700"/>
            <a:ext cx="230124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315E9C"/>
                </a:solidFill>
                <a:latin typeface="DejaVu Sans"/>
              </a:rPr>
              <a:t>Version</a:t>
            </a:r>
          </a:p>
        </p:txBody>
      </p:sp>
      <p:sp>
        <p:nvSpPr>
          <p:cNvPr id="7" name="TextBox 6"/>
          <p:cNvSpPr txBox="1"/>
          <p:nvPr/>
        </p:nvSpPr>
        <p:spPr>
          <a:xfrm>
            <a:off x="716280" y="2550261"/>
            <a:ext cx="23012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Wire remains 1.0.0</a:t>
            </a:r>
          </a:p>
        </p:txBody>
      </p:sp>
      <p:cxnSp>
        <p:nvCxnSpPr>
          <p:cNvPr id="8" name="Connector 7"/>
          <p:cNvCxnSpPr/>
          <p:nvPr/>
        </p:nvCxnSpPr>
        <p:spPr>
          <a:xfrm>
            <a:off x="3185160" y="2644140"/>
            <a:ext cx="137159" cy="0"/>
          </a:xfrm>
          <a:prstGeom prst="line">
            <a:avLst/>
          </a:prstGeom>
          <a:ln w="15240">
            <a:solidFill>
              <a:srgbClr val="315E9C"/>
            </a:solidFill>
          </a:ln>
          <a:effectLst/>
        </p:spPr>
      </p:cxnSp>
      <p:sp>
        <p:nvSpPr>
          <p:cNvPr id="9" name="Freeform 8"/>
          <p:cNvSpPr/>
          <p:nvPr/>
        </p:nvSpPr>
        <p:spPr>
          <a:xfrm>
            <a:off x="3223260" y="260604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10" name="Rounded Rectangle 9"/>
          <p:cNvSpPr/>
          <p:nvPr/>
        </p:nvSpPr>
        <p:spPr>
          <a:xfrm>
            <a:off x="3368040" y="2004059"/>
            <a:ext cx="2636520" cy="1318260"/>
          </a:xfrm>
          <a:prstGeom prst="roundRect">
            <a:avLst>
              <a:gd name="adj" fmla="val 7514"/>
            </a:avLst>
          </a:prstGeom>
          <a:solidFill>
            <a:srgbClr val="FFFFFF"/>
          </a:solidFill>
          <a:ln w="7620">
            <a:solidFill>
              <a:srgbClr val="315E9C"/>
            </a:solidFill>
          </a:ln>
          <a:effectLst/>
        </p:spPr>
        <p:txBody>
          <a:bodyPr rtlCol="0" anchor="ctr"/>
          <a:lstStyle/>
          <a:p>
            <a:pPr algn="ctr"/>
          </a:p>
        </p:txBody>
      </p:sp>
      <p:sp>
        <p:nvSpPr>
          <p:cNvPr id="11" name="TextBox 10"/>
          <p:cNvSpPr txBox="1"/>
          <p:nvPr/>
        </p:nvSpPr>
        <p:spPr>
          <a:xfrm>
            <a:off x="3535679" y="2171700"/>
            <a:ext cx="230124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315E9C"/>
                </a:solidFill>
                <a:latin typeface="DejaVu Sans"/>
              </a:rPr>
              <a:t>Profile</a:t>
            </a:r>
          </a:p>
        </p:txBody>
      </p:sp>
      <p:sp>
        <p:nvSpPr>
          <p:cNvPr id="12" name="TextBox 11"/>
          <p:cNvSpPr txBox="1"/>
          <p:nvPr/>
        </p:nvSpPr>
        <p:spPr>
          <a:xfrm>
            <a:off x="3535679" y="2550261"/>
            <a:ext cx="23012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Exact behavioral</a:t>
            </a:r>
          </a:p>
        </p:txBody>
      </p:sp>
      <p:sp>
        <p:nvSpPr>
          <p:cNvPr id="13" name="TextBox 12"/>
          <p:cNvSpPr txBox="1"/>
          <p:nvPr/>
        </p:nvSpPr>
        <p:spPr>
          <a:xfrm>
            <a:off x="3535679" y="2794101"/>
            <a:ext cx="23012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semantics</a:t>
            </a:r>
          </a:p>
        </p:txBody>
      </p:sp>
      <p:cxnSp>
        <p:nvCxnSpPr>
          <p:cNvPr id="14" name="Connector 13"/>
          <p:cNvCxnSpPr/>
          <p:nvPr/>
        </p:nvCxnSpPr>
        <p:spPr>
          <a:xfrm>
            <a:off x="6004559" y="2644140"/>
            <a:ext cx="137161" cy="0"/>
          </a:xfrm>
          <a:prstGeom prst="line">
            <a:avLst/>
          </a:prstGeom>
          <a:ln w="15240">
            <a:solidFill>
              <a:srgbClr val="315E9C"/>
            </a:solidFill>
          </a:ln>
          <a:effectLst/>
        </p:spPr>
      </p:cxnSp>
      <p:sp>
        <p:nvSpPr>
          <p:cNvPr id="15" name="Freeform 14"/>
          <p:cNvSpPr/>
          <p:nvPr/>
        </p:nvSpPr>
        <p:spPr>
          <a:xfrm>
            <a:off x="6042660" y="260604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16" name="Rounded Rectangle 15"/>
          <p:cNvSpPr/>
          <p:nvPr/>
        </p:nvSpPr>
        <p:spPr>
          <a:xfrm>
            <a:off x="6187440" y="2004059"/>
            <a:ext cx="2636520" cy="1318260"/>
          </a:xfrm>
          <a:prstGeom prst="roundRect">
            <a:avLst>
              <a:gd name="adj" fmla="val 7514"/>
            </a:avLst>
          </a:prstGeom>
          <a:solidFill>
            <a:srgbClr val="FFFFFF"/>
          </a:solidFill>
          <a:ln w="7620">
            <a:solidFill>
              <a:srgbClr val="315E9C"/>
            </a:solidFill>
          </a:ln>
          <a:effectLst/>
        </p:spPr>
        <p:txBody>
          <a:bodyPr rtlCol="0" anchor="ctr"/>
          <a:lstStyle/>
          <a:p>
            <a:pPr algn="ctr"/>
          </a:p>
        </p:txBody>
      </p:sp>
      <p:sp>
        <p:nvSpPr>
          <p:cNvPr id="17" name="TextBox 16"/>
          <p:cNvSpPr txBox="1"/>
          <p:nvPr/>
        </p:nvSpPr>
        <p:spPr>
          <a:xfrm>
            <a:off x="6355080" y="2171700"/>
            <a:ext cx="230124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315E9C"/>
                </a:solidFill>
                <a:latin typeface="DejaVu Sans"/>
              </a:rPr>
              <a:t>Operations</a:t>
            </a:r>
          </a:p>
        </p:txBody>
      </p:sp>
      <p:sp>
        <p:nvSpPr>
          <p:cNvPr id="18" name="TextBox 17"/>
          <p:cNvSpPr txBox="1"/>
          <p:nvPr/>
        </p:nvSpPr>
        <p:spPr>
          <a:xfrm>
            <a:off x="6355080" y="2550261"/>
            <a:ext cx="23012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Required methods and</a:t>
            </a:r>
          </a:p>
        </p:txBody>
      </p:sp>
      <p:sp>
        <p:nvSpPr>
          <p:cNvPr id="19" name="TextBox 18"/>
          <p:cNvSpPr txBox="1"/>
          <p:nvPr/>
        </p:nvSpPr>
        <p:spPr>
          <a:xfrm>
            <a:off x="6355080" y="2794101"/>
            <a:ext cx="23012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limits</a:t>
            </a:r>
          </a:p>
        </p:txBody>
      </p:sp>
      <p:cxnSp>
        <p:nvCxnSpPr>
          <p:cNvPr id="20" name="Connector 19"/>
          <p:cNvCxnSpPr/>
          <p:nvPr/>
        </p:nvCxnSpPr>
        <p:spPr>
          <a:xfrm>
            <a:off x="8823960" y="2644140"/>
            <a:ext cx="137160" cy="0"/>
          </a:xfrm>
          <a:prstGeom prst="line">
            <a:avLst/>
          </a:prstGeom>
          <a:ln w="15240">
            <a:solidFill>
              <a:srgbClr val="315E9C"/>
            </a:solidFill>
          </a:ln>
          <a:effectLst/>
        </p:spPr>
      </p:cxnSp>
      <p:sp>
        <p:nvSpPr>
          <p:cNvPr id="21" name="Freeform 20"/>
          <p:cNvSpPr/>
          <p:nvPr/>
        </p:nvSpPr>
        <p:spPr>
          <a:xfrm>
            <a:off x="8862060" y="260604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22" name="Rounded Rectangle 21"/>
          <p:cNvSpPr/>
          <p:nvPr/>
        </p:nvSpPr>
        <p:spPr>
          <a:xfrm>
            <a:off x="9006840" y="2004059"/>
            <a:ext cx="2636520" cy="1318260"/>
          </a:xfrm>
          <a:prstGeom prst="roundRect">
            <a:avLst>
              <a:gd name="adj" fmla="val 7514"/>
            </a:avLst>
          </a:prstGeom>
          <a:solidFill>
            <a:srgbClr val="FFFFFF"/>
          </a:solidFill>
          <a:ln w="7620">
            <a:solidFill>
              <a:srgbClr val="315E9C"/>
            </a:solidFill>
          </a:ln>
          <a:effectLst/>
        </p:spPr>
        <p:txBody>
          <a:bodyPr rtlCol="0" anchor="ctr"/>
          <a:lstStyle/>
          <a:p>
            <a:pPr algn="ctr"/>
          </a:p>
        </p:txBody>
      </p:sp>
      <p:sp>
        <p:nvSpPr>
          <p:cNvPr id="23" name="TextBox 22"/>
          <p:cNvSpPr txBox="1"/>
          <p:nvPr/>
        </p:nvSpPr>
        <p:spPr>
          <a:xfrm>
            <a:off x="9174480" y="2171700"/>
            <a:ext cx="230124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315E9C"/>
                </a:solidFill>
                <a:latin typeface="DejaVu Sans"/>
              </a:rPr>
              <a:t>Descriptor</a:t>
            </a:r>
          </a:p>
        </p:txBody>
      </p:sp>
      <p:sp>
        <p:nvSpPr>
          <p:cNvPr id="24" name="TextBox 23"/>
          <p:cNvSpPr txBox="1"/>
          <p:nvPr/>
        </p:nvSpPr>
        <p:spPr>
          <a:xfrm>
            <a:off x="9174480" y="2550261"/>
            <a:ext cx="23012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Token checked on</a:t>
            </a:r>
          </a:p>
        </p:txBody>
      </p:sp>
      <p:sp>
        <p:nvSpPr>
          <p:cNvPr id="25" name="TextBox 24"/>
          <p:cNvSpPr txBox="1"/>
          <p:nvPr/>
        </p:nvSpPr>
        <p:spPr>
          <a:xfrm>
            <a:off x="9174480" y="2794101"/>
            <a:ext cx="23012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invocation and reply</a:t>
            </a:r>
          </a:p>
        </p:txBody>
      </p:sp>
      <p:sp>
        <p:nvSpPr>
          <p:cNvPr id="26" name="Rounded Rectangle 25"/>
          <p:cNvSpPr/>
          <p:nvPr/>
        </p:nvSpPr>
        <p:spPr>
          <a:xfrm>
            <a:off x="548640" y="3703319"/>
            <a:ext cx="3535679" cy="990600"/>
          </a:xfrm>
          <a:prstGeom prst="roundRect">
            <a:avLst>
              <a:gd name="adj" fmla="val 10000"/>
            </a:avLst>
          </a:prstGeom>
          <a:solidFill>
            <a:srgbClr val="DCEFE8"/>
          </a:solidFill>
          <a:ln w="7620">
            <a:solidFill>
              <a:srgbClr val="007C78"/>
            </a:solidFill>
          </a:ln>
          <a:effectLst/>
        </p:spPr>
        <p:txBody>
          <a:bodyPr rtlCol="0" anchor="ctr"/>
          <a:lstStyle/>
          <a:p>
            <a:pPr algn="ctr"/>
          </a:p>
        </p:txBody>
      </p:sp>
      <p:sp>
        <p:nvSpPr>
          <p:cNvPr id="27" name="TextBox 26"/>
          <p:cNvSpPr txBox="1"/>
          <p:nvPr/>
        </p:nvSpPr>
        <p:spPr>
          <a:xfrm>
            <a:off x="716280" y="3870960"/>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007C78"/>
                </a:solidFill>
                <a:latin typeface="DejaVu Sans"/>
              </a:rPr>
              <a:t>AtomStorage</a:t>
            </a:r>
          </a:p>
        </p:txBody>
      </p:sp>
      <p:sp>
        <p:nvSpPr>
          <p:cNvPr id="28" name="TextBox 27"/>
          <p:cNvSpPr txBox="1"/>
          <p:nvPr/>
        </p:nvSpPr>
        <p:spPr>
          <a:xfrm>
            <a:off x="716280" y="4230014"/>
            <a:ext cx="32004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immutable-bytes/1</a:t>
            </a:r>
          </a:p>
        </p:txBody>
      </p:sp>
      <p:sp>
        <p:nvSpPr>
          <p:cNvPr id="29" name="Rounded Rectangle 28"/>
          <p:cNvSpPr/>
          <p:nvPr/>
        </p:nvSpPr>
        <p:spPr>
          <a:xfrm>
            <a:off x="4328160" y="3703319"/>
            <a:ext cx="3535679" cy="990600"/>
          </a:xfrm>
          <a:prstGeom prst="roundRect">
            <a:avLst>
              <a:gd name="adj" fmla="val 10000"/>
            </a:avLst>
          </a:prstGeom>
          <a:solidFill>
            <a:srgbClr val="DCEFE8"/>
          </a:solidFill>
          <a:ln w="7620">
            <a:solidFill>
              <a:srgbClr val="007C78"/>
            </a:solidFill>
          </a:ln>
          <a:effectLst/>
        </p:spPr>
        <p:txBody>
          <a:bodyPr rtlCol="0" anchor="ctr"/>
          <a:lstStyle/>
          <a:p>
            <a:pPr algn="ctr"/>
          </a:p>
        </p:txBody>
      </p:sp>
      <p:sp>
        <p:nvSpPr>
          <p:cNvPr id="30" name="TextBox 29"/>
          <p:cNvSpPr txBox="1"/>
          <p:nvPr/>
        </p:nvSpPr>
        <p:spPr>
          <a:xfrm>
            <a:off x="4495800" y="3870960"/>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007C78"/>
                </a:solidFill>
                <a:latin typeface="DejaVu Sans"/>
              </a:rPr>
              <a:t>Messaging</a:t>
            </a:r>
          </a:p>
        </p:txBody>
      </p:sp>
      <p:sp>
        <p:nvSpPr>
          <p:cNvPr id="31" name="TextBox 30"/>
          <p:cNvSpPr txBox="1"/>
          <p:nvPr/>
        </p:nvSpPr>
        <p:spPr>
          <a:xfrm>
            <a:off x="4495800" y="4230014"/>
            <a:ext cx="32004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durable-mailbox/2</a:t>
            </a:r>
          </a:p>
        </p:txBody>
      </p:sp>
      <p:sp>
        <p:nvSpPr>
          <p:cNvPr id="32" name="Rounded Rectangle 31"/>
          <p:cNvSpPr/>
          <p:nvPr/>
        </p:nvSpPr>
        <p:spPr>
          <a:xfrm>
            <a:off x="8107680" y="3703319"/>
            <a:ext cx="3535679" cy="990600"/>
          </a:xfrm>
          <a:prstGeom prst="roundRect">
            <a:avLst>
              <a:gd name="adj" fmla="val 10000"/>
            </a:avLst>
          </a:prstGeom>
          <a:solidFill>
            <a:srgbClr val="DCEFE8"/>
          </a:solidFill>
          <a:ln w="7620">
            <a:solidFill>
              <a:srgbClr val="007C78"/>
            </a:solidFill>
          </a:ln>
          <a:effectLst/>
        </p:spPr>
        <p:txBody>
          <a:bodyPr rtlCol="0" anchor="ctr"/>
          <a:lstStyle/>
          <a:p>
            <a:pPr algn="ctr"/>
          </a:p>
        </p:txBody>
      </p:sp>
      <p:sp>
        <p:nvSpPr>
          <p:cNvPr id="33" name="TextBox 32"/>
          <p:cNvSpPr txBox="1"/>
          <p:nvPr/>
        </p:nvSpPr>
        <p:spPr>
          <a:xfrm>
            <a:off x="8275320" y="3870960"/>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007C78"/>
                </a:solidFill>
                <a:latin typeface="DejaVu Sans"/>
              </a:rPr>
              <a:t>Execution</a:t>
            </a:r>
          </a:p>
        </p:txBody>
      </p:sp>
      <p:sp>
        <p:nvSpPr>
          <p:cNvPr id="34" name="TextBox 33"/>
          <p:cNvSpPr txBox="1"/>
          <p:nvPr/>
        </p:nvSpPr>
        <p:spPr>
          <a:xfrm>
            <a:off x="8275320" y="4230014"/>
            <a:ext cx="32004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inspect-atom/2</a:t>
            </a:r>
          </a:p>
        </p:txBody>
      </p:sp>
      <p:sp>
        <p:nvSpPr>
          <p:cNvPr id="35" name="TextBox 34"/>
          <p:cNvSpPr txBox="1"/>
          <p:nvPr/>
        </p:nvSpPr>
        <p:spPr>
          <a:xfrm>
            <a:off x="586740" y="5029200"/>
            <a:ext cx="108966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102B3F"/>
                </a:solidFill>
                <a:latin typeface="DejaVu Sans"/>
              </a:rPr>
              <a:t>Descriptor implementation 0.1.1 • Deterministic inspect output algorithm 0.1.0</a:t>
            </a:r>
          </a:p>
        </p:txBody>
      </p:sp>
      <p:sp>
        <p:nvSpPr>
          <p:cNvPr id="36" name="Rounded Rectangle 35"/>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7" name="TextBox 36"/>
          <p:cNvSpPr txBox="1"/>
          <p:nvPr/>
        </p:nvSpPr>
        <p:spPr>
          <a:xfrm>
            <a:off x="716280" y="5905500"/>
            <a:ext cx="107442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Descriptor hashes establish binding consistency; remote identity and provider truth remain separate.</a:t>
            </a:r>
          </a:p>
        </p:txBody>
      </p:sp>
      <p:cxnSp>
        <p:nvCxnSpPr>
          <p:cNvPr id="38" name="Connector 37"/>
          <p:cNvCxnSpPr/>
          <p:nvPr/>
        </p:nvCxnSpPr>
        <p:spPr>
          <a:xfrm>
            <a:off x="548640" y="6393180"/>
            <a:ext cx="11094720" cy="0"/>
          </a:xfrm>
          <a:prstGeom prst="line">
            <a:avLst/>
          </a:prstGeom>
          <a:ln w="7620">
            <a:solidFill>
              <a:srgbClr val="C9D2D4"/>
            </a:solidFill>
          </a:ln>
          <a:effectLst/>
        </p:spPr>
      </p:cxnSp>
      <p:sp>
        <p:nvSpPr>
          <p:cNvPr id="39" name="TextBox 38"/>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M1.2 / registry.py · bindings.py · responses.py</a:t>
            </a:r>
          </a:p>
        </p:txBody>
      </p:sp>
      <p:sp>
        <p:nvSpPr>
          <p:cNvPr id="40" name="TextBox 39"/>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11 / 33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02 / INVOCATION · TRUSTED CONTEXT</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Native identity and stable intent stay separate</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Hive supplies the actor; the operator supplies the mapping; Fusion checks current authority.</a:t>
            </a:r>
          </a:p>
        </p:txBody>
      </p:sp>
      <p:sp>
        <p:nvSpPr>
          <p:cNvPr id="5" name="Rounded Rectangle 4"/>
          <p:cNvSpPr/>
          <p:nvPr/>
        </p:nvSpPr>
        <p:spPr>
          <a:xfrm>
            <a:off x="548640" y="1905000"/>
            <a:ext cx="5669280" cy="3528060"/>
          </a:xfrm>
          <a:prstGeom prst="roundRect">
            <a:avLst>
              <a:gd name="adj" fmla="val 3023"/>
            </a:avLst>
          </a:prstGeom>
          <a:solidFill>
            <a:srgbClr val="0B2233"/>
          </a:solidFill>
          <a:ln>
            <a:noFill/>
          </a:ln>
          <a:effectLst/>
        </p:spPr>
        <p:txBody>
          <a:bodyPr rtlCol="0" anchor="ctr"/>
          <a:lstStyle/>
          <a:p>
            <a:pPr algn="ctr"/>
          </a:p>
        </p:txBody>
      </p:sp>
      <p:sp>
        <p:nvSpPr>
          <p:cNvPr id="6" name="TextBox 5"/>
          <p:cNvSpPr txBox="1"/>
          <p:nvPr/>
        </p:nvSpPr>
        <p:spPr>
          <a:xfrm>
            <a:off x="754380" y="2164080"/>
            <a:ext cx="52501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FFFFFF"/>
                </a:solidFill>
                <a:latin typeface="DejaVu Sans Mono"/>
              </a:rPr>
              <a:t>action: inspect</a:t>
            </a:r>
          </a:p>
        </p:txBody>
      </p:sp>
      <p:sp>
        <p:nvSpPr>
          <p:cNvPr id="7" name="TextBox 6"/>
          <p:cNvSpPr txBox="1"/>
          <p:nvPr/>
        </p:nvSpPr>
        <p:spPr>
          <a:xfrm>
            <a:off x="754380" y="2552700"/>
            <a:ext cx="52501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FFFFFF"/>
                </a:solidFill>
                <a:latin typeface="DejaVu Sans Mono"/>
              </a:rPr>
              <a:t>params: {seed: 12}</a:t>
            </a:r>
          </a:p>
        </p:txBody>
      </p:sp>
      <p:sp>
        <p:nvSpPr>
          <p:cNvPr id="8" name="TextBox 7"/>
          <p:cNvSpPr txBox="1"/>
          <p:nvPr/>
        </p:nvSpPr>
        <p:spPr>
          <a:xfrm>
            <a:off x="754380" y="2941320"/>
            <a:ext cx="52501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FFFFFF"/>
                </a:solidFill>
                <a:latin typeface="DejaVu Sans Mono"/>
              </a:rPr>
              <a:t>idempotency_key: generated-intent-12</a:t>
            </a:r>
          </a:p>
        </p:txBody>
      </p:sp>
      <p:sp>
        <p:nvSpPr>
          <p:cNvPr id="9" name="TextBox 8"/>
          <p:cNvSpPr txBox="1"/>
          <p:nvPr/>
        </p:nvSpPr>
        <p:spPr>
          <a:xfrm>
            <a:off x="754380" y="3329940"/>
            <a:ext cx="52501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FFFFFF"/>
                </a:solidFill>
                <a:latin typeface="DejaVu Sans Mono"/>
              </a:rPr>
              <a:t/>
            </a:r>
          </a:p>
        </p:txBody>
      </p:sp>
      <p:sp>
        <p:nvSpPr>
          <p:cNvPr id="10" name="TextBox 9"/>
          <p:cNvSpPr txBox="1"/>
          <p:nvPr/>
        </p:nvSpPr>
        <p:spPr>
          <a:xfrm>
            <a:off x="754380" y="3718560"/>
            <a:ext cx="52501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77DDC4"/>
                </a:solidFill>
                <a:latin typeface="DejaVu Sans Mono"/>
              </a:rPr>
              <a:t>ctx.actor ← native authentication</a:t>
            </a:r>
          </a:p>
        </p:txBody>
      </p:sp>
      <p:sp>
        <p:nvSpPr>
          <p:cNvPr id="11" name="TextBox 10"/>
          <p:cNvSpPr txBox="1"/>
          <p:nvPr/>
        </p:nvSpPr>
        <p:spPr>
          <a:xfrm>
            <a:off x="754380" y="4107179"/>
            <a:ext cx="52501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77DDC4"/>
                </a:solidFill>
                <a:latin typeface="DejaVu Sans Mono"/>
              </a:rPr>
              <a:t>ctx.command ← native request digest</a:t>
            </a:r>
          </a:p>
        </p:txBody>
      </p:sp>
      <p:sp>
        <p:nvSpPr>
          <p:cNvPr id="12" name="TextBox 11"/>
          <p:cNvSpPr txBox="1"/>
          <p:nvPr/>
        </p:nvSpPr>
        <p:spPr>
          <a:xfrm>
            <a:off x="754380" y="4495800"/>
            <a:ext cx="52501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77DDC4"/>
                </a:solidFill>
                <a:latin typeface="DejaVu Sans Mono"/>
              </a:rPr>
              <a:t>credential ← private operator config</a:t>
            </a:r>
          </a:p>
        </p:txBody>
      </p:sp>
      <p:sp>
        <p:nvSpPr>
          <p:cNvPr id="13" name="Rounded Rectangle 12"/>
          <p:cNvSpPr/>
          <p:nvPr/>
        </p:nvSpPr>
        <p:spPr>
          <a:xfrm>
            <a:off x="6591300" y="1905000"/>
            <a:ext cx="5052060" cy="1021079"/>
          </a:xfrm>
          <a:prstGeom prst="roundRect">
            <a:avLst>
              <a:gd name="adj" fmla="val 9701"/>
            </a:avLst>
          </a:prstGeom>
          <a:solidFill>
            <a:srgbClr val="E4EBF5"/>
          </a:solidFill>
          <a:ln w="7620">
            <a:solidFill>
              <a:srgbClr val="315E9C"/>
            </a:solidFill>
          </a:ln>
          <a:effectLst/>
        </p:spPr>
        <p:txBody>
          <a:bodyPr rtlCol="0" anchor="ctr"/>
          <a:lstStyle/>
          <a:p>
            <a:pPr algn="ctr"/>
          </a:p>
        </p:txBody>
      </p:sp>
      <p:sp>
        <p:nvSpPr>
          <p:cNvPr id="14" name="TextBox 13"/>
          <p:cNvSpPr txBox="1"/>
          <p:nvPr/>
        </p:nvSpPr>
        <p:spPr>
          <a:xfrm>
            <a:off x="6758939" y="2072639"/>
            <a:ext cx="471678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315E9C"/>
                </a:solidFill>
                <a:latin typeface="DejaVu Sans"/>
              </a:rPr>
              <a:t>Only generated shareable input</a:t>
            </a:r>
          </a:p>
        </p:txBody>
      </p:sp>
      <p:sp>
        <p:nvSpPr>
          <p:cNvPr id="15" name="TextBox 14"/>
          <p:cNvSpPr txBox="1"/>
          <p:nvPr/>
        </p:nvSpPr>
        <p:spPr>
          <a:xfrm>
            <a:off x="6758939" y="2421940"/>
            <a:ext cx="471678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The seed produces bytes; no private history or arbitrary</a:t>
            </a:r>
          </a:p>
        </p:txBody>
      </p:sp>
      <p:sp>
        <p:nvSpPr>
          <p:cNvPr id="16" name="TextBox 15"/>
          <p:cNvSpPr txBox="1"/>
          <p:nvPr/>
        </p:nvSpPr>
        <p:spPr>
          <a:xfrm>
            <a:off x="6758939" y="2636520"/>
            <a:ext cx="471678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remote operation is accepted.</a:t>
            </a:r>
          </a:p>
        </p:txBody>
      </p:sp>
      <p:sp>
        <p:nvSpPr>
          <p:cNvPr id="17" name="Rounded Rectangle 16"/>
          <p:cNvSpPr/>
          <p:nvPr/>
        </p:nvSpPr>
        <p:spPr>
          <a:xfrm>
            <a:off x="6591300" y="3139440"/>
            <a:ext cx="5052060" cy="1021079"/>
          </a:xfrm>
          <a:prstGeom prst="roundRect">
            <a:avLst>
              <a:gd name="adj" fmla="val 9701"/>
            </a:avLst>
          </a:prstGeom>
          <a:solidFill>
            <a:srgbClr val="E4EBF5"/>
          </a:solidFill>
          <a:ln w="7620">
            <a:solidFill>
              <a:srgbClr val="315E9C"/>
            </a:solidFill>
          </a:ln>
          <a:effectLst/>
        </p:spPr>
        <p:txBody>
          <a:bodyPr rtlCol="0" anchor="ctr"/>
          <a:lstStyle/>
          <a:p>
            <a:pPr algn="ctr"/>
          </a:p>
        </p:txBody>
      </p:sp>
      <p:sp>
        <p:nvSpPr>
          <p:cNvPr id="18" name="TextBox 17"/>
          <p:cNvSpPr txBox="1"/>
          <p:nvPr/>
        </p:nvSpPr>
        <p:spPr>
          <a:xfrm>
            <a:off x="6758939" y="3307079"/>
            <a:ext cx="471678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315E9C"/>
                </a:solidFill>
                <a:latin typeface="DejaVu Sans"/>
              </a:rPr>
              <a:t>Original input + original key</a:t>
            </a:r>
          </a:p>
        </p:txBody>
      </p:sp>
      <p:sp>
        <p:nvSpPr>
          <p:cNvPr id="19" name="TextBox 18"/>
          <p:cNvSpPr txBox="1"/>
          <p:nvPr/>
        </p:nvSpPr>
        <p:spPr>
          <a:xfrm>
            <a:off x="6758939" y="3656380"/>
            <a:ext cx="471678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An ambiguous response replays the intent; it does not</a:t>
            </a:r>
          </a:p>
        </p:txBody>
      </p:sp>
      <p:sp>
        <p:nvSpPr>
          <p:cNvPr id="20" name="TextBox 19"/>
          <p:cNvSpPr txBox="1"/>
          <p:nvPr/>
        </p:nvSpPr>
        <p:spPr>
          <a:xfrm>
            <a:off x="6758939" y="3870960"/>
            <a:ext cx="471678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allocate a second job.</a:t>
            </a:r>
          </a:p>
        </p:txBody>
      </p:sp>
      <p:sp>
        <p:nvSpPr>
          <p:cNvPr id="21" name="Rounded Rectangle 20"/>
          <p:cNvSpPr/>
          <p:nvPr/>
        </p:nvSpPr>
        <p:spPr>
          <a:xfrm>
            <a:off x="6591300" y="4373880"/>
            <a:ext cx="5052060" cy="1059180"/>
          </a:xfrm>
          <a:prstGeom prst="roundRect">
            <a:avLst>
              <a:gd name="adj" fmla="val 9352"/>
            </a:avLst>
          </a:prstGeom>
          <a:solidFill>
            <a:srgbClr val="F3E7CE"/>
          </a:solidFill>
          <a:ln w="7620">
            <a:solidFill>
              <a:srgbClr val="A86A15"/>
            </a:solidFill>
          </a:ln>
          <a:effectLst/>
        </p:spPr>
        <p:txBody>
          <a:bodyPr rtlCol="0" anchor="ctr"/>
          <a:lstStyle/>
          <a:p>
            <a:pPr algn="ctr"/>
          </a:p>
        </p:txBody>
      </p:sp>
      <p:sp>
        <p:nvSpPr>
          <p:cNvPr id="22" name="TextBox 21"/>
          <p:cNvSpPr txBox="1"/>
          <p:nvPr/>
        </p:nvSpPr>
        <p:spPr>
          <a:xfrm>
            <a:off x="6758939" y="4541520"/>
            <a:ext cx="471678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A86A15"/>
                </a:solidFill>
                <a:latin typeface="DejaVu Sans"/>
              </a:rPr>
              <a:t>Authorization remains live</a:t>
            </a:r>
          </a:p>
        </p:txBody>
      </p:sp>
      <p:sp>
        <p:nvSpPr>
          <p:cNvPr id="23" name="TextBox 22"/>
          <p:cNvSpPr txBox="1"/>
          <p:nvPr/>
        </p:nvSpPr>
        <p:spPr>
          <a:xfrm>
            <a:off x="6758939" y="4890820"/>
            <a:ext cx="47167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Even a recorded successful outcome must pass</a:t>
            </a:r>
          </a:p>
        </p:txBody>
      </p:sp>
      <p:sp>
        <p:nvSpPr>
          <p:cNvPr id="24" name="TextBox 23"/>
          <p:cNvSpPr txBox="1"/>
          <p:nvPr/>
        </p:nvSpPr>
        <p:spPr>
          <a:xfrm>
            <a:off x="6758939" y="5124907"/>
            <a:ext cx="47167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current module checks before return.</a:t>
            </a:r>
          </a:p>
        </p:txBody>
      </p:sp>
      <p:sp>
        <p:nvSpPr>
          <p:cNvPr id="25" name="Rounded Rectangle 24"/>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26" name="TextBox 25"/>
          <p:cNvSpPr txBox="1"/>
          <p:nvPr/>
        </p:nvSpPr>
        <p:spPr>
          <a:xfrm>
            <a:off x="716280" y="5905500"/>
            <a:ext cx="10744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Scope labels, saved receipts and caller-supplied identity do not grant permission.</a:t>
            </a:r>
          </a:p>
        </p:txBody>
      </p:sp>
      <p:cxnSp>
        <p:nvCxnSpPr>
          <p:cNvPr id="27" name="Connector 26"/>
          <p:cNvCxnSpPr/>
          <p:nvPr/>
        </p:nvCxnSpPr>
        <p:spPr>
          <a:xfrm>
            <a:off x="548640" y="6393180"/>
            <a:ext cx="11094720" cy="0"/>
          </a:xfrm>
          <a:prstGeom prst="line">
            <a:avLst/>
          </a:prstGeom>
          <a:ln w="7620">
            <a:solidFill>
              <a:srgbClr val="C9D2D4"/>
            </a:solidFill>
          </a:ln>
          <a:effectLst/>
        </p:spPr>
      </p:cxnSp>
      <p:sp>
        <p:nvSpPr>
          <p:cNvPr id="28" name="TextBox 27"/>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M1.2 / ProgramActions.person_act · integration/hive/program/program.py</a:t>
            </a:r>
          </a:p>
        </p:txBody>
      </p:sp>
      <p:sp>
        <p:nvSpPr>
          <p:cNvPr id="29" name="TextBox 28"/>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12 / 33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NATIVE INTEGRATION · SOURCE FIRST</a:t>
            </a:r>
          </a:p>
        </p:txBody>
      </p:sp>
      <p:sp>
        <p:nvSpPr>
          <p:cNvPr id="3" name="TextBox 2"/>
          <p:cNvSpPr txBox="1"/>
          <p:nvPr/>
        </p:nvSpPr>
        <p:spPr>
          <a:xfrm>
            <a:off x="533400" y="723900"/>
            <a:ext cx="11125200" cy="448665"/>
          </a:xfrm>
          <a:prstGeom prst="rect">
            <a:avLst/>
          </a:prstGeom>
          <a:noFill/>
        </p:spPr>
        <p:txBody>
          <a:bodyPr wrap="none" lIns="0" rIns="0" tIns="0" bIns="0" anchor="t" anchorCtr="0">
            <a:noAutofit/>
          </a:bodyPr>
          <a:lstStyle/>
          <a:p>
            <a:pPr algn="l">
              <a:lnSpc>
                <a:spcPct val="100000"/>
              </a:lnSpc>
              <a:spcBef>
                <a:spcPts val="0"/>
              </a:spcBef>
              <a:spcAft>
                <a:spcPts val="0"/>
              </a:spcAft>
            </a:pPr>
            <a:r>
              <a:rPr sz="2760" b="1">
                <a:solidFill>
                  <a:srgbClr val="102B3F"/>
                </a:solidFill>
                <a:latin typeface="DejaVu Sans"/>
              </a:rPr>
              <a:t>The intended Hive source now has a verified entrypoint</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 supplied schematics identify the runtime and revision used for this engineering gate.</a:t>
            </a:r>
          </a:p>
        </p:txBody>
      </p:sp>
      <p:sp>
        <p:nvSpPr>
          <p:cNvPr id="5" name="Rounded Rectangle 4"/>
          <p:cNvSpPr/>
          <p:nvPr/>
        </p:nvSpPr>
        <p:spPr>
          <a:xfrm>
            <a:off x="548640" y="1905000"/>
            <a:ext cx="3390900" cy="1234440"/>
          </a:xfrm>
          <a:prstGeom prst="roundRect">
            <a:avLst>
              <a:gd name="adj" fmla="val 8024"/>
            </a:avLst>
          </a:prstGeom>
          <a:solidFill>
            <a:srgbClr val="FFFFFF"/>
          </a:solidFill>
          <a:ln w="7620">
            <a:solidFill>
              <a:srgbClr val="102B3F"/>
            </a:solidFill>
          </a:ln>
          <a:effectLst/>
        </p:spPr>
        <p:txBody>
          <a:bodyPr rtlCol="0" anchor="ctr"/>
          <a:lstStyle/>
          <a:p>
            <a:pPr algn="ctr"/>
          </a:p>
        </p:txBody>
      </p:sp>
      <p:sp>
        <p:nvSpPr>
          <p:cNvPr id="6" name="TextBox 5"/>
          <p:cNvSpPr txBox="1"/>
          <p:nvPr/>
        </p:nvSpPr>
        <p:spPr>
          <a:xfrm>
            <a:off x="716280" y="2072639"/>
            <a:ext cx="305562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102B3F"/>
                </a:solidFill>
                <a:latin typeface="DejaVu Sans"/>
              </a:rPr>
              <a:t>Schematics</a:t>
            </a:r>
          </a:p>
        </p:txBody>
      </p:sp>
      <p:sp>
        <p:nvSpPr>
          <p:cNvPr id="7" name="TextBox 6"/>
          <p:cNvSpPr txBox="1"/>
          <p:nvPr/>
        </p:nvSpPr>
        <p:spPr>
          <a:xfrm>
            <a:off x="716280" y="2451201"/>
            <a:ext cx="30556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4af00db4e395</a:t>
            </a:r>
          </a:p>
        </p:txBody>
      </p:sp>
      <p:sp>
        <p:nvSpPr>
          <p:cNvPr id="8" name="TextBox 7"/>
          <p:cNvSpPr txBox="1"/>
          <p:nvPr/>
        </p:nvSpPr>
        <p:spPr>
          <a:xfrm>
            <a:off x="716280" y="2656027"/>
            <a:ext cx="30556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Documentation points to Hive</a:t>
            </a:r>
          </a:p>
        </p:txBody>
      </p:sp>
      <p:sp>
        <p:nvSpPr>
          <p:cNvPr id="9" name="TextBox 8"/>
          <p:cNvSpPr txBox="1"/>
          <p:nvPr/>
        </p:nvSpPr>
        <p:spPr>
          <a:xfrm>
            <a:off x="716280" y="2860852"/>
            <a:ext cx="30556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34b0fb3.</a:t>
            </a:r>
          </a:p>
        </p:txBody>
      </p:sp>
      <p:sp>
        <p:nvSpPr>
          <p:cNvPr id="10" name="Rounded Rectangle 9"/>
          <p:cNvSpPr/>
          <p:nvPr/>
        </p:nvSpPr>
        <p:spPr>
          <a:xfrm>
            <a:off x="4312920" y="1905000"/>
            <a:ext cx="3390900" cy="1234440"/>
          </a:xfrm>
          <a:prstGeom prst="roundRect">
            <a:avLst>
              <a:gd name="adj" fmla="val 8024"/>
            </a:avLst>
          </a:prstGeom>
          <a:solidFill>
            <a:srgbClr val="DCEFE8"/>
          </a:solidFill>
          <a:ln w="7620">
            <a:solidFill>
              <a:srgbClr val="007C78"/>
            </a:solidFill>
          </a:ln>
          <a:effectLst/>
        </p:spPr>
        <p:txBody>
          <a:bodyPr rtlCol="0" anchor="ctr"/>
          <a:lstStyle/>
          <a:p>
            <a:pPr algn="ctr"/>
          </a:p>
        </p:txBody>
      </p:sp>
      <p:sp>
        <p:nvSpPr>
          <p:cNvPr id="11" name="TextBox 10"/>
          <p:cNvSpPr txBox="1"/>
          <p:nvPr/>
        </p:nvSpPr>
        <p:spPr>
          <a:xfrm>
            <a:off x="4480560" y="2072639"/>
            <a:ext cx="305562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007C78"/>
                </a:solidFill>
                <a:latin typeface="DejaVu Sans"/>
              </a:rPr>
              <a:t>Actual Hive source</a:t>
            </a:r>
          </a:p>
        </p:txBody>
      </p:sp>
      <p:sp>
        <p:nvSpPr>
          <p:cNvPr id="12" name="TextBox 11"/>
          <p:cNvSpPr txBox="1"/>
          <p:nvPr/>
        </p:nvSpPr>
        <p:spPr>
          <a:xfrm>
            <a:off x="4480560" y="2441447"/>
            <a:ext cx="30556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34b0fb32ab38</a:t>
            </a:r>
          </a:p>
        </p:txBody>
      </p:sp>
      <p:sp>
        <p:nvSpPr>
          <p:cNvPr id="13" name="TextBox 12"/>
          <p:cNvSpPr txBox="1"/>
          <p:nvPr/>
        </p:nvSpPr>
        <p:spPr>
          <a:xfrm>
            <a:off x="4480560" y="2646273"/>
            <a:ext cx="30556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Authorized SSH fetch; clean</a:t>
            </a:r>
          </a:p>
        </p:txBody>
      </p:sp>
      <p:sp>
        <p:nvSpPr>
          <p:cNvPr id="14" name="TextBox 13"/>
          <p:cNvSpPr txBox="1"/>
          <p:nvPr/>
        </p:nvSpPr>
        <p:spPr>
          <a:xfrm>
            <a:off x="4480560" y="2851099"/>
            <a:ext cx="30556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checkout.</a:t>
            </a:r>
          </a:p>
        </p:txBody>
      </p:sp>
      <p:sp>
        <p:nvSpPr>
          <p:cNvPr id="15" name="Rounded Rectangle 14"/>
          <p:cNvSpPr/>
          <p:nvPr/>
        </p:nvSpPr>
        <p:spPr>
          <a:xfrm>
            <a:off x="8077200" y="1905000"/>
            <a:ext cx="3566160" cy="1234440"/>
          </a:xfrm>
          <a:prstGeom prst="roundRect">
            <a:avLst>
              <a:gd name="adj" fmla="val 8024"/>
            </a:avLst>
          </a:prstGeom>
          <a:solidFill>
            <a:srgbClr val="DCEFE8"/>
          </a:solidFill>
          <a:ln w="7620">
            <a:solidFill>
              <a:srgbClr val="007C78"/>
            </a:solidFill>
          </a:ln>
          <a:effectLst/>
        </p:spPr>
        <p:txBody>
          <a:bodyPr rtlCol="0" anchor="ctr"/>
          <a:lstStyle/>
          <a:p>
            <a:pPr algn="ctr"/>
          </a:p>
        </p:txBody>
      </p:sp>
      <p:sp>
        <p:nvSpPr>
          <p:cNvPr id="16" name="TextBox 15"/>
          <p:cNvSpPr txBox="1"/>
          <p:nvPr/>
        </p:nvSpPr>
        <p:spPr>
          <a:xfrm>
            <a:off x="8244839" y="2072639"/>
            <a:ext cx="3230879"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007C78"/>
                </a:solidFill>
                <a:latin typeface="DejaVu Sans"/>
              </a:rPr>
              <a:t>Native baseline</a:t>
            </a:r>
          </a:p>
        </p:txBody>
      </p:sp>
      <p:sp>
        <p:nvSpPr>
          <p:cNvPr id="17" name="TextBox 16"/>
          <p:cNvSpPr txBox="1"/>
          <p:nvPr/>
        </p:nvSpPr>
        <p:spPr>
          <a:xfrm>
            <a:off x="8244839" y="2441447"/>
            <a:ext cx="32308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34 selected tests passed</a:t>
            </a:r>
          </a:p>
        </p:txBody>
      </p:sp>
      <p:sp>
        <p:nvSpPr>
          <p:cNvPr id="18" name="TextBox 17"/>
          <p:cNvSpPr txBox="1"/>
          <p:nvPr/>
        </p:nvSpPr>
        <p:spPr>
          <a:xfrm>
            <a:off x="8244839" y="2665780"/>
            <a:ext cx="32308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Upstream process driver is a fixture.</a:t>
            </a:r>
          </a:p>
        </p:txBody>
      </p:sp>
      <p:cxnSp>
        <p:nvCxnSpPr>
          <p:cNvPr id="19" name="Connector 18"/>
          <p:cNvCxnSpPr/>
          <p:nvPr/>
        </p:nvCxnSpPr>
        <p:spPr>
          <a:xfrm>
            <a:off x="3939540" y="2522220"/>
            <a:ext cx="373380" cy="0"/>
          </a:xfrm>
          <a:prstGeom prst="line">
            <a:avLst/>
          </a:prstGeom>
          <a:ln w="15240">
            <a:solidFill>
              <a:srgbClr val="007C78"/>
            </a:solidFill>
          </a:ln>
          <a:effectLst/>
        </p:spPr>
      </p:cxnSp>
      <p:sp>
        <p:nvSpPr>
          <p:cNvPr id="20" name="Freeform 19"/>
          <p:cNvSpPr/>
          <p:nvPr/>
        </p:nvSpPr>
        <p:spPr>
          <a:xfrm>
            <a:off x="4213860" y="248412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cxnSp>
        <p:nvCxnSpPr>
          <p:cNvPr id="21" name="Connector 20"/>
          <p:cNvCxnSpPr/>
          <p:nvPr/>
        </p:nvCxnSpPr>
        <p:spPr>
          <a:xfrm>
            <a:off x="7703820" y="2522220"/>
            <a:ext cx="373380" cy="0"/>
          </a:xfrm>
          <a:prstGeom prst="line">
            <a:avLst/>
          </a:prstGeom>
          <a:ln w="15240">
            <a:solidFill>
              <a:srgbClr val="007C78"/>
            </a:solidFill>
          </a:ln>
          <a:effectLst/>
        </p:spPr>
      </p:cxnSp>
      <p:sp>
        <p:nvSpPr>
          <p:cNvPr id="22" name="Freeform 21"/>
          <p:cNvSpPr/>
          <p:nvPr/>
        </p:nvSpPr>
        <p:spPr>
          <a:xfrm>
            <a:off x="7978140" y="248412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23" name="Rounded Rectangle 22"/>
          <p:cNvSpPr/>
          <p:nvPr/>
        </p:nvSpPr>
        <p:spPr>
          <a:xfrm>
            <a:off x="548640" y="3550919"/>
            <a:ext cx="11094720" cy="1859280"/>
          </a:xfrm>
          <a:prstGeom prst="roundRect">
            <a:avLst>
              <a:gd name="adj" fmla="val 5737"/>
            </a:avLst>
          </a:prstGeom>
          <a:solidFill>
            <a:srgbClr val="0B2233"/>
          </a:solidFill>
          <a:ln>
            <a:noFill/>
          </a:ln>
          <a:effectLst/>
        </p:spPr>
        <p:txBody>
          <a:bodyPr rtlCol="0" anchor="ctr"/>
          <a:lstStyle/>
          <a:p>
            <a:pPr algn="ctr"/>
          </a:p>
        </p:txBody>
      </p:sp>
      <p:sp>
        <p:nvSpPr>
          <p:cNvPr id="24" name="TextBox 23"/>
          <p:cNvSpPr txBox="1"/>
          <p:nvPr/>
        </p:nvSpPr>
        <p:spPr>
          <a:xfrm>
            <a:off x="769619" y="3771900"/>
            <a:ext cx="105460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FFFFFF"/>
                </a:solidFill>
                <a:latin typeface="DejaVu Sans Mono"/>
              </a:rPr>
              <a:t>python -m hive → exclusive startup recovery → create_app</a:t>
            </a:r>
          </a:p>
        </p:txBody>
      </p:sp>
      <p:sp>
        <p:nvSpPr>
          <p:cNvPr id="25" name="TextBox 24"/>
          <p:cNvSpPr txBox="1"/>
          <p:nvPr/>
        </p:nvSpPr>
        <p:spPr>
          <a:xfrm>
            <a:off x="769619" y="4274820"/>
            <a:ext cx="105460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FFFFFF"/>
                </a:solidFill>
                <a:latin typeface="DejaVu Sans Mono"/>
              </a:rPr>
              <a:t>POST /api/programs/fusion-inspect/act</a:t>
            </a:r>
          </a:p>
        </p:txBody>
      </p:sp>
      <p:sp>
        <p:nvSpPr>
          <p:cNvPr id="26" name="TextBox 25"/>
          <p:cNvSpPr txBox="1"/>
          <p:nvPr/>
        </p:nvSpPr>
        <p:spPr>
          <a:xfrm>
            <a:off x="769619" y="4777740"/>
            <a:ext cx="105460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FFFFFF"/>
                </a:solidFill>
                <a:latin typeface="DejaVu Sans Mono"/>
              </a:rPr>
              <a:t>ProgramActions.person_act → Programs.act → plugin.act</a:t>
            </a:r>
          </a:p>
        </p:txBody>
      </p:sp>
      <p:sp>
        <p:nvSpPr>
          <p:cNvPr id="27" name="Rounded Rectangle 26"/>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28" name="TextBox 27"/>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Real native dispatch; ASGI TestClient is the transport. No fake Hive, live LLM or new server.</a:t>
            </a:r>
          </a:p>
        </p:txBody>
      </p:sp>
      <p:cxnSp>
        <p:nvCxnSpPr>
          <p:cNvPr id="29" name="Connector 28"/>
          <p:cNvCxnSpPr/>
          <p:nvPr/>
        </p:nvCxnSpPr>
        <p:spPr>
          <a:xfrm>
            <a:off x="548640" y="6393180"/>
            <a:ext cx="11094720" cy="0"/>
          </a:xfrm>
          <a:prstGeom prst="line">
            <a:avLst/>
          </a:prstGeom>
          <a:ln w="7620">
            <a:solidFill>
              <a:srgbClr val="C9D2D4"/>
            </a:solidFill>
          </a:ln>
          <a:effectLst/>
        </p:spPr>
      </p:cxnSp>
      <p:sp>
        <p:nvSpPr>
          <p:cNvPr id="30" name="TextBox 29"/>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M1.2 / sources.json · discovery.md · native-baseline.xml</a:t>
            </a:r>
          </a:p>
        </p:txBody>
      </p:sp>
      <p:sp>
        <p:nvSpPr>
          <p:cNvPr id="31" name="TextBox 30"/>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13 / 33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NATIVE INTEGRATION · SEQUENCE</a:t>
            </a:r>
          </a:p>
        </p:txBody>
      </p:sp>
      <p:sp>
        <p:nvSpPr>
          <p:cNvPr id="3" name="TextBox 2"/>
          <p:cNvSpPr txBox="1"/>
          <p:nvPr/>
        </p:nvSpPr>
        <p:spPr>
          <a:xfrm>
            <a:off x="533400" y="723900"/>
            <a:ext cx="11125200" cy="477926"/>
          </a:xfrm>
          <a:prstGeom prst="rect">
            <a:avLst/>
          </a:prstGeom>
          <a:noFill/>
        </p:spPr>
        <p:txBody>
          <a:bodyPr wrap="none" lIns="0" rIns="0" tIns="0" bIns="0" anchor="t" anchorCtr="0">
            <a:noAutofit/>
          </a:bodyPr>
          <a:lstStyle/>
          <a:p>
            <a:pPr algn="l">
              <a:lnSpc>
                <a:spcPct val="100000"/>
              </a:lnSpc>
              <a:spcBef>
                <a:spcPts val="0"/>
              </a:spcBef>
              <a:spcAft>
                <a:spcPts val="0"/>
              </a:spcAft>
            </a:pPr>
            <a:r>
              <a:rPr sz="2940" b="1">
                <a:solidFill>
                  <a:srgbClr val="102B3F"/>
                </a:solidFill>
                <a:latin typeface="DejaVu Sans"/>
              </a:rPr>
              <a:t>One native operation crosses the existing interfaces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 caller stores intent; each provider commits only its own state.</a:t>
            </a:r>
          </a:p>
        </p:txBody>
      </p:sp>
      <p:sp>
        <p:nvSpPr>
          <p:cNvPr id="5" name="Rounded Rectangle 4"/>
          <p:cNvSpPr/>
          <p:nvPr/>
        </p:nvSpPr>
        <p:spPr>
          <a:xfrm>
            <a:off x="495300" y="1790700"/>
            <a:ext cx="1371600" cy="411480"/>
          </a:xfrm>
          <a:prstGeom prst="roundRect">
            <a:avLst>
              <a:gd name="adj" fmla="val 14814"/>
            </a:avLst>
          </a:prstGeom>
          <a:solidFill>
            <a:srgbClr val="DCEFE8"/>
          </a:solidFill>
          <a:ln>
            <a:noFill/>
          </a:ln>
          <a:effectLst/>
        </p:spPr>
        <p:txBody>
          <a:bodyPr rtlCol="0" anchor="ctr"/>
          <a:lstStyle/>
          <a:p>
            <a:pPr algn="ctr"/>
          </a:p>
        </p:txBody>
      </p:sp>
      <p:sp>
        <p:nvSpPr>
          <p:cNvPr id="6" name="TextBox 5"/>
          <p:cNvSpPr txBox="1"/>
          <p:nvPr/>
        </p:nvSpPr>
        <p:spPr>
          <a:xfrm>
            <a:off x="579120" y="1912620"/>
            <a:ext cx="12268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1">
                <a:solidFill>
                  <a:srgbClr val="102B3F"/>
                </a:solidFill>
                <a:latin typeface="DejaVu Sans"/>
              </a:rPr>
              <a:t>Real Hive</a:t>
            </a:r>
          </a:p>
        </p:txBody>
      </p:sp>
      <p:cxnSp>
        <p:nvCxnSpPr>
          <p:cNvPr id="7" name="Connector 6"/>
          <p:cNvCxnSpPr/>
          <p:nvPr/>
        </p:nvCxnSpPr>
        <p:spPr>
          <a:xfrm>
            <a:off x="1181100" y="2301240"/>
            <a:ext cx="0" cy="3489960"/>
          </a:xfrm>
          <a:prstGeom prst="line">
            <a:avLst/>
          </a:prstGeom>
          <a:ln w="15240">
            <a:solidFill>
              <a:srgbClr val="C9D2D4"/>
            </a:solidFill>
            <a:prstDash val="dash"/>
          </a:ln>
          <a:effectLst/>
        </p:spPr>
      </p:cxnSp>
      <p:sp>
        <p:nvSpPr>
          <p:cNvPr id="8" name="Rounded Rectangle 7"/>
          <p:cNvSpPr/>
          <p:nvPr/>
        </p:nvSpPr>
        <p:spPr>
          <a:xfrm>
            <a:off x="2971800" y="1790700"/>
            <a:ext cx="1371600" cy="411480"/>
          </a:xfrm>
          <a:prstGeom prst="roundRect">
            <a:avLst>
              <a:gd name="adj" fmla="val 14814"/>
            </a:avLst>
          </a:prstGeom>
          <a:solidFill>
            <a:srgbClr val="E4EBF5"/>
          </a:solidFill>
          <a:ln>
            <a:noFill/>
          </a:ln>
          <a:effectLst/>
        </p:spPr>
        <p:txBody>
          <a:bodyPr rtlCol="0" anchor="ctr"/>
          <a:lstStyle/>
          <a:p>
            <a:pPr algn="ctr"/>
          </a:p>
        </p:txBody>
      </p:sp>
      <p:sp>
        <p:nvSpPr>
          <p:cNvPr id="9" name="TextBox 8"/>
          <p:cNvSpPr txBox="1"/>
          <p:nvPr/>
        </p:nvSpPr>
        <p:spPr>
          <a:xfrm>
            <a:off x="3055620" y="1912620"/>
            <a:ext cx="12268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1">
                <a:solidFill>
                  <a:srgbClr val="102B3F"/>
                </a:solidFill>
                <a:latin typeface="DejaVu Sans"/>
              </a:rPr>
              <a:t>Caller receipt</a:t>
            </a:r>
          </a:p>
        </p:txBody>
      </p:sp>
      <p:cxnSp>
        <p:nvCxnSpPr>
          <p:cNvPr id="10" name="Connector 9"/>
          <p:cNvCxnSpPr/>
          <p:nvPr/>
        </p:nvCxnSpPr>
        <p:spPr>
          <a:xfrm>
            <a:off x="3657600" y="2301240"/>
            <a:ext cx="0" cy="3489960"/>
          </a:xfrm>
          <a:prstGeom prst="line">
            <a:avLst/>
          </a:prstGeom>
          <a:ln w="15240">
            <a:solidFill>
              <a:srgbClr val="C9D2D4"/>
            </a:solidFill>
            <a:prstDash val="dash"/>
          </a:ln>
          <a:effectLst/>
        </p:spPr>
      </p:cxnSp>
      <p:sp>
        <p:nvSpPr>
          <p:cNvPr id="11" name="Rounded Rectangle 10"/>
          <p:cNvSpPr/>
          <p:nvPr/>
        </p:nvSpPr>
        <p:spPr>
          <a:xfrm>
            <a:off x="5448300" y="1790700"/>
            <a:ext cx="1371600" cy="411480"/>
          </a:xfrm>
          <a:prstGeom prst="roundRect">
            <a:avLst>
              <a:gd name="adj" fmla="val 14814"/>
            </a:avLst>
          </a:prstGeom>
          <a:solidFill>
            <a:srgbClr val="DCEFE8"/>
          </a:solidFill>
          <a:ln>
            <a:noFill/>
          </a:ln>
          <a:effectLst/>
        </p:spPr>
        <p:txBody>
          <a:bodyPr rtlCol="0" anchor="ctr"/>
          <a:lstStyle/>
          <a:p>
            <a:pPr algn="ctr"/>
          </a:p>
        </p:txBody>
      </p:sp>
      <p:sp>
        <p:nvSpPr>
          <p:cNvPr id="12" name="TextBox 11"/>
          <p:cNvSpPr txBox="1"/>
          <p:nvPr/>
        </p:nvSpPr>
        <p:spPr>
          <a:xfrm>
            <a:off x="5532120" y="1912620"/>
            <a:ext cx="12268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1">
                <a:solidFill>
                  <a:srgbClr val="102B3F"/>
                </a:solidFill>
                <a:latin typeface="DejaVu Sans"/>
              </a:rPr>
              <a:t>AtomStorage</a:t>
            </a:r>
          </a:p>
        </p:txBody>
      </p:sp>
      <p:cxnSp>
        <p:nvCxnSpPr>
          <p:cNvPr id="13" name="Connector 12"/>
          <p:cNvCxnSpPr/>
          <p:nvPr/>
        </p:nvCxnSpPr>
        <p:spPr>
          <a:xfrm>
            <a:off x="6134100" y="2301240"/>
            <a:ext cx="0" cy="3489960"/>
          </a:xfrm>
          <a:prstGeom prst="line">
            <a:avLst/>
          </a:prstGeom>
          <a:ln w="15240">
            <a:solidFill>
              <a:srgbClr val="C9D2D4"/>
            </a:solidFill>
            <a:prstDash val="dash"/>
          </a:ln>
          <a:effectLst/>
        </p:spPr>
      </p:cxnSp>
      <p:sp>
        <p:nvSpPr>
          <p:cNvPr id="14" name="Rounded Rectangle 13"/>
          <p:cNvSpPr/>
          <p:nvPr/>
        </p:nvSpPr>
        <p:spPr>
          <a:xfrm>
            <a:off x="7924800" y="1790700"/>
            <a:ext cx="1371600" cy="411480"/>
          </a:xfrm>
          <a:prstGeom prst="roundRect">
            <a:avLst>
              <a:gd name="adj" fmla="val 14814"/>
            </a:avLst>
          </a:prstGeom>
          <a:solidFill>
            <a:srgbClr val="E4EBF5"/>
          </a:solidFill>
          <a:ln>
            <a:noFill/>
          </a:ln>
          <a:effectLst/>
        </p:spPr>
        <p:txBody>
          <a:bodyPr rtlCol="0" anchor="ctr"/>
          <a:lstStyle/>
          <a:p>
            <a:pPr algn="ctr"/>
          </a:p>
        </p:txBody>
      </p:sp>
      <p:sp>
        <p:nvSpPr>
          <p:cNvPr id="15" name="TextBox 14"/>
          <p:cNvSpPr txBox="1"/>
          <p:nvPr/>
        </p:nvSpPr>
        <p:spPr>
          <a:xfrm>
            <a:off x="8008620" y="1912620"/>
            <a:ext cx="12268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1">
                <a:solidFill>
                  <a:srgbClr val="102B3F"/>
                </a:solidFill>
                <a:latin typeface="DejaVu Sans"/>
              </a:rPr>
              <a:t>Execution</a:t>
            </a:r>
          </a:p>
        </p:txBody>
      </p:sp>
      <p:cxnSp>
        <p:nvCxnSpPr>
          <p:cNvPr id="16" name="Connector 15"/>
          <p:cNvCxnSpPr/>
          <p:nvPr/>
        </p:nvCxnSpPr>
        <p:spPr>
          <a:xfrm>
            <a:off x="8610600" y="2301240"/>
            <a:ext cx="0" cy="3489960"/>
          </a:xfrm>
          <a:prstGeom prst="line">
            <a:avLst/>
          </a:prstGeom>
          <a:ln w="15240">
            <a:solidFill>
              <a:srgbClr val="C9D2D4"/>
            </a:solidFill>
            <a:prstDash val="dash"/>
          </a:ln>
          <a:effectLst/>
        </p:spPr>
      </p:cxnSp>
      <p:sp>
        <p:nvSpPr>
          <p:cNvPr id="17" name="Rounded Rectangle 16"/>
          <p:cNvSpPr/>
          <p:nvPr/>
        </p:nvSpPr>
        <p:spPr>
          <a:xfrm>
            <a:off x="10401300" y="1790700"/>
            <a:ext cx="1371600" cy="411480"/>
          </a:xfrm>
          <a:prstGeom prst="roundRect">
            <a:avLst>
              <a:gd name="adj" fmla="val 14814"/>
            </a:avLst>
          </a:prstGeom>
          <a:solidFill>
            <a:srgbClr val="E4EBF5"/>
          </a:solidFill>
          <a:ln>
            <a:noFill/>
          </a:ln>
          <a:effectLst/>
        </p:spPr>
        <p:txBody>
          <a:bodyPr rtlCol="0" anchor="ctr"/>
          <a:lstStyle/>
          <a:p>
            <a:pPr algn="ctr"/>
          </a:p>
        </p:txBody>
      </p:sp>
      <p:sp>
        <p:nvSpPr>
          <p:cNvPr id="18" name="TextBox 17"/>
          <p:cNvSpPr txBox="1"/>
          <p:nvPr/>
        </p:nvSpPr>
        <p:spPr>
          <a:xfrm>
            <a:off x="10485120" y="1912620"/>
            <a:ext cx="12268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1">
                <a:solidFill>
                  <a:srgbClr val="102B3F"/>
                </a:solidFill>
                <a:latin typeface="DejaVu Sans"/>
              </a:rPr>
              <a:t>Messaging</a:t>
            </a:r>
          </a:p>
        </p:txBody>
      </p:sp>
      <p:cxnSp>
        <p:nvCxnSpPr>
          <p:cNvPr id="19" name="Connector 18"/>
          <p:cNvCxnSpPr/>
          <p:nvPr/>
        </p:nvCxnSpPr>
        <p:spPr>
          <a:xfrm>
            <a:off x="11087100" y="2301240"/>
            <a:ext cx="0" cy="3489960"/>
          </a:xfrm>
          <a:prstGeom prst="line">
            <a:avLst/>
          </a:prstGeom>
          <a:ln w="15240">
            <a:solidFill>
              <a:srgbClr val="C9D2D4"/>
            </a:solidFill>
            <a:prstDash val="dash"/>
          </a:ln>
          <a:effectLst/>
        </p:spPr>
      </p:cxnSp>
      <p:sp>
        <p:nvSpPr>
          <p:cNvPr id="20" name="Rectangle 19"/>
          <p:cNvSpPr/>
          <p:nvPr/>
        </p:nvSpPr>
        <p:spPr>
          <a:xfrm>
            <a:off x="1211580" y="2301240"/>
            <a:ext cx="1774686" cy="198120"/>
          </a:xfrm>
          <a:prstGeom prst="rect">
            <a:avLst/>
          </a:prstGeom>
          <a:solidFill>
            <a:srgbClr val="F4F2EB"/>
          </a:solidFill>
          <a:ln>
            <a:noFill/>
          </a:ln>
          <a:effectLst/>
        </p:spPr>
        <p:txBody>
          <a:bodyPr rtlCol="0" anchor="ctr"/>
          <a:lstStyle/>
          <a:p>
            <a:pPr algn="ctr"/>
          </a:p>
        </p:txBody>
      </p:sp>
      <p:sp>
        <p:nvSpPr>
          <p:cNvPr id="21" name="TextBox 20"/>
          <p:cNvSpPr txBox="1"/>
          <p:nvPr/>
        </p:nvSpPr>
        <p:spPr>
          <a:xfrm>
            <a:off x="1242060" y="2301240"/>
            <a:ext cx="103251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1 Save original intent</a:t>
            </a:r>
          </a:p>
        </p:txBody>
      </p:sp>
      <p:cxnSp>
        <p:nvCxnSpPr>
          <p:cNvPr id="22" name="Connector 21"/>
          <p:cNvCxnSpPr/>
          <p:nvPr/>
        </p:nvCxnSpPr>
        <p:spPr>
          <a:xfrm>
            <a:off x="1181100" y="2514600"/>
            <a:ext cx="2476500" cy="0"/>
          </a:xfrm>
          <a:prstGeom prst="line">
            <a:avLst/>
          </a:prstGeom>
          <a:ln w="15240">
            <a:solidFill>
              <a:srgbClr val="315E9C"/>
            </a:solidFill>
          </a:ln>
          <a:effectLst/>
        </p:spPr>
      </p:cxnSp>
      <p:sp>
        <p:nvSpPr>
          <p:cNvPr id="23" name="Freeform 22"/>
          <p:cNvSpPr/>
          <p:nvPr/>
        </p:nvSpPr>
        <p:spPr>
          <a:xfrm>
            <a:off x="3558540" y="247650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24" name="Rectangle 23"/>
          <p:cNvSpPr/>
          <p:nvPr/>
        </p:nvSpPr>
        <p:spPr>
          <a:xfrm>
            <a:off x="1211580" y="2697480"/>
            <a:ext cx="3339911" cy="198120"/>
          </a:xfrm>
          <a:prstGeom prst="rect">
            <a:avLst/>
          </a:prstGeom>
          <a:solidFill>
            <a:srgbClr val="F4F2EB"/>
          </a:solidFill>
          <a:ln>
            <a:noFill/>
          </a:ln>
          <a:effectLst/>
        </p:spPr>
        <p:txBody>
          <a:bodyPr rtlCol="0" anchor="ctr"/>
          <a:lstStyle/>
          <a:p>
            <a:pPr algn="ctr"/>
          </a:p>
        </p:txBody>
      </p:sp>
      <p:sp>
        <p:nvSpPr>
          <p:cNvPr id="25" name="TextBox 24"/>
          <p:cNvSpPr txBox="1"/>
          <p:nvPr/>
        </p:nvSpPr>
        <p:spPr>
          <a:xfrm>
            <a:off x="1242060" y="2697480"/>
            <a:ext cx="103251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2 create → real DeTTa persistence receipt</a:t>
            </a:r>
          </a:p>
        </p:txBody>
      </p:sp>
      <p:cxnSp>
        <p:nvCxnSpPr>
          <p:cNvPr id="26" name="Connector 25"/>
          <p:cNvCxnSpPr/>
          <p:nvPr/>
        </p:nvCxnSpPr>
        <p:spPr>
          <a:xfrm>
            <a:off x="1181100" y="2910840"/>
            <a:ext cx="4953000" cy="0"/>
          </a:xfrm>
          <a:prstGeom prst="line">
            <a:avLst/>
          </a:prstGeom>
          <a:ln w="15240">
            <a:solidFill>
              <a:srgbClr val="007C78"/>
            </a:solidFill>
          </a:ln>
          <a:effectLst/>
        </p:spPr>
      </p:cxnSp>
      <p:sp>
        <p:nvSpPr>
          <p:cNvPr id="27" name="Freeform 26"/>
          <p:cNvSpPr/>
          <p:nvPr/>
        </p:nvSpPr>
        <p:spPr>
          <a:xfrm>
            <a:off x="6035040" y="287274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28" name="Rectangle 27"/>
          <p:cNvSpPr/>
          <p:nvPr/>
        </p:nvSpPr>
        <p:spPr>
          <a:xfrm>
            <a:off x="1211580" y="3093720"/>
            <a:ext cx="3220997" cy="198120"/>
          </a:xfrm>
          <a:prstGeom prst="rect">
            <a:avLst/>
          </a:prstGeom>
          <a:solidFill>
            <a:srgbClr val="F4F2EB"/>
          </a:solidFill>
          <a:ln>
            <a:noFill/>
          </a:ln>
          <a:effectLst/>
        </p:spPr>
        <p:txBody>
          <a:bodyPr rtlCol="0" anchor="ctr"/>
          <a:lstStyle/>
          <a:p>
            <a:pPr algn="ctr"/>
          </a:p>
        </p:txBody>
      </p:sp>
      <p:sp>
        <p:nvSpPr>
          <p:cNvPr id="29" name="TextBox 28"/>
          <p:cNvSpPr txBox="1"/>
          <p:nvPr/>
        </p:nvSpPr>
        <p:spPr>
          <a:xfrm>
            <a:off x="1242060" y="3093720"/>
            <a:ext cx="103251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3 send reference to fixture counterparty</a:t>
            </a:r>
          </a:p>
        </p:txBody>
      </p:sp>
      <p:cxnSp>
        <p:nvCxnSpPr>
          <p:cNvPr id="30" name="Connector 29"/>
          <p:cNvCxnSpPr/>
          <p:nvPr/>
        </p:nvCxnSpPr>
        <p:spPr>
          <a:xfrm>
            <a:off x="1181100" y="3307079"/>
            <a:ext cx="9906000" cy="0"/>
          </a:xfrm>
          <a:prstGeom prst="line">
            <a:avLst/>
          </a:prstGeom>
          <a:ln w="15240">
            <a:solidFill>
              <a:srgbClr val="315E9C"/>
            </a:solidFill>
          </a:ln>
          <a:effectLst/>
        </p:spPr>
      </p:cxnSp>
      <p:sp>
        <p:nvSpPr>
          <p:cNvPr id="31" name="Freeform 30"/>
          <p:cNvSpPr/>
          <p:nvPr/>
        </p:nvSpPr>
        <p:spPr>
          <a:xfrm>
            <a:off x="10988040" y="326898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32" name="Rectangle 31"/>
          <p:cNvSpPr/>
          <p:nvPr/>
        </p:nvSpPr>
        <p:spPr>
          <a:xfrm>
            <a:off x="1211580" y="3489960"/>
            <a:ext cx="3895189" cy="198120"/>
          </a:xfrm>
          <a:prstGeom prst="rect">
            <a:avLst/>
          </a:prstGeom>
          <a:solidFill>
            <a:srgbClr val="F4F2EB"/>
          </a:solidFill>
          <a:ln>
            <a:noFill/>
          </a:ln>
          <a:effectLst/>
        </p:spPr>
        <p:txBody>
          <a:bodyPr rtlCol="0" anchor="ctr"/>
          <a:lstStyle/>
          <a:p>
            <a:pPr algn="ctr"/>
          </a:p>
        </p:txBody>
      </p:sp>
      <p:sp>
        <p:nvSpPr>
          <p:cNvPr id="33" name="TextBox 32"/>
          <p:cNvSpPr txBox="1"/>
          <p:nvPr/>
        </p:nvSpPr>
        <p:spPr>
          <a:xfrm>
            <a:off x="1242060" y="3489960"/>
            <a:ext cx="103251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4 submit inspect_atom → durable job acceptance</a:t>
            </a:r>
          </a:p>
        </p:txBody>
      </p:sp>
      <p:cxnSp>
        <p:nvCxnSpPr>
          <p:cNvPr id="34" name="Connector 33"/>
          <p:cNvCxnSpPr/>
          <p:nvPr/>
        </p:nvCxnSpPr>
        <p:spPr>
          <a:xfrm>
            <a:off x="1181100" y="3703319"/>
            <a:ext cx="7429500" cy="0"/>
          </a:xfrm>
          <a:prstGeom prst="line">
            <a:avLst/>
          </a:prstGeom>
          <a:ln w="15240">
            <a:solidFill>
              <a:srgbClr val="315E9C"/>
            </a:solidFill>
          </a:ln>
          <a:effectLst/>
        </p:spPr>
      </p:cxnSp>
      <p:sp>
        <p:nvSpPr>
          <p:cNvPr id="35" name="Freeform 34"/>
          <p:cNvSpPr/>
          <p:nvPr/>
        </p:nvSpPr>
        <p:spPr>
          <a:xfrm>
            <a:off x="8511540" y="366522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36" name="Rectangle 35"/>
          <p:cNvSpPr/>
          <p:nvPr/>
        </p:nvSpPr>
        <p:spPr>
          <a:xfrm>
            <a:off x="1211580" y="3886200"/>
            <a:ext cx="2233597" cy="198120"/>
          </a:xfrm>
          <a:prstGeom prst="rect">
            <a:avLst/>
          </a:prstGeom>
          <a:solidFill>
            <a:srgbClr val="F4F2EB"/>
          </a:solidFill>
          <a:ln>
            <a:noFill/>
          </a:ln>
          <a:effectLst/>
        </p:spPr>
        <p:txBody>
          <a:bodyPr rtlCol="0" anchor="ctr"/>
          <a:lstStyle/>
          <a:p>
            <a:pPr algn="ctr"/>
          </a:p>
        </p:txBody>
      </p:sp>
      <p:sp>
        <p:nvSpPr>
          <p:cNvPr id="37" name="TextBox 36"/>
          <p:cNvSpPr txBox="1"/>
          <p:nvPr/>
        </p:nvSpPr>
        <p:spPr>
          <a:xfrm>
            <a:off x="1242060" y="3886200"/>
            <a:ext cx="103251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5 Save pending job context</a:t>
            </a:r>
          </a:p>
        </p:txBody>
      </p:sp>
      <p:cxnSp>
        <p:nvCxnSpPr>
          <p:cNvPr id="38" name="Connector 37"/>
          <p:cNvCxnSpPr/>
          <p:nvPr/>
        </p:nvCxnSpPr>
        <p:spPr>
          <a:xfrm>
            <a:off x="1181100" y="4099560"/>
            <a:ext cx="2476500" cy="0"/>
          </a:xfrm>
          <a:prstGeom prst="line">
            <a:avLst/>
          </a:prstGeom>
          <a:ln w="15240">
            <a:solidFill>
              <a:srgbClr val="315E9C"/>
            </a:solidFill>
          </a:ln>
          <a:effectLst/>
        </p:spPr>
      </p:cxnSp>
      <p:sp>
        <p:nvSpPr>
          <p:cNvPr id="39" name="Freeform 38"/>
          <p:cNvSpPr/>
          <p:nvPr/>
        </p:nvSpPr>
        <p:spPr>
          <a:xfrm>
            <a:off x="3558540" y="406146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40" name="Rectangle 39"/>
          <p:cNvSpPr/>
          <p:nvPr/>
        </p:nvSpPr>
        <p:spPr>
          <a:xfrm>
            <a:off x="3916679" y="4282440"/>
            <a:ext cx="3432854" cy="198120"/>
          </a:xfrm>
          <a:prstGeom prst="rect">
            <a:avLst/>
          </a:prstGeom>
          <a:solidFill>
            <a:srgbClr val="F4F2EB"/>
          </a:solidFill>
          <a:ln>
            <a:noFill/>
          </a:ln>
          <a:effectLst/>
        </p:spPr>
        <p:txBody>
          <a:bodyPr rtlCol="0" anchor="ctr"/>
          <a:lstStyle/>
          <a:p>
            <a:pPr algn="ctr"/>
          </a:p>
        </p:txBody>
      </p:sp>
      <p:sp>
        <p:nvSpPr>
          <p:cNvPr id="41" name="TextBox 40"/>
          <p:cNvSpPr txBox="1"/>
          <p:nvPr/>
        </p:nvSpPr>
        <p:spPr>
          <a:xfrm>
            <a:off x="3947160" y="4282440"/>
            <a:ext cx="76200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6 Worker reads input; result atom commits</a:t>
            </a:r>
          </a:p>
        </p:txBody>
      </p:sp>
      <p:cxnSp>
        <p:nvCxnSpPr>
          <p:cNvPr id="42" name="Connector 41"/>
          <p:cNvCxnSpPr/>
          <p:nvPr/>
        </p:nvCxnSpPr>
        <p:spPr>
          <a:xfrm flipH="1">
            <a:off x="6134100" y="4495800"/>
            <a:ext cx="2476500" cy="0"/>
          </a:xfrm>
          <a:prstGeom prst="line">
            <a:avLst/>
          </a:prstGeom>
          <a:ln w="15240">
            <a:solidFill>
              <a:srgbClr val="007C78"/>
            </a:solidFill>
          </a:ln>
          <a:effectLst/>
        </p:spPr>
      </p:cxnSp>
      <p:sp>
        <p:nvSpPr>
          <p:cNvPr id="43" name="Freeform 42"/>
          <p:cNvSpPr/>
          <p:nvPr/>
        </p:nvSpPr>
        <p:spPr>
          <a:xfrm>
            <a:off x="6134100" y="4457700"/>
            <a:ext cx="99060" cy="76200"/>
          </a:xfrm>
          <a:custGeom>
            <a:avLst/>
            <a:gdLst/>
            <a:ahLst/>
            <a:cxnLst/>
            <a:rect l="l" t="t" r="r" b="b"/>
            <a:pathLst>
              <a:path w="13" h="10">
                <a:moveTo>
                  <a:pt x="0" y="5"/>
                </a:moveTo>
                <a:lnTo>
                  <a:pt x="13" y="10"/>
                </a:lnTo>
                <a:lnTo>
                  <a:pt x="13" y="0"/>
                </a:lnTo>
                <a:close/>
              </a:path>
            </a:pathLst>
          </a:custGeom>
          <a:solidFill>
            <a:srgbClr val="007C78"/>
          </a:solidFill>
          <a:ln>
            <a:noFill/>
          </a:ln>
          <a:effectLst/>
        </p:spPr>
        <p:txBody>
          <a:bodyPr rtlCol="0" anchor="ctr"/>
          <a:lstStyle/>
          <a:p>
            <a:pPr algn="ctr"/>
          </a:p>
        </p:txBody>
      </p:sp>
      <p:sp>
        <p:nvSpPr>
          <p:cNvPr id="44" name="Rectangle 43"/>
          <p:cNvSpPr/>
          <p:nvPr/>
        </p:nvSpPr>
        <p:spPr>
          <a:xfrm>
            <a:off x="3916679" y="4678680"/>
            <a:ext cx="4536117" cy="198120"/>
          </a:xfrm>
          <a:prstGeom prst="rect">
            <a:avLst/>
          </a:prstGeom>
          <a:solidFill>
            <a:srgbClr val="F4F2EB"/>
          </a:solidFill>
          <a:ln>
            <a:noFill/>
          </a:ln>
          <a:effectLst/>
        </p:spPr>
        <p:txBody>
          <a:bodyPr rtlCol="0" anchor="ctr"/>
          <a:lstStyle/>
          <a:p>
            <a:pPr algn="ctr"/>
          </a:p>
        </p:txBody>
      </p:sp>
      <p:sp>
        <p:nvSpPr>
          <p:cNvPr id="45" name="TextBox 44"/>
          <p:cNvSpPr txBox="1"/>
          <p:nvPr/>
        </p:nvSpPr>
        <p:spPr>
          <a:xfrm>
            <a:off x="3947160" y="4678680"/>
            <a:ext cx="76200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7 Terminal + outbox commit; mailbox accepts separately</a:t>
            </a:r>
          </a:p>
        </p:txBody>
      </p:sp>
      <p:cxnSp>
        <p:nvCxnSpPr>
          <p:cNvPr id="46" name="Connector 45"/>
          <p:cNvCxnSpPr/>
          <p:nvPr/>
        </p:nvCxnSpPr>
        <p:spPr>
          <a:xfrm>
            <a:off x="8610600" y="4892040"/>
            <a:ext cx="2476500" cy="0"/>
          </a:xfrm>
          <a:prstGeom prst="line">
            <a:avLst/>
          </a:prstGeom>
          <a:ln w="15240">
            <a:solidFill>
              <a:srgbClr val="315E9C"/>
            </a:solidFill>
          </a:ln>
          <a:effectLst/>
        </p:spPr>
      </p:cxnSp>
      <p:sp>
        <p:nvSpPr>
          <p:cNvPr id="47" name="Freeform 46"/>
          <p:cNvSpPr/>
          <p:nvPr/>
        </p:nvSpPr>
        <p:spPr>
          <a:xfrm>
            <a:off x="10988040" y="485394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48" name="Rectangle 47"/>
          <p:cNvSpPr/>
          <p:nvPr/>
        </p:nvSpPr>
        <p:spPr>
          <a:xfrm>
            <a:off x="1211580" y="5295900"/>
            <a:ext cx="4108162" cy="198120"/>
          </a:xfrm>
          <a:prstGeom prst="rect">
            <a:avLst/>
          </a:prstGeom>
          <a:solidFill>
            <a:srgbClr val="F4F2EB"/>
          </a:solidFill>
          <a:ln>
            <a:noFill/>
          </a:ln>
          <a:effectLst/>
        </p:spPr>
        <p:txBody>
          <a:bodyPr rtlCol="0" anchor="ctr"/>
          <a:lstStyle/>
          <a:p>
            <a:pPr algn="ctr"/>
          </a:p>
        </p:txBody>
      </p:sp>
      <p:sp>
        <p:nvSpPr>
          <p:cNvPr id="49" name="TextBox 48"/>
          <p:cNvSpPr txBox="1"/>
          <p:nvPr/>
        </p:nvSpPr>
        <p:spPr>
          <a:xfrm>
            <a:off x="1242060" y="5295900"/>
            <a:ext cx="103251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8 Recover status → poll → get result → accept → ack</a:t>
            </a:r>
          </a:p>
        </p:txBody>
      </p:sp>
      <p:cxnSp>
        <p:nvCxnSpPr>
          <p:cNvPr id="50" name="Connector 49"/>
          <p:cNvCxnSpPr/>
          <p:nvPr/>
        </p:nvCxnSpPr>
        <p:spPr>
          <a:xfrm>
            <a:off x="1181100" y="5509260"/>
            <a:ext cx="9906000" cy="0"/>
          </a:xfrm>
          <a:prstGeom prst="line">
            <a:avLst/>
          </a:prstGeom>
          <a:ln w="15240">
            <a:solidFill>
              <a:srgbClr val="315E9C"/>
            </a:solidFill>
          </a:ln>
          <a:effectLst/>
        </p:spPr>
      </p:cxnSp>
      <p:sp>
        <p:nvSpPr>
          <p:cNvPr id="51" name="Freeform 50"/>
          <p:cNvSpPr/>
          <p:nvPr/>
        </p:nvSpPr>
        <p:spPr>
          <a:xfrm>
            <a:off x="10988040" y="547116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cxnSp>
        <p:nvCxnSpPr>
          <p:cNvPr id="52" name="Connector 51"/>
          <p:cNvCxnSpPr/>
          <p:nvPr/>
        </p:nvCxnSpPr>
        <p:spPr>
          <a:xfrm>
            <a:off x="548640" y="6393180"/>
            <a:ext cx="11094720" cy="0"/>
          </a:xfrm>
          <a:prstGeom prst="line">
            <a:avLst/>
          </a:prstGeom>
          <a:ln w="7620">
            <a:solidFill>
              <a:srgbClr val="C9D2D4"/>
            </a:solidFill>
          </a:ln>
          <a:effectLst/>
        </p:spPr>
      </p:cxnSp>
      <p:sp>
        <p:nvSpPr>
          <p:cNvPr id="53" name="TextBox 52"/>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M1.2 / program.py · execution.py · messaging.py</a:t>
            </a:r>
          </a:p>
        </p:txBody>
      </p:sp>
      <p:sp>
        <p:nvSpPr>
          <p:cNvPr id="54" name="TextBox 53"/>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14 / 33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NATIVE INTEGRATION · COMPLETION SEMANTICS</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Six receipts describe six different facts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 pending native receipt can be reconciled; it is not a Hive goal or a claim of completed work.</a:t>
            </a:r>
          </a:p>
        </p:txBody>
      </p:sp>
      <p:sp>
        <p:nvSpPr>
          <p:cNvPr id="5" name="Rounded Rectangle 4"/>
          <p:cNvSpPr/>
          <p:nvPr/>
        </p:nvSpPr>
        <p:spPr>
          <a:xfrm>
            <a:off x="548640" y="1905000"/>
            <a:ext cx="3535679" cy="1684020"/>
          </a:xfrm>
          <a:prstGeom prst="roundRect">
            <a:avLst>
              <a:gd name="adj" fmla="val 5882"/>
            </a:avLst>
          </a:prstGeom>
          <a:solidFill>
            <a:srgbClr val="FFFFFF"/>
          </a:solidFill>
          <a:ln w="7620">
            <a:solidFill>
              <a:srgbClr val="007C78"/>
            </a:solidFill>
          </a:ln>
          <a:effectLst/>
        </p:spPr>
        <p:txBody>
          <a:bodyPr rtlCol="0" anchor="ctr"/>
          <a:lstStyle/>
          <a:p>
            <a:pPr algn="ctr"/>
          </a:p>
        </p:txBody>
      </p:sp>
      <p:sp>
        <p:nvSpPr>
          <p:cNvPr id="6" name="TextBox 5"/>
          <p:cNvSpPr txBox="1"/>
          <p:nvPr/>
        </p:nvSpPr>
        <p:spPr>
          <a:xfrm>
            <a:off x="716280" y="2072639"/>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007C78"/>
                </a:solidFill>
                <a:latin typeface="DejaVu Sans"/>
              </a:rPr>
              <a:t>1 · INPUT PERSISTENCE</a:t>
            </a:r>
          </a:p>
        </p:txBody>
      </p:sp>
      <p:sp>
        <p:nvSpPr>
          <p:cNvPr id="7" name="TextBox 6"/>
          <p:cNvSpPr txBox="1"/>
          <p:nvPr/>
        </p:nvSpPr>
        <p:spPr>
          <a:xfrm>
            <a:off x="716280" y="2308860"/>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007C78"/>
                </a:solidFill>
                <a:latin typeface="DejaVu Sans"/>
              </a:rPr>
              <a:t>Bytes have a scoped ref</a:t>
            </a:r>
          </a:p>
        </p:txBody>
      </p:sp>
      <p:sp>
        <p:nvSpPr>
          <p:cNvPr id="8" name="TextBox 7"/>
          <p:cNvSpPr txBox="1"/>
          <p:nvPr/>
        </p:nvSpPr>
        <p:spPr>
          <a:xfrm>
            <a:off x="716280" y="2658160"/>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Real DeTTa receipt; local</a:t>
            </a:r>
          </a:p>
        </p:txBody>
      </p:sp>
      <p:sp>
        <p:nvSpPr>
          <p:cNvPr id="9" name="TextBox 8"/>
          <p:cNvSpPr txBox="1"/>
          <p:nvPr/>
        </p:nvSpPr>
        <p:spPr>
          <a:xfrm>
            <a:off x="716280" y="2892247"/>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files/process restart.</a:t>
            </a:r>
          </a:p>
        </p:txBody>
      </p:sp>
      <p:sp>
        <p:nvSpPr>
          <p:cNvPr id="10" name="Rounded Rectangle 9"/>
          <p:cNvSpPr/>
          <p:nvPr/>
        </p:nvSpPr>
        <p:spPr>
          <a:xfrm>
            <a:off x="4328160" y="1905000"/>
            <a:ext cx="3535679" cy="1684020"/>
          </a:xfrm>
          <a:prstGeom prst="roundRect">
            <a:avLst>
              <a:gd name="adj" fmla="val 5882"/>
            </a:avLst>
          </a:prstGeom>
          <a:solidFill>
            <a:srgbClr val="FFFFFF"/>
          </a:solidFill>
          <a:ln w="7620">
            <a:solidFill>
              <a:srgbClr val="315E9C"/>
            </a:solidFill>
          </a:ln>
          <a:effectLst/>
        </p:spPr>
        <p:txBody>
          <a:bodyPr rtlCol="0" anchor="ctr"/>
          <a:lstStyle/>
          <a:p>
            <a:pPr algn="ctr"/>
          </a:p>
        </p:txBody>
      </p:sp>
      <p:sp>
        <p:nvSpPr>
          <p:cNvPr id="11" name="TextBox 10"/>
          <p:cNvSpPr txBox="1"/>
          <p:nvPr/>
        </p:nvSpPr>
        <p:spPr>
          <a:xfrm>
            <a:off x="4495800" y="2072639"/>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315E9C"/>
                </a:solidFill>
                <a:latin typeface="DejaVu Sans"/>
              </a:rPr>
              <a:t>2 · JOB ACCEPTANCE</a:t>
            </a:r>
          </a:p>
        </p:txBody>
      </p:sp>
      <p:sp>
        <p:nvSpPr>
          <p:cNvPr id="12" name="TextBox 11"/>
          <p:cNvSpPr txBox="1"/>
          <p:nvPr/>
        </p:nvSpPr>
        <p:spPr>
          <a:xfrm>
            <a:off x="4495800" y="2308860"/>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315E9C"/>
                </a:solidFill>
                <a:latin typeface="DejaVu Sans"/>
              </a:rPr>
              <a:t>Work is durably queued</a:t>
            </a:r>
          </a:p>
        </p:txBody>
      </p:sp>
      <p:sp>
        <p:nvSpPr>
          <p:cNvPr id="13" name="TextBox 12"/>
          <p:cNvSpPr txBox="1"/>
          <p:nvPr/>
        </p:nvSpPr>
        <p:spPr>
          <a:xfrm>
            <a:off x="4495800" y="2658160"/>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 claim yet about execution or</a:t>
            </a:r>
          </a:p>
        </p:txBody>
      </p:sp>
      <p:sp>
        <p:nvSpPr>
          <p:cNvPr id="14" name="TextBox 13"/>
          <p:cNvSpPr txBox="1"/>
          <p:nvPr/>
        </p:nvSpPr>
        <p:spPr>
          <a:xfrm>
            <a:off x="4495800" y="2892247"/>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reply delivery.</a:t>
            </a:r>
          </a:p>
        </p:txBody>
      </p:sp>
      <p:sp>
        <p:nvSpPr>
          <p:cNvPr id="15" name="Rounded Rectangle 14"/>
          <p:cNvSpPr/>
          <p:nvPr/>
        </p:nvSpPr>
        <p:spPr>
          <a:xfrm>
            <a:off x="8107680" y="1905000"/>
            <a:ext cx="3535679" cy="1684020"/>
          </a:xfrm>
          <a:prstGeom prst="roundRect">
            <a:avLst>
              <a:gd name="adj" fmla="val 5882"/>
            </a:avLst>
          </a:prstGeom>
          <a:solidFill>
            <a:srgbClr val="FFFFFF"/>
          </a:solidFill>
          <a:ln w="7620">
            <a:solidFill>
              <a:srgbClr val="315E9C"/>
            </a:solidFill>
          </a:ln>
          <a:effectLst/>
        </p:spPr>
        <p:txBody>
          <a:bodyPr rtlCol="0" anchor="ctr"/>
          <a:lstStyle/>
          <a:p>
            <a:pPr algn="ctr"/>
          </a:p>
        </p:txBody>
      </p:sp>
      <p:sp>
        <p:nvSpPr>
          <p:cNvPr id="16" name="TextBox 15"/>
          <p:cNvSpPr txBox="1"/>
          <p:nvPr/>
        </p:nvSpPr>
        <p:spPr>
          <a:xfrm>
            <a:off x="8275320" y="2072639"/>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315E9C"/>
                </a:solidFill>
                <a:latin typeface="DejaVu Sans"/>
              </a:rPr>
              <a:t>3 · RESULT + TERMINAL</a:t>
            </a:r>
          </a:p>
        </p:txBody>
      </p:sp>
      <p:sp>
        <p:nvSpPr>
          <p:cNvPr id="17" name="TextBox 16"/>
          <p:cNvSpPr txBox="1"/>
          <p:nvPr/>
        </p:nvSpPr>
        <p:spPr>
          <a:xfrm>
            <a:off x="8275320" y="2308860"/>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315E9C"/>
                </a:solidFill>
                <a:latin typeface="DejaVu Sans"/>
              </a:rPr>
              <a:t>Execution has an outcome</a:t>
            </a:r>
          </a:p>
        </p:txBody>
      </p:sp>
      <p:sp>
        <p:nvSpPr>
          <p:cNvPr id="18" name="TextBox 17"/>
          <p:cNvSpPr txBox="1"/>
          <p:nvPr/>
        </p:nvSpPr>
        <p:spPr>
          <a:xfrm>
            <a:off x="8275320" y="2658160"/>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Atom result first; job</a:t>
            </a:r>
          </a:p>
        </p:txBody>
      </p:sp>
      <p:sp>
        <p:nvSpPr>
          <p:cNvPr id="19" name="TextBox 18"/>
          <p:cNvSpPr txBox="1"/>
          <p:nvPr/>
        </p:nvSpPr>
        <p:spPr>
          <a:xfrm>
            <a:off x="8275320" y="2892247"/>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terminal/outbox commit second.</a:t>
            </a:r>
          </a:p>
        </p:txBody>
      </p:sp>
      <p:sp>
        <p:nvSpPr>
          <p:cNvPr id="20" name="Rounded Rectangle 19"/>
          <p:cNvSpPr/>
          <p:nvPr/>
        </p:nvSpPr>
        <p:spPr>
          <a:xfrm>
            <a:off x="548640" y="3817619"/>
            <a:ext cx="3535679" cy="1684020"/>
          </a:xfrm>
          <a:prstGeom prst="roundRect">
            <a:avLst>
              <a:gd name="adj" fmla="val 5882"/>
            </a:avLst>
          </a:prstGeom>
          <a:solidFill>
            <a:srgbClr val="FFFFFF"/>
          </a:solidFill>
          <a:ln w="7620">
            <a:solidFill>
              <a:srgbClr val="315E9C"/>
            </a:solidFill>
          </a:ln>
          <a:effectLst/>
        </p:spPr>
        <p:txBody>
          <a:bodyPr rtlCol="0" anchor="ctr"/>
          <a:lstStyle/>
          <a:p>
            <a:pPr algn="ctr"/>
          </a:p>
        </p:txBody>
      </p:sp>
      <p:sp>
        <p:nvSpPr>
          <p:cNvPr id="21" name="TextBox 20"/>
          <p:cNvSpPr txBox="1"/>
          <p:nvPr/>
        </p:nvSpPr>
        <p:spPr>
          <a:xfrm>
            <a:off x="716280" y="3985260"/>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315E9C"/>
                </a:solidFill>
                <a:latin typeface="DejaVu Sans"/>
              </a:rPr>
              <a:t>4 · MAILBOX ACCEPTANCE</a:t>
            </a:r>
          </a:p>
        </p:txBody>
      </p:sp>
      <p:sp>
        <p:nvSpPr>
          <p:cNvPr id="22" name="TextBox 21"/>
          <p:cNvSpPr txBox="1"/>
          <p:nvPr/>
        </p:nvSpPr>
        <p:spPr>
          <a:xfrm>
            <a:off x="716280" y="4221480"/>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315E9C"/>
                </a:solidFill>
                <a:latin typeface="DejaVu Sans"/>
              </a:rPr>
              <a:t>Completion is retained</a:t>
            </a:r>
          </a:p>
        </p:txBody>
      </p:sp>
      <p:sp>
        <p:nvSpPr>
          <p:cNvPr id="23" name="TextBox 22"/>
          <p:cNvSpPr txBox="1"/>
          <p:nvPr/>
        </p:nvSpPr>
        <p:spPr>
          <a:xfrm>
            <a:off x="716280" y="4570780"/>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Poll can repeat until the recipient</a:t>
            </a:r>
          </a:p>
        </p:txBody>
      </p:sp>
      <p:sp>
        <p:nvSpPr>
          <p:cNvPr id="24" name="TextBox 23"/>
          <p:cNvSpPr txBox="1"/>
          <p:nvPr/>
        </p:nvSpPr>
        <p:spPr>
          <a:xfrm>
            <a:off x="716280" y="4804867"/>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acknowledges.</a:t>
            </a:r>
          </a:p>
        </p:txBody>
      </p:sp>
      <p:sp>
        <p:nvSpPr>
          <p:cNvPr id="25" name="Rounded Rectangle 24"/>
          <p:cNvSpPr/>
          <p:nvPr/>
        </p:nvSpPr>
        <p:spPr>
          <a:xfrm>
            <a:off x="4328160" y="3817619"/>
            <a:ext cx="3535679" cy="1684020"/>
          </a:xfrm>
          <a:prstGeom prst="roundRect">
            <a:avLst>
              <a:gd name="adj" fmla="val 5882"/>
            </a:avLst>
          </a:prstGeom>
          <a:solidFill>
            <a:srgbClr val="FFFFFF"/>
          </a:solidFill>
          <a:ln w="7620">
            <a:solidFill>
              <a:srgbClr val="007C78"/>
            </a:solidFill>
          </a:ln>
          <a:effectLst/>
        </p:spPr>
        <p:txBody>
          <a:bodyPr rtlCol="0" anchor="ctr"/>
          <a:lstStyle/>
          <a:p>
            <a:pPr algn="ctr"/>
          </a:p>
        </p:txBody>
      </p:sp>
      <p:sp>
        <p:nvSpPr>
          <p:cNvPr id="26" name="TextBox 25"/>
          <p:cNvSpPr txBox="1"/>
          <p:nvPr/>
        </p:nvSpPr>
        <p:spPr>
          <a:xfrm>
            <a:off x="4495800" y="3985260"/>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007C78"/>
                </a:solidFill>
                <a:latin typeface="DejaVu Sans"/>
              </a:rPr>
              <a:t>5 · CALLER ACCEPTANCE</a:t>
            </a:r>
          </a:p>
        </p:txBody>
      </p:sp>
      <p:sp>
        <p:nvSpPr>
          <p:cNvPr id="27" name="TextBox 26"/>
          <p:cNvSpPr txBox="1"/>
          <p:nvPr/>
        </p:nvSpPr>
        <p:spPr>
          <a:xfrm>
            <a:off x="4495800" y="4221480"/>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007C78"/>
                </a:solidFill>
                <a:latin typeface="DejaVu Sans"/>
              </a:rPr>
              <a:t>One outcome is recorded</a:t>
            </a:r>
          </a:p>
        </p:txBody>
      </p:sp>
      <p:sp>
        <p:nvSpPr>
          <p:cNvPr id="28" name="TextBox 27"/>
          <p:cNvSpPr txBox="1"/>
          <p:nvPr/>
        </p:nvSpPr>
        <p:spPr>
          <a:xfrm>
            <a:off x="4495800" y="4570780"/>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Known job, correlation and result</a:t>
            </a:r>
          </a:p>
        </p:txBody>
      </p:sp>
      <p:sp>
        <p:nvSpPr>
          <p:cNvPr id="29" name="TextBox 28"/>
          <p:cNvSpPr txBox="1"/>
          <p:nvPr/>
        </p:nvSpPr>
        <p:spPr>
          <a:xfrm>
            <a:off x="4495800" y="4804867"/>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bytes verified.</a:t>
            </a:r>
          </a:p>
        </p:txBody>
      </p:sp>
      <p:sp>
        <p:nvSpPr>
          <p:cNvPr id="30" name="Rounded Rectangle 29"/>
          <p:cNvSpPr/>
          <p:nvPr/>
        </p:nvSpPr>
        <p:spPr>
          <a:xfrm>
            <a:off x="8107680" y="3817619"/>
            <a:ext cx="3535679" cy="1684020"/>
          </a:xfrm>
          <a:prstGeom prst="roundRect">
            <a:avLst>
              <a:gd name="adj" fmla="val 5882"/>
            </a:avLst>
          </a:prstGeom>
          <a:solidFill>
            <a:srgbClr val="FFFFFF"/>
          </a:solidFill>
          <a:ln w="7620">
            <a:solidFill>
              <a:srgbClr val="007C78"/>
            </a:solidFill>
          </a:ln>
          <a:effectLst/>
        </p:spPr>
        <p:txBody>
          <a:bodyPr rtlCol="0" anchor="ctr"/>
          <a:lstStyle/>
          <a:p>
            <a:pPr algn="ctr"/>
          </a:p>
        </p:txBody>
      </p:sp>
      <p:sp>
        <p:nvSpPr>
          <p:cNvPr id="31" name="TextBox 30"/>
          <p:cNvSpPr txBox="1"/>
          <p:nvPr/>
        </p:nvSpPr>
        <p:spPr>
          <a:xfrm>
            <a:off x="8275320" y="3985260"/>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007C78"/>
                </a:solidFill>
                <a:latin typeface="DejaVu Sans"/>
              </a:rPr>
              <a:t>6 · ACKNOWLEDGEMENT</a:t>
            </a:r>
          </a:p>
        </p:txBody>
      </p:sp>
      <p:sp>
        <p:nvSpPr>
          <p:cNvPr id="32" name="TextBox 31"/>
          <p:cNvSpPr txBox="1"/>
          <p:nvPr/>
        </p:nvSpPr>
        <p:spPr>
          <a:xfrm>
            <a:off x="8275320" y="4221480"/>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007C78"/>
                </a:solidFill>
                <a:latin typeface="DejaVu Sans"/>
              </a:rPr>
              <a:t>Delivery is acknowledged</a:t>
            </a:r>
          </a:p>
        </p:txBody>
      </p:sp>
      <p:sp>
        <p:nvSpPr>
          <p:cNvPr id="33" name="TextBox 32"/>
          <p:cNvSpPr txBox="1"/>
          <p:nvPr/>
        </p:nvSpPr>
        <p:spPr>
          <a:xfrm>
            <a:off x="8275320" y="4570780"/>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Retry reuses the same key if the</a:t>
            </a:r>
          </a:p>
        </p:txBody>
      </p:sp>
      <p:sp>
        <p:nvSpPr>
          <p:cNvPr id="34" name="TextBox 33"/>
          <p:cNvSpPr txBox="1"/>
          <p:nvPr/>
        </p:nvSpPr>
        <p:spPr>
          <a:xfrm>
            <a:off x="8275320" y="4804867"/>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ack response is lost.</a:t>
            </a:r>
          </a:p>
        </p:txBody>
      </p:sp>
      <p:sp>
        <p:nvSpPr>
          <p:cNvPr id="35" name="Rounded Rectangle 34"/>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6" name="TextBox 35"/>
          <p:cNvSpPr txBox="1"/>
          <p:nvPr/>
        </p:nvSpPr>
        <p:spPr>
          <a:xfrm>
            <a:off x="716280" y="5905500"/>
            <a:ext cx="107442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Native done = verified outcome + successful acknowledgement. Terminal failure stays an explicit error.</a:t>
            </a:r>
          </a:p>
        </p:txBody>
      </p:sp>
      <p:cxnSp>
        <p:nvCxnSpPr>
          <p:cNvPr id="37" name="Connector 36"/>
          <p:cNvCxnSpPr/>
          <p:nvPr/>
        </p:nvCxnSpPr>
        <p:spPr>
          <a:xfrm>
            <a:off x="548640" y="6393180"/>
            <a:ext cx="11094720" cy="0"/>
          </a:xfrm>
          <a:prstGeom prst="line">
            <a:avLst/>
          </a:prstGeom>
          <a:ln w="7620">
            <a:solidFill>
              <a:srgbClr val="C9D2D4"/>
            </a:solidFill>
          </a:ln>
          <a:effectLst/>
        </p:spPr>
      </p:cxnSp>
      <p:sp>
        <p:nvSpPr>
          <p:cNvPr id="38" name="TextBox 37"/>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M1.2 / contracts.md · m1_2-evidence.md</a:t>
            </a:r>
          </a:p>
        </p:txBody>
      </p:sp>
      <p:sp>
        <p:nvSpPr>
          <p:cNvPr id="39" name="TextBox 38"/>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15 / 33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RECOVERY · ACTUAL CALLER SIGKILL</a:t>
            </a:r>
          </a:p>
        </p:txBody>
      </p:sp>
      <p:sp>
        <p:nvSpPr>
          <p:cNvPr id="3" name="TextBox 2"/>
          <p:cNvSpPr txBox="1"/>
          <p:nvPr/>
        </p:nvSpPr>
        <p:spPr>
          <a:xfrm>
            <a:off x="533400" y="723900"/>
            <a:ext cx="11125200" cy="477926"/>
          </a:xfrm>
          <a:prstGeom prst="rect">
            <a:avLst/>
          </a:prstGeom>
          <a:noFill/>
        </p:spPr>
        <p:txBody>
          <a:bodyPr wrap="none" lIns="0" rIns="0" tIns="0" bIns="0" anchor="t" anchorCtr="0">
            <a:noAutofit/>
          </a:bodyPr>
          <a:lstStyle/>
          <a:p>
            <a:pPr algn="l">
              <a:lnSpc>
                <a:spcPct val="100000"/>
              </a:lnSpc>
              <a:spcBef>
                <a:spcPts val="0"/>
              </a:spcBef>
              <a:spcAft>
                <a:spcPts val="0"/>
              </a:spcAft>
            </a:pPr>
            <a:r>
              <a:rPr sz="2940" b="1">
                <a:solidFill>
                  <a:srgbClr val="102B3F"/>
                </a:solidFill>
                <a:latin typeface="DejaVu Sans"/>
              </a:rPr>
              <a:t>A restarted Hive caller recovers without its old RAM</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Three kill points traverse the same authenticated native action route.</a:t>
            </a:r>
          </a:p>
        </p:txBody>
      </p:sp>
      <p:sp>
        <p:nvSpPr>
          <p:cNvPr id="5" name="Rounded Rectangle 4"/>
          <p:cNvSpPr/>
          <p:nvPr/>
        </p:nvSpPr>
        <p:spPr>
          <a:xfrm>
            <a:off x="548640" y="1965959"/>
            <a:ext cx="3535679" cy="2628900"/>
          </a:xfrm>
          <a:prstGeom prst="roundRect">
            <a:avLst>
              <a:gd name="adj" fmla="val 3768"/>
            </a:avLst>
          </a:prstGeom>
          <a:solidFill>
            <a:srgbClr val="FFFFFF"/>
          </a:solidFill>
          <a:ln w="7620">
            <a:solidFill>
              <a:srgbClr val="315E9C"/>
            </a:solidFill>
          </a:ln>
          <a:effectLst/>
        </p:spPr>
        <p:txBody>
          <a:bodyPr rtlCol="0" anchor="ctr"/>
          <a:lstStyle/>
          <a:p>
            <a:pPr algn="ctr"/>
          </a:p>
        </p:txBody>
      </p:sp>
      <p:sp>
        <p:nvSpPr>
          <p:cNvPr id="6" name="TextBox 5"/>
          <p:cNvSpPr txBox="1"/>
          <p:nvPr/>
        </p:nvSpPr>
        <p:spPr>
          <a:xfrm>
            <a:off x="716280" y="2133600"/>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315E9C"/>
                </a:solidFill>
                <a:latin typeface="DejaVu Sans"/>
              </a:rPr>
              <a:t>AFTER ADMISSION</a:t>
            </a:r>
          </a:p>
        </p:txBody>
      </p:sp>
      <p:sp>
        <p:nvSpPr>
          <p:cNvPr id="7" name="TextBox 6"/>
          <p:cNvSpPr txBox="1"/>
          <p:nvPr/>
        </p:nvSpPr>
        <p:spPr>
          <a:xfrm>
            <a:off x="716280" y="2369820"/>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315E9C"/>
                </a:solidFill>
                <a:latin typeface="DejaVu Sans"/>
              </a:rPr>
              <a:t>Response lost</a:t>
            </a:r>
          </a:p>
        </p:txBody>
      </p:sp>
      <p:sp>
        <p:nvSpPr>
          <p:cNvPr id="8" name="TextBox 7"/>
          <p:cNvSpPr txBox="1"/>
          <p:nvPr/>
        </p:nvSpPr>
        <p:spPr>
          <a:xfrm>
            <a:off x="716280" y="2777642"/>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Fusion accepted the job; the</a:t>
            </a:r>
          </a:p>
        </p:txBody>
      </p:sp>
      <p:sp>
        <p:nvSpPr>
          <p:cNvPr id="9" name="TextBox 8"/>
          <p:cNvSpPr txBox="1"/>
          <p:nvPr/>
        </p:nvSpPr>
        <p:spPr>
          <a:xfrm>
            <a:off x="716280" y="3040989"/>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caller has only its original</a:t>
            </a:r>
          </a:p>
        </p:txBody>
      </p:sp>
      <p:sp>
        <p:nvSpPr>
          <p:cNvPr id="10" name="TextBox 9"/>
          <p:cNvSpPr txBox="1"/>
          <p:nvPr/>
        </p:nvSpPr>
        <p:spPr>
          <a:xfrm>
            <a:off x="716280" y="3304336"/>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intent. Same input + key</a:t>
            </a:r>
          </a:p>
        </p:txBody>
      </p:sp>
      <p:sp>
        <p:nvSpPr>
          <p:cNvPr id="11" name="TextBox 10"/>
          <p:cNvSpPr txBox="1"/>
          <p:nvPr/>
        </p:nvSpPr>
        <p:spPr>
          <a:xfrm>
            <a:off x="716280" y="3567683"/>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recovers the same job.</a:t>
            </a:r>
          </a:p>
        </p:txBody>
      </p:sp>
      <p:sp>
        <p:nvSpPr>
          <p:cNvPr id="12" name="Rounded Rectangle 11"/>
          <p:cNvSpPr/>
          <p:nvPr/>
        </p:nvSpPr>
        <p:spPr>
          <a:xfrm>
            <a:off x="716280" y="4777740"/>
            <a:ext cx="2390365" cy="266700"/>
          </a:xfrm>
          <a:prstGeom prst="roundRect">
            <a:avLst>
              <a:gd name="adj" fmla="val 20000"/>
            </a:avLst>
          </a:prstGeom>
          <a:solidFill>
            <a:srgbClr val="F4E3DC"/>
          </a:solidFill>
          <a:ln>
            <a:noFill/>
          </a:ln>
          <a:effectLst/>
        </p:spPr>
        <p:txBody>
          <a:bodyPr rtlCol="0" anchor="ctr"/>
          <a:lstStyle/>
          <a:p>
            <a:pPr algn="ctr"/>
          </a:p>
        </p:txBody>
      </p:sp>
      <p:sp>
        <p:nvSpPr>
          <p:cNvPr id="13" name="TextBox 12"/>
          <p:cNvSpPr txBox="1"/>
          <p:nvPr/>
        </p:nvSpPr>
        <p:spPr>
          <a:xfrm>
            <a:off x="822960" y="4831080"/>
            <a:ext cx="2199865"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A84E39"/>
                </a:solidFill>
                <a:latin typeface="DejaVu Sans"/>
              </a:rPr>
              <a:t>SIGKILL → RESTART → REPLAY</a:t>
            </a:r>
          </a:p>
        </p:txBody>
      </p:sp>
      <p:sp>
        <p:nvSpPr>
          <p:cNvPr id="14" name="Rounded Rectangle 13"/>
          <p:cNvSpPr/>
          <p:nvPr/>
        </p:nvSpPr>
        <p:spPr>
          <a:xfrm>
            <a:off x="4328160" y="1965959"/>
            <a:ext cx="3535679" cy="2628900"/>
          </a:xfrm>
          <a:prstGeom prst="roundRect">
            <a:avLst>
              <a:gd name="adj" fmla="val 3768"/>
            </a:avLst>
          </a:prstGeom>
          <a:solidFill>
            <a:srgbClr val="FFFFFF"/>
          </a:solidFill>
          <a:ln w="7620">
            <a:solidFill>
              <a:srgbClr val="315E9C"/>
            </a:solidFill>
          </a:ln>
          <a:effectLst/>
        </p:spPr>
        <p:txBody>
          <a:bodyPr rtlCol="0" anchor="ctr"/>
          <a:lstStyle/>
          <a:p>
            <a:pPr algn="ctr"/>
          </a:p>
        </p:txBody>
      </p:sp>
      <p:sp>
        <p:nvSpPr>
          <p:cNvPr id="15" name="TextBox 14"/>
          <p:cNvSpPr txBox="1"/>
          <p:nvPr/>
        </p:nvSpPr>
        <p:spPr>
          <a:xfrm>
            <a:off x="4495800" y="2133600"/>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315E9C"/>
                </a:solidFill>
                <a:latin typeface="DejaVu Sans"/>
              </a:rPr>
              <a:t>AFTER SUBMISSION</a:t>
            </a:r>
          </a:p>
        </p:txBody>
      </p:sp>
      <p:sp>
        <p:nvSpPr>
          <p:cNvPr id="16" name="TextBox 15"/>
          <p:cNvSpPr txBox="1"/>
          <p:nvPr/>
        </p:nvSpPr>
        <p:spPr>
          <a:xfrm>
            <a:off x="4495800" y="2369820"/>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315E9C"/>
                </a:solidFill>
                <a:latin typeface="DejaVu Sans"/>
              </a:rPr>
              <a:t>Caller stops</a:t>
            </a:r>
          </a:p>
        </p:txBody>
      </p:sp>
      <p:sp>
        <p:nvSpPr>
          <p:cNvPr id="17" name="TextBox 16"/>
          <p:cNvSpPr txBox="1"/>
          <p:nvPr/>
        </p:nvSpPr>
        <p:spPr>
          <a:xfrm>
            <a:off x="4495800" y="2777642"/>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The local receipt retains the</a:t>
            </a:r>
          </a:p>
        </p:txBody>
      </p:sp>
      <p:sp>
        <p:nvSpPr>
          <p:cNvPr id="18" name="TextBox 17"/>
          <p:cNvSpPr txBox="1"/>
          <p:nvPr/>
        </p:nvSpPr>
        <p:spPr>
          <a:xfrm>
            <a:off x="4495800" y="3040989"/>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job. Status /2 restores known</a:t>
            </a:r>
          </a:p>
        </p:txBody>
      </p:sp>
      <p:sp>
        <p:nvSpPr>
          <p:cNvPr id="19" name="TextBox 18"/>
          <p:cNvSpPr txBox="1"/>
          <p:nvPr/>
        </p:nvSpPr>
        <p:spPr>
          <a:xfrm>
            <a:off x="4495800" y="3304336"/>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correlation after a new</a:t>
            </a:r>
          </a:p>
        </p:txBody>
      </p:sp>
      <p:sp>
        <p:nvSpPr>
          <p:cNvPr id="20" name="TextBox 19"/>
          <p:cNvSpPr txBox="1"/>
          <p:nvPr/>
        </p:nvSpPr>
        <p:spPr>
          <a:xfrm>
            <a:off x="4495800" y="3567683"/>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process signs in.</a:t>
            </a:r>
          </a:p>
        </p:txBody>
      </p:sp>
      <p:sp>
        <p:nvSpPr>
          <p:cNvPr id="21" name="Rounded Rectangle 20"/>
          <p:cNvSpPr/>
          <p:nvPr/>
        </p:nvSpPr>
        <p:spPr>
          <a:xfrm>
            <a:off x="4495800" y="4777740"/>
            <a:ext cx="2390365" cy="266700"/>
          </a:xfrm>
          <a:prstGeom prst="roundRect">
            <a:avLst>
              <a:gd name="adj" fmla="val 20000"/>
            </a:avLst>
          </a:prstGeom>
          <a:solidFill>
            <a:srgbClr val="F4E3DC"/>
          </a:solidFill>
          <a:ln>
            <a:noFill/>
          </a:ln>
          <a:effectLst/>
        </p:spPr>
        <p:txBody>
          <a:bodyPr rtlCol="0" anchor="ctr"/>
          <a:lstStyle/>
          <a:p>
            <a:pPr algn="ctr"/>
          </a:p>
        </p:txBody>
      </p:sp>
      <p:sp>
        <p:nvSpPr>
          <p:cNvPr id="22" name="TextBox 21"/>
          <p:cNvSpPr txBox="1"/>
          <p:nvPr/>
        </p:nvSpPr>
        <p:spPr>
          <a:xfrm>
            <a:off x="4602480" y="4831080"/>
            <a:ext cx="2199865"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A84E39"/>
                </a:solidFill>
                <a:latin typeface="DejaVu Sans"/>
              </a:rPr>
              <a:t>SIGKILL → RESTART → REPLAY</a:t>
            </a:r>
          </a:p>
        </p:txBody>
      </p:sp>
      <p:sp>
        <p:nvSpPr>
          <p:cNvPr id="23" name="Rounded Rectangle 22"/>
          <p:cNvSpPr/>
          <p:nvPr/>
        </p:nvSpPr>
        <p:spPr>
          <a:xfrm>
            <a:off x="8107680" y="1965959"/>
            <a:ext cx="3535679" cy="2628900"/>
          </a:xfrm>
          <a:prstGeom prst="roundRect">
            <a:avLst>
              <a:gd name="adj" fmla="val 3768"/>
            </a:avLst>
          </a:prstGeom>
          <a:solidFill>
            <a:srgbClr val="FFFFFF"/>
          </a:solidFill>
          <a:ln w="7620">
            <a:solidFill>
              <a:srgbClr val="315E9C"/>
            </a:solidFill>
          </a:ln>
          <a:effectLst/>
        </p:spPr>
        <p:txBody>
          <a:bodyPr rtlCol="0" anchor="ctr"/>
          <a:lstStyle/>
          <a:p>
            <a:pPr algn="ctr"/>
          </a:p>
        </p:txBody>
      </p:sp>
      <p:sp>
        <p:nvSpPr>
          <p:cNvPr id="24" name="TextBox 23"/>
          <p:cNvSpPr txBox="1"/>
          <p:nvPr/>
        </p:nvSpPr>
        <p:spPr>
          <a:xfrm>
            <a:off x="8275320" y="2133600"/>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315E9C"/>
                </a:solidFill>
                <a:latin typeface="DejaVu Sans"/>
              </a:rPr>
              <a:t>AFTER ACCEPTANCE</a:t>
            </a:r>
          </a:p>
        </p:txBody>
      </p:sp>
      <p:sp>
        <p:nvSpPr>
          <p:cNvPr id="25" name="TextBox 24"/>
          <p:cNvSpPr txBox="1"/>
          <p:nvPr/>
        </p:nvSpPr>
        <p:spPr>
          <a:xfrm>
            <a:off x="8275320" y="2369820"/>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315E9C"/>
                </a:solidFill>
                <a:latin typeface="DejaVu Sans"/>
              </a:rPr>
              <a:t>Ack not yet sent</a:t>
            </a:r>
          </a:p>
        </p:txBody>
      </p:sp>
      <p:sp>
        <p:nvSpPr>
          <p:cNvPr id="26" name="TextBox 25"/>
          <p:cNvSpPr txBox="1"/>
          <p:nvPr/>
        </p:nvSpPr>
        <p:spPr>
          <a:xfrm>
            <a:off x="8275320" y="2777642"/>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The outcome is durable.</a:t>
            </a:r>
          </a:p>
        </p:txBody>
      </p:sp>
      <p:sp>
        <p:nvSpPr>
          <p:cNvPr id="27" name="TextBox 26"/>
          <p:cNvSpPr txBox="1"/>
          <p:nvPr/>
        </p:nvSpPr>
        <p:spPr>
          <a:xfrm>
            <a:off x="8275320" y="3040989"/>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Redelivery is checked against</a:t>
            </a:r>
          </a:p>
        </p:txBody>
      </p:sp>
      <p:sp>
        <p:nvSpPr>
          <p:cNvPr id="28" name="TextBox 27"/>
          <p:cNvSpPr txBox="1"/>
          <p:nvPr/>
        </p:nvSpPr>
        <p:spPr>
          <a:xfrm>
            <a:off x="8275320" y="3304336"/>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it, then acknowledged without</a:t>
            </a:r>
          </a:p>
        </p:txBody>
      </p:sp>
      <p:sp>
        <p:nvSpPr>
          <p:cNvPr id="29" name="TextBox 28"/>
          <p:cNvSpPr txBox="1"/>
          <p:nvPr/>
        </p:nvSpPr>
        <p:spPr>
          <a:xfrm>
            <a:off x="8275320" y="3567683"/>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 second outcome row.</a:t>
            </a:r>
          </a:p>
        </p:txBody>
      </p:sp>
      <p:sp>
        <p:nvSpPr>
          <p:cNvPr id="30" name="Rounded Rectangle 29"/>
          <p:cNvSpPr/>
          <p:nvPr/>
        </p:nvSpPr>
        <p:spPr>
          <a:xfrm>
            <a:off x="8275320" y="4777740"/>
            <a:ext cx="2390365" cy="266700"/>
          </a:xfrm>
          <a:prstGeom prst="roundRect">
            <a:avLst>
              <a:gd name="adj" fmla="val 20000"/>
            </a:avLst>
          </a:prstGeom>
          <a:solidFill>
            <a:srgbClr val="F4E3DC"/>
          </a:solidFill>
          <a:ln>
            <a:noFill/>
          </a:ln>
          <a:effectLst/>
        </p:spPr>
        <p:txBody>
          <a:bodyPr rtlCol="0" anchor="ctr"/>
          <a:lstStyle/>
          <a:p>
            <a:pPr algn="ctr"/>
          </a:p>
        </p:txBody>
      </p:sp>
      <p:sp>
        <p:nvSpPr>
          <p:cNvPr id="31" name="TextBox 30"/>
          <p:cNvSpPr txBox="1"/>
          <p:nvPr/>
        </p:nvSpPr>
        <p:spPr>
          <a:xfrm>
            <a:off x="8382000" y="4831080"/>
            <a:ext cx="2199865"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A84E39"/>
                </a:solidFill>
                <a:latin typeface="DejaVu Sans"/>
              </a:rPr>
              <a:t>SIGKILL → RESTART → REPLAY</a:t>
            </a:r>
          </a:p>
        </p:txBody>
      </p:sp>
      <p:sp>
        <p:nvSpPr>
          <p:cNvPr id="32" name="TextBox 31"/>
          <p:cNvSpPr txBox="1"/>
          <p:nvPr/>
        </p:nvSpPr>
        <p:spPr>
          <a:xfrm>
            <a:off x="586740" y="5372100"/>
            <a:ext cx="108966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007C78"/>
                </a:solidFill>
                <a:latin typeface="DejaVu Sans"/>
              </a:rPr>
              <a:t>Observed: one job · one result atom · one completion · one accepted outcome identity</a:t>
            </a:r>
          </a:p>
        </p:txBody>
      </p:sp>
      <p:sp>
        <p:nvSpPr>
          <p:cNvPr id="33" name="Rounded Rectangle 32"/>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4" name="TextBox 33"/>
          <p:cNvSpPr txBox="1"/>
          <p:nvPr/>
        </p:nvSpPr>
        <p:spPr>
          <a:xfrm>
            <a:off x="716280" y="5905500"/>
            <a:ext cx="107442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Known-job recovery uses durable context and status; unsolicited completions do not establish causality.</a:t>
            </a:r>
          </a:p>
        </p:txBody>
      </p:sp>
      <p:cxnSp>
        <p:nvCxnSpPr>
          <p:cNvPr id="35" name="Connector 34"/>
          <p:cNvCxnSpPr/>
          <p:nvPr/>
        </p:nvCxnSpPr>
        <p:spPr>
          <a:xfrm>
            <a:off x="548640" y="6393180"/>
            <a:ext cx="11094720" cy="0"/>
          </a:xfrm>
          <a:prstGeom prst="line">
            <a:avLst/>
          </a:prstGeom>
          <a:ln w="7620">
            <a:solidFill>
              <a:srgbClr val="C9D2D4"/>
            </a:solidFill>
          </a:ln>
          <a:effectLst/>
        </p:spPr>
      </p:cxnSp>
      <p:sp>
        <p:nvSpPr>
          <p:cNvPr id="36" name="TextBox 35"/>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M1.2 / test_integration.py · hive-integration.xml</a:t>
            </a:r>
          </a:p>
        </p:txBody>
      </p:sp>
      <p:sp>
        <p:nvSpPr>
          <p:cNvPr id="37" name="TextBox 36"/>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16 / 33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RECOVERY · INDEPENDENT COMMITS</a:t>
            </a:r>
          </a:p>
        </p:txBody>
      </p:sp>
      <p:sp>
        <p:nvSpPr>
          <p:cNvPr id="3" name="TextBox 2"/>
          <p:cNvSpPr txBox="1"/>
          <p:nvPr/>
        </p:nvSpPr>
        <p:spPr>
          <a:xfrm>
            <a:off x="533400" y="723900"/>
            <a:ext cx="11125200" cy="438912"/>
          </a:xfrm>
          <a:prstGeom prst="rect">
            <a:avLst/>
          </a:prstGeom>
          <a:noFill/>
        </p:spPr>
        <p:txBody>
          <a:bodyPr wrap="none" lIns="0" rIns="0" tIns="0" bIns="0" anchor="t" anchorCtr="0">
            <a:noAutofit/>
          </a:bodyPr>
          <a:lstStyle/>
          <a:p>
            <a:pPr algn="l">
              <a:lnSpc>
                <a:spcPct val="100000"/>
              </a:lnSpc>
              <a:spcBef>
                <a:spcPts val="0"/>
              </a:spcBef>
              <a:spcAft>
                <a:spcPts val="0"/>
              </a:spcAft>
            </a:pPr>
            <a:r>
              <a:rPr sz="2700" b="1">
                <a:solidFill>
                  <a:srgbClr val="102B3F"/>
                </a:solidFill>
                <a:latin typeface="DejaVu Sans"/>
              </a:rPr>
              <a:t>Worker failure and backpressure preserve pending work</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 result can survive worker death; a full route can delay completion without losing it.</a:t>
            </a:r>
          </a:p>
        </p:txBody>
      </p:sp>
      <p:sp>
        <p:nvSpPr>
          <p:cNvPr id="5" name="Rounded Rectangle 4"/>
          <p:cNvSpPr/>
          <p:nvPr/>
        </p:nvSpPr>
        <p:spPr>
          <a:xfrm>
            <a:off x="548640" y="1920239"/>
            <a:ext cx="2636520" cy="1188720"/>
          </a:xfrm>
          <a:prstGeom prst="roundRect">
            <a:avLst>
              <a:gd name="adj" fmla="val 8333"/>
            </a:avLst>
          </a:prstGeom>
          <a:solidFill>
            <a:srgbClr val="FFFFFF"/>
          </a:solidFill>
          <a:ln w="7620">
            <a:solidFill>
              <a:srgbClr val="007C78"/>
            </a:solidFill>
          </a:ln>
          <a:effectLst/>
        </p:spPr>
        <p:txBody>
          <a:bodyPr rtlCol="0" anchor="ctr"/>
          <a:lstStyle/>
          <a:p>
            <a:pPr algn="ctr"/>
          </a:p>
        </p:txBody>
      </p:sp>
      <p:sp>
        <p:nvSpPr>
          <p:cNvPr id="6" name="TextBox 5"/>
          <p:cNvSpPr txBox="1"/>
          <p:nvPr/>
        </p:nvSpPr>
        <p:spPr>
          <a:xfrm>
            <a:off x="716280" y="2087880"/>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007C78"/>
                </a:solidFill>
                <a:latin typeface="DejaVu Sans"/>
              </a:rPr>
              <a:t>Result atom</a:t>
            </a:r>
          </a:p>
        </p:txBody>
      </p:sp>
      <p:sp>
        <p:nvSpPr>
          <p:cNvPr id="7" name="TextBox 6"/>
          <p:cNvSpPr txBox="1"/>
          <p:nvPr/>
        </p:nvSpPr>
        <p:spPr>
          <a:xfrm>
            <a:off x="716280" y="2446934"/>
            <a:ext cx="23012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Committed by</a:t>
            </a:r>
          </a:p>
        </p:txBody>
      </p:sp>
      <p:sp>
        <p:nvSpPr>
          <p:cNvPr id="8" name="TextBox 7"/>
          <p:cNvSpPr txBox="1"/>
          <p:nvPr/>
        </p:nvSpPr>
        <p:spPr>
          <a:xfrm>
            <a:off x="716280" y="2690774"/>
            <a:ext cx="23012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AtomStorage</a:t>
            </a:r>
          </a:p>
        </p:txBody>
      </p:sp>
      <p:cxnSp>
        <p:nvCxnSpPr>
          <p:cNvPr id="9" name="Connector 8"/>
          <p:cNvCxnSpPr/>
          <p:nvPr/>
        </p:nvCxnSpPr>
        <p:spPr>
          <a:xfrm>
            <a:off x="3185160" y="2522220"/>
            <a:ext cx="144780" cy="0"/>
          </a:xfrm>
          <a:prstGeom prst="line">
            <a:avLst/>
          </a:prstGeom>
          <a:ln w="15240">
            <a:solidFill>
              <a:srgbClr val="315E9C"/>
            </a:solidFill>
          </a:ln>
          <a:effectLst/>
        </p:spPr>
      </p:cxnSp>
      <p:sp>
        <p:nvSpPr>
          <p:cNvPr id="10" name="Freeform 9"/>
          <p:cNvSpPr/>
          <p:nvPr/>
        </p:nvSpPr>
        <p:spPr>
          <a:xfrm>
            <a:off x="3230880" y="248412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11" name="Rounded Rectangle 10"/>
          <p:cNvSpPr/>
          <p:nvPr/>
        </p:nvSpPr>
        <p:spPr>
          <a:xfrm>
            <a:off x="3368040" y="1920239"/>
            <a:ext cx="2636520" cy="1188720"/>
          </a:xfrm>
          <a:prstGeom prst="roundRect">
            <a:avLst>
              <a:gd name="adj" fmla="val 8333"/>
            </a:avLst>
          </a:prstGeom>
          <a:solidFill>
            <a:srgbClr val="FFFFFF"/>
          </a:solidFill>
          <a:ln w="7620">
            <a:solidFill>
              <a:srgbClr val="315E9C"/>
            </a:solidFill>
          </a:ln>
          <a:effectLst/>
        </p:spPr>
        <p:txBody>
          <a:bodyPr rtlCol="0" anchor="ctr"/>
          <a:lstStyle/>
          <a:p>
            <a:pPr algn="ctr"/>
          </a:p>
        </p:txBody>
      </p:sp>
      <p:sp>
        <p:nvSpPr>
          <p:cNvPr id="12" name="TextBox 11"/>
          <p:cNvSpPr txBox="1"/>
          <p:nvPr/>
        </p:nvSpPr>
        <p:spPr>
          <a:xfrm>
            <a:off x="3535679" y="2087880"/>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Job + outbox</a:t>
            </a:r>
          </a:p>
        </p:txBody>
      </p:sp>
      <p:sp>
        <p:nvSpPr>
          <p:cNvPr id="13" name="TextBox 12"/>
          <p:cNvSpPr txBox="1"/>
          <p:nvPr/>
        </p:nvSpPr>
        <p:spPr>
          <a:xfrm>
            <a:off x="3535679" y="2446934"/>
            <a:ext cx="23012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Committed by</a:t>
            </a:r>
          </a:p>
        </p:txBody>
      </p:sp>
      <p:sp>
        <p:nvSpPr>
          <p:cNvPr id="14" name="TextBox 13"/>
          <p:cNvSpPr txBox="1"/>
          <p:nvPr/>
        </p:nvSpPr>
        <p:spPr>
          <a:xfrm>
            <a:off x="3535679" y="2690774"/>
            <a:ext cx="23012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execution</a:t>
            </a:r>
          </a:p>
        </p:txBody>
      </p:sp>
      <p:cxnSp>
        <p:nvCxnSpPr>
          <p:cNvPr id="15" name="Connector 14"/>
          <p:cNvCxnSpPr/>
          <p:nvPr/>
        </p:nvCxnSpPr>
        <p:spPr>
          <a:xfrm>
            <a:off x="6004559" y="2522220"/>
            <a:ext cx="144781" cy="0"/>
          </a:xfrm>
          <a:prstGeom prst="line">
            <a:avLst/>
          </a:prstGeom>
          <a:ln w="15240">
            <a:solidFill>
              <a:srgbClr val="315E9C"/>
            </a:solidFill>
          </a:ln>
          <a:effectLst/>
        </p:spPr>
      </p:cxnSp>
      <p:sp>
        <p:nvSpPr>
          <p:cNvPr id="16" name="Freeform 15"/>
          <p:cNvSpPr/>
          <p:nvPr/>
        </p:nvSpPr>
        <p:spPr>
          <a:xfrm>
            <a:off x="6050280" y="248412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17" name="Rounded Rectangle 16"/>
          <p:cNvSpPr/>
          <p:nvPr/>
        </p:nvSpPr>
        <p:spPr>
          <a:xfrm>
            <a:off x="6187440" y="1920239"/>
            <a:ext cx="2636520" cy="1188720"/>
          </a:xfrm>
          <a:prstGeom prst="roundRect">
            <a:avLst>
              <a:gd name="adj" fmla="val 8333"/>
            </a:avLst>
          </a:prstGeom>
          <a:solidFill>
            <a:srgbClr val="FFFFFF"/>
          </a:solidFill>
          <a:ln w="7620">
            <a:solidFill>
              <a:srgbClr val="315E9C"/>
            </a:solidFill>
          </a:ln>
          <a:effectLst/>
        </p:spPr>
        <p:txBody>
          <a:bodyPr rtlCol="0" anchor="ctr"/>
          <a:lstStyle/>
          <a:p>
            <a:pPr algn="ctr"/>
          </a:p>
        </p:txBody>
      </p:sp>
      <p:sp>
        <p:nvSpPr>
          <p:cNvPr id="18" name="TextBox 17"/>
          <p:cNvSpPr txBox="1"/>
          <p:nvPr/>
        </p:nvSpPr>
        <p:spPr>
          <a:xfrm>
            <a:off x="6355080" y="2087880"/>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Completion</a:t>
            </a:r>
          </a:p>
        </p:txBody>
      </p:sp>
      <p:sp>
        <p:nvSpPr>
          <p:cNvPr id="19" name="TextBox 18"/>
          <p:cNvSpPr txBox="1"/>
          <p:nvPr/>
        </p:nvSpPr>
        <p:spPr>
          <a:xfrm>
            <a:off x="6355080" y="2446934"/>
            <a:ext cx="23012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Accepted by Messaging</a:t>
            </a:r>
          </a:p>
        </p:txBody>
      </p:sp>
      <p:cxnSp>
        <p:nvCxnSpPr>
          <p:cNvPr id="20" name="Connector 19"/>
          <p:cNvCxnSpPr/>
          <p:nvPr/>
        </p:nvCxnSpPr>
        <p:spPr>
          <a:xfrm>
            <a:off x="8823960" y="2522220"/>
            <a:ext cx="144780" cy="0"/>
          </a:xfrm>
          <a:prstGeom prst="line">
            <a:avLst/>
          </a:prstGeom>
          <a:ln w="15240">
            <a:solidFill>
              <a:srgbClr val="315E9C"/>
            </a:solidFill>
          </a:ln>
          <a:effectLst/>
        </p:spPr>
      </p:cxnSp>
      <p:sp>
        <p:nvSpPr>
          <p:cNvPr id="21" name="Freeform 20"/>
          <p:cNvSpPr/>
          <p:nvPr/>
        </p:nvSpPr>
        <p:spPr>
          <a:xfrm>
            <a:off x="8869680" y="248412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22" name="Rounded Rectangle 21"/>
          <p:cNvSpPr/>
          <p:nvPr/>
        </p:nvSpPr>
        <p:spPr>
          <a:xfrm>
            <a:off x="9006840" y="1920239"/>
            <a:ext cx="2636520" cy="1188720"/>
          </a:xfrm>
          <a:prstGeom prst="roundRect">
            <a:avLst>
              <a:gd name="adj" fmla="val 8333"/>
            </a:avLst>
          </a:prstGeom>
          <a:solidFill>
            <a:srgbClr val="FFFFFF"/>
          </a:solidFill>
          <a:ln w="7620">
            <a:solidFill>
              <a:srgbClr val="007C78"/>
            </a:solidFill>
          </a:ln>
          <a:effectLst/>
        </p:spPr>
        <p:txBody>
          <a:bodyPr rtlCol="0" anchor="ctr"/>
          <a:lstStyle/>
          <a:p>
            <a:pPr algn="ctr"/>
          </a:p>
        </p:txBody>
      </p:sp>
      <p:sp>
        <p:nvSpPr>
          <p:cNvPr id="23" name="TextBox 22"/>
          <p:cNvSpPr txBox="1"/>
          <p:nvPr/>
        </p:nvSpPr>
        <p:spPr>
          <a:xfrm>
            <a:off x="9174480" y="2087880"/>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007C78"/>
                </a:solidFill>
                <a:latin typeface="DejaVu Sans"/>
              </a:rPr>
              <a:t>Caller outcome</a:t>
            </a:r>
          </a:p>
        </p:txBody>
      </p:sp>
      <p:sp>
        <p:nvSpPr>
          <p:cNvPr id="24" name="TextBox 23"/>
          <p:cNvSpPr txBox="1"/>
          <p:nvPr/>
        </p:nvSpPr>
        <p:spPr>
          <a:xfrm>
            <a:off x="9174480" y="2446934"/>
            <a:ext cx="23012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Accepted, then</a:t>
            </a:r>
          </a:p>
        </p:txBody>
      </p:sp>
      <p:sp>
        <p:nvSpPr>
          <p:cNvPr id="25" name="TextBox 24"/>
          <p:cNvSpPr txBox="1"/>
          <p:nvPr/>
        </p:nvSpPr>
        <p:spPr>
          <a:xfrm>
            <a:off x="9174480" y="2690774"/>
            <a:ext cx="23012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acknowledged</a:t>
            </a:r>
          </a:p>
        </p:txBody>
      </p:sp>
      <p:sp>
        <p:nvSpPr>
          <p:cNvPr id="26" name="Rounded Rectangle 25"/>
          <p:cNvSpPr/>
          <p:nvPr/>
        </p:nvSpPr>
        <p:spPr>
          <a:xfrm>
            <a:off x="548640" y="3596640"/>
            <a:ext cx="5364480" cy="1813559"/>
          </a:xfrm>
          <a:prstGeom prst="roundRect">
            <a:avLst>
              <a:gd name="adj" fmla="val 5462"/>
            </a:avLst>
          </a:prstGeom>
          <a:solidFill>
            <a:srgbClr val="E4EBF5"/>
          </a:solidFill>
          <a:ln w="7620">
            <a:solidFill>
              <a:srgbClr val="315E9C"/>
            </a:solidFill>
          </a:ln>
          <a:effectLst/>
        </p:spPr>
        <p:txBody>
          <a:bodyPr rtlCol="0" anchor="ctr"/>
          <a:lstStyle/>
          <a:p>
            <a:pPr algn="ctr"/>
          </a:p>
        </p:txBody>
      </p:sp>
      <p:sp>
        <p:nvSpPr>
          <p:cNvPr id="27" name="TextBox 26"/>
          <p:cNvSpPr txBox="1"/>
          <p:nvPr/>
        </p:nvSpPr>
        <p:spPr>
          <a:xfrm>
            <a:off x="716280" y="3764279"/>
            <a:ext cx="50292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315E9C"/>
                </a:solidFill>
                <a:latin typeface="DejaVu Sans"/>
              </a:rPr>
              <a:t>REAL WORKER SIGKILL</a:t>
            </a:r>
          </a:p>
        </p:txBody>
      </p:sp>
      <p:sp>
        <p:nvSpPr>
          <p:cNvPr id="28" name="TextBox 27"/>
          <p:cNvSpPr txBox="1"/>
          <p:nvPr/>
        </p:nvSpPr>
        <p:spPr>
          <a:xfrm>
            <a:off x="716280" y="4000500"/>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Kill after result persistence</a:t>
            </a:r>
          </a:p>
        </p:txBody>
      </p:sp>
      <p:sp>
        <p:nvSpPr>
          <p:cNvPr id="29" name="TextBox 28"/>
          <p:cNvSpPr txBox="1"/>
          <p:nvPr/>
        </p:nvSpPr>
        <p:spPr>
          <a:xfrm>
            <a:off x="716280" y="4359554"/>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The job remains queued while its atom is</a:t>
            </a:r>
          </a:p>
        </p:txBody>
      </p:sp>
      <p:sp>
        <p:nvSpPr>
          <p:cNvPr id="30" name="TextBox 29"/>
          <p:cNvSpPr txBox="1"/>
          <p:nvPr/>
        </p:nvSpPr>
        <p:spPr>
          <a:xfrm>
            <a:off x="716280" y="4622901"/>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durable. Restart reuses the logical result and</a:t>
            </a:r>
          </a:p>
        </p:txBody>
      </p:sp>
      <p:sp>
        <p:nvSpPr>
          <p:cNvPr id="31" name="TextBox 30"/>
          <p:cNvSpPr txBox="1"/>
          <p:nvPr/>
        </p:nvSpPr>
        <p:spPr>
          <a:xfrm>
            <a:off x="716280" y="4886248"/>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later publishes completion.</a:t>
            </a:r>
          </a:p>
        </p:txBody>
      </p:sp>
      <p:sp>
        <p:nvSpPr>
          <p:cNvPr id="32" name="Rounded Rectangle 31"/>
          <p:cNvSpPr/>
          <p:nvPr/>
        </p:nvSpPr>
        <p:spPr>
          <a:xfrm>
            <a:off x="6096000" y="3596640"/>
            <a:ext cx="5547360" cy="1813559"/>
          </a:xfrm>
          <a:prstGeom prst="roundRect">
            <a:avLst>
              <a:gd name="adj" fmla="val 5462"/>
            </a:avLst>
          </a:prstGeom>
          <a:solidFill>
            <a:srgbClr val="F3E7CE"/>
          </a:solidFill>
          <a:ln w="7620">
            <a:solidFill>
              <a:srgbClr val="A86A15"/>
            </a:solidFill>
          </a:ln>
          <a:effectLst/>
        </p:spPr>
        <p:txBody>
          <a:bodyPr rtlCol="0" anchor="ctr"/>
          <a:lstStyle/>
          <a:p>
            <a:pPr algn="ctr"/>
          </a:p>
        </p:txBody>
      </p:sp>
      <p:sp>
        <p:nvSpPr>
          <p:cNvPr id="33" name="TextBox 32"/>
          <p:cNvSpPr txBox="1"/>
          <p:nvPr/>
        </p:nvSpPr>
        <p:spPr>
          <a:xfrm>
            <a:off x="6263640" y="3764279"/>
            <a:ext cx="521208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A86A15"/>
                </a:solidFill>
                <a:latin typeface="DejaVu Sans"/>
              </a:rPr>
              <a:t>NATIVE CALLER BACKPRESSURE</a:t>
            </a:r>
          </a:p>
        </p:txBody>
      </p:sp>
      <p:sp>
        <p:nvSpPr>
          <p:cNvPr id="34" name="TextBox 33"/>
          <p:cNvSpPr txBox="1"/>
          <p:nvPr/>
        </p:nvSpPr>
        <p:spPr>
          <a:xfrm>
            <a:off x="6263640" y="4000500"/>
            <a:ext cx="521208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A86A15"/>
                </a:solidFill>
                <a:latin typeface="DejaVu Sans"/>
              </a:rPr>
              <a:t>Full reply route</a:t>
            </a:r>
          </a:p>
        </p:txBody>
      </p:sp>
      <p:sp>
        <p:nvSpPr>
          <p:cNvPr id="35" name="TextBox 34"/>
          <p:cNvSpPr txBox="1"/>
          <p:nvPr/>
        </p:nvSpPr>
        <p:spPr>
          <a:xfrm>
            <a:off x="6263640" y="4359554"/>
            <a:ext cx="52120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The outbox remains pending. The caller refuses</a:t>
            </a:r>
          </a:p>
        </p:txBody>
      </p:sp>
      <p:sp>
        <p:nvSpPr>
          <p:cNvPr id="36" name="TextBox 35"/>
          <p:cNvSpPr txBox="1"/>
          <p:nvPr/>
        </p:nvSpPr>
        <p:spPr>
          <a:xfrm>
            <a:off x="6263640" y="4622901"/>
            <a:ext cx="52120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an unrelated delivery; once capacity returns, the</a:t>
            </a:r>
          </a:p>
        </p:txBody>
      </p:sp>
      <p:sp>
        <p:nvSpPr>
          <p:cNvPr id="37" name="TextBox 36"/>
          <p:cNvSpPr txBox="1"/>
          <p:nvPr/>
        </p:nvSpPr>
        <p:spPr>
          <a:xfrm>
            <a:off x="6263640" y="4886248"/>
            <a:ext cx="52120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known completion is accepted.</a:t>
            </a:r>
          </a:p>
        </p:txBody>
      </p:sp>
      <p:sp>
        <p:nvSpPr>
          <p:cNvPr id="38" name="Rounded Rectangle 37"/>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9" name="TextBox 38"/>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Worker revocation yields an explicit failed completion with no result atom; no silent success.</a:t>
            </a:r>
          </a:p>
        </p:txBody>
      </p:sp>
      <p:cxnSp>
        <p:nvCxnSpPr>
          <p:cNvPr id="40" name="Connector 39"/>
          <p:cNvCxnSpPr/>
          <p:nvPr/>
        </p:nvCxnSpPr>
        <p:spPr>
          <a:xfrm>
            <a:off x="548640" y="6393180"/>
            <a:ext cx="11094720" cy="0"/>
          </a:xfrm>
          <a:prstGeom prst="line">
            <a:avLst/>
          </a:prstGeom>
          <a:ln w="7620">
            <a:solidFill>
              <a:srgbClr val="C9D2D4"/>
            </a:solidFill>
          </a:ln>
          <a:effectLst/>
        </p:spPr>
      </p:cxnSp>
      <p:sp>
        <p:nvSpPr>
          <p:cNvPr id="41" name="TextBox 40"/>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M1.2 / execution.py · test_m11.py · test_integration.py</a:t>
            </a:r>
          </a:p>
        </p:txBody>
      </p:sp>
      <p:sp>
        <p:nvSpPr>
          <p:cNvPr id="42" name="TextBox 41"/>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17 / 33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STORAGE · OPAQUE PERSISTENCE</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The DA boundary remains application-neutral</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 external adapter translates application references into generic coordinates and opaque bytes.</a:t>
            </a:r>
          </a:p>
        </p:txBody>
      </p:sp>
      <p:sp>
        <p:nvSpPr>
          <p:cNvPr id="5" name="Rounded Rectangle 4"/>
          <p:cNvSpPr/>
          <p:nvPr/>
        </p:nvSpPr>
        <p:spPr>
          <a:xfrm>
            <a:off x="548640" y="1927859"/>
            <a:ext cx="3429000" cy="1249680"/>
          </a:xfrm>
          <a:prstGeom prst="roundRect">
            <a:avLst>
              <a:gd name="adj" fmla="val 7926"/>
            </a:avLst>
          </a:prstGeom>
          <a:solidFill>
            <a:srgbClr val="E4EBF5"/>
          </a:solidFill>
          <a:ln w="7620">
            <a:solidFill>
              <a:srgbClr val="315E9C"/>
            </a:solidFill>
          </a:ln>
          <a:effectLst/>
        </p:spPr>
        <p:txBody>
          <a:bodyPr rtlCol="0" anchor="ctr"/>
          <a:lstStyle/>
          <a:p>
            <a:pPr algn="ctr"/>
          </a:p>
        </p:txBody>
      </p:sp>
      <p:sp>
        <p:nvSpPr>
          <p:cNvPr id="6" name="TextBox 5"/>
          <p:cNvSpPr txBox="1"/>
          <p:nvPr/>
        </p:nvSpPr>
        <p:spPr>
          <a:xfrm>
            <a:off x="716280" y="2095500"/>
            <a:ext cx="309372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315E9C"/>
                </a:solidFill>
                <a:latin typeface="DejaVu Sans"/>
              </a:rPr>
              <a:t>Application contracts</a:t>
            </a:r>
          </a:p>
        </p:txBody>
      </p:sp>
      <p:sp>
        <p:nvSpPr>
          <p:cNvPr id="7" name="TextBox 6"/>
          <p:cNvSpPr txBox="1"/>
          <p:nvPr/>
        </p:nvSpPr>
        <p:spPr>
          <a:xfrm>
            <a:off x="716280" y="2464308"/>
            <a:ext cx="309372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Scope · references · replay</a:t>
            </a:r>
          </a:p>
        </p:txBody>
      </p:sp>
      <p:sp>
        <p:nvSpPr>
          <p:cNvPr id="8" name="TextBox 7"/>
          <p:cNvSpPr txBox="1"/>
          <p:nvPr/>
        </p:nvSpPr>
        <p:spPr>
          <a:xfrm>
            <a:off x="716280" y="2717901"/>
            <a:ext cx="309372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identity</a:t>
            </a:r>
          </a:p>
        </p:txBody>
      </p:sp>
      <p:sp>
        <p:nvSpPr>
          <p:cNvPr id="9" name="Rounded Rectangle 8"/>
          <p:cNvSpPr/>
          <p:nvPr/>
        </p:nvSpPr>
        <p:spPr>
          <a:xfrm>
            <a:off x="4716780" y="1927859"/>
            <a:ext cx="3086100" cy="1249680"/>
          </a:xfrm>
          <a:prstGeom prst="roundRect">
            <a:avLst>
              <a:gd name="adj" fmla="val 7926"/>
            </a:avLst>
          </a:prstGeom>
          <a:solidFill>
            <a:srgbClr val="DCEFE8"/>
          </a:solidFill>
          <a:ln w="7620">
            <a:solidFill>
              <a:srgbClr val="007C78"/>
            </a:solidFill>
          </a:ln>
          <a:effectLst/>
        </p:spPr>
        <p:txBody>
          <a:bodyPr rtlCol="0" anchor="ctr"/>
          <a:lstStyle/>
          <a:p>
            <a:pPr algn="ctr"/>
          </a:p>
        </p:txBody>
      </p:sp>
      <p:sp>
        <p:nvSpPr>
          <p:cNvPr id="10" name="TextBox 9"/>
          <p:cNvSpPr txBox="1"/>
          <p:nvPr/>
        </p:nvSpPr>
        <p:spPr>
          <a:xfrm>
            <a:off x="4884420" y="2095500"/>
            <a:ext cx="275082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007C78"/>
                </a:solidFill>
                <a:latin typeface="DejaVu Sans"/>
              </a:rPr>
              <a:t>External adapter</a:t>
            </a:r>
          </a:p>
        </p:txBody>
      </p:sp>
      <p:sp>
        <p:nvSpPr>
          <p:cNvPr id="11" name="TextBox 10"/>
          <p:cNvSpPr txBox="1"/>
          <p:nvPr/>
        </p:nvSpPr>
        <p:spPr>
          <a:xfrm>
            <a:off x="4884420" y="2464308"/>
            <a:ext cx="275082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Opaque payload + generic</a:t>
            </a:r>
          </a:p>
        </p:txBody>
      </p:sp>
      <p:sp>
        <p:nvSpPr>
          <p:cNvPr id="12" name="TextBox 11"/>
          <p:cNvSpPr txBox="1"/>
          <p:nvPr/>
        </p:nvSpPr>
        <p:spPr>
          <a:xfrm>
            <a:off x="4884420" y="2717901"/>
            <a:ext cx="275082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coordinate</a:t>
            </a:r>
          </a:p>
        </p:txBody>
      </p:sp>
      <p:sp>
        <p:nvSpPr>
          <p:cNvPr id="13" name="Rounded Rectangle 12"/>
          <p:cNvSpPr/>
          <p:nvPr/>
        </p:nvSpPr>
        <p:spPr>
          <a:xfrm>
            <a:off x="8542020" y="1927859"/>
            <a:ext cx="3101340" cy="1249680"/>
          </a:xfrm>
          <a:prstGeom prst="roundRect">
            <a:avLst>
              <a:gd name="adj" fmla="val 7926"/>
            </a:avLst>
          </a:prstGeom>
          <a:solidFill>
            <a:srgbClr val="DCEFE8"/>
          </a:solidFill>
          <a:ln w="7620">
            <a:solidFill>
              <a:srgbClr val="007C78"/>
            </a:solidFill>
          </a:ln>
          <a:effectLst/>
        </p:spPr>
        <p:txBody>
          <a:bodyPr rtlCol="0" anchor="ctr"/>
          <a:lstStyle/>
          <a:p>
            <a:pPr algn="ctr"/>
          </a:p>
        </p:txBody>
      </p:sp>
      <p:sp>
        <p:nvSpPr>
          <p:cNvPr id="14" name="TextBox 13"/>
          <p:cNvSpPr txBox="1"/>
          <p:nvPr/>
        </p:nvSpPr>
        <p:spPr>
          <a:xfrm>
            <a:off x="8709660" y="2095500"/>
            <a:ext cx="276606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007C78"/>
                </a:solidFill>
                <a:latin typeface="DejaVu Sans"/>
              </a:rPr>
              <a:t>DeTTa core</a:t>
            </a:r>
          </a:p>
        </p:txBody>
      </p:sp>
      <p:sp>
        <p:nvSpPr>
          <p:cNvPr id="15" name="TextBox 14"/>
          <p:cNvSpPr txBox="1"/>
          <p:nvPr/>
        </p:nvSpPr>
        <p:spPr>
          <a:xfrm>
            <a:off x="8709660" y="2464308"/>
            <a:ext cx="276606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DA encoding + FileStorage</a:t>
            </a:r>
          </a:p>
        </p:txBody>
      </p:sp>
      <p:cxnSp>
        <p:nvCxnSpPr>
          <p:cNvPr id="16" name="Connector 15"/>
          <p:cNvCxnSpPr/>
          <p:nvPr/>
        </p:nvCxnSpPr>
        <p:spPr>
          <a:xfrm>
            <a:off x="3977640" y="2552700"/>
            <a:ext cx="739140" cy="0"/>
          </a:xfrm>
          <a:prstGeom prst="line">
            <a:avLst/>
          </a:prstGeom>
          <a:ln w="15240">
            <a:solidFill>
              <a:srgbClr val="007C78"/>
            </a:solidFill>
          </a:ln>
          <a:effectLst/>
        </p:spPr>
      </p:cxnSp>
      <p:sp>
        <p:nvSpPr>
          <p:cNvPr id="17" name="Freeform 16"/>
          <p:cNvSpPr/>
          <p:nvPr/>
        </p:nvSpPr>
        <p:spPr>
          <a:xfrm>
            <a:off x="4617720" y="251460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cxnSp>
        <p:nvCxnSpPr>
          <p:cNvPr id="18" name="Connector 17"/>
          <p:cNvCxnSpPr/>
          <p:nvPr/>
        </p:nvCxnSpPr>
        <p:spPr>
          <a:xfrm>
            <a:off x="7802880" y="2552700"/>
            <a:ext cx="739140" cy="0"/>
          </a:xfrm>
          <a:prstGeom prst="line">
            <a:avLst/>
          </a:prstGeom>
          <a:ln w="15240">
            <a:solidFill>
              <a:srgbClr val="007C78"/>
            </a:solidFill>
          </a:ln>
          <a:effectLst/>
        </p:spPr>
      </p:cxnSp>
      <p:sp>
        <p:nvSpPr>
          <p:cNvPr id="19" name="Freeform 18"/>
          <p:cNvSpPr/>
          <p:nvPr/>
        </p:nvSpPr>
        <p:spPr>
          <a:xfrm>
            <a:off x="8442960" y="251460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20" name="TextBox 19"/>
          <p:cNvSpPr txBox="1"/>
          <p:nvPr/>
        </p:nvSpPr>
        <p:spPr>
          <a:xfrm>
            <a:off x="571500" y="3634740"/>
            <a:ext cx="7620000" cy="370636"/>
          </a:xfrm>
          <a:prstGeom prst="rect">
            <a:avLst/>
          </a:prstGeom>
          <a:noFill/>
        </p:spPr>
        <p:txBody>
          <a:bodyPr wrap="none" lIns="0" rIns="0" tIns="0" bIns="0" anchor="t" anchorCtr="0">
            <a:noAutofit/>
          </a:bodyPr>
          <a:lstStyle/>
          <a:p>
            <a:pPr algn="l">
              <a:lnSpc>
                <a:spcPct val="100000"/>
              </a:lnSpc>
              <a:spcBef>
                <a:spcPts val="0"/>
              </a:spcBef>
              <a:spcAft>
                <a:spcPts val="0"/>
              </a:spcAft>
            </a:pPr>
            <a:r>
              <a:rPr sz="2280" b="1">
                <a:solidFill>
                  <a:srgbClr val="102B3F"/>
                </a:solidFill>
                <a:latin typeface="DejaVu Sans"/>
              </a:rPr>
              <a:t>4 data shares + 2 parity shares</a:t>
            </a:r>
          </a:p>
        </p:txBody>
      </p:sp>
      <p:sp>
        <p:nvSpPr>
          <p:cNvPr id="21" name="Rounded Rectangle 20"/>
          <p:cNvSpPr/>
          <p:nvPr/>
        </p:nvSpPr>
        <p:spPr>
          <a:xfrm>
            <a:off x="563880" y="4229100"/>
            <a:ext cx="952500" cy="876300"/>
          </a:xfrm>
          <a:prstGeom prst="roundRect">
            <a:avLst>
              <a:gd name="adj" fmla="val 8695"/>
            </a:avLst>
          </a:prstGeom>
          <a:solidFill>
            <a:srgbClr val="DCEFE8"/>
          </a:solidFill>
          <a:ln w="7620">
            <a:solidFill>
              <a:srgbClr val="007C78"/>
            </a:solidFill>
          </a:ln>
          <a:effectLst/>
        </p:spPr>
        <p:txBody>
          <a:bodyPr rtlCol="0" anchor="ctr"/>
          <a:lstStyle/>
          <a:p>
            <a:pPr algn="ctr"/>
          </a:p>
        </p:txBody>
      </p:sp>
      <p:sp>
        <p:nvSpPr>
          <p:cNvPr id="22" name="TextBox 21"/>
          <p:cNvSpPr txBox="1"/>
          <p:nvPr/>
        </p:nvSpPr>
        <p:spPr>
          <a:xfrm>
            <a:off x="800100" y="4419600"/>
            <a:ext cx="685800" cy="341376"/>
          </a:xfrm>
          <a:prstGeom prst="rect">
            <a:avLst/>
          </a:prstGeom>
          <a:noFill/>
        </p:spPr>
        <p:txBody>
          <a:bodyPr wrap="none" lIns="0" rIns="0" tIns="0" bIns="0" anchor="t" anchorCtr="0">
            <a:noAutofit/>
          </a:bodyPr>
          <a:lstStyle/>
          <a:p>
            <a:pPr algn="l">
              <a:lnSpc>
                <a:spcPct val="100000"/>
              </a:lnSpc>
              <a:spcBef>
                <a:spcPts val="0"/>
              </a:spcBef>
              <a:spcAft>
                <a:spcPts val="0"/>
              </a:spcAft>
            </a:pPr>
            <a:r>
              <a:rPr sz="2100" b="0">
                <a:solidFill>
                  <a:srgbClr val="007C78"/>
                </a:solidFill>
                <a:latin typeface="DejaVu Sans Mono"/>
              </a:rPr>
              <a:t>S1</a:t>
            </a:r>
          </a:p>
        </p:txBody>
      </p:sp>
      <p:sp>
        <p:nvSpPr>
          <p:cNvPr id="23" name="TextBox 22"/>
          <p:cNvSpPr txBox="1"/>
          <p:nvPr/>
        </p:nvSpPr>
        <p:spPr>
          <a:xfrm>
            <a:off x="685800" y="4808220"/>
            <a:ext cx="83820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0">
                <a:solidFill>
                  <a:srgbClr val="536775"/>
                </a:solidFill>
                <a:latin typeface="DejaVu Sans"/>
              </a:rPr>
              <a:t>present</a:t>
            </a:r>
          </a:p>
        </p:txBody>
      </p:sp>
      <p:sp>
        <p:nvSpPr>
          <p:cNvPr id="24" name="Rounded Rectangle 23"/>
          <p:cNvSpPr/>
          <p:nvPr/>
        </p:nvSpPr>
        <p:spPr>
          <a:xfrm>
            <a:off x="1729739" y="4229100"/>
            <a:ext cx="952500" cy="876300"/>
          </a:xfrm>
          <a:prstGeom prst="roundRect">
            <a:avLst>
              <a:gd name="adj" fmla="val 8695"/>
            </a:avLst>
          </a:prstGeom>
          <a:solidFill>
            <a:srgbClr val="DCEFE8"/>
          </a:solidFill>
          <a:ln w="7620">
            <a:solidFill>
              <a:srgbClr val="007C78"/>
            </a:solidFill>
          </a:ln>
          <a:effectLst/>
        </p:spPr>
        <p:txBody>
          <a:bodyPr rtlCol="0" anchor="ctr"/>
          <a:lstStyle/>
          <a:p>
            <a:pPr algn="ctr"/>
          </a:p>
        </p:txBody>
      </p:sp>
      <p:sp>
        <p:nvSpPr>
          <p:cNvPr id="25" name="TextBox 24"/>
          <p:cNvSpPr txBox="1"/>
          <p:nvPr/>
        </p:nvSpPr>
        <p:spPr>
          <a:xfrm>
            <a:off x="1965959" y="4419600"/>
            <a:ext cx="685800" cy="341376"/>
          </a:xfrm>
          <a:prstGeom prst="rect">
            <a:avLst/>
          </a:prstGeom>
          <a:noFill/>
        </p:spPr>
        <p:txBody>
          <a:bodyPr wrap="none" lIns="0" rIns="0" tIns="0" bIns="0" anchor="t" anchorCtr="0">
            <a:noAutofit/>
          </a:bodyPr>
          <a:lstStyle/>
          <a:p>
            <a:pPr algn="l">
              <a:lnSpc>
                <a:spcPct val="100000"/>
              </a:lnSpc>
              <a:spcBef>
                <a:spcPts val="0"/>
              </a:spcBef>
              <a:spcAft>
                <a:spcPts val="0"/>
              </a:spcAft>
            </a:pPr>
            <a:r>
              <a:rPr sz="2100" b="0">
                <a:solidFill>
                  <a:srgbClr val="007C78"/>
                </a:solidFill>
                <a:latin typeface="DejaVu Sans Mono"/>
              </a:rPr>
              <a:t>S2</a:t>
            </a:r>
          </a:p>
        </p:txBody>
      </p:sp>
      <p:sp>
        <p:nvSpPr>
          <p:cNvPr id="26" name="TextBox 25"/>
          <p:cNvSpPr txBox="1"/>
          <p:nvPr/>
        </p:nvSpPr>
        <p:spPr>
          <a:xfrm>
            <a:off x="1851659" y="4808220"/>
            <a:ext cx="83820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0">
                <a:solidFill>
                  <a:srgbClr val="536775"/>
                </a:solidFill>
                <a:latin typeface="DejaVu Sans"/>
              </a:rPr>
              <a:t>present</a:t>
            </a:r>
          </a:p>
        </p:txBody>
      </p:sp>
      <p:sp>
        <p:nvSpPr>
          <p:cNvPr id="27" name="Rounded Rectangle 26"/>
          <p:cNvSpPr/>
          <p:nvPr/>
        </p:nvSpPr>
        <p:spPr>
          <a:xfrm>
            <a:off x="2895600" y="4229100"/>
            <a:ext cx="952500" cy="876300"/>
          </a:xfrm>
          <a:prstGeom prst="roundRect">
            <a:avLst>
              <a:gd name="adj" fmla="val 8695"/>
            </a:avLst>
          </a:prstGeom>
          <a:solidFill>
            <a:srgbClr val="DCEFE8"/>
          </a:solidFill>
          <a:ln w="7620">
            <a:solidFill>
              <a:srgbClr val="007C78"/>
            </a:solidFill>
          </a:ln>
          <a:effectLst/>
        </p:spPr>
        <p:txBody>
          <a:bodyPr rtlCol="0" anchor="ctr"/>
          <a:lstStyle/>
          <a:p>
            <a:pPr algn="ctr"/>
          </a:p>
        </p:txBody>
      </p:sp>
      <p:sp>
        <p:nvSpPr>
          <p:cNvPr id="28" name="TextBox 27"/>
          <p:cNvSpPr txBox="1"/>
          <p:nvPr/>
        </p:nvSpPr>
        <p:spPr>
          <a:xfrm>
            <a:off x="3131820" y="4419600"/>
            <a:ext cx="685800" cy="341376"/>
          </a:xfrm>
          <a:prstGeom prst="rect">
            <a:avLst/>
          </a:prstGeom>
          <a:noFill/>
        </p:spPr>
        <p:txBody>
          <a:bodyPr wrap="none" lIns="0" rIns="0" tIns="0" bIns="0" anchor="t" anchorCtr="0">
            <a:noAutofit/>
          </a:bodyPr>
          <a:lstStyle/>
          <a:p>
            <a:pPr algn="l">
              <a:lnSpc>
                <a:spcPct val="100000"/>
              </a:lnSpc>
              <a:spcBef>
                <a:spcPts val="0"/>
              </a:spcBef>
              <a:spcAft>
                <a:spcPts val="0"/>
              </a:spcAft>
            </a:pPr>
            <a:r>
              <a:rPr sz="2100" b="0">
                <a:solidFill>
                  <a:srgbClr val="007C78"/>
                </a:solidFill>
                <a:latin typeface="DejaVu Sans Mono"/>
              </a:rPr>
              <a:t>S3</a:t>
            </a:r>
          </a:p>
        </p:txBody>
      </p:sp>
      <p:sp>
        <p:nvSpPr>
          <p:cNvPr id="29" name="TextBox 28"/>
          <p:cNvSpPr txBox="1"/>
          <p:nvPr/>
        </p:nvSpPr>
        <p:spPr>
          <a:xfrm>
            <a:off x="3017520" y="4808220"/>
            <a:ext cx="83820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0">
                <a:solidFill>
                  <a:srgbClr val="536775"/>
                </a:solidFill>
                <a:latin typeface="DejaVu Sans"/>
              </a:rPr>
              <a:t>present</a:t>
            </a:r>
          </a:p>
        </p:txBody>
      </p:sp>
      <p:sp>
        <p:nvSpPr>
          <p:cNvPr id="30" name="Rounded Rectangle 29"/>
          <p:cNvSpPr/>
          <p:nvPr/>
        </p:nvSpPr>
        <p:spPr>
          <a:xfrm>
            <a:off x="4061460" y="4229100"/>
            <a:ext cx="952500" cy="876300"/>
          </a:xfrm>
          <a:prstGeom prst="roundRect">
            <a:avLst>
              <a:gd name="adj" fmla="val 8695"/>
            </a:avLst>
          </a:prstGeom>
          <a:solidFill>
            <a:srgbClr val="DCEFE8"/>
          </a:solidFill>
          <a:ln w="7620">
            <a:solidFill>
              <a:srgbClr val="007C78"/>
            </a:solidFill>
          </a:ln>
          <a:effectLst/>
        </p:spPr>
        <p:txBody>
          <a:bodyPr rtlCol="0" anchor="ctr"/>
          <a:lstStyle/>
          <a:p>
            <a:pPr algn="ctr"/>
          </a:p>
        </p:txBody>
      </p:sp>
      <p:sp>
        <p:nvSpPr>
          <p:cNvPr id="31" name="TextBox 30"/>
          <p:cNvSpPr txBox="1"/>
          <p:nvPr/>
        </p:nvSpPr>
        <p:spPr>
          <a:xfrm>
            <a:off x="4297680" y="4419600"/>
            <a:ext cx="685800" cy="341376"/>
          </a:xfrm>
          <a:prstGeom prst="rect">
            <a:avLst/>
          </a:prstGeom>
          <a:noFill/>
        </p:spPr>
        <p:txBody>
          <a:bodyPr wrap="none" lIns="0" rIns="0" tIns="0" bIns="0" anchor="t" anchorCtr="0">
            <a:noAutofit/>
          </a:bodyPr>
          <a:lstStyle/>
          <a:p>
            <a:pPr algn="l">
              <a:lnSpc>
                <a:spcPct val="100000"/>
              </a:lnSpc>
              <a:spcBef>
                <a:spcPts val="0"/>
              </a:spcBef>
              <a:spcAft>
                <a:spcPts val="0"/>
              </a:spcAft>
            </a:pPr>
            <a:r>
              <a:rPr sz="2100" b="0">
                <a:solidFill>
                  <a:srgbClr val="007C78"/>
                </a:solidFill>
                <a:latin typeface="DejaVu Sans Mono"/>
              </a:rPr>
              <a:t>S4</a:t>
            </a:r>
          </a:p>
        </p:txBody>
      </p:sp>
      <p:sp>
        <p:nvSpPr>
          <p:cNvPr id="32" name="TextBox 31"/>
          <p:cNvSpPr txBox="1"/>
          <p:nvPr/>
        </p:nvSpPr>
        <p:spPr>
          <a:xfrm>
            <a:off x="4183379" y="4808220"/>
            <a:ext cx="83820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0">
                <a:solidFill>
                  <a:srgbClr val="536775"/>
                </a:solidFill>
                <a:latin typeface="DejaVu Sans"/>
              </a:rPr>
              <a:t>present</a:t>
            </a:r>
          </a:p>
        </p:txBody>
      </p:sp>
      <p:sp>
        <p:nvSpPr>
          <p:cNvPr id="33" name="Rounded Rectangle 32"/>
          <p:cNvSpPr/>
          <p:nvPr/>
        </p:nvSpPr>
        <p:spPr>
          <a:xfrm>
            <a:off x="5227320" y="4229100"/>
            <a:ext cx="952500" cy="876300"/>
          </a:xfrm>
          <a:prstGeom prst="roundRect">
            <a:avLst>
              <a:gd name="adj" fmla="val 8695"/>
            </a:avLst>
          </a:prstGeom>
          <a:solidFill>
            <a:srgbClr val="E7ECEB"/>
          </a:solidFill>
          <a:ln w="7620">
            <a:solidFill>
              <a:srgbClr val="C9D2D4"/>
            </a:solidFill>
            <a:prstDash val="dash"/>
          </a:ln>
          <a:effectLst/>
        </p:spPr>
        <p:txBody>
          <a:bodyPr rtlCol="0" anchor="ctr"/>
          <a:lstStyle/>
          <a:p>
            <a:pPr algn="ctr"/>
          </a:p>
        </p:txBody>
      </p:sp>
      <p:sp>
        <p:nvSpPr>
          <p:cNvPr id="34" name="TextBox 33"/>
          <p:cNvSpPr txBox="1"/>
          <p:nvPr/>
        </p:nvSpPr>
        <p:spPr>
          <a:xfrm>
            <a:off x="5463540" y="4419600"/>
            <a:ext cx="685800" cy="341376"/>
          </a:xfrm>
          <a:prstGeom prst="rect">
            <a:avLst/>
          </a:prstGeom>
          <a:noFill/>
        </p:spPr>
        <p:txBody>
          <a:bodyPr wrap="none" lIns="0" rIns="0" tIns="0" bIns="0" anchor="t" anchorCtr="0">
            <a:noAutofit/>
          </a:bodyPr>
          <a:lstStyle/>
          <a:p>
            <a:pPr algn="l">
              <a:lnSpc>
                <a:spcPct val="100000"/>
              </a:lnSpc>
              <a:spcBef>
                <a:spcPts val="0"/>
              </a:spcBef>
              <a:spcAft>
                <a:spcPts val="0"/>
              </a:spcAft>
            </a:pPr>
            <a:r>
              <a:rPr sz="2100" b="0">
                <a:solidFill>
                  <a:srgbClr val="536775"/>
                </a:solidFill>
                <a:latin typeface="DejaVu Sans Mono"/>
              </a:rPr>
              <a:t>S5</a:t>
            </a:r>
          </a:p>
        </p:txBody>
      </p:sp>
      <p:sp>
        <p:nvSpPr>
          <p:cNvPr id="35" name="TextBox 34"/>
          <p:cNvSpPr txBox="1"/>
          <p:nvPr/>
        </p:nvSpPr>
        <p:spPr>
          <a:xfrm>
            <a:off x="5349240" y="4808220"/>
            <a:ext cx="83820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0">
                <a:solidFill>
                  <a:srgbClr val="536775"/>
                </a:solidFill>
                <a:latin typeface="DejaVu Sans"/>
              </a:rPr>
              <a:t>removed</a:t>
            </a:r>
          </a:p>
        </p:txBody>
      </p:sp>
      <p:sp>
        <p:nvSpPr>
          <p:cNvPr id="36" name="Rounded Rectangle 35"/>
          <p:cNvSpPr/>
          <p:nvPr/>
        </p:nvSpPr>
        <p:spPr>
          <a:xfrm>
            <a:off x="6393180" y="4229100"/>
            <a:ext cx="952500" cy="876300"/>
          </a:xfrm>
          <a:prstGeom prst="roundRect">
            <a:avLst>
              <a:gd name="adj" fmla="val 8695"/>
            </a:avLst>
          </a:prstGeom>
          <a:solidFill>
            <a:srgbClr val="E7ECEB"/>
          </a:solidFill>
          <a:ln w="7620">
            <a:solidFill>
              <a:srgbClr val="C9D2D4"/>
            </a:solidFill>
            <a:prstDash val="dash"/>
          </a:ln>
          <a:effectLst/>
        </p:spPr>
        <p:txBody>
          <a:bodyPr rtlCol="0" anchor="ctr"/>
          <a:lstStyle/>
          <a:p>
            <a:pPr algn="ctr"/>
          </a:p>
        </p:txBody>
      </p:sp>
      <p:sp>
        <p:nvSpPr>
          <p:cNvPr id="37" name="TextBox 36"/>
          <p:cNvSpPr txBox="1"/>
          <p:nvPr/>
        </p:nvSpPr>
        <p:spPr>
          <a:xfrm>
            <a:off x="6629400" y="4419600"/>
            <a:ext cx="685800" cy="341376"/>
          </a:xfrm>
          <a:prstGeom prst="rect">
            <a:avLst/>
          </a:prstGeom>
          <a:noFill/>
        </p:spPr>
        <p:txBody>
          <a:bodyPr wrap="none" lIns="0" rIns="0" tIns="0" bIns="0" anchor="t" anchorCtr="0">
            <a:noAutofit/>
          </a:bodyPr>
          <a:lstStyle/>
          <a:p>
            <a:pPr algn="l">
              <a:lnSpc>
                <a:spcPct val="100000"/>
              </a:lnSpc>
              <a:spcBef>
                <a:spcPts val="0"/>
              </a:spcBef>
              <a:spcAft>
                <a:spcPts val="0"/>
              </a:spcAft>
            </a:pPr>
            <a:r>
              <a:rPr sz="2100" b="0">
                <a:solidFill>
                  <a:srgbClr val="536775"/>
                </a:solidFill>
                <a:latin typeface="DejaVu Sans Mono"/>
              </a:rPr>
              <a:t>S6</a:t>
            </a:r>
          </a:p>
        </p:txBody>
      </p:sp>
      <p:sp>
        <p:nvSpPr>
          <p:cNvPr id="38" name="TextBox 37"/>
          <p:cNvSpPr txBox="1"/>
          <p:nvPr/>
        </p:nvSpPr>
        <p:spPr>
          <a:xfrm>
            <a:off x="6515100" y="4808220"/>
            <a:ext cx="83820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0">
                <a:solidFill>
                  <a:srgbClr val="536775"/>
                </a:solidFill>
                <a:latin typeface="DejaVu Sans"/>
              </a:rPr>
              <a:t>removed</a:t>
            </a:r>
          </a:p>
        </p:txBody>
      </p:sp>
      <p:sp>
        <p:nvSpPr>
          <p:cNvPr id="39" name="Rounded Rectangle 38"/>
          <p:cNvSpPr/>
          <p:nvPr/>
        </p:nvSpPr>
        <p:spPr>
          <a:xfrm>
            <a:off x="8077200" y="3855719"/>
            <a:ext cx="3566160" cy="1485900"/>
          </a:xfrm>
          <a:prstGeom prst="roundRect">
            <a:avLst>
              <a:gd name="adj" fmla="val 6666"/>
            </a:avLst>
          </a:prstGeom>
          <a:solidFill>
            <a:srgbClr val="FFFFFF"/>
          </a:solidFill>
          <a:ln w="7620">
            <a:solidFill>
              <a:srgbClr val="007C78"/>
            </a:solidFill>
          </a:ln>
          <a:effectLst/>
        </p:spPr>
        <p:txBody>
          <a:bodyPr rtlCol="0" anchor="ctr"/>
          <a:lstStyle/>
          <a:p>
            <a:pPr algn="ctr"/>
          </a:p>
        </p:txBody>
      </p:sp>
      <p:sp>
        <p:nvSpPr>
          <p:cNvPr id="40" name="TextBox 39"/>
          <p:cNvSpPr txBox="1"/>
          <p:nvPr/>
        </p:nvSpPr>
        <p:spPr>
          <a:xfrm>
            <a:off x="8244839" y="4023360"/>
            <a:ext cx="3230879"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007C78"/>
                </a:solidFill>
                <a:latin typeface="DejaVu Sans"/>
              </a:rPr>
              <a:t>Observed reconstruction</a:t>
            </a:r>
          </a:p>
        </p:txBody>
      </p:sp>
      <p:sp>
        <p:nvSpPr>
          <p:cNvPr id="41" name="TextBox 40"/>
          <p:cNvSpPr txBox="1"/>
          <p:nvPr/>
        </p:nvSpPr>
        <p:spPr>
          <a:xfrm>
            <a:off x="8244839" y="4372660"/>
            <a:ext cx="32308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Cached payload + two shares</a:t>
            </a:r>
          </a:p>
        </p:txBody>
      </p:sp>
      <p:sp>
        <p:nvSpPr>
          <p:cNvPr id="42" name="TextBox 41"/>
          <p:cNvSpPr txBox="1"/>
          <p:nvPr/>
        </p:nvSpPr>
        <p:spPr>
          <a:xfrm>
            <a:off x="8244839" y="4606747"/>
            <a:ext cx="32308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removed: exact bytes recovered. A</a:t>
            </a:r>
          </a:p>
        </p:txBody>
      </p:sp>
      <p:sp>
        <p:nvSpPr>
          <p:cNvPr id="43" name="TextBox 42"/>
          <p:cNvSpPr txBox="1"/>
          <p:nvPr/>
        </p:nvSpPr>
        <p:spPr>
          <a:xfrm>
            <a:off x="8244839" y="4840833"/>
            <a:ext cx="32308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third missing share is unavailable.</a:t>
            </a:r>
          </a:p>
        </p:txBody>
      </p:sp>
      <p:sp>
        <p:nvSpPr>
          <p:cNvPr id="44" name="Rounded Rectangle 43"/>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45" name="TextBox 44"/>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The DA core does not interpret Hive identities, truth values, attention balances or job state.</a:t>
            </a:r>
          </a:p>
        </p:txBody>
      </p:sp>
      <p:cxnSp>
        <p:nvCxnSpPr>
          <p:cNvPr id="46" name="Connector 45"/>
          <p:cNvCxnSpPr/>
          <p:nvPr/>
        </p:nvCxnSpPr>
        <p:spPr>
          <a:xfrm>
            <a:off x="548640" y="6393180"/>
            <a:ext cx="11094720" cy="0"/>
          </a:xfrm>
          <a:prstGeom prst="line">
            <a:avLst/>
          </a:prstGeom>
          <a:ln w="7620">
            <a:solidFill>
              <a:srgbClr val="C9D2D4"/>
            </a:solidFill>
          </a:ln>
          <a:effectLst/>
        </p:spPr>
      </p:cxnSp>
      <p:sp>
        <p:nvSpPr>
          <p:cNvPr id="47" name="TextBox 46"/>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M1.2 / adapters/detta/src/main.rs · test_contract.py</a:t>
            </a:r>
          </a:p>
        </p:txBody>
      </p:sp>
      <p:sp>
        <p:nvSpPr>
          <p:cNvPr id="48" name="TextBox 47"/>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18 / 33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AUTHORIZATION · FAIL CLOSED</a:t>
            </a:r>
          </a:p>
        </p:txBody>
      </p:sp>
      <p:sp>
        <p:nvSpPr>
          <p:cNvPr id="3" name="TextBox 2"/>
          <p:cNvSpPr txBox="1"/>
          <p:nvPr/>
        </p:nvSpPr>
        <p:spPr>
          <a:xfrm>
            <a:off x="533400" y="723900"/>
            <a:ext cx="11125200" cy="448665"/>
          </a:xfrm>
          <a:prstGeom prst="rect">
            <a:avLst/>
          </a:prstGeom>
          <a:noFill/>
        </p:spPr>
        <p:txBody>
          <a:bodyPr wrap="none" lIns="0" rIns="0" tIns="0" bIns="0" anchor="t" anchorCtr="0">
            <a:noAutofit/>
          </a:bodyPr>
          <a:lstStyle/>
          <a:p>
            <a:pPr algn="l">
              <a:lnSpc>
                <a:spcPct val="100000"/>
              </a:lnSpc>
              <a:spcBef>
                <a:spcPts val="0"/>
              </a:spcBef>
              <a:spcAft>
                <a:spcPts val="0"/>
              </a:spcAft>
            </a:pPr>
            <a:r>
              <a:rPr sz="2760" b="1">
                <a:solidFill>
                  <a:srgbClr val="102B3F"/>
                </a:solidFill>
                <a:latin typeface="DejaVu Sans"/>
              </a:rPr>
              <a:t>Native-path refusals preserve authorization and replay</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 host and module boundaries each keep their own checks.</a:t>
            </a:r>
          </a:p>
        </p:txBody>
      </p:sp>
      <p:sp>
        <p:nvSpPr>
          <p:cNvPr id="5" name="TextBox 4"/>
          <p:cNvSpPr txBox="1"/>
          <p:nvPr/>
        </p:nvSpPr>
        <p:spPr>
          <a:xfrm>
            <a:off x="670560" y="1790700"/>
            <a:ext cx="3794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ATTEMPT</a:t>
            </a:r>
          </a:p>
        </p:txBody>
      </p:sp>
      <p:sp>
        <p:nvSpPr>
          <p:cNvPr id="6" name="TextBox 5"/>
          <p:cNvSpPr txBox="1"/>
          <p:nvPr/>
        </p:nvSpPr>
        <p:spPr>
          <a:xfrm>
            <a:off x="4709160" y="1790700"/>
            <a:ext cx="29565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OBSERVED RESULT</a:t>
            </a:r>
          </a:p>
        </p:txBody>
      </p:sp>
      <p:sp>
        <p:nvSpPr>
          <p:cNvPr id="7" name="TextBox 6"/>
          <p:cNvSpPr txBox="1"/>
          <p:nvPr/>
        </p:nvSpPr>
        <p:spPr>
          <a:xfrm>
            <a:off x="7909559" y="1790700"/>
            <a:ext cx="36118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WHAT STAYS PROTECTED</a:t>
            </a:r>
          </a:p>
        </p:txBody>
      </p:sp>
      <p:sp>
        <p:nvSpPr>
          <p:cNvPr id="8" name="Rounded Rectangle 7"/>
          <p:cNvSpPr/>
          <p:nvPr/>
        </p:nvSpPr>
        <p:spPr>
          <a:xfrm>
            <a:off x="548640" y="2110740"/>
            <a:ext cx="11094720" cy="563880"/>
          </a:xfrm>
          <a:prstGeom prst="roundRect">
            <a:avLst>
              <a:gd name="adj" fmla="val 8108"/>
            </a:avLst>
          </a:prstGeom>
          <a:solidFill>
            <a:srgbClr val="FFFFFF"/>
          </a:solidFill>
          <a:ln>
            <a:noFill/>
          </a:ln>
          <a:effectLst/>
        </p:spPr>
        <p:txBody>
          <a:bodyPr rtlCol="0" anchor="ctr"/>
          <a:lstStyle/>
          <a:p>
            <a:pPr algn="ctr"/>
          </a:p>
        </p:txBody>
      </p:sp>
      <p:sp>
        <p:nvSpPr>
          <p:cNvPr id="9" name="TextBox 8"/>
          <p:cNvSpPr txBox="1"/>
          <p:nvPr/>
        </p:nvSpPr>
        <p:spPr>
          <a:xfrm>
            <a:off x="670560" y="2240280"/>
            <a:ext cx="3794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Supply principal in action params</a:t>
            </a:r>
          </a:p>
        </p:txBody>
      </p:sp>
      <p:sp>
        <p:nvSpPr>
          <p:cNvPr id="10" name="TextBox 9"/>
          <p:cNvSpPr txBox="1"/>
          <p:nvPr/>
        </p:nvSpPr>
        <p:spPr>
          <a:xfrm>
            <a:off x="4709160" y="2240280"/>
            <a:ext cx="2956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Native identity_in_request</a:t>
            </a:r>
          </a:p>
        </p:txBody>
      </p:sp>
      <p:sp>
        <p:nvSpPr>
          <p:cNvPr id="11" name="TextBox 10"/>
          <p:cNvSpPr txBox="1"/>
          <p:nvPr/>
        </p:nvSpPr>
        <p:spPr>
          <a:xfrm>
            <a:off x="7909559" y="2240280"/>
            <a:ext cx="36118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Hive derives the actor</a:t>
            </a:r>
          </a:p>
        </p:txBody>
      </p:sp>
      <p:sp>
        <p:nvSpPr>
          <p:cNvPr id="12" name="Rounded Rectangle 11"/>
          <p:cNvSpPr/>
          <p:nvPr/>
        </p:nvSpPr>
        <p:spPr>
          <a:xfrm>
            <a:off x="548640" y="2712720"/>
            <a:ext cx="11094720" cy="563880"/>
          </a:xfrm>
          <a:prstGeom prst="roundRect">
            <a:avLst>
              <a:gd name="adj" fmla="val 8108"/>
            </a:avLst>
          </a:prstGeom>
          <a:solidFill>
            <a:srgbClr val="FFFFFF"/>
          </a:solidFill>
          <a:ln>
            <a:noFill/>
          </a:ln>
          <a:effectLst/>
        </p:spPr>
        <p:txBody>
          <a:bodyPr rtlCol="0" anchor="ctr"/>
          <a:lstStyle/>
          <a:p>
            <a:pPr algn="ctr"/>
          </a:p>
        </p:txBody>
      </p:sp>
      <p:sp>
        <p:nvSpPr>
          <p:cNvPr id="13" name="TextBox 12"/>
          <p:cNvSpPr txBox="1"/>
          <p:nvPr/>
        </p:nvSpPr>
        <p:spPr>
          <a:xfrm>
            <a:off x="670560" y="2842260"/>
            <a:ext cx="3794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Map caller to the wrong scope</a:t>
            </a:r>
          </a:p>
        </p:txBody>
      </p:sp>
      <p:sp>
        <p:nvSpPr>
          <p:cNvPr id="14" name="TextBox 13"/>
          <p:cNvSpPr txBox="1"/>
          <p:nvPr/>
        </p:nvSpPr>
        <p:spPr>
          <a:xfrm>
            <a:off x="4709160" y="2842260"/>
            <a:ext cx="2956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UNAUTHORIZED</a:t>
            </a:r>
          </a:p>
        </p:txBody>
      </p:sp>
      <p:sp>
        <p:nvSpPr>
          <p:cNvPr id="15" name="TextBox 14"/>
          <p:cNvSpPr txBox="1"/>
          <p:nvPr/>
        </p:nvSpPr>
        <p:spPr>
          <a:xfrm>
            <a:off x="7909559" y="2842260"/>
            <a:ext cx="36118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Scope alone confers no access</a:t>
            </a:r>
          </a:p>
        </p:txBody>
      </p:sp>
      <p:sp>
        <p:nvSpPr>
          <p:cNvPr id="16" name="Rounded Rectangle 15"/>
          <p:cNvSpPr/>
          <p:nvPr/>
        </p:nvSpPr>
        <p:spPr>
          <a:xfrm>
            <a:off x="548640" y="3314700"/>
            <a:ext cx="11094720" cy="563880"/>
          </a:xfrm>
          <a:prstGeom prst="roundRect">
            <a:avLst>
              <a:gd name="adj" fmla="val 8108"/>
            </a:avLst>
          </a:prstGeom>
          <a:solidFill>
            <a:srgbClr val="FFFFFF"/>
          </a:solidFill>
          <a:ln>
            <a:noFill/>
          </a:ln>
          <a:effectLst/>
        </p:spPr>
        <p:txBody>
          <a:bodyPr rtlCol="0" anchor="ctr"/>
          <a:lstStyle/>
          <a:p>
            <a:pPr algn="ctr"/>
          </a:p>
        </p:txBody>
      </p:sp>
      <p:sp>
        <p:nvSpPr>
          <p:cNvPr id="17" name="TextBox 16"/>
          <p:cNvSpPr txBox="1"/>
          <p:nvPr/>
        </p:nvSpPr>
        <p:spPr>
          <a:xfrm>
            <a:off x="670560" y="3444240"/>
            <a:ext cx="3794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Revoke caller after completion</a:t>
            </a:r>
          </a:p>
        </p:txBody>
      </p:sp>
      <p:sp>
        <p:nvSpPr>
          <p:cNvPr id="18" name="TextBox 17"/>
          <p:cNvSpPr txBox="1"/>
          <p:nvPr/>
        </p:nvSpPr>
        <p:spPr>
          <a:xfrm>
            <a:off x="4709160" y="3444240"/>
            <a:ext cx="2956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UNAUTHORIZED on replay</a:t>
            </a:r>
          </a:p>
        </p:txBody>
      </p:sp>
      <p:sp>
        <p:nvSpPr>
          <p:cNvPr id="19" name="TextBox 18"/>
          <p:cNvSpPr txBox="1"/>
          <p:nvPr/>
        </p:nvSpPr>
        <p:spPr>
          <a:xfrm>
            <a:off x="7909559" y="3444240"/>
            <a:ext cx="36118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Saved outcome grants no authority</a:t>
            </a:r>
          </a:p>
        </p:txBody>
      </p:sp>
      <p:sp>
        <p:nvSpPr>
          <p:cNvPr id="20" name="Rounded Rectangle 19"/>
          <p:cNvSpPr/>
          <p:nvPr/>
        </p:nvSpPr>
        <p:spPr>
          <a:xfrm>
            <a:off x="548640" y="3916679"/>
            <a:ext cx="11094720" cy="563880"/>
          </a:xfrm>
          <a:prstGeom prst="roundRect">
            <a:avLst>
              <a:gd name="adj" fmla="val 8108"/>
            </a:avLst>
          </a:prstGeom>
          <a:solidFill>
            <a:srgbClr val="FFFFFF"/>
          </a:solidFill>
          <a:ln>
            <a:noFill/>
          </a:ln>
          <a:effectLst/>
        </p:spPr>
        <p:txBody>
          <a:bodyPr rtlCol="0" anchor="ctr"/>
          <a:lstStyle/>
          <a:p>
            <a:pPr algn="ctr"/>
          </a:p>
        </p:txBody>
      </p:sp>
      <p:sp>
        <p:nvSpPr>
          <p:cNvPr id="21" name="TextBox 20"/>
          <p:cNvSpPr txBox="1"/>
          <p:nvPr/>
        </p:nvSpPr>
        <p:spPr>
          <a:xfrm>
            <a:off x="670560" y="4046219"/>
            <a:ext cx="3794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Change profile / descriptor</a:t>
            </a:r>
          </a:p>
        </p:txBody>
      </p:sp>
      <p:sp>
        <p:nvSpPr>
          <p:cNvPr id="22" name="TextBox 21"/>
          <p:cNvSpPr txBox="1"/>
          <p:nvPr/>
        </p:nvSpPr>
        <p:spPr>
          <a:xfrm>
            <a:off x="4709160" y="4046219"/>
            <a:ext cx="2956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UNSUPPORTED_PROFILE</a:t>
            </a:r>
          </a:p>
        </p:txBody>
      </p:sp>
      <p:sp>
        <p:nvSpPr>
          <p:cNvPr id="23" name="TextBox 22"/>
          <p:cNvSpPr txBox="1"/>
          <p:nvPr/>
        </p:nvSpPr>
        <p:spPr>
          <a:xfrm>
            <a:off x="7909559" y="4046219"/>
            <a:ext cx="36118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No weaker provider fallback</a:t>
            </a:r>
          </a:p>
        </p:txBody>
      </p:sp>
      <p:sp>
        <p:nvSpPr>
          <p:cNvPr id="24" name="Rounded Rectangle 23"/>
          <p:cNvSpPr/>
          <p:nvPr/>
        </p:nvSpPr>
        <p:spPr>
          <a:xfrm>
            <a:off x="548640" y="4518660"/>
            <a:ext cx="11094720" cy="563880"/>
          </a:xfrm>
          <a:prstGeom prst="roundRect">
            <a:avLst>
              <a:gd name="adj" fmla="val 8108"/>
            </a:avLst>
          </a:prstGeom>
          <a:solidFill>
            <a:srgbClr val="FFFFFF"/>
          </a:solidFill>
          <a:ln>
            <a:noFill/>
          </a:ln>
          <a:effectLst/>
        </p:spPr>
        <p:txBody>
          <a:bodyPr rtlCol="0" anchor="ctr"/>
          <a:lstStyle/>
          <a:p>
            <a:pPr algn="ctr"/>
          </a:p>
        </p:txBody>
      </p:sp>
      <p:sp>
        <p:nvSpPr>
          <p:cNvPr id="25" name="TextBox 24"/>
          <p:cNvSpPr txBox="1"/>
          <p:nvPr/>
        </p:nvSpPr>
        <p:spPr>
          <a:xfrm>
            <a:off x="670560" y="4648200"/>
            <a:ext cx="3794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Change input under original key</a:t>
            </a:r>
          </a:p>
        </p:txBody>
      </p:sp>
      <p:sp>
        <p:nvSpPr>
          <p:cNvPr id="26" name="TextBox 25"/>
          <p:cNvSpPr txBox="1"/>
          <p:nvPr/>
        </p:nvSpPr>
        <p:spPr>
          <a:xfrm>
            <a:off x="4709160" y="4648200"/>
            <a:ext cx="2956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CONFLICT</a:t>
            </a:r>
          </a:p>
        </p:txBody>
      </p:sp>
      <p:sp>
        <p:nvSpPr>
          <p:cNvPr id="27" name="TextBox 26"/>
          <p:cNvSpPr txBox="1"/>
          <p:nvPr/>
        </p:nvSpPr>
        <p:spPr>
          <a:xfrm>
            <a:off x="7909559" y="4648200"/>
            <a:ext cx="36118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No second job with new meaning</a:t>
            </a:r>
          </a:p>
        </p:txBody>
      </p:sp>
      <p:sp>
        <p:nvSpPr>
          <p:cNvPr id="28" name="Rounded Rectangle 27"/>
          <p:cNvSpPr/>
          <p:nvPr/>
        </p:nvSpPr>
        <p:spPr>
          <a:xfrm>
            <a:off x="548640" y="5120640"/>
            <a:ext cx="11094720" cy="563880"/>
          </a:xfrm>
          <a:prstGeom prst="roundRect">
            <a:avLst>
              <a:gd name="adj" fmla="val 8108"/>
            </a:avLst>
          </a:prstGeom>
          <a:solidFill>
            <a:srgbClr val="FFFFFF"/>
          </a:solidFill>
          <a:ln>
            <a:noFill/>
          </a:ln>
          <a:effectLst/>
        </p:spPr>
        <p:txBody>
          <a:bodyPr rtlCol="0" anchor="ctr"/>
          <a:lstStyle/>
          <a:p>
            <a:pPr algn="ctr"/>
          </a:p>
        </p:txBody>
      </p:sp>
      <p:sp>
        <p:nvSpPr>
          <p:cNvPr id="29" name="TextBox 28"/>
          <p:cNvSpPr txBox="1"/>
          <p:nvPr/>
        </p:nvSpPr>
        <p:spPr>
          <a:xfrm>
            <a:off x="670560" y="5250180"/>
            <a:ext cx="3794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Revoke worker after admission</a:t>
            </a:r>
          </a:p>
        </p:txBody>
      </p:sp>
      <p:sp>
        <p:nvSpPr>
          <p:cNvPr id="30" name="TextBox 29"/>
          <p:cNvSpPr txBox="1"/>
          <p:nvPr/>
        </p:nvSpPr>
        <p:spPr>
          <a:xfrm>
            <a:off x="4709160" y="5250180"/>
            <a:ext cx="2956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Explicit failed completion</a:t>
            </a:r>
          </a:p>
        </p:txBody>
      </p:sp>
      <p:sp>
        <p:nvSpPr>
          <p:cNvPr id="31" name="TextBox 30"/>
          <p:cNvSpPr txBox="1"/>
          <p:nvPr/>
        </p:nvSpPr>
        <p:spPr>
          <a:xfrm>
            <a:off x="7909559" y="5250180"/>
            <a:ext cx="36118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No unauthorized result write</a:t>
            </a:r>
          </a:p>
        </p:txBody>
      </p:sp>
      <p:sp>
        <p:nvSpPr>
          <p:cNvPr id="32" name="Rounded Rectangle 31"/>
          <p:cNvSpPr/>
          <p:nvPr/>
        </p:nvSpPr>
        <p:spPr>
          <a:xfrm>
            <a:off x="548640" y="5829300"/>
            <a:ext cx="11094720" cy="403859"/>
          </a:xfrm>
          <a:prstGeom prst="roundRect">
            <a:avLst>
              <a:gd name="adj" fmla="val 15094"/>
            </a:avLst>
          </a:prstGeom>
          <a:solidFill>
            <a:srgbClr val="F3E7CE"/>
          </a:solidFill>
          <a:ln>
            <a:noFill/>
          </a:ln>
          <a:effectLst/>
        </p:spPr>
        <p:txBody>
          <a:bodyPr rtlCol="0" anchor="ctr"/>
          <a:lstStyle/>
          <a:p>
            <a:pPr algn="ctr"/>
          </a:p>
        </p:txBody>
      </p:sp>
      <p:sp>
        <p:nvSpPr>
          <p:cNvPr id="33" name="TextBox 32"/>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A86A15"/>
                </a:solidFill>
                <a:latin typeface="DejaVu Sans"/>
              </a:rPr>
              <a:t>Real Hive authentication + development Fusion policy. Production isolation remains unproven.</a:t>
            </a:r>
          </a:p>
        </p:txBody>
      </p:sp>
      <p:cxnSp>
        <p:nvCxnSpPr>
          <p:cNvPr id="34" name="Connector 33"/>
          <p:cNvCxnSpPr/>
          <p:nvPr/>
        </p:nvCxnSpPr>
        <p:spPr>
          <a:xfrm>
            <a:off x="548640" y="6393180"/>
            <a:ext cx="11094720" cy="0"/>
          </a:xfrm>
          <a:prstGeom prst="line">
            <a:avLst/>
          </a:prstGeom>
          <a:ln w="7620">
            <a:solidFill>
              <a:srgbClr val="C9D2D4"/>
            </a:solidFill>
          </a:ln>
          <a:effectLst/>
        </p:spPr>
      </p:cxnSp>
      <p:sp>
        <p:nvSpPr>
          <p:cNvPr id="35" name="TextBox 34"/>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M1.2 / program_actions.py · policy.py · test_integration.py</a:t>
            </a:r>
          </a:p>
        </p:txBody>
      </p:sp>
      <p:sp>
        <p:nvSpPr>
          <p:cNvPr id="36" name="TextBox 35"/>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19 / 33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EVIDENCE · COMPONENT CLASSIFICATION</a:t>
            </a:r>
          </a:p>
        </p:txBody>
      </p:sp>
      <p:sp>
        <p:nvSpPr>
          <p:cNvPr id="3" name="TextBox 2"/>
          <p:cNvSpPr txBox="1"/>
          <p:nvPr/>
        </p:nvSpPr>
        <p:spPr>
          <a:xfrm>
            <a:off x="533400" y="723900"/>
            <a:ext cx="11125200" cy="468172"/>
          </a:xfrm>
          <a:prstGeom prst="rect">
            <a:avLst/>
          </a:prstGeom>
          <a:noFill/>
        </p:spPr>
        <p:txBody>
          <a:bodyPr wrap="none" lIns="0" rIns="0" tIns="0" bIns="0" anchor="t" anchorCtr="0">
            <a:noAutofit/>
          </a:bodyPr>
          <a:lstStyle/>
          <a:p>
            <a:pPr algn="l">
              <a:lnSpc>
                <a:spcPct val="100000"/>
              </a:lnSpc>
              <a:spcBef>
                <a:spcPts val="0"/>
              </a:spcBef>
              <a:spcAft>
                <a:spcPts val="0"/>
              </a:spcAft>
            </a:pPr>
            <a:r>
              <a:rPr sz="2879" b="1">
                <a:solidFill>
                  <a:srgbClr val="102B3F"/>
                </a:solidFill>
                <a:latin typeface="DejaVu Sans"/>
              </a:rPr>
              <a:t>Real runtime, real provider, fixtures and unrun scope</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Each claim stays attached to the component and gate actually exercised.</a:t>
            </a:r>
          </a:p>
        </p:txBody>
      </p:sp>
      <p:sp>
        <p:nvSpPr>
          <p:cNvPr id="5" name="TextBox 4"/>
          <p:cNvSpPr txBox="1"/>
          <p:nvPr/>
        </p:nvSpPr>
        <p:spPr>
          <a:xfrm>
            <a:off x="670560" y="1790700"/>
            <a:ext cx="331470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COMPONENT</a:t>
            </a:r>
          </a:p>
        </p:txBody>
      </p:sp>
      <p:sp>
        <p:nvSpPr>
          <p:cNvPr id="6" name="TextBox 5"/>
          <p:cNvSpPr txBox="1"/>
          <p:nvPr/>
        </p:nvSpPr>
        <p:spPr>
          <a:xfrm>
            <a:off x="4229100" y="1790700"/>
            <a:ext cx="325374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CLASSIFICATION</a:t>
            </a:r>
          </a:p>
        </p:txBody>
      </p:sp>
      <p:sp>
        <p:nvSpPr>
          <p:cNvPr id="7" name="TextBox 6"/>
          <p:cNvSpPr txBox="1"/>
          <p:nvPr/>
        </p:nvSpPr>
        <p:spPr>
          <a:xfrm>
            <a:off x="7726680" y="1790700"/>
            <a:ext cx="3794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OBSERVED BOUNDARY</a:t>
            </a:r>
          </a:p>
        </p:txBody>
      </p:sp>
      <p:sp>
        <p:nvSpPr>
          <p:cNvPr id="8" name="Rounded Rectangle 7"/>
          <p:cNvSpPr/>
          <p:nvPr/>
        </p:nvSpPr>
        <p:spPr>
          <a:xfrm>
            <a:off x="548640" y="2110740"/>
            <a:ext cx="11094720" cy="571500"/>
          </a:xfrm>
          <a:prstGeom prst="roundRect">
            <a:avLst>
              <a:gd name="adj" fmla="val 8000"/>
            </a:avLst>
          </a:prstGeom>
          <a:solidFill>
            <a:srgbClr val="FFFFFF"/>
          </a:solidFill>
          <a:ln>
            <a:noFill/>
          </a:ln>
          <a:effectLst/>
        </p:spPr>
        <p:txBody>
          <a:bodyPr rtlCol="0" anchor="ctr"/>
          <a:lstStyle/>
          <a:p>
            <a:pPr algn="ctr"/>
          </a:p>
        </p:txBody>
      </p:sp>
      <p:sp>
        <p:nvSpPr>
          <p:cNvPr id="9" name="TextBox 8"/>
          <p:cNvSpPr txBox="1"/>
          <p:nvPr/>
        </p:nvSpPr>
        <p:spPr>
          <a:xfrm>
            <a:off x="670560" y="2240280"/>
            <a:ext cx="33147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102B3F"/>
                </a:solidFill>
                <a:latin typeface="DejaVu Sans"/>
              </a:rPr>
              <a:t>Hive + PeTTa</a:t>
            </a:r>
          </a:p>
        </p:txBody>
      </p:sp>
      <p:sp>
        <p:nvSpPr>
          <p:cNvPr id="10" name="TextBox 9"/>
          <p:cNvSpPr txBox="1"/>
          <p:nvPr/>
        </p:nvSpPr>
        <p:spPr>
          <a:xfrm>
            <a:off x="4229100" y="2240280"/>
            <a:ext cx="325374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REAL NATIVE RUNTIME</a:t>
            </a:r>
          </a:p>
        </p:txBody>
      </p:sp>
      <p:sp>
        <p:nvSpPr>
          <p:cNvPr id="11" name="TextBox 10"/>
          <p:cNvSpPr txBox="1"/>
          <p:nvPr/>
        </p:nvSpPr>
        <p:spPr>
          <a:xfrm>
            <a:off x="7726680" y="2240280"/>
            <a:ext cx="379476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Authenticated Programs dispatch / restart</a:t>
            </a:r>
          </a:p>
        </p:txBody>
      </p:sp>
      <p:sp>
        <p:nvSpPr>
          <p:cNvPr id="12" name="Rounded Rectangle 11"/>
          <p:cNvSpPr/>
          <p:nvPr/>
        </p:nvSpPr>
        <p:spPr>
          <a:xfrm>
            <a:off x="548640" y="2720340"/>
            <a:ext cx="11094720" cy="571500"/>
          </a:xfrm>
          <a:prstGeom prst="roundRect">
            <a:avLst>
              <a:gd name="adj" fmla="val 8000"/>
            </a:avLst>
          </a:prstGeom>
          <a:solidFill>
            <a:srgbClr val="FFFFFF"/>
          </a:solidFill>
          <a:ln>
            <a:noFill/>
          </a:ln>
          <a:effectLst/>
        </p:spPr>
        <p:txBody>
          <a:bodyPr rtlCol="0" anchor="ctr"/>
          <a:lstStyle/>
          <a:p>
            <a:pPr algn="ctr"/>
          </a:p>
        </p:txBody>
      </p:sp>
      <p:sp>
        <p:nvSpPr>
          <p:cNvPr id="13" name="TextBox 12"/>
          <p:cNvSpPr txBox="1"/>
          <p:nvPr/>
        </p:nvSpPr>
        <p:spPr>
          <a:xfrm>
            <a:off x="670560" y="2849880"/>
            <a:ext cx="33147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102B3F"/>
                </a:solidFill>
                <a:latin typeface="DejaVu Sans"/>
              </a:rPr>
              <a:t>DeTTa DA + FileStorage</a:t>
            </a:r>
          </a:p>
        </p:txBody>
      </p:sp>
      <p:sp>
        <p:nvSpPr>
          <p:cNvPr id="14" name="TextBox 13"/>
          <p:cNvSpPr txBox="1"/>
          <p:nvPr/>
        </p:nvSpPr>
        <p:spPr>
          <a:xfrm>
            <a:off x="4229100" y="2849880"/>
            <a:ext cx="325374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REAL LOCAL PROVIDER</a:t>
            </a:r>
          </a:p>
        </p:txBody>
      </p:sp>
      <p:sp>
        <p:nvSpPr>
          <p:cNvPr id="15" name="TextBox 14"/>
          <p:cNvSpPr txBox="1"/>
          <p:nvPr/>
        </p:nvSpPr>
        <p:spPr>
          <a:xfrm>
            <a:off x="7726680" y="2849880"/>
            <a:ext cx="379476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Persisted shares and reconstruction</a:t>
            </a:r>
          </a:p>
        </p:txBody>
      </p:sp>
      <p:sp>
        <p:nvSpPr>
          <p:cNvPr id="16" name="Rounded Rectangle 15"/>
          <p:cNvSpPr/>
          <p:nvPr/>
        </p:nvSpPr>
        <p:spPr>
          <a:xfrm>
            <a:off x="548640" y="3329940"/>
            <a:ext cx="11094720" cy="571500"/>
          </a:xfrm>
          <a:prstGeom prst="roundRect">
            <a:avLst>
              <a:gd name="adj" fmla="val 8000"/>
            </a:avLst>
          </a:prstGeom>
          <a:solidFill>
            <a:srgbClr val="FFFFFF"/>
          </a:solidFill>
          <a:ln>
            <a:noFill/>
          </a:ln>
          <a:effectLst/>
        </p:spPr>
        <p:txBody>
          <a:bodyPr rtlCol="0" anchor="ctr"/>
          <a:lstStyle/>
          <a:p>
            <a:pPr algn="ctr"/>
          </a:p>
        </p:txBody>
      </p:sp>
      <p:sp>
        <p:nvSpPr>
          <p:cNvPr id="17" name="TextBox 16"/>
          <p:cNvSpPr txBox="1"/>
          <p:nvPr/>
        </p:nvSpPr>
        <p:spPr>
          <a:xfrm>
            <a:off x="670560" y="3459479"/>
            <a:ext cx="33147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102B3F"/>
                </a:solidFill>
                <a:latin typeface="DejaVu Sans"/>
              </a:rPr>
              <a:t>Messaging / execution / worker</a:t>
            </a:r>
          </a:p>
        </p:txBody>
      </p:sp>
      <p:sp>
        <p:nvSpPr>
          <p:cNvPr id="18" name="TextBox 17"/>
          <p:cNvSpPr txBox="1"/>
          <p:nvPr/>
        </p:nvSpPr>
        <p:spPr>
          <a:xfrm>
            <a:off x="4229100" y="3459479"/>
            <a:ext cx="325374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IMPLEMENTED LOCAL HARNESS</a:t>
            </a:r>
          </a:p>
        </p:txBody>
      </p:sp>
      <p:sp>
        <p:nvSpPr>
          <p:cNvPr id="19" name="TextBox 18"/>
          <p:cNvSpPr txBox="1"/>
          <p:nvPr/>
        </p:nvSpPr>
        <p:spPr>
          <a:xfrm>
            <a:off x="7726680" y="3459479"/>
            <a:ext cx="379476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Separate owner commits; inspect_atom only</a:t>
            </a:r>
          </a:p>
        </p:txBody>
      </p:sp>
      <p:sp>
        <p:nvSpPr>
          <p:cNvPr id="20" name="Rounded Rectangle 19"/>
          <p:cNvSpPr/>
          <p:nvPr/>
        </p:nvSpPr>
        <p:spPr>
          <a:xfrm>
            <a:off x="548640" y="3939540"/>
            <a:ext cx="11094720" cy="571500"/>
          </a:xfrm>
          <a:prstGeom prst="roundRect">
            <a:avLst>
              <a:gd name="adj" fmla="val 8000"/>
            </a:avLst>
          </a:prstGeom>
          <a:solidFill>
            <a:srgbClr val="FFFFFF"/>
          </a:solidFill>
          <a:ln>
            <a:noFill/>
          </a:ln>
          <a:effectLst/>
        </p:spPr>
        <p:txBody>
          <a:bodyPr rtlCol="0" anchor="ctr"/>
          <a:lstStyle/>
          <a:p>
            <a:pPr algn="ctr"/>
          </a:p>
        </p:txBody>
      </p:sp>
      <p:sp>
        <p:nvSpPr>
          <p:cNvPr id="21" name="TextBox 20"/>
          <p:cNvSpPr txBox="1"/>
          <p:nvPr/>
        </p:nvSpPr>
        <p:spPr>
          <a:xfrm>
            <a:off x="670560" y="4069079"/>
            <a:ext cx="33147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102B3F"/>
                </a:solidFill>
                <a:latin typeface="DejaVu Sans"/>
              </a:rPr>
              <a:t>Counterparty / data / file provider</a:t>
            </a:r>
          </a:p>
        </p:txBody>
      </p:sp>
      <p:sp>
        <p:nvSpPr>
          <p:cNvPr id="22" name="TextBox 21"/>
          <p:cNvSpPr txBox="1"/>
          <p:nvPr/>
        </p:nvSpPr>
        <p:spPr>
          <a:xfrm>
            <a:off x="4229100" y="4069079"/>
            <a:ext cx="325374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EXPLICIT FIXTURES</a:t>
            </a:r>
          </a:p>
        </p:txBody>
      </p:sp>
      <p:sp>
        <p:nvSpPr>
          <p:cNvPr id="23" name="TextBox 22"/>
          <p:cNvSpPr txBox="1"/>
          <p:nvPr/>
        </p:nvSpPr>
        <p:spPr>
          <a:xfrm>
            <a:off x="7726680" y="4069079"/>
            <a:ext cx="379476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Generated sample and contract experiments</a:t>
            </a:r>
          </a:p>
        </p:txBody>
      </p:sp>
      <p:sp>
        <p:nvSpPr>
          <p:cNvPr id="24" name="Rounded Rectangle 23"/>
          <p:cNvSpPr/>
          <p:nvPr/>
        </p:nvSpPr>
        <p:spPr>
          <a:xfrm>
            <a:off x="548640" y="4549140"/>
            <a:ext cx="11094720" cy="571500"/>
          </a:xfrm>
          <a:prstGeom prst="roundRect">
            <a:avLst>
              <a:gd name="adj" fmla="val 8000"/>
            </a:avLst>
          </a:prstGeom>
          <a:solidFill>
            <a:srgbClr val="FFFFFF"/>
          </a:solidFill>
          <a:ln>
            <a:noFill/>
          </a:ln>
          <a:effectLst/>
        </p:spPr>
        <p:txBody>
          <a:bodyPr rtlCol="0" anchor="ctr"/>
          <a:lstStyle/>
          <a:p>
            <a:pPr algn="ctr"/>
          </a:p>
        </p:txBody>
      </p:sp>
      <p:sp>
        <p:nvSpPr>
          <p:cNvPr id="25" name="TextBox 24"/>
          <p:cNvSpPr txBox="1"/>
          <p:nvPr/>
        </p:nvSpPr>
        <p:spPr>
          <a:xfrm>
            <a:off x="670560" y="4678680"/>
            <a:ext cx="33147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102B3F"/>
                </a:solidFill>
                <a:latin typeface="DejaVu Sans"/>
              </a:rPr>
              <a:t>Fusion credential policy</a:t>
            </a:r>
          </a:p>
        </p:txBody>
      </p:sp>
      <p:sp>
        <p:nvSpPr>
          <p:cNvPr id="26" name="TextBox 25"/>
          <p:cNvSpPr txBox="1"/>
          <p:nvPr/>
        </p:nvSpPr>
        <p:spPr>
          <a:xfrm>
            <a:off x="4229100" y="4678680"/>
            <a:ext cx="325374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DEVELOPMENT FIXTURE</a:t>
            </a:r>
          </a:p>
        </p:txBody>
      </p:sp>
      <p:sp>
        <p:nvSpPr>
          <p:cNvPr id="27" name="TextBox 26"/>
          <p:cNvSpPr txBox="1"/>
          <p:nvPr/>
        </p:nvSpPr>
        <p:spPr>
          <a:xfrm>
            <a:off x="7726680" y="4678680"/>
            <a:ext cx="379476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Native auth is real; downstream policy local</a:t>
            </a:r>
          </a:p>
        </p:txBody>
      </p:sp>
      <p:sp>
        <p:nvSpPr>
          <p:cNvPr id="28" name="Rounded Rectangle 27"/>
          <p:cNvSpPr/>
          <p:nvPr/>
        </p:nvSpPr>
        <p:spPr>
          <a:xfrm>
            <a:off x="548640" y="5158740"/>
            <a:ext cx="11094720" cy="571500"/>
          </a:xfrm>
          <a:prstGeom prst="roundRect">
            <a:avLst>
              <a:gd name="adj" fmla="val 8000"/>
            </a:avLst>
          </a:prstGeom>
          <a:solidFill>
            <a:srgbClr val="FFFFFF"/>
          </a:solidFill>
          <a:ln>
            <a:noFill/>
          </a:ln>
          <a:effectLst/>
        </p:spPr>
        <p:txBody>
          <a:bodyPr rtlCol="0" anchor="ctr"/>
          <a:lstStyle/>
          <a:p>
            <a:pPr algn="ctr"/>
          </a:p>
        </p:txBody>
      </p:sp>
      <p:sp>
        <p:nvSpPr>
          <p:cNvPr id="29" name="TextBox 28"/>
          <p:cNvSpPr txBox="1"/>
          <p:nvPr/>
        </p:nvSpPr>
        <p:spPr>
          <a:xfrm>
            <a:off x="670560" y="5288280"/>
            <a:ext cx="33147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102B3F"/>
                </a:solidFill>
                <a:latin typeface="DejaVu Sans"/>
              </a:rPr>
              <a:t>Chain / cognitive implementations</a:t>
            </a:r>
          </a:p>
        </p:txBody>
      </p:sp>
      <p:sp>
        <p:nvSpPr>
          <p:cNvPr id="30" name="TextBox 29"/>
          <p:cNvSpPr txBox="1"/>
          <p:nvPr/>
        </p:nvSpPr>
        <p:spPr>
          <a:xfrm>
            <a:off x="4229100" y="5288280"/>
            <a:ext cx="325374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NOT RUN IN M1.2</a:t>
            </a:r>
          </a:p>
        </p:txBody>
      </p:sp>
      <p:sp>
        <p:nvSpPr>
          <p:cNvPr id="31" name="TextBox 30"/>
          <p:cNvSpPr txBox="1"/>
          <p:nvPr/>
        </p:nvSpPr>
        <p:spPr>
          <a:xfrm>
            <a:off x="7726680" y="5288280"/>
            <a:ext cx="379476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M1 chain historical; M2+ still specified</a:t>
            </a:r>
          </a:p>
        </p:txBody>
      </p:sp>
      <p:cxnSp>
        <p:nvCxnSpPr>
          <p:cNvPr id="32" name="Connector 31"/>
          <p:cNvCxnSpPr/>
          <p:nvPr/>
        </p:nvCxnSpPr>
        <p:spPr>
          <a:xfrm>
            <a:off x="548640" y="6393180"/>
            <a:ext cx="11094720" cy="0"/>
          </a:xfrm>
          <a:prstGeom prst="line">
            <a:avLst/>
          </a:prstGeom>
          <a:ln w="7620">
            <a:solidFill>
              <a:srgbClr val="C9D2D4"/>
            </a:solidFill>
          </a:ln>
          <a:effectLst/>
        </p:spPr>
      </p:cxnSp>
      <p:sp>
        <p:nvSpPr>
          <p:cNvPr id="33" name="TextBox 32"/>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M1.2 / m1_2-evidence.md · manifest.json</a:t>
            </a:r>
          </a:p>
        </p:txBody>
      </p:sp>
      <p:sp>
        <p:nvSpPr>
          <p:cNvPr id="34" name="TextBox 33"/>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20 / 33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EVIDENCE · EXECUTED TESTS</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Fresh verification exercises distinct layers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Zero failures or skips in the final run. Fixture isolation is a subset, not extra unique coverage.</a:t>
            </a:r>
          </a:p>
        </p:txBody>
      </p:sp>
      <p:sp>
        <p:nvSpPr>
          <p:cNvPr id="5" name="TextBox 4"/>
          <p:cNvSpPr txBox="1"/>
          <p:nvPr/>
        </p:nvSpPr>
        <p:spPr>
          <a:xfrm>
            <a:off x="670560" y="1790700"/>
            <a:ext cx="37185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GATE / SUITE</a:t>
            </a:r>
          </a:p>
        </p:txBody>
      </p:sp>
      <p:sp>
        <p:nvSpPr>
          <p:cNvPr id="6" name="TextBox 5"/>
          <p:cNvSpPr txBox="1"/>
          <p:nvPr/>
        </p:nvSpPr>
        <p:spPr>
          <a:xfrm>
            <a:off x="4632960" y="1790700"/>
            <a:ext cx="124968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PASSED</a:t>
            </a:r>
          </a:p>
        </p:txBody>
      </p:sp>
      <p:sp>
        <p:nvSpPr>
          <p:cNvPr id="7" name="TextBox 6"/>
          <p:cNvSpPr txBox="1"/>
          <p:nvPr/>
        </p:nvSpPr>
        <p:spPr>
          <a:xfrm>
            <a:off x="6126480" y="1790700"/>
            <a:ext cx="53949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SCOPE OF THE OBSERVATION</a:t>
            </a:r>
          </a:p>
        </p:txBody>
      </p:sp>
      <p:sp>
        <p:nvSpPr>
          <p:cNvPr id="8" name="Rounded Rectangle 7"/>
          <p:cNvSpPr/>
          <p:nvPr/>
        </p:nvSpPr>
        <p:spPr>
          <a:xfrm>
            <a:off x="548640" y="2110740"/>
            <a:ext cx="11094720" cy="655320"/>
          </a:xfrm>
          <a:prstGeom prst="roundRect">
            <a:avLst>
              <a:gd name="adj" fmla="val 6976"/>
            </a:avLst>
          </a:prstGeom>
          <a:solidFill>
            <a:srgbClr val="FFFFFF"/>
          </a:solidFill>
          <a:ln>
            <a:noFill/>
          </a:ln>
          <a:effectLst/>
        </p:spPr>
        <p:txBody>
          <a:bodyPr rtlCol="0" anchor="ctr"/>
          <a:lstStyle/>
          <a:p>
            <a:pPr algn="ctr"/>
          </a:p>
        </p:txBody>
      </p:sp>
      <p:sp>
        <p:nvSpPr>
          <p:cNvPr id="9" name="TextBox 8"/>
          <p:cNvSpPr txBox="1"/>
          <p:nvPr/>
        </p:nvSpPr>
        <p:spPr>
          <a:xfrm>
            <a:off x="670560" y="2240280"/>
            <a:ext cx="37185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Fixture-only isolation</a:t>
            </a:r>
          </a:p>
        </p:txBody>
      </p:sp>
      <p:sp>
        <p:nvSpPr>
          <p:cNvPr id="10" name="TextBox 9"/>
          <p:cNvSpPr txBox="1"/>
          <p:nvPr/>
        </p:nvSpPr>
        <p:spPr>
          <a:xfrm>
            <a:off x="4632960" y="2240280"/>
            <a:ext cx="124968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51</a:t>
            </a:r>
          </a:p>
        </p:txBody>
      </p:sp>
      <p:sp>
        <p:nvSpPr>
          <p:cNvPr id="11" name="TextBox 10"/>
          <p:cNvSpPr txBox="1"/>
          <p:nvPr/>
        </p:nvSpPr>
        <p:spPr>
          <a:xfrm>
            <a:off x="6126480" y="2240280"/>
            <a:ext cx="53949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Real DeTTa and Hive paths deliberately absent</a:t>
            </a:r>
          </a:p>
        </p:txBody>
      </p:sp>
      <p:sp>
        <p:nvSpPr>
          <p:cNvPr id="12" name="Rounded Rectangle 11"/>
          <p:cNvSpPr/>
          <p:nvPr/>
        </p:nvSpPr>
        <p:spPr>
          <a:xfrm>
            <a:off x="548640" y="2804160"/>
            <a:ext cx="11094720" cy="655320"/>
          </a:xfrm>
          <a:prstGeom prst="roundRect">
            <a:avLst>
              <a:gd name="adj" fmla="val 6976"/>
            </a:avLst>
          </a:prstGeom>
          <a:solidFill>
            <a:srgbClr val="FFFFFF"/>
          </a:solidFill>
          <a:ln>
            <a:noFill/>
          </a:ln>
          <a:effectLst/>
        </p:spPr>
        <p:txBody>
          <a:bodyPr rtlCol="0" anchor="ctr"/>
          <a:lstStyle/>
          <a:p>
            <a:pPr algn="ctr"/>
          </a:p>
        </p:txBody>
      </p:sp>
      <p:sp>
        <p:nvSpPr>
          <p:cNvPr id="13" name="TextBox 12"/>
          <p:cNvSpPr txBox="1"/>
          <p:nvPr/>
        </p:nvSpPr>
        <p:spPr>
          <a:xfrm>
            <a:off x="670560" y="2933700"/>
            <a:ext cx="37185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Provider / transport matrix</a:t>
            </a:r>
          </a:p>
        </p:txBody>
      </p:sp>
      <p:sp>
        <p:nvSpPr>
          <p:cNvPr id="14" name="TextBox 13"/>
          <p:cNvSpPr txBox="1"/>
          <p:nvPr/>
        </p:nvSpPr>
        <p:spPr>
          <a:xfrm>
            <a:off x="4632960" y="2933700"/>
            <a:ext cx="124968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90</a:t>
            </a:r>
          </a:p>
        </p:txBody>
      </p:sp>
      <p:sp>
        <p:nvSpPr>
          <p:cNvPr id="15" name="TextBox 14"/>
          <p:cNvSpPr txBox="1"/>
          <p:nvPr/>
        </p:nvSpPr>
        <p:spPr>
          <a:xfrm>
            <a:off x="6126480" y="2933700"/>
            <a:ext cx="53949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Includes the 51 fixture tests; four workflows</a:t>
            </a:r>
          </a:p>
        </p:txBody>
      </p:sp>
      <p:sp>
        <p:nvSpPr>
          <p:cNvPr id="16" name="Rounded Rectangle 15"/>
          <p:cNvSpPr/>
          <p:nvPr/>
        </p:nvSpPr>
        <p:spPr>
          <a:xfrm>
            <a:off x="548640" y="3497579"/>
            <a:ext cx="11094720" cy="655320"/>
          </a:xfrm>
          <a:prstGeom prst="roundRect">
            <a:avLst>
              <a:gd name="adj" fmla="val 6976"/>
            </a:avLst>
          </a:prstGeom>
          <a:solidFill>
            <a:srgbClr val="FFFFFF"/>
          </a:solidFill>
          <a:ln>
            <a:noFill/>
          </a:ln>
          <a:effectLst/>
        </p:spPr>
        <p:txBody>
          <a:bodyPr rtlCol="0" anchor="ctr"/>
          <a:lstStyle/>
          <a:p>
            <a:pPr algn="ctr"/>
          </a:p>
        </p:txBody>
      </p:sp>
      <p:sp>
        <p:nvSpPr>
          <p:cNvPr id="17" name="TextBox 16"/>
          <p:cNvSpPr txBox="1"/>
          <p:nvPr/>
        </p:nvSpPr>
        <p:spPr>
          <a:xfrm>
            <a:off x="670560" y="3627119"/>
            <a:ext cx="37185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Clean upstream DeTTa</a:t>
            </a:r>
          </a:p>
        </p:txBody>
      </p:sp>
      <p:sp>
        <p:nvSpPr>
          <p:cNvPr id="18" name="TextBox 17"/>
          <p:cNvSpPr txBox="1"/>
          <p:nvPr/>
        </p:nvSpPr>
        <p:spPr>
          <a:xfrm>
            <a:off x="4632960" y="3627119"/>
            <a:ext cx="124968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62 + 38</a:t>
            </a:r>
          </a:p>
        </p:txBody>
      </p:sp>
      <p:sp>
        <p:nvSpPr>
          <p:cNvPr id="19" name="TextBox 18"/>
          <p:cNvSpPr txBox="1"/>
          <p:nvPr/>
        </p:nvSpPr>
        <p:spPr>
          <a:xfrm>
            <a:off x="6126480" y="3627119"/>
            <a:ext cx="53949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DA + storage; historical dirty source had 40 storage</a:t>
            </a:r>
          </a:p>
        </p:txBody>
      </p:sp>
      <p:sp>
        <p:nvSpPr>
          <p:cNvPr id="20" name="TextBox 19"/>
          <p:cNvSpPr txBox="1"/>
          <p:nvPr/>
        </p:nvSpPr>
        <p:spPr>
          <a:xfrm>
            <a:off x="6126480" y="3870960"/>
            <a:ext cx="53949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tests</a:t>
            </a:r>
          </a:p>
        </p:txBody>
      </p:sp>
      <p:sp>
        <p:nvSpPr>
          <p:cNvPr id="21" name="Rounded Rectangle 20"/>
          <p:cNvSpPr/>
          <p:nvPr/>
        </p:nvSpPr>
        <p:spPr>
          <a:xfrm>
            <a:off x="548640" y="4191000"/>
            <a:ext cx="11094720" cy="655320"/>
          </a:xfrm>
          <a:prstGeom prst="roundRect">
            <a:avLst>
              <a:gd name="adj" fmla="val 6976"/>
            </a:avLst>
          </a:prstGeom>
          <a:solidFill>
            <a:srgbClr val="FFFFFF"/>
          </a:solidFill>
          <a:ln>
            <a:noFill/>
          </a:ln>
          <a:effectLst/>
        </p:spPr>
        <p:txBody>
          <a:bodyPr rtlCol="0" anchor="ctr"/>
          <a:lstStyle/>
          <a:p>
            <a:pPr algn="ctr"/>
          </a:p>
        </p:txBody>
      </p:sp>
      <p:sp>
        <p:nvSpPr>
          <p:cNvPr id="22" name="TextBox 21"/>
          <p:cNvSpPr txBox="1"/>
          <p:nvPr/>
        </p:nvSpPr>
        <p:spPr>
          <a:xfrm>
            <a:off x="670560" y="4320540"/>
            <a:ext cx="37185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Native Hive baseline</a:t>
            </a:r>
          </a:p>
        </p:txBody>
      </p:sp>
      <p:sp>
        <p:nvSpPr>
          <p:cNvPr id="23" name="TextBox 22"/>
          <p:cNvSpPr txBox="1"/>
          <p:nvPr/>
        </p:nvSpPr>
        <p:spPr>
          <a:xfrm>
            <a:off x="4632960" y="4320540"/>
            <a:ext cx="124968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34</a:t>
            </a:r>
          </a:p>
        </p:txBody>
      </p:sp>
      <p:sp>
        <p:nvSpPr>
          <p:cNvPr id="24" name="TextBox 23"/>
          <p:cNvSpPr txBox="1"/>
          <p:nvPr/>
        </p:nvSpPr>
        <p:spPr>
          <a:xfrm>
            <a:off x="6126480" y="4320540"/>
            <a:ext cx="53949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Selected native tests; fixture process driver</a:t>
            </a:r>
          </a:p>
        </p:txBody>
      </p:sp>
      <p:sp>
        <p:nvSpPr>
          <p:cNvPr id="25" name="Rounded Rectangle 24"/>
          <p:cNvSpPr/>
          <p:nvPr/>
        </p:nvSpPr>
        <p:spPr>
          <a:xfrm>
            <a:off x="548640" y="4884420"/>
            <a:ext cx="11094720" cy="655320"/>
          </a:xfrm>
          <a:prstGeom prst="roundRect">
            <a:avLst>
              <a:gd name="adj" fmla="val 6976"/>
            </a:avLst>
          </a:prstGeom>
          <a:solidFill>
            <a:srgbClr val="FFFFFF"/>
          </a:solidFill>
          <a:ln>
            <a:noFill/>
          </a:ln>
          <a:effectLst/>
        </p:spPr>
        <p:txBody>
          <a:bodyPr rtlCol="0" anchor="ctr"/>
          <a:lstStyle/>
          <a:p>
            <a:pPr algn="ctr"/>
          </a:p>
        </p:txBody>
      </p:sp>
      <p:sp>
        <p:nvSpPr>
          <p:cNvPr id="26" name="TextBox 25"/>
          <p:cNvSpPr txBox="1"/>
          <p:nvPr/>
        </p:nvSpPr>
        <p:spPr>
          <a:xfrm>
            <a:off x="670560" y="5013960"/>
            <a:ext cx="37185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Real-caller integration</a:t>
            </a:r>
          </a:p>
        </p:txBody>
      </p:sp>
      <p:sp>
        <p:nvSpPr>
          <p:cNvPr id="27" name="TextBox 26"/>
          <p:cNvSpPr txBox="1"/>
          <p:nvPr/>
        </p:nvSpPr>
        <p:spPr>
          <a:xfrm>
            <a:off x="4632960" y="5013960"/>
            <a:ext cx="124968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13</a:t>
            </a:r>
          </a:p>
        </p:txBody>
      </p:sp>
      <p:sp>
        <p:nvSpPr>
          <p:cNvPr id="28" name="TextBox 27"/>
          <p:cNvSpPr txBox="1"/>
          <p:nvPr/>
        </p:nvSpPr>
        <p:spPr>
          <a:xfrm>
            <a:off x="6126480" y="5013960"/>
            <a:ext cx="53949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Native dispatch, process recovery and refusals</a:t>
            </a:r>
          </a:p>
        </p:txBody>
      </p:sp>
      <p:sp>
        <p:nvSpPr>
          <p:cNvPr id="29" name="Rounded Rectangle 28"/>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0" name="TextBox 29"/>
          <p:cNvSpPr txBox="1"/>
          <p:nvPr/>
        </p:nvSpPr>
        <p:spPr>
          <a:xfrm>
            <a:off x="716280" y="5905500"/>
            <a:ext cx="107442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Historical 27-test M1 results and earlier dirty sources are retained, not silently reused as current passes.</a:t>
            </a:r>
          </a:p>
        </p:txBody>
      </p:sp>
      <p:cxnSp>
        <p:nvCxnSpPr>
          <p:cNvPr id="31" name="Connector 30"/>
          <p:cNvCxnSpPr/>
          <p:nvPr/>
        </p:nvCxnSpPr>
        <p:spPr>
          <a:xfrm>
            <a:off x="548640" y="6393180"/>
            <a:ext cx="11094720" cy="0"/>
          </a:xfrm>
          <a:prstGeom prst="line">
            <a:avLst/>
          </a:prstGeom>
          <a:ln w="7620">
            <a:solidFill>
              <a:srgbClr val="C9D2D4"/>
            </a:solidFill>
          </a:ln>
          <a:effectLst/>
        </p:spPr>
      </p:cxnSp>
      <p:sp>
        <p:nvSpPr>
          <p:cNvPr id="32" name="TextBox 31"/>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M1.2 / evidence/m1_2/verification.json</a:t>
            </a:r>
          </a:p>
        </p:txBody>
      </p:sp>
      <p:sp>
        <p:nvSpPr>
          <p:cNvPr id="33" name="TextBox 32"/>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21 / 33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EVIDENCE · ACTUAL M1.2 ARTIFACT</a:t>
            </a:r>
          </a:p>
        </p:txBody>
      </p:sp>
      <p:sp>
        <p:nvSpPr>
          <p:cNvPr id="3" name="TextBox 2"/>
          <p:cNvSpPr txBox="1"/>
          <p:nvPr/>
        </p:nvSpPr>
        <p:spPr>
          <a:xfrm>
            <a:off x="533400" y="723900"/>
            <a:ext cx="11125200" cy="458419"/>
          </a:xfrm>
          <a:prstGeom prst="rect">
            <a:avLst/>
          </a:prstGeom>
          <a:noFill/>
        </p:spPr>
        <p:txBody>
          <a:bodyPr wrap="none" lIns="0" rIns="0" tIns="0" bIns="0" anchor="t" anchorCtr="0">
            <a:noAutofit/>
          </a:bodyPr>
          <a:lstStyle/>
          <a:p>
            <a:pPr algn="l">
              <a:lnSpc>
                <a:spcPct val="100000"/>
              </a:lnSpc>
              <a:spcBef>
                <a:spcPts val="0"/>
              </a:spcBef>
              <a:spcAft>
                <a:spcPts val="0"/>
              </a:spcAft>
            </a:pPr>
            <a:r>
              <a:rPr sz="2820" b="1">
                <a:solidFill>
                  <a:srgbClr val="102B3F"/>
                </a:solidFill>
                <a:latin typeface="DejaVu Sans"/>
              </a:rPr>
              <a:t>One trace ties native intent to acknowledged outcome</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Identifiers below come directly from the recorded real Hive workflow.</a:t>
            </a:r>
          </a:p>
        </p:txBody>
      </p:sp>
      <p:sp>
        <p:nvSpPr>
          <p:cNvPr id="5" name="Rounded Rectangle 4"/>
          <p:cNvSpPr/>
          <p:nvPr/>
        </p:nvSpPr>
        <p:spPr>
          <a:xfrm>
            <a:off x="548640" y="1920239"/>
            <a:ext cx="3535679" cy="1295400"/>
          </a:xfrm>
          <a:prstGeom prst="roundRect">
            <a:avLst>
              <a:gd name="adj" fmla="val 7647"/>
            </a:avLst>
          </a:prstGeom>
          <a:solidFill>
            <a:srgbClr val="FFFFFF"/>
          </a:solidFill>
          <a:ln w="7620">
            <a:solidFill>
              <a:srgbClr val="007C78"/>
            </a:solidFill>
          </a:ln>
          <a:effectLst/>
        </p:spPr>
        <p:txBody>
          <a:bodyPr rtlCol="0" anchor="ctr"/>
          <a:lstStyle/>
          <a:p>
            <a:pPr algn="ctr"/>
          </a:p>
        </p:txBody>
      </p:sp>
      <p:sp>
        <p:nvSpPr>
          <p:cNvPr id="6" name="TextBox 5"/>
          <p:cNvSpPr txBox="1"/>
          <p:nvPr/>
        </p:nvSpPr>
        <p:spPr>
          <a:xfrm>
            <a:off x="716280" y="2087880"/>
            <a:ext cx="320040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007C78"/>
                </a:solidFill>
                <a:latin typeface="DejaVu Sans"/>
              </a:rPr>
              <a:t>Native caller</a:t>
            </a:r>
          </a:p>
        </p:txBody>
      </p:sp>
      <p:sp>
        <p:nvSpPr>
          <p:cNvPr id="7" name="TextBox 6"/>
          <p:cNvSpPr txBox="1"/>
          <p:nvPr/>
        </p:nvSpPr>
        <p:spPr>
          <a:xfrm>
            <a:off x="716280" y="2456687"/>
            <a:ext cx="32004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user:operator</a:t>
            </a:r>
          </a:p>
        </p:txBody>
      </p:sp>
      <p:sp>
        <p:nvSpPr>
          <p:cNvPr id="8" name="TextBox 7"/>
          <p:cNvSpPr txBox="1"/>
          <p:nvPr/>
        </p:nvSpPr>
        <p:spPr>
          <a:xfrm>
            <a:off x="716280" y="2700528"/>
            <a:ext cx="32004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Swarm s_2ccf3f15</a:t>
            </a:r>
          </a:p>
        </p:txBody>
      </p:sp>
      <p:cxnSp>
        <p:nvCxnSpPr>
          <p:cNvPr id="9" name="Connector 8"/>
          <p:cNvCxnSpPr/>
          <p:nvPr/>
        </p:nvCxnSpPr>
        <p:spPr>
          <a:xfrm>
            <a:off x="4084319" y="2567940"/>
            <a:ext cx="198121" cy="0"/>
          </a:xfrm>
          <a:prstGeom prst="line">
            <a:avLst/>
          </a:prstGeom>
          <a:ln w="15240">
            <a:solidFill>
              <a:srgbClr val="315E9C"/>
            </a:solidFill>
          </a:ln>
          <a:effectLst/>
        </p:spPr>
      </p:cxnSp>
      <p:sp>
        <p:nvSpPr>
          <p:cNvPr id="10" name="Freeform 9"/>
          <p:cNvSpPr/>
          <p:nvPr/>
        </p:nvSpPr>
        <p:spPr>
          <a:xfrm>
            <a:off x="4183380" y="252984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11" name="Rounded Rectangle 10"/>
          <p:cNvSpPr/>
          <p:nvPr/>
        </p:nvSpPr>
        <p:spPr>
          <a:xfrm>
            <a:off x="4328160" y="1920239"/>
            <a:ext cx="3535679" cy="1295400"/>
          </a:xfrm>
          <a:prstGeom prst="roundRect">
            <a:avLst>
              <a:gd name="adj" fmla="val 7647"/>
            </a:avLst>
          </a:prstGeom>
          <a:solidFill>
            <a:srgbClr val="FFFFFF"/>
          </a:solidFill>
          <a:ln w="7620">
            <a:solidFill>
              <a:srgbClr val="315E9C"/>
            </a:solidFill>
          </a:ln>
          <a:effectLst/>
        </p:spPr>
        <p:txBody>
          <a:bodyPr rtlCol="0" anchor="ctr"/>
          <a:lstStyle/>
          <a:p>
            <a:pPr algn="ctr"/>
          </a:p>
        </p:txBody>
      </p:sp>
      <p:sp>
        <p:nvSpPr>
          <p:cNvPr id="12" name="TextBox 11"/>
          <p:cNvSpPr txBox="1"/>
          <p:nvPr/>
        </p:nvSpPr>
        <p:spPr>
          <a:xfrm>
            <a:off x="4495800" y="2087880"/>
            <a:ext cx="320040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315E9C"/>
                </a:solidFill>
                <a:latin typeface="DejaVu Sans"/>
              </a:rPr>
              <a:t>Generated input</a:t>
            </a:r>
          </a:p>
        </p:txBody>
      </p:sp>
      <p:sp>
        <p:nvSpPr>
          <p:cNvPr id="13" name="TextBox 12"/>
          <p:cNvSpPr txBox="1"/>
          <p:nvPr/>
        </p:nvSpPr>
        <p:spPr>
          <a:xfrm>
            <a:off x="4495800" y="2456687"/>
            <a:ext cx="32004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53 bytes · scope shared-test</a:t>
            </a:r>
          </a:p>
        </p:txBody>
      </p:sp>
      <p:sp>
        <p:nvSpPr>
          <p:cNvPr id="14" name="TextBox 13"/>
          <p:cNvSpPr txBox="1"/>
          <p:nvPr/>
        </p:nvSpPr>
        <p:spPr>
          <a:xfrm>
            <a:off x="4495800" y="2700528"/>
            <a:ext cx="32004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a1b8c6b7-5dce-58c2…</a:t>
            </a:r>
          </a:p>
        </p:txBody>
      </p:sp>
      <p:cxnSp>
        <p:nvCxnSpPr>
          <p:cNvPr id="15" name="Connector 14"/>
          <p:cNvCxnSpPr/>
          <p:nvPr/>
        </p:nvCxnSpPr>
        <p:spPr>
          <a:xfrm>
            <a:off x="7863839" y="2567940"/>
            <a:ext cx="198120" cy="0"/>
          </a:xfrm>
          <a:prstGeom prst="line">
            <a:avLst/>
          </a:prstGeom>
          <a:ln w="15240">
            <a:solidFill>
              <a:srgbClr val="315E9C"/>
            </a:solidFill>
          </a:ln>
          <a:effectLst/>
        </p:spPr>
      </p:cxnSp>
      <p:sp>
        <p:nvSpPr>
          <p:cNvPr id="16" name="Freeform 15"/>
          <p:cNvSpPr/>
          <p:nvPr/>
        </p:nvSpPr>
        <p:spPr>
          <a:xfrm>
            <a:off x="7962900" y="252984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17" name="Rounded Rectangle 16"/>
          <p:cNvSpPr/>
          <p:nvPr/>
        </p:nvSpPr>
        <p:spPr>
          <a:xfrm>
            <a:off x="8107680" y="1920239"/>
            <a:ext cx="3535679" cy="1295400"/>
          </a:xfrm>
          <a:prstGeom prst="roundRect">
            <a:avLst>
              <a:gd name="adj" fmla="val 7647"/>
            </a:avLst>
          </a:prstGeom>
          <a:solidFill>
            <a:srgbClr val="FFFFFF"/>
          </a:solidFill>
          <a:ln w="7620">
            <a:solidFill>
              <a:srgbClr val="315E9C"/>
            </a:solidFill>
          </a:ln>
          <a:effectLst/>
        </p:spPr>
        <p:txBody>
          <a:bodyPr rtlCol="0" anchor="ctr"/>
          <a:lstStyle/>
          <a:p>
            <a:pPr algn="ctr"/>
          </a:p>
        </p:txBody>
      </p:sp>
      <p:sp>
        <p:nvSpPr>
          <p:cNvPr id="18" name="TextBox 17"/>
          <p:cNvSpPr txBox="1"/>
          <p:nvPr/>
        </p:nvSpPr>
        <p:spPr>
          <a:xfrm>
            <a:off x="8275320" y="2087880"/>
            <a:ext cx="320040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315E9C"/>
                </a:solidFill>
                <a:latin typeface="DejaVu Sans"/>
              </a:rPr>
              <a:t>Delegated job</a:t>
            </a:r>
          </a:p>
        </p:txBody>
      </p:sp>
      <p:sp>
        <p:nvSpPr>
          <p:cNvPr id="19" name="TextBox 18"/>
          <p:cNvSpPr txBox="1"/>
          <p:nvPr/>
        </p:nvSpPr>
        <p:spPr>
          <a:xfrm>
            <a:off x="8275320" y="2456687"/>
            <a:ext cx="32004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inspect_atom / output 0.1.0</a:t>
            </a:r>
          </a:p>
        </p:txBody>
      </p:sp>
      <p:sp>
        <p:nvSpPr>
          <p:cNvPr id="20" name="TextBox 19"/>
          <p:cNvSpPr txBox="1"/>
          <p:nvPr/>
        </p:nvSpPr>
        <p:spPr>
          <a:xfrm>
            <a:off x="8275320" y="2700528"/>
            <a:ext cx="32004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37fb2f12-9a0b-5eb7…</a:t>
            </a:r>
          </a:p>
        </p:txBody>
      </p:sp>
      <p:sp>
        <p:nvSpPr>
          <p:cNvPr id="21" name="Rounded Rectangle 20"/>
          <p:cNvSpPr/>
          <p:nvPr/>
        </p:nvSpPr>
        <p:spPr>
          <a:xfrm>
            <a:off x="548640" y="3596640"/>
            <a:ext cx="7299959" cy="1851659"/>
          </a:xfrm>
          <a:prstGeom prst="roundRect">
            <a:avLst>
              <a:gd name="adj" fmla="val 5349"/>
            </a:avLst>
          </a:prstGeom>
          <a:solidFill>
            <a:srgbClr val="0B2233"/>
          </a:solidFill>
          <a:ln>
            <a:noFill/>
          </a:ln>
          <a:effectLst/>
        </p:spPr>
        <p:txBody>
          <a:bodyPr rtlCol="0" anchor="ctr"/>
          <a:lstStyle/>
          <a:p>
            <a:pPr algn="ctr"/>
          </a:p>
        </p:txBody>
      </p:sp>
      <p:sp>
        <p:nvSpPr>
          <p:cNvPr id="22" name="TextBox 21"/>
          <p:cNvSpPr txBox="1"/>
          <p:nvPr/>
        </p:nvSpPr>
        <p:spPr>
          <a:xfrm>
            <a:off x="762000" y="3779519"/>
            <a:ext cx="68199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77DDC4"/>
                </a:solidFill>
                <a:latin typeface="DejaVu Sans"/>
              </a:rPr>
              <a:t>PERSISTED RESULT DIGEST</a:t>
            </a:r>
          </a:p>
        </p:txBody>
      </p:sp>
      <p:sp>
        <p:nvSpPr>
          <p:cNvPr id="23" name="TextBox 22"/>
          <p:cNvSpPr txBox="1"/>
          <p:nvPr/>
        </p:nvSpPr>
        <p:spPr>
          <a:xfrm>
            <a:off x="762000" y="4152900"/>
            <a:ext cx="681990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0">
                <a:solidFill>
                  <a:srgbClr val="FFFFFF"/>
                </a:solidFill>
                <a:latin typeface="DejaVu Sans Mono"/>
              </a:rPr>
              <a:t>cd2f727689b41e243ee78207d058d00b</a:t>
            </a:r>
          </a:p>
        </p:txBody>
      </p:sp>
      <p:sp>
        <p:nvSpPr>
          <p:cNvPr id="24" name="TextBox 23"/>
          <p:cNvSpPr txBox="1"/>
          <p:nvPr/>
        </p:nvSpPr>
        <p:spPr>
          <a:xfrm>
            <a:off x="762000" y="4445508"/>
            <a:ext cx="681990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0">
                <a:solidFill>
                  <a:srgbClr val="FFFFFF"/>
                </a:solidFill>
                <a:latin typeface="DejaVu Sans Mono"/>
              </a:rPr>
              <a:t>8be64932abbfd86a02851dfcbac400bb</a:t>
            </a:r>
          </a:p>
        </p:txBody>
      </p:sp>
      <p:sp>
        <p:nvSpPr>
          <p:cNvPr id="25" name="TextBox 24"/>
          <p:cNvSpPr txBox="1"/>
          <p:nvPr/>
        </p:nvSpPr>
        <p:spPr>
          <a:xfrm>
            <a:off x="762000" y="4937760"/>
            <a:ext cx="67818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AAC0CC"/>
                </a:solidFill>
                <a:latin typeface="DejaVu Sans"/>
              </a:rPr>
              <a:t>Job ID = completion delivery ID; caller receipt = correlation ID.</a:t>
            </a:r>
          </a:p>
        </p:txBody>
      </p:sp>
      <p:sp>
        <p:nvSpPr>
          <p:cNvPr id="26" name="Rounded Rectangle 25"/>
          <p:cNvSpPr/>
          <p:nvPr/>
        </p:nvSpPr>
        <p:spPr>
          <a:xfrm>
            <a:off x="8183880" y="3596640"/>
            <a:ext cx="3459479" cy="1851659"/>
          </a:xfrm>
          <a:prstGeom prst="roundRect">
            <a:avLst>
              <a:gd name="adj" fmla="val 5349"/>
            </a:avLst>
          </a:prstGeom>
          <a:solidFill>
            <a:srgbClr val="DCEFE8"/>
          </a:solidFill>
          <a:ln w="7620">
            <a:solidFill>
              <a:srgbClr val="007C78"/>
            </a:solidFill>
          </a:ln>
          <a:effectLst/>
        </p:spPr>
        <p:txBody>
          <a:bodyPr rtlCol="0" anchor="ctr"/>
          <a:lstStyle/>
          <a:p>
            <a:pPr algn="ctr"/>
          </a:p>
        </p:txBody>
      </p:sp>
      <p:sp>
        <p:nvSpPr>
          <p:cNvPr id="27" name="TextBox 26"/>
          <p:cNvSpPr txBox="1"/>
          <p:nvPr/>
        </p:nvSpPr>
        <p:spPr>
          <a:xfrm>
            <a:off x="8351520" y="3764279"/>
            <a:ext cx="3124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007C78"/>
                </a:solidFill>
                <a:latin typeface="DejaVu Sans"/>
              </a:rPr>
              <a:t>Accepted and</a:t>
            </a:r>
          </a:p>
        </p:txBody>
      </p:sp>
      <p:sp>
        <p:nvSpPr>
          <p:cNvPr id="28" name="TextBox 27"/>
          <p:cNvSpPr txBox="1"/>
          <p:nvPr/>
        </p:nvSpPr>
        <p:spPr>
          <a:xfrm>
            <a:off x="8351520" y="4047134"/>
            <a:ext cx="3124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007C78"/>
                </a:solidFill>
                <a:latin typeface="DejaVu Sans"/>
              </a:rPr>
              <a:t>acknowledged</a:t>
            </a:r>
          </a:p>
        </p:txBody>
      </p:sp>
      <p:sp>
        <p:nvSpPr>
          <p:cNvPr id="29" name="TextBox 28"/>
          <p:cNvSpPr txBox="1"/>
          <p:nvPr/>
        </p:nvSpPr>
        <p:spPr>
          <a:xfrm>
            <a:off x="8351520" y="4406188"/>
            <a:ext cx="312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One durable outcome identity.</a:t>
            </a:r>
          </a:p>
        </p:txBody>
      </p:sp>
      <p:sp>
        <p:nvSpPr>
          <p:cNvPr id="30" name="TextBox 29"/>
          <p:cNvSpPr txBox="1"/>
          <p:nvPr/>
        </p:nvSpPr>
        <p:spPr>
          <a:xfrm>
            <a:off x="8351520" y="4650028"/>
            <a:ext cx="312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Both atom receipts: real DeTTa,</a:t>
            </a:r>
          </a:p>
        </p:txBody>
      </p:sp>
      <p:sp>
        <p:nvSpPr>
          <p:cNvPr id="31" name="TextBox 30"/>
          <p:cNvSpPr txBox="1"/>
          <p:nvPr/>
        </p:nvSpPr>
        <p:spPr>
          <a:xfrm>
            <a:off x="8351520" y="4893868"/>
            <a:ext cx="312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six shares / threshold four.</a:t>
            </a:r>
          </a:p>
        </p:txBody>
      </p:sp>
      <p:sp>
        <p:nvSpPr>
          <p:cNvPr id="32" name="Rounded Rectangle 31"/>
          <p:cNvSpPr/>
          <p:nvPr/>
        </p:nvSpPr>
        <p:spPr>
          <a:xfrm>
            <a:off x="548640" y="5829300"/>
            <a:ext cx="11094720" cy="403859"/>
          </a:xfrm>
          <a:prstGeom prst="roundRect">
            <a:avLst>
              <a:gd name="adj" fmla="val 15094"/>
            </a:avLst>
          </a:prstGeom>
          <a:solidFill>
            <a:srgbClr val="F3E7CE"/>
          </a:solidFill>
          <a:ln>
            <a:noFill/>
          </a:ln>
          <a:effectLst/>
        </p:spPr>
        <p:txBody>
          <a:bodyPr rtlCol="0" anchor="ctr"/>
          <a:lstStyle/>
          <a:p>
            <a:pPr algn="ctr"/>
          </a:p>
        </p:txBody>
      </p:sp>
      <p:sp>
        <p:nvSpPr>
          <p:cNvPr id="33" name="TextBox 32"/>
          <p:cNvSpPr txBox="1"/>
          <p:nvPr/>
        </p:nvSpPr>
        <p:spPr>
          <a:xfrm>
            <a:off x="716280" y="5905500"/>
            <a:ext cx="107442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A86A15"/>
                </a:solidFill>
                <a:latin typeface="DejaVu Sans"/>
              </a:rPr>
              <a:t>CHAIN = NOT_RUN for this result. The earlier M1 digest is a different, explicitly historical artifact.</a:t>
            </a:r>
          </a:p>
        </p:txBody>
      </p:sp>
      <p:cxnSp>
        <p:nvCxnSpPr>
          <p:cNvPr id="34" name="Connector 33"/>
          <p:cNvCxnSpPr/>
          <p:nvPr/>
        </p:nvCxnSpPr>
        <p:spPr>
          <a:xfrm>
            <a:off x="548640" y="6393180"/>
            <a:ext cx="11094720" cy="0"/>
          </a:xfrm>
          <a:prstGeom prst="line">
            <a:avLst/>
          </a:prstGeom>
          <a:ln w="7620">
            <a:solidFill>
              <a:srgbClr val="C9D2D4"/>
            </a:solidFill>
          </a:ln>
          <a:effectLst/>
        </p:spPr>
      </p:cxnSp>
      <p:sp>
        <p:nvSpPr>
          <p:cNvPr id="35" name="TextBox 34"/>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M1.2 / evidence/m1_2/hive-trace.json</a:t>
            </a:r>
          </a:p>
        </p:txBody>
      </p:sp>
      <p:sp>
        <p:nvSpPr>
          <p:cNvPr id="36" name="TextBox 35"/>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22 / 33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04 / HANDOFF · OBTAINABLE INPUTS</a:t>
            </a:r>
          </a:p>
        </p:txBody>
      </p:sp>
      <p:sp>
        <p:nvSpPr>
          <p:cNvPr id="3" name="TextBox 2"/>
          <p:cNvSpPr txBox="1"/>
          <p:nvPr/>
        </p:nvSpPr>
        <p:spPr>
          <a:xfrm>
            <a:off x="533400" y="723900"/>
            <a:ext cx="11125200" cy="477926"/>
          </a:xfrm>
          <a:prstGeom prst="rect">
            <a:avLst/>
          </a:prstGeom>
          <a:noFill/>
        </p:spPr>
        <p:txBody>
          <a:bodyPr wrap="none" lIns="0" rIns="0" tIns="0" bIns="0" anchor="t" anchorCtr="0">
            <a:noAutofit/>
          </a:bodyPr>
          <a:lstStyle/>
          <a:p>
            <a:pPr algn="l">
              <a:lnSpc>
                <a:spcPct val="100000"/>
              </a:lnSpc>
              <a:spcBef>
                <a:spcPts val="0"/>
              </a:spcBef>
              <a:spcAft>
                <a:spcPts val="0"/>
              </a:spcAft>
            </a:pPr>
            <a:r>
              <a:rPr sz="2940" b="1">
                <a:solidFill>
                  <a:srgbClr val="102B3F"/>
                </a:solidFill>
                <a:latin typeface="DejaVu Sans"/>
              </a:rPr>
              <a:t>Reproduction separates source, build and execution</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Fresh disposable checkout; immutable authorized sources; locked new builds; actual runtime tests.</a:t>
            </a:r>
          </a:p>
        </p:txBody>
      </p:sp>
      <p:sp>
        <p:nvSpPr>
          <p:cNvPr id="5" name="Rounded Rectangle 4"/>
          <p:cNvSpPr/>
          <p:nvPr/>
        </p:nvSpPr>
        <p:spPr>
          <a:xfrm>
            <a:off x="548640" y="1958339"/>
            <a:ext cx="3535679" cy="2240280"/>
          </a:xfrm>
          <a:prstGeom prst="roundRect">
            <a:avLst>
              <a:gd name="adj" fmla="val 4421"/>
            </a:avLst>
          </a:prstGeom>
          <a:solidFill>
            <a:srgbClr val="FFFFFF"/>
          </a:solidFill>
          <a:ln w="7620">
            <a:solidFill>
              <a:srgbClr val="007C78"/>
            </a:solidFill>
          </a:ln>
          <a:effectLst/>
        </p:spPr>
        <p:txBody>
          <a:bodyPr rtlCol="0" anchor="ctr"/>
          <a:lstStyle/>
          <a:p>
            <a:pPr algn="ctr"/>
          </a:p>
        </p:txBody>
      </p:sp>
      <p:sp>
        <p:nvSpPr>
          <p:cNvPr id="6" name="TextBox 5"/>
          <p:cNvSpPr txBox="1"/>
          <p:nvPr/>
        </p:nvSpPr>
        <p:spPr>
          <a:xfrm>
            <a:off x="716280" y="2125980"/>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007C78"/>
                </a:solidFill>
                <a:latin typeface="DejaVu Sans"/>
              </a:rPr>
              <a:t>1 · SOURCE</a:t>
            </a:r>
          </a:p>
        </p:txBody>
      </p:sp>
      <p:sp>
        <p:nvSpPr>
          <p:cNvPr id="7" name="TextBox 6"/>
          <p:cNvSpPr txBox="1"/>
          <p:nvPr/>
        </p:nvSpPr>
        <p:spPr>
          <a:xfrm>
            <a:off x="716280" y="2362200"/>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Obtain exact bytes</a:t>
            </a:r>
          </a:p>
        </p:txBody>
      </p:sp>
      <p:sp>
        <p:nvSpPr>
          <p:cNvPr id="8" name="TextBox 7"/>
          <p:cNvSpPr txBox="1"/>
          <p:nvPr/>
        </p:nvSpPr>
        <p:spPr>
          <a:xfrm>
            <a:off x="716280" y="2740761"/>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Fusion commit/bundle; Hive</a:t>
            </a:r>
          </a:p>
        </p:txBody>
      </p:sp>
      <p:sp>
        <p:nvSpPr>
          <p:cNvPr id="9" name="TextBox 8"/>
          <p:cNvSpPr txBox="1"/>
          <p:nvPr/>
        </p:nvSpPr>
        <p:spPr>
          <a:xfrm>
            <a:off x="716280" y="3004108"/>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and DeTTa via authorized</a:t>
            </a:r>
          </a:p>
        </p:txBody>
      </p:sp>
      <p:sp>
        <p:nvSpPr>
          <p:cNvPr id="10" name="TextBox 9"/>
          <p:cNvSpPr txBox="1"/>
          <p:nvPr/>
        </p:nvSpPr>
        <p:spPr>
          <a:xfrm>
            <a:off x="716280" y="3267455"/>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SSH; public PeTTa and SWI</a:t>
            </a:r>
          </a:p>
        </p:txBody>
      </p:sp>
      <p:sp>
        <p:nvSpPr>
          <p:cNvPr id="11" name="TextBox 10"/>
          <p:cNvSpPr txBox="1"/>
          <p:nvPr/>
        </p:nvSpPr>
        <p:spPr>
          <a:xfrm>
            <a:off x="716280" y="3530803"/>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commits.</a:t>
            </a:r>
          </a:p>
        </p:txBody>
      </p:sp>
      <p:cxnSp>
        <p:nvCxnSpPr>
          <p:cNvPr id="12" name="Connector 11"/>
          <p:cNvCxnSpPr/>
          <p:nvPr/>
        </p:nvCxnSpPr>
        <p:spPr>
          <a:xfrm>
            <a:off x="4084319" y="3086100"/>
            <a:ext cx="198121" cy="0"/>
          </a:xfrm>
          <a:prstGeom prst="line">
            <a:avLst/>
          </a:prstGeom>
          <a:ln w="15240">
            <a:solidFill>
              <a:srgbClr val="007C78"/>
            </a:solidFill>
          </a:ln>
          <a:effectLst/>
        </p:spPr>
      </p:cxnSp>
      <p:sp>
        <p:nvSpPr>
          <p:cNvPr id="13" name="Freeform 12"/>
          <p:cNvSpPr/>
          <p:nvPr/>
        </p:nvSpPr>
        <p:spPr>
          <a:xfrm>
            <a:off x="4183380" y="304800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14" name="Rounded Rectangle 13"/>
          <p:cNvSpPr/>
          <p:nvPr/>
        </p:nvSpPr>
        <p:spPr>
          <a:xfrm>
            <a:off x="4328160" y="1958339"/>
            <a:ext cx="3535679" cy="2240280"/>
          </a:xfrm>
          <a:prstGeom prst="roundRect">
            <a:avLst>
              <a:gd name="adj" fmla="val 4421"/>
            </a:avLst>
          </a:prstGeom>
          <a:solidFill>
            <a:srgbClr val="FFFFFF"/>
          </a:solidFill>
          <a:ln w="7620">
            <a:solidFill>
              <a:srgbClr val="007C78"/>
            </a:solidFill>
          </a:ln>
          <a:effectLst/>
        </p:spPr>
        <p:txBody>
          <a:bodyPr rtlCol="0" anchor="ctr"/>
          <a:lstStyle/>
          <a:p>
            <a:pPr algn="ctr"/>
          </a:p>
        </p:txBody>
      </p:sp>
      <p:sp>
        <p:nvSpPr>
          <p:cNvPr id="15" name="TextBox 14"/>
          <p:cNvSpPr txBox="1"/>
          <p:nvPr/>
        </p:nvSpPr>
        <p:spPr>
          <a:xfrm>
            <a:off x="4495800" y="2125980"/>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007C78"/>
                </a:solidFill>
                <a:latin typeface="DejaVu Sans"/>
              </a:rPr>
              <a:t>2 · BUILD</a:t>
            </a:r>
          </a:p>
        </p:txBody>
      </p:sp>
      <p:sp>
        <p:nvSpPr>
          <p:cNvPr id="16" name="TextBox 15"/>
          <p:cNvSpPr txBox="1"/>
          <p:nvPr/>
        </p:nvSpPr>
        <p:spPr>
          <a:xfrm>
            <a:off x="4495800" y="2362200"/>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Create new artifacts</a:t>
            </a:r>
          </a:p>
        </p:txBody>
      </p:sp>
      <p:sp>
        <p:nvSpPr>
          <p:cNvPr id="17" name="TextBox 16"/>
          <p:cNvSpPr txBox="1"/>
          <p:nvPr/>
        </p:nvSpPr>
        <p:spPr>
          <a:xfrm>
            <a:off x="4495800" y="2740761"/>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Python 3.12.12, SWI 10.1.14</a:t>
            </a:r>
          </a:p>
        </p:txBody>
      </p:sp>
      <p:sp>
        <p:nvSpPr>
          <p:cNvPr id="18" name="TextBox 17"/>
          <p:cNvSpPr txBox="1"/>
          <p:nvPr/>
        </p:nvSpPr>
        <p:spPr>
          <a:xfrm>
            <a:off x="4495800" y="3004108"/>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and Janus 1.5.3; locked</a:t>
            </a:r>
          </a:p>
        </p:txBody>
      </p:sp>
      <p:sp>
        <p:nvSpPr>
          <p:cNvPr id="19" name="TextBox 18"/>
          <p:cNvSpPr txBox="1"/>
          <p:nvPr/>
        </p:nvSpPr>
        <p:spPr>
          <a:xfrm>
            <a:off x="4495800" y="3267455"/>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packages; fresh native objects</a:t>
            </a:r>
          </a:p>
        </p:txBody>
      </p:sp>
      <p:sp>
        <p:nvSpPr>
          <p:cNvPr id="20" name="TextBox 19"/>
          <p:cNvSpPr txBox="1"/>
          <p:nvPr/>
        </p:nvSpPr>
        <p:spPr>
          <a:xfrm>
            <a:off x="4495800" y="3530803"/>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and venv.</a:t>
            </a:r>
          </a:p>
        </p:txBody>
      </p:sp>
      <p:cxnSp>
        <p:nvCxnSpPr>
          <p:cNvPr id="21" name="Connector 20"/>
          <p:cNvCxnSpPr/>
          <p:nvPr/>
        </p:nvCxnSpPr>
        <p:spPr>
          <a:xfrm>
            <a:off x="7863839" y="3086100"/>
            <a:ext cx="198120" cy="0"/>
          </a:xfrm>
          <a:prstGeom prst="line">
            <a:avLst/>
          </a:prstGeom>
          <a:ln w="15240">
            <a:solidFill>
              <a:srgbClr val="007C78"/>
            </a:solidFill>
          </a:ln>
          <a:effectLst/>
        </p:spPr>
      </p:cxnSp>
      <p:sp>
        <p:nvSpPr>
          <p:cNvPr id="22" name="Freeform 21"/>
          <p:cNvSpPr/>
          <p:nvPr/>
        </p:nvSpPr>
        <p:spPr>
          <a:xfrm>
            <a:off x="7962900" y="304800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23" name="Rounded Rectangle 22"/>
          <p:cNvSpPr/>
          <p:nvPr/>
        </p:nvSpPr>
        <p:spPr>
          <a:xfrm>
            <a:off x="8107680" y="1958339"/>
            <a:ext cx="3535679" cy="2240280"/>
          </a:xfrm>
          <a:prstGeom prst="roundRect">
            <a:avLst>
              <a:gd name="adj" fmla="val 4421"/>
            </a:avLst>
          </a:prstGeom>
          <a:solidFill>
            <a:srgbClr val="FFFFFF"/>
          </a:solidFill>
          <a:ln w="7620">
            <a:solidFill>
              <a:srgbClr val="007C78"/>
            </a:solidFill>
          </a:ln>
          <a:effectLst/>
        </p:spPr>
        <p:txBody>
          <a:bodyPr rtlCol="0" anchor="ctr"/>
          <a:lstStyle/>
          <a:p>
            <a:pPr algn="ctr"/>
          </a:p>
        </p:txBody>
      </p:sp>
      <p:sp>
        <p:nvSpPr>
          <p:cNvPr id="24" name="TextBox 23"/>
          <p:cNvSpPr txBox="1"/>
          <p:nvPr/>
        </p:nvSpPr>
        <p:spPr>
          <a:xfrm>
            <a:off x="8275320" y="2125980"/>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007C78"/>
                </a:solidFill>
                <a:latin typeface="DejaVu Sans"/>
              </a:rPr>
              <a:t>3 · RUN</a:t>
            </a:r>
          </a:p>
        </p:txBody>
      </p:sp>
      <p:sp>
        <p:nvSpPr>
          <p:cNvPr id="25" name="TextBox 24"/>
          <p:cNvSpPr txBox="1"/>
          <p:nvPr/>
        </p:nvSpPr>
        <p:spPr>
          <a:xfrm>
            <a:off x="8275320" y="2362200"/>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Exercise the seam</a:t>
            </a:r>
          </a:p>
        </p:txBody>
      </p:sp>
      <p:sp>
        <p:nvSpPr>
          <p:cNvPr id="26" name="TextBox 25"/>
          <p:cNvSpPr txBox="1"/>
          <p:nvPr/>
        </p:nvSpPr>
        <p:spPr>
          <a:xfrm>
            <a:off x="8275320" y="2740761"/>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Both bridges and PeTTa</a:t>
            </a:r>
          </a:p>
        </p:txBody>
      </p:sp>
      <p:sp>
        <p:nvSpPr>
          <p:cNvPr id="27" name="TextBox 26"/>
          <p:cNvSpPr txBox="1"/>
          <p:nvPr/>
        </p:nvSpPr>
        <p:spPr>
          <a:xfrm>
            <a:off x="8275320" y="3004108"/>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evaluate; native baseline</a:t>
            </a:r>
          </a:p>
        </p:txBody>
      </p:sp>
      <p:sp>
        <p:nvSpPr>
          <p:cNvPr id="28" name="TextBox 27"/>
          <p:cNvSpPr txBox="1"/>
          <p:nvPr/>
        </p:nvSpPr>
        <p:spPr>
          <a:xfrm>
            <a:off x="8275320" y="3267455"/>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precedes the 13 actual caller</a:t>
            </a:r>
          </a:p>
        </p:txBody>
      </p:sp>
      <p:sp>
        <p:nvSpPr>
          <p:cNvPr id="29" name="TextBox 28"/>
          <p:cNvSpPr txBox="1"/>
          <p:nvPr/>
        </p:nvSpPr>
        <p:spPr>
          <a:xfrm>
            <a:off x="8275320" y="3530803"/>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cases.</a:t>
            </a:r>
          </a:p>
        </p:txBody>
      </p:sp>
      <p:sp>
        <p:nvSpPr>
          <p:cNvPr id="30" name="Rounded Rectangle 29"/>
          <p:cNvSpPr/>
          <p:nvPr/>
        </p:nvSpPr>
        <p:spPr>
          <a:xfrm>
            <a:off x="548640" y="4572000"/>
            <a:ext cx="5364480" cy="1043940"/>
          </a:xfrm>
          <a:prstGeom prst="roundRect">
            <a:avLst>
              <a:gd name="adj" fmla="val 9489"/>
            </a:avLst>
          </a:prstGeom>
          <a:solidFill>
            <a:srgbClr val="F3E7CE"/>
          </a:solidFill>
          <a:ln w="7620">
            <a:solidFill>
              <a:srgbClr val="A86A15"/>
            </a:solidFill>
          </a:ln>
          <a:effectLst/>
        </p:spPr>
        <p:txBody>
          <a:bodyPr rtlCol="0" anchor="ctr"/>
          <a:lstStyle/>
          <a:p>
            <a:pPr algn="ctr"/>
          </a:p>
        </p:txBody>
      </p:sp>
      <p:sp>
        <p:nvSpPr>
          <p:cNvPr id="31" name="TextBox 30"/>
          <p:cNvSpPr txBox="1"/>
          <p:nvPr/>
        </p:nvSpPr>
        <p:spPr>
          <a:xfrm>
            <a:off x="716280" y="4739640"/>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A86A15"/>
                </a:solidFill>
                <a:latin typeface="DejaVu Sans"/>
              </a:rPr>
              <a:t>Warm-cache assumptions are explicit</a:t>
            </a:r>
          </a:p>
        </p:txBody>
      </p:sp>
      <p:sp>
        <p:nvSpPr>
          <p:cNvPr id="32" name="TextBox 31"/>
          <p:cNvSpPr txBox="1"/>
          <p:nvPr/>
        </p:nvSpPr>
        <p:spPr>
          <a:xfrm>
            <a:off x="716280" y="5088940"/>
            <a:ext cx="50292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Python/uv and Cargo downloads reused; native pip</a:t>
            </a:r>
          </a:p>
        </p:txBody>
      </p:sp>
      <p:sp>
        <p:nvSpPr>
          <p:cNvPr id="33" name="TextBox 32"/>
          <p:cNvSpPr txBox="1"/>
          <p:nvPr/>
        </p:nvSpPr>
        <p:spPr>
          <a:xfrm>
            <a:off x="716280" y="5313273"/>
            <a:ext cx="50292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install used --no-cache.</a:t>
            </a:r>
          </a:p>
        </p:txBody>
      </p:sp>
      <p:sp>
        <p:nvSpPr>
          <p:cNvPr id="34" name="Rounded Rectangle 33"/>
          <p:cNvSpPr/>
          <p:nvPr/>
        </p:nvSpPr>
        <p:spPr>
          <a:xfrm>
            <a:off x="6096000" y="4572000"/>
            <a:ext cx="5547360" cy="1043940"/>
          </a:xfrm>
          <a:prstGeom prst="roundRect">
            <a:avLst>
              <a:gd name="adj" fmla="val 9489"/>
            </a:avLst>
          </a:prstGeom>
          <a:solidFill>
            <a:srgbClr val="E4EBF5"/>
          </a:solidFill>
          <a:ln w="7620">
            <a:solidFill>
              <a:srgbClr val="315E9C"/>
            </a:solidFill>
          </a:ln>
          <a:effectLst/>
        </p:spPr>
        <p:txBody>
          <a:bodyPr rtlCol="0" anchor="ctr"/>
          <a:lstStyle/>
          <a:p>
            <a:pPr algn="ctr"/>
          </a:p>
        </p:txBody>
      </p:sp>
      <p:sp>
        <p:nvSpPr>
          <p:cNvPr id="35" name="TextBox 34"/>
          <p:cNvSpPr txBox="1"/>
          <p:nvPr/>
        </p:nvSpPr>
        <p:spPr>
          <a:xfrm>
            <a:off x="6263640" y="4739640"/>
            <a:ext cx="521208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315E9C"/>
                </a:solidFill>
                <a:latin typeface="DejaVu Sans"/>
              </a:rPr>
              <a:t>Clean DeTTa was rebaselined</a:t>
            </a:r>
          </a:p>
        </p:txBody>
      </p:sp>
      <p:sp>
        <p:nvSpPr>
          <p:cNvPr id="36" name="TextBox 35"/>
          <p:cNvSpPr txBox="1"/>
          <p:nvPr/>
        </p:nvSpPr>
        <p:spPr>
          <a:xfrm>
            <a:off x="6263640" y="5088940"/>
            <a:ext cx="52120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Historical dirty bytes remain historical; fresh stores and all</a:t>
            </a:r>
          </a:p>
        </p:txBody>
      </p:sp>
      <p:sp>
        <p:nvSpPr>
          <p:cNvPr id="37" name="TextBox 36"/>
          <p:cNvSpPr txBox="1"/>
          <p:nvPr/>
        </p:nvSpPr>
        <p:spPr>
          <a:xfrm>
            <a:off x="6263640" y="5313273"/>
            <a:ext cx="52120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applicable tests were rerun.</a:t>
            </a:r>
          </a:p>
        </p:txBody>
      </p:sp>
      <p:cxnSp>
        <p:nvCxnSpPr>
          <p:cNvPr id="38" name="Connector 37"/>
          <p:cNvCxnSpPr/>
          <p:nvPr/>
        </p:nvCxnSpPr>
        <p:spPr>
          <a:xfrm>
            <a:off x="548640" y="6393180"/>
            <a:ext cx="11094720" cy="0"/>
          </a:xfrm>
          <a:prstGeom prst="line">
            <a:avLst/>
          </a:prstGeom>
          <a:ln w="7620">
            <a:solidFill>
              <a:srgbClr val="C9D2D4"/>
            </a:solidFill>
          </a:ln>
          <a:effectLst/>
        </p:spPr>
      </p:cxnSp>
      <p:sp>
        <p:nvSpPr>
          <p:cNvPr id="39" name="TextBox 38"/>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M1.2 / build_hive.py · native-build.json · verification.json</a:t>
            </a:r>
          </a:p>
        </p:txBody>
      </p:sp>
      <p:sp>
        <p:nvSpPr>
          <p:cNvPr id="40" name="TextBox 39"/>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23 / 33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04 / GATE-BY-GATE OUTCOME</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Nine required gates passed; chain remains unrun</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 fixture pass never substitutes for a real-provider or native-runtime pass.</a:t>
            </a:r>
          </a:p>
        </p:txBody>
      </p:sp>
      <p:sp>
        <p:nvSpPr>
          <p:cNvPr id="5" name="Rounded Rectangle 4"/>
          <p:cNvSpPr/>
          <p:nvPr/>
        </p:nvSpPr>
        <p:spPr>
          <a:xfrm>
            <a:off x="548640" y="1882139"/>
            <a:ext cx="5425440" cy="693420"/>
          </a:xfrm>
          <a:prstGeom prst="roundRect">
            <a:avLst>
              <a:gd name="adj" fmla="val 10989"/>
            </a:avLst>
          </a:prstGeom>
          <a:solidFill>
            <a:srgbClr val="FFFFFF"/>
          </a:solidFill>
          <a:ln>
            <a:noFill/>
          </a:ln>
          <a:effectLst/>
        </p:spPr>
        <p:txBody>
          <a:bodyPr rtlCol="0" anchor="ctr"/>
          <a:lstStyle/>
          <a:p>
            <a:pPr algn="ctr"/>
          </a:p>
        </p:txBody>
      </p:sp>
      <p:sp>
        <p:nvSpPr>
          <p:cNvPr id="6" name="TextBox 5"/>
          <p:cNvSpPr txBox="1"/>
          <p:nvPr/>
        </p:nvSpPr>
        <p:spPr>
          <a:xfrm>
            <a:off x="701040" y="1988820"/>
            <a:ext cx="36576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BASELINE</a:t>
            </a:r>
          </a:p>
        </p:txBody>
      </p:sp>
      <p:sp>
        <p:nvSpPr>
          <p:cNvPr id="7" name="TextBox 6"/>
          <p:cNvSpPr txBox="1"/>
          <p:nvPr/>
        </p:nvSpPr>
        <p:spPr>
          <a:xfrm>
            <a:off x="4739640" y="1988820"/>
            <a:ext cx="111252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007C78"/>
                </a:solidFill>
                <a:latin typeface="DejaVu Sans"/>
              </a:rPr>
              <a:t>PASS</a:t>
            </a:r>
          </a:p>
        </p:txBody>
      </p:sp>
      <p:sp>
        <p:nvSpPr>
          <p:cNvPr id="8" name="TextBox 7"/>
          <p:cNvSpPr txBox="1"/>
          <p:nvPr/>
        </p:nvSpPr>
        <p:spPr>
          <a:xfrm>
            <a:off x="701040" y="2278380"/>
            <a:ext cx="51435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Initial applicable suites executed</a:t>
            </a:r>
          </a:p>
        </p:txBody>
      </p:sp>
      <p:sp>
        <p:nvSpPr>
          <p:cNvPr id="9" name="Rounded Rectangle 8"/>
          <p:cNvSpPr/>
          <p:nvPr/>
        </p:nvSpPr>
        <p:spPr>
          <a:xfrm>
            <a:off x="6217920" y="1882139"/>
            <a:ext cx="5425440" cy="693420"/>
          </a:xfrm>
          <a:prstGeom prst="roundRect">
            <a:avLst>
              <a:gd name="adj" fmla="val 10989"/>
            </a:avLst>
          </a:prstGeom>
          <a:solidFill>
            <a:srgbClr val="FFFFFF"/>
          </a:solidFill>
          <a:ln>
            <a:noFill/>
          </a:ln>
          <a:effectLst/>
        </p:spPr>
        <p:txBody>
          <a:bodyPr rtlCol="0" anchor="ctr"/>
          <a:lstStyle/>
          <a:p>
            <a:pPr algn="ctr"/>
          </a:p>
        </p:txBody>
      </p:sp>
      <p:sp>
        <p:nvSpPr>
          <p:cNvPr id="10" name="TextBox 9"/>
          <p:cNvSpPr txBox="1"/>
          <p:nvPr/>
        </p:nvSpPr>
        <p:spPr>
          <a:xfrm>
            <a:off x="6370320" y="1988820"/>
            <a:ext cx="36576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HIVE_SOURCE</a:t>
            </a:r>
          </a:p>
        </p:txBody>
      </p:sp>
      <p:sp>
        <p:nvSpPr>
          <p:cNvPr id="11" name="TextBox 10"/>
          <p:cNvSpPr txBox="1"/>
          <p:nvPr/>
        </p:nvSpPr>
        <p:spPr>
          <a:xfrm>
            <a:off x="10408920" y="1988820"/>
            <a:ext cx="111252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007C78"/>
                </a:solidFill>
                <a:latin typeface="DejaVu Sans"/>
              </a:rPr>
              <a:t>PASS</a:t>
            </a:r>
          </a:p>
        </p:txBody>
      </p:sp>
      <p:sp>
        <p:nvSpPr>
          <p:cNvPr id="12" name="TextBox 11"/>
          <p:cNvSpPr txBox="1"/>
          <p:nvPr/>
        </p:nvSpPr>
        <p:spPr>
          <a:xfrm>
            <a:off x="6370320" y="2278380"/>
            <a:ext cx="51435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Intended source and native entrypoint verified</a:t>
            </a:r>
          </a:p>
        </p:txBody>
      </p:sp>
      <p:sp>
        <p:nvSpPr>
          <p:cNvPr id="13" name="Rounded Rectangle 12"/>
          <p:cNvSpPr/>
          <p:nvPr/>
        </p:nvSpPr>
        <p:spPr>
          <a:xfrm>
            <a:off x="548640" y="2682240"/>
            <a:ext cx="5425440" cy="693420"/>
          </a:xfrm>
          <a:prstGeom prst="roundRect">
            <a:avLst>
              <a:gd name="adj" fmla="val 10989"/>
            </a:avLst>
          </a:prstGeom>
          <a:solidFill>
            <a:srgbClr val="FFFFFF"/>
          </a:solidFill>
          <a:ln>
            <a:noFill/>
          </a:ln>
          <a:effectLst/>
        </p:spPr>
        <p:txBody>
          <a:bodyPr rtlCol="0" anchor="ctr"/>
          <a:lstStyle/>
          <a:p>
            <a:pPr algn="ctr"/>
          </a:p>
        </p:txBody>
      </p:sp>
      <p:sp>
        <p:nvSpPr>
          <p:cNvPr id="14" name="TextBox 13"/>
          <p:cNvSpPr txBox="1"/>
          <p:nvPr/>
        </p:nvSpPr>
        <p:spPr>
          <a:xfrm>
            <a:off x="701040" y="2788920"/>
            <a:ext cx="36576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FIXTURE_REPRO</a:t>
            </a:r>
          </a:p>
        </p:txBody>
      </p:sp>
      <p:sp>
        <p:nvSpPr>
          <p:cNvPr id="15" name="TextBox 14"/>
          <p:cNvSpPr txBox="1"/>
          <p:nvPr/>
        </p:nvSpPr>
        <p:spPr>
          <a:xfrm>
            <a:off x="4739640" y="2788920"/>
            <a:ext cx="111252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007C78"/>
                </a:solidFill>
                <a:latin typeface="DejaVu Sans"/>
              </a:rPr>
              <a:t>PASS</a:t>
            </a:r>
          </a:p>
        </p:txBody>
      </p:sp>
      <p:sp>
        <p:nvSpPr>
          <p:cNvPr id="16" name="TextBox 15"/>
          <p:cNvSpPr txBox="1"/>
          <p:nvPr/>
        </p:nvSpPr>
        <p:spPr>
          <a:xfrm>
            <a:off x="701040" y="3078479"/>
            <a:ext cx="51435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Fresh fixture-only run without real sources</a:t>
            </a:r>
          </a:p>
        </p:txBody>
      </p:sp>
      <p:sp>
        <p:nvSpPr>
          <p:cNvPr id="17" name="Rounded Rectangle 16"/>
          <p:cNvSpPr/>
          <p:nvPr/>
        </p:nvSpPr>
        <p:spPr>
          <a:xfrm>
            <a:off x="6217920" y="2682240"/>
            <a:ext cx="5425440" cy="693420"/>
          </a:xfrm>
          <a:prstGeom prst="roundRect">
            <a:avLst>
              <a:gd name="adj" fmla="val 10989"/>
            </a:avLst>
          </a:prstGeom>
          <a:solidFill>
            <a:srgbClr val="FFFFFF"/>
          </a:solidFill>
          <a:ln>
            <a:noFill/>
          </a:ln>
          <a:effectLst/>
        </p:spPr>
        <p:txBody>
          <a:bodyPr rtlCol="0" anchor="ctr"/>
          <a:lstStyle/>
          <a:p>
            <a:pPr algn="ctr"/>
          </a:p>
        </p:txBody>
      </p:sp>
      <p:sp>
        <p:nvSpPr>
          <p:cNvPr id="18" name="TextBox 17"/>
          <p:cNvSpPr txBox="1"/>
          <p:nvPr/>
        </p:nvSpPr>
        <p:spPr>
          <a:xfrm>
            <a:off x="6370320" y="2788920"/>
            <a:ext cx="36576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DETTA_REPRO</a:t>
            </a:r>
          </a:p>
        </p:txBody>
      </p:sp>
      <p:sp>
        <p:nvSpPr>
          <p:cNvPr id="19" name="TextBox 18"/>
          <p:cNvSpPr txBox="1"/>
          <p:nvPr/>
        </p:nvSpPr>
        <p:spPr>
          <a:xfrm>
            <a:off x="10408920" y="2788920"/>
            <a:ext cx="111252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007C78"/>
                </a:solidFill>
                <a:latin typeface="DejaVu Sans"/>
              </a:rPr>
              <a:t>PASS</a:t>
            </a:r>
          </a:p>
        </p:txBody>
      </p:sp>
      <p:sp>
        <p:nvSpPr>
          <p:cNvPr id="20" name="TextBox 19"/>
          <p:cNvSpPr txBox="1"/>
          <p:nvPr/>
        </p:nvSpPr>
        <p:spPr>
          <a:xfrm>
            <a:off x="6370320" y="3078479"/>
            <a:ext cx="51435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Fresh clean provider build and conformance</a:t>
            </a:r>
          </a:p>
        </p:txBody>
      </p:sp>
      <p:sp>
        <p:nvSpPr>
          <p:cNvPr id="21" name="Rounded Rectangle 20"/>
          <p:cNvSpPr/>
          <p:nvPr/>
        </p:nvSpPr>
        <p:spPr>
          <a:xfrm>
            <a:off x="548640" y="3482340"/>
            <a:ext cx="5425440" cy="693420"/>
          </a:xfrm>
          <a:prstGeom prst="roundRect">
            <a:avLst>
              <a:gd name="adj" fmla="val 10989"/>
            </a:avLst>
          </a:prstGeom>
          <a:solidFill>
            <a:srgbClr val="FFFFFF"/>
          </a:solidFill>
          <a:ln>
            <a:noFill/>
          </a:ln>
          <a:effectLst/>
        </p:spPr>
        <p:txBody>
          <a:bodyPr rtlCol="0" anchor="ctr"/>
          <a:lstStyle/>
          <a:p>
            <a:pPr algn="ctr"/>
          </a:p>
        </p:txBody>
      </p:sp>
      <p:sp>
        <p:nvSpPr>
          <p:cNvPr id="22" name="TextBox 21"/>
          <p:cNvSpPr txBox="1"/>
          <p:nvPr/>
        </p:nvSpPr>
        <p:spPr>
          <a:xfrm>
            <a:off x="701040" y="3589019"/>
            <a:ext cx="36576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HIVE_ENTRYPOINT</a:t>
            </a:r>
          </a:p>
        </p:txBody>
      </p:sp>
      <p:sp>
        <p:nvSpPr>
          <p:cNvPr id="23" name="TextBox 22"/>
          <p:cNvSpPr txBox="1"/>
          <p:nvPr/>
        </p:nvSpPr>
        <p:spPr>
          <a:xfrm>
            <a:off x="4739640" y="3589019"/>
            <a:ext cx="111252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007C78"/>
                </a:solidFill>
                <a:latin typeface="DejaVu Sans"/>
              </a:rPr>
              <a:t>PASS</a:t>
            </a:r>
          </a:p>
        </p:txBody>
      </p:sp>
      <p:sp>
        <p:nvSpPr>
          <p:cNvPr id="24" name="TextBox 23"/>
          <p:cNvSpPr txBox="1"/>
          <p:nvPr/>
        </p:nvSpPr>
        <p:spPr>
          <a:xfrm>
            <a:off x="701040" y="3878579"/>
            <a:ext cx="51435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Real authentication and Programs dispatch</a:t>
            </a:r>
          </a:p>
        </p:txBody>
      </p:sp>
      <p:sp>
        <p:nvSpPr>
          <p:cNvPr id="25" name="Rounded Rectangle 24"/>
          <p:cNvSpPr/>
          <p:nvPr/>
        </p:nvSpPr>
        <p:spPr>
          <a:xfrm>
            <a:off x="6217920" y="3482340"/>
            <a:ext cx="5425440" cy="693420"/>
          </a:xfrm>
          <a:prstGeom prst="roundRect">
            <a:avLst>
              <a:gd name="adj" fmla="val 10989"/>
            </a:avLst>
          </a:prstGeom>
          <a:solidFill>
            <a:srgbClr val="FFFFFF"/>
          </a:solidFill>
          <a:ln>
            <a:noFill/>
          </a:ln>
          <a:effectLst/>
        </p:spPr>
        <p:txBody>
          <a:bodyPr rtlCol="0" anchor="ctr"/>
          <a:lstStyle/>
          <a:p>
            <a:pPr algn="ctr"/>
          </a:p>
        </p:txBody>
      </p:sp>
      <p:sp>
        <p:nvSpPr>
          <p:cNvPr id="26" name="TextBox 25"/>
          <p:cNvSpPr txBox="1"/>
          <p:nvPr/>
        </p:nvSpPr>
        <p:spPr>
          <a:xfrm>
            <a:off x="6370320" y="3589019"/>
            <a:ext cx="36576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HIVE_DETTA</a:t>
            </a:r>
          </a:p>
        </p:txBody>
      </p:sp>
      <p:sp>
        <p:nvSpPr>
          <p:cNvPr id="27" name="TextBox 26"/>
          <p:cNvSpPr txBox="1"/>
          <p:nvPr/>
        </p:nvSpPr>
        <p:spPr>
          <a:xfrm>
            <a:off x="10408920" y="3589019"/>
            <a:ext cx="111252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007C78"/>
                </a:solidFill>
                <a:latin typeface="DejaVu Sans"/>
              </a:rPr>
              <a:t>PASS</a:t>
            </a:r>
          </a:p>
        </p:txBody>
      </p:sp>
      <p:sp>
        <p:nvSpPr>
          <p:cNvPr id="28" name="TextBox 27"/>
          <p:cNvSpPr txBox="1"/>
          <p:nvPr/>
        </p:nvSpPr>
        <p:spPr>
          <a:xfrm>
            <a:off x="6370320" y="3878579"/>
            <a:ext cx="51435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Same workflow uses real DeTTa receipts</a:t>
            </a:r>
          </a:p>
        </p:txBody>
      </p:sp>
      <p:sp>
        <p:nvSpPr>
          <p:cNvPr id="29" name="Rounded Rectangle 28"/>
          <p:cNvSpPr/>
          <p:nvPr/>
        </p:nvSpPr>
        <p:spPr>
          <a:xfrm>
            <a:off x="548640" y="4282440"/>
            <a:ext cx="5425440" cy="693420"/>
          </a:xfrm>
          <a:prstGeom prst="roundRect">
            <a:avLst>
              <a:gd name="adj" fmla="val 10989"/>
            </a:avLst>
          </a:prstGeom>
          <a:solidFill>
            <a:srgbClr val="FFFFFF"/>
          </a:solidFill>
          <a:ln>
            <a:noFill/>
          </a:ln>
          <a:effectLst/>
        </p:spPr>
        <p:txBody>
          <a:bodyPr rtlCol="0" anchor="ctr"/>
          <a:lstStyle/>
          <a:p>
            <a:pPr algn="ctr"/>
          </a:p>
        </p:txBody>
      </p:sp>
      <p:sp>
        <p:nvSpPr>
          <p:cNvPr id="30" name="TextBox 29"/>
          <p:cNvSpPr txBox="1"/>
          <p:nvPr/>
        </p:nvSpPr>
        <p:spPr>
          <a:xfrm>
            <a:off x="701040" y="4389120"/>
            <a:ext cx="36576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HIVE_RECOVERY</a:t>
            </a:r>
          </a:p>
        </p:txBody>
      </p:sp>
      <p:sp>
        <p:nvSpPr>
          <p:cNvPr id="31" name="TextBox 30"/>
          <p:cNvSpPr txBox="1"/>
          <p:nvPr/>
        </p:nvSpPr>
        <p:spPr>
          <a:xfrm>
            <a:off x="4739640" y="4389120"/>
            <a:ext cx="111252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007C78"/>
                </a:solidFill>
                <a:latin typeface="DejaVu Sans"/>
              </a:rPr>
              <a:t>PASS</a:t>
            </a:r>
          </a:p>
        </p:txBody>
      </p:sp>
      <p:sp>
        <p:nvSpPr>
          <p:cNvPr id="32" name="TextBox 31"/>
          <p:cNvSpPr txBox="1"/>
          <p:nvPr/>
        </p:nvSpPr>
        <p:spPr>
          <a:xfrm>
            <a:off x="701040" y="4678680"/>
            <a:ext cx="51435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Restart, replay, completion and refusals</a:t>
            </a:r>
          </a:p>
        </p:txBody>
      </p:sp>
      <p:sp>
        <p:nvSpPr>
          <p:cNvPr id="33" name="Rounded Rectangle 32"/>
          <p:cNvSpPr/>
          <p:nvPr/>
        </p:nvSpPr>
        <p:spPr>
          <a:xfrm>
            <a:off x="6217920" y="4282440"/>
            <a:ext cx="5425440" cy="693420"/>
          </a:xfrm>
          <a:prstGeom prst="roundRect">
            <a:avLst>
              <a:gd name="adj" fmla="val 10989"/>
            </a:avLst>
          </a:prstGeom>
          <a:solidFill>
            <a:srgbClr val="FFFFFF"/>
          </a:solidFill>
          <a:ln>
            <a:noFill/>
          </a:ln>
          <a:effectLst/>
        </p:spPr>
        <p:txBody>
          <a:bodyPr rtlCol="0" anchor="ctr"/>
          <a:lstStyle/>
          <a:p>
            <a:pPr algn="ctr"/>
          </a:p>
        </p:txBody>
      </p:sp>
      <p:sp>
        <p:nvSpPr>
          <p:cNvPr id="34" name="TextBox 33"/>
          <p:cNvSpPr txBox="1"/>
          <p:nvPr/>
        </p:nvSpPr>
        <p:spPr>
          <a:xfrm>
            <a:off x="6370320" y="4389120"/>
            <a:ext cx="36576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HIVE_REPRO</a:t>
            </a:r>
          </a:p>
        </p:txBody>
      </p:sp>
      <p:sp>
        <p:nvSpPr>
          <p:cNvPr id="35" name="TextBox 34"/>
          <p:cNvSpPr txBox="1"/>
          <p:nvPr/>
        </p:nvSpPr>
        <p:spPr>
          <a:xfrm>
            <a:off x="10408920" y="4389120"/>
            <a:ext cx="111252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007C78"/>
                </a:solidFill>
                <a:latin typeface="DejaVu Sans"/>
              </a:rPr>
              <a:t>PASS</a:t>
            </a:r>
          </a:p>
        </p:txBody>
      </p:sp>
      <p:sp>
        <p:nvSpPr>
          <p:cNvPr id="36" name="TextBox 35"/>
          <p:cNvSpPr txBox="1"/>
          <p:nvPr/>
        </p:nvSpPr>
        <p:spPr>
          <a:xfrm>
            <a:off x="6370320" y="4678680"/>
            <a:ext cx="51435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Declared fresh source/build recipe exercised</a:t>
            </a:r>
          </a:p>
        </p:txBody>
      </p:sp>
      <p:sp>
        <p:nvSpPr>
          <p:cNvPr id="37" name="Rounded Rectangle 36"/>
          <p:cNvSpPr/>
          <p:nvPr/>
        </p:nvSpPr>
        <p:spPr>
          <a:xfrm>
            <a:off x="548640" y="5082540"/>
            <a:ext cx="5425440" cy="693420"/>
          </a:xfrm>
          <a:prstGeom prst="roundRect">
            <a:avLst>
              <a:gd name="adj" fmla="val 10989"/>
            </a:avLst>
          </a:prstGeom>
          <a:solidFill>
            <a:srgbClr val="FFFFFF"/>
          </a:solidFill>
          <a:ln>
            <a:noFill/>
          </a:ln>
          <a:effectLst/>
        </p:spPr>
        <p:txBody>
          <a:bodyPr rtlCol="0" anchor="ctr"/>
          <a:lstStyle/>
          <a:p>
            <a:pPr algn="ctr"/>
          </a:p>
        </p:txBody>
      </p:sp>
      <p:sp>
        <p:nvSpPr>
          <p:cNvPr id="38" name="TextBox 37"/>
          <p:cNvSpPr txBox="1"/>
          <p:nvPr/>
        </p:nvSpPr>
        <p:spPr>
          <a:xfrm>
            <a:off x="701040" y="5189220"/>
            <a:ext cx="36576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SCOPE</a:t>
            </a:r>
          </a:p>
        </p:txBody>
      </p:sp>
      <p:sp>
        <p:nvSpPr>
          <p:cNvPr id="39" name="TextBox 38"/>
          <p:cNvSpPr txBox="1"/>
          <p:nvPr/>
        </p:nvSpPr>
        <p:spPr>
          <a:xfrm>
            <a:off x="4739640" y="5189220"/>
            <a:ext cx="111252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007C78"/>
                </a:solidFill>
                <a:latin typeface="DejaVu Sans"/>
              </a:rPr>
              <a:t>PASS</a:t>
            </a:r>
          </a:p>
        </p:txBody>
      </p:sp>
      <p:sp>
        <p:nvSpPr>
          <p:cNvPr id="40" name="TextBox 39"/>
          <p:cNvSpPr txBox="1"/>
          <p:nvPr/>
        </p:nvSpPr>
        <p:spPr>
          <a:xfrm>
            <a:off x="701040" y="5478780"/>
            <a:ext cx="51435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No M2, ECAN, inference control or migration</a:t>
            </a:r>
          </a:p>
        </p:txBody>
      </p:sp>
      <p:sp>
        <p:nvSpPr>
          <p:cNvPr id="41" name="Rounded Rectangle 40"/>
          <p:cNvSpPr/>
          <p:nvPr/>
        </p:nvSpPr>
        <p:spPr>
          <a:xfrm>
            <a:off x="6217920" y="5082540"/>
            <a:ext cx="5425440" cy="693420"/>
          </a:xfrm>
          <a:prstGeom prst="roundRect">
            <a:avLst>
              <a:gd name="adj" fmla="val 10989"/>
            </a:avLst>
          </a:prstGeom>
          <a:solidFill>
            <a:srgbClr val="F3E7CE"/>
          </a:solidFill>
          <a:ln>
            <a:noFill/>
          </a:ln>
          <a:effectLst/>
        </p:spPr>
        <p:txBody>
          <a:bodyPr rtlCol="0" anchor="ctr"/>
          <a:lstStyle/>
          <a:p>
            <a:pPr algn="ctr"/>
          </a:p>
        </p:txBody>
      </p:sp>
      <p:sp>
        <p:nvSpPr>
          <p:cNvPr id="42" name="TextBox 41"/>
          <p:cNvSpPr txBox="1"/>
          <p:nvPr/>
        </p:nvSpPr>
        <p:spPr>
          <a:xfrm>
            <a:off x="6370320" y="5189220"/>
            <a:ext cx="36576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CHAIN</a:t>
            </a:r>
          </a:p>
        </p:txBody>
      </p:sp>
      <p:sp>
        <p:nvSpPr>
          <p:cNvPr id="43" name="TextBox 42"/>
          <p:cNvSpPr txBox="1"/>
          <p:nvPr/>
        </p:nvSpPr>
        <p:spPr>
          <a:xfrm>
            <a:off x="10408920" y="5189220"/>
            <a:ext cx="111252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A86A15"/>
                </a:solidFill>
                <a:latin typeface="DejaVu Sans"/>
              </a:rPr>
              <a:t>NOT_RUN</a:t>
            </a:r>
          </a:p>
        </p:txBody>
      </p:sp>
      <p:sp>
        <p:nvSpPr>
          <p:cNvPr id="44" name="TextBox 43"/>
          <p:cNvSpPr txBox="1"/>
          <p:nvPr/>
        </p:nvSpPr>
        <p:spPr>
          <a:xfrm>
            <a:off x="6370320" y="5478780"/>
            <a:ext cx="51435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No same-artifact M1.2 chain submission</a:t>
            </a:r>
          </a:p>
        </p:txBody>
      </p:sp>
      <p:sp>
        <p:nvSpPr>
          <p:cNvPr id="45" name="Rounded Rectangle 44"/>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46" name="TextBox 45"/>
          <p:cNvSpPr txBox="1"/>
          <p:nvPr/>
        </p:nvSpPr>
        <p:spPr>
          <a:xfrm>
            <a:off x="716280" y="5905500"/>
            <a:ext cx="107442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1">
                <a:solidFill>
                  <a:srgbClr val="102B3F"/>
                </a:solidFill>
                <a:latin typeface="DejaVu Sans"/>
              </a:rPr>
              <a:t>Historical chain reproduction is BLOCKED by missing exact F1R3 changes; empty-cache and full-Hive runs are NOT_RUN.</a:t>
            </a:r>
          </a:p>
        </p:txBody>
      </p:sp>
      <p:cxnSp>
        <p:nvCxnSpPr>
          <p:cNvPr id="47" name="Connector 46"/>
          <p:cNvCxnSpPr/>
          <p:nvPr/>
        </p:nvCxnSpPr>
        <p:spPr>
          <a:xfrm>
            <a:off x="548640" y="6393180"/>
            <a:ext cx="11094720" cy="0"/>
          </a:xfrm>
          <a:prstGeom prst="line">
            <a:avLst/>
          </a:prstGeom>
          <a:ln w="7620">
            <a:solidFill>
              <a:srgbClr val="C9D2D4"/>
            </a:solidFill>
          </a:ln>
          <a:effectLst/>
        </p:spPr>
      </p:cxnSp>
      <p:sp>
        <p:nvSpPr>
          <p:cNvPr id="48" name="TextBox 47"/>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M1.2 / evidence/m1_2/manifest.json</a:t>
            </a:r>
          </a:p>
        </p:txBody>
      </p:sp>
      <p:sp>
        <p:nvSpPr>
          <p:cNvPr id="49" name="TextBox 48"/>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24 / 33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04 / SCOPE AND STOPPING POINT</a:t>
            </a:r>
          </a:p>
        </p:txBody>
      </p:sp>
      <p:sp>
        <p:nvSpPr>
          <p:cNvPr id="3" name="TextBox 2"/>
          <p:cNvSpPr txBox="1"/>
          <p:nvPr/>
        </p:nvSpPr>
        <p:spPr>
          <a:xfrm>
            <a:off x="533400" y="723900"/>
            <a:ext cx="11125200" cy="438912"/>
          </a:xfrm>
          <a:prstGeom prst="rect">
            <a:avLst/>
          </a:prstGeom>
          <a:noFill/>
        </p:spPr>
        <p:txBody>
          <a:bodyPr wrap="none" lIns="0" rIns="0" tIns="0" bIns="0" anchor="t" anchorCtr="0">
            <a:noAutofit/>
          </a:bodyPr>
          <a:lstStyle/>
          <a:p>
            <a:pPr algn="l">
              <a:lnSpc>
                <a:spcPct val="100000"/>
              </a:lnSpc>
              <a:spcBef>
                <a:spcPts val="0"/>
              </a:spcBef>
              <a:spcAft>
                <a:spcPts val="0"/>
              </a:spcAft>
            </a:pPr>
            <a:r>
              <a:rPr sz="2700" b="1">
                <a:solidFill>
                  <a:srgbClr val="102B3F"/>
                </a:solidFill>
                <a:latin typeface="DejaVu Sans"/>
              </a:rPr>
              <a:t>The real caller is proven; the cognitive increment is next</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M1.2 establishes an integration seam. It does not select a numerical model or implement cognition.</a:t>
            </a:r>
          </a:p>
        </p:txBody>
      </p:sp>
      <p:sp>
        <p:nvSpPr>
          <p:cNvPr id="5" name="Rounded Rectangle 4"/>
          <p:cNvSpPr/>
          <p:nvPr/>
        </p:nvSpPr>
        <p:spPr>
          <a:xfrm>
            <a:off x="548640" y="1927859"/>
            <a:ext cx="2636520" cy="2202180"/>
          </a:xfrm>
          <a:prstGeom prst="roundRect">
            <a:avLst>
              <a:gd name="adj" fmla="val 4498"/>
            </a:avLst>
          </a:prstGeom>
          <a:solidFill>
            <a:srgbClr val="DCEFE8"/>
          </a:solidFill>
          <a:ln w="7620">
            <a:solidFill>
              <a:srgbClr val="007C78"/>
            </a:solidFill>
          </a:ln>
          <a:effectLst/>
        </p:spPr>
        <p:txBody>
          <a:bodyPr rtlCol="0" anchor="ctr"/>
          <a:lstStyle/>
          <a:p>
            <a:pPr algn="ctr"/>
          </a:p>
        </p:txBody>
      </p:sp>
      <p:sp>
        <p:nvSpPr>
          <p:cNvPr id="6" name="TextBox 5"/>
          <p:cNvSpPr txBox="1"/>
          <p:nvPr/>
        </p:nvSpPr>
        <p:spPr>
          <a:xfrm>
            <a:off x="716280" y="2095500"/>
            <a:ext cx="230124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007C78"/>
                </a:solidFill>
                <a:latin typeface="DejaVu Sans"/>
              </a:rPr>
              <a:t>M0 / M1</a:t>
            </a:r>
          </a:p>
        </p:txBody>
      </p:sp>
      <p:sp>
        <p:nvSpPr>
          <p:cNvPr id="7" name="TextBox 6"/>
          <p:cNvSpPr txBox="1"/>
          <p:nvPr/>
        </p:nvSpPr>
        <p:spPr>
          <a:xfrm>
            <a:off x="716280" y="2331720"/>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007C78"/>
                </a:solidFill>
                <a:latin typeface="DejaVu Sans"/>
              </a:rPr>
              <a:t>Contract slice</a:t>
            </a:r>
          </a:p>
        </p:txBody>
      </p:sp>
      <p:sp>
        <p:nvSpPr>
          <p:cNvPr id="8" name="TextBox 7"/>
          <p:cNvSpPr txBox="1"/>
          <p:nvPr/>
        </p:nvSpPr>
        <p:spPr>
          <a:xfrm>
            <a:off x="716280" y="2690774"/>
            <a:ext cx="230124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Module map, opaque</a:t>
            </a:r>
          </a:p>
        </p:txBody>
      </p:sp>
      <p:sp>
        <p:nvSpPr>
          <p:cNvPr id="9" name="TextBox 8"/>
          <p:cNvSpPr txBox="1"/>
          <p:nvPr/>
        </p:nvSpPr>
        <p:spPr>
          <a:xfrm>
            <a:off x="716280" y="2944367"/>
            <a:ext cx="230124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storage, messaging</a:t>
            </a:r>
          </a:p>
        </p:txBody>
      </p:sp>
      <p:sp>
        <p:nvSpPr>
          <p:cNvPr id="10" name="TextBox 9"/>
          <p:cNvSpPr txBox="1"/>
          <p:nvPr/>
        </p:nvSpPr>
        <p:spPr>
          <a:xfrm>
            <a:off x="716280" y="3197961"/>
            <a:ext cx="230124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and deterministic</a:t>
            </a:r>
          </a:p>
        </p:txBody>
      </p:sp>
      <p:sp>
        <p:nvSpPr>
          <p:cNvPr id="11" name="TextBox 10"/>
          <p:cNvSpPr txBox="1"/>
          <p:nvPr/>
        </p:nvSpPr>
        <p:spPr>
          <a:xfrm>
            <a:off x="716280" y="3451555"/>
            <a:ext cx="230124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delegation.</a:t>
            </a:r>
          </a:p>
        </p:txBody>
      </p:sp>
      <p:sp>
        <p:nvSpPr>
          <p:cNvPr id="12" name="Rounded Rectangle 11"/>
          <p:cNvSpPr/>
          <p:nvPr/>
        </p:nvSpPr>
        <p:spPr>
          <a:xfrm>
            <a:off x="3368040" y="1927859"/>
            <a:ext cx="2636520" cy="2202180"/>
          </a:xfrm>
          <a:prstGeom prst="roundRect">
            <a:avLst>
              <a:gd name="adj" fmla="val 4498"/>
            </a:avLst>
          </a:prstGeom>
          <a:solidFill>
            <a:srgbClr val="DCEFE8"/>
          </a:solidFill>
          <a:ln w="7620">
            <a:solidFill>
              <a:srgbClr val="007C78"/>
            </a:solidFill>
          </a:ln>
          <a:effectLst/>
        </p:spPr>
        <p:txBody>
          <a:bodyPr rtlCol="0" anchor="ctr"/>
          <a:lstStyle/>
          <a:p>
            <a:pPr algn="ctr"/>
          </a:p>
        </p:txBody>
      </p:sp>
      <p:sp>
        <p:nvSpPr>
          <p:cNvPr id="13" name="TextBox 12"/>
          <p:cNvSpPr txBox="1"/>
          <p:nvPr/>
        </p:nvSpPr>
        <p:spPr>
          <a:xfrm>
            <a:off x="3535679" y="2095500"/>
            <a:ext cx="230124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007C78"/>
                </a:solidFill>
                <a:latin typeface="DejaVu Sans"/>
              </a:rPr>
              <a:t>M1.1</a:t>
            </a:r>
          </a:p>
        </p:txBody>
      </p:sp>
      <p:sp>
        <p:nvSpPr>
          <p:cNvPr id="14" name="TextBox 13"/>
          <p:cNvSpPr txBox="1"/>
          <p:nvPr/>
        </p:nvSpPr>
        <p:spPr>
          <a:xfrm>
            <a:off x="3535679" y="2331720"/>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007C78"/>
                </a:solidFill>
                <a:latin typeface="DejaVu Sans"/>
              </a:rPr>
              <a:t>Owner boundaries</a:t>
            </a:r>
          </a:p>
        </p:txBody>
      </p:sp>
      <p:sp>
        <p:nvSpPr>
          <p:cNvPr id="15" name="TextBox 14"/>
          <p:cNvSpPr txBox="1"/>
          <p:nvPr/>
        </p:nvSpPr>
        <p:spPr>
          <a:xfrm>
            <a:off x="3535679" y="2690774"/>
            <a:ext cx="230124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Independent</a:t>
            </a:r>
          </a:p>
        </p:txBody>
      </p:sp>
      <p:sp>
        <p:nvSpPr>
          <p:cNvPr id="16" name="TextBox 15"/>
          <p:cNvSpPr txBox="1"/>
          <p:nvPr/>
        </p:nvSpPr>
        <p:spPr>
          <a:xfrm>
            <a:off x="3535679" y="2944367"/>
            <a:ext cx="230124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AtomStorage</a:t>
            </a:r>
          </a:p>
        </p:txBody>
      </p:sp>
      <p:sp>
        <p:nvSpPr>
          <p:cNvPr id="17" name="TextBox 16"/>
          <p:cNvSpPr txBox="1"/>
          <p:nvPr/>
        </p:nvSpPr>
        <p:spPr>
          <a:xfrm>
            <a:off x="3535679" y="3197961"/>
            <a:ext cx="230124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replacement and</a:t>
            </a:r>
          </a:p>
        </p:txBody>
      </p:sp>
      <p:sp>
        <p:nvSpPr>
          <p:cNvPr id="18" name="TextBox 17"/>
          <p:cNvSpPr txBox="1"/>
          <p:nvPr/>
        </p:nvSpPr>
        <p:spPr>
          <a:xfrm>
            <a:off x="3535679" y="3451555"/>
            <a:ext cx="230124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separate durable</a:t>
            </a:r>
          </a:p>
        </p:txBody>
      </p:sp>
      <p:sp>
        <p:nvSpPr>
          <p:cNvPr id="19" name="TextBox 18"/>
          <p:cNvSpPr txBox="1"/>
          <p:nvPr/>
        </p:nvSpPr>
        <p:spPr>
          <a:xfrm>
            <a:off x="3535679" y="3705148"/>
            <a:ext cx="230124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commits.</a:t>
            </a:r>
          </a:p>
        </p:txBody>
      </p:sp>
      <p:sp>
        <p:nvSpPr>
          <p:cNvPr id="20" name="Rounded Rectangle 19"/>
          <p:cNvSpPr/>
          <p:nvPr/>
        </p:nvSpPr>
        <p:spPr>
          <a:xfrm>
            <a:off x="6187440" y="1927859"/>
            <a:ext cx="2636520" cy="2202180"/>
          </a:xfrm>
          <a:prstGeom prst="roundRect">
            <a:avLst>
              <a:gd name="adj" fmla="val 4498"/>
            </a:avLst>
          </a:prstGeom>
          <a:solidFill>
            <a:srgbClr val="DCEFE8"/>
          </a:solidFill>
          <a:ln w="7620">
            <a:solidFill>
              <a:srgbClr val="007C78"/>
            </a:solidFill>
          </a:ln>
          <a:effectLst/>
        </p:spPr>
        <p:txBody>
          <a:bodyPr rtlCol="0" anchor="ctr"/>
          <a:lstStyle/>
          <a:p>
            <a:pPr algn="ctr"/>
          </a:p>
        </p:txBody>
      </p:sp>
      <p:sp>
        <p:nvSpPr>
          <p:cNvPr id="21" name="TextBox 20"/>
          <p:cNvSpPr txBox="1"/>
          <p:nvPr/>
        </p:nvSpPr>
        <p:spPr>
          <a:xfrm>
            <a:off x="6355080" y="2095500"/>
            <a:ext cx="230124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007C78"/>
                </a:solidFill>
                <a:latin typeface="DejaVu Sans"/>
              </a:rPr>
              <a:t>M1.2</a:t>
            </a:r>
          </a:p>
        </p:txBody>
      </p:sp>
      <p:sp>
        <p:nvSpPr>
          <p:cNvPr id="22" name="TextBox 21"/>
          <p:cNvSpPr txBox="1"/>
          <p:nvPr/>
        </p:nvSpPr>
        <p:spPr>
          <a:xfrm>
            <a:off x="6355080" y="2331720"/>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007C78"/>
                </a:solidFill>
                <a:latin typeface="DejaVu Sans"/>
              </a:rPr>
              <a:t>Real native caller</a:t>
            </a:r>
          </a:p>
        </p:txBody>
      </p:sp>
      <p:sp>
        <p:nvSpPr>
          <p:cNvPr id="23" name="TextBox 22"/>
          <p:cNvSpPr txBox="1"/>
          <p:nvPr/>
        </p:nvSpPr>
        <p:spPr>
          <a:xfrm>
            <a:off x="6355080" y="2690774"/>
            <a:ext cx="230124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Verified Hive</a:t>
            </a:r>
          </a:p>
        </p:txBody>
      </p:sp>
      <p:sp>
        <p:nvSpPr>
          <p:cNvPr id="24" name="TextBox 23"/>
          <p:cNvSpPr txBox="1"/>
          <p:nvPr/>
        </p:nvSpPr>
        <p:spPr>
          <a:xfrm>
            <a:off x="6355080" y="2944367"/>
            <a:ext cx="230124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operation, durable</a:t>
            </a:r>
          </a:p>
        </p:txBody>
      </p:sp>
      <p:sp>
        <p:nvSpPr>
          <p:cNvPr id="25" name="TextBox 24"/>
          <p:cNvSpPr txBox="1"/>
          <p:nvPr/>
        </p:nvSpPr>
        <p:spPr>
          <a:xfrm>
            <a:off x="6355080" y="3197961"/>
            <a:ext cx="230124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caller recovery and</a:t>
            </a:r>
          </a:p>
        </p:txBody>
      </p:sp>
      <p:sp>
        <p:nvSpPr>
          <p:cNvPr id="26" name="TextBox 25"/>
          <p:cNvSpPr txBox="1"/>
          <p:nvPr/>
        </p:nvSpPr>
        <p:spPr>
          <a:xfrm>
            <a:off x="6355080" y="3451555"/>
            <a:ext cx="230124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fresh-source recipe.</a:t>
            </a:r>
          </a:p>
        </p:txBody>
      </p:sp>
      <p:sp>
        <p:nvSpPr>
          <p:cNvPr id="27" name="Rounded Rectangle 26"/>
          <p:cNvSpPr/>
          <p:nvPr/>
        </p:nvSpPr>
        <p:spPr>
          <a:xfrm>
            <a:off x="9006840" y="1927859"/>
            <a:ext cx="2636520" cy="2202180"/>
          </a:xfrm>
          <a:prstGeom prst="roundRect">
            <a:avLst>
              <a:gd name="adj" fmla="val 4498"/>
            </a:avLst>
          </a:prstGeom>
          <a:solidFill>
            <a:srgbClr val="EBE5F3"/>
          </a:solidFill>
          <a:ln w="7620">
            <a:solidFill>
              <a:srgbClr val="7458A2"/>
            </a:solidFill>
            <a:prstDash val="dash"/>
          </a:ln>
          <a:effectLst/>
        </p:spPr>
        <p:txBody>
          <a:bodyPr rtlCol="0" anchor="ctr"/>
          <a:lstStyle/>
          <a:p>
            <a:pPr algn="ctr"/>
          </a:p>
        </p:txBody>
      </p:sp>
      <p:sp>
        <p:nvSpPr>
          <p:cNvPr id="28" name="TextBox 27"/>
          <p:cNvSpPr txBox="1"/>
          <p:nvPr/>
        </p:nvSpPr>
        <p:spPr>
          <a:xfrm>
            <a:off x="9174480" y="2095500"/>
            <a:ext cx="230124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7458A2"/>
                </a:solidFill>
                <a:latin typeface="DejaVu Sans"/>
              </a:rPr>
              <a:t>M2+ · NOT STARTED</a:t>
            </a:r>
          </a:p>
        </p:txBody>
      </p:sp>
      <p:sp>
        <p:nvSpPr>
          <p:cNvPr id="29" name="TextBox 28"/>
          <p:cNvSpPr txBox="1"/>
          <p:nvPr/>
        </p:nvSpPr>
        <p:spPr>
          <a:xfrm>
            <a:off x="9174480" y="2331720"/>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7458A2"/>
                </a:solidFill>
                <a:latin typeface="DejaVu Sans"/>
              </a:rPr>
              <a:t>Cognitive work</a:t>
            </a:r>
          </a:p>
        </p:txBody>
      </p:sp>
      <p:sp>
        <p:nvSpPr>
          <p:cNvPr id="30" name="TextBox 29"/>
          <p:cNvSpPr txBox="1"/>
          <p:nvPr/>
        </p:nvSpPr>
        <p:spPr>
          <a:xfrm>
            <a:off x="9174480" y="2690774"/>
            <a:ext cx="230124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Private episodes and</a:t>
            </a:r>
          </a:p>
        </p:txBody>
      </p:sp>
      <p:sp>
        <p:nvSpPr>
          <p:cNvPr id="31" name="TextBox 30"/>
          <p:cNvSpPr txBox="1"/>
          <p:nvPr/>
        </p:nvSpPr>
        <p:spPr>
          <a:xfrm>
            <a:off x="9174480" y="2944367"/>
            <a:ext cx="230124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reviewed revision;</a:t>
            </a:r>
          </a:p>
        </p:txBody>
      </p:sp>
      <p:sp>
        <p:nvSpPr>
          <p:cNvPr id="32" name="TextBox 31"/>
          <p:cNvSpPr txBox="1"/>
          <p:nvPr/>
        </p:nvSpPr>
        <p:spPr>
          <a:xfrm>
            <a:off x="9174480" y="3197961"/>
            <a:ext cx="230124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later attention and</a:t>
            </a:r>
          </a:p>
        </p:txBody>
      </p:sp>
      <p:sp>
        <p:nvSpPr>
          <p:cNvPr id="33" name="TextBox 32"/>
          <p:cNvSpPr txBox="1"/>
          <p:nvPr/>
        </p:nvSpPr>
        <p:spPr>
          <a:xfrm>
            <a:off x="9174480" y="3451555"/>
            <a:ext cx="230124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bounded inference.</a:t>
            </a:r>
          </a:p>
        </p:txBody>
      </p:sp>
      <p:sp>
        <p:nvSpPr>
          <p:cNvPr id="34" name="TextBox 33"/>
          <p:cNvSpPr txBox="1"/>
          <p:nvPr/>
        </p:nvSpPr>
        <p:spPr>
          <a:xfrm>
            <a:off x="548640" y="4587240"/>
            <a:ext cx="34671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Production boundaries</a:t>
            </a:r>
          </a:p>
        </p:txBody>
      </p:sp>
      <p:sp>
        <p:nvSpPr>
          <p:cNvPr id="35" name="TextBox 34"/>
          <p:cNvSpPr txBox="1"/>
          <p:nvPr/>
        </p:nvSpPr>
        <p:spPr>
          <a:xfrm>
            <a:off x="548640" y="4975860"/>
            <a:ext cx="34671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Isolation, authorization and</a:t>
            </a:r>
          </a:p>
        </p:txBody>
      </p:sp>
      <p:sp>
        <p:nvSpPr>
          <p:cNvPr id="36" name="TextBox 35"/>
          <p:cNvSpPr txBox="1"/>
          <p:nvPr/>
        </p:nvSpPr>
        <p:spPr>
          <a:xfrm>
            <a:off x="548640" y="5219700"/>
            <a:ext cx="34671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distributed custody remain</a:t>
            </a:r>
          </a:p>
        </p:txBody>
      </p:sp>
      <p:sp>
        <p:nvSpPr>
          <p:cNvPr id="37" name="TextBox 36"/>
          <p:cNvSpPr txBox="1"/>
          <p:nvPr/>
        </p:nvSpPr>
        <p:spPr>
          <a:xfrm>
            <a:off x="548640" y="5463540"/>
            <a:ext cx="34671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separate work.</a:t>
            </a:r>
          </a:p>
        </p:txBody>
      </p:sp>
      <p:sp>
        <p:nvSpPr>
          <p:cNvPr id="38" name="TextBox 37"/>
          <p:cNvSpPr txBox="1"/>
          <p:nvPr/>
        </p:nvSpPr>
        <p:spPr>
          <a:xfrm>
            <a:off x="4328160" y="4587240"/>
            <a:ext cx="34671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Mathematical decisions</a:t>
            </a:r>
          </a:p>
        </p:txBody>
      </p:sp>
      <p:sp>
        <p:nvSpPr>
          <p:cNvPr id="39" name="TextBox 38"/>
          <p:cNvSpPr txBox="1"/>
          <p:nvPr/>
        </p:nvSpPr>
        <p:spPr>
          <a:xfrm>
            <a:off x="4328160" y="4975860"/>
            <a:ext cx="34671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Revision model, lineage semantics,</a:t>
            </a:r>
          </a:p>
        </p:txBody>
      </p:sp>
      <p:sp>
        <p:nvSpPr>
          <p:cNvPr id="40" name="TextBox 39"/>
          <p:cNvSpPr txBox="1"/>
          <p:nvPr/>
        </p:nvSpPr>
        <p:spPr>
          <a:xfrm>
            <a:off x="4328160" y="5219700"/>
            <a:ext cx="34671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STI policy and specialists remain</a:t>
            </a:r>
          </a:p>
        </p:txBody>
      </p:sp>
      <p:sp>
        <p:nvSpPr>
          <p:cNvPr id="41" name="TextBox 40"/>
          <p:cNvSpPr txBox="1"/>
          <p:nvPr/>
        </p:nvSpPr>
        <p:spPr>
          <a:xfrm>
            <a:off x="4328160" y="5463540"/>
            <a:ext cx="34671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open.</a:t>
            </a:r>
          </a:p>
        </p:txBody>
      </p:sp>
      <p:sp>
        <p:nvSpPr>
          <p:cNvPr id="42" name="TextBox 41"/>
          <p:cNvSpPr txBox="1"/>
          <p:nvPr/>
        </p:nvSpPr>
        <p:spPr>
          <a:xfrm>
            <a:off x="8107680" y="4587240"/>
            <a:ext cx="34671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State evolution</a:t>
            </a:r>
          </a:p>
        </p:txBody>
      </p:sp>
      <p:sp>
        <p:nvSpPr>
          <p:cNvPr id="43" name="TextBox 42"/>
          <p:cNvSpPr txBox="1"/>
          <p:nvPr/>
        </p:nvSpPr>
        <p:spPr>
          <a:xfrm>
            <a:off x="8107680" y="4975860"/>
            <a:ext cx="34671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No live migration,</a:t>
            </a:r>
          </a:p>
        </p:txBody>
      </p:sp>
      <p:sp>
        <p:nvSpPr>
          <p:cNvPr id="44" name="TextBox 43"/>
          <p:cNvSpPr txBox="1"/>
          <p:nvPr/>
        </p:nvSpPr>
        <p:spPr>
          <a:xfrm>
            <a:off x="8107680" y="5219700"/>
            <a:ext cx="34671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populated-namespace switching or</a:t>
            </a:r>
          </a:p>
        </p:txBody>
      </p:sp>
      <p:sp>
        <p:nvSpPr>
          <p:cNvPr id="45" name="TextBox 44"/>
          <p:cNvSpPr txBox="1"/>
          <p:nvPr/>
        </p:nvSpPr>
        <p:spPr>
          <a:xfrm>
            <a:off x="8107680" y="5463540"/>
            <a:ext cx="34671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rolling upgrades.</a:t>
            </a:r>
          </a:p>
        </p:txBody>
      </p:sp>
      <p:cxnSp>
        <p:nvCxnSpPr>
          <p:cNvPr id="46" name="Connector 45"/>
          <p:cNvCxnSpPr/>
          <p:nvPr/>
        </p:nvCxnSpPr>
        <p:spPr>
          <a:xfrm>
            <a:off x="548640" y="6393180"/>
            <a:ext cx="11094720" cy="0"/>
          </a:xfrm>
          <a:prstGeom prst="line">
            <a:avLst/>
          </a:prstGeom>
          <a:ln w="7620">
            <a:solidFill>
              <a:srgbClr val="C9D2D4"/>
            </a:solidFill>
          </a:ln>
          <a:effectLst/>
        </p:spPr>
      </p:cxnSp>
      <p:sp>
        <p:nvSpPr>
          <p:cNvPr id="47" name="TextBox 46"/>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M1.2 / ADR 006–007 · m1_2-evidence.md</a:t>
            </a:r>
          </a:p>
        </p:txBody>
      </p:sp>
      <p:sp>
        <p:nvSpPr>
          <p:cNvPr id="48" name="TextBox 47"/>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25 / 33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2233"/>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AAC0CC"/>
                </a:solidFill>
                <a:latin typeface="DejaVu Sans"/>
              </a:rPr>
              <a:t>04 / TAKEAWAY</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FFFFFF"/>
                </a:solidFill>
                <a:latin typeface="DejaVu Sans"/>
              </a:rPr>
              <a:t/>
            </a:r>
          </a:p>
        </p:txBody>
      </p:sp>
      <p:sp>
        <p:nvSpPr>
          <p:cNvPr id="4" name="TextBox 3"/>
          <p:cNvSpPr txBox="1"/>
          <p:nvPr/>
        </p:nvSpPr>
        <p:spPr>
          <a:xfrm>
            <a:off x="548640" y="1363980"/>
            <a:ext cx="10591800" cy="618743"/>
          </a:xfrm>
          <a:prstGeom prst="rect">
            <a:avLst/>
          </a:prstGeom>
          <a:noFill/>
        </p:spPr>
        <p:txBody>
          <a:bodyPr wrap="none" lIns="0" rIns="0" tIns="0" bIns="0" anchor="t" anchorCtr="0">
            <a:noAutofit/>
          </a:bodyPr>
          <a:lstStyle/>
          <a:p>
            <a:pPr algn="l">
              <a:lnSpc>
                <a:spcPct val="100000"/>
              </a:lnSpc>
              <a:spcBef>
                <a:spcPts val="0"/>
              </a:spcBef>
              <a:spcAft>
                <a:spcPts val="0"/>
              </a:spcAft>
            </a:pPr>
            <a:r>
              <a:rPr sz="4200" b="1">
                <a:solidFill>
                  <a:srgbClr val="FFFFFF"/>
                </a:solidFill>
                <a:latin typeface="DejaVu Sans"/>
              </a:rPr>
              <a:t>Modularity now survives</a:t>
            </a:r>
          </a:p>
        </p:txBody>
      </p:sp>
      <p:sp>
        <p:nvSpPr>
          <p:cNvPr id="5" name="TextBox 4"/>
          <p:cNvSpPr txBox="1"/>
          <p:nvPr/>
        </p:nvSpPr>
        <p:spPr>
          <a:xfrm>
            <a:off x="548640" y="1982723"/>
            <a:ext cx="10591800" cy="618743"/>
          </a:xfrm>
          <a:prstGeom prst="rect">
            <a:avLst/>
          </a:prstGeom>
          <a:noFill/>
        </p:spPr>
        <p:txBody>
          <a:bodyPr wrap="none" lIns="0" rIns="0" tIns="0" bIns="0" anchor="t" anchorCtr="0">
            <a:noAutofit/>
          </a:bodyPr>
          <a:lstStyle/>
          <a:p>
            <a:pPr algn="l">
              <a:lnSpc>
                <a:spcPct val="100000"/>
              </a:lnSpc>
              <a:spcBef>
                <a:spcPts val="0"/>
              </a:spcBef>
              <a:spcAft>
                <a:spcPts val="0"/>
              </a:spcAft>
            </a:pPr>
            <a:r>
              <a:rPr sz="4200" b="1">
                <a:solidFill>
                  <a:srgbClr val="FFFFFF"/>
                </a:solidFill>
                <a:latin typeface="DejaVu Sans"/>
              </a:rPr>
              <a:t>a real caller restart.</a:t>
            </a:r>
          </a:p>
        </p:txBody>
      </p:sp>
      <p:sp>
        <p:nvSpPr>
          <p:cNvPr id="6" name="TextBox 5"/>
          <p:cNvSpPr txBox="1"/>
          <p:nvPr/>
        </p:nvSpPr>
        <p:spPr>
          <a:xfrm>
            <a:off x="594360" y="3040379"/>
            <a:ext cx="10287000" cy="341376"/>
          </a:xfrm>
          <a:prstGeom prst="rect">
            <a:avLst/>
          </a:prstGeom>
          <a:noFill/>
        </p:spPr>
        <p:txBody>
          <a:bodyPr wrap="none" lIns="0" rIns="0" tIns="0" bIns="0" anchor="t" anchorCtr="0">
            <a:noAutofit/>
          </a:bodyPr>
          <a:lstStyle/>
          <a:p>
            <a:pPr algn="l">
              <a:lnSpc>
                <a:spcPct val="100000"/>
              </a:lnSpc>
              <a:spcBef>
                <a:spcPts val="0"/>
              </a:spcBef>
              <a:spcAft>
                <a:spcPts val="0"/>
              </a:spcAft>
            </a:pPr>
            <a:r>
              <a:rPr sz="2100" b="0">
                <a:solidFill>
                  <a:srgbClr val="AAC0CC"/>
                </a:solidFill>
                <a:latin typeface="DejaVu Sans"/>
              </a:rPr>
              <a:t>The native integration preserves the original boundaries.</a:t>
            </a:r>
          </a:p>
        </p:txBody>
      </p:sp>
      <p:sp>
        <p:nvSpPr>
          <p:cNvPr id="7" name="TextBox 6"/>
          <p:cNvSpPr txBox="1"/>
          <p:nvPr/>
        </p:nvSpPr>
        <p:spPr>
          <a:xfrm>
            <a:off x="601980" y="3855719"/>
            <a:ext cx="762000" cy="341376"/>
          </a:xfrm>
          <a:prstGeom prst="rect">
            <a:avLst/>
          </a:prstGeom>
          <a:noFill/>
        </p:spPr>
        <p:txBody>
          <a:bodyPr wrap="none" lIns="0" rIns="0" tIns="0" bIns="0" anchor="t" anchorCtr="0">
            <a:noAutofit/>
          </a:bodyPr>
          <a:lstStyle/>
          <a:p>
            <a:pPr algn="l">
              <a:lnSpc>
                <a:spcPct val="100000"/>
              </a:lnSpc>
              <a:spcBef>
                <a:spcPts val="0"/>
              </a:spcBef>
              <a:spcAft>
                <a:spcPts val="0"/>
              </a:spcAft>
            </a:pPr>
            <a:r>
              <a:rPr sz="2100" b="0">
                <a:solidFill>
                  <a:srgbClr val="77DDC4"/>
                </a:solidFill>
                <a:latin typeface="DejaVu Sans Mono"/>
              </a:rPr>
              <a:t>01</a:t>
            </a:r>
          </a:p>
        </p:txBody>
      </p:sp>
      <p:sp>
        <p:nvSpPr>
          <p:cNvPr id="8" name="TextBox 7"/>
          <p:cNvSpPr txBox="1"/>
          <p:nvPr/>
        </p:nvSpPr>
        <p:spPr>
          <a:xfrm>
            <a:off x="1455420" y="3855719"/>
            <a:ext cx="990600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0">
                <a:solidFill>
                  <a:srgbClr val="FFFFFF"/>
                </a:solidFill>
                <a:latin typeface="DejaVu Sans"/>
              </a:rPr>
              <a:t>State changes through its owner.</a:t>
            </a:r>
          </a:p>
        </p:txBody>
      </p:sp>
      <p:sp>
        <p:nvSpPr>
          <p:cNvPr id="9" name="TextBox 8"/>
          <p:cNvSpPr txBox="1"/>
          <p:nvPr/>
        </p:nvSpPr>
        <p:spPr>
          <a:xfrm>
            <a:off x="601980" y="4533900"/>
            <a:ext cx="762000" cy="341376"/>
          </a:xfrm>
          <a:prstGeom prst="rect">
            <a:avLst/>
          </a:prstGeom>
          <a:noFill/>
        </p:spPr>
        <p:txBody>
          <a:bodyPr wrap="none" lIns="0" rIns="0" tIns="0" bIns="0" anchor="t" anchorCtr="0">
            <a:noAutofit/>
          </a:bodyPr>
          <a:lstStyle/>
          <a:p>
            <a:pPr algn="l">
              <a:lnSpc>
                <a:spcPct val="100000"/>
              </a:lnSpc>
              <a:spcBef>
                <a:spcPts val="0"/>
              </a:spcBef>
              <a:spcAft>
                <a:spcPts val="0"/>
              </a:spcAft>
            </a:pPr>
            <a:r>
              <a:rPr sz="2100" b="0">
                <a:solidFill>
                  <a:srgbClr val="77DDC4"/>
                </a:solidFill>
                <a:latin typeface="DejaVu Sans Mono"/>
              </a:rPr>
              <a:t>02</a:t>
            </a:r>
          </a:p>
        </p:txBody>
      </p:sp>
      <p:sp>
        <p:nvSpPr>
          <p:cNvPr id="10" name="TextBox 9"/>
          <p:cNvSpPr txBox="1"/>
          <p:nvPr/>
        </p:nvSpPr>
        <p:spPr>
          <a:xfrm>
            <a:off x="1455420" y="4533900"/>
            <a:ext cx="990600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0">
                <a:solidFill>
                  <a:srgbClr val="FFFFFF"/>
                </a:solidFill>
                <a:latin typeface="DejaVu Sans"/>
              </a:rPr>
              <a:t>Providers remain replaceable by exact contract.</a:t>
            </a:r>
          </a:p>
        </p:txBody>
      </p:sp>
      <p:sp>
        <p:nvSpPr>
          <p:cNvPr id="11" name="TextBox 10"/>
          <p:cNvSpPr txBox="1"/>
          <p:nvPr/>
        </p:nvSpPr>
        <p:spPr>
          <a:xfrm>
            <a:off x="601980" y="5212080"/>
            <a:ext cx="762000" cy="341376"/>
          </a:xfrm>
          <a:prstGeom prst="rect">
            <a:avLst/>
          </a:prstGeom>
          <a:noFill/>
        </p:spPr>
        <p:txBody>
          <a:bodyPr wrap="none" lIns="0" rIns="0" tIns="0" bIns="0" anchor="t" anchorCtr="0">
            <a:noAutofit/>
          </a:bodyPr>
          <a:lstStyle/>
          <a:p>
            <a:pPr algn="l">
              <a:lnSpc>
                <a:spcPct val="100000"/>
              </a:lnSpc>
              <a:spcBef>
                <a:spcPts val="0"/>
              </a:spcBef>
              <a:spcAft>
                <a:spcPts val="0"/>
              </a:spcAft>
            </a:pPr>
            <a:r>
              <a:rPr sz="2100" b="0">
                <a:solidFill>
                  <a:srgbClr val="77DDC4"/>
                </a:solidFill>
                <a:latin typeface="DejaVu Sans Mono"/>
              </a:rPr>
              <a:t>03</a:t>
            </a:r>
          </a:p>
        </p:txBody>
      </p:sp>
      <p:sp>
        <p:nvSpPr>
          <p:cNvPr id="12" name="TextBox 11"/>
          <p:cNvSpPr txBox="1"/>
          <p:nvPr/>
        </p:nvSpPr>
        <p:spPr>
          <a:xfrm>
            <a:off x="1455420" y="5212080"/>
            <a:ext cx="990600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0">
                <a:solidFill>
                  <a:srgbClr val="FFFFFF"/>
                </a:solidFill>
                <a:latin typeface="DejaVu Sans"/>
              </a:rPr>
              <a:t>Each receipt names an observed, bounded guarantee.</a:t>
            </a:r>
          </a:p>
        </p:txBody>
      </p:sp>
      <p:sp>
        <p:nvSpPr>
          <p:cNvPr id="13" name="TextBox 12"/>
          <p:cNvSpPr txBox="1"/>
          <p:nvPr/>
        </p:nvSpPr>
        <p:spPr>
          <a:xfrm>
            <a:off x="601980" y="6019800"/>
            <a:ext cx="102870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AAC0CC"/>
                </a:solidFill>
                <a:latin typeface="DejaVu Sans"/>
              </a:rPr>
              <a:t>Real Hive + real local DeTTa • Fixture counterparty • Chain NOT_RUN • Stop before M2</a:t>
            </a:r>
          </a:p>
        </p:txBody>
      </p:sp>
      <p:cxnSp>
        <p:nvCxnSpPr>
          <p:cNvPr id="14" name="Connector 13"/>
          <p:cNvCxnSpPr/>
          <p:nvPr/>
        </p:nvCxnSpPr>
        <p:spPr>
          <a:xfrm>
            <a:off x="548640" y="6393180"/>
            <a:ext cx="11094720" cy="0"/>
          </a:xfrm>
          <a:prstGeom prst="line">
            <a:avLst/>
          </a:prstGeom>
          <a:ln w="7620">
            <a:solidFill>
              <a:srgbClr val="536775"/>
            </a:solidFill>
          </a:ln>
          <a:effectLst/>
        </p:spPr>
      </p:cxnSp>
      <p:sp>
        <p:nvSpPr>
          <p:cNvPr id="15" name="TextBox 14"/>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AAC0CC"/>
                </a:solidFill>
                <a:latin typeface="DejaVu Sans"/>
              </a:rPr>
              <a:t>OMEGA × ASI / THROUGH M1.2 / M1.2 implementation bb22ef5 · evidence 4ee5cbe</a:t>
            </a:r>
          </a:p>
        </p:txBody>
      </p:sp>
      <p:sp>
        <p:nvSpPr>
          <p:cNvPr id="16" name="TextBox 15"/>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AAC0CC"/>
                </a:solidFill>
                <a:latin typeface="DejaVu Sans Mono"/>
              </a:rPr>
              <a:t>26 / 33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APPENDIX A / CODE NAVIGATION</a:t>
            </a:r>
          </a:p>
        </p:txBody>
      </p:sp>
      <p:sp>
        <p:nvSpPr>
          <p:cNvPr id="3" name="TextBox 2"/>
          <p:cNvSpPr txBox="1"/>
          <p:nvPr/>
        </p:nvSpPr>
        <p:spPr>
          <a:xfrm>
            <a:off x="533400" y="723900"/>
            <a:ext cx="11125200" cy="487680"/>
          </a:xfrm>
          <a:prstGeom prst="rect">
            <a:avLst/>
          </a:prstGeom>
          <a:noFill/>
        </p:spPr>
        <p:txBody>
          <a:bodyPr wrap="none" lIns="0" rIns="0" tIns="0" bIns="0" anchor="t" anchorCtr="0">
            <a:noAutofit/>
          </a:bodyPr>
          <a:lstStyle/>
          <a:p>
            <a:pPr algn="l">
              <a:lnSpc>
                <a:spcPct val="100000"/>
              </a:lnSpc>
              <a:spcBef>
                <a:spcPts val="0"/>
              </a:spcBef>
              <a:spcAft>
                <a:spcPts val="0"/>
              </a:spcAft>
            </a:pPr>
            <a:r>
              <a:rPr sz="3000" b="1">
                <a:solidFill>
                  <a:srgbClr val="102B3F"/>
                </a:solidFill>
                <a:latin typeface="DejaVu Sans"/>
              </a:rPr>
              <a:t>Implementation map: adapt at the native boundary</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Native-specific translation stays outside the backend-independent modules.</a:t>
            </a:r>
          </a:p>
        </p:txBody>
      </p:sp>
      <p:sp>
        <p:nvSpPr>
          <p:cNvPr id="5" name="Rounded Rectangle 4"/>
          <p:cNvSpPr/>
          <p:nvPr/>
        </p:nvSpPr>
        <p:spPr>
          <a:xfrm>
            <a:off x="548640" y="1866900"/>
            <a:ext cx="3276600" cy="1021079"/>
          </a:xfrm>
          <a:prstGeom prst="roundRect">
            <a:avLst>
              <a:gd name="adj" fmla="val 9701"/>
            </a:avLst>
          </a:prstGeom>
          <a:solidFill>
            <a:srgbClr val="DCEFE8"/>
          </a:solidFill>
          <a:ln w="7620">
            <a:solidFill>
              <a:srgbClr val="007C78"/>
            </a:solidFill>
          </a:ln>
          <a:effectLst/>
        </p:spPr>
        <p:txBody>
          <a:bodyPr rtlCol="0" anchor="ctr"/>
          <a:lstStyle/>
          <a:p>
            <a:pPr algn="ctr"/>
          </a:p>
        </p:txBody>
      </p:sp>
      <p:sp>
        <p:nvSpPr>
          <p:cNvPr id="6" name="TextBox 5"/>
          <p:cNvSpPr txBox="1"/>
          <p:nvPr/>
        </p:nvSpPr>
        <p:spPr>
          <a:xfrm>
            <a:off x="716280" y="2034539"/>
            <a:ext cx="294132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007C78"/>
                </a:solidFill>
                <a:latin typeface="DejaVu Sans"/>
              </a:rPr>
              <a:t>Native entrypoint</a:t>
            </a:r>
          </a:p>
        </p:txBody>
      </p:sp>
      <p:sp>
        <p:nvSpPr>
          <p:cNvPr id="7" name="TextBox 6"/>
          <p:cNvSpPr txBox="1"/>
          <p:nvPr/>
        </p:nvSpPr>
        <p:spPr>
          <a:xfrm>
            <a:off x="716280" y="2325319"/>
            <a:ext cx="294132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0">
                <a:solidFill>
                  <a:srgbClr val="536775"/>
                </a:solidFill>
                <a:latin typeface="DejaVu Sans"/>
              </a:rPr>
              <a:t>Hive Programs.act</a:t>
            </a:r>
          </a:p>
        </p:txBody>
      </p:sp>
      <p:sp>
        <p:nvSpPr>
          <p:cNvPr id="8" name="TextBox 7"/>
          <p:cNvSpPr txBox="1"/>
          <p:nvPr/>
        </p:nvSpPr>
        <p:spPr>
          <a:xfrm>
            <a:off x="716280" y="2510637"/>
            <a:ext cx="294132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0">
                <a:solidFill>
                  <a:srgbClr val="536775"/>
                </a:solidFill>
                <a:latin typeface="DejaVu Sans"/>
              </a:rPr>
              <a:t>→ integration/hive/program/program.py</a:t>
            </a:r>
          </a:p>
        </p:txBody>
      </p:sp>
      <p:sp>
        <p:nvSpPr>
          <p:cNvPr id="9" name="Rounded Rectangle 8"/>
          <p:cNvSpPr/>
          <p:nvPr/>
        </p:nvSpPr>
        <p:spPr>
          <a:xfrm>
            <a:off x="4450080" y="1866900"/>
            <a:ext cx="3276600" cy="1021079"/>
          </a:xfrm>
          <a:prstGeom prst="roundRect">
            <a:avLst>
              <a:gd name="adj" fmla="val 9701"/>
            </a:avLst>
          </a:prstGeom>
          <a:solidFill>
            <a:srgbClr val="E4EBF5"/>
          </a:solidFill>
          <a:ln w="7620">
            <a:solidFill>
              <a:srgbClr val="315E9C"/>
            </a:solidFill>
          </a:ln>
          <a:effectLst/>
        </p:spPr>
        <p:txBody>
          <a:bodyPr rtlCol="0" anchor="ctr"/>
          <a:lstStyle/>
          <a:p>
            <a:pPr algn="ctr"/>
          </a:p>
        </p:txBody>
      </p:sp>
      <p:sp>
        <p:nvSpPr>
          <p:cNvPr id="10" name="TextBox 9"/>
          <p:cNvSpPr txBox="1"/>
          <p:nvPr/>
        </p:nvSpPr>
        <p:spPr>
          <a:xfrm>
            <a:off x="4617720" y="2034539"/>
            <a:ext cx="29413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Validated consumer</a:t>
            </a:r>
          </a:p>
        </p:txBody>
      </p:sp>
      <p:sp>
        <p:nvSpPr>
          <p:cNvPr id="11" name="TextBox 10"/>
          <p:cNvSpPr txBox="1"/>
          <p:nvPr/>
        </p:nvSpPr>
        <p:spPr>
          <a:xfrm>
            <a:off x="4617720" y="2393594"/>
            <a:ext cx="294132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Peer → Subprocess.invoke</a:t>
            </a:r>
          </a:p>
        </p:txBody>
      </p:sp>
      <p:sp>
        <p:nvSpPr>
          <p:cNvPr id="12" name="TextBox 11"/>
          <p:cNvSpPr txBox="1"/>
          <p:nvPr/>
        </p:nvSpPr>
        <p:spPr>
          <a:xfrm>
            <a:off x="4617720" y="2608173"/>
            <a:ext cx="294132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 fusion.host rpc</a:t>
            </a:r>
          </a:p>
        </p:txBody>
      </p:sp>
      <p:sp>
        <p:nvSpPr>
          <p:cNvPr id="13" name="Rounded Rectangle 12"/>
          <p:cNvSpPr/>
          <p:nvPr/>
        </p:nvSpPr>
        <p:spPr>
          <a:xfrm>
            <a:off x="8351520" y="1866900"/>
            <a:ext cx="3291840" cy="1021079"/>
          </a:xfrm>
          <a:prstGeom prst="roundRect">
            <a:avLst>
              <a:gd name="adj" fmla="val 9701"/>
            </a:avLst>
          </a:prstGeom>
          <a:solidFill>
            <a:srgbClr val="FFFFFF"/>
          </a:solidFill>
          <a:ln w="7620">
            <a:solidFill>
              <a:srgbClr val="315E9C"/>
            </a:solidFill>
          </a:ln>
          <a:effectLst/>
        </p:spPr>
        <p:txBody>
          <a:bodyPr rtlCol="0" anchor="ctr"/>
          <a:lstStyle/>
          <a:p>
            <a:pPr algn="ctr"/>
          </a:p>
        </p:txBody>
      </p:sp>
      <p:sp>
        <p:nvSpPr>
          <p:cNvPr id="14" name="TextBox 13"/>
          <p:cNvSpPr txBox="1"/>
          <p:nvPr/>
        </p:nvSpPr>
        <p:spPr>
          <a:xfrm>
            <a:off x="8519160" y="2034539"/>
            <a:ext cx="29565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315E9C"/>
                </a:solidFill>
                <a:latin typeface="DejaVu Sans"/>
              </a:rPr>
              <a:t>Trusted composition</a:t>
            </a:r>
          </a:p>
        </p:txBody>
      </p:sp>
      <p:sp>
        <p:nvSpPr>
          <p:cNvPr id="15" name="TextBox 14"/>
          <p:cNvSpPr txBox="1"/>
          <p:nvPr/>
        </p:nvSpPr>
        <p:spPr>
          <a:xfrm>
            <a:off x="8519160" y="2374087"/>
            <a:ext cx="295656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composition.py injects</a:t>
            </a:r>
          </a:p>
        </p:txBody>
      </p:sp>
      <p:sp>
        <p:nvSpPr>
          <p:cNvPr id="16" name="TextBox 15"/>
          <p:cNvSpPr txBox="1"/>
          <p:nvPr/>
        </p:nvSpPr>
        <p:spPr>
          <a:xfrm>
            <a:off x="8519160" y="2578912"/>
            <a:ext cx="295656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AtomStorage + CompletionDelivery</a:t>
            </a:r>
          </a:p>
        </p:txBody>
      </p:sp>
      <p:cxnSp>
        <p:nvCxnSpPr>
          <p:cNvPr id="17" name="Connector 16"/>
          <p:cNvCxnSpPr/>
          <p:nvPr/>
        </p:nvCxnSpPr>
        <p:spPr>
          <a:xfrm>
            <a:off x="3825240" y="2377440"/>
            <a:ext cx="624840" cy="0"/>
          </a:xfrm>
          <a:prstGeom prst="line">
            <a:avLst/>
          </a:prstGeom>
          <a:ln w="15240">
            <a:solidFill>
              <a:srgbClr val="315E9C"/>
            </a:solidFill>
          </a:ln>
          <a:effectLst/>
        </p:spPr>
      </p:cxnSp>
      <p:sp>
        <p:nvSpPr>
          <p:cNvPr id="18" name="Freeform 17"/>
          <p:cNvSpPr/>
          <p:nvPr/>
        </p:nvSpPr>
        <p:spPr>
          <a:xfrm>
            <a:off x="4351020" y="233934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cxnSp>
        <p:nvCxnSpPr>
          <p:cNvPr id="19" name="Connector 18"/>
          <p:cNvCxnSpPr/>
          <p:nvPr/>
        </p:nvCxnSpPr>
        <p:spPr>
          <a:xfrm>
            <a:off x="7726680" y="2377440"/>
            <a:ext cx="624840" cy="0"/>
          </a:xfrm>
          <a:prstGeom prst="line">
            <a:avLst/>
          </a:prstGeom>
          <a:ln w="15240">
            <a:solidFill>
              <a:srgbClr val="315E9C"/>
            </a:solidFill>
          </a:ln>
          <a:effectLst/>
        </p:spPr>
      </p:cxnSp>
      <p:sp>
        <p:nvSpPr>
          <p:cNvPr id="20" name="Freeform 19"/>
          <p:cNvSpPr/>
          <p:nvPr/>
        </p:nvSpPr>
        <p:spPr>
          <a:xfrm>
            <a:off x="8252460" y="233934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21" name="Rounded Rectangle 20"/>
          <p:cNvSpPr/>
          <p:nvPr/>
        </p:nvSpPr>
        <p:spPr>
          <a:xfrm>
            <a:off x="4450080" y="3535679"/>
            <a:ext cx="3276600" cy="967740"/>
          </a:xfrm>
          <a:prstGeom prst="roundRect">
            <a:avLst>
              <a:gd name="adj" fmla="val 10236"/>
            </a:avLst>
          </a:prstGeom>
          <a:solidFill>
            <a:srgbClr val="FFFFFF"/>
          </a:solidFill>
          <a:ln w="7620">
            <a:solidFill>
              <a:srgbClr val="315E9C"/>
            </a:solidFill>
          </a:ln>
          <a:effectLst/>
        </p:spPr>
        <p:txBody>
          <a:bodyPr rtlCol="0" anchor="ctr"/>
          <a:lstStyle/>
          <a:p>
            <a:pPr algn="ctr"/>
          </a:p>
        </p:txBody>
      </p:sp>
      <p:sp>
        <p:nvSpPr>
          <p:cNvPr id="22" name="TextBox 21"/>
          <p:cNvSpPr txBox="1"/>
          <p:nvPr/>
        </p:nvSpPr>
        <p:spPr>
          <a:xfrm>
            <a:off x="4617720" y="3703319"/>
            <a:ext cx="2941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315E9C"/>
                </a:solidFill>
                <a:latin typeface="DejaVu Sans"/>
              </a:rPr>
              <a:t>Service facade</a:t>
            </a:r>
          </a:p>
        </p:txBody>
      </p:sp>
      <p:sp>
        <p:nvSpPr>
          <p:cNvPr id="23" name="TextBox 22"/>
          <p:cNvSpPr txBox="1"/>
          <p:nvPr/>
        </p:nvSpPr>
        <p:spPr>
          <a:xfrm>
            <a:off x="4617720" y="4023360"/>
            <a:ext cx="29413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service.py · policy.py</a:t>
            </a:r>
          </a:p>
        </p:txBody>
      </p:sp>
      <p:sp>
        <p:nvSpPr>
          <p:cNvPr id="24" name="TextBox 23"/>
          <p:cNvSpPr txBox="1"/>
          <p:nvPr/>
        </p:nvSpPr>
        <p:spPr>
          <a:xfrm>
            <a:off x="4617720" y="4228185"/>
            <a:ext cx="29413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registry.py · responses.py</a:t>
            </a:r>
          </a:p>
        </p:txBody>
      </p:sp>
      <p:cxnSp>
        <p:nvCxnSpPr>
          <p:cNvPr id="25" name="Connector 24"/>
          <p:cNvCxnSpPr/>
          <p:nvPr/>
        </p:nvCxnSpPr>
        <p:spPr>
          <a:xfrm>
            <a:off x="6088380" y="2887980"/>
            <a:ext cx="0" cy="647699"/>
          </a:xfrm>
          <a:prstGeom prst="line">
            <a:avLst/>
          </a:prstGeom>
          <a:ln w="15240">
            <a:solidFill>
              <a:srgbClr val="315E9C"/>
            </a:solidFill>
          </a:ln>
          <a:effectLst/>
        </p:spPr>
      </p:cxnSp>
      <p:sp>
        <p:nvSpPr>
          <p:cNvPr id="26" name="Freeform 25"/>
          <p:cNvSpPr/>
          <p:nvPr/>
        </p:nvSpPr>
        <p:spPr>
          <a:xfrm>
            <a:off x="6050280" y="3436620"/>
            <a:ext cx="76200" cy="99060"/>
          </a:xfrm>
          <a:custGeom>
            <a:avLst/>
            <a:gdLst/>
            <a:ahLst/>
            <a:cxnLst/>
            <a:rect l="l" t="t" r="r" b="b"/>
            <a:pathLst>
              <a:path w="10" h="13">
                <a:moveTo>
                  <a:pt x="5" y="13"/>
                </a:moveTo>
                <a:lnTo>
                  <a:pt x="10" y="0"/>
                </a:lnTo>
                <a:lnTo>
                  <a:pt x="0" y="0"/>
                </a:lnTo>
                <a:close/>
              </a:path>
            </a:pathLst>
          </a:custGeom>
          <a:solidFill>
            <a:srgbClr val="315E9C"/>
          </a:solidFill>
          <a:ln>
            <a:noFill/>
          </a:ln>
          <a:effectLst/>
        </p:spPr>
        <p:txBody>
          <a:bodyPr rtlCol="0" anchor="ctr"/>
          <a:lstStyle/>
          <a:p>
            <a:pPr algn="ctr"/>
          </a:p>
        </p:txBody>
      </p:sp>
      <p:sp>
        <p:nvSpPr>
          <p:cNvPr id="27" name="Rounded Rectangle 26"/>
          <p:cNvSpPr/>
          <p:nvPr/>
        </p:nvSpPr>
        <p:spPr>
          <a:xfrm>
            <a:off x="548640" y="3535679"/>
            <a:ext cx="3276600" cy="967740"/>
          </a:xfrm>
          <a:prstGeom prst="roundRect">
            <a:avLst>
              <a:gd name="adj" fmla="val 10236"/>
            </a:avLst>
          </a:prstGeom>
          <a:solidFill>
            <a:srgbClr val="FFFFFF"/>
          </a:solidFill>
          <a:ln w="7620">
            <a:solidFill>
              <a:srgbClr val="102B3F"/>
            </a:solidFill>
          </a:ln>
          <a:effectLst/>
        </p:spPr>
        <p:txBody>
          <a:bodyPr rtlCol="0" anchor="ctr"/>
          <a:lstStyle/>
          <a:p>
            <a:pPr algn="ctr"/>
          </a:p>
        </p:txBody>
      </p:sp>
      <p:sp>
        <p:nvSpPr>
          <p:cNvPr id="28" name="TextBox 27"/>
          <p:cNvSpPr txBox="1"/>
          <p:nvPr/>
        </p:nvSpPr>
        <p:spPr>
          <a:xfrm>
            <a:off x="716280" y="3703319"/>
            <a:ext cx="2941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Shared declarations</a:t>
            </a:r>
          </a:p>
        </p:txBody>
      </p:sp>
      <p:sp>
        <p:nvSpPr>
          <p:cNvPr id="29" name="TextBox 28"/>
          <p:cNvSpPr txBox="1"/>
          <p:nvPr/>
        </p:nvSpPr>
        <p:spPr>
          <a:xfrm>
            <a:off x="716280" y="4023360"/>
            <a:ext cx="29413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ports.py · contracts.py</a:t>
            </a:r>
          </a:p>
        </p:txBody>
      </p:sp>
      <p:sp>
        <p:nvSpPr>
          <p:cNvPr id="30" name="TextBox 29"/>
          <p:cNvSpPr txBox="1"/>
          <p:nvPr/>
        </p:nvSpPr>
        <p:spPr>
          <a:xfrm>
            <a:off x="716280" y="4228185"/>
            <a:ext cx="29413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Schemas and exact profiles</a:t>
            </a:r>
          </a:p>
        </p:txBody>
      </p:sp>
      <p:cxnSp>
        <p:nvCxnSpPr>
          <p:cNvPr id="31" name="Connector 30"/>
          <p:cNvCxnSpPr/>
          <p:nvPr/>
        </p:nvCxnSpPr>
        <p:spPr>
          <a:xfrm flipH="1">
            <a:off x="3825240" y="4008119"/>
            <a:ext cx="624840" cy="0"/>
          </a:xfrm>
          <a:prstGeom prst="line">
            <a:avLst/>
          </a:prstGeom>
          <a:ln w="15240">
            <a:solidFill>
              <a:srgbClr val="536775"/>
            </a:solidFill>
          </a:ln>
          <a:effectLst/>
        </p:spPr>
      </p:cxnSp>
      <p:sp>
        <p:nvSpPr>
          <p:cNvPr id="32" name="Freeform 31"/>
          <p:cNvSpPr/>
          <p:nvPr/>
        </p:nvSpPr>
        <p:spPr>
          <a:xfrm>
            <a:off x="3825240" y="3970020"/>
            <a:ext cx="99060" cy="76200"/>
          </a:xfrm>
          <a:custGeom>
            <a:avLst/>
            <a:gdLst/>
            <a:ahLst/>
            <a:cxnLst/>
            <a:rect l="l" t="t" r="r" b="b"/>
            <a:pathLst>
              <a:path w="13" h="10">
                <a:moveTo>
                  <a:pt x="0" y="5"/>
                </a:moveTo>
                <a:lnTo>
                  <a:pt x="13" y="10"/>
                </a:lnTo>
                <a:lnTo>
                  <a:pt x="13" y="0"/>
                </a:lnTo>
                <a:close/>
              </a:path>
            </a:pathLst>
          </a:custGeom>
          <a:solidFill>
            <a:srgbClr val="536775"/>
          </a:solidFill>
          <a:ln>
            <a:noFill/>
          </a:ln>
          <a:effectLst/>
        </p:spPr>
        <p:txBody>
          <a:bodyPr rtlCol="0" anchor="ctr"/>
          <a:lstStyle/>
          <a:p>
            <a:pPr algn="ctr"/>
          </a:p>
        </p:txBody>
      </p:sp>
      <p:sp>
        <p:nvSpPr>
          <p:cNvPr id="33" name="Rounded Rectangle 32"/>
          <p:cNvSpPr/>
          <p:nvPr/>
        </p:nvSpPr>
        <p:spPr>
          <a:xfrm>
            <a:off x="8351520" y="3535679"/>
            <a:ext cx="3291840" cy="967740"/>
          </a:xfrm>
          <a:prstGeom prst="roundRect">
            <a:avLst>
              <a:gd name="adj" fmla="val 10236"/>
            </a:avLst>
          </a:prstGeom>
          <a:solidFill>
            <a:srgbClr val="FFFFFF"/>
          </a:solidFill>
          <a:ln w="7620">
            <a:solidFill>
              <a:srgbClr val="315E9C"/>
            </a:solidFill>
          </a:ln>
          <a:effectLst/>
        </p:spPr>
        <p:txBody>
          <a:bodyPr rtlCol="0" anchor="ctr"/>
          <a:lstStyle/>
          <a:p>
            <a:pPr algn="ctr"/>
          </a:p>
        </p:txBody>
      </p:sp>
      <p:sp>
        <p:nvSpPr>
          <p:cNvPr id="34" name="TextBox 33"/>
          <p:cNvSpPr txBox="1"/>
          <p:nvPr/>
        </p:nvSpPr>
        <p:spPr>
          <a:xfrm>
            <a:off x="8519160" y="3703319"/>
            <a:ext cx="29565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315E9C"/>
                </a:solidFill>
                <a:latin typeface="DejaVu Sans"/>
              </a:rPr>
              <a:t>Separate owners</a:t>
            </a:r>
          </a:p>
        </p:txBody>
      </p:sp>
      <p:sp>
        <p:nvSpPr>
          <p:cNvPr id="35" name="TextBox 34"/>
          <p:cNvSpPr txBox="1"/>
          <p:nvPr/>
        </p:nvSpPr>
        <p:spPr>
          <a:xfrm>
            <a:off x="8519160" y="4023360"/>
            <a:ext cx="295656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atoms.py · messaging.py</a:t>
            </a:r>
          </a:p>
        </p:txBody>
      </p:sp>
      <p:sp>
        <p:nvSpPr>
          <p:cNvPr id="36" name="TextBox 35"/>
          <p:cNvSpPr txBox="1"/>
          <p:nvPr/>
        </p:nvSpPr>
        <p:spPr>
          <a:xfrm>
            <a:off x="8519160" y="4228185"/>
            <a:ext cx="295656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execution.py</a:t>
            </a:r>
          </a:p>
        </p:txBody>
      </p:sp>
      <p:cxnSp>
        <p:nvCxnSpPr>
          <p:cNvPr id="37" name="Connector 36"/>
          <p:cNvCxnSpPr/>
          <p:nvPr/>
        </p:nvCxnSpPr>
        <p:spPr>
          <a:xfrm>
            <a:off x="7726680" y="4008119"/>
            <a:ext cx="624840" cy="0"/>
          </a:xfrm>
          <a:prstGeom prst="line">
            <a:avLst/>
          </a:prstGeom>
          <a:ln w="15240">
            <a:solidFill>
              <a:srgbClr val="315E9C"/>
            </a:solidFill>
          </a:ln>
          <a:effectLst/>
        </p:spPr>
      </p:cxnSp>
      <p:sp>
        <p:nvSpPr>
          <p:cNvPr id="38" name="Freeform 37"/>
          <p:cNvSpPr/>
          <p:nvPr/>
        </p:nvSpPr>
        <p:spPr>
          <a:xfrm>
            <a:off x="8252460" y="397002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39" name="Rounded Rectangle 38"/>
          <p:cNvSpPr/>
          <p:nvPr/>
        </p:nvSpPr>
        <p:spPr>
          <a:xfrm>
            <a:off x="548640" y="5158740"/>
            <a:ext cx="5364480" cy="914400"/>
          </a:xfrm>
          <a:prstGeom prst="roundRect">
            <a:avLst>
              <a:gd name="adj" fmla="val 10833"/>
            </a:avLst>
          </a:prstGeom>
          <a:solidFill>
            <a:srgbClr val="FFFFFF"/>
          </a:solidFill>
          <a:ln w="7620">
            <a:solidFill>
              <a:srgbClr val="315E9C"/>
            </a:solidFill>
          </a:ln>
          <a:effectLst/>
        </p:spPr>
        <p:txBody>
          <a:bodyPr rtlCol="0" anchor="ctr"/>
          <a:lstStyle/>
          <a:p>
            <a:pPr algn="ctr"/>
          </a:p>
        </p:txBody>
      </p:sp>
      <p:sp>
        <p:nvSpPr>
          <p:cNvPr id="40" name="TextBox 39"/>
          <p:cNvSpPr txBox="1"/>
          <p:nvPr/>
        </p:nvSpPr>
        <p:spPr>
          <a:xfrm>
            <a:off x="716280" y="5326380"/>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315E9C"/>
                </a:solidFill>
                <a:latin typeface="DejaVu Sans"/>
              </a:rPr>
              <a:t>Operator-only worker</a:t>
            </a:r>
          </a:p>
        </p:txBody>
      </p:sp>
      <p:sp>
        <p:nvSpPr>
          <p:cNvPr id="41" name="TextBox 40"/>
          <p:cNvSpPr txBox="1"/>
          <p:nvPr/>
        </p:nvSpPr>
        <p:spPr>
          <a:xfrm>
            <a:off x="716280" y="5675680"/>
            <a:ext cx="50292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host.py work / flush; deterministic inspect_atom</a:t>
            </a:r>
          </a:p>
        </p:txBody>
      </p:sp>
      <p:sp>
        <p:nvSpPr>
          <p:cNvPr id="42" name="Rounded Rectangle 41"/>
          <p:cNvSpPr/>
          <p:nvPr/>
        </p:nvSpPr>
        <p:spPr>
          <a:xfrm>
            <a:off x="6278880" y="5158740"/>
            <a:ext cx="5364480" cy="914400"/>
          </a:xfrm>
          <a:prstGeom prst="roundRect">
            <a:avLst>
              <a:gd name="adj" fmla="val 10833"/>
            </a:avLst>
          </a:prstGeom>
          <a:solidFill>
            <a:srgbClr val="DCEFE8"/>
          </a:solidFill>
          <a:ln w="7620">
            <a:solidFill>
              <a:srgbClr val="007C78"/>
            </a:solidFill>
          </a:ln>
          <a:effectLst/>
        </p:spPr>
        <p:txBody>
          <a:bodyPr rtlCol="0" anchor="ctr"/>
          <a:lstStyle/>
          <a:p>
            <a:pPr algn="ctr"/>
          </a:p>
        </p:txBody>
      </p:sp>
      <p:sp>
        <p:nvSpPr>
          <p:cNvPr id="43" name="TextBox 42"/>
          <p:cNvSpPr txBox="1"/>
          <p:nvPr/>
        </p:nvSpPr>
        <p:spPr>
          <a:xfrm>
            <a:off x="6446520" y="5326380"/>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007C78"/>
                </a:solidFill>
                <a:latin typeface="DejaVu Sans"/>
              </a:rPr>
              <a:t>Selected provider</a:t>
            </a:r>
          </a:p>
        </p:txBody>
      </p:sp>
      <p:sp>
        <p:nvSpPr>
          <p:cNvPr id="44" name="TextBox 43"/>
          <p:cNvSpPr txBox="1"/>
          <p:nvPr/>
        </p:nvSpPr>
        <p:spPr>
          <a:xfrm>
            <a:off x="6446520" y="5675680"/>
            <a:ext cx="50292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detta.py + Rust helper OR independent fixture_atoms.py</a:t>
            </a:r>
          </a:p>
        </p:txBody>
      </p:sp>
      <p:cxnSp>
        <p:nvCxnSpPr>
          <p:cNvPr id="45" name="Connector 44"/>
          <p:cNvCxnSpPr/>
          <p:nvPr/>
        </p:nvCxnSpPr>
        <p:spPr>
          <a:xfrm>
            <a:off x="9997440" y="4503420"/>
            <a:ext cx="0" cy="655320"/>
          </a:xfrm>
          <a:prstGeom prst="line">
            <a:avLst/>
          </a:prstGeom>
          <a:ln w="15240">
            <a:solidFill>
              <a:srgbClr val="007C78"/>
            </a:solidFill>
          </a:ln>
          <a:effectLst/>
        </p:spPr>
      </p:cxnSp>
      <p:sp>
        <p:nvSpPr>
          <p:cNvPr id="46" name="Freeform 45"/>
          <p:cNvSpPr/>
          <p:nvPr/>
        </p:nvSpPr>
        <p:spPr>
          <a:xfrm>
            <a:off x="9959340" y="5059680"/>
            <a:ext cx="76200" cy="99060"/>
          </a:xfrm>
          <a:custGeom>
            <a:avLst/>
            <a:gdLst/>
            <a:ahLst/>
            <a:cxnLst/>
            <a:rect l="l" t="t" r="r" b="b"/>
            <a:pathLst>
              <a:path w="10" h="13">
                <a:moveTo>
                  <a:pt x="5" y="13"/>
                </a:moveTo>
                <a:lnTo>
                  <a:pt x="10" y="0"/>
                </a:lnTo>
                <a:lnTo>
                  <a:pt x="0" y="0"/>
                </a:lnTo>
                <a:close/>
              </a:path>
            </a:pathLst>
          </a:custGeom>
          <a:solidFill>
            <a:srgbClr val="007C78"/>
          </a:solidFill>
          <a:ln>
            <a:noFill/>
          </a:ln>
          <a:effectLst/>
        </p:spPr>
        <p:txBody>
          <a:bodyPr rtlCol="0" anchor="ctr"/>
          <a:lstStyle/>
          <a:p>
            <a:pPr algn="ctr"/>
          </a:p>
        </p:txBody>
      </p:sp>
      <p:cxnSp>
        <p:nvCxnSpPr>
          <p:cNvPr id="47" name="Connector 46"/>
          <p:cNvCxnSpPr/>
          <p:nvPr/>
        </p:nvCxnSpPr>
        <p:spPr>
          <a:xfrm>
            <a:off x="548640" y="6393180"/>
            <a:ext cx="11094720" cy="0"/>
          </a:xfrm>
          <a:prstGeom prst="line">
            <a:avLst/>
          </a:prstGeom>
          <a:ln w="7620">
            <a:solidFill>
              <a:srgbClr val="C9D2D4"/>
            </a:solidFill>
          </a:ln>
          <a:effectLst/>
        </p:spPr>
      </p:cxnSp>
      <p:sp>
        <p:nvSpPr>
          <p:cNvPr id="48" name="TextBox 47"/>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M1.2 / integration/hive/ · fusion/</a:t>
            </a:r>
          </a:p>
        </p:txBody>
      </p:sp>
      <p:sp>
        <p:nvSpPr>
          <p:cNvPr id="49" name="TextBox 48"/>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27 / 33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APPENDIX B / REVIEW CHECKLIST</a:t>
            </a:r>
          </a:p>
        </p:txBody>
      </p:sp>
      <p:sp>
        <p:nvSpPr>
          <p:cNvPr id="3" name="TextBox 2"/>
          <p:cNvSpPr txBox="1"/>
          <p:nvPr/>
        </p:nvSpPr>
        <p:spPr>
          <a:xfrm>
            <a:off x="533400" y="723900"/>
            <a:ext cx="11125200" cy="487680"/>
          </a:xfrm>
          <a:prstGeom prst="rect">
            <a:avLst/>
          </a:prstGeom>
          <a:noFill/>
        </p:spPr>
        <p:txBody>
          <a:bodyPr wrap="none" lIns="0" rIns="0" tIns="0" bIns="0" anchor="t" anchorCtr="0">
            <a:noAutofit/>
          </a:bodyPr>
          <a:lstStyle/>
          <a:p>
            <a:pPr algn="l">
              <a:lnSpc>
                <a:spcPct val="100000"/>
              </a:lnSpc>
              <a:spcBef>
                <a:spcPts val="0"/>
              </a:spcBef>
              <a:spcAft>
                <a:spcPts val="0"/>
              </a:spcAft>
            </a:pPr>
            <a:r>
              <a:rPr sz="3000" b="1">
                <a:solidFill>
                  <a:srgbClr val="102B3F"/>
                </a:solidFill>
                <a:latin typeface="DejaVu Sans"/>
              </a:rPr>
              <a:t>Specified cognitive contracts carry test obligations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These are future acceptance cases, not executed M1.2 tests.</a:t>
            </a:r>
          </a:p>
        </p:txBody>
      </p:sp>
      <p:sp>
        <p:nvSpPr>
          <p:cNvPr id="5" name="TextBox 4"/>
          <p:cNvSpPr txBox="1"/>
          <p:nvPr/>
        </p:nvSpPr>
        <p:spPr>
          <a:xfrm>
            <a:off x="670560" y="1790700"/>
            <a:ext cx="25755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CONTRACT</a:t>
            </a:r>
          </a:p>
        </p:txBody>
      </p:sp>
      <p:sp>
        <p:nvSpPr>
          <p:cNvPr id="6" name="TextBox 5"/>
          <p:cNvSpPr txBox="1"/>
          <p:nvPr/>
        </p:nvSpPr>
        <p:spPr>
          <a:xfrm>
            <a:off x="3489960" y="1790700"/>
            <a:ext cx="39090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SEMANTIC DECISION</a:t>
            </a:r>
          </a:p>
        </p:txBody>
      </p:sp>
      <p:sp>
        <p:nvSpPr>
          <p:cNvPr id="7" name="TextBox 6"/>
          <p:cNvSpPr txBox="1"/>
          <p:nvPr/>
        </p:nvSpPr>
        <p:spPr>
          <a:xfrm>
            <a:off x="7642859" y="1790700"/>
            <a:ext cx="38785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NAMED CONFORMANCE OBLIGATIONS</a:t>
            </a:r>
          </a:p>
        </p:txBody>
      </p:sp>
      <p:sp>
        <p:nvSpPr>
          <p:cNvPr id="8" name="Rounded Rectangle 7"/>
          <p:cNvSpPr/>
          <p:nvPr/>
        </p:nvSpPr>
        <p:spPr>
          <a:xfrm>
            <a:off x="548640" y="2110740"/>
            <a:ext cx="11094720" cy="586740"/>
          </a:xfrm>
          <a:prstGeom prst="roundRect">
            <a:avLst>
              <a:gd name="adj" fmla="val 7792"/>
            </a:avLst>
          </a:prstGeom>
          <a:solidFill>
            <a:srgbClr val="FFFFFF"/>
          </a:solidFill>
          <a:ln>
            <a:noFill/>
          </a:ln>
          <a:effectLst/>
        </p:spPr>
        <p:txBody>
          <a:bodyPr rtlCol="0" anchor="ctr"/>
          <a:lstStyle/>
          <a:p>
            <a:pPr algn="ctr"/>
          </a:p>
        </p:txBody>
      </p:sp>
      <p:sp>
        <p:nvSpPr>
          <p:cNvPr id="9" name="TextBox 8"/>
          <p:cNvSpPr txBox="1"/>
          <p:nvPr/>
        </p:nvSpPr>
        <p:spPr>
          <a:xfrm>
            <a:off x="670560" y="2240280"/>
            <a:ext cx="2575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Relations / Search</a:t>
            </a:r>
          </a:p>
        </p:txBody>
      </p:sp>
      <p:sp>
        <p:nvSpPr>
          <p:cNvPr id="10" name="TextBox 9"/>
          <p:cNvSpPr txBox="1"/>
          <p:nvPr/>
        </p:nvSpPr>
        <p:spPr>
          <a:xfrm>
            <a:off x="3489960" y="2240280"/>
            <a:ext cx="39090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Ordered roles; dialect + watermark</a:t>
            </a:r>
          </a:p>
        </p:txBody>
      </p:sp>
      <p:sp>
        <p:nvSpPr>
          <p:cNvPr id="11" name="TextBox 10"/>
          <p:cNvSpPr txBox="1"/>
          <p:nvPr/>
        </p:nvSpPr>
        <p:spPr>
          <a:xfrm>
            <a:off x="7642859" y="2240280"/>
            <a:ext cx="38785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REL-order / scope; SEARCH-watermark</a:t>
            </a:r>
          </a:p>
        </p:txBody>
      </p:sp>
      <p:sp>
        <p:nvSpPr>
          <p:cNvPr id="12" name="Rounded Rectangle 11"/>
          <p:cNvSpPr/>
          <p:nvPr/>
        </p:nvSpPr>
        <p:spPr>
          <a:xfrm>
            <a:off x="548640" y="2735580"/>
            <a:ext cx="11094720" cy="586740"/>
          </a:xfrm>
          <a:prstGeom prst="roundRect">
            <a:avLst>
              <a:gd name="adj" fmla="val 7792"/>
            </a:avLst>
          </a:prstGeom>
          <a:solidFill>
            <a:srgbClr val="FFFFFF"/>
          </a:solidFill>
          <a:ln>
            <a:noFill/>
          </a:ln>
          <a:effectLst/>
        </p:spPr>
        <p:txBody>
          <a:bodyPr rtlCol="0" anchor="ctr"/>
          <a:lstStyle/>
          <a:p>
            <a:pPr algn="ctr"/>
          </a:p>
        </p:txBody>
      </p:sp>
      <p:sp>
        <p:nvSpPr>
          <p:cNvPr id="13" name="TextBox 12"/>
          <p:cNvSpPr txBox="1"/>
          <p:nvPr/>
        </p:nvSpPr>
        <p:spPr>
          <a:xfrm>
            <a:off x="670560" y="2865120"/>
            <a:ext cx="2575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Episodes · M2</a:t>
            </a:r>
          </a:p>
        </p:txBody>
      </p:sp>
      <p:sp>
        <p:nvSpPr>
          <p:cNvPr id="14" name="TextBox 13"/>
          <p:cNvSpPr txBox="1"/>
          <p:nvPr/>
        </p:nvSpPr>
        <p:spPr>
          <a:xfrm>
            <a:off x="3489960" y="2865120"/>
            <a:ext cx="39090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Occurrence identity; sequence CAS</a:t>
            </a:r>
          </a:p>
        </p:txBody>
      </p:sp>
      <p:sp>
        <p:nvSpPr>
          <p:cNvPr id="15" name="TextBox 14"/>
          <p:cNvSpPr txBox="1"/>
          <p:nvPr/>
        </p:nvSpPr>
        <p:spPr>
          <a:xfrm>
            <a:off x="7642859" y="2865120"/>
            <a:ext cx="38785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EP-order / duplicate / contrary / privacy</a:t>
            </a:r>
          </a:p>
        </p:txBody>
      </p:sp>
      <p:sp>
        <p:nvSpPr>
          <p:cNvPr id="16" name="Rounded Rectangle 15"/>
          <p:cNvSpPr/>
          <p:nvPr/>
        </p:nvSpPr>
        <p:spPr>
          <a:xfrm>
            <a:off x="548640" y="3360419"/>
            <a:ext cx="11094720" cy="586740"/>
          </a:xfrm>
          <a:prstGeom prst="roundRect">
            <a:avLst>
              <a:gd name="adj" fmla="val 7792"/>
            </a:avLst>
          </a:prstGeom>
          <a:solidFill>
            <a:srgbClr val="FFFFFF"/>
          </a:solidFill>
          <a:ln>
            <a:noFill/>
          </a:ln>
          <a:effectLst/>
        </p:spPr>
        <p:txBody>
          <a:bodyPr rtlCol="0" anchor="ctr"/>
          <a:lstStyle/>
          <a:p>
            <a:pPr algn="ctr"/>
          </a:p>
        </p:txBody>
      </p:sp>
      <p:sp>
        <p:nvSpPr>
          <p:cNvPr id="17" name="TextBox 16"/>
          <p:cNvSpPr txBox="1"/>
          <p:nvPr/>
        </p:nvSpPr>
        <p:spPr>
          <a:xfrm>
            <a:off x="670560" y="3489960"/>
            <a:ext cx="2575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Belief revision · M2</a:t>
            </a:r>
          </a:p>
        </p:txBody>
      </p:sp>
      <p:sp>
        <p:nvSpPr>
          <p:cNvPr id="18" name="TextBox 17"/>
          <p:cNvSpPr txBox="1"/>
          <p:nvPr/>
        </p:nvSpPr>
        <p:spPr>
          <a:xfrm>
            <a:off x="3489960" y="3489960"/>
            <a:ext cx="39090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Numerical model; lineage; independence</a:t>
            </a:r>
          </a:p>
        </p:txBody>
      </p:sp>
      <p:sp>
        <p:nvSpPr>
          <p:cNvPr id="19" name="TextBox 18"/>
          <p:cNvSpPr txBox="1"/>
          <p:nvPr/>
        </p:nvSpPr>
        <p:spPr>
          <a:xfrm>
            <a:off x="7642859" y="3489960"/>
            <a:ext cx="38785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BR-overlap / cycle / contradiction / golden</a:t>
            </a:r>
          </a:p>
        </p:txBody>
      </p:sp>
      <p:sp>
        <p:nvSpPr>
          <p:cNvPr id="20" name="Rounded Rectangle 19"/>
          <p:cNvSpPr/>
          <p:nvPr/>
        </p:nvSpPr>
        <p:spPr>
          <a:xfrm>
            <a:off x="548640" y="3985260"/>
            <a:ext cx="11094720" cy="586740"/>
          </a:xfrm>
          <a:prstGeom prst="roundRect">
            <a:avLst>
              <a:gd name="adj" fmla="val 7792"/>
            </a:avLst>
          </a:prstGeom>
          <a:solidFill>
            <a:srgbClr val="FFFFFF"/>
          </a:solidFill>
          <a:ln>
            <a:noFill/>
          </a:ln>
          <a:effectLst/>
        </p:spPr>
        <p:txBody>
          <a:bodyPr rtlCol="0" anchor="ctr"/>
          <a:lstStyle/>
          <a:p>
            <a:pPr algn="ctr"/>
          </a:p>
        </p:txBody>
      </p:sp>
      <p:sp>
        <p:nvSpPr>
          <p:cNvPr id="21" name="TextBox 20"/>
          <p:cNvSpPr txBox="1"/>
          <p:nvPr/>
        </p:nvSpPr>
        <p:spPr>
          <a:xfrm>
            <a:off x="670560" y="4114800"/>
            <a:ext cx="2575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Attention · M3</a:t>
            </a:r>
          </a:p>
        </p:txBody>
      </p:sp>
      <p:sp>
        <p:nvSpPr>
          <p:cNvPr id="22" name="TextBox 21"/>
          <p:cNvSpPr txBox="1"/>
          <p:nvPr/>
        </p:nvSpPr>
        <p:spPr>
          <a:xfrm>
            <a:off x="3489960" y="4114800"/>
            <a:ext cx="39090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STI policy; logical time; budget; ties</a:t>
            </a:r>
          </a:p>
        </p:txBody>
      </p:sp>
      <p:sp>
        <p:nvSpPr>
          <p:cNvPr id="23" name="TextBox 22"/>
          <p:cNvSpPr txBox="1"/>
          <p:nvPr/>
        </p:nvSpPr>
        <p:spPr>
          <a:xfrm>
            <a:off x="7642859" y="4114800"/>
            <a:ext cx="38785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ECAN-no-PLN / owner / budget / decay</a:t>
            </a:r>
          </a:p>
        </p:txBody>
      </p:sp>
      <p:sp>
        <p:nvSpPr>
          <p:cNvPr id="24" name="Rounded Rectangle 23"/>
          <p:cNvSpPr/>
          <p:nvPr/>
        </p:nvSpPr>
        <p:spPr>
          <a:xfrm>
            <a:off x="548640" y="4610100"/>
            <a:ext cx="11094720" cy="586740"/>
          </a:xfrm>
          <a:prstGeom prst="roundRect">
            <a:avLst>
              <a:gd name="adj" fmla="val 7792"/>
            </a:avLst>
          </a:prstGeom>
          <a:solidFill>
            <a:srgbClr val="FFFFFF"/>
          </a:solidFill>
          <a:ln>
            <a:noFill/>
          </a:ln>
          <a:effectLst/>
        </p:spPr>
        <p:txBody>
          <a:bodyPr rtlCol="0" anchor="ctr"/>
          <a:lstStyle/>
          <a:p>
            <a:pPr algn="ctr"/>
          </a:p>
        </p:txBody>
      </p:sp>
      <p:sp>
        <p:nvSpPr>
          <p:cNvPr id="25" name="TextBox 24"/>
          <p:cNvSpPr txBox="1"/>
          <p:nvPr/>
        </p:nvSpPr>
        <p:spPr>
          <a:xfrm>
            <a:off x="670560" y="4739640"/>
            <a:ext cx="2575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PLN kernel · M3</a:t>
            </a:r>
          </a:p>
        </p:txBody>
      </p:sp>
      <p:sp>
        <p:nvSpPr>
          <p:cNvPr id="26" name="TextBox 25"/>
          <p:cNvSpPr txBox="1"/>
          <p:nvPr/>
        </p:nvSpPr>
        <p:spPr>
          <a:xfrm>
            <a:off x="3489960" y="4739640"/>
            <a:ext cx="39090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Rule version; ordered premise snapshots</a:t>
            </a:r>
          </a:p>
        </p:txBody>
      </p:sp>
      <p:sp>
        <p:nvSpPr>
          <p:cNvPr id="27" name="TextBox 26"/>
          <p:cNvSpPr txBox="1"/>
          <p:nvPr/>
        </p:nvSpPr>
        <p:spPr>
          <a:xfrm>
            <a:off x="7642859" y="4739640"/>
            <a:ext cx="38785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PLN-order / golden / purity / lineage</a:t>
            </a:r>
          </a:p>
        </p:txBody>
      </p:sp>
      <p:sp>
        <p:nvSpPr>
          <p:cNvPr id="28" name="Rounded Rectangle 27"/>
          <p:cNvSpPr/>
          <p:nvPr/>
        </p:nvSpPr>
        <p:spPr>
          <a:xfrm>
            <a:off x="548640" y="5234940"/>
            <a:ext cx="11094720" cy="586740"/>
          </a:xfrm>
          <a:prstGeom prst="roundRect">
            <a:avLst>
              <a:gd name="adj" fmla="val 7792"/>
            </a:avLst>
          </a:prstGeom>
          <a:solidFill>
            <a:srgbClr val="FFFFFF"/>
          </a:solidFill>
          <a:ln>
            <a:noFill/>
          </a:ln>
          <a:effectLst/>
        </p:spPr>
        <p:txBody>
          <a:bodyPr rtlCol="0" anchor="ctr"/>
          <a:lstStyle/>
          <a:p>
            <a:pPr algn="ctr"/>
          </a:p>
        </p:txBody>
      </p:sp>
      <p:sp>
        <p:nvSpPr>
          <p:cNvPr id="29" name="TextBox 28"/>
          <p:cNvSpPr txBox="1"/>
          <p:nvPr/>
        </p:nvSpPr>
        <p:spPr>
          <a:xfrm>
            <a:off x="670560" y="5364480"/>
            <a:ext cx="2575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Inference control · M3</a:t>
            </a:r>
          </a:p>
        </p:txBody>
      </p:sp>
      <p:sp>
        <p:nvSpPr>
          <p:cNvPr id="30" name="TextBox 29"/>
          <p:cNvSpPr txBox="1"/>
          <p:nvPr/>
        </p:nvSpPr>
        <p:spPr>
          <a:xfrm>
            <a:off x="3489960" y="5364480"/>
            <a:ext cx="39090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Candidate, rule, feedback, time limits</a:t>
            </a:r>
          </a:p>
        </p:txBody>
      </p:sp>
      <p:sp>
        <p:nvSpPr>
          <p:cNvPr id="31" name="TextBox 30"/>
          <p:cNvSpPr txBox="1"/>
          <p:nvPr/>
        </p:nvSpPr>
        <p:spPr>
          <a:xfrm>
            <a:off x="7642859" y="5364480"/>
            <a:ext cx="38785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IC-bounds / feedback / replay / swap</a:t>
            </a:r>
          </a:p>
        </p:txBody>
      </p:sp>
      <p:cxnSp>
        <p:nvCxnSpPr>
          <p:cNvPr id="32" name="Connector 31"/>
          <p:cNvCxnSpPr/>
          <p:nvPr/>
        </p:nvCxnSpPr>
        <p:spPr>
          <a:xfrm>
            <a:off x="548640" y="6393180"/>
            <a:ext cx="11094720" cy="0"/>
          </a:xfrm>
          <a:prstGeom prst="line">
            <a:avLst/>
          </a:prstGeom>
          <a:ln w="7620">
            <a:solidFill>
              <a:srgbClr val="C9D2D4"/>
            </a:solidFill>
          </a:ln>
          <a:effectLst/>
        </p:spPr>
      </p:cxnSp>
      <p:sp>
        <p:nvSpPr>
          <p:cNvPr id="33" name="TextBox 32"/>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M1.2 / ports.py · contracts.md</a:t>
            </a:r>
          </a:p>
        </p:txBody>
      </p:sp>
      <p:sp>
        <p:nvSpPr>
          <p:cNvPr id="34" name="TextBox 33"/>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28 / 33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APPENDIX C / ERROR AND RETRY SEMANTICS</a:t>
            </a:r>
          </a:p>
        </p:txBody>
      </p:sp>
      <p:sp>
        <p:nvSpPr>
          <p:cNvPr id="3" name="TextBox 2"/>
          <p:cNvSpPr txBox="1"/>
          <p:nvPr/>
        </p:nvSpPr>
        <p:spPr>
          <a:xfrm>
            <a:off x="533400" y="723900"/>
            <a:ext cx="11125200" cy="468172"/>
          </a:xfrm>
          <a:prstGeom prst="rect">
            <a:avLst/>
          </a:prstGeom>
          <a:noFill/>
        </p:spPr>
        <p:txBody>
          <a:bodyPr wrap="none" lIns="0" rIns="0" tIns="0" bIns="0" anchor="t" anchorCtr="0">
            <a:noAutofit/>
          </a:bodyPr>
          <a:lstStyle/>
          <a:p>
            <a:pPr algn="l">
              <a:lnSpc>
                <a:spcPct val="100000"/>
              </a:lnSpc>
              <a:spcBef>
                <a:spcPts val="0"/>
              </a:spcBef>
              <a:spcAft>
                <a:spcPts val="0"/>
              </a:spcAft>
            </a:pPr>
            <a:r>
              <a:rPr sz="2879" b="1">
                <a:solidFill>
                  <a:srgbClr val="102B3F"/>
                </a:solidFill>
                <a:latin typeface="DejaVu Sans"/>
              </a:rPr>
              <a:t>Typed failures preserve the caller’s recovery choices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Unknown outcome is different from known rejection; an empty inbox is different from failure.</a:t>
            </a:r>
          </a:p>
        </p:txBody>
      </p:sp>
      <p:sp>
        <p:nvSpPr>
          <p:cNvPr id="5" name="TextBox 4"/>
          <p:cNvSpPr txBox="1"/>
          <p:nvPr/>
        </p:nvSpPr>
        <p:spPr>
          <a:xfrm>
            <a:off x="670560" y="1790700"/>
            <a:ext cx="29565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OBSERVATION / ERROR</a:t>
            </a:r>
          </a:p>
        </p:txBody>
      </p:sp>
      <p:sp>
        <p:nvSpPr>
          <p:cNvPr id="6" name="TextBox 5"/>
          <p:cNvSpPr txBox="1"/>
          <p:nvPr/>
        </p:nvSpPr>
        <p:spPr>
          <a:xfrm>
            <a:off x="3870960" y="1790700"/>
            <a:ext cx="36880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MEANING</a:t>
            </a:r>
          </a:p>
        </p:txBody>
      </p:sp>
      <p:sp>
        <p:nvSpPr>
          <p:cNvPr id="7" name="TextBox 6"/>
          <p:cNvSpPr txBox="1"/>
          <p:nvPr/>
        </p:nvSpPr>
        <p:spPr>
          <a:xfrm>
            <a:off x="7802880" y="1790700"/>
            <a:ext cx="37185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CALLER ACTION</a:t>
            </a:r>
          </a:p>
        </p:txBody>
      </p:sp>
      <p:sp>
        <p:nvSpPr>
          <p:cNvPr id="8" name="Rounded Rectangle 7"/>
          <p:cNvSpPr/>
          <p:nvPr/>
        </p:nvSpPr>
        <p:spPr>
          <a:xfrm>
            <a:off x="548640" y="2110740"/>
            <a:ext cx="11094720" cy="586740"/>
          </a:xfrm>
          <a:prstGeom prst="roundRect">
            <a:avLst>
              <a:gd name="adj" fmla="val 7792"/>
            </a:avLst>
          </a:prstGeom>
          <a:solidFill>
            <a:srgbClr val="FFFFFF"/>
          </a:solidFill>
          <a:ln>
            <a:noFill/>
          </a:ln>
          <a:effectLst/>
        </p:spPr>
        <p:txBody>
          <a:bodyPr rtlCol="0" anchor="ctr"/>
          <a:lstStyle/>
          <a:p>
            <a:pPr algn="ctr"/>
          </a:p>
        </p:txBody>
      </p:sp>
      <p:sp>
        <p:nvSpPr>
          <p:cNvPr id="9" name="TextBox 8"/>
          <p:cNvSpPr txBox="1"/>
          <p:nvPr/>
        </p:nvSpPr>
        <p:spPr>
          <a:xfrm>
            <a:off x="670560" y="2240280"/>
            <a:ext cx="2956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NOT_FOUND</a:t>
            </a:r>
          </a:p>
        </p:txBody>
      </p:sp>
      <p:sp>
        <p:nvSpPr>
          <p:cNvPr id="10" name="TextBox 9"/>
          <p:cNvSpPr txBox="1"/>
          <p:nvPr/>
        </p:nvSpPr>
        <p:spPr>
          <a:xfrm>
            <a:off x="3870960" y="2240280"/>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No such scoped atom metadata</a:t>
            </a:r>
          </a:p>
        </p:txBody>
      </p:sp>
      <p:sp>
        <p:nvSpPr>
          <p:cNvPr id="11" name="TextBox 10"/>
          <p:cNvSpPr txBox="1"/>
          <p:nvPr/>
        </p:nvSpPr>
        <p:spPr>
          <a:xfrm>
            <a:off x="7802880" y="2240280"/>
            <a:ext cx="3718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Correct the reference</a:t>
            </a:r>
          </a:p>
        </p:txBody>
      </p:sp>
      <p:sp>
        <p:nvSpPr>
          <p:cNvPr id="12" name="Rounded Rectangle 11"/>
          <p:cNvSpPr/>
          <p:nvPr/>
        </p:nvSpPr>
        <p:spPr>
          <a:xfrm>
            <a:off x="548640" y="2735580"/>
            <a:ext cx="11094720" cy="586740"/>
          </a:xfrm>
          <a:prstGeom prst="roundRect">
            <a:avLst>
              <a:gd name="adj" fmla="val 7792"/>
            </a:avLst>
          </a:prstGeom>
          <a:solidFill>
            <a:srgbClr val="FFFFFF"/>
          </a:solidFill>
          <a:ln>
            <a:noFill/>
          </a:ln>
          <a:effectLst/>
        </p:spPr>
        <p:txBody>
          <a:bodyPr rtlCol="0" anchor="ctr"/>
          <a:lstStyle/>
          <a:p>
            <a:pPr algn="ctr"/>
          </a:p>
        </p:txBody>
      </p:sp>
      <p:sp>
        <p:nvSpPr>
          <p:cNvPr id="13" name="TextBox 12"/>
          <p:cNvSpPr txBox="1"/>
          <p:nvPr/>
        </p:nvSpPr>
        <p:spPr>
          <a:xfrm>
            <a:off x="670560" y="2865120"/>
            <a:ext cx="2956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NOT_AVAILABLE</a:t>
            </a:r>
          </a:p>
        </p:txBody>
      </p:sp>
      <p:sp>
        <p:nvSpPr>
          <p:cNvPr id="14" name="TextBox 13"/>
          <p:cNvSpPr txBox="1"/>
          <p:nvPr/>
        </p:nvSpPr>
        <p:spPr>
          <a:xfrm>
            <a:off x="3870960" y="2865120"/>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Known data / result temporarily</a:t>
            </a:r>
          </a:p>
        </p:txBody>
      </p:sp>
      <p:sp>
        <p:nvSpPr>
          <p:cNvPr id="15" name="TextBox 14"/>
          <p:cNvSpPr txBox="1"/>
          <p:nvPr/>
        </p:nvSpPr>
        <p:spPr>
          <a:xfrm>
            <a:off x="3870960" y="3089452"/>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unavailable</a:t>
            </a:r>
          </a:p>
        </p:txBody>
      </p:sp>
      <p:sp>
        <p:nvSpPr>
          <p:cNvPr id="16" name="TextBox 15"/>
          <p:cNvSpPr txBox="1"/>
          <p:nvPr/>
        </p:nvSpPr>
        <p:spPr>
          <a:xfrm>
            <a:off x="7802880" y="2865120"/>
            <a:ext cx="3718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Retry or query the owner</a:t>
            </a:r>
          </a:p>
        </p:txBody>
      </p:sp>
      <p:sp>
        <p:nvSpPr>
          <p:cNvPr id="17" name="Rounded Rectangle 16"/>
          <p:cNvSpPr/>
          <p:nvPr/>
        </p:nvSpPr>
        <p:spPr>
          <a:xfrm>
            <a:off x="548640" y="3360419"/>
            <a:ext cx="11094720" cy="586740"/>
          </a:xfrm>
          <a:prstGeom prst="roundRect">
            <a:avLst>
              <a:gd name="adj" fmla="val 7792"/>
            </a:avLst>
          </a:prstGeom>
          <a:solidFill>
            <a:srgbClr val="FFFFFF"/>
          </a:solidFill>
          <a:ln>
            <a:noFill/>
          </a:ln>
          <a:effectLst/>
        </p:spPr>
        <p:txBody>
          <a:bodyPr rtlCol="0" anchor="ctr"/>
          <a:lstStyle/>
          <a:p>
            <a:pPr algn="ctr"/>
          </a:p>
        </p:txBody>
      </p:sp>
      <p:sp>
        <p:nvSpPr>
          <p:cNvPr id="18" name="TextBox 17"/>
          <p:cNvSpPr txBox="1"/>
          <p:nvPr/>
        </p:nvSpPr>
        <p:spPr>
          <a:xfrm>
            <a:off x="670560" y="3489960"/>
            <a:ext cx="2956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OVERLOADED</a:t>
            </a:r>
          </a:p>
        </p:txBody>
      </p:sp>
      <p:sp>
        <p:nvSpPr>
          <p:cNvPr id="19" name="TextBox 18"/>
          <p:cNvSpPr txBox="1"/>
          <p:nvPr/>
        </p:nvSpPr>
        <p:spPr>
          <a:xfrm>
            <a:off x="3870960" y="3489960"/>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Capacity or current writer lock</a:t>
            </a:r>
          </a:p>
        </p:txBody>
      </p:sp>
      <p:sp>
        <p:nvSpPr>
          <p:cNvPr id="20" name="TextBox 19"/>
          <p:cNvSpPr txBox="1"/>
          <p:nvPr/>
        </p:nvSpPr>
        <p:spPr>
          <a:xfrm>
            <a:off x="3870960" y="3714292"/>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unavailable</a:t>
            </a:r>
          </a:p>
        </p:txBody>
      </p:sp>
      <p:sp>
        <p:nvSpPr>
          <p:cNvPr id="21" name="TextBox 20"/>
          <p:cNvSpPr txBox="1"/>
          <p:nvPr/>
        </p:nvSpPr>
        <p:spPr>
          <a:xfrm>
            <a:off x="7802880" y="3489960"/>
            <a:ext cx="3718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Back off; reuse key + semantic input</a:t>
            </a:r>
          </a:p>
        </p:txBody>
      </p:sp>
      <p:sp>
        <p:nvSpPr>
          <p:cNvPr id="22" name="Rounded Rectangle 21"/>
          <p:cNvSpPr/>
          <p:nvPr/>
        </p:nvSpPr>
        <p:spPr>
          <a:xfrm>
            <a:off x="548640" y="3985260"/>
            <a:ext cx="11094720" cy="586740"/>
          </a:xfrm>
          <a:prstGeom prst="roundRect">
            <a:avLst>
              <a:gd name="adj" fmla="val 7792"/>
            </a:avLst>
          </a:prstGeom>
          <a:solidFill>
            <a:srgbClr val="FFFFFF"/>
          </a:solidFill>
          <a:ln>
            <a:noFill/>
          </a:ln>
          <a:effectLst/>
        </p:spPr>
        <p:txBody>
          <a:bodyPr rtlCol="0" anchor="ctr"/>
          <a:lstStyle/>
          <a:p>
            <a:pPr algn="ctr"/>
          </a:p>
        </p:txBody>
      </p:sp>
      <p:sp>
        <p:nvSpPr>
          <p:cNvPr id="23" name="TextBox 22"/>
          <p:cNvSpPr txBox="1"/>
          <p:nvPr/>
        </p:nvSpPr>
        <p:spPr>
          <a:xfrm>
            <a:off x="670560" y="4114800"/>
            <a:ext cx="2956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CONFLICT</a:t>
            </a:r>
          </a:p>
        </p:txBody>
      </p:sp>
      <p:sp>
        <p:nvSpPr>
          <p:cNvPr id="24" name="TextBox 23"/>
          <p:cNvSpPr txBox="1"/>
          <p:nvPr/>
        </p:nvSpPr>
        <p:spPr>
          <a:xfrm>
            <a:off x="3870960" y="4114800"/>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Same key changed meaning / revision</a:t>
            </a:r>
          </a:p>
        </p:txBody>
      </p:sp>
      <p:sp>
        <p:nvSpPr>
          <p:cNvPr id="25" name="TextBox 24"/>
          <p:cNvSpPr txBox="1"/>
          <p:nvPr/>
        </p:nvSpPr>
        <p:spPr>
          <a:xfrm>
            <a:off x="3870960" y="4339132"/>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mismatch</a:t>
            </a:r>
          </a:p>
        </p:txBody>
      </p:sp>
      <p:sp>
        <p:nvSpPr>
          <p:cNvPr id="26" name="TextBox 25"/>
          <p:cNvSpPr txBox="1"/>
          <p:nvPr/>
        </p:nvSpPr>
        <p:spPr>
          <a:xfrm>
            <a:off x="7802880" y="4114800"/>
            <a:ext cx="3718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Reconcile; do not blindly replay</a:t>
            </a:r>
          </a:p>
        </p:txBody>
      </p:sp>
      <p:sp>
        <p:nvSpPr>
          <p:cNvPr id="27" name="Rounded Rectangle 26"/>
          <p:cNvSpPr/>
          <p:nvPr/>
        </p:nvSpPr>
        <p:spPr>
          <a:xfrm>
            <a:off x="548640" y="4610100"/>
            <a:ext cx="11094720" cy="586740"/>
          </a:xfrm>
          <a:prstGeom prst="roundRect">
            <a:avLst>
              <a:gd name="adj" fmla="val 7792"/>
            </a:avLst>
          </a:prstGeom>
          <a:solidFill>
            <a:srgbClr val="FFFFFF"/>
          </a:solidFill>
          <a:ln>
            <a:noFill/>
          </a:ln>
          <a:effectLst/>
        </p:spPr>
        <p:txBody>
          <a:bodyPr rtlCol="0" anchor="ctr"/>
          <a:lstStyle/>
          <a:p>
            <a:pPr algn="ctr"/>
          </a:p>
        </p:txBody>
      </p:sp>
      <p:sp>
        <p:nvSpPr>
          <p:cNvPr id="28" name="TextBox 27"/>
          <p:cNvSpPr txBox="1"/>
          <p:nvPr/>
        </p:nvSpPr>
        <p:spPr>
          <a:xfrm>
            <a:off x="670560" y="4739640"/>
            <a:ext cx="2956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UNAUTHORIZED /</a:t>
            </a:r>
          </a:p>
        </p:txBody>
      </p:sp>
      <p:sp>
        <p:nvSpPr>
          <p:cNvPr id="29" name="TextBox 28"/>
          <p:cNvSpPr txBox="1"/>
          <p:nvPr/>
        </p:nvSpPr>
        <p:spPr>
          <a:xfrm>
            <a:off x="670560" y="4963972"/>
            <a:ext cx="2956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UNSUPPORTED_*</a:t>
            </a:r>
          </a:p>
        </p:txBody>
      </p:sp>
      <p:sp>
        <p:nvSpPr>
          <p:cNvPr id="30" name="TextBox 29"/>
          <p:cNvSpPr txBox="1"/>
          <p:nvPr/>
        </p:nvSpPr>
        <p:spPr>
          <a:xfrm>
            <a:off x="3870960" y="4739640"/>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Access or contract requirements fail</a:t>
            </a:r>
          </a:p>
        </p:txBody>
      </p:sp>
      <p:sp>
        <p:nvSpPr>
          <p:cNvPr id="31" name="TextBox 30"/>
          <p:cNvSpPr txBox="1"/>
          <p:nvPr/>
        </p:nvSpPr>
        <p:spPr>
          <a:xfrm>
            <a:off x="7802880" y="4739640"/>
            <a:ext cx="3718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Change authorization or requirements</a:t>
            </a:r>
          </a:p>
        </p:txBody>
      </p:sp>
      <p:sp>
        <p:nvSpPr>
          <p:cNvPr id="32" name="Rounded Rectangle 31"/>
          <p:cNvSpPr/>
          <p:nvPr/>
        </p:nvSpPr>
        <p:spPr>
          <a:xfrm>
            <a:off x="548640" y="5234940"/>
            <a:ext cx="11094720" cy="586740"/>
          </a:xfrm>
          <a:prstGeom prst="roundRect">
            <a:avLst>
              <a:gd name="adj" fmla="val 7792"/>
            </a:avLst>
          </a:prstGeom>
          <a:solidFill>
            <a:srgbClr val="FFFFFF"/>
          </a:solidFill>
          <a:ln>
            <a:noFill/>
          </a:ln>
          <a:effectLst/>
        </p:spPr>
        <p:txBody>
          <a:bodyPr rtlCol="0" anchor="ctr"/>
          <a:lstStyle/>
          <a:p>
            <a:pPr algn="ctr"/>
          </a:p>
        </p:txBody>
      </p:sp>
      <p:sp>
        <p:nvSpPr>
          <p:cNvPr id="33" name="TextBox 32"/>
          <p:cNvSpPr txBox="1"/>
          <p:nvPr/>
        </p:nvSpPr>
        <p:spPr>
          <a:xfrm>
            <a:off x="670560" y="5364480"/>
            <a:ext cx="2956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Transport loss</a:t>
            </a:r>
          </a:p>
        </p:txBody>
      </p:sp>
      <p:sp>
        <p:nvSpPr>
          <p:cNvPr id="34" name="TextBox 33"/>
          <p:cNvSpPr txBox="1"/>
          <p:nvPr/>
        </p:nvSpPr>
        <p:spPr>
          <a:xfrm>
            <a:off x="3870960" y="5364480"/>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Acceptance may already be durable</a:t>
            </a:r>
          </a:p>
        </p:txBody>
      </p:sp>
      <p:sp>
        <p:nvSpPr>
          <p:cNvPr id="35" name="TextBox 34"/>
          <p:cNvSpPr txBox="1"/>
          <p:nvPr/>
        </p:nvSpPr>
        <p:spPr>
          <a:xfrm>
            <a:off x="7802880" y="5364480"/>
            <a:ext cx="3718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Recover by key / job; do not assume</a:t>
            </a:r>
          </a:p>
        </p:txBody>
      </p:sp>
      <p:sp>
        <p:nvSpPr>
          <p:cNvPr id="36" name="TextBox 35"/>
          <p:cNvSpPr txBox="1"/>
          <p:nvPr/>
        </p:nvSpPr>
        <p:spPr>
          <a:xfrm>
            <a:off x="7802880" y="5588812"/>
            <a:ext cx="3718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failure</a:t>
            </a:r>
          </a:p>
        </p:txBody>
      </p:sp>
      <p:cxnSp>
        <p:nvCxnSpPr>
          <p:cNvPr id="37" name="Connector 36"/>
          <p:cNvCxnSpPr/>
          <p:nvPr/>
        </p:nvCxnSpPr>
        <p:spPr>
          <a:xfrm>
            <a:off x="548640" y="6393180"/>
            <a:ext cx="11094720" cy="0"/>
          </a:xfrm>
          <a:prstGeom prst="line">
            <a:avLst/>
          </a:prstGeom>
          <a:ln w="7620">
            <a:solidFill>
              <a:srgbClr val="C9D2D4"/>
            </a:solidFill>
          </a:ln>
          <a:effectLst/>
        </p:spPr>
      </p:cxnSp>
      <p:sp>
        <p:nvSpPr>
          <p:cNvPr id="38" name="TextBox 37"/>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M1.2 / contracts.md · service.py</a:t>
            </a:r>
          </a:p>
        </p:txBody>
      </p:sp>
      <p:sp>
        <p:nvSpPr>
          <p:cNvPr id="39" name="TextBox 38"/>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29 / 33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APPENDIX D / SOURCE LEDGER</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Exact source identity includes the rebaseline</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Commit prefixes are navigation aids; full SHAs, locks and clean-state checks are in the evidence.</a:t>
            </a:r>
          </a:p>
        </p:txBody>
      </p:sp>
      <p:sp>
        <p:nvSpPr>
          <p:cNvPr id="5" name="TextBox 4"/>
          <p:cNvSpPr txBox="1"/>
          <p:nvPr/>
        </p:nvSpPr>
        <p:spPr>
          <a:xfrm>
            <a:off x="670560" y="1790700"/>
            <a:ext cx="32613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INPUT</a:t>
            </a:r>
          </a:p>
        </p:txBody>
      </p:sp>
      <p:sp>
        <p:nvSpPr>
          <p:cNvPr id="6" name="TextBox 5"/>
          <p:cNvSpPr txBox="1"/>
          <p:nvPr/>
        </p:nvSpPr>
        <p:spPr>
          <a:xfrm>
            <a:off x="4175760" y="1790700"/>
            <a:ext cx="26136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COMMIT / VERSION</a:t>
            </a:r>
          </a:p>
        </p:txBody>
      </p:sp>
      <p:sp>
        <p:nvSpPr>
          <p:cNvPr id="7" name="TextBox 6"/>
          <p:cNvSpPr txBox="1"/>
          <p:nvPr/>
        </p:nvSpPr>
        <p:spPr>
          <a:xfrm>
            <a:off x="7033259" y="1790700"/>
            <a:ext cx="448818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USE AND SOURCE STATE</a:t>
            </a:r>
          </a:p>
        </p:txBody>
      </p:sp>
      <p:sp>
        <p:nvSpPr>
          <p:cNvPr id="8" name="Rounded Rectangle 7"/>
          <p:cNvSpPr/>
          <p:nvPr/>
        </p:nvSpPr>
        <p:spPr>
          <a:xfrm>
            <a:off x="548640" y="2110740"/>
            <a:ext cx="11094720" cy="495300"/>
          </a:xfrm>
          <a:prstGeom prst="roundRect">
            <a:avLst>
              <a:gd name="adj" fmla="val 9230"/>
            </a:avLst>
          </a:prstGeom>
          <a:solidFill>
            <a:srgbClr val="FFFFFF"/>
          </a:solidFill>
          <a:ln>
            <a:noFill/>
          </a:ln>
          <a:effectLst/>
        </p:spPr>
        <p:txBody>
          <a:bodyPr rtlCol="0" anchor="ctr"/>
          <a:lstStyle/>
          <a:p>
            <a:pPr algn="ctr"/>
          </a:p>
        </p:txBody>
      </p:sp>
      <p:sp>
        <p:nvSpPr>
          <p:cNvPr id="9" name="TextBox 8"/>
          <p:cNvSpPr txBox="1"/>
          <p:nvPr/>
        </p:nvSpPr>
        <p:spPr>
          <a:xfrm>
            <a:off x="670560" y="2240280"/>
            <a:ext cx="326136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102B3F"/>
                </a:solidFill>
                <a:latin typeface="DejaVu Sans"/>
              </a:rPr>
              <a:t>Fusion verification</a:t>
            </a:r>
          </a:p>
        </p:txBody>
      </p:sp>
      <p:sp>
        <p:nvSpPr>
          <p:cNvPr id="10" name="TextBox 9"/>
          <p:cNvSpPr txBox="1"/>
          <p:nvPr/>
        </p:nvSpPr>
        <p:spPr>
          <a:xfrm>
            <a:off x="4175760" y="2240280"/>
            <a:ext cx="261366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bb22ef5e28b0</a:t>
            </a:r>
          </a:p>
        </p:txBody>
      </p:sp>
      <p:sp>
        <p:nvSpPr>
          <p:cNvPr id="11" name="TextBox 10"/>
          <p:cNvSpPr txBox="1"/>
          <p:nvPr/>
        </p:nvSpPr>
        <p:spPr>
          <a:xfrm>
            <a:off x="7033259" y="2240280"/>
            <a:ext cx="448818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Tested implementation; clean checkout</a:t>
            </a:r>
          </a:p>
        </p:txBody>
      </p:sp>
      <p:sp>
        <p:nvSpPr>
          <p:cNvPr id="12" name="Rounded Rectangle 11"/>
          <p:cNvSpPr/>
          <p:nvPr/>
        </p:nvSpPr>
        <p:spPr>
          <a:xfrm>
            <a:off x="548640" y="2644140"/>
            <a:ext cx="11094720" cy="495300"/>
          </a:xfrm>
          <a:prstGeom prst="roundRect">
            <a:avLst>
              <a:gd name="adj" fmla="val 9230"/>
            </a:avLst>
          </a:prstGeom>
          <a:solidFill>
            <a:srgbClr val="FFFFFF"/>
          </a:solidFill>
          <a:ln>
            <a:noFill/>
          </a:ln>
          <a:effectLst/>
        </p:spPr>
        <p:txBody>
          <a:bodyPr rtlCol="0" anchor="ctr"/>
          <a:lstStyle/>
          <a:p>
            <a:pPr algn="ctr"/>
          </a:p>
        </p:txBody>
      </p:sp>
      <p:sp>
        <p:nvSpPr>
          <p:cNvPr id="13" name="TextBox 12"/>
          <p:cNvSpPr txBox="1"/>
          <p:nvPr/>
        </p:nvSpPr>
        <p:spPr>
          <a:xfrm>
            <a:off x="670560" y="2773680"/>
            <a:ext cx="326136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102B3F"/>
                </a:solidFill>
                <a:latin typeface="DejaVu Sans"/>
              </a:rPr>
              <a:t>Fusion evidence</a:t>
            </a:r>
          </a:p>
        </p:txBody>
      </p:sp>
      <p:sp>
        <p:nvSpPr>
          <p:cNvPr id="14" name="TextBox 13"/>
          <p:cNvSpPr txBox="1"/>
          <p:nvPr/>
        </p:nvSpPr>
        <p:spPr>
          <a:xfrm>
            <a:off x="4175760" y="2773680"/>
            <a:ext cx="261366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4ee5cbe8b846</a:t>
            </a:r>
          </a:p>
        </p:txBody>
      </p:sp>
      <p:sp>
        <p:nvSpPr>
          <p:cNvPr id="15" name="TextBox 14"/>
          <p:cNvSpPr txBox="1"/>
          <p:nvPr/>
        </p:nvSpPr>
        <p:spPr>
          <a:xfrm>
            <a:off x="7033259" y="2773680"/>
            <a:ext cx="448818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Documentation/evidence descendant; same code</a:t>
            </a:r>
          </a:p>
        </p:txBody>
      </p:sp>
      <p:sp>
        <p:nvSpPr>
          <p:cNvPr id="16" name="Rounded Rectangle 15"/>
          <p:cNvSpPr/>
          <p:nvPr/>
        </p:nvSpPr>
        <p:spPr>
          <a:xfrm>
            <a:off x="548640" y="3177540"/>
            <a:ext cx="11094720" cy="495300"/>
          </a:xfrm>
          <a:prstGeom prst="roundRect">
            <a:avLst>
              <a:gd name="adj" fmla="val 9230"/>
            </a:avLst>
          </a:prstGeom>
          <a:solidFill>
            <a:srgbClr val="FFFFFF"/>
          </a:solidFill>
          <a:ln>
            <a:noFill/>
          </a:ln>
          <a:effectLst/>
        </p:spPr>
        <p:txBody>
          <a:bodyPr rtlCol="0" anchor="ctr"/>
          <a:lstStyle/>
          <a:p>
            <a:pPr algn="ctr"/>
          </a:p>
        </p:txBody>
      </p:sp>
      <p:sp>
        <p:nvSpPr>
          <p:cNvPr id="17" name="TextBox 16"/>
          <p:cNvSpPr txBox="1"/>
          <p:nvPr/>
        </p:nvSpPr>
        <p:spPr>
          <a:xfrm>
            <a:off x="670560" y="3307079"/>
            <a:ext cx="326136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102B3F"/>
                </a:solidFill>
                <a:latin typeface="DejaVu Sans"/>
              </a:rPr>
              <a:t>omegahive-schematics</a:t>
            </a:r>
          </a:p>
        </p:txBody>
      </p:sp>
      <p:sp>
        <p:nvSpPr>
          <p:cNvPr id="18" name="TextBox 17"/>
          <p:cNvSpPr txBox="1"/>
          <p:nvPr/>
        </p:nvSpPr>
        <p:spPr>
          <a:xfrm>
            <a:off x="4175760" y="3307079"/>
            <a:ext cx="261366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4af00db4e395</a:t>
            </a:r>
          </a:p>
        </p:txBody>
      </p:sp>
      <p:sp>
        <p:nvSpPr>
          <p:cNvPr id="19" name="TextBox 18"/>
          <p:cNvSpPr txBox="1"/>
          <p:nvPr/>
        </p:nvSpPr>
        <p:spPr>
          <a:xfrm>
            <a:off x="7033259" y="3307079"/>
            <a:ext cx="448818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User-supplied runtime pointer</a:t>
            </a:r>
          </a:p>
        </p:txBody>
      </p:sp>
      <p:sp>
        <p:nvSpPr>
          <p:cNvPr id="20" name="Rounded Rectangle 19"/>
          <p:cNvSpPr/>
          <p:nvPr/>
        </p:nvSpPr>
        <p:spPr>
          <a:xfrm>
            <a:off x="548640" y="3710940"/>
            <a:ext cx="11094720" cy="495300"/>
          </a:xfrm>
          <a:prstGeom prst="roundRect">
            <a:avLst>
              <a:gd name="adj" fmla="val 9230"/>
            </a:avLst>
          </a:prstGeom>
          <a:solidFill>
            <a:srgbClr val="FFFFFF"/>
          </a:solidFill>
          <a:ln>
            <a:noFill/>
          </a:ln>
          <a:effectLst/>
        </p:spPr>
        <p:txBody>
          <a:bodyPr rtlCol="0" anchor="ctr"/>
          <a:lstStyle/>
          <a:p>
            <a:pPr algn="ctr"/>
          </a:p>
        </p:txBody>
      </p:sp>
      <p:sp>
        <p:nvSpPr>
          <p:cNvPr id="21" name="TextBox 20"/>
          <p:cNvSpPr txBox="1"/>
          <p:nvPr/>
        </p:nvSpPr>
        <p:spPr>
          <a:xfrm>
            <a:off x="670560" y="3840479"/>
            <a:ext cx="326136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102B3F"/>
                </a:solidFill>
                <a:latin typeface="DejaVu Sans"/>
              </a:rPr>
              <a:t>PhysixSNET/omegahive</a:t>
            </a:r>
          </a:p>
        </p:txBody>
      </p:sp>
      <p:sp>
        <p:nvSpPr>
          <p:cNvPr id="22" name="TextBox 21"/>
          <p:cNvSpPr txBox="1"/>
          <p:nvPr/>
        </p:nvSpPr>
        <p:spPr>
          <a:xfrm>
            <a:off x="4175760" y="3840479"/>
            <a:ext cx="261366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34b0fb32ab38</a:t>
            </a:r>
          </a:p>
        </p:txBody>
      </p:sp>
      <p:sp>
        <p:nvSpPr>
          <p:cNvPr id="23" name="TextBox 22"/>
          <p:cNvSpPr txBox="1"/>
          <p:nvPr/>
        </p:nvSpPr>
        <p:spPr>
          <a:xfrm>
            <a:off x="7033259" y="3840479"/>
            <a:ext cx="448818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Clean native source; actual dispatch</a:t>
            </a:r>
          </a:p>
        </p:txBody>
      </p:sp>
      <p:sp>
        <p:nvSpPr>
          <p:cNvPr id="24" name="Rounded Rectangle 23"/>
          <p:cNvSpPr/>
          <p:nvPr/>
        </p:nvSpPr>
        <p:spPr>
          <a:xfrm>
            <a:off x="548640" y="4244340"/>
            <a:ext cx="11094720" cy="495300"/>
          </a:xfrm>
          <a:prstGeom prst="roundRect">
            <a:avLst>
              <a:gd name="adj" fmla="val 9230"/>
            </a:avLst>
          </a:prstGeom>
          <a:solidFill>
            <a:srgbClr val="FFFFFF"/>
          </a:solidFill>
          <a:ln>
            <a:noFill/>
          </a:ln>
          <a:effectLst/>
        </p:spPr>
        <p:txBody>
          <a:bodyPr rtlCol="0" anchor="ctr"/>
          <a:lstStyle/>
          <a:p>
            <a:pPr algn="ctr"/>
          </a:p>
        </p:txBody>
      </p:sp>
      <p:sp>
        <p:nvSpPr>
          <p:cNvPr id="25" name="TextBox 24"/>
          <p:cNvSpPr txBox="1"/>
          <p:nvPr/>
        </p:nvSpPr>
        <p:spPr>
          <a:xfrm>
            <a:off x="670560" y="4373880"/>
            <a:ext cx="326136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102B3F"/>
                </a:solidFill>
                <a:latin typeface="DejaVu Sans"/>
              </a:rPr>
              <a:t>secured-contract-spaces</a:t>
            </a:r>
          </a:p>
        </p:txBody>
      </p:sp>
      <p:sp>
        <p:nvSpPr>
          <p:cNvPr id="26" name="TextBox 25"/>
          <p:cNvSpPr txBox="1"/>
          <p:nvPr/>
        </p:nvSpPr>
        <p:spPr>
          <a:xfrm>
            <a:off x="4175760" y="4373880"/>
            <a:ext cx="261366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272888f264dd</a:t>
            </a:r>
          </a:p>
        </p:txBody>
      </p:sp>
      <p:sp>
        <p:nvSpPr>
          <p:cNvPr id="27" name="TextBox 26"/>
          <p:cNvSpPr txBox="1"/>
          <p:nvPr/>
        </p:nvSpPr>
        <p:spPr>
          <a:xfrm>
            <a:off x="7033259" y="4373880"/>
            <a:ext cx="448818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Clean rebaseline; historical dirty bytes excluded</a:t>
            </a:r>
          </a:p>
        </p:txBody>
      </p:sp>
      <p:sp>
        <p:nvSpPr>
          <p:cNvPr id="28" name="Rounded Rectangle 27"/>
          <p:cNvSpPr/>
          <p:nvPr/>
        </p:nvSpPr>
        <p:spPr>
          <a:xfrm>
            <a:off x="548640" y="4777740"/>
            <a:ext cx="11094720" cy="495300"/>
          </a:xfrm>
          <a:prstGeom prst="roundRect">
            <a:avLst>
              <a:gd name="adj" fmla="val 9230"/>
            </a:avLst>
          </a:prstGeom>
          <a:solidFill>
            <a:srgbClr val="FFFFFF"/>
          </a:solidFill>
          <a:ln>
            <a:noFill/>
          </a:ln>
          <a:effectLst/>
        </p:spPr>
        <p:txBody>
          <a:bodyPr rtlCol="0" anchor="ctr"/>
          <a:lstStyle/>
          <a:p>
            <a:pPr algn="ctr"/>
          </a:p>
        </p:txBody>
      </p:sp>
      <p:sp>
        <p:nvSpPr>
          <p:cNvPr id="29" name="TextBox 28"/>
          <p:cNvSpPr txBox="1"/>
          <p:nvPr/>
        </p:nvSpPr>
        <p:spPr>
          <a:xfrm>
            <a:off x="670560" y="4907280"/>
            <a:ext cx="326136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102B3F"/>
                </a:solidFill>
                <a:latin typeface="DejaVu Sans"/>
              </a:rPr>
              <a:t>PeTTa</a:t>
            </a:r>
          </a:p>
        </p:txBody>
      </p:sp>
      <p:sp>
        <p:nvSpPr>
          <p:cNvPr id="30" name="TextBox 29"/>
          <p:cNvSpPr txBox="1"/>
          <p:nvPr/>
        </p:nvSpPr>
        <p:spPr>
          <a:xfrm>
            <a:off x="4175760" y="4907280"/>
            <a:ext cx="261366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ae66fa8e41dc</a:t>
            </a:r>
          </a:p>
        </p:txBody>
      </p:sp>
      <p:sp>
        <p:nvSpPr>
          <p:cNvPr id="31" name="TextBox 30"/>
          <p:cNvSpPr txBox="1"/>
          <p:nvPr/>
        </p:nvSpPr>
        <p:spPr>
          <a:xfrm>
            <a:off x="7033259" y="4907280"/>
            <a:ext cx="448818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Clean native language runtime</a:t>
            </a:r>
          </a:p>
        </p:txBody>
      </p:sp>
      <p:sp>
        <p:nvSpPr>
          <p:cNvPr id="32" name="Rounded Rectangle 31"/>
          <p:cNvSpPr/>
          <p:nvPr/>
        </p:nvSpPr>
        <p:spPr>
          <a:xfrm>
            <a:off x="548640" y="5311140"/>
            <a:ext cx="11094720" cy="495300"/>
          </a:xfrm>
          <a:prstGeom prst="roundRect">
            <a:avLst>
              <a:gd name="adj" fmla="val 9230"/>
            </a:avLst>
          </a:prstGeom>
          <a:solidFill>
            <a:srgbClr val="FFFFFF"/>
          </a:solidFill>
          <a:ln>
            <a:noFill/>
          </a:ln>
          <a:effectLst/>
        </p:spPr>
        <p:txBody>
          <a:bodyPr rtlCol="0" anchor="ctr"/>
          <a:lstStyle/>
          <a:p>
            <a:pPr algn="ctr"/>
          </a:p>
        </p:txBody>
      </p:sp>
      <p:sp>
        <p:nvSpPr>
          <p:cNvPr id="33" name="TextBox 32"/>
          <p:cNvSpPr txBox="1"/>
          <p:nvPr/>
        </p:nvSpPr>
        <p:spPr>
          <a:xfrm>
            <a:off x="670560" y="5440680"/>
            <a:ext cx="326136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102B3F"/>
                </a:solidFill>
                <a:latin typeface="DejaVu Sans"/>
              </a:rPr>
              <a:t>SWI / Python / Janus</a:t>
            </a:r>
          </a:p>
        </p:txBody>
      </p:sp>
      <p:sp>
        <p:nvSpPr>
          <p:cNvPr id="34" name="TextBox 33"/>
          <p:cNvSpPr txBox="1"/>
          <p:nvPr/>
        </p:nvSpPr>
        <p:spPr>
          <a:xfrm>
            <a:off x="4175760" y="5440680"/>
            <a:ext cx="261366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10.1.14 / 3.12.12 / 1.5.3</a:t>
            </a:r>
          </a:p>
        </p:txBody>
      </p:sp>
      <p:sp>
        <p:nvSpPr>
          <p:cNvPr id="35" name="TextBox 34"/>
          <p:cNvSpPr txBox="1"/>
          <p:nvPr/>
        </p:nvSpPr>
        <p:spPr>
          <a:xfrm>
            <a:off x="7033259" y="5440680"/>
            <a:ext cx="448818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Pinned native build; hashed Python lock</a:t>
            </a:r>
          </a:p>
        </p:txBody>
      </p:sp>
      <p:cxnSp>
        <p:nvCxnSpPr>
          <p:cNvPr id="36" name="Connector 35"/>
          <p:cNvCxnSpPr/>
          <p:nvPr/>
        </p:nvCxnSpPr>
        <p:spPr>
          <a:xfrm>
            <a:off x="548640" y="6393180"/>
            <a:ext cx="11094720" cy="0"/>
          </a:xfrm>
          <a:prstGeom prst="line">
            <a:avLst/>
          </a:prstGeom>
          <a:ln w="7620">
            <a:solidFill>
              <a:srgbClr val="C9D2D4"/>
            </a:solidFill>
          </a:ln>
          <a:effectLst/>
        </p:spPr>
      </p:cxnSp>
      <p:sp>
        <p:nvSpPr>
          <p:cNvPr id="37" name="TextBox 36"/>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M1.2 / m1_2/manifest.json · final-source-state.json</a:t>
            </a:r>
          </a:p>
        </p:txBody>
      </p:sp>
      <p:sp>
        <p:nvSpPr>
          <p:cNvPr id="38" name="TextBox 37"/>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30 / 33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APPENDIX E / REPRODUCTION</a:t>
            </a:r>
          </a:p>
        </p:txBody>
      </p:sp>
      <p:sp>
        <p:nvSpPr>
          <p:cNvPr id="3" name="TextBox 2"/>
          <p:cNvSpPr txBox="1"/>
          <p:nvPr/>
        </p:nvSpPr>
        <p:spPr>
          <a:xfrm>
            <a:off x="533400" y="723900"/>
            <a:ext cx="11125200" cy="477926"/>
          </a:xfrm>
          <a:prstGeom prst="rect">
            <a:avLst/>
          </a:prstGeom>
          <a:noFill/>
        </p:spPr>
        <p:txBody>
          <a:bodyPr wrap="none" lIns="0" rIns="0" tIns="0" bIns="0" anchor="t" anchorCtr="0">
            <a:noAutofit/>
          </a:bodyPr>
          <a:lstStyle/>
          <a:p>
            <a:pPr algn="l">
              <a:lnSpc>
                <a:spcPct val="100000"/>
              </a:lnSpc>
              <a:spcBef>
                <a:spcPts val="0"/>
              </a:spcBef>
              <a:spcAft>
                <a:spcPts val="0"/>
              </a:spcAft>
            </a:pPr>
            <a:r>
              <a:rPr sz="2940" b="1">
                <a:solidFill>
                  <a:srgbClr val="102B3F"/>
                </a:solidFill>
                <a:latin typeface="DejaVu Sans"/>
              </a:rPr>
              <a:t>Reproduce the selected gates from a fresh checkout</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Authorized source access and warm Cargo/Python downloads are prerequisites; see the runbook.</a:t>
            </a:r>
          </a:p>
        </p:txBody>
      </p:sp>
      <p:sp>
        <p:nvSpPr>
          <p:cNvPr id="5" name="Rounded Rectangle 4"/>
          <p:cNvSpPr/>
          <p:nvPr/>
        </p:nvSpPr>
        <p:spPr>
          <a:xfrm>
            <a:off x="548640" y="1866900"/>
            <a:ext cx="11094720" cy="1424940"/>
          </a:xfrm>
          <a:prstGeom prst="roundRect">
            <a:avLst>
              <a:gd name="adj" fmla="val 6417"/>
            </a:avLst>
          </a:prstGeom>
          <a:solidFill>
            <a:srgbClr val="0B2233"/>
          </a:solidFill>
          <a:ln>
            <a:noFill/>
          </a:ln>
          <a:effectLst/>
        </p:spPr>
        <p:txBody>
          <a:bodyPr rtlCol="0" anchor="ctr"/>
          <a:lstStyle/>
          <a:p>
            <a:pPr algn="ctr"/>
          </a:p>
        </p:txBody>
      </p:sp>
      <p:sp>
        <p:nvSpPr>
          <p:cNvPr id="6" name="TextBox 5"/>
          <p:cNvSpPr txBox="1"/>
          <p:nvPr/>
        </p:nvSpPr>
        <p:spPr>
          <a:xfrm>
            <a:off x="762000" y="2034539"/>
            <a:ext cx="105156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77DDC4"/>
                </a:solidFill>
                <a:latin typeface="DejaVu Sans"/>
              </a:rPr>
              <a:t>BUILD PINNED NATIVE DEPENDENCIES</a:t>
            </a:r>
          </a:p>
        </p:txBody>
      </p:sp>
      <p:sp>
        <p:nvSpPr>
          <p:cNvPr id="7" name="TextBox 6"/>
          <p:cNvSpPr txBox="1"/>
          <p:nvPr/>
        </p:nvSpPr>
        <p:spPr>
          <a:xfrm>
            <a:off x="762000" y="2392680"/>
            <a:ext cx="105156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FFFFFF"/>
                </a:solidFill>
                <a:latin typeface="DejaVu Sans Mono"/>
              </a:rPr>
              <a:t>uv run --python 3.11 --locked python \</a:t>
            </a:r>
          </a:p>
        </p:txBody>
      </p:sp>
      <p:sp>
        <p:nvSpPr>
          <p:cNvPr id="8" name="TextBox 7"/>
          <p:cNvSpPr txBox="1"/>
          <p:nvPr/>
        </p:nvSpPr>
        <p:spPr>
          <a:xfrm>
            <a:off x="762000" y="2758440"/>
            <a:ext cx="105156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FFFFFF"/>
                </a:solidFill>
                <a:latin typeface="DejaVu Sans Mono"/>
              </a:rPr>
              <a:t>scripts/build_hive.py artifacts/native</a:t>
            </a:r>
          </a:p>
        </p:txBody>
      </p:sp>
      <p:sp>
        <p:nvSpPr>
          <p:cNvPr id="9" name="Rounded Rectangle 8"/>
          <p:cNvSpPr/>
          <p:nvPr/>
        </p:nvSpPr>
        <p:spPr>
          <a:xfrm>
            <a:off x="548640" y="3543300"/>
            <a:ext cx="11094720" cy="1424940"/>
          </a:xfrm>
          <a:prstGeom prst="roundRect">
            <a:avLst>
              <a:gd name="adj" fmla="val 6417"/>
            </a:avLst>
          </a:prstGeom>
          <a:solidFill>
            <a:srgbClr val="0B2233"/>
          </a:solidFill>
          <a:ln>
            <a:noFill/>
          </a:ln>
          <a:effectLst/>
        </p:spPr>
        <p:txBody>
          <a:bodyPr rtlCol="0" anchor="ctr"/>
          <a:lstStyle/>
          <a:p>
            <a:pPr algn="ctr"/>
          </a:p>
        </p:txBody>
      </p:sp>
      <p:sp>
        <p:nvSpPr>
          <p:cNvPr id="10" name="TextBox 9"/>
          <p:cNvSpPr txBox="1"/>
          <p:nvPr/>
        </p:nvSpPr>
        <p:spPr>
          <a:xfrm>
            <a:off x="762000" y="3710940"/>
            <a:ext cx="105156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77DDC4"/>
                </a:solidFill>
                <a:latin typeface="DejaVu Sans"/>
              </a:rPr>
              <a:t>VERIFY FIXTURES, REAL DETTA AND NATIVE HIVE</a:t>
            </a:r>
          </a:p>
        </p:txBody>
      </p:sp>
      <p:sp>
        <p:nvSpPr>
          <p:cNvPr id="11" name="TextBox 10"/>
          <p:cNvSpPr txBox="1"/>
          <p:nvPr/>
        </p:nvSpPr>
        <p:spPr>
          <a:xfrm>
            <a:off x="762000" y="4069079"/>
            <a:ext cx="105156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FFFFFF"/>
                </a:solidFill>
                <a:latin typeface="DejaVu Sans Mono"/>
              </a:rPr>
              <a:t>uv run --python 3.11 --locked python \</a:t>
            </a:r>
          </a:p>
        </p:txBody>
      </p:sp>
      <p:sp>
        <p:nvSpPr>
          <p:cNvPr id="12" name="TextBox 11"/>
          <p:cNvSpPr txBox="1"/>
          <p:nvPr/>
        </p:nvSpPr>
        <p:spPr>
          <a:xfrm>
            <a:off x="762000" y="4434840"/>
            <a:ext cx="105156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FFFFFF"/>
                </a:solidFill>
                <a:latin typeface="DejaVu Sans Mono"/>
              </a:rPr>
              <a:t>scripts/verify_m12.py artifacts/native/environment.json</a:t>
            </a:r>
          </a:p>
        </p:txBody>
      </p:sp>
      <p:sp>
        <p:nvSpPr>
          <p:cNvPr id="13" name="TextBox 12"/>
          <p:cNvSpPr txBox="1"/>
          <p:nvPr/>
        </p:nvSpPr>
        <p:spPr>
          <a:xfrm>
            <a:off x="594360" y="5311140"/>
            <a:ext cx="108966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102B3F"/>
                </a:solidFill>
                <a:latin typeface="DejaVu Sans Mono"/>
              </a:rPr>
              <a:t>Fixture-only: uv run --python 3.11 --locked python scripts/verify_m11.py --fixture-only</a:t>
            </a:r>
          </a:p>
        </p:txBody>
      </p:sp>
      <p:sp>
        <p:nvSpPr>
          <p:cNvPr id="14" name="Rounded Rectangle 13"/>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15" name="TextBox 14"/>
          <p:cNvSpPr txBox="1"/>
          <p:nvPr/>
        </p:nvSpPr>
        <p:spPr>
          <a:xfrm>
            <a:off x="716280" y="5905500"/>
            <a:ext cx="107442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102B3F"/>
                </a:solidFill>
                <a:latin typeface="DejaVu Sans"/>
              </a:rPr>
              <a:t>Read manifest.json, verification.json, hive-trace.json and the preserved failure logs before extending scope.</a:t>
            </a:r>
          </a:p>
        </p:txBody>
      </p:sp>
      <p:cxnSp>
        <p:nvCxnSpPr>
          <p:cNvPr id="16" name="Connector 15"/>
          <p:cNvCxnSpPr/>
          <p:nvPr/>
        </p:nvCxnSpPr>
        <p:spPr>
          <a:xfrm>
            <a:off x="548640" y="6393180"/>
            <a:ext cx="11094720" cy="0"/>
          </a:xfrm>
          <a:prstGeom prst="line">
            <a:avLst/>
          </a:prstGeom>
          <a:ln w="7620">
            <a:solidFill>
              <a:srgbClr val="C9D2D4"/>
            </a:solidFill>
          </a:ln>
          <a:effectLst/>
        </p:spPr>
      </p:cxnSp>
      <p:sp>
        <p:nvSpPr>
          <p:cNvPr id="17" name="TextBox 16"/>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M1.2 / runbook.md · build_hive.py · verify_m12.py</a:t>
            </a:r>
          </a:p>
        </p:txBody>
      </p:sp>
      <p:sp>
        <p:nvSpPr>
          <p:cNvPr id="18" name="TextBox 17"/>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31 / 33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APPENDIX F / HISTORICAL EVIDENCE ONLY</a:t>
            </a:r>
          </a:p>
        </p:txBody>
      </p:sp>
      <p:sp>
        <p:nvSpPr>
          <p:cNvPr id="3" name="TextBox 2"/>
          <p:cNvSpPr txBox="1"/>
          <p:nvPr/>
        </p:nvSpPr>
        <p:spPr>
          <a:xfrm>
            <a:off x="533400" y="723900"/>
            <a:ext cx="11125200" cy="487680"/>
          </a:xfrm>
          <a:prstGeom prst="rect">
            <a:avLst/>
          </a:prstGeom>
          <a:noFill/>
        </p:spPr>
        <p:txBody>
          <a:bodyPr wrap="none" lIns="0" rIns="0" tIns="0" bIns="0" anchor="t" anchorCtr="0">
            <a:noAutofit/>
          </a:bodyPr>
          <a:lstStyle/>
          <a:p>
            <a:pPr algn="l">
              <a:lnSpc>
                <a:spcPct val="100000"/>
              </a:lnSpc>
              <a:spcBef>
                <a:spcPts val="0"/>
              </a:spcBef>
              <a:spcAft>
                <a:spcPts val="0"/>
              </a:spcAft>
            </a:pPr>
            <a:r>
              <a:rPr sz="3000" b="1">
                <a:solidFill>
                  <a:srgbClr val="102B3F"/>
                </a:solidFill>
                <a:latin typeface="DejaVu Sans"/>
              </a:rPr>
              <a:t>Historical M1: one result reached an isolated chain</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This is the earlier protocol-peer artifact. The M1.2 Hive result was not submitted.</a:t>
            </a:r>
          </a:p>
        </p:txBody>
      </p:sp>
      <p:sp>
        <p:nvSpPr>
          <p:cNvPr id="5" name="Rounded Rectangle 4"/>
          <p:cNvSpPr/>
          <p:nvPr/>
        </p:nvSpPr>
        <p:spPr>
          <a:xfrm>
            <a:off x="548640" y="1965959"/>
            <a:ext cx="3535679" cy="1143000"/>
          </a:xfrm>
          <a:prstGeom prst="roundRect">
            <a:avLst>
              <a:gd name="adj" fmla="val 8666"/>
            </a:avLst>
          </a:prstGeom>
          <a:solidFill>
            <a:srgbClr val="F3E7CE"/>
          </a:solidFill>
          <a:ln w="7620">
            <a:solidFill>
              <a:srgbClr val="A86A15"/>
            </a:solidFill>
          </a:ln>
          <a:effectLst/>
        </p:spPr>
        <p:txBody>
          <a:bodyPr rtlCol="0" anchor="ctr"/>
          <a:lstStyle/>
          <a:p>
            <a:pPr algn="ctr"/>
          </a:p>
        </p:txBody>
      </p:sp>
      <p:sp>
        <p:nvSpPr>
          <p:cNvPr id="6" name="TextBox 5"/>
          <p:cNvSpPr txBox="1"/>
          <p:nvPr/>
        </p:nvSpPr>
        <p:spPr>
          <a:xfrm>
            <a:off x="716280" y="2133600"/>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A86A15"/>
                </a:solidFill>
                <a:latin typeface="DejaVu Sans"/>
              </a:rPr>
              <a:t>PENDING</a:t>
            </a:r>
          </a:p>
        </p:txBody>
      </p:sp>
      <p:sp>
        <p:nvSpPr>
          <p:cNvPr id="7" name="TextBox 6"/>
          <p:cNvSpPr txBox="1"/>
          <p:nvPr/>
        </p:nvSpPr>
        <p:spPr>
          <a:xfrm>
            <a:off x="716280" y="2541422"/>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Signed deploy accepted</a:t>
            </a:r>
          </a:p>
        </p:txBody>
      </p:sp>
      <p:cxnSp>
        <p:nvCxnSpPr>
          <p:cNvPr id="8" name="Connector 7"/>
          <p:cNvCxnSpPr/>
          <p:nvPr/>
        </p:nvCxnSpPr>
        <p:spPr>
          <a:xfrm>
            <a:off x="4084319" y="2537460"/>
            <a:ext cx="213361" cy="0"/>
          </a:xfrm>
          <a:prstGeom prst="line">
            <a:avLst/>
          </a:prstGeom>
          <a:ln w="15240">
            <a:solidFill>
              <a:srgbClr val="536775"/>
            </a:solidFill>
          </a:ln>
          <a:effectLst/>
        </p:spPr>
      </p:cxnSp>
      <p:sp>
        <p:nvSpPr>
          <p:cNvPr id="9" name="Freeform 8"/>
          <p:cNvSpPr/>
          <p:nvPr/>
        </p:nvSpPr>
        <p:spPr>
          <a:xfrm>
            <a:off x="4198620" y="249936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10" name="Rounded Rectangle 9"/>
          <p:cNvSpPr/>
          <p:nvPr/>
        </p:nvSpPr>
        <p:spPr>
          <a:xfrm>
            <a:off x="4328160" y="1965959"/>
            <a:ext cx="3535679" cy="1143000"/>
          </a:xfrm>
          <a:prstGeom prst="roundRect">
            <a:avLst>
              <a:gd name="adj" fmla="val 8666"/>
            </a:avLst>
          </a:prstGeom>
          <a:solidFill>
            <a:srgbClr val="F3E7CE"/>
          </a:solidFill>
          <a:ln w="7620">
            <a:solidFill>
              <a:srgbClr val="A86A15"/>
            </a:solidFill>
          </a:ln>
          <a:effectLst/>
        </p:spPr>
        <p:txBody>
          <a:bodyPr rtlCol="0" anchor="ctr"/>
          <a:lstStyle/>
          <a:p>
            <a:pPr algn="ctr"/>
          </a:p>
        </p:txBody>
      </p:sp>
      <p:sp>
        <p:nvSpPr>
          <p:cNvPr id="11" name="TextBox 10"/>
          <p:cNvSpPr txBox="1"/>
          <p:nvPr/>
        </p:nvSpPr>
        <p:spPr>
          <a:xfrm>
            <a:off x="4495800" y="2133600"/>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A86A15"/>
                </a:solidFill>
                <a:latin typeface="DejaVu Sans"/>
              </a:rPr>
              <a:t>INCLUDED</a:t>
            </a:r>
          </a:p>
        </p:txBody>
      </p:sp>
      <p:sp>
        <p:nvSpPr>
          <p:cNvPr id="12" name="TextBox 11"/>
          <p:cNvSpPr txBox="1"/>
          <p:nvPr/>
        </p:nvSpPr>
        <p:spPr>
          <a:xfrm>
            <a:off x="4495800" y="2541422"/>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Block observed; effects pending</a:t>
            </a:r>
          </a:p>
        </p:txBody>
      </p:sp>
      <p:cxnSp>
        <p:nvCxnSpPr>
          <p:cNvPr id="13" name="Connector 12"/>
          <p:cNvCxnSpPr/>
          <p:nvPr/>
        </p:nvCxnSpPr>
        <p:spPr>
          <a:xfrm>
            <a:off x="7863839" y="2537460"/>
            <a:ext cx="213361" cy="0"/>
          </a:xfrm>
          <a:prstGeom prst="line">
            <a:avLst/>
          </a:prstGeom>
          <a:ln w="15240">
            <a:solidFill>
              <a:srgbClr val="536775"/>
            </a:solidFill>
          </a:ln>
          <a:effectLst/>
        </p:spPr>
      </p:cxnSp>
      <p:sp>
        <p:nvSpPr>
          <p:cNvPr id="14" name="Freeform 13"/>
          <p:cNvSpPr/>
          <p:nvPr/>
        </p:nvSpPr>
        <p:spPr>
          <a:xfrm>
            <a:off x="7978140" y="249936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15" name="Rounded Rectangle 14"/>
          <p:cNvSpPr/>
          <p:nvPr/>
        </p:nvSpPr>
        <p:spPr>
          <a:xfrm>
            <a:off x="8107680" y="1965959"/>
            <a:ext cx="3535679" cy="1143000"/>
          </a:xfrm>
          <a:prstGeom prst="roundRect">
            <a:avLst>
              <a:gd name="adj" fmla="val 8666"/>
            </a:avLst>
          </a:prstGeom>
          <a:solidFill>
            <a:srgbClr val="DCEFE8"/>
          </a:solidFill>
          <a:ln w="7620">
            <a:solidFill>
              <a:srgbClr val="007C78"/>
            </a:solidFill>
          </a:ln>
          <a:effectLst/>
        </p:spPr>
        <p:txBody>
          <a:bodyPr rtlCol="0" anchor="ctr"/>
          <a:lstStyle/>
          <a:p>
            <a:pPr algn="ctr"/>
          </a:p>
        </p:txBody>
      </p:sp>
      <p:sp>
        <p:nvSpPr>
          <p:cNvPr id="16" name="TextBox 15"/>
          <p:cNvSpPr txBox="1"/>
          <p:nvPr/>
        </p:nvSpPr>
        <p:spPr>
          <a:xfrm>
            <a:off x="8275320" y="2133600"/>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007C78"/>
                </a:solidFill>
                <a:latin typeface="DejaVu Sans"/>
              </a:rPr>
              <a:t>FINALIZED</a:t>
            </a:r>
          </a:p>
        </p:txBody>
      </p:sp>
      <p:sp>
        <p:nvSpPr>
          <p:cNvPr id="17" name="TextBox 16"/>
          <p:cNvSpPr txBox="1"/>
          <p:nvPr/>
        </p:nvSpPr>
        <p:spPr>
          <a:xfrm>
            <a:off x="8275320" y="2541422"/>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Deploy effects reported finalized</a:t>
            </a:r>
          </a:p>
        </p:txBody>
      </p:sp>
      <p:sp>
        <p:nvSpPr>
          <p:cNvPr id="18" name="TextBox 17"/>
          <p:cNvSpPr txBox="1"/>
          <p:nvPr/>
        </p:nvSpPr>
        <p:spPr>
          <a:xfrm>
            <a:off x="571500" y="3550919"/>
            <a:ext cx="53340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102B3F"/>
                </a:solidFill>
                <a:latin typeface="DejaVu Sans"/>
              </a:rPr>
              <a:t>M1 recorded observation</a:t>
            </a:r>
          </a:p>
        </p:txBody>
      </p:sp>
      <p:sp>
        <p:nvSpPr>
          <p:cNvPr id="19" name="TextBox 18"/>
          <p:cNvSpPr txBox="1"/>
          <p:nvPr/>
        </p:nvSpPr>
        <p:spPr>
          <a:xfrm>
            <a:off x="571500" y="3954779"/>
            <a:ext cx="24765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Block height</a:t>
            </a:r>
          </a:p>
        </p:txBody>
      </p:sp>
      <p:sp>
        <p:nvSpPr>
          <p:cNvPr id="20" name="TextBox 19"/>
          <p:cNvSpPr txBox="1"/>
          <p:nvPr/>
        </p:nvSpPr>
        <p:spPr>
          <a:xfrm>
            <a:off x="3093720" y="3954779"/>
            <a:ext cx="22098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102B3F"/>
                </a:solidFill>
                <a:latin typeface="DejaVu Sans"/>
              </a:rPr>
              <a:t>3</a:t>
            </a:r>
          </a:p>
        </p:txBody>
      </p:sp>
      <p:sp>
        <p:nvSpPr>
          <p:cNvPr id="21" name="TextBox 20"/>
          <p:cNvSpPr txBox="1"/>
          <p:nvPr/>
        </p:nvSpPr>
        <p:spPr>
          <a:xfrm>
            <a:off x="571500" y="4305300"/>
            <a:ext cx="24765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Execution error</a:t>
            </a:r>
          </a:p>
        </p:txBody>
      </p:sp>
      <p:sp>
        <p:nvSpPr>
          <p:cNvPr id="22" name="TextBox 21"/>
          <p:cNvSpPr txBox="1"/>
          <p:nvPr/>
        </p:nvSpPr>
        <p:spPr>
          <a:xfrm>
            <a:off x="3093720" y="4305300"/>
            <a:ext cx="22098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102B3F"/>
                </a:solidFill>
                <a:latin typeface="DejaVu Sans"/>
              </a:rPr>
              <a:t>false</a:t>
            </a:r>
          </a:p>
        </p:txBody>
      </p:sp>
      <p:sp>
        <p:nvSpPr>
          <p:cNvPr id="23" name="TextBox 22"/>
          <p:cNvSpPr txBox="1"/>
          <p:nvPr/>
        </p:nvSpPr>
        <p:spPr>
          <a:xfrm>
            <a:off x="571500" y="4655820"/>
            <a:ext cx="24765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Rejection count</a:t>
            </a:r>
          </a:p>
        </p:txBody>
      </p:sp>
      <p:sp>
        <p:nvSpPr>
          <p:cNvPr id="24" name="TextBox 23"/>
          <p:cNvSpPr txBox="1"/>
          <p:nvPr/>
        </p:nvSpPr>
        <p:spPr>
          <a:xfrm>
            <a:off x="3093720" y="4655820"/>
            <a:ext cx="22098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102B3F"/>
                </a:solidFill>
                <a:latin typeface="DejaVu Sans"/>
              </a:rPr>
              <a:t>0</a:t>
            </a:r>
          </a:p>
        </p:txBody>
      </p:sp>
      <p:sp>
        <p:nvSpPr>
          <p:cNvPr id="25" name="TextBox 24"/>
          <p:cNvSpPr txBox="1"/>
          <p:nvPr/>
        </p:nvSpPr>
        <p:spPr>
          <a:xfrm>
            <a:off x="571500" y="5006340"/>
            <a:ext cx="24765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Execution cost</a:t>
            </a:r>
          </a:p>
        </p:txBody>
      </p:sp>
      <p:sp>
        <p:nvSpPr>
          <p:cNvPr id="26" name="TextBox 25"/>
          <p:cNvSpPr txBox="1"/>
          <p:nvPr/>
        </p:nvSpPr>
        <p:spPr>
          <a:xfrm>
            <a:off x="3093720" y="5006340"/>
            <a:ext cx="22098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102B3F"/>
                </a:solidFill>
                <a:latin typeface="DejaVu Sans"/>
              </a:rPr>
              <a:t>351 phlo</a:t>
            </a:r>
          </a:p>
        </p:txBody>
      </p:sp>
      <p:sp>
        <p:nvSpPr>
          <p:cNvPr id="27" name="Rounded Rectangle 26"/>
          <p:cNvSpPr/>
          <p:nvPr/>
        </p:nvSpPr>
        <p:spPr>
          <a:xfrm>
            <a:off x="5981700" y="3444240"/>
            <a:ext cx="5661660" cy="1943100"/>
          </a:xfrm>
          <a:prstGeom prst="roundRect">
            <a:avLst>
              <a:gd name="adj" fmla="val 5098"/>
            </a:avLst>
          </a:prstGeom>
          <a:solidFill>
            <a:srgbClr val="FFFFFF"/>
          </a:solidFill>
          <a:ln>
            <a:noFill/>
          </a:ln>
          <a:effectLst/>
        </p:spPr>
        <p:txBody>
          <a:bodyPr rtlCol="0" anchor="ctr"/>
          <a:lstStyle/>
          <a:p>
            <a:pPr algn="ctr"/>
          </a:p>
        </p:txBody>
      </p:sp>
      <p:sp>
        <p:nvSpPr>
          <p:cNvPr id="28" name="TextBox 27"/>
          <p:cNvSpPr txBox="1"/>
          <p:nvPr/>
        </p:nvSpPr>
        <p:spPr>
          <a:xfrm>
            <a:off x="6179820" y="3634740"/>
            <a:ext cx="51816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Historical commitment digest</a:t>
            </a:r>
          </a:p>
        </p:txBody>
      </p:sp>
      <p:sp>
        <p:nvSpPr>
          <p:cNvPr id="29" name="TextBox 28"/>
          <p:cNvSpPr txBox="1"/>
          <p:nvPr/>
        </p:nvSpPr>
        <p:spPr>
          <a:xfrm>
            <a:off x="6179820" y="4046219"/>
            <a:ext cx="51816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007C78"/>
                </a:solidFill>
                <a:latin typeface="DejaVu Sans Mono"/>
              </a:rPr>
              <a:t>f9236451ff785dc58315251cf864a3d1</a:t>
            </a:r>
          </a:p>
        </p:txBody>
      </p:sp>
      <p:sp>
        <p:nvSpPr>
          <p:cNvPr id="30" name="TextBox 29"/>
          <p:cNvSpPr txBox="1"/>
          <p:nvPr/>
        </p:nvSpPr>
        <p:spPr>
          <a:xfrm>
            <a:off x="6179820" y="4280306"/>
            <a:ext cx="51816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007C78"/>
                </a:solidFill>
                <a:latin typeface="DejaVu Sans Mono"/>
              </a:rPr>
              <a:t>0938412551cf45f448055061bc953ea1</a:t>
            </a:r>
          </a:p>
        </p:txBody>
      </p:sp>
      <p:sp>
        <p:nvSpPr>
          <p:cNvPr id="31" name="TextBox 30"/>
          <p:cNvSpPr txBox="1"/>
          <p:nvPr/>
        </p:nvSpPr>
        <p:spPr>
          <a:xfrm>
            <a:off x="6179820" y="4762500"/>
            <a:ext cx="51816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One local validator; direct node observations.</a:t>
            </a:r>
          </a:p>
        </p:txBody>
      </p:sp>
      <p:sp>
        <p:nvSpPr>
          <p:cNvPr id="32" name="TextBox 31"/>
          <p:cNvSpPr txBox="1"/>
          <p:nvPr/>
        </p:nvSpPr>
        <p:spPr>
          <a:xfrm>
            <a:off x="6179820" y="4996586"/>
            <a:ext cx="51816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Not a consensus proof or production test.</a:t>
            </a:r>
          </a:p>
        </p:txBody>
      </p:sp>
      <p:sp>
        <p:nvSpPr>
          <p:cNvPr id="33" name="Rounded Rectangle 32"/>
          <p:cNvSpPr/>
          <p:nvPr/>
        </p:nvSpPr>
        <p:spPr>
          <a:xfrm>
            <a:off x="548640" y="5829300"/>
            <a:ext cx="11094720" cy="403859"/>
          </a:xfrm>
          <a:prstGeom prst="roundRect">
            <a:avLst>
              <a:gd name="adj" fmla="val 15094"/>
            </a:avLst>
          </a:prstGeom>
          <a:solidFill>
            <a:srgbClr val="F3E7CE"/>
          </a:solidFill>
          <a:ln>
            <a:noFill/>
          </a:ln>
          <a:effectLst/>
        </p:spPr>
        <p:txBody>
          <a:bodyPr rtlCol="0" anchor="ctr"/>
          <a:lstStyle/>
          <a:p>
            <a:pPr algn="ctr"/>
          </a:p>
        </p:txBody>
      </p:sp>
      <p:sp>
        <p:nvSpPr>
          <p:cNvPr id="34" name="TextBox 33"/>
          <p:cNvSpPr txBox="1"/>
          <p:nvPr/>
        </p:nvSpPr>
        <p:spPr>
          <a:xfrm>
            <a:off x="716280" y="5905500"/>
            <a:ext cx="107442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A86A15"/>
                </a:solidFill>
                <a:latin typeface="DejaVu Sans"/>
              </a:rPr>
              <a:t>M1.2 CHAIN = NOT_RUN. Historical source reproduction requires exact F1R3 changes or a separate rebaseline.</a:t>
            </a:r>
          </a:p>
        </p:txBody>
      </p:sp>
      <p:cxnSp>
        <p:nvCxnSpPr>
          <p:cNvPr id="35" name="Connector 34"/>
          <p:cNvCxnSpPr/>
          <p:nvPr/>
        </p:nvCxnSpPr>
        <p:spPr>
          <a:xfrm>
            <a:off x="548640" y="6393180"/>
            <a:ext cx="11094720" cy="0"/>
          </a:xfrm>
          <a:prstGeom prst="line">
            <a:avLst/>
          </a:prstGeom>
          <a:ln w="7620">
            <a:solidFill>
              <a:srgbClr val="C9D2D4"/>
            </a:solidFill>
          </a:ln>
          <a:effectLst/>
        </p:spPr>
      </p:cxnSp>
      <p:sp>
        <p:nvSpPr>
          <p:cNvPr id="36" name="TextBox 35"/>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M1.2 / evidence/chain-demo.json · M1 historical</a:t>
            </a:r>
          </a:p>
        </p:txBody>
      </p:sp>
      <p:sp>
        <p:nvSpPr>
          <p:cNvPr id="37" name="TextBox 36"/>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32 / 33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APPENDIX G / LIMITS AND UNRUN SCOPE</a:t>
            </a:r>
          </a:p>
        </p:txBody>
      </p:sp>
      <p:sp>
        <p:nvSpPr>
          <p:cNvPr id="3" name="TextBox 2"/>
          <p:cNvSpPr txBox="1"/>
          <p:nvPr/>
        </p:nvSpPr>
        <p:spPr>
          <a:xfrm>
            <a:off x="533400" y="723900"/>
            <a:ext cx="11125200" cy="468172"/>
          </a:xfrm>
          <a:prstGeom prst="rect">
            <a:avLst/>
          </a:prstGeom>
          <a:noFill/>
        </p:spPr>
        <p:txBody>
          <a:bodyPr wrap="none" lIns="0" rIns="0" tIns="0" bIns="0" anchor="t" anchorCtr="0">
            <a:noAutofit/>
          </a:bodyPr>
          <a:lstStyle/>
          <a:p>
            <a:pPr algn="l">
              <a:lnSpc>
                <a:spcPct val="100000"/>
              </a:lnSpc>
              <a:spcBef>
                <a:spcPts val="0"/>
              </a:spcBef>
              <a:spcAft>
                <a:spcPts val="0"/>
              </a:spcAft>
            </a:pPr>
            <a:r>
              <a:rPr sz="2879" b="1">
                <a:solidFill>
                  <a:srgbClr val="102B3F"/>
                </a:solidFill>
                <a:latin typeface="DejaVu Sans"/>
              </a:rPr>
              <a:t>Keep the guarantees inside their observed boundary</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Local evidence is useful because the untested extensions remain explicit.</a:t>
            </a:r>
          </a:p>
        </p:txBody>
      </p:sp>
      <p:sp>
        <p:nvSpPr>
          <p:cNvPr id="5" name="TextBox 4"/>
          <p:cNvSpPr txBox="1"/>
          <p:nvPr/>
        </p:nvSpPr>
        <p:spPr>
          <a:xfrm>
            <a:off x="670560" y="1790700"/>
            <a:ext cx="336804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OBSERVED</a:t>
            </a:r>
          </a:p>
        </p:txBody>
      </p:sp>
      <p:sp>
        <p:nvSpPr>
          <p:cNvPr id="6" name="TextBox 5"/>
          <p:cNvSpPr txBox="1"/>
          <p:nvPr/>
        </p:nvSpPr>
        <p:spPr>
          <a:xfrm>
            <a:off x="4282440" y="1790700"/>
            <a:ext cx="34899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UNRUN / UNSUPPORTED EXTENSION</a:t>
            </a:r>
          </a:p>
        </p:txBody>
      </p:sp>
      <p:sp>
        <p:nvSpPr>
          <p:cNvPr id="7" name="TextBox 6"/>
          <p:cNvSpPr txBox="1"/>
          <p:nvPr/>
        </p:nvSpPr>
        <p:spPr>
          <a:xfrm>
            <a:off x="8016239" y="1790700"/>
            <a:ext cx="350520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WHY IT MATTERS</a:t>
            </a:r>
          </a:p>
        </p:txBody>
      </p:sp>
      <p:sp>
        <p:nvSpPr>
          <p:cNvPr id="8" name="Rounded Rectangle 7"/>
          <p:cNvSpPr/>
          <p:nvPr/>
        </p:nvSpPr>
        <p:spPr>
          <a:xfrm>
            <a:off x="548640" y="2110740"/>
            <a:ext cx="11094720" cy="571500"/>
          </a:xfrm>
          <a:prstGeom prst="roundRect">
            <a:avLst>
              <a:gd name="adj" fmla="val 8000"/>
            </a:avLst>
          </a:prstGeom>
          <a:solidFill>
            <a:srgbClr val="FFFFFF"/>
          </a:solidFill>
          <a:ln>
            <a:noFill/>
          </a:ln>
          <a:effectLst/>
        </p:spPr>
        <p:txBody>
          <a:bodyPr rtlCol="0" anchor="ctr"/>
          <a:lstStyle/>
          <a:p>
            <a:pPr algn="ctr"/>
          </a:p>
        </p:txBody>
      </p:sp>
      <p:sp>
        <p:nvSpPr>
          <p:cNvPr id="9" name="TextBox 8"/>
          <p:cNvSpPr txBox="1"/>
          <p:nvPr/>
        </p:nvSpPr>
        <p:spPr>
          <a:xfrm>
            <a:off x="670560" y="2240280"/>
            <a:ext cx="336804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Same-host process restart</a:t>
            </a:r>
          </a:p>
        </p:txBody>
      </p:sp>
      <p:sp>
        <p:nvSpPr>
          <p:cNvPr id="10" name="TextBox 9"/>
          <p:cNvSpPr txBox="1"/>
          <p:nvPr/>
        </p:nvSpPr>
        <p:spPr>
          <a:xfrm>
            <a:off x="4282440" y="2240280"/>
            <a:ext cx="3489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Power loss / distributed failover</a:t>
            </a:r>
          </a:p>
        </p:txBody>
      </p:sp>
      <p:sp>
        <p:nvSpPr>
          <p:cNvPr id="11" name="TextBox 10"/>
          <p:cNvSpPr txBox="1"/>
          <p:nvPr/>
        </p:nvSpPr>
        <p:spPr>
          <a:xfrm>
            <a:off x="8016239" y="2240280"/>
            <a:ext cx="35052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Persistent files remained intact</a:t>
            </a:r>
          </a:p>
        </p:txBody>
      </p:sp>
      <p:sp>
        <p:nvSpPr>
          <p:cNvPr id="12" name="Rounded Rectangle 11"/>
          <p:cNvSpPr/>
          <p:nvPr/>
        </p:nvSpPr>
        <p:spPr>
          <a:xfrm>
            <a:off x="548640" y="2720340"/>
            <a:ext cx="11094720" cy="571500"/>
          </a:xfrm>
          <a:prstGeom prst="roundRect">
            <a:avLst>
              <a:gd name="adj" fmla="val 8000"/>
            </a:avLst>
          </a:prstGeom>
          <a:solidFill>
            <a:srgbClr val="FFFFFF"/>
          </a:solidFill>
          <a:ln>
            <a:noFill/>
          </a:ln>
          <a:effectLst/>
        </p:spPr>
        <p:txBody>
          <a:bodyPr rtlCol="0" anchor="ctr"/>
          <a:lstStyle/>
          <a:p>
            <a:pPr algn="ctr"/>
          </a:p>
        </p:txBody>
      </p:sp>
      <p:sp>
        <p:nvSpPr>
          <p:cNvPr id="13" name="TextBox 12"/>
          <p:cNvSpPr txBox="1"/>
          <p:nvPr/>
        </p:nvSpPr>
        <p:spPr>
          <a:xfrm>
            <a:off x="670560" y="2849880"/>
            <a:ext cx="336804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One logical accepted outcome</a:t>
            </a:r>
          </a:p>
        </p:txBody>
      </p:sp>
      <p:sp>
        <p:nvSpPr>
          <p:cNvPr id="14" name="TextBox 13"/>
          <p:cNvSpPr txBox="1"/>
          <p:nvPr/>
        </p:nvSpPr>
        <p:spPr>
          <a:xfrm>
            <a:off x="4282440" y="2849880"/>
            <a:ext cx="3489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Exactly-once physical execution</a:t>
            </a:r>
          </a:p>
        </p:txBody>
      </p:sp>
      <p:sp>
        <p:nvSpPr>
          <p:cNvPr id="15" name="TextBox 14"/>
          <p:cNvSpPr txBox="1"/>
          <p:nvPr/>
        </p:nvSpPr>
        <p:spPr>
          <a:xfrm>
            <a:off x="8016239" y="2849880"/>
            <a:ext cx="35052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Deterministic work may repeat</a:t>
            </a:r>
          </a:p>
        </p:txBody>
      </p:sp>
      <p:sp>
        <p:nvSpPr>
          <p:cNvPr id="16" name="Rounded Rectangle 15"/>
          <p:cNvSpPr/>
          <p:nvPr/>
        </p:nvSpPr>
        <p:spPr>
          <a:xfrm>
            <a:off x="548640" y="3329940"/>
            <a:ext cx="11094720" cy="571500"/>
          </a:xfrm>
          <a:prstGeom prst="roundRect">
            <a:avLst>
              <a:gd name="adj" fmla="val 8000"/>
            </a:avLst>
          </a:prstGeom>
          <a:solidFill>
            <a:srgbClr val="FFFFFF"/>
          </a:solidFill>
          <a:ln>
            <a:noFill/>
          </a:ln>
          <a:effectLst/>
        </p:spPr>
        <p:txBody>
          <a:bodyPr rtlCol="0" anchor="ctr"/>
          <a:lstStyle/>
          <a:p>
            <a:pPr algn="ctr"/>
          </a:p>
        </p:txBody>
      </p:sp>
      <p:sp>
        <p:nvSpPr>
          <p:cNvPr id="17" name="TextBox 16"/>
          <p:cNvSpPr txBox="1"/>
          <p:nvPr/>
        </p:nvSpPr>
        <p:spPr>
          <a:xfrm>
            <a:off x="670560" y="3459479"/>
            <a:ext cx="336804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Fresh-store provider swap</a:t>
            </a:r>
          </a:p>
        </p:txBody>
      </p:sp>
      <p:sp>
        <p:nvSpPr>
          <p:cNvPr id="18" name="TextBox 17"/>
          <p:cNvSpPr txBox="1"/>
          <p:nvPr/>
        </p:nvSpPr>
        <p:spPr>
          <a:xfrm>
            <a:off x="4282440" y="3459479"/>
            <a:ext cx="3489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Live state / journal migration</a:t>
            </a:r>
          </a:p>
        </p:txBody>
      </p:sp>
      <p:sp>
        <p:nvSpPr>
          <p:cNvPr id="19" name="TextBox 18"/>
          <p:cNvSpPr txBox="1"/>
          <p:nvPr/>
        </p:nvSpPr>
        <p:spPr>
          <a:xfrm>
            <a:off x="8016239" y="3459479"/>
            <a:ext cx="35052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Accepted refs and jobs are not moved</a:t>
            </a:r>
          </a:p>
        </p:txBody>
      </p:sp>
      <p:sp>
        <p:nvSpPr>
          <p:cNvPr id="20" name="Rounded Rectangle 19"/>
          <p:cNvSpPr/>
          <p:nvPr/>
        </p:nvSpPr>
        <p:spPr>
          <a:xfrm>
            <a:off x="548640" y="3939540"/>
            <a:ext cx="11094720" cy="571500"/>
          </a:xfrm>
          <a:prstGeom prst="roundRect">
            <a:avLst>
              <a:gd name="adj" fmla="val 8000"/>
            </a:avLst>
          </a:prstGeom>
          <a:solidFill>
            <a:srgbClr val="FFFFFF"/>
          </a:solidFill>
          <a:ln>
            <a:noFill/>
          </a:ln>
          <a:effectLst/>
        </p:spPr>
        <p:txBody>
          <a:bodyPr rtlCol="0" anchor="ctr"/>
          <a:lstStyle/>
          <a:p>
            <a:pPr algn="ctr"/>
          </a:p>
        </p:txBody>
      </p:sp>
      <p:sp>
        <p:nvSpPr>
          <p:cNvPr id="21" name="TextBox 20"/>
          <p:cNvSpPr txBox="1"/>
          <p:nvPr/>
        </p:nvSpPr>
        <p:spPr>
          <a:xfrm>
            <a:off x="670560" y="4069079"/>
            <a:ext cx="336804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Exact descriptor/profile binding</a:t>
            </a:r>
          </a:p>
        </p:txBody>
      </p:sp>
      <p:sp>
        <p:nvSpPr>
          <p:cNvPr id="22" name="TextBox 21"/>
          <p:cNvSpPr txBox="1"/>
          <p:nvPr/>
        </p:nvSpPr>
        <p:spPr>
          <a:xfrm>
            <a:off x="4282440" y="4069079"/>
            <a:ext cx="3489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Remote identity / verified proofs</a:t>
            </a:r>
          </a:p>
        </p:txBody>
      </p:sp>
      <p:sp>
        <p:nvSpPr>
          <p:cNvPr id="23" name="TextBox 22"/>
          <p:cNvSpPr txBox="1"/>
          <p:nvPr/>
        </p:nvSpPr>
        <p:spPr>
          <a:xfrm>
            <a:off x="8016239" y="4069079"/>
            <a:ext cx="35052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A hash checks consistency, not truth</a:t>
            </a:r>
          </a:p>
        </p:txBody>
      </p:sp>
      <p:sp>
        <p:nvSpPr>
          <p:cNvPr id="24" name="Rounded Rectangle 23"/>
          <p:cNvSpPr/>
          <p:nvPr/>
        </p:nvSpPr>
        <p:spPr>
          <a:xfrm>
            <a:off x="548640" y="4549140"/>
            <a:ext cx="11094720" cy="571500"/>
          </a:xfrm>
          <a:prstGeom prst="roundRect">
            <a:avLst>
              <a:gd name="adj" fmla="val 8000"/>
            </a:avLst>
          </a:prstGeom>
          <a:solidFill>
            <a:srgbClr val="FFFFFF"/>
          </a:solidFill>
          <a:ln>
            <a:noFill/>
          </a:ln>
          <a:effectLst/>
        </p:spPr>
        <p:txBody>
          <a:bodyPr rtlCol="0" anchor="ctr"/>
          <a:lstStyle/>
          <a:p>
            <a:pPr algn="ctr"/>
          </a:p>
        </p:txBody>
      </p:sp>
      <p:sp>
        <p:nvSpPr>
          <p:cNvPr id="25" name="TextBox 24"/>
          <p:cNvSpPr txBox="1"/>
          <p:nvPr/>
        </p:nvSpPr>
        <p:spPr>
          <a:xfrm>
            <a:off x="670560" y="4678680"/>
            <a:ext cx="336804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Fresh builds with declared caches</a:t>
            </a:r>
          </a:p>
        </p:txBody>
      </p:sp>
      <p:sp>
        <p:nvSpPr>
          <p:cNvPr id="26" name="TextBox 25"/>
          <p:cNvSpPr txBox="1"/>
          <p:nvPr/>
        </p:nvSpPr>
        <p:spPr>
          <a:xfrm>
            <a:off x="4282440" y="4678680"/>
            <a:ext cx="3489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Entirely empty-cache build</a:t>
            </a:r>
          </a:p>
        </p:txBody>
      </p:sp>
      <p:sp>
        <p:nvSpPr>
          <p:cNvPr id="27" name="TextBox 26"/>
          <p:cNvSpPr txBox="1"/>
          <p:nvPr/>
        </p:nvSpPr>
        <p:spPr>
          <a:xfrm>
            <a:off x="8016239" y="4678680"/>
            <a:ext cx="35052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Source access and downloads are</a:t>
            </a:r>
          </a:p>
        </p:txBody>
      </p:sp>
      <p:sp>
        <p:nvSpPr>
          <p:cNvPr id="28" name="TextBox 27"/>
          <p:cNvSpPr txBox="1"/>
          <p:nvPr/>
        </p:nvSpPr>
        <p:spPr>
          <a:xfrm>
            <a:off x="8016239" y="4903012"/>
            <a:ext cx="35052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prerequisites</a:t>
            </a:r>
          </a:p>
        </p:txBody>
      </p:sp>
      <p:sp>
        <p:nvSpPr>
          <p:cNvPr id="29" name="Rounded Rectangle 28"/>
          <p:cNvSpPr/>
          <p:nvPr/>
        </p:nvSpPr>
        <p:spPr>
          <a:xfrm>
            <a:off x="548640" y="5158740"/>
            <a:ext cx="11094720" cy="571500"/>
          </a:xfrm>
          <a:prstGeom prst="roundRect">
            <a:avLst>
              <a:gd name="adj" fmla="val 8000"/>
            </a:avLst>
          </a:prstGeom>
          <a:solidFill>
            <a:srgbClr val="FFFFFF"/>
          </a:solidFill>
          <a:ln>
            <a:noFill/>
          </a:ln>
          <a:effectLst/>
        </p:spPr>
        <p:txBody>
          <a:bodyPr rtlCol="0" anchor="ctr"/>
          <a:lstStyle/>
          <a:p>
            <a:pPr algn="ctr"/>
          </a:p>
        </p:txBody>
      </p:sp>
      <p:sp>
        <p:nvSpPr>
          <p:cNvPr id="30" name="TextBox 29"/>
          <p:cNvSpPr txBox="1"/>
          <p:nvPr/>
        </p:nvSpPr>
        <p:spPr>
          <a:xfrm>
            <a:off x="670560" y="5288280"/>
            <a:ext cx="336804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One deterministic native</a:t>
            </a:r>
          </a:p>
        </p:txBody>
      </p:sp>
      <p:sp>
        <p:nvSpPr>
          <p:cNvPr id="31" name="TextBox 30"/>
          <p:cNvSpPr txBox="1"/>
          <p:nvPr/>
        </p:nvSpPr>
        <p:spPr>
          <a:xfrm>
            <a:off x="670560" y="5512612"/>
            <a:ext cx="336804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operation</a:t>
            </a:r>
          </a:p>
        </p:txBody>
      </p:sp>
      <p:sp>
        <p:nvSpPr>
          <p:cNvPr id="32" name="TextBox 31"/>
          <p:cNvSpPr txBox="1"/>
          <p:nvPr/>
        </p:nvSpPr>
        <p:spPr>
          <a:xfrm>
            <a:off x="4282440" y="5288280"/>
            <a:ext cx="3489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Full Hive suite / LLM / M2 cognition</a:t>
            </a:r>
          </a:p>
        </p:txBody>
      </p:sp>
      <p:sp>
        <p:nvSpPr>
          <p:cNvPr id="33" name="TextBox 32"/>
          <p:cNvSpPr txBox="1"/>
          <p:nvPr/>
        </p:nvSpPr>
        <p:spPr>
          <a:xfrm>
            <a:off x="8016239" y="5288280"/>
            <a:ext cx="35052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Dispatch evidence is not cognitive</a:t>
            </a:r>
          </a:p>
        </p:txBody>
      </p:sp>
      <p:sp>
        <p:nvSpPr>
          <p:cNvPr id="34" name="TextBox 33"/>
          <p:cNvSpPr txBox="1"/>
          <p:nvPr/>
        </p:nvSpPr>
        <p:spPr>
          <a:xfrm>
            <a:off x="8016239" y="5512612"/>
            <a:ext cx="35052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capability</a:t>
            </a:r>
          </a:p>
        </p:txBody>
      </p:sp>
      <p:cxnSp>
        <p:nvCxnSpPr>
          <p:cNvPr id="35" name="Connector 34"/>
          <p:cNvCxnSpPr/>
          <p:nvPr/>
        </p:nvCxnSpPr>
        <p:spPr>
          <a:xfrm>
            <a:off x="548640" y="6393180"/>
            <a:ext cx="11094720" cy="0"/>
          </a:xfrm>
          <a:prstGeom prst="line">
            <a:avLst/>
          </a:prstGeom>
          <a:ln w="7620">
            <a:solidFill>
              <a:srgbClr val="C9D2D4"/>
            </a:solidFill>
          </a:ln>
          <a:effectLst/>
        </p:spPr>
      </p:cxnSp>
      <p:sp>
        <p:nvSpPr>
          <p:cNvPr id="36" name="TextBox 35"/>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M1.2 / m1_2-evidence.md · manifest.json</a:t>
            </a:r>
          </a:p>
        </p:txBody>
      </p:sp>
      <p:sp>
        <p:nvSpPr>
          <p:cNvPr id="37" name="TextBox 36"/>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33 / 33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Omega × ASI — One responsibility. One state owner.</dc:title>
  <dc:subject>Through M1.2: module boundaries, native Hive, real DeTTa and restart evidence</dc:subject>
  <dc:creator>Omega × ASI module-interface project</dc:creator>
  <cp:keywords>Omega, ASI, M1.1, M1.2, Hive, DeTTa, module interfaces, state ownership, recovery</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