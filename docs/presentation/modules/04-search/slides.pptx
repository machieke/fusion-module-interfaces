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Maintain an exact-attribute projection and return references with explicit prefix, page and freshness semantics. Consumers must discover answers without receiving answer references. A replayable source and explicit watermark make that discovery inspectable and rebuildable. Do not treat the analogy as an additional experiment. This is a standalone talk about one responsibility, not a claim that every module is a separate service or repository.</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Search projection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Maintenance consumes only declared source ports. Query does not ingest or poll the current head. Neither implementation reads foreign owner SQL or the test oracle.</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Maintenance consumes only declared source ports. Query does not ingest or poll the current head. Neither implementation reads foreign owner SQL or the test oracle. The left node is a caller or caller class; the right nodes distinguish foreign ports, pure helpers, local state and runtime internals. There is no implied shared transaction. Acceptance and immutable bytes belong to AtomStorage.</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Derived projection: Extracted exact attributes; disposable and rebuildable. Progress and generation: Atomic index/checkpoint updates, rebuild intent and cursor generation. Authoritative source: Acceptance and immutable bytes belong to AtomStorage. Semantic cognition: No embeddings, scoring, inferred tasks or general knowledge search. Explicit compatibility: exact-attributes/1 · knowledge-attributes/1 · contract 2.0.0. Limits: 256 indexed records; page/batch ≤8; query ≤1024 bytes; no automatic repair.</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query: Exact conjunction of 1–3 distinct attributes; kind/topic/label; equality only. catchUp: Process ≤8 new source entries; Checkpoint advances only after complete batch. beginRebuild: Capture source head; create generation; Queries unavailable until captured prefix complete.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Initial discovery: Five matches, three pages at limit two. 2. Append a match: Requested barrier exceeds the indexed prefix. 3. Signal lag: query returns NOT_AVAILABLE; no ingestion. 4. Catch up / rebuild: Six roots and nine payloads; replacement agrees. Evidence classification: REAL HIVE + SQLITE / DeTTa · independent file Search remains a fixture. Do not infer performance, broad production readiness or extra runtime integrations from this example.</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Exact matching: Case/Unicode preserved; missing attributes never match. Complete prefix: No advance across gaps, unavailable bytes or forged metadata. Bound continuation: Cursor fixes query, principal, source, snapshot and generation. Honest freshness: Prefix completeness, page completion, requested minimum and observed head are distinct. The supporting tests and runtime evidence are in the linked sources; this slide does not claim a formal proof or a production security audit.</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Before/after checkpoint commit: Rows and checkpoint recover together. Both providers; four direct kills. During rebuild intent: Resume bounded rebuild; reject old-generation cursor. Both providers; two direct kills. Native page/result crash: Resume caller progress without seeded answers. Both providers; four native kills.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5 → 6 Matching roots before/after catch-up: Native discovery counts, not a relevance score. 2 Independent Search providers: SQLite owner + atomic-file fixture. 256 / 8 Indexed records / max page or batch: Finite contract limits, not scaling results. Native tests compare complete reference sets and canonical payload bytes across four transitions. No query-latency, ingestion-rate or relevance benchmark is recorded. Proposed: vary corpus size, selectivity, page size and index lag; report p50/p95 query latency, catch-up rate and rebuild time with explicit freshness barriers. No new benchmark is executed for this presentation. Do not compare overlapping suite times or use a one-run workflow measurement as a latency percentile.</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SQLite SearchOwner over accepted real DeTTa bytes; actual native Hive query path. Fixture: Independent atomic-file Search with its own predicate evaluator; generated corpus/oracle. Blocked or unsupported: No required M5 gate blocked; general search and migration are outside this profile. Unrun: Embedding relevance, large-corpus scale, distributed indexing, compaction and live migration. All required M5 gates passed in the recorded final run, including legacy M1–M4 behavior; this presentation does not rerun those integrations. Human maintainers remain unassigned.</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freshness/latency tradeoff requires Frozen corpus, source barriers and controlled lag; success means Latency and staleness reported together. Broaden query language deliberately requires New explicit profile and sound cursor semantics; success means No silent change to exact equality. Scale rebuild machinery requires Capacity/retention contract before optimization; success means No skipped source ranges or query-time ingestion. No new cognition, scheduler, migration or chain capability is implemented by this series. Any changed numerical semantics, placement or replay lifetime requires separate design and verification rather than a presentation claim.</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An answer is useful only when its freshness means something precise. The reproduction entrypoint is uv run --python 3.11 --locked python scripts/verify_m5.py --gates hive --environment &lt;env&gt; --output &lt;fresh&gt;. Requires pinned native providers. The writer exits and the oracle is removed before native lookup. Fresh replacement rebuilds derived state; it is not migration.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[search.py](https://github.com/machieke/fusion-module-interfaces/blob/494df69a1ac401c3d3b2cf79dbfde07f74b5e277/fusion/search.py), [fixture_search.py](https://github.com/machieke/fusion-module-interfaces/blob/494df69a1ac401c3d3b2cf79dbfde07f74b5e277/fusion/adapters/fixture_search.py), [lookup_contracts.py](https://github.com/machieke/fusion-module-interfaces/blob/494df69a1ac401c3d3b2cf79dbfde07f74b5e277/fusion/lookup_contracts.py), [test_m5_boundaries.py](https://github.com/machieke/fusion-module-interfaces/blob/494df69a1ac401c3d3b2cf79dbfde07f74b5e277/tests/test_m5_boundaries.py), [lookup-trace-1.json](https://github.com/machieke/fusion-module-interfaces/blob/494df69a1ac401c3d3b2cf79dbfde07f74b5e277/evidence/m5/traces/lookup-trace-1.json), [native-payload-comparison.json](https://github.com/machieke/fusion-module-interfaces/blob/494df69a1ac401c3d3b2cf79dbfde07f74b5e277/evidence/m5/native-payload-comparison.json).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Search projection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Search projection</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Discover references.</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Expose how fresh the answer is.</a:t>
            </a:r>
          </a:p>
        </p:txBody>
      </p:sp>
      <p:sp>
        <p:nvSpPr>
          <p:cNvPr id="6" name="Rounded Rectangle 5"/>
          <p:cNvSpPr/>
          <p:nvPr/>
        </p:nvSpPr>
        <p:spPr>
          <a:xfrm>
            <a:off x="579120" y="3208020"/>
            <a:ext cx="3112204" cy="274320"/>
          </a:xfrm>
          <a:prstGeom prst="roundRect">
            <a:avLst>
              <a:gd name="adj" fmla="val 19444"/>
            </a:avLst>
          </a:prstGeom>
          <a:solidFill>
            <a:srgbClr val="DCEFE8"/>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library catalogue with a visible indexing date: “nothing matches” differs from “the</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catalogue is behind.”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Consumers must discover answers without receiving answer references. A</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replayable source and explicit watermark make that discovery inspectable and rebuildable.</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Search projection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007C78"/>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Maintain an exact-attribute projection and return references with explicit prefix, page and freshness</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semantics.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LookupConsumer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operator</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maintenance</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query · catchUp ·</a:t>
            </a:r>
          </a:p>
        </p:txBody>
      </p:sp>
      <p:sp>
        <p:nvSpPr>
          <p:cNvPr id="10" name="TextBox 9"/>
          <p:cNvSpPr txBox="1"/>
          <p:nvPr/>
        </p:nvSpPr>
        <p:spPr>
          <a:xfrm>
            <a:off x="716280" y="378988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beginRebuild</a:t>
            </a:r>
          </a:p>
        </p:txBody>
      </p:sp>
      <p:sp>
        <p:nvSpPr>
          <p:cNvPr id="11" name="Rounded Rectangle 10"/>
          <p:cNvSpPr/>
          <p:nvPr/>
        </p:nvSpPr>
        <p:spPr>
          <a:xfrm>
            <a:off x="4229100" y="2453640"/>
            <a:ext cx="3238500" cy="1668780"/>
          </a:xfrm>
          <a:prstGeom prst="roundRect">
            <a:avLst>
              <a:gd name="adj" fmla="val 5936"/>
            </a:avLst>
          </a:prstGeom>
          <a:solidFill>
            <a:srgbClr val="DCEFE8"/>
          </a:solidFill>
          <a:ln w="7620">
            <a:solidFill>
              <a:srgbClr val="007C78"/>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007C78"/>
                </a:solidFill>
                <a:latin typeface="DejaVu Sans"/>
              </a:rPr>
              <a:t>Search projection</a:t>
            </a:r>
          </a:p>
        </p:txBody>
      </p:sp>
      <p:sp>
        <p:nvSpPr>
          <p:cNvPr id="13" name="TextBox 12"/>
          <p:cNvSpPr txBox="1"/>
          <p:nvPr/>
        </p:nvSpPr>
        <p:spPr>
          <a:xfrm>
            <a:off x="4396740" y="3019348"/>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Maintain an exact-attribute</a:t>
            </a:r>
          </a:p>
        </p:txBody>
      </p:sp>
      <p:sp>
        <p:nvSpPr>
          <p:cNvPr id="14" name="TextBox 13"/>
          <p:cNvSpPr txBox="1"/>
          <p:nvPr/>
        </p:nvSpPr>
        <p:spPr>
          <a:xfrm>
            <a:off x="4396740" y="3253435"/>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projection and return</a:t>
            </a:r>
          </a:p>
        </p:txBody>
      </p:sp>
      <p:sp>
        <p:nvSpPr>
          <p:cNvPr id="15" name="TextBox 14"/>
          <p:cNvSpPr txBox="1"/>
          <p:nvPr/>
        </p:nvSpPr>
        <p:spPr>
          <a:xfrm>
            <a:off x="4396740" y="3487521"/>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references with explicit prefix,</a:t>
            </a:r>
          </a:p>
        </p:txBody>
      </p:sp>
      <p:sp>
        <p:nvSpPr>
          <p:cNvPr id="16" name="TextBox 15"/>
          <p:cNvSpPr txBox="1"/>
          <p:nvPr/>
        </p:nvSpPr>
        <p:spPr>
          <a:xfrm>
            <a:off x="4396740" y="3721607"/>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page and freshness semantics.</a:t>
            </a:r>
          </a:p>
        </p:txBody>
      </p:sp>
      <p:cxnSp>
        <p:nvCxnSpPr>
          <p:cNvPr id="17" name="Connector 16"/>
          <p:cNvCxnSpPr/>
          <p:nvPr/>
        </p:nvCxnSpPr>
        <p:spPr>
          <a:xfrm>
            <a:off x="3406140" y="3284219"/>
            <a:ext cx="822960" cy="0"/>
          </a:xfrm>
          <a:prstGeom prst="line">
            <a:avLst/>
          </a:prstGeom>
          <a:ln w="15240">
            <a:solidFill>
              <a:srgbClr val="007C78"/>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9" name="Rounded Rectangle 18"/>
          <p:cNvSpPr/>
          <p:nvPr/>
        </p:nvSpPr>
        <p:spPr>
          <a:xfrm>
            <a:off x="8404860" y="1661159"/>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0" name="TextBox 19"/>
          <p:cNvSpPr txBox="1"/>
          <p:nvPr/>
        </p:nvSpPr>
        <p:spPr>
          <a:xfrm>
            <a:off x="8572500" y="182880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AtomCommitSource</a:t>
            </a:r>
          </a:p>
        </p:txBody>
      </p:sp>
      <p:sp>
        <p:nvSpPr>
          <p:cNvPr id="21" name="TextBox 20"/>
          <p:cNvSpPr txBox="1"/>
          <p:nvPr/>
        </p:nvSpPr>
        <p:spPr>
          <a:xfrm>
            <a:off x="8572500" y="216834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head / readCommits: accepted</a:t>
            </a:r>
          </a:p>
        </p:txBody>
      </p:sp>
      <p:sp>
        <p:nvSpPr>
          <p:cNvPr id="22" name="TextBox 21"/>
          <p:cNvSpPr txBox="1"/>
          <p:nvPr/>
        </p:nvSpPr>
        <p:spPr>
          <a:xfrm>
            <a:off x="8572500" y="238292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scoped prefix</a:t>
            </a:r>
          </a:p>
        </p:txBody>
      </p:sp>
      <p:cxnSp>
        <p:nvCxnSpPr>
          <p:cNvPr id="23" name="Connector 22"/>
          <p:cNvCxnSpPr/>
          <p:nvPr/>
        </p:nvCxnSpPr>
        <p:spPr>
          <a:xfrm>
            <a:off x="7467600" y="3284219"/>
            <a:ext cx="426720" cy="0"/>
          </a:xfrm>
          <a:prstGeom prst="line">
            <a:avLst/>
          </a:prstGeom>
          <a:ln w="15240">
            <a:solidFill>
              <a:srgbClr val="007C78"/>
            </a:solidFill>
          </a:ln>
          <a:effectLst/>
        </p:spPr>
      </p:cxnSp>
      <p:cxnSp>
        <p:nvCxnSpPr>
          <p:cNvPr id="24" name="Connector 23"/>
          <p:cNvCxnSpPr/>
          <p:nvPr/>
        </p:nvCxnSpPr>
        <p:spPr>
          <a:xfrm flipV="1">
            <a:off x="7894320" y="2164080"/>
            <a:ext cx="0" cy="1120139"/>
          </a:xfrm>
          <a:prstGeom prst="line">
            <a:avLst/>
          </a:prstGeom>
          <a:ln w="15240">
            <a:solidFill>
              <a:srgbClr val="007C78"/>
            </a:solidFill>
          </a:ln>
          <a:effectLst/>
        </p:spPr>
      </p:cxnSp>
      <p:cxnSp>
        <p:nvCxnSpPr>
          <p:cNvPr id="25" name="Connector 24"/>
          <p:cNvCxnSpPr/>
          <p:nvPr/>
        </p:nvCxnSpPr>
        <p:spPr>
          <a:xfrm>
            <a:off x="7894320" y="2164080"/>
            <a:ext cx="510540" cy="0"/>
          </a:xfrm>
          <a:prstGeom prst="line">
            <a:avLst/>
          </a:prstGeom>
          <a:ln w="15240">
            <a:solidFill>
              <a:srgbClr val="007C78"/>
            </a:solidFill>
          </a:ln>
          <a:effectLst/>
        </p:spPr>
      </p:cxnSp>
      <p:sp>
        <p:nvSpPr>
          <p:cNvPr id="26" name="Freeform 25"/>
          <p:cNvSpPr/>
          <p:nvPr/>
        </p:nvSpPr>
        <p:spPr>
          <a:xfrm>
            <a:off x="8305800" y="212598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7" name="Rounded Rectangle 26"/>
          <p:cNvSpPr/>
          <p:nvPr/>
        </p:nvSpPr>
        <p:spPr>
          <a:xfrm>
            <a:off x="8404860" y="270510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8" name="TextBox 27"/>
          <p:cNvSpPr txBox="1"/>
          <p:nvPr/>
        </p:nvSpPr>
        <p:spPr>
          <a:xfrm>
            <a:off x="8572500" y="28727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AtomStorage.get</a:t>
            </a:r>
          </a:p>
        </p:txBody>
      </p:sp>
      <p:sp>
        <p:nvSpPr>
          <p:cNvPr id="29" name="TextBox 28"/>
          <p:cNvSpPr txBox="1"/>
          <p:nvPr/>
        </p:nvSpPr>
        <p:spPr>
          <a:xfrm>
            <a:off x="8572500" y="32122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Retrieve and validate every</a:t>
            </a:r>
          </a:p>
        </p:txBody>
      </p:sp>
      <p:sp>
        <p:nvSpPr>
          <p:cNvPr id="30" name="TextBox 29"/>
          <p:cNvSpPr txBox="1"/>
          <p:nvPr/>
        </p:nvSpPr>
        <p:spPr>
          <a:xfrm>
            <a:off x="8572500" y="34268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envelope</a:t>
            </a:r>
          </a:p>
        </p:txBody>
      </p:sp>
      <p:cxnSp>
        <p:nvCxnSpPr>
          <p:cNvPr id="31" name="Connector 30"/>
          <p:cNvCxnSpPr/>
          <p:nvPr/>
        </p:nvCxnSpPr>
        <p:spPr>
          <a:xfrm>
            <a:off x="7467600" y="3284219"/>
            <a:ext cx="426720" cy="0"/>
          </a:xfrm>
          <a:prstGeom prst="line">
            <a:avLst/>
          </a:prstGeom>
          <a:ln w="15240">
            <a:solidFill>
              <a:srgbClr val="007C78"/>
            </a:solidFill>
          </a:ln>
          <a:effectLst/>
        </p:spPr>
      </p:cxnSp>
      <p:cxnSp>
        <p:nvCxnSpPr>
          <p:cNvPr id="32" name="Connector 31"/>
          <p:cNvCxnSpPr/>
          <p:nvPr/>
        </p:nvCxnSpPr>
        <p:spPr>
          <a:xfrm flipV="1">
            <a:off x="7894320" y="3208020"/>
            <a:ext cx="0" cy="76199"/>
          </a:xfrm>
          <a:prstGeom prst="line">
            <a:avLst/>
          </a:prstGeom>
          <a:ln w="15240">
            <a:solidFill>
              <a:srgbClr val="007C78"/>
            </a:solidFill>
          </a:ln>
          <a:effectLst/>
        </p:spPr>
      </p:cxnSp>
      <p:cxnSp>
        <p:nvCxnSpPr>
          <p:cNvPr id="33" name="Connector 32"/>
          <p:cNvCxnSpPr/>
          <p:nvPr/>
        </p:nvCxnSpPr>
        <p:spPr>
          <a:xfrm>
            <a:off x="7894320" y="3208020"/>
            <a:ext cx="510540" cy="0"/>
          </a:xfrm>
          <a:prstGeom prst="line">
            <a:avLst/>
          </a:prstGeom>
          <a:ln w="15240">
            <a:solidFill>
              <a:srgbClr val="007C78"/>
            </a:solidFill>
          </a:ln>
          <a:effectLst/>
        </p:spPr>
      </p:cxnSp>
      <p:sp>
        <p:nvSpPr>
          <p:cNvPr id="34" name="Freeform 33"/>
          <p:cNvSpPr/>
          <p:nvPr/>
        </p:nvSpPr>
        <p:spPr>
          <a:xfrm>
            <a:off x="8305800" y="31699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5" name="Rounded Rectangle 34"/>
          <p:cNvSpPr/>
          <p:nvPr/>
        </p:nvSpPr>
        <p:spPr>
          <a:xfrm>
            <a:off x="8404860" y="374904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36" name="TextBox 35"/>
          <p:cNvSpPr txBox="1"/>
          <p:nvPr/>
        </p:nvSpPr>
        <p:spPr>
          <a:xfrm>
            <a:off x="8572500" y="39166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Current authorization</a:t>
            </a:r>
          </a:p>
        </p:txBody>
      </p:sp>
      <p:sp>
        <p:nvSpPr>
          <p:cNvPr id="37" name="TextBox 36"/>
          <p:cNvSpPr txBox="1"/>
          <p:nvPr/>
        </p:nvSpPr>
        <p:spPr>
          <a:xfrm>
            <a:off x="8572500" y="425622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Scope, principal and operation</a:t>
            </a:r>
          </a:p>
        </p:txBody>
      </p:sp>
      <p:cxnSp>
        <p:nvCxnSpPr>
          <p:cNvPr id="38" name="Connector 37"/>
          <p:cNvCxnSpPr/>
          <p:nvPr/>
        </p:nvCxnSpPr>
        <p:spPr>
          <a:xfrm>
            <a:off x="7467600" y="3284219"/>
            <a:ext cx="426720" cy="0"/>
          </a:xfrm>
          <a:prstGeom prst="line">
            <a:avLst/>
          </a:prstGeom>
          <a:ln w="15240">
            <a:solidFill>
              <a:srgbClr val="007C78"/>
            </a:solidFill>
          </a:ln>
          <a:effectLst/>
        </p:spPr>
      </p:cxnSp>
      <p:cxnSp>
        <p:nvCxnSpPr>
          <p:cNvPr id="39" name="Connector 38"/>
          <p:cNvCxnSpPr/>
          <p:nvPr/>
        </p:nvCxnSpPr>
        <p:spPr>
          <a:xfrm>
            <a:off x="7894320" y="3284219"/>
            <a:ext cx="0" cy="967741"/>
          </a:xfrm>
          <a:prstGeom prst="line">
            <a:avLst/>
          </a:prstGeom>
          <a:ln w="15240">
            <a:solidFill>
              <a:srgbClr val="007C78"/>
            </a:solidFill>
          </a:ln>
          <a:effectLst/>
        </p:spPr>
      </p:cxnSp>
      <p:cxnSp>
        <p:nvCxnSpPr>
          <p:cNvPr id="40" name="Connector 39"/>
          <p:cNvCxnSpPr/>
          <p:nvPr/>
        </p:nvCxnSpPr>
        <p:spPr>
          <a:xfrm>
            <a:off x="7894320" y="4251960"/>
            <a:ext cx="510540" cy="0"/>
          </a:xfrm>
          <a:prstGeom prst="line">
            <a:avLst/>
          </a:prstGeom>
          <a:ln w="15240">
            <a:solidFill>
              <a:srgbClr val="007C78"/>
            </a:solidFill>
          </a:ln>
          <a:effectLst/>
        </p:spPr>
      </p:cxnSp>
      <p:sp>
        <p:nvSpPr>
          <p:cNvPr id="41" name="Freeform 40"/>
          <p:cNvSpPr/>
          <p:nvPr/>
        </p:nvSpPr>
        <p:spPr>
          <a:xfrm>
            <a:off x="8305800" y="42138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2" name="Rounded Rectangle 41"/>
          <p:cNvSpPr/>
          <p:nvPr/>
        </p:nvSpPr>
        <p:spPr>
          <a:xfrm>
            <a:off x="8404860" y="479298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43" name="TextBox 42"/>
          <p:cNvSpPr txBox="1"/>
          <p:nvPr/>
        </p:nvSpPr>
        <p:spPr>
          <a:xfrm>
            <a:off x="8572500" y="49606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Own index journal</a:t>
            </a:r>
          </a:p>
        </p:txBody>
      </p:sp>
      <p:sp>
        <p:nvSpPr>
          <p:cNvPr id="44" name="TextBox 43"/>
          <p:cNvSpPr txBox="1"/>
          <p:nvPr/>
        </p:nvSpPr>
        <p:spPr>
          <a:xfrm>
            <a:off x="8572500" y="53001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Derived rows + checkpoint +</a:t>
            </a:r>
          </a:p>
        </p:txBody>
      </p:sp>
      <p:sp>
        <p:nvSpPr>
          <p:cNvPr id="45" name="TextBox 44"/>
          <p:cNvSpPr txBox="1"/>
          <p:nvPr/>
        </p:nvSpPr>
        <p:spPr>
          <a:xfrm>
            <a:off x="8572500" y="55147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generation</a:t>
            </a:r>
          </a:p>
        </p:txBody>
      </p:sp>
      <p:cxnSp>
        <p:nvCxnSpPr>
          <p:cNvPr id="46" name="Connector 45"/>
          <p:cNvCxnSpPr/>
          <p:nvPr/>
        </p:nvCxnSpPr>
        <p:spPr>
          <a:xfrm>
            <a:off x="7467600" y="3284219"/>
            <a:ext cx="426720" cy="0"/>
          </a:xfrm>
          <a:prstGeom prst="line">
            <a:avLst/>
          </a:prstGeom>
          <a:ln w="15240">
            <a:solidFill>
              <a:srgbClr val="007C78"/>
            </a:solidFill>
          </a:ln>
          <a:effectLst/>
        </p:spPr>
      </p:cxnSp>
      <p:cxnSp>
        <p:nvCxnSpPr>
          <p:cNvPr id="47" name="Connector 46"/>
          <p:cNvCxnSpPr/>
          <p:nvPr/>
        </p:nvCxnSpPr>
        <p:spPr>
          <a:xfrm>
            <a:off x="7894320" y="3284219"/>
            <a:ext cx="0" cy="2011681"/>
          </a:xfrm>
          <a:prstGeom prst="line">
            <a:avLst/>
          </a:prstGeom>
          <a:ln w="15240">
            <a:solidFill>
              <a:srgbClr val="007C78"/>
            </a:solidFill>
          </a:ln>
          <a:effectLst/>
        </p:spPr>
      </p:cxnSp>
      <p:cxnSp>
        <p:nvCxnSpPr>
          <p:cNvPr id="48" name="Connector 47"/>
          <p:cNvCxnSpPr/>
          <p:nvPr/>
        </p:nvCxnSpPr>
        <p:spPr>
          <a:xfrm>
            <a:off x="7894320" y="5295900"/>
            <a:ext cx="510540" cy="0"/>
          </a:xfrm>
          <a:prstGeom prst="line">
            <a:avLst/>
          </a:prstGeom>
          <a:ln w="15240">
            <a:solidFill>
              <a:srgbClr val="007C78"/>
            </a:solidFill>
          </a:ln>
          <a:effectLst/>
        </p:spPr>
      </p:cxnSp>
      <p:sp>
        <p:nvSpPr>
          <p:cNvPr id="49" name="Freeform 48"/>
          <p:cNvSpPr/>
          <p:nvPr/>
        </p:nvSpPr>
        <p:spPr>
          <a:xfrm>
            <a:off x="8305800" y="52578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50" name="Rounded Rectangle 4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51" name="TextBox 5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52" name="Connector 51"/>
          <p:cNvCxnSpPr/>
          <p:nvPr/>
        </p:nvCxnSpPr>
        <p:spPr>
          <a:xfrm>
            <a:off x="548640" y="6393180"/>
            <a:ext cx="11094720" cy="0"/>
          </a:xfrm>
          <a:prstGeom prst="line">
            <a:avLst/>
          </a:prstGeom>
          <a:ln w="7620">
            <a:solidFill>
              <a:srgbClr val="C9D2D4"/>
            </a:solidFill>
          </a:ln>
          <a:effectLst/>
        </p:spPr>
      </p:cxnSp>
      <p:sp>
        <p:nvSpPr>
          <p:cNvPr id="53" name="TextBox 5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54" name="TextBox 5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Derived projection</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Extracted exact attributes; disposable and</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rebuildable</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Progress and generation</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Atomic index/checkpoint updates, rebuild intent</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and cursor generation</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Authoritative source</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Acceptance and immutable bytes belong to</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AtomStorage</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Semantic cognition</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embeddings, scoring, inferred tasks or general</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knowledge search</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exact-attributes/1 · knowledge-attributes/1 · contract 2.0.0</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query</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 conjunction of 1–3 distinct</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attributes</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kind/topic/label; equality only</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catchUp</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Process ≤8 new source entries</a:t>
            </a:r>
          </a:p>
        </p:txBody>
      </p:sp>
      <p:sp>
        <p:nvSpPr>
          <p:cNvPr id="16" name="TextBox 15"/>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Checkpoint advances only after</a:t>
            </a:r>
          </a:p>
        </p:txBody>
      </p:sp>
      <p:sp>
        <p:nvSpPr>
          <p:cNvPr id="17" name="TextBox 16"/>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complete batch</a:t>
            </a:r>
          </a:p>
        </p:txBody>
      </p:sp>
      <p:sp>
        <p:nvSpPr>
          <p:cNvPr id="18" name="Rounded Rectangle 17"/>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19" name="TextBox 18"/>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beginRebuild</a:t>
            </a:r>
          </a:p>
        </p:txBody>
      </p:sp>
      <p:sp>
        <p:nvSpPr>
          <p:cNvPr id="20" name="TextBox 19"/>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Capture source head; create generation</a:t>
            </a:r>
          </a:p>
        </p:txBody>
      </p:sp>
      <p:sp>
        <p:nvSpPr>
          <p:cNvPr id="21" name="TextBox 20"/>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Queries unavailable until captured</a:t>
            </a:r>
          </a:p>
        </p:txBody>
      </p:sp>
      <p:sp>
        <p:nvSpPr>
          <p:cNvPr id="22" name="TextBox 21"/>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prefix complete</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256 indexed records; page/batch ≤8; query ≤1024 bytes; no automatic repair.</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 HIVE + SQLITE / DeTTa · independent file Search remains a fixture</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Initial discovery</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Five matches, three</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pages at limit two.</a:t>
            </a:r>
          </a:p>
        </p:txBody>
      </p:sp>
      <p:cxnSp>
        <p:nvCxnSpPr>
          <p:cNvPr id="10" name="Connector 9"/>
          <p:cNvCxnSpPr/>
          <p:nvPr/>
        </p:nvCxnSpPr>
        <p:spPr>
          <a:xfrm>
            <a:off x="3185160" y="3238500"/>
            <a:ext cx="182880" cy="0"/>
          </a:xfrm>
          <a:prstGeom prst="line">
            <a:avLst/>
          </a:prstGeom>
          <a:ln w="15240">
            <a:solidFill>
              <a:srgbClr val="007C78"/>
            </a:solidFill>
          </a:ln>
          <a:effectLst/>
        </p:spPr>
      </p:cxnSp>
      <p:sp>
        <p:nvSpPr>
          <p:cNvPr id="11" name="Freeform 10"/>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2" name="Rounded Rectangle 11"/>
          <p:cNvSpPr/>
          <p:nvPr/>
        </p:nvSpPr>
        <p:spPr>
          <a:xfrm>
            <a:off x="33680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13" name="TextBox 12"/>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02 · STEP</a:t>
            </a:r>
          </a:p>
        </p:txBody>
      </p:sp>
      <p:sp>
        <p:nvSpPr>
          <p:cNvPr id="14" name="TextBox 13"/>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Append a match</a:t>
            </a:r>
          </a:p>
        </p:txBody>
      </p:sp>
      <p:sp>
        <p:nvSpPr>
          <p:cNvPr id="15" name="TextBox 14"/>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Requested barrier</a:t>
            </a:r>
          </a:p>
        </p:txBody>
      </p:sp>
      <p:sp>
        <p:nvSpPr>
          <p:cNvPr id="16" name="TextBox 15"/>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exceeds the indexed</a:t>
            </a:r>
          </a:p>
        </p:txBody>
      </p:sp>
      <p:sp>
        <p:nvSpPr>
          <p:cNvPr id="17" name="TextBox 16"/>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prefix.</a:t>
            </a:r>
          </a:p>
        </p:txBody>
      </p:sp>
      <p:cxnSp>
        <p:nvCxnSpPr>
          <p:cNvPr id="18" name="Connector 17"/>
          <p:cNvCxnSpPr/>
          <p:nvPr/>
        </p:nvCxnSpPr>
        <p:spPr>
          <a:xfrm>
            <a:off x="6004559" y="3238500"/>
            <a:ext cx="182881" cy="0"/>
          </a:xfrm>
          <a:prstGeom prst="line">
            <a:avLst/>
          </a:prstGeom>
          <a:ln w="15240">
            <a:solidFill>
              <a:srgbClr val="007C78"/>
            </a:solidFill>
          </a:ln>
          <a:effectLst/>
        </p:spPr>
      </p:cxnSp>
      <p:sp>
        <p:nvSpPr>
          <p:cNvPr id="19" name="Freeform 18"/>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0" name="Rounded Rectangle 19"/>
          <p:cNvSpPr/>
          <p:nvPr/>
        </p:nvSpPr>
        <p:spPr>
          <a:xfrm>
            <a:off x="61874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03 · STEP</a:t>
            </a:r>
          </a:p>
        </p:txBody>
      </p:sp>
      <p:sp>
        <p:nvSpPr>
          <p:cNvPr id="22" name="TextBox 21"/>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Signal lag</a:t>
            </a:r>
          </a:p>
        </p:txBody>
      </p:sp>
      <p:sp>
        <p:nvSpPr>
          <p:cNvPr id="23" name="TextBox 22"/>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query returns</a:t>
            </a:r>
          </a:p>
        </p:txBody>
      </p:sp>
      <p:sp>
        <p:nvSpPr>
          <p:cNvPr id="24" name="TextBox 23"/>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NOT_AVAILABLE; no</a:t>
            </a:r>
          </a:p>
        </p:txBody>
      </p:sp>
      <p:sp>
        <p:nvSpPr>
          <p:cNvPr id="25" name="TextBox 24"/>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ingestion.</a:t>
            </a:r>
          </a:p>
        </p:txBody>
      </p:sp>
      <p:cxnSp>
        <p:nvCxnSpPr>
          <p:cNvPr id="26" name="Connector 25"/>
          <p:cNvCxnSpPr/>
          <p:nvPr/>
        </p:nvCxnSpPr>
        <p:spPr>
          <a:xfrm>
            <a:off x="8823960" y="3238500"/>
            <a:ext cx="182880" cy="0"/>
          </a:xfrm>
          <a:prstGeom prst="line">
            <a:avLst/>
          </a:prstGeom>
          <a:ln w="15240">
            <a:solidFill>
              <a:srgbClr val="007C78"/>
            </a:solidFill>
          </a:ln>
          <a:effectLst/>
        </p:spPr>
      </p:cxnSp>
      <p:sp>
        <p:nvSpPr>
          <p:cNvPr id="27" name="Freeform 26"/>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8" name="Rounded Rectangle 27"/>
          <p:cNvSpPr/>
          <p:nvPr/>
        </p:nvSpPr>
        <p:spPr>
          <a:xfrm>
            <a:off x="90068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9" name="TextBox 28"/>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04 · STEP</a:t>
            </a:r>
          </a:p>
        </p:txBody>
      </p:sp>
      <p:sp>
        <p:nvSpPr>
          <p:cNvPr id="30" name="TextBox 29"/>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Catch up /</a:t>
            </a:r>
          </a:p>
        </p:txBody>
      </p:sp>
      <p:sp>
        <p:nvSpPr>
          <p:cNvPr id="31" name="TextBox 30"/>
          <p:cNvSpPr txBox="1"/>
          <p:nvPr/>
        </p:nvSpPr>
        <p:spPr>
          <a:xfrm>
            <a:off x="9174480" y="2717901"/>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rebuild</a:t>
            </a:r>
          </a:p>
        </p:txBody>
      </p:sp>
      <p:sp>
        <p:nvSpPr>
          <p:cNvPr id="32" name="TextBox 31"/>
          <p:cNvSpPr txBox="1"/>
          <p:nvPr/>
        </p:nvSpPr>
        <p:spPr>
          <a:xfrm>
            <a:off x="9174480" y="309646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Six roots and nine</a:t>
            </a:r>
          </a:p>
        </p:txBody>
      </p:sp>
      <p:sp>
        <p:nvSpPr>
          <p:cNvPr id="33" name="TextBox 32"/>
          <p:cNvSpPr txBox="1"/>
          <p:nvPr/>
        </p:nvSpPr>
        <p:spPr>
          <a:xfrm>
            <a:off x="9174480" y="336956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payloads;</a:t>
            </a:r>
          </a:p>
        </p:txBody>
      </p:sp>
      <p:sp>
        <p:nvSpPr>
          <p:cNvPr id="34" name="TextBox 33"/>
          <p:cNvSpPr txBox="1"/>
          <p:nvPr/>
        </p:nvSpPr>
        <p:spPr>
          <a:xfrm>
            <a:off x="9174480" y="364266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replacement agrees.</a:t>
            </a:r>
          </a:p>
        </p:txBody>
      </p:sp>
      <p:sp>
        <p:nvSpPr>
          <p:cNvPr id="35" name="Rounded Rectangle 34"/>
          <p:cNvSpPr/>
          <p:nvPr/>
        </p:nvSpPr>
        <p:spPr>
          <a:xfrm>
            <a:off x="548640" y="486156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 answer is useful only when its freshness means something precise.</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Exact matching</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Case/Unicode preserved; missing attributes</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never match.</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Complete prefix</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No advance across gaps, unavailable bytes or</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forged metadata.</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Bound continuation</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Cursor fixes query, principal, source, snapshot</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and generation.</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Honest freshness</a:t>
            </a:r>
          </a:p>
        </p:txBody>
      </p:sp>
      <p:sp>
        <p:nvSpPr>
          <p:cNvPr id="23" name="TextBox 22"/>
          <p:cNvSpPr txBox="1"/>
          <p:nvPr/>
        </p:nvSpPr>
        <p:spPr>
          <a:xfrm>
            <a:off x="6385559" y="4491228"/>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Prefix completeness, page completion, requested</a:t>
            </a:r>
          </a:p>
        </p:txBody>
      </p:sp>
      <p:sp>
        <p:nvSpPr>
          <p:cNvPr id="24" name="TextBox 23"/>
          <p:cNvSpPr txBox="1"/>
          <p:nvPr/>
        </p:nvSpPr>
        <p:spPr>
          <a:xfrm>
            <a:off x="6385559" y="474482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minimum and observed head are distinct.</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Before/after checkpoint</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commit</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Rows and checkpoint recover together.</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Both providers; four direct</a:t>
            </a:r>
          </a:p>
        </p:txBody>
      </p:sp>
      <p:sp>
        <p:nvSpPr>
          <p:cNvPr id="13" name="TextBox 12"/>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kills</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During rebuild intent</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Resume bounded rebuild; reject</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old-generation cursor.</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Both providers; two direct kills</a:t>
            </a:r>
          </a:p>
        </p:txBody>
      </p:sp>
      <p:sp>
        <p:nvSpPr>
          <p:cNvPr id="19" name="Rounded Rectangle 18"/>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0" name="TextBox 19"/>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Native page/result crash</a:t>
            </a:r>
          </a:p>
        </p:txBody>
      </p:sp>
      <p:sp>
        <p:nvSpPr>
          <p:cNvPr id="21" name="TextBox 20"/>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Resume caller progress without seeded</a:t>
            </a:r>
          </a:p>
        </p:txBody>
      </p:sp>
      <p:sp>
        <p:nvSpPr>
          <p:cNvPr id="22" name="TextBox 21"/>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answers.</a:t>
            </a:r>
          </a:p>
        </p:txBody>
      </p:sp>
      <p:sp>
        <p:nvSpPr>
          <p:cNvPr id="23" name="TextBox 22"/>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Both providers; four native</a:t>
            </a:r>
          </a:p>
        </p:txBody>
      </p:sp>
      <p:sp>
        <p:nvSpPr>
          <p:cNvPr id="24" name="TextBox 23"/>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kills</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5 → 6</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Matching roots before/after</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catch-up</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Native discovery counts, not a</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relevance score</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2</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Independent Search</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providers</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SQLite owner + atomic-file fixture</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256 / 8</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Indexed records / max page</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or batch</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Finite contract limits, not scaling</a:t>
            </a:r>
          </a:p>
        </p:txBody>
      </p:sp>
      <p:sp>
        <p:nvSpPr>
          <p:cNvPr id="21" name="TextBox 20"/>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results</a:t>
            </a:r>
          </a:p>
        </p:txBody>
      </p:sp>
      <p:sp>
        <p:nvSpPr>
          <p:cNvPr id="22" name="TextBox 21"/>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Native tests compare complete reference sets and canonical payload bytes across four transitions. No</a:t>
            </a:r>
          </a:p>
        </p:txBody>
      </p:sp>
      <p:sp>
        <p:nvSpPr>
          <p:cNvPr id="23" name="TextBox 22"/>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query-latency, ingestion-rate or relevance benchmark is recorded.</a:t>
            </a:r>
          </a:p>
        </p:txBody>
      </p:sp>
      <p:sp>
        <p:nvSpPr>
          <p:cNvPr id="24" name="Rounded Rectangle 23"/>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5" name="TextBox 24"/>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6" name="TextBox 25"/>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corpus size, selectivity, page size and index lag; report p50/p95 query latency, catch-up rate and</a:t>
            </a:r>
          </a:p>
        </p:txBody>
      </p:sp>
      <p:sp>
        <p:nvSpPr>
          <p:cNvPr id="27" name="TextBox 26"/>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rebuild time with explicit freshness barriers.</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SQLite SearchOwner over accepted real DeTTa bytes; actual native Hive query</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path.</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atomic-file Search with its own predicate evaluator; generated</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corpus/oracle.</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M5 gate blocked; general search and migration are outside this</a:t>
            </a:r>
          </a:p>
        </p:txBody>
      </p:sp>
      <p:sp>
        <p:nvSpPr>
          <p:cNvPr id="20" name="TextBox 19"/>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profile.</a:t>
            </a:r>
          </a:p>
        </p:txBody>
      </p:sp>
      <p:sp>
        <p:nvSpPr>
          <p:cNvPr id="21" name="Rounded Rectangle 20"/>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2" name="TextBox 21"/>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3" name="TextBox 22"/>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Embedding relevance, large-corpus scale, distributed indexing, compaction and</a:t>
            </a:r>
          </a:p>
        </p:txBody>
      </p:sp>
      <p:sp>
        <p:nvSpPr>
          <p:cNvPr id="24" name="TextBox 23"/>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live migration.</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freshness/latency tradeoff</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Frozen corpus, source barriers and</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lag</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Latency and staleness reported</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together</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Broaden query language</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deliberately</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New explicit profile and sound cursor</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semantics</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silent change to exact equality</a:t>
            </a:r>
          </a:p>
        </p:txBody>
      </p:sp>
      <p:sp>
        <p:nvSpPr>
          <p:cNvPr id="21" name="Rounded Rectangle 20"/>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2" name="TextBox 21"/>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Scale rebuild machinery</a:t>
            </a:r>
          </a:p>
        </p:txBody>
      </p:sp>
      <p:sp>
        <p:nvSpPr>
          <p:cNvPr id="23" name="TextBox 22"/>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Capacity/retention contract before</a:t>
            </a:r>
          </a:p>
        </p:txBody>
      </p:sp>
      <p:sp>
        <p:nvSpPr>
          <p:cNvPr id="24" name="TextBox 23"/>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optimization</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skipped source ranges or</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query-time ingestion</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 answer is useful only when its freshness means something precise.</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scripts/verify_m5.py --gates hive --environment &lt;env&gt; --output</a:t>
            </a:r>
          </a:p>
        </p:txBody>
      </p:sp>
      <p:sp>
        <p:nvSpPr>
          <p:cNvPr id="10" name="TextBox 9"/>
          <p:cNvSpPr txBox="1"/>
          <p:nvPr/>
        </p:nvSpPr>
        <p:spPr>
          <a:xfrm>
            <a:off x="609600" y="3358286"/>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&lt;fresh&gt;</a:t>
            </a:r>
          </a:p>
        </p:txBody>
      </p:sp>
      <p:sp>
        <p:nvSpPr>
          <p:cNvPr id="11" name="TextBox 10"/>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Requires pinned native providers. The writer exits and the oracle is removed before native lookup. Fresh</a:t>
            </a:r>
          </a:p>
        </p:txBody>
      </p:sp>
      <p:sp>
        <p:nvSpPr>
          <p:cNvPr id="12" name="TextBox 11"/>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replacement rebuilds derived state; it is not migration.</a:t>
            </a:r>
          </a:p>
        </p:txBody>
      </p:sp>
      <p:sp>
        <p:nvSpPr>
          <p:cNvPr id="13" name="TextBox 12"/>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fusion/search.py</a:t>
            </a:r>
          </a:p>
        </p:txBody>
      </p:sp>
      <p:sp>
        <p:nvSpPr>
          <p:cNvPr id="14" name="TextBox 13"/>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fusion/adapters/fixture_search.py</a:t>
            </a:r>
          </a:p>
        </p:txBody>
      </p:sp>
      <p:sp>
        <p:nvSpPr>
          <p:cNvPr id="15" name="TextBox 14"/>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fusion/lookup_contracts.py</a:t>
            </a:r>
          </a:p>
        </p:txBody>
      </p:sp>
      <p:sp>
        <p:nvSpPr>
          <p:cNvPr id="16" name="TextBox 15"/>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tests/test_m5_boundaries.py</a:t>
            </a:r>
          </a:p>
        </p:txBody>
      </p:sp>
      <p:sp>
        <p:nvSpPr>
          <p:cNvPr id="17" name="TextBox 16"/>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8" name="Connector 17"/>
          <p:cNvCxnSpPr/>
          <p:nvPr/>
        </p:nvCxnSpPr>
        <p:spPr>
          <a:xfrm>
            <a:off x="548640" y="6393180"/>
            <a:ext cx="11094720" cy="0"/>
          </a:xfrm>
          <a:prstGeom prst="line">
            <a:avLst/>
          </a:prstGeom>
          <a:ln w="7620">
            <a:solidFill>
              <a:srgbClr val="C9D2D4"/>
            </a:solidFill>
          </a:ln>
          <a:effectLst/>
        </p:spPr>
      </p:cxnSp>
      <p:sp>
        <p:nvSpPr>
          <p:cNvPr id="19" name="TextBox 1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Search projection · M5 source bfb0ec8</a:t>
            </a:r>
          </a:p>
        </p:txBody>
      </p:sp>
      <p:sp>
        <p:nvSpPr>
          <p:cNvPr id="20" name="TextBox 1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Search projection</dc:title>
  <dc:subject>Maintain an exact-attribute projection and return references with explicit prefix, page and freshness semantics.</dc:subject>
  <dc:creator>Omega × ASI module-interface project</dc:creator>
  <cp:keywords>Omega, ASI, M5, ELI16, Search projection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