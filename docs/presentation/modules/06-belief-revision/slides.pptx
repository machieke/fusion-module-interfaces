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Own evidence/support admission, historical belief snapshots, semantic attempts and derived-support decisions. Numerical revision is meaningful only when the system tracks which evidence contributed, which assumptions were made and which alternatives remain. Do not treat the analogy as an additional experiment. This is a standalone talk about one responsibility, not a claim that every module is a separate service or repository.</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BeliefRevision · C2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C2 invokes mathematics and then performs authority, binding and CAS checks before its own commit. C4 requests admission; it never writes beliefs or calls the kernel directly.</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invokes mathematics and then performs authority, binding and CAS checks before its own commit. C4 requests admission; it never writes beliefs or calls the kernel directly. The left node is a caller or caller class; the right nodes distinguish foreign ports, pure helpers, local state and runtime internals. There is no implied shared transaction. C1 owns episodes and evidence-delivery intent.</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Support + observation ledger: Accepted occurrence lineage, alternatives and historical snapshots. Semantic attempts: Exact input bindings and durable admission decisions. Original event history: C1 owns episodes and evidence-delivery intent. Pure math and task scheduling: Providers calculate; Attention ranks; C4 budgets work. Explicit compatibility: M2 pln-revision-private/1; fresh M3 pln-derived-private/1 · local v3. Limits: Bounded local support history; aggregate covers admitted supports, not every retained observation.</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submitEvidence: Validate C1 evidence or existing support; Admit/duplicate separately from numerical outcome. readBelief: Read exact historical or current snapshot; Aggregate states its admitted coverage. submitDerivation: Bind exact historical premise vector; v3 tagged support; no new observation. readDerivation: Recover a saved semantic decision; Replay does not force another calculation.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Retain reports: Store original and contrary observations. 2. Check lineage: Copied/ancestor support cannot create independent roots. 3. Run guarded revision: Eligible exact pair uses the pinned native formula. 4. Commit decision: Keep alternatives and explicit aggregate coverage. Evidence classification: M2 REAL native PLN + DeTTa · generated observations and explicit independence assumptions. Do not infer performance, broad production readiness or extra runtime integrations from this example.</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Admission ≠ aggregation: A report may be processed without changing a numerical truth. No double evidence: New key or speaker cannot manufacture an independent origin. Derived support inherits: Deduction carries original roots and ancestry; no fresh observation count. Owner commits last: Recheck exact bindings, current authority and expected revision before committing. The supporting tests and runtime evidence are in the linked sources; this slide does not claim a formal proof or a production security audit.</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Proposal computed; owner commit lost: Recover/retry exact attempt under its budget semantics. Physical calculation may repeat where allowed. Decision saved; relay reply lost: Return the original decision through declared ports. Duplicate-safe admission. Stale revision / malformed provider response: Refuse or retain explicit outcome; never silently rebind. CAS and hostile-response tests.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0.5 / ⅔ Native revision strength / confidence: Recorded M2 generated example; model-specific. 2 Retained alternatives in M2 story: Disagreement remains visible. 0 new Observations from derived support: M3 admission invariant, not an accuracy score. These are numerical goldens and lineage/admission results. They do not measure calibrated confidence, predictive accuracy, source independence or per-admission latency. Proposed: fix support lineage and premise snapshots; vary duplicate ratio, alternatives and CAS contention. Measure admission p50/p95 and verify unchanged evidence-root accounting. No new benchmark is executed for this presentation. Do not compare overlapping suite times or use a one-run workflow measurement as a latency percentile.</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Private SQLite owners, actual guarded native revision/deduction and real DeTTa bytes. Fixture: Generated claims, declared independence assumptions, malformed proposals and injected crashes. Blocked or unsupported: No required supported gate blocked. Existing v2/v3 journals are not migrated or silently widened. Unrun: Retraction, arbitrary rule libraries, calibration, hidden-copy detection and distributed belief writers. All required M5 gates passed in the recorded final run, including legacy M1–M4 behavior; this presentation does not rerun those integrations. Human maintainers remain unassigned.</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admission costs requires Controlled lineage/duplicate/CAS workloads; success means Latency reported with duplicate and conflict rates. Specify retraction semantics requires Versioned provenance and historical-read contract; success means No erased history or unaccounted evidence. Evaluate numerical usefulness requires External task dataset and calibration protocol; success means Accuracy/calibration separated from conformance. No new cognition, scheduler, migration or chain capability is implemented by this series. Any changed numerical semantics, placement or replay lifetime requires separate design and verification rather than a presentation claim.</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The owner decides what counts; the calculator only proposes. The reproduction entrypoint is uv run --python 3.11 --locked python scripts/verify_m3.py &lt;env&gt; --output &lt;fresh&gt;. Uses explicit private profiles and pinned native providers. Historical M2 demo is a CLI observation; separate native Hive cases establish the real-caller gate.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[beliefs.py](https://github.com/machieke/fusion-module-interfaces/blob/494df69a1ac401c3d3b2cf79dbfde07f74b5e277/fusion/beliefs.py), [derived_beliefs.py](https://github.com/machieke/fusion-module-interfaces/blob/494df69a1ac401c3d3b2cf79dbfde07f74b5e277/fusion/derived_beliefs.py), [cognition_contracts.py](https://github.com/machieke/fusion-module-interfaces/blob/494df69a1ac401c3d3b2cf79dbfde07f74b5e277/fusion/cognition_contracts.py), [test_m2.py](https://github.com/machieke/fusion-module-interfaces/blob/494df69a1ac401c3d3b2cf79dbfde07f74b5e277/tests/test_m2.py), [demo.json](https://github.com/machieke/fusion-module-interfaces/blob/494df69a1ac401c3d3b2cf79dbfde07f74b5e277/docs/module-interfaces/evidence/m2/final/demo.json), [m3-evidence.md](https://github.com/machieke/fusion-module-interfaces/blob/494df69a1ac401c3d3b2cf79dbfde07f74b5e277/docs/module-interfaces/m3-evidence.md).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BeliefRevision · C2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BeliefRevision · C2</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Admit support carefully.</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Own the belief decision.</a:t>
            </a:r>
          </a:p>
        </p:txBody>
      </p:sp>
      <p:sp>
        <p:nvSpPr>
          <p:cNvPr id="6" name="Rounded Rectangle 5"/>
          <p:cNvSpPr/>
          <p:nvPr/>
        </p:nvSpPr>
        <p:spPr>
          <a:xfrm>
            <a:off x="579120" y="3208020"/>
            <a:ext cx="3112204" cy="274320"/>
          </a:xfrm>
          <a:prstGeom prst="roundRect">
            <a:avLst>
              <a:gd name="adj" fmla="val 19444"/>
            </a:avLst>
          </a:prstGeom>
          <a:solidFill>
            <a:srgbClr val="DCEFE8"/>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007C78"/>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An evidence ledger: a copied report is still the same source, and a calculation does not</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erase contrary observations.</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Numerical revision is meaningful only when the system tracks which evidence</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contributed, which assumptions were made and which alternatives remain.</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BeliefRevision · C2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007C78"/>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Own evidence/support admission, historical belief snapshots, semantic attempts and derived-support</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decisions.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Evidence relay /</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InferenceControl</a:t>
            </a:r>
          </a:p>
        </p:txBody>
      </p:sp>
      <p:sp>
        <p:nvSpPr>
          <p:cNvPr id="8" name="TextBox 7"/>
          <p:cNvSpPr txBox="1"/>
          <p:nvPr/>
        </p:nvSpPr>
        <p:spPr>
          <a:xfrm>
            <a:off x="716280" y="326318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submitEvidence ·</a:t>
            </a:r>
          </a:p>
        </p:txBody>
      </p:sp>
      <p:sp>
        <p:nvSpPr>
          <p:cNvPr id="9" name="TextBox 8"/>
          <p:cNvSpPr txBox="1"/>
          <p:nvPr/>
        </p:nvSpPr>
        <p:spPr>
          <a:xfrm>
            <a:off x="716280" y="350702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readBelief ·</a:t>
            </a:r>
          </a:p>
        </p:txBody>
      </p:sp>
      <p:sp>
        <p:nvSpPr>
          <p:cNvPr id="10" name="TextBox 9"/>
          <p:cNvSpPr txBox="1"/>
          <p:nvPr/>
        </p:nvSpPr>
        <p:spPr>
          <a:xfrm>
            <a:off x="716280" y="375086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submit/readDerivation</a:t>
            </a:r>
          </a:p>
        </p:txBody>
      </p:sp>
      <p:sp>
        <p:nvSpPr>
          <p:cNvPr id="11" name="Rounded Rectangle 10"/>
          <p:cNvSpPr/>
          <p:nvPr/>
        </p:nvSpPr>
        <p:spPr>
          <a:xfrm>
            <a:off x="4229100" y="2453640"/>
            <a:ext cx="3238500" cy="1668780"/>
          </a:xfrm>
          <a:prstGeom prst="roundRect">
            <a:avLst>
              <a:gd name="adj" fmla="val 5936"/>
            </a:avLst>
          </a:prstGeom>
          <a:solidFill>
            <a:srgbClr val="DCEFE8"/>
          </a:solidFill>
          <a:ln w="7620">
            <a:solidFill>
              <a:srgbClr val="007C78"/>
            </a:solidFill>
          </a:ln>
          <a:effectLst/>
        </p:spPr>
        <p:txBody>
          <a:bodyPr rtlCol="0" anchor="ctr"/>
          <a:lstStyle/>
          <a:p>
            <a:pPr algn="ctr"/>
          </a:p>
        </p:txBody>
      </p:sp>
      <p:sp>
        <p:nvSpPr>
          <p:cNvPr id="12" name="TextBox 11"/>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007C78"/>
                </a:solidFill>
                <a:latin typeface="DejaVu Sans"/>
              </a:rPr>
              <a:t>BeliefRevision · C2</a:t>
            </a:r>
          </a:p>
        </p:txBody>
      </p:sp>
      <p:sp>
        <p:nvSpPr>
          <p:cNvPr id="13" name="TextBox 12"/>
          <p:cNvSpPr txBox="1"/>
          <p:nvPr/>
        </p:nvSpPr>
        <p:spPr>
          <a:xfrm>
            <a:off x="4396740" y="3019348"/>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Own evidence/support</a:t>
            </a:r>
          </a:p>
        </p:txBody>
      </p:sp>
      <p:sp>
        <p:nvSpPr>
          <p:cNvPr id="14" name="TextBox 13"/>
          <p:cNvSpPr txBox="1"/>
          <p:nvPr/>
        </p:nvSpPr>
        <p:spPr>
          <a:xfrm>
            <a:off x="4396740" y="3253435"/>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admission, historical belief</a:t>
            </a:r>
          </a:p>
        </p:txBody>
      </p:sp>
      <p:sp>
        <p:nvSpPr>
          <p:cNvPr id="15" name="TextBox 14"/>
          <p:cNvSpPr txBox="1"/>
          <p:nvPr/>
        </p:nvSpPr>
        <p:spPr>
          <a:xfrm>
            <a:off x="4396740" y="3487521"/>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snapshots, semantic attempts</a:t>
            </a:r>
          </a:p>
        </p:txBody>
      </p:sp>
      <p:sp>
        <p:nvSpPr>
          <p:cNvPr id="16" name="TextBox 15"/>
          <p:cNvSpPr txBox="1"/>
          <p:nvPr/>
        </p:nvSpPr>
        <p:spPr>
          <a:xfrm>
            <a:off x="4396740" y="3721607"/>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and derived-support decisions.</a:t>
            </a:r>
          </a:p>
        </p:txBody>
      </p:sp>
      <p:cxnSp>
        <p:nvCxnSpPr>
          <p:cNvPr id="17" name="Connector 16"/>
          <p:cNvCxnSpPr/>
          <p:nvPr/>
        </p:nvCxnSpPr>
        <p:spPr>
          <a:xfrm>
            <a:off x="3406140" y="3284219"/>
            <a:ext cx="822960" cy="0"/>
          </a:xfrm>
          <a:prstGeom prst="line">
            <a:avLst/>
          </a:prstGeom>
          <a:ln w="15240">
            <a:solidFill>
              <a:srgbClr val="007C78"/>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9" name="Rounded Rectangle 18"/>
          <p:cNvSpPr/>
          <p:nvPr/>
        </p:nvSpPr>
        <p:spPr>
          <a:xfrm>
            <a:off x="8404860" y="1661159"/>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0" name="TextBox 19"/>
          <p:cNvSpPr txBox="1"/>
          <p:nvPr/>
        </p:nvSpPr>
        <p:spPr>
          <a:xfrm>
            <a:off x="8572500" y="182880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AtomStorage + C1</a:t>
            </a:r>
          </a:p>
        </p:txBody>
      </p:sp>
      <p:sp>
        <p:nvSpPr>
          <p:cNvPr id="21" name="TextBox 20"/>
          <p:cNvSpPr txBox="1"/>
          <p:nvPr/>
        </p:nvSpPr>
        <p:spPr>
          <a:xfrm>
            <a:off x="8572500" y="216834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Exact grounded claims and</a:t>
            </a:r>
          </a:p>
        </p:txBody>
      </p:sp>
      <p:sp>
        <p:nvSpPr>
          <p:cNvPr id="22" name="TextBox 21"/>
          <p:cNvSpPr txBox="1"/>
          <p:nvPr/>
        </p:nvSpPr>
        <p:spPr>
          <a:xfrm>
            <a:off x="8572500" y="238292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readEvidence</a:t>
            </a:r>
          </a:p>
        </p:txBody>
      </p:sp>
      <p:cxnSp>
        <p:nvCxnSpPr>
          <p:cNvPr id="23" name="Connector 22"/>
          <p:cNvCxnSpPr/>
          <p:nvPr/>
        </p:nvCxnSpPr>
        <p:spPr>
          <a:xfrm>
            <a:off x="7467600" y="3284219"/>
            <a:ext cx="426720" cy="0"/>
          </a:xfrm>
          <a:prstGeom prst="line">
            <a:avLst/>
          </a:prstGeom>
          <a:ln w="15240">
            <a:solidFill>
              <a:srgbClr val="007C78"/>
            </a:solidFill>
          </a:ln>
          <a:effectLst/>
        </p:spPr>
      </p:cxnSp>
      <p:cxnSp>
        <p:nvCxnSpPr>
          <p:cNvPr id="24" name="Connector 23"/>
          <p:cNvCxnSpPr/>
          <p:nvPr/>
        </p:nvCxnSpPr>
        <p:spPr>
          <a:xfrm flipV="1">
            <a:off x="7894320" y="2164080"/>
            <a:ext cx="0" cy="1120139"/>
          </a:xfrm>
          <a:prstGeom prst="line">
            <a:avLst/>
          </a:prstGeom>
          <a:ln w="15240">
            <a:solidFill>
              <a:srgbClr val="007C78"/>
            </a:solidFill>
          </a:ln>
          <a:effectLst/>
        </p:spPr>
      </p:cxnSp>
      <p:cxnSp>
        <p:nvCxnSpPr>
          <p:cNvPr id="25" name="Connector 24"/>
          <p:cNvCxnSpPr/>
          <p:nvPr/>
        </p:nvCxnSpPr>
        <p:spPr>
          <a:xfrm>
            <a:off x="7894320" y="2164080"/>
            <a:ext cx="510540" cy="0"/>
          </a:xfrm>
          <a:prstGeom prst="line">
            <a:avLst/>
          </a:prstGeom>
          <a:ln w="15240">
            <a:solidFill>
              <a:srgbClr val="007C78"/>
            </a:solidFill>
          </a:ln>
          <a:effectLst/>
        </p:spPr>
      </p:cxnSp>
      <p:sp>
        <p:nvSpPr>
          <p:cNvPr id="26" name="Freeform 25"/>
          <p:cNvSpPr/>
          <p:nvPr/>
        </p:nvSpPr>
        <p:spPr>
          <a:xfrm>
            <a:off x="8305800" y="212598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7" name="Rounded Rectangle 26"/>
          <p:cNvSpPr/>
          <p:nvPr/>
        </p:nvSpPr>
        <p:spPr>
          <a:xfrm>
            <a:off x="8404860" y="270510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28" name="TextBox 27"/>
          <p:cNvSpPr txBox="1"/>
          <p:nvPr/>
        </p:nvSpPr>
        <p:spPr>
          <a:xfrm>
            <a:off x="8572500" y="28727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RevisionMath</a:t>
            </a:r>
          </a:p>
        </p:txBody>
      </p:sp>
      <p:sp>
        <p:nvSpPr>
          <p:cNvPr id="29" name="TextBox 28"/>
          <p:cNvSpPr txBox="1"/>
          <p:nvPr/>
        </p:nvSpPr>
        <p:spPr>
          <a:xfrm>
            <a:off x="8572500" y="32122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Guarded native revision proposal</a:t>
            </a:r>
          </a:p>
        </p:txBody>
      </p:sp>
      <p:cxnSp>
        <p:nvCxnSpPr>
          <p:cNvPr id="30" name="Connector 29"/>
          <p:cNvCxnSpPr/>
          <p:nvPr/>
        </p:nvCxnSpPr>
        <p:spPr>
          <a:xfrm>
            <a:off x="7467600" y="3284219"/>
            <a:ext cx="426720" cy="0"/>
          </a:xfrm>
          <a:prstGeom prst="line">
            <a:avLst/>
          </a:prstGeom>
          <a:ln w="15240">
            <a:solidFill>
              <a:srgbClr val="007C78"/>
            </a:solidFill>
          </a:ln>
          <a:effectLst/>
        </p:spPr>
      </p:cxnSp>
      <p:cxnSp>
        <p:nvCxnSpPr>
          <p:cNvPr id="31" name="Connector 30"/>
          <p:cNvCxnSpPr/>
          <p:nvPr/>
        </p:nvCxnSpPr>
        <p:spPr>
          <a:xfrm flipV="1">
            <a:off x="7894320" y="3208020"/>
            <a:ext cx="0" cy="76199"/>
          </a:xfrm>
          <a:prstGeom prst="line">
            <a:avLst/>
          </a:prstGeom>
          <a:ln w="15240">
            <a:solidFill>
              <a:srgbClr val="007C78"/>
            </a:solidFill>
          </a:ln>
          <a:effectLst/>
        </p:spPr>
      </p:cxnSp>
      <p:cxnSp>
        <p:nvCxnSpPr>
          <p:cNvPr id="32" name="Connector 31"/>
          <p:cNvCxnSpPr/>
          <p:nvPr/>
        </p:nvCxnSpPr>
        <p:spPr>
          <a:xfrm>
            <a:off x="7894320" y="3208020"/>
            <a:ext cx="510540" cy="0"/>
          </a:xfrm>
          <a:prstGeom prst="line">
            <a:avLst/>
          </a:prstGeom>
          <a:ln w="15240">
            <a:solidFill>
              <a:srgbClr val="007C78"/>
            </a:solidFill>
          </a:ln>
          <a:effectLst/>
        </p:spPr>
      </p:cxnSp>
      <p:sp>
        <p:nvSpPr>
          <p:cNvPr id="33" name="Freeform 32"/>
          <p:cNvSpPr/>
          <p:nvPr/>
        </p:nvSpPr>
        <p:spPr>
          <a:xfrm>
            <a:off x="8305800" y="31699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4" name="Rounded Rectangle 33"/>
          <p:cNvSpPr/>
          <p:nvPr/>
        </p:nvSpPr>
        <p:spPr>
          <a:xfrm>
            <a:off x="8404860" y="374904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35" name="TextBox 34"/>
          <p:cNvSpPr txBox="1"/>
          <p:nvPr/>
        </p:nvSpPr>
        <p:spPr>
          <a:xfrm>
            <a:off x="8572500" y="39166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PLNKernel · v3 only</a:t>
            </a:r>
          </a:p>
        </p:txBody>
      </p:sp>
      <p:sp>
        <p:nvSpPr>
          <p:cNvPr id="36" name="TextBox 35"/>
          <p:cNvSpPr txBox="1"/>
          <p:nvPr/>
        </p:nvSpPr>
        <p:spPr>
          <a:xfrm>
            <a:off x="8572500" y="425622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Guarded deduction proposal</a:t>
            </a:r>
          </a:p>
        </p:txBody>
      </p:sp>
      <p:cxnSp>
        <p:nvCxnSpPr>
          <p:cNvPr id="37" name="Connector 36"/>
          <p:cNvCxnSpPr/>
          <p:nvPr/>
        </p:nvCxnSpPr>
        <p:spPr>
          <a:xfrm>
            <a:off x="7467600" y="3284219"/>
            <a:ext cx="426720" cy="0"/>
          </a:xfrm>
          <a:prstGeom prst="line">
            <a:avLst/>
          </a:prstGeom>
          <a:ln w="15240">
            <a:solidFill>
              <a:srgbClr val="007C78"/>
            </a:solidFill>
          </a:ln>
          <a:effectLst/>
        </p:spPr>
      </p:cxnSp>
      <p:cxnSp>
        <p:nvCxnSpPr>
          <p:cNvPr id="38" name="Connector 37"/>
          <p:cNvCxnSpPr/>
          <p:nvPr/>
        </p:nvCxnSpPr>
        <p:spPr>
          <a:xfrm>
            <a:off x="7894320" y="3284219"/>
            <a:ext cx="0" cy="967741"/>
          </a:xfrm>
          <a:prstGeom prst="line">
            <a:avLst/>
          </a:prstGeom>
          <a:ln w="15240">
            <a:solidFill>
              <a:srgbClr val="007C78"/>
            </a:solidFill>
          </a:ln>
          <a:effectLst/>
        </p:spPr>
      </p:cxnSp>
      <p:cxnSp>
        <p:nvCxnSpPr>
          <p:cNvPr id="39" name="Connector 38"/>
          <p:cNvCxnSpPr/>
          <p:nvPr/>
        </p:nvCxnSpPr>
        <p:spPr>
          <a:xfrm>
            <a:off x="7894320" y="4251960"/>
            <a:ext cx="510540" cy="0"/>
          </a:xfrm>
          <a:prstGeom prst="line">
            <a:avLst/>
          </a:prstGeom>
          <a:ln w="15240">
            <a:solidFill>
              <a:srgbClr val="007C78"/>
            </a:solidFill>
          </a:ln>
          <a:effectLst/>
        </p:spPr>
      </p:cxnSp>
      <p:sp>
        <p:nvSpPr>
          <p:cNvPr id="40" name="Freeform 39"/>
          <p:cNvSpPr/>
          <p:nvPr/>
        </p:nvSpPr>
        <p:spPr>
          <a:xfrm>
            <a:off x="8305800" y="421386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41" name="Rounded Rectangle 40"/>
          <p:cNvSpPr/>
          <p:nvPr/>
        </p:nvSpPr>
        <p:spPr>
          <a:xfrm>
            <a:off x="8404860" y="4792980"/>
            <a:ext cx="3238500" cy="1005840"/>
          </a:xfrm>
          <a:prstGeom prst="roundRect">
            <a:avLst>
              <a:gd name="adj" fmla="val 9848"/>
            </a:avLst>
          </a:prstGeom>
          <a:solidFill>
            <a:srgbClr val="FFFFFF"/>
          </a:solidFill>
          <a:ln w="7620">
            <a:solidFill>
              <a:srgbClr val="007C78"/>
            </a:solidFill>
          </a:ln>
          <a:effectLst/>
        </p:spPr>
        <p:txBody>
          <a:bodyPr rtlCol="0" anchor="ctr"/>
          <a:lstStyle/>
          <a:p>
            <a:pPr algn="ctr"/>
          </a:p>
        </p:txBody>
      </p:sp>
      <p:sp>
        <p:nvSpPr>
          <p:cNvPr id="42" name="TextBox 41"/>
          <p:cNvSpPr txBox="1"/>
          <p:nvPr/>
        </p:nvSpPr>
        <p:spPr>
          <a:xfrm>
            <a:off x="8572500" y="49606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PrivateAuthority</a:t>
            </a:r>
          </a:p>
        </p:txBody>
      </p:sp>
      <p:sp>
        <p:nvSpPr>
          <p:cNvPr id="43" name="TextBox 42"/>
          <p:cNvSpPr txBox="1"/>
          <p:nvPr/>
        </p:nvSpPr>
        <p:spPr>
          <a:xfrm>
            <a:off x="8572500" y="53001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Live scope, origin and selected</a:t>
            </a:r>
          </a:p>
        </p:txBody>
      </p:sp>
      <p:sp>
        <p:nvSpPr>
          <p:cNvPr id="44" name="TextBox 43"/>
          <p:cNvSpPr txBox="1"/>
          <p:nvPr/>
        </p:nvSpPr>
        <p:spPr>
          <a:xfrm>
            <a:off x="8572500" y="55147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provider</a:t>
            </a:r>
          </a:p>
        </p:txBody>
      </p:sp>
      <p:cxnSp>
        <p:nvCxnSpPr>
          <p:cNvPr id="45" name="Connector 44"/>
          <p:cNvCxnSpPr/>
          <p:nvPr/>
        </p:nvCxnSpPr>
        <p:spPr>
          <a:xfrm>
            <a:off x="7467600" y="3284219"/>
            <a:ext cx="426720" cy="0"/>
          </a:xfrm>
          <a:prstGeom prst="line">
            <a:avLst/>
          </a:prstGeom>
          <a:ln w="15240">
            <a:solidFill>
              <a:srgbClr val="007C78"/>
            </a:solidFill>
          </a:ln>
          <a:effectLst/>
        </p:spPr>
      </p:cxnSp>
      <p:cxnSp>
        <p:nvCxnSpPr>
          <p:cNvPr id="46" name="Connector 45"/>
          <p:cNvCxnSpPr/>
          <p:nvPr/>
        </p:nvCxnSpPr>
        <p:spPr>
          <a:xfrm>
            <a:off x="7894320" y="3284219"/>
            <a:ext cx="0" cy="2011681"/>
          </a:xfrm>
          <a:prstGeom prst="line">
            <a:avLst/>
          </a:prstGeom>
          <a:ln w="15240">
            <a:solidFill>
              <a:srgbClr val="007C78"/>
            </a:solidFill>
          </a:ln>
          <a:effectLst/>
        </p:spPr>
      </p:cxnSp>
      <p:cxnSp>
        <p:nvCxnSpPr>
          <p:cNvPr id="47" name="Connector 46"/>
          <p:cNvCxnSpPr/>
          <p:nvPr/>
        </p:nvCxnSpPr>
        <p:spPr>
          <a:xfrm>
            <a:off x="7894320" y="5295900"/>
            <a:ext cx="510540" cy="0"/>
          </a:xfrm>
          <a:prstGeom prst="line">
            <a:avLst/>
          </a:prstGeom>
          <a:ln w="15240">
            <a:solidFill>
              <a:srgbClr val="007C78"/>
            </a:solidFill>
          </a:ln>
          <a:effectLst/>
        </p:spPr>
      </p:cxnSp>
      <p:sp>
        <p:nvSpPr>
          <p:cNvPr id="48" name="Freeform 47"/>
          <p:cNvSpPr/>
          <p:nvPr/>
        </p:nvSpPr>
        <p:spPr>
          <a:xfrm>
            <a:off x="8305800" y="52578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49" name="Rounded Rectangle 48"/>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50" name="TextBox 49"/>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51" name="Connector 50"/>
          <p:cNvCxnSpPr/>
          <p:nvPr/>
        </p:nvCxnSpPr>
        <p:spPr>
          <a:xfrm>
            <a:off x="548640" y="6393180"/>
            <a:ext cx="11094720" cy="0"/>
          </a:xfrm>
          <a:prstGeom prst="line">
            <a:avLst/>
          </a:prstGeom>
          <a:ln w="7620">
            <a:solidFill>
              <a:srgbClr val="C9D2D4"/>
            </a:solidFill>
          </a:ln>
          <a:effectLst/>
        </p:spPr>
      </p:cxnSp>
      <p:sp>
        <p:nvSpPr>
          <p:cNvPr id="52" name="TextBox 51"/>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53" name="TextBox 52"/>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Support + observation ledger</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Accepted occurrence lineage, alternatives and</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historical snapshots</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Semantic attempts</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Exact input bindings and durable admission</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decisions</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Original event history</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C1 owns episodes and evidence-delivery intent</a:t>
            </a:r>
          </a:p>
        </p:txBody>
      </p:sp>
      <p:sp>
        <p:nvSpPr>
          <p:cNvPr id="18" name="Rounded Rectangle 17"/>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9" name="TextBox 18"/>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Pure math and task scheduling</a:t>
            </a:r>
          </a:p>
        </p:txBody>
      </p:sp>
      <p:sp>
        <p:nvSpPr>
          <p:cNvPr id="20" name="TextBox 19"/>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Providers calculate; Attention ranks; C4 budgets</a:t>
            </a:r>
          </a:p>
        </p:txBody>
      </p:sp>
      <p:sp>
        <p:nvSpPr>
          <p:cNvPr id="21" name="TextBox 20"/>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work</a:t>
            </a:r>
          </a:p>
        </p:txBody>
      </p:sp>
      <p:sp>
        <p:nvSpPr>
          <p:cNvPr id="22" name="Rounded Rectangle 2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3" name="TextBox 22"/>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M2 pln-revision-private/1; fresh M3 pln-derived-private/1 · local v3</a:t>
            </a:r>
          </a:p>
        </p:txBody>
      </p:sp>
      <p:cxnSp>
        <p:nvCxnSpPr>
          <p:cNvPr id="24" name="Connector 23"/>
          <p:cNvCxnSpPr/>
          <p:nvPr/>
        </p:nvCxnSpPr>
        <p:spPr>
          <a:xfrm>
            <a:off x="548640" y="6393180"/>
            <a:ext cx="11094720" cy="0"/>
          </a:xfrm>
          <a:prstGeom prst="line">
            <a:avLst/>
          </a:prstGeom>
          <a:ln w="7620">
            <a:solidFill>
              <a:srgbClr val="C9D2D4"/>
            </a:solidFill>
          </a:ln>
          <a:effectLst/>
        </p:spPr>
      </p:cxnSp>
      <p:sp>
        <p:nvSpPr>
          <p:cNvPr id="25" name="TextBox 2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26" name="TextBox 2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submitEvidence</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Validate C1 evidence or existing</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support</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Admit/duplicate separately from</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numerical outcome</a:t>
            </a:r>
          </a:p>
        </p:txBody>
      </p:sp>
      <p:sp>
        <p:nvSpPr>
          <p:cNvPr id="14" name="Rounded Rectangle 13"/>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5" name="TextBox 14"/>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readBelief</a:t>
            </a:r>
          </a:p>
        </p:txBody>
      </p:sp>
      <p:sp>
        <p:nvSpPr>
          <p:cNvPr id="16" name="TextBox 15"/>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exact historical or current</a:t>
            </a:r>
          </a:p>
        </p:txBody>
      </p:sp>
      <p:sp>
        <p:nvSpPr>
          <p:cNvPr id="17" name="TextBox 16"/>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snapshot</a:t>
            </a:r>
          </a:p>
        </p:txBody>
      </p:sp>
      <p:sp>
        <p:nvSpPr>
          <p:cNvPr id="18" name="TextBox 17"/>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Aggregate states its admitted</a:t>
            </a:r>
          </a:p>
        </p:txBody>
      </p:sp>
      <p:sp>
        <p:nvSpPr>
          <p:cNvPr id="19" name="TextBox 18"/>
          <p:cNvSpPr txBox="1"/>
          <p:nvPr/>
        </p:nvSpPr>
        <p:spPr>
          <a:xfrm>
            <a:off x="7795259" y="331470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coverage</a:t>
            </a:r>
          </a:p>
        </p:txBody>
      </p:sp>
      <p:sp>
        <p:nvSpPr>
          <p:cNvPr id="20" name="Rounded Rectangle 19"/>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1" name="TextBox 20"/>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submitDerivation</a:t>
            </a:r>
          </a:p>
        </p:txBody>
      </p:sp>
      <p:sp>
        <p:nvSpPr>
          <p:cNvPr id="22" name="TextBox 21"/>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Bind exact historical premise vector</a:t>
            </a:r>
          </a:p>
        </p:txBody>
      </p:sp>
      <p:sp>
        <p:nvSpPr>
          <p:cNvPr id="23" name="TextBox 22"/>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v3 tagged support; no new</a:t>
            </a:r>
          </a:p>
        </p:txBody>
      </p:sp>
      <p:sp>
        <p:nvSpPr>
          <p:cNvPr id="24" name="TextBox 23"/>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observation</a:t>
            </a:r>
          </a:p>
        </p:txBody>
      </p:sp>
      <p:sp>
        <p:nvSpPr>
          <p:cNvPr id="25" name="Rounded Rectangle 24"/>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6" name="TextBox 25"/>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readDerivation</a:t>
            </a:r>
          </a:p>
        </p:txBody>
      </p:sp>
      <p:sp>
        <p:nvSpPr>
          <p:cNvPr id="27" name="TextBox 26"/>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Recover a saved semantic decision</a:t>
            </a:r>
          </a:p>
        </p:txBody>
      </p:sp>
      <p:sp>
        <p:nvSpPr>
          <p:cNvPr id="28" name="TextBox 27"/>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Replay does not force another</a:t>
            </a:r>
          </a:p>
        </p:txBody>
      </p:sp>
      <p:sp>
        <p:nvSpPr>
          <p:cNvPr id="29" name="TextBox 28"/>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calculation</a:t>
            </a:r>
          </a:p>
        </p:txBody>
      </p:sp>
      <p:sp>
        <p:nvSpPr>
          <p:cNvPr id="30" name="Rounded Rectangle 2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1" name="TextBox 30"/>
          <p:cNvSpPr txBox="1"/>
          <p:nvPr/>
        </p:nvSpPr>
        <p:spPr>
          <a:xfrm>
            <a:off x="716280" y="5905500"/>
            <a:ext cx="107442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Bounded local support history; aggregate covers admitted supports, not every retained observation.</a:t>
            </a:r>
          </a:p>
        </p:txBody>
      </p:sp>
      <p:cxnSp>
        <p:nvCxnSpPr>
          <p:cNvPr id="32" name="Connector 31"/>
          <p:cNvCxnSpPr/>
          <p:nvPr/>
        </p:nvCxnSpPr>
        <p:spPr>
          <a:xfrm>
            <a:off x="548640" y="6393180"/>
            <a:ext cx="11094720" cy="0"/>
          </a:xfrm>
          <a:prstGeom prst="line">
            <a:avLst/>
          </a:prstGeom>
          <a:ln w="7620">
            <a:solidFill>
              <a:srgbClr val="C9D2D4"/>
            </a:solidFill>
          </a:ln>
          <a:effectLst/>
        </p:spPr>
      </p:cxnSp>
      <p:sp>
        <p:nvSpPr>
          <p:cNvPr id="33" name="TextBox 3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34" name="TextBox 3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M2 REAL native PLN + DeTTa · generated observations and explicit independence assumptions</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Retain reports</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Store original and</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contrary</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observations.</a:t>
            </a:r>
          </a:p>
        </p:txBody>
      </p:sp>
      <p:cxnSp>
        <p:nvCxnSpPr>
          <p:cNvPr id="11" name="Connector 10"/>
          <p:cNvCxnSpPr/>
          <p:nvPr/>
        </p:nvCxnSpPr>
        <p:spPr>
          <a:xfrm>
            <a:off x="3185160" y="3238500"/>
            <a:ext cx="182880" cy="0"/>
          </a:xfrm>
          <a:prstGeom prst="line">
            <a:avLst/>
          </a:prstGeom>
          <a:ln w="15240">
            <a:solidFill>
              <a:srgbClr val="007C78"/>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Check lineage</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Copied/ancestor</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support cannot</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create independent</a:t>
            </a:r>
          </a:p>
        </p:txBody>
      </p:sp>
      <p:sp>
        <p:nvSpPr>
          <p:cNvPr id="19" name="TextBox 18"/>
          <p:cNvSpPr txBox="1"/>
          <p:nvPr/>
        </p:nvSpPr>
        <p:spPr>
          <a:xfrm>
            <a:off x="3535679" y="361340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roots.</a:t>
            </a:r>
          </a:p>
        </p:txBody>
      </p:sp>
      <p:cxnSp>
        <p:nvCxnSpPr>
          <p:cNvPr id="20" name="Connector 19"/>
          <p:cNvCxnSpPr/>
          <p:nvPr/>
        </p:nvCxnSpPr>
        <p:spPr>
          <a:xfrm>
            <a:off x="6004559" y="3238500"/>
            <a:ext cx="182881" cy="0"/>
          </a:xfrm>
          <a:prstGeom prst="line">
            <a:avLst/>
          </a:prstGeom>
          <a:ln w="15240">
            <a:solidFill>
              <a:srgbClr val="007C78"/>
            </a:solidFill>
          </a:ln>
          <a:effectLst/>
        </p:spPr>
      </p:cxnSp>
      <p:sp>
        <p:nvSpPr>
          <p:cNvPr id="21" name="Freeform 20"/>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2" name="Rounded Rectangle 21"/>
          <p:cNvSpPr/>
          <p:nvPr/>
        </p:nvSpPr>
        <p:spPr>
          <a:xfrm>
            <a:off x="61874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23" name="TextBox 22"/>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03 · STEP</a:t>
            </a:r>
          </a:p>
        </p:txBody>
      </p:sp>
      <p:sp>
        <p:nvSpPr>
          <p:cNvPr id="24" name="TextBox 23"/>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Run guarded</a:t>
            </a:r>
          </a:p>
        </p:txBody>
      </p:sp>
      <p:sp>
        <p:nvSpPr>
          <p:cNvPr id="25" name="TextBox 24"/>
          <p:cNvSpPr txBox="1"/>
          <p:nvPr/>
        </p:nvSpPr>
        <p:spPr>
          <a:xfrm>
            <a:off x="6355080" y="2717901"/>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revision</a:t>
            </a:r>
          </a:p>
        </p:txBody>
      </p:sp>
      <p:sp>
        <p:nvSpPr>
          <p:cNvPr id="26" name="TextBox 25"/>
          <p:cNvSpPr txBox="1"/>
          <p:nvPr/>
        </p:nvSpPr>
        <p:spPr>
          <a:xfrm>
            <a:off x="6355080" y="309646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Eligible exact pair</a:t>
            </a:r>
          </a:p>
        </p:txBody>
      </p:sp>
      <p:sp>
        <p:nvSpPr>
          <p:cNvPr id="27" name="TextBox 26"/>
          <p:cNvSpPr txBox="1"/>
          <p:nvPr/>
        </p:nvSpPr>
        <p:spPr>
          <a:xfrm>
            <a:off x="6355080" y="336956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uses the pinned</a:t>
            </a:r>
          </a:p>
        </p:txBody>
      </p:sp>
      <p:sp>
        <p:nvSpPr>
          <p:cNvPr id="28" name="TextBox 27"/>
          <p:cNvSpPr txBox="1"/>
          <p:nvPr/>
        </p:nvSpPr>
        <p:spPr>
          <a:xfrm>
            <a:off x="6355080" y="364266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native formula.</a:t>
            </a:r>
          </a:p>
        </p:txBody>
      </p:sp>
      <p:cxnSp>
        <p:nvCxnSpPr>
          <p:cNvPr id="29" name="Connector 28"/>
          <p:cNvCxnSpPr/>
          <p:nvPr/>
        </p:nvCxnSpPr>
        <p:spPr>
          <a:xfrm>
            <a:off x="8823960" y="3238500"/>
            <a:ext cx="182880" cy="0"/>
          </a:xfrm>
          <a:prstGeom prst="line">
            <a:avLst/>
          </a:prstGeom>
          <a:ln w="15240">
            <a:solidFill>
              <a:srgbClr val="007C78"/>
            </a:solidFill>
          </a:ln>
          <a:effectLst/>
        </p:spPr>
      </p:cxnSp>
      <p:sp>
        <p:nvSpPr>
          <p:cNvPr id="30" name="Freeform 29"/>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1" name="Rounded Rectangle 30"/>
          <p:cNvSpPr/>
          <p:nvPr/>
        </p:nvSpPr>
        <p:spPr>
          <a:xfrm>
            <a:off x="9006840" y="2011680"/>
            <a:ext cx="2636520" cy="2468880"/>
          </a:xfrm>
          <a:prstGeom prst="roundRect">
            <a:avLst>
              <a:gd name="adj" fmla="val 4012"/>
            </a:avLst>
          </a:prstGeom>
          <a:solidFill>
            <a:srgbClr val="FFFFFF"/>
          </a:solidFill>
          <a:ln w="7620">
            <a:solidFill>
              <a:srgbClr val="007C78"/>
            </a:solidFill>
          </a:ln>
          <a:effectLst/>
        </p:spPr>
        <p:txBody>
          <a:bodyPr rtlCol="0" anchor="ctr"/>
          <a:lstStyle/>
          <a:p>
            <a:pPr algn="ctr"/>
          </a:p>
        </p:txBody>
      </p:sp>
      <p:sp>
        <p:nvSpPr>
          <p:cNvPr id="32" name="TextBox 31"/>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04 · STEP</a:t>
            </a:r>
          </a:p>
        </p:txBody>
      </p:sp>
      <p:sp>
        <p:nvSpPr>
          <p:cNvPr id="33" name="TextBox 32"/>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Commit decision</a:t>
            </a:r>
          </a:p>
        </p:txBody>
      </p:sp>
      <p:sp>
        <p:nvSpPr>
          <p:cNvPr id="34" name="TextBox 33"/>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Keep alternatives</a:t>
            </a:r>
          </a:p>
        </p:txBody>
      </p:sp>
      <p:sp>
        <p:nvSpPr>
          <p:cNvPr id="35" name="TextBox 34"/>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and explicit</a:t>
            </a:r>
          </a:p>
        </p:txBody>
      </p:sp>
      <p:sp>
        <p:nvSpPr>
          <p:cNvPr id="36" name="TextBox 35"/>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aggregate coverage.</a:t>
            </a:r>
          </a:p>
        </p:txBody>
      </p:sp>
      <p:sp>
        <p:nvSpPr>
          <p:cNvPr id="37" name="Rounded Rectangle 36"/>
          <p:cNvSpPr/>
          <p:nvPr/>
        </p:nvSpPr>
        <p:spPr>
          <a:xfrm>
            <a:off x="548640" y="486156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38" name="TextBox 37"/>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What the example establishes</a:t>
            </a:r>
          </a:p>
        </p:txBody>
      </p:sp>
      <p:sp>
        <p:nvSpPr>
          <p:cNvPr id="39" name="TextBox 38"/>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The owner decides what counts; the calculator only proposes.</a:t>
            </a:r>
          </a:p>
        </p:txBody>
      </p:sp>
      <p:cxnSp>
        <p:nvCxnSpPr>
          <p:cNvPr id="40" name="Connector 39"/>
          <p:cNvCxnSpPr/>
          <p:nvPr/>
        </p:nvCxnSpPr>
        <p:spPr>
          <a:xfrm>
            <a:off x="548640" y="6393180"/>
            <a:ext cx="11094720" cy="0"/>
          </a:xfrm>
          <a:prstGeom prst="line">
            <a:avLst/>
          </a:prstGeom>
          <a:ln w="7620">
            <a:solidFill>
              <a:srgbClr val="C9D2D4"/>
            </a:solidFill>
          </a:ln>
          <a:effectLst/>
        </p:spPr>
      </p:cxnSp>
      <p:sp>
        <p:nvSpPr>
          <p:cNvPr id="41" name="TextBox 4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42" name="TextBox 4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Admission ≠ aggregation</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report may be processed without changing a</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numerical truth.</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No double evidence</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New key or speaker cannot manufacture an</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independent origin.</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Derived support inherits</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Deduction carries original roots and ancestry; no</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fresh observation count.</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007C78"/>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Owner commits last</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Recheck exact bindings, current authority and</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expected revision before committing.</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Proposal computed; owner</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commit lost</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Recover/retry exact attempt under its</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budget semantics.</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Physical calculation may</a:t>
            </a:r>
          </a:p>
        </p:txBody>
      </p:sp>
      <p:sp>
        <p:nvSpPr>
          <p:cNvPr id="14" name="TextBox 13"/>
          <p:cNvSpPr txBox="1"/>
          <p:nvPr/>
        </p:nvSpPr>
        <p:spPr>
          <a:xfrm>
            <a:off x="8595360" y="24841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repeat where allowed</a:t>
            </a:r>
          </a:p>
        </p:txBody>
      </p:sp>
      <p:sp>
        <p:nvSpPr>
          <p:cNvPr id="15" name="Rounded Rectangle 14"/>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6" name="TextBox 15"/>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Decision saved; relay reply</a:t>
            </a:r>
          </a:p>
        </p:txBody>
      </p:sp>
      <p:sp>
        <p:nvSpPr>
          <p:cNvPr id="17" name="TextBox 16"/>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lost</a:t>
            </a:r>
          </a:p>
        </p:txBody>
      </p:sp>
      <p:sp>
        <p:nvSpPr>
          <p:cNvPr id="18" name="TextBox 17"/>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the original decision through</a:t>
            </a:r>
          </a:p>
        </p:txBody>
      </p:sp>
      <p:sp>
        <p:nvSpPr>
          <p:cNvPr id="19" name="TextBox 18"/>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declared ports.</a:t>
            </a:r>
          </a:p>
        </p:txBody>
      </p:sp>
      <p:sp>
        <p:nvSpPr>
          <p:cNvPr id="20" name="TextBox 19"/>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Duplicate-safe admission</a:t>
            </a:r>
          </a:p>
        </p:txBody>
      </p:sp>
      <p:sp>
        <p:nvSpPr>
          <p:cNvPr id="21" name="Rounded Rectangle 20"/>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2" name="TextBox 21"/>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Stale revision / malformed</a:t>
            </a:r>
          </a:p>
        </p:txBody>
      </p:sp>
      <p:sp>
        <p:nvSpPr>
          <p:cNvPr id="23" name="TextBox 22"/>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provider response</a:t>
            </a:r>
          </a:p>
        </p:txBody>
      </p:sp>
      <p:sp>
        <p:nvSpPr>
          <p:cNvPr id="24" name="TextBox 23"/>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Refuse or retain explicit outcome; never</a:t>
            </a:r>
          </a:p>
        </p:txBody>
      </p:sp>
      <p:sp>
        <p:nvSpPr>
          <p:cNvPr id="25" name="TextBox 24"/>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silently rebind.</a:t>
            </a:r>
          </a:p>
        </p:txBody>
      </p:sp>
      <p:sp>
        <p:nvSpPr>
          <p:cNvPr id="26" name="TextBox 25"/>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CAS and hostile-response</a:t>
            </a:r>
          </a:p>
        </p:txBody>
      </p:sp>
      <p:sp>
        <p:nvSpPr>
          <p:cNvPr id="27" name="TextBox 26"/>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tests</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0.5 / ⅔</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Native revision strength /</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confidence</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Recorded M2 generated example;</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model-specific</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2</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Retained alternatives in M2</a:t>
            </a:r>
          </a:p>
        </p:txBody>
      </p:sp>
      <p:sp>
        <p:nvSpPr>
          <p:cNvPr id="14" name="TextBox 13"/>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story</a:t>
            </a:r>
          </a:p>
        </p:txBody>
      </p:sp>
      <p:sp>
        <p:nvSpPr>
          <p:cNvPr id="15" name="TextBox 14"/>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Disagreement remains visible</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007C78"/>
            </a:solidFill>
          </a:ln>
          <a:effectLst/>
        </p:spPr>
        <p:txBody>
          <a:bodyPr rtlCol="0" anchor="ctr"/>
          <a:lstStyle/>
          <a:p>
            <a:pPr algn="ctr"/>
          </a:p>
        </p:txBody>
      </p:sp>
      <p:sp>
        <p:nvSpPr>
          <p:cNvPr id="17" name="TextBox 16"/>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007C78"/>
                </a:solidFill>
                <a:latin typeface="DejaVu Sans"/>
              </a:rPr>
              <a:t>0 new</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Observations from derived</a:t>
            </a:r>
          </a:p>
        </p:txBody>
      </p:sp>
      <p:sp>
        <p:nvSpPr>
          <p:cNvPr id="19" name="TextBox 18"/>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support</a:t>
            </a:r>
          </a:p>
        </p:txBody>
      </p:sp>
      <p:sp>
        <p:nvSpPr>
          <p:cNvPr id="20" name="TextBox 19"/>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M3 admission invariant, not an</a:t>
            </a:r>
          </a:p>
        </p:txBody>
      </p:sp>
      <p:sp>
        <p:nvSpPr>
          <p:cNvPr id="21" name="TextBox 20"/>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accuracy score</a:t>
            </a:r>
          </a:p>
        </p:txBody>
      </p:sp>
      <p:sp>
        <p:nvSpPr>
          <p:cNvPr id="22" name="TextBox 21"/>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numerical goldens and lineage/admission results. They do not measure calibrated confidence,</a:t>
            </a:r>
          </a:p>
        </p:txBody>
      </p:sp>
      <p:sp>
        <p:nvSpPr>
          <p:cNvPr id="23" name="TextBox 22"/>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predictive accuracy, source independence or per-admission latency.</a:t>
            </a:r>
          </a:p>
        </p:txBody>
      </p:sp>
      <p:sp>
        <p:nvSpPr>
          <p:cNvPr id="24" name="Rounded Rectangle 23"/>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5" name="TextBox 24"/>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6" name="TextBox 25"/>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fix support lineage and premise snapshots; vary duplicate ratio, alternatives and CAS contention. Measure</a:t>
            </a:r>
          </a:p>
        </p:txBody>
      </p:sp>
      <p:sp>
        <p:nvSpPr>
          <p:cNvPr id="27" name="TextBox 26"/>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admission p50/p95 and verify unchanged evidence-root accounting.</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Private SQLite owners, actual guarded native revision/deduction and real DeTTa</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bytes.</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claims, declared independence assumptions, malformed proposals and</a:t>
            </a:r>
          </a:p>
        </p:txBody>
      </p:sp>
      <p:sp>
        <p:nvSpPr>
          <p:cNvPr id="15" name="TextBox 14"/>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injected crashes.</a:t>
            </a:r>
          </a:p>
        </p:txBody>
      </p:sp>
      <p:sp>
        <p:nvSpPr>
          <p:cNvPr id="16" name="Rounded Rectangle 15"/>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7" name="TextBox 16"/>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8" name="TextBox 17"/>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9" name="TextBox 18"/>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supported gate blocked. Existing v2/v3 journals are not migrated or</a:t>
            </a:r>
          </a:p>
        </p:txBody>
      </p:sp>
      <p:sp>
        <p:nvSpPr>
          <p:cNvPr id="20" name="TextBox 19"/>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silently widened.</a:t>
            </a:r>
          </a:p>
        </p:txBody>
      </p:sp>
      <p:sp>
        <p:nvSpPr>
          <p:cNvPr id="21" name="Rounded Rectangle 20"/>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2" name="TextBox 21"/>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3" name="TextBox 22"/>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Retraction, arbitrary rule libraries, calibration, hidden-copy detection and</a:t>
            </a:r>
          </a:p>
        </p:txBody>
      </p:sp>
      <p:sp>
        <p:nvSpPr>
          <p:cNvPr id="24" name="TextBox 23"/>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distributed belief writers.</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admission costs</a:t>
            </a:r>
          </a:p>
        </p:txBody>
      </p:sp>
      <p:sp>
        <p:nvSpPr>
          <p:cNvPr id="10" name="TextBox 9"/>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Controlled lineage/duplicate/CAS</a:t>
            </a:r>
          </a:p>
        </p:txBody>
      </p:sp>
      <p:sp>
        <p:nvSpPr>
          <p:cNvPr id="11" name="TextBox 10"/>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workloads</a:t>
            </a:r>
          </a:p>
        </p:txBody>
      </p:sp>
      <p:sp>
        <p:nvSpPr>
          <p:cNvPr id="12" name="TextBox 11"/>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Latency reported with duplicate and</a:t>
            </a:r>
          </a:p>
        </p:txBody>
      </p:sp>
      <p:sp>
        <p:nvSpPr>
          <p:cNvPr id="13" name="TextBox 12"/>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conflict rates</a:t>
            </a:r>
          </a:p>
        </p:txBody>
      </p:sp>
      <p:sp>
        <p:nvSpPr>
          <p:cNvPr id="14" name="Rounded Rectangle 13"/>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5" name="TextBox 14"/>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Specify retraction</a:t>
            </a:r>
          </a:p>
        </p:txBody>
      </p:sp>
      <p:sp>
        <p:nvSpPr>
          <p:cNvPr id="16" name="TextBox 15"/>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semantics</a:t>
            </a:r>
          </a:p>
        </p:txBody>
      </p:sp>
      <p:sp>
        <p:nvSpPr>
          <p:cNvPr id="17" name="TextBox 16"/>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Versioned provenance and</a:t>
            </a:r>
          </a:p>
        </p:txBody>
      </p:sp>
      <p:sp>
        <p:nvSpPr>
          <p:cNvPr id="18" name="TextBox 17"/>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historical-read contract</a:t>
            </a:r>
          </a:p>
        </p:txBody>
      </p:sp>
      <p:sp>
        <p:nvSpPr>
          <p:cNvPr id="19" name="TextBox 18"/>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erased history or unaccounted</a:t>
            </a:r>
          </a:p>
        </p:txBody>
      </p:sp>
      <p:sp>
        <p:nvSpPr>
          <p:cNvPr id="20" name="TextBox 19"/>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evidence</a:t>
            </a:r>
          </a:p>
        </p:txBody>
      </p:sp>
      <p:sp>
        <p:nvSpPr>
          <p:cNvPr id="21" name="Rounded Rectangle 20"/>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2" name="TextBox 21"/>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Evaluate numerical</a:t>
            </a:r>
          </a:p>
        </p:txBody>
      </p:sp>
      <p:sp>
        <p:nvSpPr>
          <p:cNvPr id="23" name="TextBox 22"/>
          <p:cNvSpPr txBox="1"/>
          <p:nvPr/>
        </p:nvSpPr>
        <p:spPr>
          <a:xfrm>
            <a:off x="670560" y="46786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usefulness</a:t>
            </a:r>
          </a:p>
        </p:txBody>
      </p:sp>
      <p:sp>
        <p:nvSpPr>
          <p:cNvPr id="24" name="TextBox 23"/>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External task dataset and calibration</a:t>
            </a:r>
          </a:p>
        </p:txBody>
      </p:sp>
      <p:sp>
        <p:nvSpPr>
          <p:cNvPr id="25" name="TextBox 24"/>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protocol</a:t>
            </a:r>
          </a:p>
        </p:txBody>
      </p:sp>
      <p:sp>
        <p:nvSpPr>
          <p:cNvPr id="26" name="TextBox 25"/>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Accuracy/calibration separated from</a:t>
            </a:r>
          </a:p>
        </p:txBody>
      </p:sp>
      <p:sp>
        <p:nvSpPr>
          <p:cNvPr id="27" name="TextBox 26"/>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conformance</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The owner decides what counts; the calculator only proposes.</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scripts/verify_m3.py &lt;env&gt; --output &lt;fresh&gt;</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Uses explicit private profiles and pinned native providers. Historical M2 demo is a CLI observation; separate</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native Hive cases establish the real-caller gate.</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fusion/beliefs.py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fusion/derived_beliefs.py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fusion/cognition_contracts.py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tests/test_m2.py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BeliefRevision · C2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BeliefRevision · C2</dc:title>
  <dc:subject>Own evidence/support admission, historical belief snapshots, semantic attempts and derived-support decisions.</dc:subject>
  <dc:creator>Omega × ASI module-interface project</dc:creator>
  <cp:keywords>Omega, ASI, M5, ELI16, BeliefRevision · C2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