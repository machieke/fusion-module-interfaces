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analogy, then state the technical responsibility: Opaque persistence, retrieval and local availability through the DeTTa DA and FileStorage libraries. Every higher-level receipt depends on retrieving the same bytes. Keeping domain semantics outside DA makes the backend replaceable. Do not treat the analogy as an additional experiment. This is a standalone talk about one responsibility, not a claim that every module is a separate service or repository.</a:t>
            </a:r>
          </a:p>
          <a:p/>
          <a:p>
            <a:r>
              <a:t>Evidence and implementation: [detta.py](https://github.com/machieke/fusion-module-interfaces/blob/494df69a1ac401c3d3b2cf79dbfde07f74b5e277/fusion/adapters/detta.py), [main.rs](https://github.com/machieke/fusion-module-interfaces/blob/494df69a1ac401c3d3b2cf79dbfde07f74b5e277/adapters/detta/src/main.rs), [m1_2-evidence.md](https://github.com/machieke/fusion-module-interfaces/blob/494df69a1ac401c3d3b2cf79dbfde07f74b5e277/docs/module-interfaces/m1_2-evidence.md), [m1_2-verification.json](https://github.com/machieke/fusion-module-interfaces/blob/494df69a1ac401c3d3b2cf79dbfde07f74b5e277/evidence/m5/legacy/m1_2-verification.json).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DA storage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Locate DA storage in the bounded fifteen-family inventory. The grey groups are explanatory categories, not deployment units. RevisionMath, the evidence relay, native plugins and transport bindings are supporting seams rather than additional module families. Registry and Resolver are separate responsibilities even though both are implemented in registry.py. Fifteen represented families is not full Omega requirements coverage. The application owner calls the opaque Storage port. The external Rust adapter translates it to DeTTa; Hive and cognition are upstream consumers, not DA dependencies.</a:t>
            </a:r>
          </a:p>
          <a:p/>
          <a:p>
            <a:r>
              <a:t>Evidence and implementation: [detta.py](https://github.com/machieke/fusion-module-interfaces/blob/494df69a1ac401c3d3b2cf79dbfde07f74b5e277/fusion/adapters/detta.py), [main.rs](https://github.com/machieke/fusion-module-interfaces/blob/494df69a1ac401c3d3b2cf79dbfde07f74b5e277/adapters/detta/src/main.rs), [m1_2-evidence.md](https://github.com/machieke/fusion-module-interfaces/blob/494df69a1ac401c3d3b2cf79dbfde07f74b5e277/docs/module-interfaces/m1_2-evidence.md), [m1_2-verification.json](https://github.com/machieke/fusion-module-interfaces/blob/494df69a1ac401c3d3b2cf79dbfde07f74b5e277/evidence/m5/legacy/m1_2-verification.json).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DA storage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application owner calls the opaque Storage port. The external Rust adapter translates it to DeTTa; Hive and cognition are upstream consumers, not DA dependencies. The left node is a caller or caller class; the right nodes distinguish foreign ports, pure helpers, local state and runtime internals. There is no implied shared transaction. No episode identity, belief, attention, job or query semantics.</a:t>
            </a:r>
          </a:p>
          <a:p/>
          <a:p>
            <a:r>
              <a:t>Evidence and implementation: [detta.py](https://github.com/machieke/fusion-module-interfaces/blob/494df69a1ac401c3d3b2cf79dbfde07f74b5e277/fusion/adapters/detta.py), [main.rs](https://github.com/machieke/fusion-module-interfaces/blob/494df69a1ac401c3d3b2cf79dbfde07f74b5e277/adapters/detta/src/main.rs), [m1_2-evidence.md](https://github.com/machieke/fusion-module-interfaces/blob/494df69a1ac401c3d3b2cf79dbfde07f74b5e277/docs/module-interfaces/m1_2-evidence.md), [m1_2-verification.json](https://github.com/machieke/fusion-module-interfaces/blob/494df69a1ac401c3d3b2cf79dbfde07f74b5e277/evidence/m5/legacy/m1_2-verification.json).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DA storage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ownership is the key contract, not the file layout. Payload and share files: Local encoded bytes and reconstruction metadata. Persistence receipts: Evidence of the selected local storage behavior. Application interpretation: No episode identity, belief, attention, job or query semantics. Distributed custody: No validator network, indefinite retention or global availability claim. Explicit compatibility: opaque-local-rs/1 · receipt detta-local-rs/1. Limits: Local files and trusted host; recovery does not imply distributed durability.</a:t>
            </a:r>
          </a:p>
          <a:p/>
          <a:p>
            <a:r>
              <a:t>Evidence and implementation: [detta.py](https://github.com/machieke/fusion-module-interfaces/blob/494df69a1ac401c3d3b2cf79dbfde07f74b5e277/fusion/adapters/detta.py), [main.rs](https://github.com/machieke/fusion-module-interfaces/blob/494df69a1ac401c3d3b2cf79dbfde07f74b5e277/adapters/detta/src/main.rs), [m1_2-evidence.md](https://github.com/machieke/fusion-module-interfaces/blob/494df69a1ac401c3d3b2cf79dbfde07f74b5e277/docs/module-interfaces/m1_2-evidence.md), [m1_2-verification.json](https://github.com/machieke/fusion-module-interfaces/blob/494df69a1ac401c3d3b2cf79dbfde07f74b5e277/evidence/m5/legacy/m1_2-verification.json).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DA storage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contract from inputs to effects. put: Persist opaque bytes at generic coordinates; Returns a provider receipt. get: Recover and verify the requested bytes; Unavailable/corrupt data fails explicitly. availability: Describe observed local availability; Does not prove future retention. Operation groups on this slide are not a new coverage denominator. The evidence ledger distinguishes new operations from inherited dependencies. Supporting internal helpers are labelled as seams and are not advertised remote services.</a:t>
            </a:r>
          </a:p>
          <a:p/>
          <a:p>
            <a:r>
              <a:t>Evidence and implementation: [detta.py](https://github.com/machieke/fusion-module-interfaces/blob/494df69a1ac401c3d3b2cf79dbfde07f74b5e277/fusion/adapters/detta.py), [main.rs](https://github.com/machieke/fusion-module-interfaces/blob/494df69a1ac401c3d3b2cf79dbfde07f74b5e277/adapters/detta/src/main.rs), [m1_2-evidence.md](https://github.com/machieke/fusion-module-interfaces/blob/494df69a1ac401c3d3b2cf79dbfde07f74b5e277/docs/module-interfaces/m1_2-evidence.md), [m1_2-verification.json](https://github.com/machieke/fusion-module-interfaces/blob/494df69a1ac401c3d3b2cf79dbfde07f74b5e277/evidence/m5/legacy/m1_2-verification.json).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DA storage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responsibility to observable behavior. 1. Write: Store generated bytes via the real adapter. 2. Remove: Delete the cached payload and two erasure shares. 3. Recover: Reconstruct identical bytes from four remaining shares. 4. Refuse: With a third share missing, report unavailable. Evidence classification: REAL LOCAL PROVIDER · generated payload and injected missing files. Do not infer performance, broad production readiness or extra runtime integrations from this example.</a:t>
            </a:r>
          </a:p>
          <a:p/>
          <a:p>
            <a:r>
              <a:t>Evidence and implementation: [detta.py](https://github.com/machieke/fusion-module-interfaces/blob/494df69a1ac401c3d3b2cf79dbfde07f74b5e277/fusion/adapters/detta.py), [main.rs](https://github.com/machieke/fusion-module-interfaces/blob/494df69a1ac401c3d3b2cf79dbfde07f74b5e277/adapters/detta/src/main.rs), [m1_2-evidence.md](https://github.com/machieke/fusion-module-interfaces/blob/494df69a1ac401c3d3b2cf79dbfde07f74b5e277/docs/module-interfaces/m1_2-evidence.md), [m1_2-verification.json](https://github.com/machieke/fusion-module-interfaces/blob/494df69a1ac401c3d3b2cf79dbfde07f74b5e277/evidence/m5/legacy/m1_2-verification.json).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DA storage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invariants should survive provider substitution and future optimization. Opaque boundary: No domain identifiers or numerical meaning enter the DA core. Exact bytes: Successful retrieval must match the committed payload identity. Honest availability: Insufficient reconstruction material is not a successful read. Explicit evidence: A local restart receipt never becomes a custody certificate. The supporting tests and runtime evidence are in the linked sources; this slide does not claim a formal proof or a production security audit.</a:t>
            </a:r>
          </a:p>
          <a:p/>
          <a:p>
            <a:r>
              <a:t>Evidence and implementation: [detta.py](https://github.com/machieke/fusion-module-interfaces/blob/494df69a1ac401c3d3b2cf79dbfde07f74b5e277/fusion/adapters/detta.py), [main.rs](https://github.com/machieke/fusion-module-interfaces/blob/494df69a1ac401c3d3b2cf79dbfde07f74b5e277/adapters/detta/src/main.rs), [m1_2-evidence.md](https://github.com/machieke/fusion-module-interfaces/blob/494df69a1ac401c3d3b2cf79dbfde07f74b5e277/docs/module-interfaces/m1_2-evidence.md), [m1_2-verification.json](https://github.com/machieke/fusion-module-interfaces/blob/494df69a1ac401c3d3b2cf79dbfde07f74b5e277/evidence/m5/legacy/m1_2-verification.json).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DA storage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owner boundary before the recovery claim. Missing cache + two shares: Four of six shares recover the exact payload. Reconstruction test. Three missing shares / corruption: Fail explicitly; do not return fabricated bytes. Negative storage test. Process restart: Reopen local files under the same profile. Intact-file scope only. A fixture can position the failure while a real process is killed. Local replay semantics do not imply exactly-once physical execution, a distributed transaction, or global failover. For pure/static modules the relevant failure is selection/refusal, not invented journal recovery.</a:t>
            </a:r>
          </a:p>
          <a:p/>
          <a:p>
            <a:r>
              <a:t>Evidence and implementation: [detta.py](https://github.com/machieke/fusion-module-interfaces/blob/494df69a1ac401c3d3b2cf79dbfde07f74b5e277/fusion/adapters/detta.py), [main.rs](https://github.com/machieke/fusion-module-interfaces/blob/494df69a1ac401c3d3b2cf79dbfde07f74b5e277/adapters/detta/src/main.rs), [m1_2-evidence.md](https://github.com/machieke/fusion-module-interfaces/blob/494df69a1ac401c3d3b2cf79dbfde07f74b5e277/docs/module-interfaces/m1_2-evidence.md), [m1_2-verification.json](https://github.com/machieke/fusion-module-interfaces/blob/494df69a1ac401c3d3b2cf79dbfde07f74b5e277/evidence/m5/legacy/m1_2-verification.json).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DA storage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every number with its unit and source class. 4 + 2 Data + parity shares: Configured erasure profile, not measured throughput. 2 lost Shares recovered without cache: Observed reconstruction boundary. 62 + 38 Upstream library tests: Clean DeTTa regression; overlapping with larger runs. No isolated read/write latency, throughput or durability benchmark is recorded. Share counts are a conformance result. Suite counts measure test execution, not performance. Proposed: vary payload size, missing-share count and cold/warm cache; report read/write p50/p95, bytes stored and reconstruction CPU on fixed hardware. No new benchmark is executed for this presentation. Do not compare overlapping suite times or use a one-run workflow measurement as a latency percentile.</a:t>
            </a:r>
          </a:p>
          <a:p/>
          <a:p>
            <a:r>
              <a:t>Evidence and implementation: [detta.py](https://github.com/machieke/fusion-module-interfaces/blob/494df69a1ac401c3d3b2cf79dbfde07f74b5e277/fusion/adapters/detta.py), [main.rs](https://github.com/machieke/fusion-module-interfaces/blob/494df69a1ac401c3d3b2cf79dbfde07f74b5e277/adapters/detta/src/main.rs), [m1_2-evidence.md](https://github.com/machieke/fusion-module-interfaces/blob/494df69a1ac401c3d3b2cf79dbfde07f74b5e277/docs/module-interfaces/m1_2-evidence.md), [m1_2-verification.json](https://github.com/machieke/fusion-module-interfaces/blob/494df69a1ac401c3d3b2cf79dbfde07f74b5e277/evidence/m5/legacy/m1_2-verification.json).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DA storage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Implemented local code is not automatically a production provider. Real: Pinned DeTTa DA/FileStorage and external adapter run locally. Fixture: Generated payloads, deleted shares, corruption and injected process faults. Blocked or unsupported: No required current local gate blocked; historical dirty-source additions are outside the clean baseline. Unrun: Power loss, distributed custody, remote replicas, long-term retention and production load. All required M5 gates passed in the recorded final run, including legacy M1–M4 behavior; this presentation does not rerun those integrations. Human maintainers remain unassigned.</a:t>
            </a:r>
          </a:p>
          <a:p/>
          <a:p>
            <a:r>
              <a:t>Evidence and implementation: [detta.py](https://github.com/machieke/fusion-module-interfaces/blob/494df69a1ac401c3d3b2cf79dbfde07f74b5e277/fusion/adapters/detta.py), [main.rs](https://github.com/machieke/fusion-module-interfaces/blob/494df69a1ac401c3d3b2cf79dbfde07f74b5e277/adapters/detta/src/main.rs), [m1_2-evidence.md](https://github.com/machieke/fusion-module-interfaces/blob/494df69a1ac401c3d3b2cf79dbfde07f74b5e277/docs/module-interfaces/m1_2-evidence.md), [m1_2-verification.json](https://github.com/machieke/fusion-module-interfaces/blob/494df69a1ac401c3d3b2cf79dbfde07f74b5e277/evidence/m5/legacy/m1_2-verification.json).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DA storage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future work as conditional engineering proposals. Measure storage tradeoffs requires Controlled size/cache/failure matrix; success means Latency distribution and amplification per payload. Specify retention explicitly requires New custody/retention contract and evidence; success means Expired retention cannot masquerade as availability. Explore another DA provider requires Same opaque port and explicit profile; success means Equivalent byte/integrity conformance before adoption. No new cognition, scheduler, migration or chain capability is implemented by this series. Any changed numerical semantics, placement or replay lifetime requires separate design and verification rather than a presentation claim.</a:t>
            </a:r>
          </a:p>
          <a:p/>
          <a:p>
            <a:r>
              <a:t>Evidence and implementation: [detta.py](https://github.com/machieke/fusion-module-interfaces/blob/494df69a1ac401c3d3b2cf79dbfde07f74b5e277/fusion/adapters/detta.py), [main.rs](https://github.com/machieke/fusion-module-interfaces/blob/494df69a1ac401c3d3b2cf79dbfde07f74b5e277/adapters/detta/src/main.rs), [m1_2-evidence.md](https://github.com/machieke/fusion-module-interfaces/blob/494df69a1ac401c3d3b2cf79dbfde07f74b5e277/docs/module-interfaces/m1_2-evidence.md), [m1_2-verification.json](https://github.com/machieke/fusion-module-interfaces/blob/494df69a1ac401c3d3b2cf79dbfde07f74b5e277/evidence/m5/legacy/m1_2-verification.json).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DA storage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with: Availability has a failure model. Preserve it in every receipt. The reproduction entrypoint is uv run --python 3.11 --locked python scripts/verify_m11.py. Requires the pinned clean DeTTa source and built adapter; this is a suite command, not a microbenchmark. Build/export checks for this series are separate from runtime tests. Exact upstream pins remain in integration/hive/sources.json, integration/pln/sources.json, integration/pln/deduction-sources.json and the M4/M5 source manifests. Commands use fresh output/state; raw provider environments, credentials, journals and private IDs should not be published.</a:t>
            </a:r>
          </a:p>
          <a:p/>
          <a:p>
            <a:r>
              <a:t>Evidence and implementation: [detta.py](https://github.com/machieke/fusion-module-interfaces/blob/494df69a1ac401c3d3b2cf79dbfde07f74b5e277/fusion/adapters/detta.py), [main.rs](https://github.com/machieke/fusion-module-interfaces/blob/494df69a1ac401c3d3b2cf79dbfde07f74b5e277/adapters/detta/src/main.rs), [m1_2-evidence.md](https://github.com/machieke/fusion-module-interfaces/blob/494df69a1ac401c3d3b2cf79dbfde07f74b5e277/docs/module-interfaces/m1_2-evidence.md), [m1_2-verification.json](https://github.com/machieke/fusion-module-interfaces/blob/494df69a1ac401c3d3b2cf79dbfde07f74b5e277/evidence/m5/legacy/m1_2-verification.json).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DA storage · M5 source bfb0ec8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233"/>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AAC0CC"/>
                </a:solidFill>
                <a:latin typeface="DejaVu Sans"/>
              </a:rPr>
              <a:t>OMEGA × ASI / STANDALONE MODULE SERIES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FFFFFF"/>
                </a:solidFill>
                <a:latin typeface="DejaVu Sans"/>
              </a:rPr>
              <a:t>DA storage</a:t>
            </a:r>
          </a:p>
        </p:txBody>
      </p:sp>
      <p:sp>
        <p:nvSpPr>
          <p:cNvPr id="4" name="TextBox 3"/>
          <p:cNvSpPr txBox="1"/>
          <p:nvPr/>
        </p:nvSpPr>
        <p:spPr>
          <a:xfrm>
            <a:off x="548640" y="1783080"/>
            <a:ext cx="11049000" cy="560832"/>
          </a:xfrm>
          <a:prstGeom prst="rect">
            <a:avLst/>
          </a:prstGeom>
          <a:noFill/>
        </p:spPr>
        <p:txBody>
          <a:bodyPr wrap="none" lIns="0" rIns="0" tIns="0" bIns="0" anchor="t" anchorCtr="0">
            <a:noAutofit/>
          </a:bodyPr>
          <a:lstStyle/>
          <a:p>
            <a:pPr algn="l">
              <a:lnSpc>
                <a:spcPct val="100000"/>
              </a:lnSpc>
              <a:spcBef>
                <a:spcPts val="0"/>
              </a:spcBef>
              <a:spcAft>
                <a:spcPts val="0"/>
              </a:spcAft>
            </a:pPr>
            <a:r>
              <a:rPr sz="3840" b="1">
                <a:solidFill>
                  <a:srgbClr val="FFFFFF"/>
                </a:solidFill>
                <a:latin typeface="DejaVu Sans"/>
              </a:rPr>
              <a:t>Recover the bytes.</a:t>
            </a:r>
          </a:p>
        </p:txBody>
      </p:sp>
      <p:sp>
        <p:nvSpPr>
          <p:cNvPr id="5" name="TextBox 4"/>
          <p:cNvSpPr txBox="1"/>
          <p:nvPr/>
        </p:nvSpPr>
        <p:spPr>
          <a:xfrm>
            <a:off x="548640" y="2343912"/>
            <a:ext cx="11049000" cy="560832"/>
          </a:xfrm>
          <a:prstGeom prst="rect">
            <a:avLst/>
          </a:prstGeom>
          <a:noFill/>
        </p:spPr>
        <p:txBody>
          <a:bodyPr wrap="none" lIns="0" rIns="0" tIns="0" bIns="0" anchor="t" anchorCtr="0">
            <a:noAutofit/>
          </a:bodyPr>
          <a:lstStyle/>
          <a:p>
            <a:pPr algn="l">
              <a:lnSpc>
                <a:spcPct val="100000"/>
              </a:lnSpc>
              <a:spcBef>
                <a:spcPts val="0"/>
              </a:spcBef>
              <a:spcAft>
                <a:spcPts val="0"/>
              </a:spcAft>
            </a:pPr>
            <a:r>
              <a:rPr sz="3840" b="1">
                <a:solidFill>
                  <a:srgbClr val="FFFFFF"/>
                </a:solidFill>
                <a:latin typeface="DejaVu Sans"/>
              </a:rPr>
              <a:t>Keep their meaning outside.</a:t>
            </a:r>
          </a:p>
        </p:txBody>
      </p:sp>
      <p:sp>
        <p:nvSpPr>
          <p:cNvPr id="6" name="Rounded Rectangle 5"/>
          <p:cNvSpPr/>
          <p:nvPr/>
        </p:nvSpPr>
        <p:spPr>
          <a:xfrm>
            <a:off x="579120" y="3208020"/>
            <a:ext cx="3112204" cy="274320"/>
          </a:xfrm>
          <a:prstGeom prst="roundRect">
            <a:avLst>
              <a:gd name="adj" fmla="val 19444"/>
            </a:avLst>
          </a:prstGeom>
          <a:solidFill>
            <a:srgbClr val="DCEFE8"/>
          </a:solidFill>
          <a:ln>
            <a:noFill/>
          </a:ln>
          <a:effectLst/>
        </p:spPr>
        <p:txBody>
          <a:bodyPr rtlCol="0" anchor="ctr"/>
          <a:lstStyle/>
          <a:p>
            <a:pPr algn="ctr"/>
          </a:p>
        </p:txBody>
      </p:sp>
      <p:sp>
        <p:nvSpPr>
          <p:cNvPr id="7" name="TextBox 6"/>
          <p:cNvSpPr txBox="1"/>
          <p:nvPr/>
        </p:nvSpPr>
        <p:spPr>
          <a:xfrm>
            <a:off x="685800" y="3261360"/>
            <a:ext cx="2921704"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007C78"/>
                </a:solidFill>
                <a:latin typeface="DejaVu Sans"/>
              </a:rPr>
              <a:t>ELI16 · THE IDEA IN PLAIN LANGUAGE</a:t>
            </a:r>
          </a:p>
        </p:txBody>
      </p:sp>
      <p:sp>
        <p:nvSpPr>
          <p:cNvPr id="8" name="TextBox 7"/>
          <p:cNvSpPr txBox="1"/>
          <p:nvPr/>
        </p:nvSpPr>
        <p:spPr>
          <a:xfrm>
            <a:off x="579120" y="3649979"/>
            <a:ext cx="107442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0">
                <a:solidFill>
                  <a:srgbClr val="FFFFFF"/>
                </a:solidFill>
                <a:latin typeface="DejaVu Sans"/>
              </a:rPr>
              <a:t>A sealed storage locker: it preserves the package without deciding what the package</a:t>
            </a:r>
          </a:p>
        </p:txBody>
      </p:sp>
      <p:sp>
        <p:nvSpPr>
          <p:cNvPr id="9" name="TextBox 8"/>
          <p:cNvSpPr txBox="1"/>
          <p:nvPr/>
        </p:nvSpPr>
        <p:spPr>
          <a:xfrm>
            <a:off x="579120" y="3962095"/>
            <a:ext cx="107442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0">
                <a:solidFill>
                  <a:srgbClr val="FFFFFF"/>
                </a:solidFill>
                <a:latin typeface="DejaVu Sans"/>
              </a:rPr>
              <a:t>means.</a:t>
            </a:r>
          </a:p>
        </p:txBody>
      </p:sp>
      <p:sp>
        <p:nvSpPr>
          <p:cNvPr id="10" name="TextBox 9"/>
          <p:cNvSpPr txBox="1"/>
          <p:nvPr/>
        </p:nvSpPr>
        <p:spPr>
          <a:xfrm>
            <a:off x="579120" y="4732020"/>
            <a:ext cx="1074420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AAC0CC"/>
                </a:solidFill>
                <a:latin typeface="DejaVu Sans"/>
              </a:rPr>
              <a:t>Why it matters: Every higher-level receipt depends on retrieving the same bytes. Keeping domain</a:t>
            </a:r>
          </a:p>
        </p:txBody>
      </p:sp>
      <p:sp>
        <p:nvSpPr>
          <p:cNvPr id="11" name="TextBox 10"/>
          <p:cNvSpPr txBox="1"/>
          <p:nvPr/>
        </p:nvSpPr>
        <p:spPr>
          <a:xfrm>
            <a:off x="579120" y="5005120"/>
            <a:ext cx="1074420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AAC0CC"/>
                </a:solidFill>
                <a:latin typeface="DejaVu Sans"/>
              </a:rPr>
              <a:t>semantics outside DA makes the backend replaceable.</a:t>
            </a:r>
          </a:p>
        </p:txBody>
      </p:sp>
      <p:sp>
        <p:nvSpPr>
          <p:cNvPr id="12" name="TextBox 11"/>
          <p:cNvSpPr txBox="1"/>
          <p:nvPr/>
        </p:nvSpPr>
        <p:spPr>
          <a:xfrm>
            <a:off x="579120" y="6019800"/>
            <a:ext cx="10439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0">
                <a:solidFill>
                  <a:srgbClr val="AAC0CC"/>
                </a:solidFill>
                <a:latin typeface="DejaVu Sans"/>
              </a:rPr>
              <a:t>Through M5 · 17 October 2026 · 12–15 minute talk · evidence and proposals kept separate</a:t>
            </a:r>
          </a:p>
        </p:txBody>
      </p:sp>
      <p:cxnSp>
        <p:nvCxnSpPr>
          <p:cNvPr id="13" name="Connector 12"/>
          <p:cNvCxnSpPr/>
          <p:nvPr/>
        </p:nvCxnSpPr>
        <p:spPr>
          <a:xfrm>
            <a:off x="548640" y="6393180"/>
            <a:ext cx="11094720" cy="0"/>
          </a:xfrm>
          <a:prstGeom prst="line">
            <a:avLst/>
          </a:prstGeom>
          <a:ln w="7620">
            <a:solidFill>
              <a:srgbClr val="536775"/>
            </a:solidFill>
          </a:ln>
          <a:effectLst/>
        </p:spPr>
      </p:cxnSp>
      <p:sp>
        <p:nvSpPr>
          <p:cNvPr id="14" name="TextBox 13"/>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AAC0CC"/>
                </a:solidFill>
                <a:latin typeface="DejaVu Sans"/>
              </a:rPr>
              <a:t>OMEGA × ASI / THROUGH M5 / DA storage · M5 source bfb0ec8</a:t>
            </a:r>
          </a:p>
        </p:txBody>
      </p:sp>
      <p:sp>
        <p:nvSpPr>
          <p:cNvPr id="15" name="TextBox 14"/>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AAC0CC"/>
                </a:solidFill>
                <a:latin typeface="DejaVu Sans Mono"/>
              </a:rPr>
              <a:t>01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01 / HELICOPTER VIEW</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One module in a system of fifteen</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highlighted responsibility is the subject of this talk; placement and process count are separate decisions.</a:t>
            </a:r>
          </a:p>
        </p:txBody>
      </p:sp>
      <p:sp>
        <p:nvSpPr>
          <p:cNvPr id="5" name="Rounded Rectangle 4"/>
          <p:cNvSpPr/>
          <p:nvPr/>
        </p:nvSpPr>
        <p:spPr>
          <a:xfrm>
            <a:off x="5486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6" name="TextBox 5"/>
          <p:cNvSpPr txBox="1"/>
          <p:nvPr/>
        </p:nvSpPr>
        <p:spPr>
          <a:xfrm>
            <a:off x="6858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Persistence</a:t>
            </a:r>
          </a:p>
        </p:txBody>
      </p:sp>
      <p:sp>
        <p:nvSpPr>
          <p:cNvPr id="7" name="Rounded Rectangle 6"/>
          <p:cNvSpPr/>
          <p:nvPr/>
        </p:nvSpPr>
        <p:spPr>
          <a:xfrm>
            <a:off x="662940" y="2354580"/>
            <a:ext cx="2407920" cy="449580"/>
          </a:xfrm>
          <a:prstGeom prst="roundRect">
            <a:avLst>
              <a:gd name="adj" fmla="val 13559"/>
            </a:avLst>
          </a:prstGeom>
          <a:solidFill>
            <a:srgbClr val="007C78"/>
          </a:solidFill>
          <a:ln>
            <a:noFill/>
          </a:ln>
          <a:effectLst/>
        </p:spPr>
        <p:txBody>
          <a:bodyPr rtlCol="0" anchor="ctr"/>
          <a:lstStyle/>
          <a:p>
            <a:pPr algn="ctr"/>
          </a:p>
        </p:txBody>
      </p:sp>
      <p:sp>
        <p:nvSpPr>
          <p:cNvPr id="8" name="TextBox 7"/>
          <p:cNvSpPr txBox="1"/>
          <p:nvPr/>
        </p:nvSpPr>
        <p:spPr>
          <a:xfrm>
            <a:off x="7620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FFFFFF"/>
                </a:solidFill>
                <a:latin typeface="DejaVu Sans"/>
              </a:rPr>
              <a:t>DA storage</a:t>
            </a:r>
          </a:p>
        </p:txBody>
      </p:sp>
      <p:sp>
        <p:nvSpPr>
          <p:cNvPr id="9" name="Rounded Rectangle 8"/>
          <p:cNvSpPr/>
          <p:nvPr/>
        </p:nvSpPr>
        <p:spPr>
          <a:xfrm>
            <a:off x="6629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10" name="TextBox 9"/>
          <p:cNvSpPr txBox="1"/>
          <p:nvPr/>
        </p:nvSpPr>
        <p:spPr>
          <a:xfrm>
            <a:off x="7620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AtomStorage · C0</a:t>
            </a:r>
          </a:p>
        </p:txBody>
      </p:sp>
      <p:sp>
        <p:nvSpPr>
          <p:cNvPr id="11" name="Rounded Rectangle 10"/>
          <p:cNvSpPr/>
          <p:nvPr/>
        </p:nvSpPr>
        <p:spPr>
          <a:xfrm>
            <a:off x="6629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12" name="TextBox 11"/>
          <p:cNvSpPr txBox="1"/>
          <p:nvPr/>
        </p:nvSpPr>
        <p:spPr>
          <a:xfrm>
            <a:off x="7620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ConsensusFinality</a:t>
            </a:r>
          </a:p>
        </p:txBody>
      </p:sp>
      <p:sp>
        <p:nvSpPr>
          <p:cNvPr id="13" name="Rounded Rectangle 12"/>
          <p:cNvSpPr/>
          <p:nvPr/>
        </p:nvSpPr>
        <p:spPr>
          <a:xfrm>
            <a:off x="33680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14" name="TextBox 13"/>
          <p:cNvSpPr txBox="1"/>
          <p:nvPr/>
        </p:nvSpPr>
        <p:spPr>
          <a:xfrm>
            <a:off x="35052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Knowledge access</a:t>
            </a:r>
          </a:p>
        </p:txBody>
      </p:sp>
      <p:sp>
        <p:nvSpPr>
          <p:cNvPr id="15" name="Rounded Rectangle 14"/>
          <p:cNvSpPr/>
          <p:nvPr/>
        </p:nvSpPr>
        <p:spPr>
          <a:xfrm>
            <a:off x="34823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16" name="TextBox 15"/>
          <p:cNvSpPr txBox="1"/>
          <p:nvPr/>
        </p:nvSpPr>
        <p:spPr>
          <a:xfrm>
            <a:off x="35814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Relations</a:t>
            </a:r>
          </a:p>
        </p:txBody>
      </p:sp>
      <p:sp>
        <p:nvSpPr>
          <p:cNvPr id="17" name="Rounded Rectangle 16"/>
          <p:cNvSpPr/>
          <p:nvPr/>
        </p:nvSpPr>
        <p:spPr>
          <a:xfrm>
            <a:off x="34823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18" name="TextBox 17"/>
          <p:cNvSpPr txBox="1"/>
          <p:nvPr/>
        </p:nvSpPr>
        <p:spPr>
          <a:xfrm>
            <a:off x="35814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Search projection</a:t>
            </a:r>
          </a:p>
        </p:txBody>
      </p:sp>
      <p:sp>
        <p:nvSpPr>
          <p:cNvPr id="19" name="Rounded Rectangle 18"/>
          <p:cNvSpPr/>
          <p:nvPr/>
        </p:nvSpPr>
        <p:spPr>
          <a:xfrm>
            <a:off x="61874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20" name="TextBox 19"/>
          <p:cNvSpPr txBox="1"/>
          <p:nvPr/>
        </p:nvSpPr>
        <p:spPr>
          <a:xfrm>
            <a:off x="63246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Cognition</a:t>
            </a:r>
          </a:p>
        </p:txBody>
      </p:sp>
      <p:sp>
        <p:nvSpPr>
          <p:cNvPr id="21" name="Rounded Rectangle 20"/>
          <p:cNvSpPr/>
          <p:nvPr/>
        </p:nvSpPr>
        <p:spPr>
          <a:xfrm>
            <a:off x="63017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22" name="TextBox 21"/>
          <p:cNvSpPr txBox="1"/>
          <p:nvPr/>
        </p:nvSpPr>
        <p:spPr>
          <a:xfrm>
            <a:off x="64008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Episodes · C1</a:t>
            </a:r>
          </a:p>
        </p:txBody>
      </p:sp>
      <p:sp>
        <p:nvSpPr>
          <p:cNvPr id="23" name="Rounded Rectangle 22"/>
          <p:cNvSpPr/>
          <p:nvPr/>
        </p:nvSpPr>
        <p:spPr>
          <a:xfrm>
            <a:off x="63017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24" name="TextBox 23"/>
          <p:cNvSpPr txBox="1"/>
          <p:nvPr/>
        </p:nvSpPr>
        <p:spPr>
          <a:xfrm>
            <a:off x="64008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Beliefs · C2</a:t>
            </a:r>
          </a:p>
        </p:txBody>
      </p:sp>
      <p:sp>
        <p:nvSpPr>
          <p:cNvPr id="25" name="Rounded Rectangle 24"/>
          <p:cNvSpPr/>
          <p:nvPr/>
        </p:nvSpPr>
        <p:spPr>
          <a:xfrm>
            <a:off x="63017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26" name="TextBox 25"/>
          <p:cNvSpPr txBox="1"/>
          <p:nvPr/>
        </p:nvSpPr>
        <p:spPr>
          <a:xfrm>
            <a:off x="64008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PLNKernel</a:t>
            </a:r>
          </a:p>
        </p:txBody>
      </p:sp>
      <p:sp>
        <p:nvSpPr>
          <p:cNvPr id="27" name="Rounded Rectangle 26"/>
          <p:cNvSpPr/>
          <p:nvPr/>
        </p:nvSpPr>
        <p:spPr>
          <a:xfrm>
            <a:off x="6301740" y="4023360"/>
            <a:ext cx="2407920" cy="449580"/>
          </a:xfrm>
          <a:prstGeom prst="roundRect">
            <a:avLst>
              <a:gd name="adj" fmla="val 13559"/>
            </a:avLst>
          </a:prstGeom>
          <a:solidFill>
            <a:srgbClr val="FFFFFF"/>
          </a:solidFill>
          <a:ln>
            <a:noFill/>
          </a:ln>
          <a:effectLst/>
        </p:spPr>
        <p:txBody>
          <a:bodyPr rtlCol="0" anchor="ctr"/>
          <a:lstStyle/>
          <a:p>
            <a:pPr algn="ctr"/>
          </a:p>
        </p:txBody>
      </p:sp>
      <p:sp>
        <p:nvSpPr>
          <p:cNvPr id="28" name="TextBox 27"/>
          <p:cNvSpPr txBox="1"/>
          <p:nvPr/>
        </p:nvSpPr>
        <p:spPr>
          <a:xfrm>
            <a:off x="6400800" y="413766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Attention · C3</a:t>
            </a:r>
          </a:p>
        </p:txBody>
      </p:sp>
      <p:sp>
        <p:nvSpPr>
          <p:cNvPr id="29" name="Rounded Rectangle 28"/>
          <p:cNvSpPr/>
          <p:nvPr/>
        </p:nvSpPr>
        <p:spPr>
          <a:xfrm>
            <a:off x="6301740" y="4579620"/>
            <a:ext cx="2407920" cy="449580"/>
          </a:xfrm>
          <a:prstGeom prst="roundRect">
            <a:avLst>
              <a:gd name="adj" fmla="val 13559"/>
            </a:avLst>
          </a:prstGeom>
          <a:solidFill>
            <a:srgbClr val="FFFFFF"/>
          </a:solidFill>
          <a:ln>
            <a:noFill/>
          </a:ln>
          <a:effectLst/>
        </p:spPr>
        <p:txBody>
          <a:bodyPr rtlCol="0" anchor="ctr"/>
          <a:lstStyle/>
          <a:p>
            <a:pPr algn="ctr"/>
          </a:p>
        </p:txBody>
      </p:sp>
      <p:sp>
        <p:nvSpPr>
          <p:cNvPr id="30" name="TextBox 29"/>
          <p:cNvSpPr txBox="1"/>
          <p:nvPr/>
        </p:nvSpPr>
        <p:spPr>
          <a:xfrm>
            <a:off x="6400800" y="469392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Inference · C4</a:t>
            </a:r>
          </a:p>
        </p:txBody>
      </p:sp>
      <p:sp>
        <p:nvSpPr>
          <p:cNvPr id="31" name="Rounded Rectangle 30"/>
          <p:cNvSpPr/>
          <p:nvPr/>
        </p:nvSpPr>
        <p:spPr>
          <a:xfrm>
            <a:off x="90068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32" name="TextBox 31"/>
          <p:cNvSpPr txBox="1"/>
          <p:nvPr/>
        </p:nvSpPr>
        <p:spPr>
          <a:xfrm>
            <a:off x="91440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Coordination + policy</a:t>
            </a:r>
          </a:p>
        </p:txBody>
      </p:sp>
      <p:sp>
        <p:nvSpPr>
          <p:cNvPr id="33" name="Rounded Rectangle 32"/>
          <p:cNvSpPr/>
          <p:nvPr/>
        </p:nvSpPr>
        <p:spPr>
          <a:xfrm>
            <a:off x="91211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34" name="TextBox 33"/>
          <p:cNvSpPr txBox="1"/>
          <p:nvPr/>
        </p:nvSpPr>
        <p:spPr>
          <a:xfrm>
            <a:off x="92202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Messaging</a:t>
            </a:r>
          </a:p>
        </p:txBody>
      </p:sp>
      <p:sp>
        <p:nvSpPr>
          <p:cNvPr id="35" name="Rounded Rectangle 34"/>
          <p:cNvSpPr/>
          <p:nvPr/>
        </p:nvSpPr>
        <p:spPr>
          <a:xfrm>
            <a:off x="91211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36" name="TextBox 35"/>
          <p:cNvSpPr txBox="1"/>
          <p:nvPr/>
        </p:nvSpPr>
        <p:spPr>
          <a:xfrm>
            <a:off x="92202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Execution</a:t>
            </a:r>
          </a:p>
        </p:txBody>
      </p:sp>
      <p:sp>
        <p:nvSpPr>
          <p:cNvPr id="37" name="Rounded Rectangle 36"/>
          <p:cNvSpPr/>
          <p:nvPr/>
        </p:nvSpPr>
        <p:spPr>
          <a:xfrm>
            <a:off x="91211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38" name="TextBox 37"/>
          <p:cNvSpPr txBox="1"/>
          <p:nvPr/>
        </p:nvSpPr>
        <p:spPr>
          <a:xfrm>
            <a:off x="92202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Registry</a:t>
            </a:r>
          </a:p>
        </p:txBody>
      </p:sp>
      <p:sp>
        <p:nvSpPr>
          <p:cNvPr id="39" name="Rounded Rectangle 38"/>
          <p:cNvSpPr/>
          <p:nvPr/>
        </p:nvSpPr>
        <p:spPr>
          <a:xfrm>
            <a:off x="9121140" y="4023360"/>
            <a:ext cx="2407920" cy="449580"/>
          </a:xfrm>
          <a:prstGeom prst="roundRect">
            <a:avLst>
              <a:gd name="adj" fmla="val 13559"/>
            </a:avLst>
          </a:prstGeom>
          <a:solidFill>
            <a:srgbClr val="FFFFFF"/>
          </a:solidFill>
          <a:ln>
            <a:noFill/>
          </a:ln>
          <a:effectLst/>
        </p:spPr>
        <p:txBody>
          <a:bodyPr rtlCol="0" anchor="ctr"/>
          <a:lstStyle/>
          <a:p>
            <a:pPr algn="ctr"/>
          </a:p>
        </p:txBody>
      </p:sp>
      <p:sp>
        <p:nvSpPr>
          <p:cNvPr id="40" name="TextBox 39"/>
          <p:cNvSpPr txBox="1"/>
          <p:nvPr/>
        </p:nvSpPr>
        <p:spPr>
          <a:xfrm>
            <a:off x="9220200" y="413766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Resolver</a:t>
            </a:r>
          </a:p>
        </p:txBody>
      </p:sp>
      <p:sp>
        <p:nvSpPr>
          <p:cNvPr id="41" name="Rounded Rectangle 40"/>
          <p:cNvSpPr/>
          <p:nvPr/>
        </p:nvSpPr>
        <p:spPr>
          <a:xfrm>
            <a:off x="9121140" y="4579620"/>
            <a:ext cx="2407920" cy="449580"/>
          </a:xfrm>
          <a:prstGeom prst="roundRect">
            <a:avLst>
              <a:gd name="adj" fmla="val 13559"/>
            </a:avLst>
          </a:prstGeom>
          <a:solidFill>
            <a:srgbClr val="FFFFFF"/>
          </a:solidFill>
          <a:ln>
            <a:noFill/>
          </a:ln>
          <a:effectLst/>
        </p:spPr>
        <p:txBody>
          <a:bodyPr rtlCol="0" anchor="ctr"/>
          <a:lstStyle/>
          <a:p>
            <a:pPr algn="ctr"/>
          </a:p>
        </p:txBody>
      </p:sp>
      <p:sp>
        <p:nvSpPr>
          <p:cNvPr id="42" name="TextBox 41"/>
          <p:cNvSpPr txBox="1"/>
          <p:nvPr/>
        </p:nvSpPr>
        <p:spPr>
          <a:xfrm>
            <a:off x="9220200" y="469392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Authorization</a:t>
            </a:r>
          </a:p>
        </p:txBody>
      </p:sp>
      <p:sp>
        <p:nvSpPr>
          <p:cNvPr id="43" name="TextBox 42"/>
          <p:cNvSpPr txBox="1"/>
          <p:nvPr/>
        </p:nvSpPr>
        <p:spPr>
          <a:xfrm>
            <a:off x="609600" y="5547360"/>
            <a:ext cx="108966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102B3F"/>
                </a:solidFill>
                <a:latin typeface="DejaVu Sans"/>
              </a:rPr>
              <a:t>Opaque persistence, retrieval and local availability through the DeTTa DA and FileStorage libraries.</a:t>
            </a:r>
          </a:p>
        </p:txBody>
      </p:sp>
      <p:cxnSp>
        <p:nvCxnSpPr>
          <p:cNvPr id="44" name="Connector 43"/>
          <p:cNvCxnSpPr/>
          <p:nvPr/>
        </p:nvCxnSpPr>
        <p:spPr>
          <a:xfrm>
            <a:off x="548640" y="6393180"/>
            <a:ext cx="11094720" cy="0"/>
          </a:xfrm>
          <a:prstGeom prst="line">
            <a:avLst/>
          </a:prstGeom>
          <a:ln w="7620">
            <a:solidFill>
              <a:srgbClr val="C9D2D4"/>
            </a:solidFill>
          </a:ln>
          <a:effectLst/>
        </p:spPr>
      </p:cxnSp>
      <p:sp>
        <p:nvSpPr>
          <p:cNvPr id="45" name="TextBox 44"/>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DA storage · M5 source bfb0ec8</a:t>
            </a:r>
          </a:p>
        </p:txBody>
      </p:sp>
      <p:sp>
        <p:nvSpPr>
          <p:cNvPr id="46" name="TextBox 45"/>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02 / FUNCTION DEPENDENCIES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Dependencies explain the boundary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Arrows point from caller to dependency. Stores and runtime internals are labelled explicitly.</a:t>
            </a:r>
          </a:p>
        </p:txBody>
      </p:sp>
      <p:sp>
        <p:nvSpPr>
          <p:cNvPr id="5" name="Rounded Rectangle 4"/>
          <p:cNvSpPr/>
          <p:nvPr/>
        </p:nvSpPr>
        <p:spPr>
          <a:xfrm>
            <a:off x="548640" y="2453640"/>
            <a:ext cx="2857500" cy="1668780"/>
          </a:xfrm>
          <a:prstGeom prst="roundRect">
            <a:avLst>
              <a:gd name="adj" fmla="val 5936"/>
            </a:avLst>
          </a:prstGeom>
          <a:solidFill>
            <a:srgbClr val="FFFFFF"/>
          </a:solidFill>
          <a:ln w="7620">
            <a:solidFill>
              <a:srgbClr val="007C78"/>
            </a:solidFill>
          </a:ln>
          <a:effectLst/>
        </p:spPr>
        <p:txBody>
          <a:bodyPr rtlCol="0" anchor="ctr"/>
          <a:lstStyle/>
          <a:p>
            <a:pPr algn="ctr"/>
          </a:p>
        </p:txBody>
      </p:sp>
      <p:sp>
        <p:nvSpPr>
          <p:cNvPr id="6" name="TextBox 5"/>
          <p:cNvSpPr txBox="1"/>
          <p:nvPr/>
        </p:nvSpPr>
        <p:spPr>
          <a:xfrm>
            <a:off x="716280" y="2621280"/>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007C78"/>
                </a:solidFill>
                <a:latin typeface="DejaVu Sans"/>
              </a:rPr>
              <a:t>AtomStorage</a:t>
            </a:r>
          </a:p>
        </p:txBody>
      </p:sp>
      <p:sp>
        <p:nvSpPr>
          <p:cNvPr id="7" name="TextBox 6"/>
          <p:cNvSpPr txBox="1"/>
          <p:nvPr/>
        </p:nvSpPr>
        <p:spPr>
          <a:xfrm>
            <a:off x="716280" y="2980334"/>
            <a:ext cx="2522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put · get · availability</a:t>
            </a:r>
          </a:p>
        </p:txBody>
      </p:sp>
      <p:sp>
        <p:nvSpPr>
          <p:cNvPr id="8" name="Rounded Rectangle 7"/>
          <p:cNvSpPr/>
          <p:nvPr/>
        </p:nvSpPr>
        <p:spPr>
          <a:xfrm>
            <a:off x="4229100" y="2453640"/>
            <a:ext cx="3238500" cy="1668780"/>
          </a:xfrm>
          <a:prstGeom prst="roundRect">
            <a:avLst>
              <a:gd name="adj" fmla="val 5936"/>
            </a:avLst>
          </a:prstGeom>
          <a:solidFill>
            <a:srgbClr val="DCEFE8"/>
          </a:solidFill>
          <a:ln w="7620">
            <a:solidFill>
              <a:srgbClr val="007C78"/>
            </a:solidFill>
          </a:ln>
          <a:effectLst/>
        </p:spPr>
        <p:txBody>
          <a:bodyPr rtlCol="0" anchor="ctr"/>
          <a:lstStyle/>
          <a:p>
            <a:pPr algn="ctr"/>
          </a:p>
        </p:txBody>
      </p:sp>
      <p:sp>
        <p:nvSpPr>
          <p:cNvPr id="9" name="TextBox 8"/>
          <p:cNvSpPr txBox="1"/>
          <p:nvPr/>
        </p:nvSpPr>
        <p:spPr>
          <a:xfrm>
            <a:off x="4396740" y="2621280"/>
            <a:ext cx="2903220" cy="321868"/>
          </a:xfrm>
          <a:prstGeom prst="rect">
            <a:avLst/>
          </a:prstGeom>
          <a:noFill/>
        </p:spPr>
        <p:txBody>
          <a:bodyPr wrap="none" lIns="0" rIns="0" tIns="0" bIns="0" anchor="t" anchorCtr="0">
            <a:noAutofit/>
          </a:bodyPr>
          <a:lstStyle/>
          <a:p>
            <a:pPr algn="l">
              <a:lnSpc>
                <a:spcPct val="100000"/>
              </a:lnSpc>
              <a:spcBef>
                <a:spcPts val="0"/>
              </a:spcBef>
              <a:spcAft>
                <a:spcPts val="0"/>
              </a:spcAft>
            </a:pPr>
            <a:r>
              <a:rPr sz="1980" b="1">
                <a:solidFill>
                  <a:srgbClr val="007C78"/>
                </a:solidFill>
                <a:latin typeface="DejaVu Sans"/>
              </a:rPr>
              <a:t>DA storage</a:t>
            </a:r>
          </a:p>
        </p:txBody>
      </p:sp>
      <p:sp>
        <p:nvSpPr>
          <p:cNvPr id="10" name="TextBox 9"/>
          <p:cNvSpPr txBox="1"/>
          <p:nvPr/>
        </p:nvSpPr>
        <p:spPr>
          <a:xfrm>
            <a:off x="4396740" y="3019348"/>
            <a:ext cx="2903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Opaque persistence, retrieval</a:t>
            </a:r>
          </a:p>
        </p:txBody>
      </p:sp>
      <p:sp>
        <p:nvSpPr>
          <p:cNvPr id="11" name="TextBox 10"/>
          <p:cNvSpPr txBox="1"/>
          <p:nvPr/>
        </p:nvSpPr>
        <p:spPr>
          <a:xfrm>
            <a:off x="4396740" y="3263188"/>
            <a:ext cx="2903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and local availability through</a:t>
            </a:r>
          </a:p>
        </p:txBody>
      </p:sp>
      <p:sp>
        <p:nvSpPr>
          <p:cNvPr id="12" name="TextBox 11"/>
          <p:cNvSpPr txBox="1"/>
          <p:nvPr/>
        </p:nvSpPr>
        <p:spPr>
          <a:xfrm>
            <a:off x="4396740" y="3507028"/>
            <a:ext cx="2903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DeTTa DA and FileStorage</a:t>
            </a:r>
          </a:p>
        </p:txBody>
      </p:sp>
      <p:sp>
        <p:nvSpPr>
          <p:cNvPr id="13" name="TextBox 12"/>
          <p:cNvSpPr txBox="1"/>
          <p:nvPr/>
        </p:nvSpPr>
        <p:spPr>
          <a:xfrm>
            <a:off x="4396740" y="3750868"/>
            <a:ext cx="2903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libraries.</a:t>
            </a:r>
          </a:p>
        </p:txBody>
      </p:sp>
      <p:cxnSp>
        <p:nvCxnSpPr>
          <p:cNvPr id="14" name="Connector 13"/>
          <p:cNvCxnSpPr/>
          <p:nvPr/>
        </p:nvCxnSpPr>
        <p:spPr>
          <a:xfrm>
            <a:off x="3406140" y="3284219"/>
            <a:ext cx="822960" cy="0"/>
          </a:xfrm>
          <a:prstGeom prst="line">
            <a:avLst/>
          </a:prstGeom>
          <a:ln w="15240">
            <a:solidFill>
              <a:srgbClr val="007C78"/>
            </a:solidFill>
          </a:ln>
          <a:effectLst/>
        </p:spPr>
      </p:cxnSp>
      <p:sp>
        <p:nvSpPr>
          <p:cNvPr id="15" name="Freeform 14"/>
          <p:cNvSpPr/>
          <p:nvPr/>
        </p:nvSpPr>
        <p:spPr>
          <a:xfrm>
            <a:off x="4130040" y="324612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16" name="Rounded Rectangle 15"/>
          <p:cNvSpPr/>
          <p:nvPr/>
        </p:nvSpPr>
        <p:spPr>
          <a:xfrm>
            <a:off x="8404860" y="1981200"/>
            <a:ext cx="3238500" cy="1005840"/>
          </a:xfrm>
          <a:prstGeom prst="roundRect">
            <a:avLst>
              <a:gd name="adj" fmla="val 9848"/>
            </a:avLst>
          </a:prstGeom>
          <a:solidFill>
            <a:srgbClr val="FFFFFF"/>
          </a:solidFill>
          <a:ln w="7620">
            <a:solidFill>
              <a:srgbClr val="007C78"/>
            </a:solidFill>
          </a:ln>
          <a:effectLst/>
        </p:spPr>
        <p:txBody>
          <a:bodyPr rtlCol="0" anchor="ctr"/>
          <a:lstStyle/>
          <a:p>
            <a:pPr algn="ctr"/>
          </a:p>
        </p:txBody>
      </p:sp>
      <p:sp>
        <p:nvSpPr>
          <p:cNvPr id="17" name="TextBox 16"/>
          <p:cNvSpPr txBox="1"/>
          <p:nvPr/>
        </p:nvSpPr>
        <p:spPr>
          <a:xfrm>
            <a:off x="8572500" y="2148840"/>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007C78"/>
                </a:solidFill>
                <a:latin typeface="DejaVu Sans"/>
              </a:rPr>
              <a:t>External adapter</a:t>
            </a:r>
          </a:p>
        </p:txBody>
      </p:sp>
      <p:sp>
        <p:nvSpPr>
          <p:cNvPr id="18" name="TextBox 17"/>
          <p:cNvSpPr txBox="1"/>
          <p:nvPr/>
        </p:nvSpPr>
        <p:spPr>
          <a:xfrm>
            <a:off x="8572500" y="2488387"/>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Generic coordinates + opaque</a:t>
            </a:r>
          </a:p>
        </p:txBody>
      </p:sp>
      <p:sp>
        <p:nvSpPr>
          <p:cNvPr id="19" name="TextBox 18"/>
          <p:cNvSpPr txBox="1"/>
          <p:nvPr/>
        </p:nvSpPr>
        <p:spPr>
          <a:xfrm>
            <a:off x="8572500" y="2702966"/>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bytes</a:t>
            </a:r>
          </a:p>
        </p:txBody>
      </p:sp>
      <p:cxnSp>
        <p:nvCxnSpPr>
          <p:cNvPr id="20" name="Connector 19"/>
          <p:cNvCxnSpPr/>
          <p:nvPr/>
        </p:nvCxnSpPr>
        <p:spPr>
          <a:xfrm>
            <a:off x="7467600" y="3284219"/>
            <a:ext cx="426720" cy="0"/>
          </a:xfrm>
          <a:prstGeom prst="line">
            <a:avLst/>
          </a:prstGeom>
          <a:ln w="15240">
            <a:solidFill>
              <a:srgbClr val="007C78"/>
            </a:solidFill>
          </a:ln>
          <a:effectLst/>
        </p:spPr>
      </p:cxnSp>
      <p:cxnSp>
        <p:nvCxnSpPr>
          <p:cNvPr id="21" name="Connector 20"/>
          <p:cNvCxnSpPr/>
          <p:nvPr/>
        </p:nvCxnSpPr>
        <p:spPr>
          <a:xfrm flipV="1">
            <a:off x="7894320" y="2484120"/>
            <a:ext cx="0" cy="800099"/>
          </a:xfrm>
          <a:prstGeom prst="line">
            <a:avLst/>
          </a:prstGeom>
          <a:ln w="15240">
            <a:solidFill>
              <a:srgbClr val="007C78"/>
            </a:solidFill>
          </a:ln>
          <a:effectLst/>
        </p:spPr>
      </p:cxnSp>
      <p:cxnSp>
        <p:nvCxnSpPr>
          <p:cNvPr id="22" name="Connector 21"/>
          <p:cNvCxnSpPr/>
          <p:nvPr/>
        </p:nvCxnSpPr>
        <p:spPr>
          <a:xfrm>
            <a:off x="7894320" y="2484120"/>
            <a:ext cx="510540" cy="0"/>
          </a:xfrm>
          <a:prstGeom prst="line">
            <a:avLst/>
          </a:prstGeom>
          <a:ln w="15240">
            <a:solidFill>
              <a:srgbClr val="007C78"/>
            </a:solidFill>
          </a:ln>
          <a:effectLst/>
        </p:spPr>
      </p:cxnSp>
      <p:sp>
        <p:nvSpPr>
          <p:cNvPr id="23" name="Freeform 22"/>
          <p:cNvSpPr/>
          <p:nvPr/>
        </p:nvSpPr>
        <p:spPr>
          <a:xfrm>
            <a:off x="8305800" y="244602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24" name="Rounded Rectangle 23"/>
          <p:cNvSpPr/>
          <p:nvPr/>
        </p:nvSpPr>
        <p:spPr>
          <a:xfrm>
            <a:off x="8404860" y="3177540"/>
            <a:ext cx="3238500" cy="1005840"/>
          </a:xfrm>
          <a:prstGeom prst="roundRect">
            <a:avLst>
              <a:gd name="adj" fmla="val 9848"/>
            </a:avLst>
          </a:prstGeom>
          <a:solidFill>
            <a:srgbClr val="FFFFFF"/>
          </a:solidFill>
          <a:ln w="7620">
            <a:solidFill>
              <a:srgbClr val="007C78"/>
            </a:solidFill>
          </a:ln>
          <a:effectLst/>
        </p:spPr>
        <p:txBody>
          <a:bodyPr rtlCol="0" anchor="ctr"/>
          <a:lstStyle/>
          <a:p>
            <a:pPr algn="ctr"/>
          </a:p>
        </p:txBody>
      </p:sp>
      <p:sp>
        <p:nvSpPr>
          <p:cNvPr id="25" name="TextBox 24"/>
          <p:cNvSpPr txBox="1"/>
          <p:nvPr/>
        </p:nvSpPr>
        <p:spPr>
          <a:xfrm>
            <a:off x="8572500" y="3345179"/>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007C78"/>
                </a:solidFill>
                <a:latin typeface="DejaVu Sans"/>
              </a:rPr>
              <a:t>DeTTa DA / FileStorage</a:t>
            </a:r>
          </a:p>
        </p:txBody>
      </p:sp>
      <p:sp>
        <p:nvSpPr>
          <p:cNvPr id="26" name="TextBox 25"/>
          <p:cNvSpPr txBox="1"/>
          <p:nvPr/>
        </p:nvSpPr>
        <p:spPr>
          <a:xfrm>
            <a:off x="8572500" y="3684727"/>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Encoding, share files and</a:t>
            </a:r>
          </a:p>
        </p:txBody>
      </p:sp>
      <p:sp>
        <p:nvSpPr>
          <p:cNvPr id="27" name="TextBox 26"/>
          <p:cNvSpPr txBox="1"/>
          <p:nvPr/>
        </p:nvSpPr>
        <p:spPr>
          <a:xfrm>
            <a:off x="8572500" y="3899306"/>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reconstruction</a:t>
            </a:r>
          </a:p>
        </p:txBody>
      </p:sp>
      <p:cxnSp>
        <p:nvCxnSpPr>
          <p:cNvPr id="28" name="Connector 27"/>
          <p:cNvCxnSpPr/>
          <p:nvPr/>
        </p:nvCxnSpPr>
        <p:spPr>
          <a:xfrm>
            <a:off x="7467600" y="3284219"/>
            <a:ext cx="426720" cy="0"/>
          </a:xfrm>
          <a:prstGeom prst="line">
            <a:avLst/>
          </a:prstGeom>
          <a:ln w="15240">
            <a:solidFill>
              <a:srgbClr val="007C78"/>
            </a:solidFill>
          </a:ln>
          <a:effectLst/>
        </p:spPr>
      </p:cxnSp>
      <p:cxnSp>
        <p:nvCxnSpPr>
          <p:cNvPr id="29" name="Connector 28"/>
          <p:cNvCxnSpPr/>
          <p:nvPr/>
        </p:nvCxnSpPr>
        <p:spPr>
          <a:xfrm>
            <a:off x="7894320" y="3284219"/>
            <a:ext cx="0" cy="396241"/>
          </a:xfrm>
          <a:prstGeom prst="line">
            <a:avLst/>
          </a:prstGeom>
          <a:ln w="15240">
            <a:solidFill>
              <a:srgbClr val="007C78"/>
            </a:solidFill>
          </a:ln>
          <a:effectLst/>
        </p:spPr>
      </p:cxnSp>
      <p:cxnSp>
        <p:nvCxnSpPr>
          <p:cNvPr id="30" name="Connector 29"/>
          <p:cNvCxnSpPr/>
          <p:nvPr/>
        </p:nvCxnSpPr>
        <p:spPr>
          <a:xfrm>
            <a:off x="7894320" y="3680460"/>
            <a:ext cx="510540" cy="0"/>
          </a:xfrm>
          <a:prstGeom prst="line">
            <a:avLst/>
          </a:prstGeom>
          <a:ln w="15240">
            <a:solidFill>
              <a:srgbClr val="007C78"/>
            </a:solidFill>
          </a:ln>
          <a:effectLst/>
        </p:spPr>
      </p:cxnSp>
      <p:sp>
        <p:nvSpPr>
          <p:cNvPr id="31" name="Freeform 30"/>
          <p:cNvSpPr/>
          <p:nvPr/>
        </p:nvSpPr>
        <p:spPr>
          <a:xfrm>
            <a:off x="8305800" y="364236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32" name="Rounded Rectangle 31"/>
          <p:cNvSpPr/>
          <p:nvPr/>
        </p:nvSpPr>
        <p:spPr>
          <a:xfrm>
            <a:off x="8404860" y="4373880"/>
            <a:ext cx="3238500" cy="1005840"/>
          </a:xfrm>
          <a:prstGeom prst="roundRect">
            <a:avLst>
              <a:gd name="adj" fmla="val 9848"/>
            </a:avLst>
          </a:prstGeom>
          <a:solidFill>
            <a:srgbClr val="FFFFFF"/>
          </a:solidFill>
          <a:ln w="7620">
            <a:solidFill>
              <a:srgbClr val="007C78"/>
            </a:solidFill>
          </a:ln>
          <a:effectLst/>
        </p:spPr>
        <p:txBody>
          <a:bodyPr rtlCol="0" anchor="ctr"/>
          <a:lstStyle/>
          <a:p>
            <a:pPr algn="ctr"/>
          </a:p>
        </p:txBody>
      </p:sp>
      <p:sp>
        <p:nvSpPr>
          <p:cNvPr id="33" name="TextBox 32"/>
          <p:cNvSpPr txBox="1"/>
          <p:nvPr/>
        </p:nvSpPr>
        <p:spPr>
          <a:xfrm>
            <a:off x="8572500" y="4541520"/>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007C78"/>
                </a:solidFill>
                <a:latin typeface="DejaVu Sans"/>
              </a:rPr>
              <a:t>Local filesystem</a:t>
            </a:r>
          </a:p>
        </p:txBody>
      </p:sp>
      <p:sp>
        <p:nvSpPr>
          <p:cNvPr id="34" name="TextBox 33"/>
          <p:cNvSpPr txBox="1"/>
          <p:nvPr/>
        </p:nvSpPr>
        <p:spPr>
          <a:xfrm>
            <a:off x="8572500" y="4881067"/>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Selected persistence and restart</a:t>
            </a:r>
          </a:p>
        </p:txBody>
      </p:sp>
      <p:sp>
        <p:nvSpPr>
          <p:cNvPr id="35" name="TextBox 34"/>
          <p:cNvSpPr txBox="1"/>
          <p:nvPr/>
        </p:nvSpPr>
        <p:spPr>
          <a:xfrm>
            <a:off x="8572500" y="5095646"/>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substrate</a:t>
            </a:r>
          </a:p>
        </p:txBody>
      </p:sp>
      <p:cxnSp>
        <p:nvCxnSpPr>
          <p:cNvPr id="36" name="Connector 35"/>
          <p:cNvCxnSpPr/>
          <p:nvPr/>
        </p:nvCxnSpPr>
        <p:spPr>
          <a:xfrm>
            <a:off x="7467600" y="3284219"/>
            <a:ext cx="426720" cy="0"/>
          </a:xfrm>
          <a:prstGeom prst="line">
            <a:avLst/>
          </a:prstGeom>
          <a:ln w="15240">
            <a:solidFill>
              <a:srgbClr val="007C78"/>
            </a:solidFill>
          </a:ln>
          <a:effectLst/>
        </p:spPr>
      </p:cxnSp>
      <p:cxnSp>
        <p:nvCxnSpPr>
          <p:cNvPr id="37" name="Connector 36"/>
          <p:cNvCxnSpPr/>
          <p:nvPr/>
        </p:nvCxnSpPr>
        <p:spPr>
          <a:xfrm>
            <a:off x="7894320" y="3284219"/>
            <a:ext cx="0" cy="1592581"/>
          </a:xfrm>
          <a:prstGeom prst="line">
            <a:avLst/>
          </a:prstGeom>
          <a:ln w="15240">
            <a:solidFill>
              <a:srgbClr val="007C78"/>
            </a:solidFill>
          </a:ln>
          <a:effectLst/>
        </p:spPr>
      </p:cxnSp>
      <p:cxnSp>
        <p:nvCxnSpPr>
          <p:cNvPr id="38" name="Connector 37"/>
          <p:cNvCxnSpPr/>
          <p:nvPr/>
        </p:nvCxnSpPr>
        <p:spPr>
          <a:xfrm>
            <a:off x="7894320" y="4876800"/>
            <a:ext cx="510540" cy="0"/>
          </a:xfrm>
          <a:prstGeom prst="line">
            <a:avLst/>
          </a:prstGeom>
          <a:ln w="15240">
            <a:solidFill>
              <a:srgbClr val="007C78"/>
            </a:solidFill>
          </a:ln>
          <a:effectLst/>
        </p:spPr>
      </p:cxnSp>
      <p:sp>
        <p:nvSpPr>
          <p:cNvPr id="39" name="Freeform 38"/>
          <p:cNvSpPr/>
          <p:nvPr/>
        </p:nvSpPr>
        <p:spPr>
          <a:xfrm>
            <a:off x="8305800" y="483870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40" name="Rounded Rectangle 39"/>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41" name="TextBox 40"/>
          <p:cNvSpPr txBox="1"/>
          <p:nvPr/>
        </p:nvSpPr>
        <p:spPr>
          <a:xfrm>
            <a:off x="716280" y="5905500"/>
            <a:ext cx="10744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One responsibility does not imply one process. A dependency does not grant access to its private tables.</a:t>
            </a:r>
          </a:p>
        </p:txBody>
      </p:sp>
      <p:cxnSp>
        <p:nvCxnSpPr>
          <p:cNvPr id="42" name="Connector 41"/>
          <p:cNvCxnSpPr/>
          <p:nvPr/>
        </p:nvCxnSpPr>
        <p:spPr>
          <a:xfrm>
            <a:off x="548640" y="6393180"/>
            <a:ext cx="11094720" cy="0"/>
          </a:xfrm>
          <a:prstGeom prst="line">
            <a:avLst/>
          </a:prstGeom>
          <a:ln w="7620">
            <a:solidFill>
              <a:srgbClr val="C9D2D4"/>
            </a:solidFill>
          </a:ln>
          <a:effectLst/>
        </p:spPr>
      </p:cxnSp>
      <p:sp>
        <p:nvSpPr>
          <p:cNvPr id="43" name="TextBox 42"/>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DA storage · M5 source bfb0ec8</a:t>
            </a:r>
          </a:p>
        </p:txBody>
      </p:sp>
      <p:sp>
        <p:nvSpPr>
          <p:cNvPr id="44" name="TextBox 43"/>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03 / OWNERSHIP</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Responsibility, state and scope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owner is authoritative for its own state; other responsibilities are deliberately separate.</a:t>
            </a:r>
          </a:p>
        </p:txBody>
      </p:sp>
      <p:sp>
        <p:nvSpPr>
          <p:cNvPr id="5" name="TextBox 4"/>
          <p:cNvSpPr txBox="1"/>
          <p:nvPr/>
        </p:nvSpPr>
        <p:spPr>
          <a:xfrm>
            <a:off x="640080" y="1775459"/>
            <a:ext cx="52578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1">
                <a:solidFill>
                  <a:srgbClr val="315E9C"/>
                </a:solidFill>
                <a:latin typeface="DejaVu Sans"/>
              </a:rPr>
              <a:t>OWNS / GUARANTEES</a:t>
            </a:r>
          </a:p>
        </p:txBody>
      </p:sp>
      <p:sp>
        <p:nvSpPr>
          <p:cNvPr id="6" name="Rounded Rectangle 5"/>
          <p:cNvSpPr/>
          <p:nvPr/>
        </p:nvSpPr>
        <p:spPr>
          <a:xfrm>
            <a:off x="548640" y="2133600"/>
            <a:ext cx="5425440" cy="1447800"/>
          </a:xfrm>
          <a:prstGeom prst="roundRect">
            <a:avLst>
              <a:gd name="adj" fmla="val 6842"/>
            </a:avLst>
          </a:prstGeom>
          <a:solidFill>
            <a:srgbClr val="E4EBF5"/>
          </a:solidFill>
          <a:ln w="7620">
            <a:solidFill>
              <a:srgbClr val="315E9C"/>
            </a:solidFill>
          </a:ln>
          <a:effectLst/>
        </p:spPr>
        <p:txBody>
          <a:bodyPr rtlCol="0" anchor="ctr"/>
          <a:lstStyle/>
          <a:p>
            <a:pPr algn="ctr"/>
          </a:p>
        </p:txBody>
      </p:sp>
      <p:sp>
        <p:nvSpPr>
          <p:cNvPr id="7" name="TextBox 6"/>
          <p:cNvSpPr txBox="1"/>
          <p:nvPr/>
        </p:nvSpPr>
        <p:spPr>
          <a:xfrm>
            <a:off x="716280" y="2301240"/>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Payload and share files</a:t>
            </a:r>
          </a:p>
        </p:txBody>
      </p:sp>
      <p:sp>
        <p:nvSpPr>
          <p:cNvPr id="8" name="TextBox 7"/>
          <p:cNvSpPr txBox="1"/>
          <p:nvPr/>
        </p:nvSpPr>
        <p:spPr>
          <a:xfrm>
            <a:off x="716280" y="267980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Local encoded bytes and reconstruction metadata</a:t>
            </a:r>
          </a:p>
        </p:txBody>
      </p:sp>
      <p:sp>
        <p:nvSpPr>
          <p:cNvPr id="9" name="Rounded Rectangle 8"/>
          <p:cNvSpPr/>
          <p:nvPr/>
        </p:nvSpPr>
        <p:spPr>
          <a:xfrm>
            <a:off x="548640" y="3764279"/>
            <a:ext cx="5425440" cy="1447800"/>
          </a:xfrm>
          <a:prstGeom prst="roundRect">
            <a:avLst>
              <a:gd name="adj" fmla="val 6842"/>
            </a:avLst>
          </a:prstGeom>
          <a:solidFill>
            <a:srgbClr val="E4EBF5"/>
          </a:solidFill>
          <a:ln w="7620">
            <a:solidFill>
              <a:srgbClr val="315E9C"/>
            </a:solidFill>
          </a:ln>
          <a:effectLst/>
        </p:spPr>
        <p:txBody>
          <a:bodyPr rtlCol="0" anchor="ctr"/>
          <a:lstStyle/>
          <a:p>
            <a:pPr algn="ctr"/>
          </a:p>
        </p:txBody>
      </p:sp>
      <p:sp>
        <p:nvSpPr>
          <p:cNvPr id="10" name="TextBox 9"/>
          <p:cNvSpPr txBox="1"/>
          <p:nvPr/>
        </p:nvSpPr>
        <p:spPr>
          <a:xfrm>
            <a:off x="716280" y="3931919"/>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Persistence receipts</a:t>
            </a:r>
          </a:p>
        </p:txBody>
      </p:sp>
      <p:sp>
        <p:nvSpPr>
          <p:cNvPr id="11" name="TextBox 10"/>
          <p:cNvSpPr txBox="1"/>
          <p:nvPr/>
        </p:nvSpPr>
        <p:spPr>
          <a:xfrm>
            <a:off x="716280" y="431048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Evidence of the selected local storage behavior</a:t>
            </a:r>
          </a:p>
        </p:txBody>
      </p:sp>
      <p:sp>
        <p:nvSpPr>
          <p:cNvPr id="12" name="TextBox 11"/>
          <p:cNvSpPr txBox="1"/>
          <p:nvPr/>
        </p:nvSpPr>
        <p:spPr>
          <a:xfrm>
            <a:off x="6309359" y="1775459"/>
            <a:ext cx="52578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1">
                <a:solidFill>
                  <a:srgbClr val="A86A15"/>
                </a:solidFill>
                <a:latin typeface="DejaVu Sans"/>
              </a:rPr>
              <a:t>OUTSIDE THIS RESPONSIBILITY</a:t>
            </a:r>
          </a:p>
        </p:txBody>
      </p:sp>
      <p:sp>
        <p:nvSpPr>
          <p:cNvPr id="13" name="Rounded Rectangle 12"/>
          <p:cNvSpPr/>
          <p:nvPr/>
        </p:nvSpPr>
        <p:spPr>
          <a:xfrm>
            <a:off x="6217920" y="2133600"/>
            <a:ext cx="5425440" cy="1447800"/>
          </a:xfrm>
          <a:prstGeom prst="roundRect">
            <a:avLst>
              <a:gd name="adj" fmla="val 6842"/>
            </a:avLst>
          </a:prstGeom>
          <a:solidFill>
            <a:srgbClr val="F3E7CE"/>
          </a:solidFill>
          <a:ln w="7620">
            <a:solidFill>
              <a:srgbClr val="A86A15"/>
            </a:solidFill>
          </a:ln>
          <a:effectLst/>
        </p:spPr>
        <p:txBody>
          <a:bodyPr rtlCol="0" anchor="ctr"/>
          <a:lstStyle/>
          <a:p>
            <a:pPr algn="ctr"/>
          </a:p>
        </p:txBody>
      </p:sp>
      <p:sp>
        <p:nvSpPr>
          <p:cNvPr id="14" name="TextBox 13"/>
          <p:cNvSpPr txBox="1"/>
          <p:nvPr/>
        </p:nvSpPr>
        <p:spPr>
          <a:xfrm>
            <a:off x="6385559" y="2301240"/>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A86A15"/>
                </a:solidFill>
                <a:latin typeface="DejaVu Sans"/>
              </a:rPr>
              <a:t>Application interpretation</a:t>
            </a:r>
          </a:p>
        </p:txBody>
      </p:sp>
      <p:sp>
        <p:nvSpPr>
          <p:cNvPr id="15" name="TextBox 14"/>
          <p:cNvSpPr txBox="1"/>
          <p:nvPr/>
        </p:nvSpPr>
        <p:spPr>
          <a:xfrm>
            <a:off x="6385559" y="267980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No episode identity, belief, attention, job or query</a:t>
            </a:r>
          </a:p>
        </p:txBody>
      </p:sp>
      <p:sp>
        <p:nvSpPr>
          <p:cNvPr id="16" name="TextBox 15"/>
          <p:cNvSpPr txBox="1"/>
          <p:nvPr/>
        </p:nvSpPr>
        <p:spPr>
          <a:xfrm>
            <a:off x="6385559" y="293339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semantics</a:t>
            </a:r>
          </a:p>
        </p:txBody>
      </p:sp>
      <p:sp>
        <p:nvSpPr>
          <p:cNvPr id="17" name="Rounded Rectangle 16"/>
          <p:cNvSpPr/>
          <p:nvPr/>
        </p:nvSpPr>
        <p:spPr>
          <a:xfrm>
            <a:off x="6217920" y="3764279"/>
            <a:ext cx="5425440" cy="1447800"/>
          </a:xfrm>
          <a:prstGeom prst="roundRect">
            <a:avLst>
              <a:gd name="adj" fmla="val 6842"/>
            </a:avLst>
          </a:prstGeom>
          <a:solidFill>
            <a:srgbClr val="F3E7CE"/>
          </a:solidFill>
          <a:ln w="7620">
            <a:solidFill>
              <a:srgbClr val="A86A15"/>
            </a:solidFill>
          </a:ln>
          <a:effectLst/>
        </p:spPr>
        <p:txBody>
          <a:bodyPr rtlCol="0" anchor="ctr"/>
          <a:lstStyle/>
          <a:p>
            <a:pPr algn="ctr"/>
          </a:p>
        </p:txBody>
      </p:sp>
      <p:sp>
        <p:nvSpPr>
          <p:cNvPr id="18" name="TextBox 17"/>
          <p:cNvSpPr txBox="1"/>
          <p:nvPr/>
        </p:nvSpPr>
        <p:spPr>
          <a:xfrm>
            <a:off x="6385559" y="3931919"/>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A86A15"/>
                </a:solidFill>
                <a:latin typeface="DejaVu Sans"/>
              </a:rPr>
              <a:t>Distributed custody</a:t>
            </a:r>
          </a:p>
        </p:txBody>
      </p:sp>
      <p:sp>
        <p:nvSpPr>
          <p:cNvPr id="19" name="TextBox 18"/>
          <p:cNvSpPr txBox="1"/>
          <p:nvPr/>
        </p:nvSpPr>
        <p:spPr>
          <a:xfrm>
            <a:off x="6385559" y="431048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No validator network, indefinite retention or global</a:t>
            </a:r>
          </a:p>
        </p:txBody>
      </p:sp>
      <p:sp>
        <p:nvSpPr>
          <p:cNvPr id="20" name="TextBox 19"/>
          <p:cNvSpPr txBox="1"/>
          <p:nvPr/>
        </p:nvSpPr>
        <p:spPr>
          <a:xfrm>
            <a:off x="6385559" y="456407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availability claim</a:t>
            </a:r>
          </a:p>
        </p:txBody>
      </p:sp>
      <p:sp>
        <p:nvSpPr>
          <p:cNvPr id="21" name="Rounded Rectangle 20"/>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2" name="TextBox 21"/>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opaque-local-rs/1 · receipt detta-local-rs/1</a:t>
            </a:r>
          </a:p>
        </p:txBody>
      </p:sp>
      <p:cxnSp>
        <p:nvCxnSpPr>
          <p:cNvPr id="23" name="Connector 22"/>
          <p:cNvCxnSpPr/>
          <p:nvPr/>
        </p:nvCxnSpPr>
        <p:spPr>
          <a:xfrm>
            <a:off x="548640" y="6393180"/>
            <a:ext cx="11094720" cy="0"/>
          </a:xfrm>
          <a:prstGeom prst="line">
            <a:avLst/>
          </a:prstGeom>
          <a:ln w="7620">
            <a:solidFill>
              <a:srgbClr val="C9D2D4"/>
            </a:solidFill>
          </a:ln>
          <a:effectLst/>
        </p:spPr>
      </p:cxnSp>
      <p:sp>
        <p:nvSpPr>
          <p:cNvPr id="24" name="TextBox 23"/>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DA storage · M5 source bfb0ec8</a:t>
            </a:r>
          </a:p>
        </p:txBody>
      </p:sp>
      <p:sp>
        <p:nvSpPr>
          <p:cNvPr id="25" name="TextBox 24"/>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04 / CONTRACT</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The executable surface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These operations and implementation seams define the supported scope; versions and profiles remain explicit.</a:t>
            </a:r>
          </a:p>
        </p:txBody>
      </p:sp>
      <p:sp>
        <p:nvSpPr>
          <p:cNvPr id="5" name="TextBox 4"/>
          <p:cNvSpPr txBox="1"/>
          <p:nvPr/>
        </p:nvSpPr>
        <p:spPr>
          <a:xfrm>
            <a:off x="670560" y="1790700"/>
            <a:ext cx="28041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OPERATION / SEAM</a:t>
            </a:r>
          </a:p>
        </p:txBody>
      </p:sp>
      <p:sp>
        <p:nvSpPr>
          <p:cNvPr id="6" name="TextBox 5"/>
          <p:cNvSpPr txBox="1"/>
          <p:nvPr/>
        </p:nvSpPr>
        <p:spPr>
          <a:xfrm>
            <a:off x="3718560" y="1790700"/>
            <a:ext cx="38328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RESPONSIBILITY</a:t>
            </a:r>
          </a:p>
        </p:txBody>
      </p:sp>
      <p:sp>
        <p:nvSpPr>
          <p:cNvPr id="7" name="TextBox 6"/>
          <p:cNvSpPr txBox="1"/>
          <p:nvPr/>
        </p:nvSpPr>
        <p:spPr>
          <a:xfrm>
            <a:off x="7795259" y="1790700"/>
            <a:ext cx="37261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CONTRACT CONSEQUENCE</a:t>
            </a:r>
          </a:p>
        </p:txBody>
      </p:sp>
      <p:sp>
        <p:nvSpPr>
          <p:cNvPr id="8" name="Rounded Rectangle 7"/>
          <p:cNvSpPr/>
          <p:nvPr/>
        </p:nvSpPr>
        <p:spPr>
          <a:xfrm>
            <a:off x="548640" y="2110740"/>
            <a:ext cx="11094720" cy="792480"/>
          </a:xfrm>
          <a:prstGeom prst="roundRect">
            <a:avLst>
              <a:gd name="adj" fmla="val 5769"/>
            </a:avLst>
          </a:prstGeom>
          <a:solidFill>
            <a:srgbClr val="FFFFFF"/>
          </a:solidFill>
          <a:ln>
            <a:noFill/>
          </a:ln>
          <a:effectLst/>
        </p:spPr>
        <p:txBody>
          <a:bodyPr rtlCol="0" anchor="ctr"/>
          <a:lstStyle/>
          <a:p>
            <a:pPr algn="ctr"/>
          </a:p>
        </p:txBody>
      </p:sp>
      <p:sp>
        <p:nvSpPr>
          <p:cNvPr id="9" name="TextBox 8"/>
          <p:cNvSpPr txBox="1"/>
          <p:nvPr/>
        </p:nvSpPr>
        <p:spPr>
          <a:xfrm>
            <a:off x="670560" y="224028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put</a:t>
            </a:r>
          </a:p>
        </p:txBody>
      </p:sp>
      <p:sp>
        <p:nvSpPr>
          <p:cNvPr id="10" name="TextBox 9"/>
          <p:cNvSpPr txBox="1"/>
          <p:nvPr/>
        </p:nvSpPr>
        <p:spPr>
          <a:xfrm>
            <a:off x="3718560" y="224028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Persist opaque bytes at generic</a:t>
            </a:r>
          </a:p>
        </p:txBody>
      </p:sp>
      <p:sp>
        <p:nvSpPr>
          <p:cNvPr id="11" name="TextBox 10"/>
          <p:cNvSpPr txBox="1"/>
          <p:nvPr/>
        </p:nvSpPr>
        <p:spPr>
          <a:xfrm>
            <a:off x="3718560" y="248412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coordinates</a:t>
            </a:r>
          </a:p>
        </p:txBody>
      </p:sp>
      <p:sp>
        <p:nvSpPr>
          <p:cNvPr id="12" name="TextBox 11"/>
          <p:cNvSpPr txBox="1"/>
          <p:nvPr/>
        </p:nvSpPr>
        <p:spPr>
          <a:xfrm>
            <a:off x="7795259" y="224028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Returns a provider receipt</a:t>
            </a:r>
          </a:p>
        </p:txBody>
      </p:sp>
      <p:sp>
        <p:nvSpPr>
          <p:cNvPr id="13" name="Rounded Rectangle 12"/>
          <p:cNvSpPr/>
          <p:nvPr/>
        </p:nvSpPr>
        <p:spPr>
          <a:xfrm>
            <a:off x="548640" y="2941320"/>
            <a:ext cx="11094720" cy="792480"/>
          </a:xfrm>
          <a:prstGeom prst="roundRect">
            <a:avLst>
              <a:gd name="adj" fmla="val 5769"/>
            </a:avLst>
          </a:prstGeom>
          <a:solidFill>
            <a:srgbClr val="FFFFFF"/>
          </a:solidFill>
          <a:ln>
            <a:noFill/>
          </a:ln>
          <a:effectLst/>
        </p:spPr>
        <p:txBody>
          <a:bodyPr rtlCol="0" anchor="ctr"/>
          <a:lstStyle/>
          <a:p>
            <a:pPr algn="ctr"/>
          </a:p>
        </p:txBody>
      </p:sp>
      <p:sp>
        <p:nvSpPr>
          <p:cNvPr id="14" name="TextBox 13"/>
          <p:cNvSpPr txBox="1"/>
          <p:nvPr/>
        </p:nvSpPr>
        <p:spPr>
          <a:xfrm>
            <a:off x="670560" y="307086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get</a:t>
            </a:r>
          </a:p>
        </p:txBody>
      </p:sp>
      <p:sp>
        <p:nvSpPr>
          <p:cNvPr id="15" name="TextBox 14"/>
          <p:cNvSpPr txBox="1"/>
          <p:nvPr/>
        </p:nvSpPr>
        <p:spPr>
          <a:xfrm>
            <a:off x="3718560" y="307086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Recover and verify the requested bytes</a:t>
            </a:r>
          </a:p>
        </p:txBody>
      </p:sp>
      <p:sp>
        <p:nvSpPr>
          <p:cNvPr id="16" name="TextBox 15"/>
          <p:cNvSpPr txBox="1"/>
          <p:nvPr/>
        </p:nvSpPr>
        <p:spPr>
          <a:xfrm>
            <a:off x="7795259" y="307086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Unavailable/corrupt data fails</a:t>
            </a:r>
          </a:p>
        </p:txBody>
      </p:sp>
      <p:sp>
        <p:nvSpPr>
          <p:cNvPr id="17" name="TextBox 16"/>
          <p:cNvSpPr txBox="1"/>
          <p:nvPr/>
        </p:nvSpPr>
        <p:spPr>
          <a:xfrm>
            <a:off x="7795259" y="331470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explicitly</a:t>
            </a:r>
          </a:p>
        </p:txBody>
      </p:sp>
      <p:sp>
        <p:nvSpPr>
          <p:cNvPr id="18" name="Rounded Rectangle 17"/>
          <p:cNvSpPr/>
          <p:nvPr/>
        </p:nvSpPr>
        <p:spPr>
          <a:xfrm>
            <a:off x="548640" y="3771900"/>
            <a:ext cx="11094720" cy="792480"/>
          </a:xfrm>
          <a:prstGeom prst="roundRect">
            <a:avLst>
              <a:gd name="adj" fmla="val 5769"/>
            </a:avLst>
          </a:prstGeom>
          <a:solidFill>
            <a:srgbClr val="FFFFFF"/>
          </a:solidFill>
          <a:ln>
            <a:noFill/>
          </a:ln>
          <a:effectLst/>
        </p:spPr>
        <p:txBody>
          <a:bodyPr rtlCol="0" anchor="ctr"/>
          <a:lstStyle/>
          <a:p>
            <a:pPr algn="ctr"/>
          </a:p>
        </p:txBody>
      </p:sp>
      <p:sp>
        <p:nvSpPr>
          <p:cNvPr id="19" name="TextBox 18"/>
          <p:cNvSpPr txBox="1"/>
          <p:nvPr/>
        </p:nvSpPr>
        <p:spPr>
          <a:xfrm>
            <a:off x="670560" y="390144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availability</a:t>
            </a:r>
          </a:p>
        </p:txBody>
      </p:sp>
      <p:sp>
        <p:nvSpPr>
          <p:cNvPr id="20" name="TextBox 19"/>
          <p:cNvSpPr txBox="1"/>
          <p:nvPr/>
        </p:nvSpPr>
        <p:spPr>
          <a:xfrm>
            <a:off x="3718560" y="390144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Describe observed local availability</a:t>
            </a:r>
          </a:p>
        </p:txBody>
      </p:sp>
      <p:sp>
        <p:nvSpPr>
          <p:cNvPr id="21" name="TextBox 20"/>
          <p:cNvSpPr txBox="1"/>
          <p:nvPr/>
        </p:nvSpPr>
        <p:spPr>
          <a:xfrm>
            <a:off x="7795259" y="390144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Does not prove future retention</a:t>
            </a:r>
          </a:p>
        </p:txBody>
      </p:sp>
      <p:sp>
        <p:nvSpPr>
          <p:cNvPr id="22" name="Rounded Rectangle 21"/>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3" name="TextBox 22"/>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Local files and trusted host; recovery does not imply distributed durability.</a:t>
            </a:r>
          </a:p>
        </p:txBody>
      </p:sp>
      <p:cxnSp>
        <p:nvCxnSpPr>
          <p:cNvPr id="24" name="Connector 23"/>
          <p:cNvCxnSpPr/>
          <p:nvPr/>
        </p:nvCxnSpPr>
        <p:spPr>
          <a:xfrm>
            <a:off x="548640" y="6393180"/>
            <a:ext cx="11094720" cy="0"/>
          </a:xfrm>
          <a:prstGeom prst="line">
            <a:avLst/>
          </a:prstGeom>
          <a:ln w="7620">
            <a:solidFill>
              <a:srgbClr val="C9D2D4"/>
            </a:solidFill>
          </a:ln>
          <a:effectLst/>
        </p:spPr>
      </p:cxnSp>
      <p:sp>
        <p:nvSpPr>
          <p:cNvPr id="25" name="TextBox 24"/>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DA storage · M5 source bfb0ec8</a:t>
            </a:r>
          </a:p>
        </p:txBody>
      </p:sp>
      <p:sp>
        <p:nvSpPr>
          <p:cNvPr id="26" name="TextBox 25"/>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05 / CONCRETE BEHAVIOR</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A worked example through the boundary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REAL LOCAL PROVIDER · generated payload and injected missing files</a:t>
            </a:r>
          </a:p>
        </p:txBody>
      </p:sp>
      <p:sp>
        <p:nvSpPr>
          <p:cNvPr id="5" name="Rounded Rectangle 4"/>
          <p:cNvSpPr/>
          <p:nvPr/>
        </p:nvSpPr>
        <p:spPr>
          <a:xfrm>
            <a:off x="548640" y="2011680"/>
            <a:ext cx="2636520" cy="2468880"/>
          </a:xfrm>
          <a:prstGeom prst="roundRect">
            <a:avLst>
              <a:gd name="adj" fmla="val 4012"/>
            </a:avLst>
          </a:prstGeom>
          <a:solidFill>
            <a:srgbClr val="FFFFFF"/>
          </a:solidFill>
          <a:ln w="7620">
            <a:solidFill>
              <a:srgbClr val="007C78"/>
            </a:solidFill>
          </a:ln>
          <a:effectLst/>
        </p:spPr>
        <p:txBody>
          <a:bodyPr rtlCol="0" anchor="ctr"/>
          <a:lstStyle/>
          <a:p>
            <a:pPr algn="ctr"/>
          </a:p>
        </p:txBody>
      </p:sp>
      <p:sp>
        <p:nvSpPr>
          <p:cNvPr id="6" name="TextBox 5"/>
          <p:cNvSpPr txBox="1"/>
          <p:nvPr/>
        </p:nvSpPr>
        <p:spPr>
          <a:xfrm>
            <a:off x="7162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01 · STEP</a:t>
            </a:r>
          </a:p>
        </p:txBody>
      </p:sp>
      <p:sp>
        <p:nvSpPr>
          <p:cNvPr id="7" name="TextBox 6"/>
          <p:cNvSpPr txBox="1"/>
          <p:nvPr/>
        </p:nvSpPr>
        <p:spPr>
          <a:xfrm>
            <a:off x="7162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007C78"/>
                </a:solidFill>
                <a:latin typeface="DejaVu Sans"/>
              </a:rPr>
              <a:t>Write</a:t>
            </a:r>
          </a:p>
        </p:txBody>
      </p:sp>
      <p:sp>
        <p:nvSpPr>
          <p:cNvPr id="8" name="TextBox 7"/>
          <p:cNvSpPr txBox="1"/>
          <p:nvPr/>
        </p:nvSpPr>
        <p:spPr>
          <a:xfrm>
            <a:off x="7162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Store generated</a:t>
            </a:r>
          </a:p>
        </p:txBody>
      </p:sp>
      <p:sp>
        <p:nvSpPr>
          <p:cNvPr id="9" name="TextBox 8"/>
          <p:cNvSpPr txBox="1"/>
          <p:nvPr/>
        </p:nvSpPr>
        <p:spPr>
          <a:xfrm>
            <a:off x="7162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bytes via the real</a:t>
            </a:r>
          </a:p>
        </p:txBody>
      </p:sp>
      <p:sp>
        <p:nvSpPr>
          <p:cNvPr id="10" name="TextBox 9"/>
          <p:cNvSpPr txBox="1"/>
          <p:nvPr/>
        </p:nvSpPr>
        <p:spPr>
          <a:xfrm>
            <a:off x="7162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adapter.</a:t>
            </a:r>
          </a:p>
        </p:txBody>
      </p:sp>
      <p:cxnSp>
        <p:nvCxnSpPr>
          <p:cNvPr id="11" name="Connector 10"/>
          <p:cNvCxnSpPr/>
          <p:nvPr/>
        </p:nvCxnSpPr>
        <p:spPr>
          <a:xfrm>
            <a:off x="3185160" y="3238500"/>
            <a:ext cx="182880" cy="0"/>
          </a:xfrm>
          <a:prstGeom prst="line">
            <a:avLst/>
          </a:prstGeom>
          <a:ln w="15240">
            <a:solidFill>
              <a:srgbClr val="007C78"/>
            </a:solidFill>
          </a:ln>
          <a:effectLst/>
        </p:spPr>
      </p:cxnSp>
      <p:sp>
        <p:nvSpPr>
          <p:cNvPr id="12" name="Freeform 11"/>
          <p:cNvSpPr/>
          <p:nvPr/>
        </p:nvSpPr>
        <p:spPr>
          <a:xfrm>
            <a:off x="3268980" y="320040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13" name="Rounded Rectangle 12"/>
          <p:cNvSpPr/>
          <p:nvPr/>
        </p:nvSpPr>
        <p:spPr>
          <a:xfrm>
            <a:off x="3368040" y="2011680"/>
            <a:ext cx="2636520" cy="2468880"/>
          </a:xfrm>
          <a:prstGeom prst="roundRect">
            <a:avLst>
              <a:gd name="adj" fmla="val 4012"/>
            </a:avLst>
          </a:prstGeom>
          <a:solidFill>
            <a:srgbClr val="FFFFFF"/>
          </a:solidFill>
          <a:ln w="7620">
            <a:solidFill>
              <a:srgbClr val="007C78"/>
            </a:solidFill>
          </a:ln>
          <a:effectLst/>
        </p:spPr>
        <p:txBody>
          <a:bodyPr rtlCol="0" anchor="ctr"/>
          <a:lstStyle/>
          <a:p>
            <a:pPr algn="ctr"/>
          </a:p>
        </p:txBody>
      </p:sp>
      <p:sp>
        <p:nvSpPr>
          <p:cNvPr id="14" name="TextBox 13"/>
          <p:cNvSpPr txBox="1"/>
          <p:nvPr/>
        </p:nvSpPr>
        <p:spPr>
          <a:xfrm>
            <a:off x="3535679"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02 · STEP</a:t>
            </a:r>
          </a:p>
        </p:txBody>
      </p:sp>
      <p:sp>
        <p:nvSpPr>
          <p:cNvPr id="15" name="TextBox 14"/>
          <p:cNvSpPr txBox="1"/>
          <p:nvPr/>
        </p:nvSpPr>
        <p:spPr>
          <a:xfrm>
            <a:off x="3535679"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007C78"/>
                </a:solidFill>
                <a:latin typeface="DejaVu Sans"/>
              </a:rPr>
              <a:t>Remove</a:t>
            </a:r>
          </a:p>
        </p:txBody>
      </p:sp>
      <p:sp>
        <p:nvSpPr>
          <p:cNvPr id="16" name="TextBox 15"/>
          <p:cNvSpPr txBox="1"/>
          <p:nvPr/>
        </p:nvSpPr>
        <p:spPr>
          <a:xfrm>
            <a:off x="3535679"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Delete the cached</a:t>
            </a:r>
          </a:p>
        </p:txBody>
      </p:sp>
      <p:sp>
        <p:nvSpPr>
          <p:cNvPr id="17" name="TextBox 16"/>
          <p:cNvSpPr txBox="1"/>
          <p:nvPr/>
        </p:nvSpPr>
        <p:spPr>
          <a:xfrm>
            <a:off x="3535679"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payload and two</a:t>
            </a:r>
          </a:p>
        </p:txBody>
      </p:sp>
      <p:sp>
        <p:nvSpPr>
          <p:cNvPr id="18" name="TextBox 17"/>
          <p:cNvSpPr txBox="1"/>
          <p:nvPr/>
        </p:nvSpPr>
        <p:spPr>
          <a:xfrm>
            <a:off x="3535679"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erasure shares.</a:t>
            </a:r>
          </a:p>
        </p:txBody>
      </p:sp>
      <p:cxnSp>
        <p:nvCxnSpPr>
          <p:cNvPr id="19" name="Connector 18"/>
          <p:cNvCxnSpPr/>
          <p:nvPr/>
        </p:nvCxnSpPr>
        <p:spPr>
          <a:xfrm>
            <a:off x="6004559" y="3238500"/>
            <a:ext cx="182881" cy="0"/>
          </a:xfrm>
          <a:prstGeom prst="line">
            <a:avLst/>
          </a:prstGeom>
          <a:ln w="15240">
            <a:solidFill>
              <a:srgbClr val="007C78"/>
            </a:solidFill>
          </a:ln>
          <a:effectLst/>
        </p:spPr>
      </p:cxnSp>
      <p:sp>
        <p:nvSpPr>
          <p:cNvPr id="20" name="Freeform 19"/>
          <p:cNvSpPr/>
          <p:nvPr/>
        </p:nvSpPr>
        <p:spPr>
          <a:xfrm>
            <a:off x="6088380" y="320040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21" name="Rounded Rectangle 20"/>
          <p:cNvSpPr/>
          <p:nvPr/>
        </p:nvSpPr>
        <p:spPr>
          <a:xfrm>
            <a:off x="6187440" y="2011680"/>
            <a:ext cx="2636520" cy="2468880"/>
          </a:xfrm>
          <a:prstGeom prst="roundRect">
            <a:avLst>
              <a:gd name="adj" fmla="val 4012"/>
            </a:avLst>
          </a:prstGeom>
          <a:solidFill>
            <a:srgbClr val="FFFFFF"/>
          </a:solidFill>
          <a:ln w="7620">
            <a:solidFill>
              <a:srgbClr val="007C78"/>
            </a:solidFill>
          </a:ln>
          <a:effectLst/>
        </p:spPr>
        <p:txBody>
          <a:bodyPr rtlCol="0" anchor="ctr"/>
          <a:lstStyle/>
          <a:p>
            <a:pPr algn="ctr"/>
          </a:p>
        </p:txBody>
      </p:sp>
      <p:sp>
        <p:nvSpPr>
          <p:cNvPr id="22" name="TextBox 21"/>
          <p:cNvSpPr txBox="1"/>
          <p:nvPr/>
        </p:nvSpPr>
        <p:spPr>
          <a:xfrm>
            <a:off x="63550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03 · STEP</a:t>
            </a:r>
          </a:p>
        </p:txBody>
      </p:sp>
      <p:sp>
        <p:nvSpPr>
          <p:cNvPr id="23" name="TextBox 22"/>
          <p:cNvSpPr txBox="1"/>
          <p:nvPr/>
        </p:nvSpPr>
        <p:spPr>
          <a:xfrm>
            <a:off x="63550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007C78"/>
                </a:solidFill>
                <a:latin typeface="DejaVu Sans"/>
              </a:rPr>
              <a:t>Recover</a:t>
            </a:r>
          </a:p>
        </p:txBody>
      </p:sp>
      <p:sp>
        <p:nvSpPr>
          <p:cNvPr id="24" name="TextBox 23"/>
          <p:cNvSpPr txBox="1"/>
          <p:nvPr/>
        </p:nvSpPr>
        <p:spPr>
          <a:xfrm>
            <a:off x="63550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Reconstruct identical</a:t>
            </a:r>
          </a:p>
        </p:txBody>
      </p:sp>
      <p:sp>
        <p:nvSpPr>
          <p:cNvPr id="25" name="TextBox 24"/>
          <p:cNvSpPr txBox="1"/>
          <p:nvPr/>
        </p:nvSpPr>
        <p:spPr>
          <a:xfrm>
            <a:off x="63550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bytes from four</a:t>
            </a:r>
          </a:p>
        </p:txBody>
      </p:sp>
      <p:sp>
        <p:nvSpPr>
          <p:cNvPr id="26" name="TextBox 25"/>
          <p:cNvSpPr txBox="1"/>
          <p:nvPr/>
        </p:nvSpPr>
        <p:spPr>
          <a:xfrm>
            <a:off x="63550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remaining shares.</a:t>
            </a:r>
          </a:p>
        </p:txBody>
      </p:sp>
      <p:cxnSp>
        <p:nvCxnSpPr>
          <p:cNvPr id="27" name="Connector 26"/>
          <p:cNvCxnSpPr/>
          <p:nvPr/>
        </p:nvCxnSpPr>
        <p:spPr>
          <a:xfrm>
            <a:off x="8823960" y="3238500"/>
            <a:ext cx="182880" cy="0"/>
          </a:xfrm>
          <a:prstGeom prst="line">
            <a:avLst/>
          </a:prstGeom>
          <a:ln w="15240">
            <a:solidFill>
              <a:srgbClr val="007C78"/>
            </a:solidFill>
          </a:ln>
          <a:effectLst/>
        </p:spPr>
      </p:cxnSp>
      <p:sp>
        <p:nvSpPr>
          <p:cNvPr id="28" name="Freeform 27"/>
          <p:cNvSpPr/>
          <p:nvPr/>
        </p:nvSpPr>
        <p:spPr>
          <a:xfrm>
            <a:off x="8907780" y="320040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29" name="Rounded Rectangle 28"/>
          <p:cNvSpPr/>
          <p:nvPr/>
        </p:nvSpPr>
        <p:spPr>
          <a:xfrm>
            <a:off x="9006840" y="2011680"/>
            <a:ext cx="2636520" cy="2468880"/>
          </a:xfrm>
          <a:prstGeom prst="roundRect">
            <a:avLst>
              <a:gd name="adj" fmla="val 4012"/>
            </a:avLst>
          </a:prstGeom>
          <a:solidFill>
            <a:srgbClr val="FFFFFF"/>
          </a:solidFill>
          <a:ln w="7620">
            <a:solidFill>
              <a:srgbClr val="007C78"/>
            </a:solidFill>
          </a:ln>
          <a:effectLst/>
        </p:spPr>
        <p:txBody>
          <a:bodyPr rtlCol="0" anchor="ctr"/>
          <a:lstStyle/>
          <a:p>
            <a:pPr algn="ctr"/>
          </a:p>
        </p:txBody>
      </p:sp>
      <p:sp>
        <p:nvSpPr>
          <p:cNvPr id="30" name="TextBox 29"/>
          <p:cNvSpPr txBox="1"/>
          <p:nvPr/>
        </p:nvSpPr>
        <p:spPr>
          <a:xfrm>
            <a:off x="91744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04 · STEP</a:t>
            </a:r>
          </a:p>
        </p:txBody>
      </p:sp>
      <p:sp>
        <p:nvSpPr>
          <p:cNvPr id="31" name="TextBox 30"/>
          <p:cNvSpPr txBox="1"/>
          <p:nvPr/>
        </p:nvSpPr>
        <p:spPr>
          <a:xfrm>
            <a:off x="91744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007C78"/>
                </a:solidFill>
                <a:latin typeface="DejaVu Sans"/>
              </a:rPr>
              <a:t>Refuse</a:t>
            </a:r>
          </a:p>
        </p:txBody>
      </p:sp>
      <p:sp>
        <p:nvSpPr>
          <p:cNvPr id="32" name="TextBox 31"/>
          <p:cNvSpPr txBox="1"/>
          <p:nvPr/>
        </p:nvSpPr>
        <p:spPr>
          <a:xfrm>
            <a:off x="91744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With a third share</a:t>
            </a:r>
          </a:p>
        </p:txBody>
      </p:sp>
      <p:sp>
        <p:nvSpPr>
          <p:cNvPr id="33" name="TextBox 32"/>
          <p:cNvSpPr txBox="1"/>
          <p:nvPr/>
        </p:nvSpPr>
        <p:spPr>
          <a:xfrm>
            <a:off x="91744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missing, report</a:t>
            </a:r>
          </a:p>
        </p:txBody>
      </p:sp>
      <p:sp>
        <p:nvSpPr>
          <p:cNvPr id="34" name="TextBox 33"/>
          <p:cNvSpPr txBox="1"/>
          <p:nvPr/>
        </p:nvSpPr>
        <p:spPr>
          <a:xfrm>
            <a:off x="91744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unavailable.</a:t>
            </a:r>
          </a:p>
        </p:txBody>
      </p:sp>
      <p:sp>
        <p:nvSpPr>
          <p:cNvPr id="35" name="Rounded Rectangle 34"/>
          <p:cNvSpPr/>
          <p:nvPr/>
        </p:nvSpPr>
        <p:spPr>
          <a:xfrm>
            <a:off x="548640" y="4861560"/>
            <a:ext cx="11094720" cy="853440"/>
          </a:xfrm>
          <a:prstGeom prst="roundRect">
            <a:avLst>
              <a:gd name="adj" fmla="val 11607"/>
            </a:avLst>
          </a:prstGeom>
          <a:solidFill>
            <a:srgbClr val="DCEFE8"/>
          </a:solidFill>
          <a:ln w="7620">
            <a:solidFill>
              <a:srgbClr val="007C78"/>
            </a:solidFill>
          </a:ln>
          <a:effectLst/>
        </p:spPr>
        <p:txBody>
          <a:bodyPr rtlCol="0" anchor="ctr"/>
          <a:lstStyle/>
          <a:p>
            <a:pPr algn="ctr"/>
          </a:p>
        </p:txBody>
      </p:sp>
      <p:sp>
        <p:nvSpPr>
          <p:cNvPr id="36" name="TextBox 35"/>
          <p:cNvSpPr txBox="1"/>
          <p:nvPr/>
        </p:nvSpPr>
        <p:spPr>
          <a:xfrm>
            <a:off x="716280" y="502920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007C78"/>
                </a:solidFill>
                <a:latin typeface="DejaVu Sans"/>
              </a:rPr>
              <a:t>What the example establishes</a:t>
            </a:r>
          </a:p>
        </p:txBody>
      </p:sp>
      <p:sp>
        <p:nvSpPr>
          <p:cNvPr id="37" name="TextBox 36"/>
          <p:cNvSpPr txBox="1"/>
          <p:nvPr/>
        </p:nvSpPr>
        <p:spPr>
          <a:xfrm>
            <a:off x="716280" y="5378500"/>
            <a:ext cx="1075944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Availability has a failure model. Preserve it in every receipt.</a:t>
            </a:r>
          </a:p>
        </p:txBody>
      </p:sp>
      <p:cxnSp>
        <p:nvCxnSpPr>
          <p:cNvPr id="38" name="Connector 37"/>
          <p:cNvCxnSpPr/>
          <p:nvPr/>
        </p:nvCxnSpPr>
        <p:spPr>
          <a:xfrm>
            <a:off x="548640" y="6393180"/>
            <a:ext cx="11094720" cy="0"/>
          </a:xfrm>
          <a:prstGeom prst="line">
            <a:avLst/>
          </a:prstGeom>
          <a:ln w="7620">
            <a:solidFill>
              <a:srgbClr val="C9D2D4"/>
            </a:solidFill>
          </a:ln>
          <a:effectLst/>
        </p:spPr>
      </p:cxnSp>
      <p:sp>
        <p:nvSpPr>
          <p:cNvPr id="39" name="TextBox 38"/>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DA storage · M5 source bfb0ec8</a:t>
            </a:r>
          </a:p>
        </p:txBody>
      </p:sp>
      <p:sp>
        <p:nvSpPr>
          <p:cNvPr id="40" name="TextBox 39"/>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06 / BEHAVIORAL GUARANTEES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Four invariants to preserve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Each statement is bounded by the selected profile, authority model and tested failure model.</a:t>
            </a:r>
          </a:p>
        </p:txBody>
      </p:sp>
      <p:sp>
        <p:nvSpPr>
          <p:cNvPr id="5" name="Rounded Rectangle 4"/>
          <p:cNvSpPr/>
          <p:nvPr/>
        </p:nvSpPr>
        <p:spPr>
          <a:xfrm>
            <a:off x="548640" y="1866900"/>
            <a:ext cx="5425440" cy="1623060"/>
          </a:xfrm>
          <a:prstGeom prst="roundRect">
            <a:avLst>
              <a:gd name="adj" fmla="val 6103"/>
            </a:avLst>
          </a:prstGeom>
          <a:solidFill>
            <a:srgbClr val="FFFFFF"/>
          </a:solidFill>
          <a:ln w="7620">
            <a:solidFill>
              <a:srgbClr val="007C78"/>
            </a:solidFill>
          </a:ln>
          <a:effectLst/>
        </p:spPr>
        <p:txBody>
          <a:bodyPr rtlCol="0" anchor="ctr"/>
          <a:lstStyle/>
          <a:p>
            <a:pPr algn="ctr"/>
          </a:p>
        </p:txBody>
      </p:sp>
      <p:sp>
        <p:nvSpPr>
          <p:cNvPr id="6" name="TextBox 5"/>
          <p:cNvSpPr txBox="1"/>
          <p:nvPr/>
        </p:nvSpPr>
        <p:spPr>
          <a:xfrm>
            <a:off x="716280" y="2034539"/>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I1</a:t>
            </a:r>
          </a:p>
        </p:txBody>
      </p:sp>
      <p:sp>
        <p:nvSpPr>
          <p:cNvPr id="7" name="TextBox 6"/>
          <p:cNvSpPr txBox="1"/>
          <p:nvPr/>
        </p:nvSpPr>
        <p:spPr>
          <a:xfrm>
            <a:off x="716280" y="2270760"/>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007C78"/>
                </a:solidFill>
                <a:latin typeface="DejaVu Sans"/>
              </a:rPr>
              <a:t>Opaque boundary</a:t>
            </a:r>
          </a:p>
        </p:txBody>
      </p:sp>
      <p:sp>
        <p:nvSpPr>
          <p:cNvPr id="8" name="TextBox 7"/>
          <p:cNvSpPr txBox="1"/>
          <p:nvPr/>
        </p:nvSpPr>
        <p:spPr>
          <a:xfrm>
            <a:off x="716280" y="2639567"/>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No domain identifiers or numerical meaning</a:t>
            </a:r>
          </a:p>
        </p:txBody>
      </p:sp>
      <p:sp>
        <p:nvSpPr>
          <p:cNvPr id="9" name="TextBox 8"/>
          <p:cNvSpPr txBox="1"/>
          <p:nvPr/>
        </p:nvSpPr>
        <p:spPr>
          <a:xfrm>
            <a:off x="716280" y="290291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enter the DA core.</a:t>
            </a:r>
          </a:p>
        </p:txBody>
      </p:sp>
      <p:sp>
        <p:nvSpPr>
          <p:cNvPr id="10" name="Rounded Rectangle 9"/>
          <p:cNvSpPr/>
          <p:nvPr/>
        </p:nvSpPr>
        <p:spPr>
          <a:xfrm>
            <a:off x="6217920" y="1866900"/>
            <a:ext cx="5425440" cy="1623060"/>
          </a:xfrm>
          <a:prstGeom prst="roundRect">
            <a:avLst>
              <a:gd name="adj" fmla="val 6103"/>
            </a:avLst>
          </a:prstGeom>
          <a:solidFill>
            <a:srgbClr val="FFFFFF"/>
          </a:solidFill>
          <a:ln w="7620">
            <a:solidFill>
              <a:srgbClr val="007C78"/>
            </a:solidFill>
          </a:ln>
          <a:effectLst/>
        </p:spPr>
        <p:txBody>
          <a:bodyPr rtlCol="0" anchor="ctr"/>
          <a:lstStyle/>
          <a:p>
            <a:pPr algn="ctr"/>
          </a:p>
        </p:txBody>
      </p:sp>
      <p:sp>
        <p:nvSpPr>
          <p:cNvPr id="11" name="TextBox 10"/>
          <p:cNvSpPr txBox="1"/>
          <p:nvPr/>
        </p:nvSpPr>
        <p:spPr>
          <a:xfrm>
            <a:off x="6385559" y="2034539"/>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I2</a:t>
            </a:r>
          </a:p>
        </p:txBody>
      </p:sp>
      <p:sp>
        <p:nvSpPr>
          <p:cNvPr id="12" name="TextBox 11"/>
          <p:cNvSpPr txBox="1"/>
          <p:nvPr/>
        </p:nvSpPr>
        <p:spPr>
          <a:xfrm>
            <a:off x="6385559" y="2270760"/>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007C78"/>
                </a:solidFill>
                <a:latin typeface="DejaVu Sans"/>
              </a:rPr>
              <a:t>Exact bytes</a:t>
            </a:r>
          </a:p>
        </p:txBody>
      </p:sp>
      <p:sp>
        <p:nvSpPr>
          <p:cNvPr id="13" name="TextBox 12"/>
          <p:cNvSpPr txBox="1"/>
          <p:nvPr/>
        </p:nvSpPr>
        <p:spPr>
          <a:xfrm>
            <a:off x="6385559" y="2639567"/>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Successful retrieval must match the committed</a:t>
            </a:r>
          </a:p>
        </p:txBody>
      </p:sp>
      <p:sp>
        <p:nvSpPr>
          <p:cNvPr id="14" name="TextBox 13"/>
          <p:cNvSpPr txBox="1"/>
          <p:nvPr/>
        </p:nvSpPr>
        <p:spPr>
          <a:xfrm>
            <a:off x="6385559" y="290291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payload identity.</a:t>
            </a:r>
          </a:p>
        </p:txBody>
      </p:sp>
      <p:sp>
        <p:nvSpPr>
          <p:cNvPr id="15" name="Rounded Rectangle 14"/>
          <p:cNvSpPr/>
          <p:nvPr/>
        </p:nvSpPr>
        <p:spPr>
          <a:xfrm>
            <a:off x="548640" y="3718560"/>
            <a:ext cx="5425440" cy="1623060"/>
          </a:xfrm>
          <a:prstGeom prst="roundRect">
            <a:avLst>
              <a:gd name="adj" fmla="val 6103"/>
            </a:avLst>
          </a:prstGeom>
          <a:solidFill>
            <a:srgbClr val="FFFFFF"/>
          </a:solidFill>
          <a:ln w="7620">
            <a:solidFill>
              <a:srgbClr val="007C78"/>
            </a:solidFill>
          </a:ln>
          <a:effectLst/>
        </p:spPr>
        <p:txBody>
          <a:bodyPr rtlCol="0" anchor="ctr"/>
          <a:lstStyle/>
          <a:p>
            <a:pPr algn="ctr"/>
          </a:p>
        </p:txBody>
      </p:sp>
      <p:sp>
        <p:nvSpPr>
          <p:cNvPr id="16" name="TextBox 15"/>
          <p:cNvSpPr txBox="1"/>
          <p:nvPr/>
        </p:nvSpPr>
        <p:spPr>
          <a:xfrm>
            <a:off x="716280" y="3886200"/>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I3</a:t>
            </a:r>
          </a:p>
        </p:txBody>
      </p:sp>
      <p:sp>
        <p:nvSpPr>
          <p:cNvPr id="17" name="TextBox 16"/>
          <p:cNvSpPr txBox="1"/>
          <p:nvPr/>
        </p:nvSpPr>
        <p:spPr>
          <a:xfrm>
            <a:off x="716280" y="4122419"/>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007C78"/>
                </a:solidFill>
                <a:latin typeface="DejaVu Sans"/>
              </a:rPr>
              <a:t>Honest availability</a:t>
            </a:r>
          </a:p>
        </p:txBody>
      </p:sp>
      <p:sp>
        <p:nvSpPr>
          <p:cNvPr id="18" name="TextBox 17"/>
          <p:cNvSpPr txBox="1"/>
          <p:nvPr/>
        </p:nvSpPr>
        <p:spPr>
          <a:xfrm>
            <a:off x="716280" y="4491228"/>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Insufficient reconstruction material is not a</a:t>
            </a:r>
          </a:p>
        </p:txBody>
      </p:sp>
      <p:sp>
        <p:nvSpPr>
          <p:cNvPr id="19" name="TextBox 18"/>
          <p:cNvSpPr txBox="1"/>
          <p:nvPr/>
        </p:nvSpPr>
        <p:spPr>
          <a:xfrm>
            <a:off x="716280" y="475457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successful read.</a:t>
            </a:r>
          </a:p>
        </p:txBody>
      </p:sp>
      <p:sp>
        <p:nvSpPr>
          <p:cNvPr id="20" name="Rounded Rectangle 19"/>
          <p:cNvSpPr/>
          <p:nvPr/>
        </p:nvSpPr>
        <p:spPr>
          <a:xfrm>
            <a:off x="6217920" y="3718560"/>
            <a:ext cx="5425440" cy="1623060"/>
          </a:xfrm>
          <a:prstGeom prst="roundRect">
            <a:avLst>
              <a:gd name="adj" fmla="val 6103"/>
            </a:avLst>
          </a:prstGeom>
          <a:solidFill>
            <a:srgbClr val="FFFFFF"/>
          </a:solidFill>
          <a:ln w="7620">
            <a:solidFill>
              <a:srgbClr val="007C78"/>
            </a:solidFill>
          </a:ln>
          <a:effectLst/>
        </p:spPr>
        <p:txBody>
          <a:bodyPr rtlCol="0" anchor="ctr"/>
          <a:lstStyle/>
          <a:p>
            <a:pPr algn="ctr"/>
          </a:p>
        </p:txBody>
      </p:sp>
      <p:sp>
        <p:nvSpPr>
          <p:cNvPr id="21" name="TextBox 20"/>
          <p:cNvSpPr txBox="1"/>
          <p:nvPr/>
        </p:nvSpPr>
        <p:spPr>
          <a:xfrm>
            <a:off x="6385559" y="3886200"/>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I4</a:t>
            </a:r>
          </a:p>
        </p:txBody>
      </p:sp>
      <p:sp>
        <p:nvSpPr>
          <p:cNvPr id="22" name="TextBox 21"/>
          <p:cNvSpPr txBox="1"/>
          <p:nvPr/>
        </p:nvSpPr>
        <p:spPr>
          <a:xfrm>
            <a:off x="6385559" y="4122419"/>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007C78"/>
                </a:solidFill>
                <a:latin typeface="DejaVu Sans"/>
              </a:rPr>
              <a:t>Explicit evidence</a:t>
            </a:r>
          </a:p>
        </p:txBody>
      </p:sp>
      <p:sp>
        <p:nvSpPr>
          <p:cNvPr id="23" name="TextBox 22"/>
          <p:cNvSpPr txBox="1"/>
          <p:nvPr/>
        </p:nvSpPr>
        <p:spPr>
          <a:xfrm>
            <a:off x="6385559" y="4491228"/>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A local restart receipt never becomes a custody</a:t>
            </a:r>
          </a:p>
        </p:txBody>
      </p:sp>
      <p:sp>
        <p:nvSpPr>
          <p:cNvPr id="24" name="TextBox 23"/>
          <p:cNvSpPr txBox="1"/>
          <p:nvPr/>
        </p:nvSpPr>
        <p:spPr>
          <a:xfrm>
            <a:off x="6385559" y="475457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certificate.</a:t>
            </a:r>
          </a:p>
        </p:txBody>
      </p:sp>
      <p:cxnSp>
        <p:nvCxnSpPr>
          <p:cNvPr id="25" name="Connector 24"/>
          <p:cNvCxnSpPr/>
          <p:nvPr/>
        </p:nvCxnSpPr>
        <p:spPr>
          <a:xfrm>
            <a:off x="548640" y="6393180"/>
            <a:ext cx="11094720" cy="0"/>
          </a:xfrm>
          <a:prstGeom prst="line">
            <a:avLst/>
          </a:prstGeom>
          <a:ln w="7620">
            <a:solidFill>
              <a:srgbClr val="C9D2D4"/>
            </a:solidFill>
          </a:ln>
          <a:effectLst/>
        </p:spPr>
      </p:cxnSp>
      <p:sp>
        <p:nvSpPr>
          <p:cNvPr id="26" name="TextBox 2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DA storage · M5 source bfb0ec8</a:t>
            </a:r>
          </a:p>
        </p:txBody>
      </p:sp>
      <p:sp>
        <p:nvSpPr>
          <p:cNvPr id="27" name="TextBox 2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07 / RECOVERY AND REFUSAL</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Failure is part of the interface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 lost response, a missing prerequisite and a deliberate refusal require different interpretations.</a:t>
            </a:r>
          </a:p>
        </p:txBody>
      </p:sp>
      <p:sp>
        <p:nvSpPr>
          <p:cNvPr id="5" name="TextBox 4"/>
          <p:cNvSpPr txBox="1"/>
          <p:nvPr/>
        </p:nvSpPr>
        <p:spPr>
          <a:xfrm>
            <a:off x="670560" y="1790700"/>
            <a:ext cx="32232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BOUNDARY / TRIGGER</a:t>
            </a:r>
          </a:p>
        </p:txBody>
      </p:sp>
      <p:sp>
        <p:nvSpPr>
          <p:cNvPr id="6" name="TextBox 5"/>
          <p:cNvSpPr txBox="1"/>
          <p:nvPr/>
        </p:nvSpPr>
        <p:spPr>
          <a:xfrm>
            <a:off x="4137660" y="1790700"/>
            <a:ext cx="42138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OWNER-AUTHORITATIVE OUTCOME</a:t>
            </a:r>
          </a:p>
        </p:txBody>
      </p:sp>
      <p:sp>
        <p:nvSpPr>
          <p:cNvPr id="7" name="TextBox 6"/>
          <p:cNvSpPr txBox="1"/>
          <p:nvPr/>
        </p:nvSpPr>
        <p:spPr>
          <a:xfrm>
            <a:off x="8595360" y="1790700"/>
            <a:ext cx="29260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EVIDENCE / LIMITATION</a:t>
            </a:r>
          </a:p>
        </p:txBody>
      </p:sp>
      <p:sp>
        <p:nvSpPr>
          <p:cNvPr id="8" name="Rounded Rectangle 7"/>
          <p:cNvSpPr/>
          <p:nvPr/>
        </p:nvSpPr>
        <p:spPr>
          <a:xfrm>
            <a:off x="548640" y="2110740"/>
            <a:ext cx="11094720" cy="1066800"/>
          </a:xfrm>
          <a:prstGeom prst="roundRect">
            <a:avLst>
              <a:gd name="adj" fmla="val 4285"/>
            </a:avLst>
          </a:prstGeom>
          <a:solidFill>
            <a:srgbClr val="FFFFFF"/>
          </a:solidFill>
          <a:ln>
            <a:noFill/>
          </a:ln>
          <a:effectLst/>
        </p:spPr>
        <p:txBody>
          <a:bodyPr rtlCol="0" anchor="ctr"/>
          <a:lstStyle/>
          <a:p>
            <a:pPr algn="ctr"/>
          </a:p>
        </p:txBody>
      </p:sp>
      <p:sp>
        <p:nvSpPr>
          <p:cNvPr id="9" name="TextBox 8"/>
          <p:cNvSpPr txBox="1"/>
          <p:nvPr/>
        </p:nvSpPr>
        <p:spPr>
          <a:xfrm>
            <a:off x="670560" y="224028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Missing cache + two shares</a:t>
            </a:r>
          </a:p>
        </p:txBody>
      </p:sp>
      <p:sp>
        <p:nvSpPr>
          <p:cNvPr id="10" name="TextBox 9"/>
          <p:cNvSpPr txBox="1"/>
          <p:nvPr/>
        </p:nvSpPr>
        <p:spPr>
          <a:xfrm>
            <a:off x="4137660" y="224028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Four of six shares recover the exact</a:t>
            </a:r>
          </a:p>
        </p:txBody>
      </p:sp>
      <p:sp>
        <p:nvSpPr>
          <p:cNvPr id="11" name="TextBox 10"/>
          <p:cNvSpPr txBox="1"/>
          <p:nvPr/>
        </p:nvSpPr>
        <p:spPr>
          <a:xfrm>
            <a:off x="4137660" y="248412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payload.</a:t>
            </a:r>
          </a:p>
        </p:txBody>
      </p:sp>
      <p:sp>
        <p:nvSpPr>
          <p:cNvPr id="12" name="TextBox 11"/>
          <p:cNvSpPr txBox="1"/>
          <p:nvPr/>
        </p:nvSpPr>
        <p:spPr>
          <a:xfrm>
            <a:off x="8595360" y="224028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Reconstruction test</a:t>
            </a:r>
          </a:p>
        </p:txBody>
      </p:sp>
      <p:sp>
        <p:nvSpPr>
          <p:cNvPr id="13" name="Rounded Rectangle 12"/>
          <p:cNvSpPr/>
          <p:nvPr/>
        </p:nvSpPr>
        <p:spPr>
          <a:xfrm>
            <a:off x="548640" y="3215640"/>
            <a:ext cx="11094720" cy="1066800"/>
          </a:xfrm>
          <a:prstGeom prst="roundRect">
            <a:avLst>
              <a:gd name="adj" fmla="val 4285"/>
            </a:avLst>
          </a:prstGeom>
          <a:solidFill>
            <a:srgbClr val="FFFFFF"/>
          </a:solidFill>
          <a:ln>
            <a:noFill/>
          </a:ln>
          <a:effectLst/>
        </p:spPr>
        <p:txBody>
          <a:bodyPr rtlCol="0" anchor="ctr"/>
          <a:lstStyle/>
          <a:p>
            <a:pPr algn="ctr"/>
          </a:p>
        </p:txBody>
      </p:sp>
      <p:sp>
        <p:nvSpPr>
          <p:cNvPr id="14" name="TextBox 13"/>
          <p:cNvSpPr txBox="1"/>
          <p:nvPr/>
        </p:nvSpPr>
        <p:spPr>
          <a:xfrm>
            <a:off x="670560" y="3345179"/>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Three missing shares /</a:t>
            </a:r>
          </a:p>
        </p:txBody>
      </p:sp>
      <p:sp>
        <p:nvSpPr>
          <p:cNvPr id="15" name="TextBox 14"/>
          <p:cNvSpPr txBox="1"/>
          <p:nvPr/>
        </p:nvSpPr>
        <p:spPr>
          <a:xfrm>
            <a:off x="670560" y="3589019"/>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corruption</a:t>
            </a:r>
          </a:p>
        </p:txBody>
      </p:sp>
      <p:sp>
        <p:nvSpPr>
          <p:cNvPr id="16" name="TextBox 15"/>
          <p:cNvSpPr txBox="1"/>
          <p:nvPr/>
        </p:nvSpPr>
        <p:spPr>
          <a:xfrm>
            <a:off x="4137660" y="3345179"/>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Fail explicitly; do not return fabricated</a:t>
            </a:r>
          </a:p>
        </p:txBody>
      </p:sp>
      <p:sp>
        <p:nvSpPr>
          <p:cNvPr id="17" name="TextBox 16"/>
          <p:cNvSpPr txBox="1"/>
          <p:nvPr/>
        </p:nvSpPr>
        <p:spPr>
          <a:xfrm>
            <a:off x="4137660" y="3589019"/>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bytes.</a:t>
            </a:r>
          </a:p>
        </p:txBody>
      </p:sp>
      <p:sp>
        <p:nvSpPr>
          <p:cNvPr id="18" name="TextBox 17"/>
          <p:cNvSpPr txBox="1"/>
          <p:nvPr/>
        </p:nvSpPr>
        <p:spPr>
          <a:xfrm>
            <a:off x="8595360" y="3345179"/>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Negative storage test</a:t>
            </a:r>
          </a:p>
        </p:txBody>
      </p:sp>
      <p:sp>
        <p:nvSpPr>
          <p:cNvPr id="19" name="Rounded Rectangle 18"/>
          <p:cNvSpPr/>
          <p:nvPr/>
        </p:nvSpPr>
        <p:spPr>
          <a:xfrm>
            <a:off x="548640" y="4320540"/>
            <a:ext cx="11094720" cy="1066800"/>
          </a:xfrm>
          <a:prstGeom prst="roundRect">
            <a:avLst>
              <a:gd name="adj" fmla="val 4285"/>
            </a:avLst>
          </a:prstGeom>
          <a:solidFill>
            <a:srgbClr val="FFFFFF"/>
          </a:solidFill>
          <a:ln>
            <a:noFill/>
          </a:ln>
          <a:effectLst/>
        </p:spPr>
        <p:txBody>
          <a:bodyPr rtlCol="0" anchor="ctr"/>
          <a:lstStyle/>
          <a:p>
            <a:pPr algn="ctr"/>
          </a:p>
        </p:txBody>
      </p:sp>
      <p:sp>
        <p:nvSpPr>
          <p:cNvPr id="20" name="TextBox 19"/>
          <p:cNvSpPr txBox="1"/>
          <p:nvPr/>
        </p:nvSpPr>
        <p:spPr>
          <a:xfrm>
            <a:off x="670560" y="445008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Process restart</a:t>
            </a:r>
          </a:p>
        </p:txBody>
      </p:sp>
      <p:sp>
        <p:nvSpPr>
          <p:cNvPr id="21" name="TextBox 20"/>
          <p:cNvSpPr txBox="1"/>
          <p:nvPr/>
        </p:nvSpPr>
        <p:spPr>
          <a:xfrm>
            <a:off x="4137660" y="445008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Reopen local files under the same profile.</a:t>
            </a:r>
          </a:p>
        </p:txBody>
      </p:sp>
      <p:sp>
        <p:nvSpPr>
          <p:cNvPr id="22" name="TextBox 21"/>
          <p:cNvSpPr txBox="1"/>
          <p:nvPr/>
        </p:nvSpPr>
        <p:spPr>
          <a:xfrm>
            <a:off x="8595360" y="445008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Intact-file scope only</a:t>
            </a:r>
          </a:p>
        </p:txBody>
      </p:sp>
      <p:sp>
        <p:nvSpPr>
          <p:cNvPr id="23" name="Rounded Rectangle 22"/>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4" name="TextBox 23"/>
          <p:cNvSpPr txBox="1"/>
          <p:nvPr/>
        </p:nvSpPr>
        <p:spPr>
          <a:xfrm>
            <a:off x="716280" y="5905500"/>
            <a:ext cx="107442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Recovery evidence covers same-host process termination with intact files; it does not prove power-loss durability.</a:t>
            </a:r>
          </a:p>
        </p:txBody>
      </p:sp>
      <p:cxnSp>
        <p:nvCxnSpPr>
          <p:cNvPr id="25" name="Connector 24"/>
          <p:cNvCxnSpPr/>
          <p:nvPr/>
        </p:nvCxnSpPr>
        <p:spPr>
          <a:xfrm>
            <a:off x="548640" y="6393180"/>
            <a:ext cx="11094720" cy="0"/>
          </a:xfrm>
          <a:prstGeom prst="line">
            <a:avLst/>
          </a:prstGeom>
          <a:ln w="7620">
            <a:solidFill>
              <a:srgbClr val="C9D2D4"/>
            </a:solidFill>
          </a:ln>
          <a:effectLst/>
        </p:spPr>
      </p:cxnSp>
      <p:sp>
        <p:nvSpPr>
          <p:cNvPr id="26" name="TextBox 2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DA storage · M5 source bfb0ec8</a:t>
            </a:r>
          </a:p>
        </p:txBody>
      </p:sp>
      <p:sp>
        <p:nvSpPr>
          <p:cNvPr id="27" name="TextBox 2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08 / BENCHMARKS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Measurements and benchmark gaps</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Observed values, contract limits and proposed experiments are explicitly different kinds of evidence.</a:t>
            </a:r>
          </a:p>
        </p:txBody>
      </p:sp>
      <p:sp>
        <p:nvSpPr>
          <p:cNvPr id="5" name="Rounded Rectangle 4"/>
          <p:cNvSpPr/>
          <p:nvPr/>
        </p:nvSpPr>
        <p:spPr>
          <a:xfrm>
            <a:off x="548640" y="1859280"/>
            <a:ext cx="3535679" cy="2004059"/>
          </a:xfrm>
          <a:prstGeom prst="roundRect">
            <a:avLst>
              <a:gd name="adj" fmla="val 4942"/>
            </a:avLst>
          </a:prstGeom>
          <a:solidFill>
            <a:srgbClr val="FFFFFF"/>
          </a:solidFill>
          <a:ln w="7620">
            <a:solidFill>
              <a:srgbClr val="007C78"/>
            </a:solidFill>
          </a:ln>
          <a:effectLst/>
        </p:spPr>
        <p:txBody>
          <a:bodyPr rtlCol="0" anchor="ctr"/>
          <a:lstStyle/>
          <a:p>
            <a:pPr algn="ctr"/>
          </a:p>
        </p:txBody>
      </p:sp>
      <p:sp>
        <p:nvSpPr>
          <p:cNvPr id="6" name="TextBox 5"/>
          <p:cNvSpPr txBox="1"/>
          <p:nvPr/>
        </p:nvSpPr>
        <p:spPr>
          <a:xfrm>
            <a:off x="723900"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007C78"/>
                </a:solidFill>
                <a:latin typeface="DejaVu Sans"/>
              </a:rPr>
              <a:t>4 + 2</a:t>
            </a:r>
          </a:p>
        </p:txBody>
      </p:sp>
      <p:sp>
        <p:nvSpPr>
          <p:cNvPr id="7" name="TextBox 6"/>
          <p:cNvSpPr txBox="1"/>
          <p:nvPr/>
        </p:nvSpPr>
        <p:spPr>
          <a:xfrm>
            <a:off x="723900"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Data + parity shares</a:t>
            </a:r>
          </a:p>
        </p:txBody>
      </p:sp>
      <p:sp>
        <p:nvSpPr>
          <p:cNvPr id="8" name="TextBox 7"/>
          <p:cNvSpPr txBox="1"/>
          <p:nvPr/>
        </p:nvSpPr>
        <p:spPr>
          <a:xfrm>
            <a:off x="723900"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Configured erasure profile, not</a:t>
            </a:r>
          </a:p>
        </p:txBody>
      </p:sp>
      <p:sp>
        <p:nvSpPr>
          <p:cNvPr id="9" name="TextBox 8"/>
          <p:cNvSpPr txBox="1"/>
          <p:nvPr/>
        </p:nvSpPr>
        <p:spPr>
          <a:xfrm>
            <a:off x="723900" y="349879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measured throughput</a:t>
            </a:r>
          </a:p>
        </p:txBody>
      </p:sp>
      <p:sp>
        <p:nvSpPr>
          <p:cNvPr id="10" name="Rounded Rectangle 9"/>
          <p:cNvSpPr/>
          <p:nvPr/>
        </p:nvSpPr>
        <p:spPr>
          <a:xfrm>
            <a:off x="4328160" y="1859280"/>
            <a:ext cx="3535679" cy="2004059"/>
          </a:xfrm>
          <a:prstGeom prst="roundRect">
            <a:avLst>
              <a:gd name="adj" fmla="val 4942"/>
            </a:avLst>
          </a:prstGeom>
          <a:solidFill>
            <a:srgbClr val="FFFFFF"/>
          </a:solidFill>
          <a:ln w="7620">
            <a:solidFill>
              <a:srgbClr val="007C78"/>
            </a:solidFill>
          </a:ln>
          <a:effectLst/>
        </p:spPr>
        <p:txBody>
          <a:bodyPr rtlCol="0" anchor="ctr"/>
          <a:lstStyle/>
          <a:p>
            <a:pPr algn="ctr"/>
          </a:p>
        </p:txBody>
      </p:sp>
      <p:sp>
        <p:nvSpPr>
          <p:cNvPr id="11" name="TextBox 10"/>
          <p:cNvSpPr txBox="1"/>
          <p:nvPr/>
        </p:nvSpPr>
        <p:spPr>
          <a:xfrm>
            <a:off x="4503420"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007C78"/>
                </a:solidFill>
                <a:latin typeface="DejaVu Sans"/>
              </a:rPr>
              <a:t>2 lost</a:t>
            </a:r>
          </a:p>
        </p:txBody>
      </p:sp>
      <p:sp>
        <p:nvSpPr>
          <p:cNvPr id="12" name="TextBox 11"/>
          <p:cNvSpPr txBox="1"/>
          <p:nvPr/>
        </p:nvSpPr>
        <p:spPr>
          <a:xfrm>
            <a:off x="4503420"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Shares recovered without</a:t>
            </a:r>
          </a:p>
        </p:txBody>
      </p:sp>
      <p:sp>
        <p:nvSpPr>
          <p:cNvPr id="13" name="TextBox 12"/>
          <p:cNvSpPr txBox="1"/>
          <p:nvPr/>
        </p:nvSpPr>
        <p:spPr>
          <a:xfrm>
            <a:off x="4503420" y="2966313"/>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cache</a:t>
            </a:r>
          </a:p>
        </p:txBody>
      </p:sp>
      <p:sp>
        <p:nvSpPr>
          <p:cNvPr id="14" name="TextBox 13"/>
          <p:cNvSpPr txBox="1"/>
          <p:nvPr/>
        </p:nvSpPr>
        <p:spPr>
          <a:xfrm>
            <a:off x="4503420"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Observed reconstruction boundary</a:t>
            </a:r>
          </a:p>
        </p:txBody>
      </p:sp>
      <p:sp>
        <p:nvSpPr>
          <p:cNvPr id="15" name="Rounded Rectangle 14"/>
          <p:cNvSpPr/>
          <p:nvPr/>
        </p:nvSpPr>
        <p:spPr>
          <a:xfrm>
            <a:off x="8107680" y="1859280"/>
            <a:ext cx="3535679" cy="2004059"/>
          </a:xfrm>
          <a:prstGeom prst="roundRect">
            <a:avLst>
              <a:gd name="adj" fmla="val 4942"/>
            </a:avLst>
          </a:prstGeom>
          <a:solidFill>
            <a:srgbClr val="FFFFFF"/>
          </a:solidFill>
          <a:ln w="7620">
            <a:solidFill>
              <a:srgbClr val="007C78"/>
            </a:solidFill>
          </a:ln>
          <a:effectLst/>
        </p:spPr>
        <p:txBody>
          <a:bodyPr rtlCol="0" anchor="ctr"/>
          <a:lstStyle/>
          <a:p>
            <a:pPr algn="ctr"/>
          </a:p>
        </p:txBody>
      </p:sp>
      <p:sp>
        <p:nvSpPr>
          <p:cNvPr id="16" name="TextBox 15"/>
          <p:cNvSpPr txBox="1"/>
          <p:nvPr/>
        </p:nvSpPr>
        <p:spPr>
          <a:xfrm>
            <a:off x="8282939"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007C78"/>
                </a:solidFill>
                <a:latin typeface="DejaVu Sans"/>
              </a:rPr>
              <a:t>62 + 38</a:t>
            </a:r>
          </a:p>
        </p:txBody>
      </p:sp>
      <p:sp>
        <p:nvSpPr>
          <p:cNvPr id="17" name="TextBox 16"/>
          <p:cNvSpPr txBox="1"/>
          <p:nvPr/>
        </p:nvSpPr>
        <p:spPr>
          <a:xfrm>
            <a:off x="8282939"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Upstream library tests</a:t>
            </a:r>
          </a:p>
        </p:txBody>
      </p:sp>
      <p:sp>
        <p:nvSpPr>
          <p:cNvPr id="18" name="TextBox 17"/>
          <p:cNvSpPr txBox="1"/>
          <p:nvPr/>
        </p:nvSpPr>
        <p:spPr>
          <a:xfrm>
            <a:off x="8282939"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Clean DeTTa regression; overlapping</a:t>
            </a:r>
          </a:p>
        </p:txBody>
      </p:sp>
      <p:sp>
        <p:nvSpPr>
          <p:cNvPr id="19" name="TextBox 18"/>
          <p:cNvSpPr txBox="1"/>
          <p:nvPr/>
        </p:nvSpPr>
        <p:spPr>
          <a:xfrm>
            <a:off x="8282939" y="349879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with larger runs</a:t>
            </a:r>
          </a:p>
        </p:txBody>
      </p:sp>
      <p:sp>
        <p:nvSpPr>
          <p:cNvPr id="20" name="TextBox 19"/>
          <p:cNvSpPr txBox="1"/>
          <p:nvPr/>
        </p:nvSpPr>
        <p:spPr>
          <a:xfrm>
            <a:off x="579120" y="4091940"/>
            <a:ext cx="11003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isolated read/write latency, throughput or durability benchmark is recorded. Share counts are a conformance</a:t>
            </a:r>
          </a:p>
        </p:txBody>
      </p:sp>
      <p:sp>
        <p:nvSpPr>
          <p:cNvPr id="21" name="TextBox 20"/>
          <p:cNvSpPr txBox="1"/>
          <p:nvPr/>
        </p:nvSpPr>
        <p:spPr>
          <a:xfrm>
            <a:off x="579120" y="4335780"/>
            <a:ext cx="11003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result. Suite counts measure test execution, not performance.</a:t>
            </a:r>
          </a:p>
        </p:txBody>
      </p:sp>
      <p:sp>
        <p:nvSpPr>
          <p:cNvPr id="22" name="Rounded Rectangle 21"/>
          <p:cNvSpPr/>
          <p:nvPr/>
        </p:nvSpPr>
        <p:spPr>
          <a:xfrm>
            <a:off x="548640" y="5067300"/>
            <a:ext cx="11094720" cy="1150620"/>
          </a:xfrm>
          <a:prstGeom prst="roundRect">
            <a:avLst>
              <a:gd name="adj" fmla="val 8609"/>
            </a:avLst>
          </a:prstGeom>
          <a:solidFill>
            <a:srgbClr val="F3E7CE"/>
          </a:solidFill>
          <a:ln w="7620">
            <a:solidFill>
              <a:srgbClr val="A86A15"/>
            </a:solidFill>
          </a:ln>
          <a:effectLst/>
        </p:spPr>
        <p:txBody>
          <a:bodyPr rtlCol="0" anchor="ctr"/>
          <a:lstStyle/>
          <a:p>
            <a:pPr algn="ctr"/>
          </a:p>
        </p:txBody>
      </p:sp>
      <p:sp>
        <p:nvSpPr>
          <p:cNvPr id="23" name="TextBox 22"/>
          <p:cNvSpPr txBox="1"/>
          <p:nvPr/>
        </p:nvSpPr>
        <p:spPr>
          <a:xfrm>
            <a:off x="716280" y="5234940"/>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A86A15"/>
                </a:solidFill>
                <a:latin typeface="DejaVu Sans"/>
              </a:rPr>
              <a:t>PROPOSED BENCHMARK · NOT RUN</a:t>
            </a:r>
          </a:p>
        </p:txBody>
      </p:sp>
      <p:sp>
        <p:nvSpPr>
          <p:cNvPr id="24" name="TextBox 23"/>
          <p:cNvSpPr txBox="1"/>
          <p:nvPr/>
        </p:nvSpPr>
        <p:spPr>
          <a:xfrm>
            <a:off x="716280" y="5545226"/>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Proposed: vary payload size, missing-share count and cold/warm cache; report read/write p50/p95, bytes stored and</a:t>
            </a:r>
          </a:p>
        </p:txBody>
      </p:sp>
      <p:sp>
        <p:nvSpPr>
          <p:cNvPr id="25" name="TextBox 24"/>
          <p:cNvSpPr txBox="1"/>
          <p:nvPr/>
        </p:nvSpPr>
        <p:spPr>
          <a:xfrm>
            <a:off x="716280" y="5779312"/>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reconstruction CPU on fixed hardware.</a:t>
            </a:r>
          </a:p>
        </p:txBody>
      </p:sp>
      <p:cxnSp>
        <p:nvCxnSpPr>
          <p:cNvPr id="26" name="Connector 25"/>
          <p:cNvCxnSpPr/>
          <p:nvPr/>
        </p:nvCxnSpPr>
        <p:spPr>
          <a:xfrm>
            <a:off x="548640" y="6393180"/>
            <a:ext cx="11094720" cy="0"/>
          </a:xfrm>
          <a:prstGeom prst="line">
            <a:avLst/>
          </a:prstGeom>
          <a:ln w="7620">
            <a:solidFill>
              <a:srgbClr val="C9D2D4"/>
            </a:solidFill>
          </a:ln>
          <a:effectLst/>
        </p:spPr>
      </p:cxnSp>
      <p:sp>
        <p:nvSpPr>
          <p:cNvPr id="27" name="TextBox 26"/>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DA storage · M5 source bfb0ec8</a:t>
            </a:r>
          </a:p>
        </p:txBody>
      </p:sp>
      <p:sp>
        <p:nvSpPr>
          <p:cNvPr id="28" name="TextBox 27"/>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09 / EVIDENCE CLASSIFICATION</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Current state: what is real, what is not</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Current supported regressions pass; historical observations and unsatisfied capabilities keep their labels.</a:t>
            </a:r>
          </a:p>
        </p:txBody>
      </p:sp>
      <p:sp>
        <p:nvSpPr>
          <p:cNvPr id="5" name="TextBox 4"/>
          <p:cNvSpPr txBox="1"/>
          <p:nvPr/>
        </p:nvSpPr>
        <p:spPr>
          <a:xfrm>
            <a:off x="670560" y="1790700"/>
            <a:ext cx="26517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CLASSIFICATION</a:t>
            </a:r>
          </a:p>
        </p:txBody>
      </p:sp>
      <p:sp>
        <p:nvSpPr>
          <p:cNvPr id="6" name="TextBox 5"/>
          <p:cNvSpPr txBox="1"/>
          <p:nvPr/>
        </p:nvSpPr>
        <p:spPr>
          <a:xfrm>
            <a:off x="3566160" y="1790700"/>
            <a:ext cx="795528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MODULE-SPECIFIC STATE</a:t>
            </a:r>
          </a:p>
        </p:txBody>
      </p:sp>
      <p:sp>
        <p:nvSpPr>
          <p:cNvPr id="7" name="Rounded Rectangle 6"/>
          <p:cNvSpPr/>
          <p:nvPr/>
        </p:nvSpPr>
        <p:spPr>
          <a:xfrm>
            <a:off x="548640" y="2110740"/>
            <a:ext cx="11094720" cy="815340"/>
          </a:xfrm>
          <a:prstGeom prst="roundRect">
            <a:avLst>
              <a:gd name="adj" fmla="val 5607"/>
            </a:avLst>
          </a:prstGeom>
          <a:solidFill>
            <a:srgbClr val="FFFFFF"/>
          </a:solidFill>
          <a:ln>
            <a:noFill/>
          </a:ln>
          <a:effectLst/>
        </p:spPr>
        <p:txBody>
          <a:bodyPr rtlCol="0" anchor="ctr"/>
          <a:lstStyle/>
          <a:p>
            <a:pPr algn="ctr"/>
          </a:p>
        </p:txBody>
      </p:sp>
      <p:sp>
        <p:nvSpPr>
          <p:cNvPr id="8" name="TextBox 7"/>
          <p:cNvSpPr txBox="1"/>
          <p:nvPr/>
        </p:nvSpPr>
        <p:spPr>
          <a:xfrm>
            <a:off x="670560" y="224028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REAL / IMPLEMENTED</a:t>
            </a:r>
          </a:p>
        </p:txBody>
      </p:sp>
      <p:sp>
        <p:nvSpPr>
          <p:cNvPr id="9" name="TextBox 8"/>
          <p:cNvSpPr txBox="1"/>
          <p:nvPr/>
        </p:nvSpPr>
        <p:spPr>
          <a:xfrm>
            <a:off x="3566160" y="224028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Pinned DeTTa DA/FileStorage and external adapter run locally.</a:t>
            </a:r>
          </a:p>
        </p:txBody>
      </p:sp>
      <p:sp>
        <p:nvSpPr>
          <p:cNvPr id="10" name="Rounded Rectangle 9"/>
          <p:cNvSpPr/>
          <p:nvPr/>
        </p:nvSpPr>
        <p:spPr>
          <a:xfrm>
            <a:off x="548640" y="2964179"/>
            <a:ext cx="11094720" cy="815340"/>
          </a:xfrm>
          <a:prstGeom prst="roundRect">
            <a:avLst>
              <a:gd name="adj" fmla="val 5607"/>
            </a:avLst>
          </a:prstGeom>
          <a:solidFill>
            <a:srgbClr val="FFFFFF"/>
          </a:solidFill>
          <a:ln>
            <a:noFill/>
          </a:ln>
          <a:effectLst/>
        </p:spPr>
        <p:txBody>
          <a:bodyPr rtlCol="0" anchor="ctr"/>
          <a:lstStyle/>
          <a:p>
            <a:pPr algn="ctr"/>
          </a:p>
        </p:txBody>
      </p:sp>
      <p:sp>
        <p:nvSpPr>
          <p:cNvPr id="11" name="TextBox 10"/>
          <p:cNvSpPr txBox="1"/>
          <p:nvPr/>
        </p:nvSpPr>
        <p:spPr>
          <a:xfrm>
            <a:off x="670560" y="309372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FIXTURE / LOCAL TEST</a:t>
            </a:r>
          </a:p>
        </p:txBody>
      </p:sp>
      <p:sp>
        <p:nvSpPr>
          <p:cNvPr id="12" name="TextBox 11"/>
          <p:cNvSpPr txBox="1"/>
          <p:nvPr/>
        </p:nvSpPr>
        <p:spPr>
          <a:xfrm>
            <a:off x="670560" y="333756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POLICY</a:t>
            </a:r>
          </a:p>
        </p:txBody>
      </p:sp>
      <p:sp>
        <p:nvSpPr>
          <p:cNvPr id="13" name="TextBox 12"/>
          <p:cNvSpPr txBox="1"/>
          <p:nvPr/>
        </p:nvSpPr>
        <p:spPr>
          <a:xfrm>
            <a:off x="3566160" y="309372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Generated payloads, deleted shares, corruption and injected process faults.</a:t>
            </a:r>
          </a:p>
        </p:txBody>
      </p:sp>
      <p:sp>
        <p:nvSpPr>
          <p:cNvPr id="14" name="Rounded Rectangle 13"/>
          <p:cNvSpPr/>
          <p:nvPr/>
        </p:nvSpPr>
        <p:spPr>
          <a:xfrm>
            <a:off x="548640" y="3817619"/>
            <a:ext cx="11094720" cy="815340"/>
          </a:xfrm>
          <a:prstGeom prst="roundRect">
            <a:avLst>
              <a:gd name="adj" fmla="val 5607"/>
            </a:avLst>
          </a:prstGeom>
          <a:solidFill>
            <a:srgbClr val="FFFFFF"/>
          </a:solidFill>
          <a:ln>
            <a:noFill/>
          </a:ln>
          <a:effectLst/>
        </p:spPr>
        <p:txBody>
          <a:bodyPr rtlCol="0" anchor="ctr"/>
          <a:lstStyle/>
          <a:p>
            <a:pPr algn="ctr"/>
          </a:p>
        </p:txBody>
      </p:sp>
      <p:sp>
        <p:nvSpPr>
          <p:cNvPr id="15" name="TextBox 14"/>
          <p:cNvSpPr txBox="1"/>
          <p:nvPr/>
        </p:nvSpPr>
        <p:spPr>
          <a:xfrm>
            <a:off x="670560" y="394716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BLOCKED /</a:t>
            </a:r>
          </a:p>
        </p:txBody>
      </p:sp>
      <p:sp>
        <p:nvSpPr>
          <p:cNvPr id="16" name="TextBox 15"/>
          <p:cNvSpPr txBox="1"/>
          <p:nvPr/>
        </p:nvSpPr>
        <p:spPr>
          <a:xfrm>
            <a:off x="670560" y="419100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UNSUPPORTED</a:t>
            </a:r>
          </a:p>
        </p:txBody>
      </p:sp>
      <p:sp>
        <p:nvSpPr>
          <p:cNvPr id="17" name="TextBox 16"/>
          <p:cNvSpPr txBox="1"/>
          <p:nvPr/>
        </p:nvSpPr>
        <p:spPr>
          <a:xfrm>
            <a:off x="3566160" y="394716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required current local gate blocked; historical dirty-source additions are outside</a:t>
            </a:r>
          </a:p>
        </p:txBody>
      </p:sp>
      <p:sp>
        <p:nvSpPr>
          <p:cNvPr id="18" name="TextBox 17"/>
          <p:cNvSpPr txBox="1"/>
          <p:nvPr/>
        </p:nvSpPr>
        <p:spPr>
          <a:xfrm>
            <a:off x="3566160" y="419100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clean baseline.</a:t>
            </a:r>
          </a:p>
        </p:txBody>
      </p:sp>
      <p:sp>
        <p:nvSpPr>
          <p:cNvPr id="19" name="Rounded Rectangle 18"/>
          <p:cNvSpPr/>
          <p:nvPr/>
        </p:nvSpPr>
        <p:spPr>
          <a:xfrm>
            <a:off x="548640" y="4671060"/>
            <a:ext cx="11094720" cy="815340"/>
          </a:xfrm>
          <a:prstGeom prst="roundRect">
            <a:avLst>
              <a:gd name="adj" fmla="val 5607"/>
            </a:avLst>
          </a:prstGeom>
          <a:solidFill>
            <a:srgbClr val="FFFFFF"/>
          </a:solidFill>
          <a:ln>
            <a:noFill/>
          </a:ln>
          <a:effectLst/>
        </p:spPr>
        <p:txBody>
          <a:bodyPr rtlCol="0" anchor="ctr"/>
          <a:lstStyle/>
          <a:p>
            <a:pPr algn="ctr"/>
          </a:p>
        </p:txBody>
      </p:sp>
      <p:sp>
        <p:nvSpPr>
          <p:cNvPr id="20" name="TextBox 19"/>
          <p:cNvSpPr txBox="1"/>
          <p:nvPr/>
        </p:nvSpPr>
        <p:spPr>
          <a:xfrm>
            <a:off x="670560" y="480060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UNRUN</a:t>
            </a:r>
          </a:p>
        </p:txBody>
      </p:sp>
      <p:sp>
        <p:nvSpPr>
          <p:cNvPr id="21" name="TextBox 20"/>
          <p:cNvSpPr txBox="1"/>
          <p:nvPr/>
        </p:nvSpPr>
        <p:spPr>
          <a:xfrm>
            <a:off x="3566160" y="480060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Power loss, distributed custody, remote replicas, long-term retention and</a:t>
            </a:r>
          </a:p>
        </p:txBody>
      </p:sp>
      <p:sp>
        <p:nvSpPr>
          <p:cNvPr id="22" name="TextBox 21"/>
          <p:cNvSpPr txBox="1"/>
          <p:nvPr/>
        </p:nvSpPr>
        <p:spPr>
          <a:xfrm>
            <a:off x="3566160" y="504444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production load.</a:t>
            </a:r>
          </a:p>
        </p:txBody>
      </p:sp>
      <p:sp>
        <p:nvSpPr>
          <p:cNvPr id="23" name="Rounded Rectangle 22"/>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4" name="TextBox 23"/>
          <p:cNvSpPr txBox="1"/>
          <p:nvPr/>
        </p:nvSpPr>
        <p:spPr>
          <a:xfrm>
            <a:off x="716280" y="5905500"/>
            <a:ext cx="10744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M5 final tested runtime: bfb0ec8 · evidence: 3dc6c11 · module representation is not product completeness.</a:t>
            </a:r>
          </a:p>
        </p:txBody>
      </p:sp>
      <p:cxnSp>
        <p:nvCxnSpPr>
          <p:cNvPr id="25" name="Connector 24"/>
          <p:cNvCxnSpPr/>
          <p:nvPr/>
        </p:nvCxnSpPr>
        <p:spPr>
          <a:xfrm>
            <a:off x="548640" y="6393180"/>
            <a:ext cx="11094720" cy="0"/>
          </a:xfrm>
          <a:prstGeom prst="line">
            <a:avLst/>
          </a:prstGeom>
          <a:ln w="7620">
            <a:solidFill>
              <a:srgbClr val="C9D2D4"/>
            </a:solidFill>
          </a:ln>
          <a:effectLst/>
        </p:spPr>
      </p:cxnSp>
      <p:sp>
        <p:nvSpPr>
          <p:cNvPr id="26" name="TextBox 2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DA storage · M5 source bfb0ec8</a:t>
            </a:r>
          </a:p>
        </p:txBody>
      </p:sp>
      <p:sp>
        <p:nvSpPr>
          <p:cNvPr id="27" name="TextBox 2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10 / PROPOSED WORK · NOT IMPLEMENTED</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Future directions need acceptance criteria</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These are discussion options, not a committed roadmap or permission to expand the current profile.</a:t>
            </a:r>
          </a:p>
        </p:txBody>
      </p:sp>
      <p:sp>
        <p:nvSpPr>
          <p:cNvPr id="5" name="TextBox 4"/>
          <p:cNvSpPr txBox="1"/>
          <p:nvPr/>
        </p:nvSpPr>
        <p:spPr>
          <a:xfrm>
            <a:off x="670560" y="1790700"/>
            <a:ext cx="28803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DIRECTION</a:t>
            </a:r>
          </a:p>
        </p:txBody>
      </p:sp>
      <p:sp>
        <p:nvSpPr>
          <p:cNvPr id="6" name="TextBox 5"/>
          <p:cNvSpPr txBox="1"/>
          <p:nvPr/>
        </p:nvSpPr>
        <p:spPr>
          <a:xfrm>
            <a:off x="3794760" y="1790700"/>
            <a:ext cx="38709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PREREQUISITE / DESIGN GATE</a:t>
            </a:r>
          </a:p>
        </p:txBody>
      </p:sp>
      <p:sp>
        <p:nvSpPr>
          <p:cNvPr id="7" name="TextBox 6"/>
          <p:cNvSpPr txBox="1"/>
          <p:nvPr/>
        </p:nvSpPr>
        <p:spPr>
          <a:xfrm>
            <a:off x="7909559" y="1790700"/>
            <a:ext cx="36118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MEASURE OF SUCCESS</a:t>
            </a:r>
          </a:p>
        </p:txBody>
      </p:sp>
      <p:sp>
        <p:nvSpPr>
          <p:cNvPr id="8" name="Rounded Rectangle 7"/>
          <p:cNvSpPr/>
          <p:nvPr/>
        </p:nvSpPr>
        <p:spPr>
          <a:xfrm>
            <a:off x="548640" y="2110740"/>
            <a:ext cx="11094720" cy="1059180"/>
          </a:xfrm>
          <a:prstGeom prst="roundRect">
            <a:avLst>
              <a:gd name="adj" fmla="val 4316"/>
            </a:avLst>
          </a:prstGeom>
          <a:solidFill>
            <a:srgbClr val="FFFFFF"/>
          </a:solidFill>
          <a:ln>
            <a:noFill/>
          </a:ln>
          <a:effectLst/>
        </p:spPr>
        <p:txBody>
          <a:bodyPr rtlCol="0" anchor="ctr"/>
          <a:lstStyle/>
          <a:p>
            <a:pPr algn="ctr"/>
          </a:p>
        </p:txBody>
      </p:sp>
      <p:sp>
        <p:nvSpPr>
          <p:cNvPr id="9" name="TextBox 8"/>
          <p:cNvSpPr txBox="1"/>
          <p:nvPr/>
        </p:nvSpPr>
        <p:spPr>
          <a:xfrm>
            <a:off x="670560" y="224028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Measure storage tradeoffs</a:t>
            </a:r>
          </a:p>
        </p:txBody>
      </p:sp>
      <p:sp>
        <p:nvSpPr>
          <p:cNvPr id="10" name="TextBox 9"/>
          <p:cNvSpPr txBox="1"/>
          <p:nvPr/>
        </p:nvSpPr>
        <p:spPr>
          <a:xfrm>
            <a:off x="3794760" y="224028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Controlled size/cache/failure matrix</a:t>
            </a:r>
          </a:p>
        </p:txBody>
      </p:sp>
      <p:sp>
        <p:nvSpPr>
          <p:cNvPr id="11" name="TextBox 10"/>
          <p:cNvSpPr txBox="1"/>
          <p:nvPr/>
        </p:nvSpPr>
        <p:spPr>
          <a:xfrm>
            <a:off x="7909559" y="224028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Latency distribution and</a:t>
            </a:r>
          </a:p>
        </p:txBody>
      </p:sp>
      <p:sp>
        <p:nvSpPr>
          <p:cNvPr id="12" name="TextBox 11"/>
          <p:cNvSpPr txBox="1"/>
          <p:nvPr/>
        </p:nvSpPr>
        <p:spPr>
          <a:xfrm>
            <a:off x="7909559" y="248412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amplification per payload</a:t>
            </a:r>
          </a:p>
        </p:txBody>
      </p:sp>
      <p:sp>
        <p:nvSpPr>
          <p:cNvPr id="13" name="Rounded Rectangle 12"/>
          <p:cNvSpPr/>
          <p:nvPr/>
        </p:nvSpPr>
        <p:spPr>
          <a:xfrm>
            <a:off x="548640" y="3208020"/>
            <a:ext cx="11094720" cy="1059180"/>
          </a:xfrm>
          <a:prstGeom prst="roundRect">
            <a:avLst>
              <a:gd name="adj" fmla="val 4316"/>
            </a:avLst>
          </a:prstGeom>
          <a:solidFill>
            <a:srgbClr val="FFFFFF"/>
          </a:solidFill>
          <a:ln>
            <a:noFill/>
          </a:ln>
          <a:effectLst/>
        </p:spPr>
        <p:txBody>
          <a:bodyPr rtlCol="0" anchor="ctr"/>
          <a:lstStyle/>
          <a:p>
            <a:pPr algn="ctr"/>
          </a:p>
        </p:txBody>
      </p:sp>
      <p:sp>
        <p:nvSpPr>
          <p:cNvPr id="14" name="TextBox 13"/>
          <p:cNvSpPr txBox="1"/>
          <p:nvPr/>
        </p:nvSpPr>
        <p:spPr>
          <a:xfrm>
            <a:off x="670560" y="333756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Specify retention</a:t>
            </a:r>
          </a:p>
        </p:txBody>
      </p:sp>
      <p:sp>
        <p:nvSpPr>
          <p:cNvPr id="15" name="TextBox 14"/>
          <p:cNvSpPr txBox="1"/>
          <p:nvPr/>
        </p:nvSpPr>
        <p:spPr>
          <a:xfrm>
            <a:off x="670560" y="358140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explicitly</a:t>
            </a:r>
          </a:p>
        </p:txBody>
      </p:sp>
      <p:sp>
        <p:nvSpPr>
          <p:cNvPr id="16" name="TextBox 15"/>
          <p:cNvSpPr txBox="1"/>
          <p:nvPr/>
        </p:nvSpPr>
        <p:spPr>
          <a:xfrm>
            <a:off x="3794760" y="333756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New custody/retention contract and</a:t>
            </a:r>
          </a:p>
        </p:txBody>
      </p:sp>
      <p:sp>
        <p:nvSpPr>
          <p:cNvPr id="17" name="TextBox 16"/>
          <p:cNvSpPr txBox="1"/>
          <p:nvPr/>
        </p:nvSpPr>
        <p:spPr>
          <a:xfrm>
            <a:off x="3794760" y="358140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evidence</a:t>
            </a:r>
          </a:p>
        </p:txBody>
      </p:sp>
      <p:sp>
        <p:nvSpPr>
          <p:cNvPr id="18" name="TextBox 17"/>
          <p:cNvSpPr txBox="1"/>
          <p:nvPr/>
        </p:nvSpPr>
        <p:spPr>
          <a:xfrm>
            <a:off x="7909559" y="333756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Expired retention cannot</a:t>
            </a:r>
          </a:p>
        </p:txBody>
      </p:sp>
      <p:sp>
        <p:nvSpPr>
          <p:cNvPr id="19" name="TextBox 18"/>
          <p:cNvSpPr txBox="1"/>
          <p:nvPr/>
        </p:nvSpPr>
        <p:spPr>
          <a:xfrm>
            <a:off x="7909559" y="358140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masquerade as availability</a:t>
            </a:r>
          </a:p>
        </p:txBody>
      </p:sp>
      <p:sp>
        <p:nvSpPr>
          <p:cNvPr id="20" name="Rounded Rectangle 19"/>
          <p:cNvSpPr/>
          <p:nvPr/>
        </p:nvSpPr>
        <p:spPr>
          <a:xfrm>
            <a:off x="548640" y="4305300"/>
            <a:ext cx="11094720" cy="1059180"/>
          </a:xfrm>
          <a:prstGeom prst="roundRect">
            <a:avLst>
              <a:gd name="adj" fmla="val 4316"/>
            </a:avLst>
          </a:prstGeom>
          <a:solidFill>
            <a:srgbClr val="FFFFFF"/>
          </a:solidFill>
          <a:ln>
            <a:noFill/>
          </a:ln>
          <a:effectLst/>
        </p:spPr>
        <p:txBody>
          <a:bodyPr rtlCol="0" anchor="ctr"/>
          <a:lstStyle/>
          <a:p>
            <a:pPr algn="ctr"/>
          </a:p>
        </p:txBody>
      </p:sp>
      <p:sp>
        <p:nvSpPr>
          <p:cNvPr id="21" name="TextBox 20"/>
          <p:cNvSpPr txBox="1"/>
          <p:nvPr/>
        </p:nvSpPr>
        <p:spPr>
          <a:xfrm>
            <a:off x="670560" y="443484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Explore another DA</a:t>
            </a:r>
          </a:p>
        </p:txBody>
      </p:sp>
      <p:sp>
        <p:nvSpPr>
          <p:cNvPr id="22" name="TextBox 21"/>
          <p:cNvSpPr txBox="1"/>
          <p:nvPr/>
        </p:nvSpPr>
        <p:spPr>
          <a:xfrm>
            <a:off x="670560" y="467868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provider</a:t>
            </a:r>
          </a:p>
        </p:txBody>
      </p:sp>
      <p:sp>
        <p:nvSpPr>
          <p:cNvPr id="23" name="TextBox 22"/>
          <p:cNvSpPr txBox="1"/>
          <p:nvPr/>
        </p:nvSpPr>
        <p:spPr>
          <a:xfrm>
            <a:off x="3794760" y="443484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Same opaque port and explicit profile</a:t>
            </a:r>
          </a:p>
        </p:txBody>
      </p:sp>
      <p:sp>
        <p:nvSpPr>
          <p:cNvPr id="24" name="TextBox 23"/>
          <p:cNvSpPr txBox="1"/>
          <p:nvPr/>
        </p:nvSpPr>
        <p:spPr>
          <a:xfrm>
            <a:off x="7909559" y="443484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Equivalent byte/integrity</a:t>
            </a:r>
          </a:p>
        </p:txBody>
      </p:sp>
      <p:sp>
        <p:nvSpPr>
          <p:cNvPr id="25" name="TextBox 24"/>
          <p:cNvSpPr txBox="1"/>
          <p:nvPr/>
        </p:nvSpPr>
        <p:spPr>
          <a:xfrm>
            <a:off x="7909559" y="467868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conformance before adoption</a:t>
            </a:r>
          </a:p>
        </p:txBody>
      </p:sp>
      <p:sp>
        <p:nvSpPr>
          <p:cNvPr id="26" name="Rounded Rectangle 25"/>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7" name="TextBox 26"/>
          <p:cNvSpPr txBox="1"/>
          <p:nvPr/>
        </p:nvSpPr>
        <p:spPr>
          <a:xfrm>
            <a:off x="716280" y="5905500"/>
            <a:ext cx="107442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Keep ownership, current authorization and explicit compatibility intact; qualify new semantics with a new profile.</a:t>
            </a:r>
          </a:p>
        </p:txBody>
      </p:sp>
      <p:cxnSp>
        <p:nvCxnSpPr>
          <p:cNvPr id="28" name="Connector 27"/>
          <p:cNvCxnSpPr/>
          <p:nvPr/>
        </p:nvCxnSpPr>
        <p:spPr>
          <a:xfrm>
            <a:off x="548640" y="6393180"/>
            <a:ext cx="11094720" cy="0"/>
          </a:xfrm>
          <a:prstGeom prst="line">
            <a:avLst/>
          </a:prstGeom>
          <a:ln w="7620">
            <a:solidFill>
              <a:srgbClr val="C9D2D4"/>
            </a:solidFill>
          </a:ln>
          <a:effectLst/>
        </p:spPr>
      </p:cxnSp>
      <p:sp>
        <p:nvSpPr>
          <p:cNvPr id="29" name="TextBox 28"/>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DA storage · M5 source bfb0ec8</a:t>
            </a:r>
          </a:p>
        </p:txBody>
      </p:sp>
      <p:sp>
        <p:nvSpPr>
          <p:cNvPr id="30" name="TextBox 29"/>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11 / SOURCES AND TAKEAWAY</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Evidence you can inspect and reproduce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Read the exact code, contracts and recorded run before treating a claim as a guarantee.</a:t>
            </a:r>
          </a:p>
        </p:txBody>
      </p:sp>
      <p:sp>
        <p:nvSpPr>
          <p:cNvPr id="5" name="Rounded Rectangle 4"/>
          <p:cNvSpPr/>
          <p:nvPr/>
        </p:nvSpPr>
        <p:spPr>
          <a:xfrm>
            <a:off x="548640" y="1783080"/>
            <a:ext cx="11094720" cy="853440"/>
          </a:xfrm>
          <a:prstGeom prst="roundRect">
            <a:avLst>
              <a:gd name="adj" fmla="val 11607"/>
            </a:avLst>
          </a:prstGeom>
          <a:solidFill>
            <a:srgbClr val="DCEFE8"/>
          </a:solidFill>
          <a:ln w="7620">
            <a:solidFill>
              <a:srgbClr val="007C78"/>
            </a:solidFill>
          </a:ln>
          <a:effectLst/>
        </p:spPr>
        <p:txBody>
          <a:bodyPr rtlCol="0" anchor="ctr"/>
          <a:lstStyle/>
          <a:p>
            <a:pPr algn="ctr"/>
          </a:p>
        </p:txBody>
      </p:sp>
      <p:sp>
        <p:nvSpPr>
          <p:cNvPr id="6" name="TextBox 5"/>
          <p:cNvSpPr txBox="1"/>
          <p:nvPr/>
        </p:nvSpPr>
        <p:spPr>
          <a:xfrm>
            <a:off x="716280" y="195072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007C78"/>
                </a:solidFill>
                <a:latin typeface="DejaVu Sans"/>
              </a:rPr>
              <a:t>Takeaway</a:t>
            </a:r>
          </a:p>
        </p:txBody>
      </p:sp>
      <p:sp>
        <p:nvSpPr>
          <p:cNvPr id="7" name="TextBox 6"/>
          <p:cNvSpPr txBox="1"/>
          <p:nvPr/>
        </p:nvSpPr>
        <p:spPr>
          <a:xfrm>
            <a:off x="716280" y="230002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Availability has a failure model. Preserve it in every receipt.</a:t>
            </a:r>
          </a:p>
        </p:txBody>
      </p:sp>
      <p:sp>
        <p:nvSpPr>
          <p:cNvPr id="8" name="TextBox 7"/>
          <p:cNvSpPr txBox="1"/>
          <p:nvPr/>
        </p:nvSpPr>
        <p:spPr>
          <a:xfrm>
            <a:off x="609600" y="2819400"/>
            <a:ext cx="10972800"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536775"/>
                </a:solidFill>
                <a:latin typeface="DejaVu Sans"/>
              </a:rPr>
              <a:t>SUPPORTED REPRODUCTION ENTRYPOINT · PREREQUISITES REQUIRED</a:t>
            </a:r>
          </a:p>
        </p:txBody>
      </p:sp>
      <p:sp>
        <p:nvSpPr>
          <p:cNvPr id="9" name="TextBox 8"/>
          <p:cNvSpPr txBox="1"/>
          <p:nvPr/>
        </p:nvSpPr>
        <p:spPr>
          <a:xfrm>
            <a:off x="609600" y="3124200"/>
            <a:ext cx="109347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102B3F"/>
                </a:solidFill>
                <a:latin typeface="DejaVu Sans Mono"/>
              </a:rPr>
              <a:t>uv run --python 3.11 --locked python scripts/verify_m11.py</a:t>
            </a:r>
          </a:p>
        </p:txBody>
      </p:sp>
      <p:sp>
        <p:nvSpPr>
          <p:cNvPr id="10" name="TextBox 9"/>
          <p:cNvSpPr txBox="1"/>
          <p:nvPr/>
        </p:nvSpPr>
        <p:spPr>
          <a:xfrm>
            <a:off x="609600" y="3726179"/>
            <a:ext cx="108966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Requires the pinned clean DeTTa source and built adapter; this is a suite command, not a microbenchmark.</a:t>
            </a:r>
          </a:p>
        </p:txBody>
      </p:sp>
      <p:sp>
        <p:nvSpPr>
          <p:cNvPr id="11" name="TextBox 10"/>
          <p:cNvSpPr txBox="1"/>
          <p:nvPr/>
        </p:nvSpPr>
        <p:spPr>
          <a:xfrm>
            <a:off x="609600" y="471678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fusion/adapters/detta.py</a:t>
            </a:r>
          </a:p>
        </p:txBody>
      </p:sp>
      <p:sp>
        <p:nvSpPr>
          <p:cNvPr id="12" name="TextBox 11"/>
          <p:cNvSpPr txBox="1"/>
          <p:nvPr/>
        </p:nvSpPr>
        <p:spPr>
          <a:xfrm>
            <a:off x="609600" y="496824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adapters/detta/src/main.rs</a:t>
            </a:r>
          </a:p>
        </p:txBody>
      </p:sp>
      <p:sp>
        <p:nvSpPr>
          <p:cNvPr id="13" name="TextBox 12"/>
          <p:cNvSpPr txBox="1"/>
          <p:nvPr/>
        </p:nvSpPr>
        <p:spPr>
          <a:xfrm>
            <a:off x="609600" y="521970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docs/module-interfaces/m1_2-evidence.md</a:t>
            </a:r>
          </a:p>
        </p:txBody>
      </p:sp>
      <p:sp>
        <p:nvSpPr>
          <p:cNvPr id="14" name="TextBox 13"/>
          <p:cNvSpPr txBox="1"/>
          <p:nvPr/>
        </p:nvSpPr>
        <p:spPr>
          <a:xfrm>
            <a:off x="609600" y="547116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evidence/m5/legacy/m1_2-verification.json</a:t>
            </a:r>
          </a:p>
        </p:txBody>
      </p:sp>
      <p:sp>
        <p:nvSpPr>
          <p:cNvPr id="15" name="TextBox 14"/>
          <p:cNvSpPr txBox="1"/>
          <p:nvPr/>
        </p:nvSpPr>
        <p:spPr>
          <a:xfrm>
            <a:off x="609600" y="5867400"/>
            <a:ext cx="108966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0">
                <a:solidFill>
                  <a:srgbClr val="536775"/>
                </a:solidFill>
                <a:latin typeface="DejaVu Sans"/>
              </a:rPr>
              <a:t>Source 494df69a1ac401c3d3b2cf79dbfde07f74b5e277 · all citations and full notes accompany this deck.</a:t>
            </a:r>
          </a:p>
        </p:txBody>
      </p:sp>
      <p:cxnSp>
        <p:nvCxnSpPr>
          <p:cNvPr id="16" name="Connector 15"/>
          <p:cNvCxnSpPr/>
          <p:nvPr/>
        </p:nvCxnSpPr>
        <p:spPr>
          <a:xfrm>
            <a:off x="548640" y="6393180"/>
            <a:ext cx="11094720" cy="0"/>
          </a:xfrm>
          <a:prstGeom prst="line">
            <a:avLst/>
          </a:prstGeom>
          <a:ln w="7620">
            <a:solidFill>
              <a:srgbClr val="C9D2D4"/>
            </a:solidFill>
          </a:ln>
          <a:effectLst/>
        </p:spPr>
      </p:cxnSp>
      <p:sp>
        <p:nvSpPr>
          <p:cNvPr id="17" name="TextBox 16"/>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DA storage · M5 source bfb0ec8</a:t>
            </a:r>
          </a:p>
        </p:txBody>
      </p:sp>
      <p:sp>
        <p:nvSpPr>
          <p:cNvPr id="18" name="TextBox 17"/>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Omega × ASI — DA storage</dc:title>
  <dc:subject>Opaque persistence, retrieval and local availability through the DeTTa DA and FileStorage libraries.</dc:subject>
  <dc:creator>Omega × ASI module-interface project</dc:creator>
  <cp:keywords>Omega, ASI, M5, ELI16, DA storage</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