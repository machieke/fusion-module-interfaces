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Supply operator-configured provider descriptors for deterministic compatibility selection. A consumer must select semantics rather than a provider name. Explicit descriptors expose compatibility, placement and evidence gaps before effects occur. Do not treat the analogy as an additional experiment. This is a standalone talk about one responsibility, not a claim that every module is a separate service or repository.</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Module registry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Registry is static local configuration, not a network service or authority issuer. Cognitive and lookup compositions select their own explicit descriptors; there is no universal remote registry.</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Registry is static local configuration, not a network service or authority issuer. Cognitive and lookup compositions select their own explicit descriptors; there is no universal remote registry. The left node is a caller or caller class; the right nodes distinguish foreign ports, pure helpers, local state and runtime internals. There is no implied shared transaction. A descriptor grants no capability and proves no advertised guarantee.</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Configured descriptor list: Provider identity, implementation version and advertised contract metadata. No runtime domain journal: No job, belief, balance, registration transaction or mutable remote catalogue. Permission and proof: A descriptor grants no capability and proves no advertised guarantee. Dynamic discovery: No gossip, chain registration, health scheduler or public mutation API. Explicit compatibility: Static catalogue responsibility · static/1; descriptor and implementation versions are separate. Limits: Trusted operator configuration; no independent verification of provider claims.</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descriptors: Return configured M1 provider descriptors; Independent of transport; selected AtomStorage provider explicit. descriptor_wire / descriptor_read: Encode/decode typed metadata; Preserve supported fields and sets. selection_token: Bind the complete canonical descriptor; Configuration consistency, not remote authentication. Composition catalogues: Supply private cognition/lookup selections; Explicit profile requirements, not automatic inference.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Configure: Operator installs DeTTa-backed AtomStorage. 2. Describe: Publish version, operations, profile and local durability. 3. Select: Resolver matches a fixed consumer requirement. 4. Bind: Invocation checks the complete selected token again. Evidence classification: LOCAL IMPLEMENTATION · configuration and compatibility fixtures; no registry network. Do not infer performance, broad production readiness or extra runtime integrations from this example.</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Description ≠ permission: Authorization remains a separate current decision. Description ≠ evidence: Advertised guarantees or measured_slo fields are not attestations. Complete identity: Changing any selected descriptor field changes the binding token. Transport neutrality: Selecting stdio vs in-process does not redefine semantics. The supporting tests and runtime evidence are in the linked sources; this slide does not claim a formal proof or a production security audit.</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Operator changes configured descriptor: An existing binding fails closed on token mismatch. No silent provider switch. Descriptor advertises unsupported feature: Resolver refuses the incompatible requirement. Explicit compatibility error. Process restart: Re-read operator configuration; old caller intent still pins selection. No registry state recovery transaction.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3 M1 provider descriptors: AtomStorage, Messaging and Execution catalogue. 2 × 2 Storage provider/binding matrix: Same consumer selection semantics exercised. 0 Proof verifiers in registry: Required verification is not supplied by advertising. No catalogue lookup latency, update propagation or large-provider-count benchmark exists. Descriptor counts are implementation scope; conformance tests check consistency and refusal. Proposed: fixed valid/invalid descriptor corpora at increasing catalogue size; measure encode/decode/token costs and memory, separately from resolver selection. No new benchmark is executed for this presentation. Do not compare overlapping suite times or use a one-run workflow measurement as a latency percentile.</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Executed local descriptor construction/encoding and composition code. Fixture: Operator configuration, advertised metadata and synthetic compatibility descriptors. Blocked or unsupported: Verified remote guarantees cannot be satisfied: no proof verifier is implemented. Unrun: Remote discovery, dynamic registration, health monitoring, signed attestations and registry scaling. All required M5 gates passed in the recorded final run, including legacy M1–M4 behavior; this presentation does not rerun those integrations. Human maintainers remain unassigned.</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Make metadata evidence-backed requires Verifier identity and evidence expiry contract; success means Rejected stale or unverified claims stay visible. Improve operator inspection requires Read-only catalogue and selection explanation; success means Show why a provider is installed versus selected. Explore dynamic catalogues requires Ownership, consistency and revocation semantics first; success means No name-only or stale-token fallback. No new cognition, scheduler, migration or chain capability is implemented by this series. Any changed numerical semantics, placement or replay lifetime requires separate design and verification rather than a presentation claim.</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 useful descriptor makes both capabilities and uncertainty visible. The reproduction entrypoint is uv run --python 3.11 --locked python scripts/verify_m11.py --fixture-only. Fixture-only validates registry/resolver/binding behavior without claiming real DA, Hive or chain. Private compositions have additional explicit descriptor checks in their own suites.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[registry.py](https://github.com/machieke/fusion-module-interfaces/blob/494df69a1ac401c3d3b2cf79dbfde07f74b5e277/fusion/registry.py), [bindings.py](https://github.com/machieke/fusion-module-interfaces/blob/494df69a1ac401c3d3b2cf79dbfde07f74b5e277/fusion/bindings.py), [cognition.py](https://github.com/machieke/fusion-module-interfaces/blob/494df69a1ac401c3d3b2cf79dbfde07f74b5e277/fusion/cognition.py), [lookup_composition.py](https://github.com/machieke/fusion-module-interfaces/blob/494df69a1ac401c3d3b2cf79dbfde07f74b5e277/fusion/lookup_composition.py), [test_contract.py](https://github.com/machieke/fusion-module-interfaces/blob/494df69a1ac401c3d3b2cf79dbfde07f74b5e277/tests/test_contract.py), [test_m11.py](https://github.com/machieke/fusion-module-interfaces/blob/494df69a1ac401c3d3b2cf79dbfde07f74b5e277/tests/test_m11.py).</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Module registry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Module registry</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Describe what is configured.</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Do not turn a claim into authority.</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catalogue of equipment labels: it says which instrument is installed and what it</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advertises, not whether you may use it or whether every claim is proven.</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A consumer must select semantics rather than a provider name. Explicit descriptors</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expose compatibility, placement and evidence gaps before effects occur.</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Module registry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315E9C"/>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Supply operator-configured provider descriptors for deterministic compatibility selection.</a:t>
            </a:r>
          </a:p>
        </p:txBody>
      </p:sp>
      <p:cxnSp>
        <p:nvCxnSpPr>
          <p:cNvPr id="44" name="Connector 43"/>
          <p:cNvCxnSpPr/>
          <p:nvPr/>
        </p:nvCxnSpPr>
        <p:spPr>
          <a:xfrm>
            <a:off x="548640" y="6393180"/>
            <a:ext cx="11094720" cy="0"/>
          </a:xfrm>
          <a:prstGeom prst="line">
            <a:avLst/>
          </a:prstGeom>
          <a:ln w="7620">
            <a:solidFill>
              <a:srgbClr val="C9D2D4"/>
            </a:solidFill>
          </a:ln>
          <a:effectLst/>
        </p:spPr>
      </p:cxnSp>
      <p:sp>
        <p:nvSpPr>
          <p:cNvPr id="45" name="TextBox 4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46" name="TextBox 4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Composition /</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bindings / resolver</a:t>
            </a:r>
          </a:p>
        </p:txBody>
      </p:sp>
      <p:sp>
        <p:nvSpPr>
          <p:cNvPr id="8" name="TextBox 7"/>
          <p:cNvSpPr txBox="1"/>
          <p:nvPr/>
        </p:nvSpPr>
        <p:spPr>
          <a:xfrm>
            <a:off x="716280" y="326318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descriptors · descriptor</a:t>
            </a:r>
          </a:p>
        </p:txBody>
      </p:sp>
      <p:sp>
        <p:nvSpPr>
          <p:cNvPr id="9" name="TextBox 8"/>
          <p:cNvSpPr txBox="1"/>
          <p:nvPr/>
        </p:nvSpPr>
        <p:spPr>
          <a:xfrm>
            <a:off x="716280" y="350702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encoding · selection token</a:t>
            </a:r>
          </a:p>
        </p:txBody>
      </p:sp>
      <p:sp>
        <p:nvSpPr>
          <p:cNvPr id="10" name="Rounded Rectangle 9"/>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315E9C"/>
                </a:solidFill>
                <a:latin typeface="DejaVu Sans"/>
              </a:rPr>
              <a:t>Module registry</a:t>
            </a:r>
          </a:p>
        </p:txBody>
      </p:sp>
      <p:sp>
        <p:nvSpPr>
          <p:cNvPr id="12" name="TextBox 11"/>
          <p:cNvSpPr txBox="1"/>
          <p:nvPr/>
        </p:nvSpPr>
        <p:spPr>
          <a:xfrm>
            <a:off x="4396740" y="301934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Supply operator-configured</a:t>
            </a:r>
          </a:p>
        </p:txBody>
      </p:sp>
      <p:sp>
        <p:nvSpPr>
          <p:cNvPr id="13" name="TextBox 12"/>
          <p:cNvSpPr txBox="1"/>
          <p:nvPr/>
        </p:nvSpPr>
        <p:spPr>
          <a:xfrm>
            <a:off x="4396740" y="326318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provider descriptors for</a:t>
            </a:r>
          </a:p>
        </p:txBody>
      </p:sp>
      <p:sp>
        <p:nvSpPr>
          <p:cNvPr id="14" name="TextBox 13"/>
          <p:cNvSpPr txBox="1"/>
          <p:nvPr/>
        </p:nvSpPr>
        <p:spPr>
          <a:xfrm>
            <a:off x="4396740" y="350702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deterministic compatibility</a:t>
            </a:r>
          </a:p>
        </p:txBody>
      </p:sp>
      <p:sp>
        <p:nvSpPr>
          <p:cNvPr id="15" name="TextBox 14"/>
          <p:cNvSpPr txBox="1"/>
          <p:nvPr/>
        </p:nvSpPr>
        <p:spPr>
          <a:xfrm>
            <a:off x="4396740" y="375086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selection.</a:t>
            </a:r>
          </a:p>
        </p:txBody>
      </p:sp>
      <p:cxnSp>
        <p:nvCxnSpPr>
          <p:cNvPr id="16" name="Connector 15"/>
          <p:cNvCxnSpPr/>
          <p:nvPr/>
        </p:nvCxnSpPr>
        <p:spPr>
          <a:xfrm>
            <a:off x="3406140" y="3284219"/>
            <a:ext cx="822960" cy="0"/>
          </a:xfrm>
          <a:prstGeom prst="line">
            <a:avLst/>
          </a:prstGeom>
          <a:ln w="15240">
            <a:solidFill>
              <a:srgbClr val="315E9C"/>
            </a:solidFill>
          </a:ln>
          <a:effectLst/>
        </p:spPr>
      </p:cxnSp>
      <p:sp>
        <p:nvSpPr>
          <p:cNvPr id="17" name="Freeform 16"/>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8" name="Rounded Rectangle 17"/>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19" name="TextBox 18"/>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Descriptor DTO</a:t>
            </a:r>
          </a:p>
        </p:txBody>
      </p:sp>
      <p:sp>
        <p:nvSpPr>
          <p:cNvPr id="20" name="TextBox 19"/>
          <p:cNvSpPr txBox="1"/>
          <p:nvPr/>
        </p:nvSpPr>
        <p:spPr>
          <a:xfrm>
            <a:off x="8572500" y="24883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Version, profile, operations,</a:t>
            </a:r>
          </a:p>
        </p:txBody>
      </p:sp>
      <p:sp>
        <p:nvSpPr>
          <p:cNvPr id="21" name="TextBox 20"/>
          <p:cNvSpPr txBox="1"/>
          <p:nvPr/>
        </p:nvSpPr>
        <p:spPr>
          <a:xfrm>
            <a:off x="8572500" y="27029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guarantees and privacy</a:t>
            </a:r>
          </a:p>
        </p:txBody>
      </p:sp>
      <p:cxnSp>
        <p:nvCxnSpPr>
          <p:cNvPr id="22" name="Connector 21"/>
          <p:cNvCxnSpPr/>
          <p:nvPr/>
        </p:nvCxnSpPr>
        <p:spPr>
          <a:xfrm>
            <a:off x="7467600" y="3284219"/>
            <a:ext cx="426720" cy="0"/>
          </a:xfrm>
          <a:prstGeom prst="line">
            <a:avLst/>
          </a:prstGeom>
          <a:ln w="15240">
            <a:solidFill>
              <a:srgbClr val="315E9C"/>
            </a:solidFill>
          </a:ln>
          <a:effectLst/>
        </p:spPr>
      </p:cxnSp>
      <p:cxnSp>
        <p:nvCxnSpPr>
          <p:cNvPr id="23" name="Connector 22"/>
          <p:cNvCxnSpPr/>
          <p:nvPr/>
        </p:nvCxnSpPr>
        <p:spPr>
          <a:xfrm flipV="1">
            <a:off x="7894320" y="2484120"/>
            <a:ext cx="0" cy="800099"/>
          </a:xfrm>
          <a:prstGeom prst="line">
            <a:avLst/>
          </a:prstGeom>
          <a:ln w="15240">
            <a:solidFill>
              <a:srgbClr val="315E9C"/>
            </a:solidFill>
          </a:ln>
          <a:effectLst/>
        </p:spPr>
      </p:cxnSp>
      <p:cxnSp>
        <p:nvCxnSpPr>
          <p:cNvPr id="24" name="Connector 23"/>
          <p:cNvCxnSpPr/>
          <p:nvPr/>
        </p:nvCxnSpPr>
        <p:spPr>
          <a:xfrm>
            <a:off x="7894320" y="2484120"/>
            <a:ext cx="510540" cy="0"/>
          </a:xfrm>
          <a:prstGeom prst="line">
            <a:avLst/>
          </a:prstGeom>
          <a:ln w="15240">
            <a:solidFill>
              <a:srgbClr val="315E9C"/>
            </a:solidFill>
          </a:ln>
          <a:effectLst/>
        </p:spPr>
      </p:cxnSp>
      <p:sp>
        <p:nvSpPr>
          <p:cNvPr id="25" name="Freeform 24"/>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6" name="Rounded Rectangle 25"/>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7" name="TextBox 26"/>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Operator composition</a:t>
            </a:r>
          </a:p>
        </p:txBody>
      </p:sp>
      <p:sp>
        <p:nvSpPr>
          <p:cNvPr id="28" name="TextBox 27"/>
          <p:cNvSpPr txBox="1"/>
          <p:nvPr/>
        </p:nvSpPr>
        <p:spPr>
          <a:xfrm>
            <a:off x="8572500" y="368472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Configured provider set; no</a:t>
            </a:r>
          </a:p>
        </p:txBody>
      </p:sp>
      <p:sp>
        <p:nvSpPr>
          <p:cNvPr id="29" name="TextBox 28"/>
          <p:cNvSpPr txBox="1"/>
          <p:nvPr/>
        </p:nvSpPr>
        <p:spPr>
          <a:xfrm>
            <a:off x="8572500" y="389930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remote discovery</a:t>
            </a:r>
          </a:p>
        </p:txBody>
      </p:sp>
      <p:cxnSp>
        <p:nvCxnSpPr>
          <p:cNvPr id="30" name="Connector 29"/>
          <p:cNvCxnSpPr/>
          <p:nvPr/>
        </p:nvCxnSpPr>
        <p:spPr>
          <a:xfrm>
            <a:off x="7467600" y="3284219"/>
            <a:ext cx="426720" cy="0"/>
          </a:xfrm>
          <a:prstGeom prst="line">
            <a:avLst/>
          </a:prstGeom>
          <a:ln w="15240">
            <a:solidFill>
              <a:srgbClr val="315E9C"/>
            </a:solidFill>
          </a:ln>
          <a:effectLst/>
        </p:spPr>
      </p:cxnSp>
      <p:cxnSp>
        <p:nvCxnSpPr>
          <p:cNvPr id="31" name="Connector 30"/>
          <p:cNvCxnSpPr/>
          <p:nvPr/>
        </p:nvCxnSpPr>
        <p:spPr>
          <a:xfrm>
            <a:off x="7894320" y="3284219"/>
            <a:ext cx="0" cy="396241"/>
          </a:xfrm>
          <a:prstGeom prst="line">
            <a:avLst/>
          </a:prstGeom>
          <a:ln w="15240">
            <a:solidFill>
              <a:srgbClr val="315E9C"/>
            </a:solidFill>
          </a:ln>
          <a:effectLst/>
        </p:spPr>
      </p:cxnSp>
      <p:cxnSp>
        <p:nvCxnSpPr>
          <p:cNvPr id="32" name="Connector 31"/>
          <p:cNvCxnSpPr/>
          <p:nvPr/>
        </p:nvCxnSpPr>
        <p:spPr>
          <a:xfrm>
            <a:off x="7894320" y="3680460"/>
            <a:ext cx="510540" cy="0"/>
          </a:xfrm>
          <a:prstGeom prst="line">
            <a:avLst/>
          </a:prstGeom>
          <a:ln w="15240">
            <a:solidFill>
              <a:srgbClr val="315E9C"/>
            </a:solidFill>
          </a:ln>
          <a:effectLst/>
        </p:spPr>
      </p:cxnSp>
      <p:sp>
        <p:nvSpPr>
          <p:cNvPr id="33" name="Freeform 32"/>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4" name="Rounded Rectangle 33"/>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5" name="TextBox 34"/>
          <p:cNvSpPr txBox="1"/>
          <p:nvPr/>
        </p:nvSpPr>
        <p:spPr>
          <a:xfrm>
            <a:off x="8572500" y="45415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Canonical encoding</a:t>
            </a:r>
          </a:p>
        </p:txBody>
      </p:sp>
      <p:sp>
        <p:nvSpPr>
          <p:cNvPr id="36" name="TextBox 35"/>
          <p:cNvSpPr txBox="1"/>
          <p:nvPr/>
        </p:nvSpPr>
        <p:spPr>
          <a:xfrm>
            <a:off x="8572500" y="48810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Stable complete-descriptor token</a:t>
            </a:r>
          </a:p>
        </p:txBody>
      </p:sp>
      <p:cxnSp>
        <p:nvCxnSpPr>
          <p:cNvPr id="37" name="Connector 36"/>
          <p:cNvCxnSpPr/>
          <p:nvPr/>
        </p:nvCxnSpPr>
        <p:spPr>
          <a:xfrm>
            <a:off x="7467600" y="3284219"/>
            <a:ext cx="426720" cy="0"/>
          </a:xfrm>
          <a:prstGeom prst="line">
            <a:avLst/>
          </a:prstGeom>
          <a:ln w="15240">
            <a:solidFill>
              <a:srgbClr val="315E9C"/>
            </a:solidFill>
          </a:ln>
          <a:effectLst/>
        </p:spPr>
      </p:cxnSp>
      <p:cxnSp>
        <p:nvCxnSpPr>
          <p:cNvPr id="38" name="Connector 37"/>
          <p:cNvCxnSpPr/>
          <p:nvPr/>
        </p:nvCxnSpPr>
        <p:spPr>
          <a:xfrm>
            <a:off x="7894320" y="3284219"/>
            <a:ext cx="0" cy="1592581"/>
          </a:xfrm>
          <a:prstGeom prst="line">
            <a:avLst/>
          </a:prstGeom>
          <a:ln w="15240">
            <a:solidFill>
              <a:srgbClr val="315E9C"/>
            </a:solidFill>
          </a:ln>
          <a:effectLst/>
        </p:spPr>
      </p:cxnSp>
      <p:cxnSp>
        <p:nvCxnSpPr>
          <p:cNvPr id="39" name="Connector 38"/>
          <p:cNvCxnSpPr/>
          <p:nvPr/>
        </p:nvCxnSpPr>
        <p:spPr>
          <a:xfrm>
            <a:off x="7894320" y="4876800"/>
            <a:ext cx="510540" cy="0"/>
          </a:xfrm>
          <a:prstGeom prst="line">
            <a:avLst/>
          </a:prstGeom>
          <a:ln w="15240">
            <a:solidFill>
              <a:srgbClr val="315E9C"/>
            </a:solidFill>
          </a:ln>
          <a:effectLst/>
        </p:spPr>
      </p:cxnSp>
      <p:sp>
        <p:nvSpPr>
          <p:cNvPr id="40" name="Freeform 39"/>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1" name="Rounded Rectangle 4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2" name="TextBox 41"/>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3" name="Connector 42"/>
          <p:cNvCxnSpPr/>
          <p:nvPr/>
        </p:nvCxnSpPr>
        <p:spPr>
          <a:xfrm>
            <a:off x="548640" y="6393180"/>
            <a:ext cx="11094720" cy="0"/>
          </a:xfrm>
          <a:prstGeom prst="line">
            <a:avLst/>
          </a:prstGeom>
          <a:ln w="7620">
            <a:solidFill>
              <a:srgbClr val="C9D2D4"/>
            </a:solidFill>
          </a:ln>
          <a:effectLst/>
        </p:spPr>
      </p:cxnSp>
      <p:sp>
        <p:nvSpPr>
          <p:cNvPr id="44" name="TextBox 4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45" name="TextBox 4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Configured descriptor list</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Provider identity, implementation version and</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advertised contract metadata</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No runtime domain journal</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job, belief, balance, registration transaction or</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mutable remote catalogue</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Permission and proof</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 descriptor grants no capability and proves no</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advertised guarantee</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Dynamic discovery</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gossip, chain registration, health scheduler or</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public mutation API</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Static catalogue responsibility · static/1; descriptor and implementation versions are separate</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descriptors</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configured M1 provider</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descriptors</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of transport; selected</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AtomStorage provider explicit</a:t>
            </a:r>
          </a:p>
        </p:txBody>
      </p:sp>
      <p:sp>
        <p:nvSpPr>
          <p:cNvPr id="14" name="Rounded Rectangle 13"/>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5" name="TextBox 14"/>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descriptor_wire /</a:t>
            </a:r>
          </a:p>
        </p:txBody>
      </p:sp>
      <p:sp>
        <p:nvSpPr>
          <p:cNvPr id="16" name="TextBox 15"/>
          <p:cNvSpPr txBox="1"/>
          <p:nvPr/>
        </p:nvSpPr>
        <p:spPr>
          <a:xfrm>
            <a:off x="670560" y="331470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descriptor_read</a:t>
            </a:r>
          </a:p>
        </p:txBody>
      </p:sp>
      <p:sp>
        <p:nvSpPr>
          <p:cNvPr id="17" name="TextBox 16"/>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Encode/decode typed metadata</a:t>
            </a:r>
          </a:p>
        </p:txBody>
      </p:sp>
      <p:sp>
        <p:nvSpPr>
          <p:cNvPr id="18" name="TextBox 17"/>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Preserve supported fields and sets</a:t>
            </a:r>
          </a:p>
        </p:txBody>
      </p:sp>
      <p:sp>
        <p:nvSpPr>
          <p:cNvPr id="19" name="Rounded Rectangle 18"/>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0" name="TextBox 19"/>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selection_token</a:t>
            </a:r>
          </a:p>
        </p:txBody>
      </p:sp>
      <p:sp>
        <p:nvSpPr>
          <p:cNvPr id="21" name="TextBox 20"/>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Bind the complete canonical descriptor</a:t>
            </a:r>
          </a:p>
        </p:txBody>
      </p:sp>
      <p:sp>
        <p:nvSpPr>
          <p:cNvPr id="22" name="TextBox 21"/>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Configuration consistency, not remote</a:t>
            </a:r>
          </a:p>
        </p:txBody>
      </p:sp>
      <p:sp>
        <p:nvSpPr>
          <p:cNvPr id="23" name="TextBox 22"/>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authentication</a:t>
            </a:r>
          </a:p>
        </p:txBody>
      </p:sp>
      <p:sp>
        <p:nvSpPr>
          <p:cNvPr id="24" name="Rounded Rectangle 23"/>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5" name="TextBox 24"/>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Composition catalogues</a:t>
            </a:r>
          </a:p>
        </p:txBody>
      </p:sp>
      <p:sp>
        <p:nvSpPr>
          <p:cNvPr id="26" name="TextBox 25"/>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Supply private cognition/lookup</a:t>
            </a:r>
          </a:p>
        </p:txBody>
      </p:sp>
      <p:sp>
        <p:nvSpPr>
          <p:cNvPr id="27" name="TextBox 26"/>
          <p:cNvSpPr txBox="1"/>
          <p:nvPr/>
        </p:nvSpPr>
        <p:spPr>
          <a:xfrm>
            <a:off x="3718560" y="4975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selections</a:t>
            </a:r>
          </a:p>
        </p:txBody>
      </p:sp>
      <p:sp>
        <p:nvSpPr>
          <p:cNvPr id="28" name="TextBox 27"/>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profile requirements, not</a:t>
            </a:r>
          </a:p>
        </p:txBody>
      </p:sp>
      <p:sp>
        <p:nvSpPr>
          <p:cNvPr id="29" name="TextBox 28"/>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automatic inference</a:t>
            </a:r>
          </a:p>
        </p:txBody>
      </p:sp>
      <p:sp>
        <p:nvSpPr>
          <p:cNvPr id="30" name="Rounded Rectangle 2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1" name="TextBox 30"/>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Trusted operator configuration; no independent verification of provider claims.</a:t>
            </a:r>
          </a:p>
        </p:txBody>
      </p:sp>
      <p:cxnSp>
        <p:nvCxnSpPr>
          <p:cNvPr id="32" name="Connector 31"/>
          <p:cNvCxnSpPr/>
          <p:nvPr/>
        </p:nvCxnSpPr>
        <p:spPr>
          <a:xfrm>
            <a:off x="548640" y="6393180"/>
            <a:ext cx="11094720" cy="0"/>
          </a:xfrm>
          <a:prstGeom prst="line">
            <a:avLst/>
          </a:prstGeom>
          <a:ln w="7620">
            <a:solidFill>
              <a:srgbClr val="C9D2D4"/>
            </a:solidFill>
          </a:ln>
          <a:effectLst/>
        </p:spPr>
      </p:cxnSp>
      <p:sp>
        <p:nvSpPr>
          <p:cNvPr id="33" name="TextBox 3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34" name="TextBox 3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LOCAL IMPLEMENTATION · configuration and compatibility fixtures; no registry network</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Configure</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Operator installs</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DeTTa-backed</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AtomStorage.</a:t>
            </a:r>
          </a:p>
        </p:txBody>
      </p:sp>
      <p:cxnSp>
        <p:nvCxnSpPr>
          <p:cNvPr id="11" name="Connector 10"/>
          <p:cNvCxnSpPr/>
          <p:nvPr/>
        </p:nvCxnSpPr>
        <p:spPr>
          <a:xfrm>
            <a:off x="3185160" y="3238500"/>
            <a:ext cx="182880" cy="0"/>
          </a:xfrm>
          <a:prstGeom prst="line">
            <a:avLst/>
          </a:prstGeom>
          <a:ln w="15240">
            <a:solidFill>
              <a:srgbClr val="315E9C"/>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Describe</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Publish version,</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operations, profile</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and local durability.</a:t>
            </a:r>
          </a:p>
        </p:txBody>
      </p:sp>
      <p:cxnSp>
        <p:nvCxnSpPr>
          <p:cNvPr id="19" name="Connector 18"/>
          <p:cNvCxnSpPr/>
          <p:nvPr/>
        </p:nvCxnSpPr>
        <p:spPr>
          <a:xfrm>
            <a:off x="6004559" y="3238500"/>
            <a:ext cx="182881" cy="0"/>
          </a:xfrm>
          <a:prstGeom prst="line">
            <a:avLst/>
          </a:prstGeom>
          <a:ln w="15240">
            <a:solidFill>
              <a:srgbClr val="315E9C"/>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Select</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Resolver matches a</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fixed consumer</a:t>
            </a:r>
          </a:p>
        </p:txBody>
      </p:sp>
      <p:sp>
        <p:nvSpPr>
          <p:cNvPr id="26" name="TextBox 25"/>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requirement.</a:t>
            </a:r>
          </a:p>
        </p:txBody>
      </p:sp>
      <p:cxnSp>
        <p:nvCxnSpPr>
          <p:cNvPr id="27" name="Connector 26"/>
          <p:cNvCxnSpPr/>
          <p:nvPr/>
        </p:nvCxnSpPr>
        <p:spPr>
          <a:xfrm>
            <a:off x="8823960" y="3238500"/>
            <a:ext cx="182880" cy="0"/>
          </a:xfrm>
          <a:prstGeom prst="line">
            <a:avLst/>
          </a:prstGeom>
          <a:ln w="15240">
            <a:solidFill>
              <a:srgbClr val="315E9C"/>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Bind</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Invocation checks</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the complete</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selected token again.</a:t>
            </a:r>
          </a:p>
        </p:txBody>
      </p:sp>
      <p:sp>
        <p:nvSpPr>
          <p:cNvPr id="35" name="Rounded Rectangle 34"/>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6" name="TextBox 35"/>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7" name="TextBox 36"/>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useful descriptor makes both capabilities and uncertainty visible.</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Description ≠ permission</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Authorization remains a separate current</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decision.</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Description ≠ evidence</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Advertised guarantees or measured_slo fields</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are not attestations.</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Complete identity</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Changing any selected descriptor field changes</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the binding token.</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Transport neutrality</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Selecting stdio vs in-process does not redefine</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semantics.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Operator changes configured</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descriptor</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 existing binding fails closed on token</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mismatch.</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silent provider switch</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Descriptor advertises</a:t>
            </a:r>
          </a:p>
        </p:txBody>
      </p:sp>
      <p:sp>
        <p:nvSpPr>
          <p:cNvPr id="16" name="TextBox 15"/>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 feature</a:t>
            </a:r>
          </a:p>
        </p:txBody>
      </p:sp>
      <p:sp>
        <p:nvSpPr>
          <p:cNvPr id="17" name="TextBox 16"/>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Resolver refuses the incompatible</a:t>
            </a:r>
          </a:p>
        </p:txBody>
      </p:sp>
      <p:sp>
        <p:nvSpPr>
          <p:cNvPr id="18" name="TextBox 17"/>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requirement.</a:t>
            </a:r>
          </a:p>
        </p:txBody>
      </p:sp>
      <p:sp>
        <p:nvSpPr>
          <p:cNvPr id="19" name="TextBox 18"/>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compatibility error</a:t>
            </a:r>
          </a:p>
        </p:txBody>
      </p:sp>
      <p:sp>
        <p:nvSpPr>
          <p:cNvPr id="20" name="Rounded Rectangle 19"/>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1" name="TextBox 20"/>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Process restart</a:t>
            </a:r>
          </a:p>
        </p:txBody>
      </p:sp>
      <p:sp>
        <p:nvSpPr>
          <p:cNvPr id="22" name="TextBox 21"/>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Re-read operator configuration; old caller</a:t>
            </a:r>
          </a:p>
        </p:txBody>
      </p:sp>
      <p:sp>
        <p:nvSpPr>
          <p:cNvPr id="23" name="TextBox 22"/>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intent still pins selection.</a:t>
            </a:r>
          </a:p>
        </p:txBody>
      </p:sp>
      <p:sp>
        <p:nvSpPr>
          <p:cNvPr id="24" name="TextBox 23"/>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registry state recovery</a:t>
            </a:r>
          </a:p>
        </p:txBody>
      </p:sp>
      <p:sp>
        <p:nvSpPr>
          <p:cNvPr id="25" name="TextBox 24"/>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transaction</a:t>
            </a:r>
          </a:p>
        </p:txBody>
      </p:sp>
      <p:sp>
        <p:nvSpPr>
          <p:cNvPr id="26" name="Rounded Rectangle 2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7" name="TextBox 26"/>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3</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M1 provider descriptors</a:t>
            </a:r>
          </a:p>
        </p:txBody>
      </p:sp>
      <p:sp>
        <p:nvSpPr>
          <p:cNvPr id="8" name="TextBox 7"/>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AtomStorage, Messaging and</a:t>
            </a:r>
          </a:p>
        </p:txBody>
      </p:sp>
      <p:sp>
        <p:nvSpPr>
          <p:cNvPr id="9" name="TextBox 8"/>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Execution catalogue</a:t>
            </a:r>
          </a:p>
        </p:txBody>
      </p:sp>
      <p:sp>
        <p:nvSpPr>
          <p:cNvPr id="10" name="Rounded Rectangle 9"/>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2 × 2</a:t>
            </a:r>
          </a:p>
        </p:txBody>
      </p:sp>
      <p:sp>
        <p:nvSpPr>
          <p:cNvPr id="12" name="TextBox 11"/>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Storage provider/binding</a:t>
            </a:r>
          </a:p>
        </p:txBody>
      </p:sp>
      <p:sp>
        <p:nvSpPr>
          <p:cNvPr id="13" name="TextBox 12"/>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matrix</a:t>
            </a:r>
          </a:p>
        </p:txBody>
      </p:sp>
      <p:sp>
        <p:nvSpPr>
          <p:cNvPr id="14" name="TextBox 13"/>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Same consumer selection semantics</a:t>
            </a:r>
          </a:p>
        </p:txBody>
      </p:sp>
      <p:sp>
        <p:nvSpPr>
          <p:cNvPr id="15" name="TextBox 14"/>
          <p:cNvSpPr txBox="1"/>
          <p:nvPr/>
        </p:nvSpPr>
        <p:spPr>
          <a:xfrm>
            <a:off x="450342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exercised</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7" name="TextBox 16"/>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0</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Proof verifiers in registry</a:t>
            </a:r>
          </a:p>
        </p:txBody>
      </p:sp>
      <p:sp>
        <p:nvSpPr>
          <p:cNvPr id="19" name="TextBox 18"/>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Required verification is not supplied</a:t>
            </a:r>
          </a:p>
        </p:txBody>
      </p:sp>
      <p:sp>
        <p:nvSpPr>
          <p:cNvPr id="20" name="TextBox 19"/>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by advertising</a:t>
            </a:r>
          </a:p>
        </p:txBody>
      </p:sp>
      <p:sp>
        <p:nvSpPr>
          <p:cNvPr id="21" name="TextBox 20"/>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catalogue lookup latency, update propagation or large-provider-count benchmark exists. Descriptor counts are</a:t>
            </a:r>
          </a:p>
        </p:txBody>
      </p:sp>
      <p:sp>
        <p:nvSpPr>
          <p:cNvPr id="22" name="TextBox 21"/>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implementation scope; conformance tests check consistency and refusal.</a:t>
            </a:r>
          </a:p>
        </p:txBody>
      </p:sp>
      <p:sp>
        <p:nvSpPr>
          <p:cNvPr id="23" name="Rounded Rectangle 22"/>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4" name="TextBox 23"/>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5" name="TextBox 24"/>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fixed valid/invalid descriptor corpora at increasing catalogue size; measure encode/decode/token costs</a:t>
            </a:r>
          </a:p>
        </p:txBody>
      </p:sp>
      <p:sp>
        <p:nvSpPr>
          <p:cNvPr id="26" name="TextBox 25"/>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and memory, separately from resolver selection.</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Executed local descriptor construction/encoding and composition code.</a:t>
            </a:r>
          </a:p>
        </p:txBody>
      </p:sp>
      <p:sp>
        <p:nvSpPr>
          <p:cNvPr id="10" name="Rounded Rectangle 9"/>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1" name="TextBox 10"/>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2" name="TextBox 11"/>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3" name="TextBox 12"/>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Operator configuration, advertised metadata and synthetic compatibility</a:t>
            </a:r>
          </a:p>
        </p:txBody>
      </p:sp>
      <p:sp>
        <p:nvSpPr>
          <p:cNvPr id="14" name="TextBox 13"/>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descriptors.</a:t>
            </a:r>
          </a:p>
        </p:txBody>
      </p:sp>
      <p:sp>
        <p:nvSpPr>
          <p:cNvPr id="15" name="Rounded Rectangle 14"/>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6" name="TextBox 15"/>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7" name="TextBox 16"/>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8" name="TextBox 17"/>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Verified remote guarantees cannot be satisfied: no proof verifier is implemented.</a:t>
            </a:r>
          </a:p>
        </p:txBody>
      </p:sp>
      <p:sp>
        <p:nvSpPr>
          <p:cNvPr id="19" name="Rounded Rectangle 18"/>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0" name="TextBox 19"/>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1" name="TextBox 20"/>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Remote discovery, dynamic registration, health monitoring, signed attestations</a:t>
            </a:r>
          </a:p>
        </p:txBody>
      </p:sp>
      <p:sp>
        <p:nvSpPr>
          <p:cNvPr id="22" name="TextBox 21"/>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registry scaling.</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Make metadata</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evidence-backed</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Verifier identity and evidence expiry</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contract</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Rejected stale or unverified claims</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stay visible</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Improve operator</a:t>
            </a:r>
          </a:p>
        </p:txBody>
      </p:sp>
      <p:sp>
        <p:nvSpPr>
          <p:cNvPr id="17" name="TextBox 16"/>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inspection</a:t>
            </a:r>
          </a:p>
        </p:txBody>
      </p:sp>
      <p:sp>
        <p:nvSpPr>
          <p:cNvPr id="18" name="TextBox 17"/>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Read-only catalogue and selection</a:t>
            </a:r>
          </a:p>
        </p:txBody>
      </p:sp>
      <p:sp>
        <p:nvSpPr>
          <p:cNvPr id="19" name="TextBox 18"/>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explanation</a:t>
            </a:r>
          </a:p>
        </p:txBody>
      </p:sp>
      <p:sp>
        <p:nvSpPr>
          <p:cNvPr id="20" name="TextBox 19"/>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Show why a provider is installed</a:t>
            </a:r>
          </a:p>
        </p:txBody>
      </p:sp>
      <p:sp>
        <p:nvSpPr>
          <p:cNvPr id="21" name="TextBox 20"/>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versus selected</a:t>
            </a:r>
          </a:p>
        </p:txBody>
      </p:sp>
      <p:sp>
        <p:nvSpPr>
          <p:cNvPr id="22" name="Rounded Rectangle 21"/>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3" name="TextBox 22"/>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Explore dynamic</a:t>
            </a:r>
          </a:p>
        </p:txBody>
      </p:sp>
      <p:sp>
        <p:nvSpPr>
          <p:cNvPr id="24" name="TextBox 23"/>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catalogues</a:t>
            </a:r>
          </a:p>
        </p:txBody>
      </p:sp>
      <p:sp>
        <p:nvSpPr>
          <p:cNvPr id="25" name="TextBox 24"/>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Ownership, consistency and revocation</a:t>
            </a:r>
          </a:p>
        </p:txBody>
      </p:sp>
      <p:sp>
        <p:nvSpPr>
          <p:cNvPr id="26" name="TextBox 25"/>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semantics first</a:t>
            </a:r>
          </a:p>
        </p:txBody>
      </p:sp>
      <p:sp>
        <p:nvSpPr>
          <p:cNvPr id="27" name="TextBox 26"/>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name-only or stale-token fallback</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 useful descriptor makes both capabilities and uncertainty visible.</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scripts/verify_m11.py --fixture-only</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Fixture-only validates registry/resolver/binding behavior without claiming real DA, Hive or chain. Private</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compositions have additional explicit descriptor checks in their own suites.</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fusion/registry.py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fusion/bindings.py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fusion/cognition.py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fusion/lookup_composition.py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Module registry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Module registry</dc:title>
  <dc:subject>Supply operator-configured provider descriptors for deterministic compatibility selection.</dc:subject>
  <dc:creator>Omega × ASI module-interface project</dc:creator>
  <cp:keywords>Omega, ASI, M5, ELI16, Module registry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