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analogy, then state the technical responsibility: Own episode identity, ordered event acceptance, occurrence replay and evidence-delivery intents. Later belief changes need a durable history of occurrences and provenance. Processing receipts must work even when no numerical belief can be formed. Do not treat the analogy as an additional experiment. This is a standalone talk about one responsibility, not a claim that every module is a separate service or repository.</a:t>
            </a:r>
          </a:p>
          <a:p/>
          <a:p>
            <a:r>
              <a:t>Evidence and implementation: [episodes.py](https://github.com/machieke/fusion-module-interfaces/blob/494df69a1ac401c3d3b2cf79dbfde07f74b5e277/fusion/episodes.py), [delivery_contracts.py](https://github.com/machieke/fusion-module-interfaces/blob/494df69a1ac401c3d3b2cf79dbfde07f74b5e277/fusion/delivery_contracts.py), [evidence_relay.py](https://github.com/machieke/fusion-module-interfaces/blob/494df69a1ac401c3d3b2cf79dbfde07f74b5e277/fusion/evidence_relay.py), [test_m3_1_delivery.py](https://github.com/machieke/fusion-module-interfaces/blob/494df69a1ac401c3d3b2cf79dbfde07f74b5e277/tests/test_m3_1_delivery.py), [verification.json](https://github.com/machieke/fusion-module-interfaces/blob/494df69a1ac401c3d3b2cf79dbfde07f74b5e277/docs/module-interfaces/evidence/m3_1/final/verification.json), [non-numeric-processing.json](https://github.com/machieke/fusion-module-interfaces/blob/494df69a1ac401c3d3b2cf79dbfde07f74b5e277/docs/module-interfaces/evidence/m3_1/non-numeric-processing.json).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EpisodicMemory · C1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EpisodicMemory · C1 in the bounded fifteen-family inventory. The grey groups are explanatory categories, not deployment units. RevisionMath, the evidence relay, native plugins and transport bindings are supporting seams rather than additional module families. Registry and Resolver are separate responsibilities even though both are implemented in registry.py. Fifteen represented families is not full Omega requirements coverage. C1 has no PLN, C2 or Hive runtime requirement. The relay calls C1 and C2 through ports, but owns only handoff progress; C1 validates completion identity, not belief snapshots.</a:t>
            </a:r>
          </a:p>
          <a:p/>
          <a:p>
            <a:r>
              <a:t>Evidence and implementation: [episodes.py](https://github.com/machieke/fusion-module-interfaces/blob/494df69a1ac401c3d3b2cf79dbfde07f74b5e277/fusion/episodes.py), [delivery_contracts.py](https://github.com/machieke/fusion-module-interfaces/blob/494df69a1ac401c3d3b2cf79dbfde07f74b5e277/fusion/delivery_contracts.py), [evidence_relay.py](https://github.com/machieke/fusion-module-interfaces/blob/494df69a1ac401c3d3b2cf79dbfde07f74b5e277/fusion/evidence_relay.py), [test_m3_1_delivery.py](https://github.com/machieke/fusion-module-interfaces/blob/494df69a1ac401c3d3b2cf79dbfde07f74b5e277/tests/test_m3_1_delivery.py), [verification.json](https://github.com/machieke/fusion-module-interfaces/blob/494df69a1ac401c3d3b2cf79dbfde07f74b5e277/docs/module-interfaces/evidence/m3_1/final/verification.json), [non-numeric-processing.json](https://github.com/machieke/fusion-module-interfaces/blob/494df69a1ac401c3d3b2cf79dbfde07f74b5e277/docs/module-interfaces/evidence/m3_1/non-numeric-processing.json).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EpisodicMemory · C1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C1 has no PLN, C2 or Hive runtime requirement. The relay calls C1 and C2 through ports, but owns only handoff progress; C1 validates completion identity, not belief snapshots. The left node is a caller or caller class; the right nodes distinguish foreign ports, pure helpers, local state and runtime internals. There is no implied shared transaction. C2 owns admission; RevisionMath/PLN supply proposals.</a:t>
            </a:r>
          </a:p>
          <a:p/>
          <a:p>
            <a:r>
              <a:t>Evidence and implementation: [episodes.py](https://github.com/machieke/fusion-module-interfaces/blob/494df69a1ac401c3d3b2cf79dbfde07f74b5e277/fusion/episodes.py), [delivery_contracts.py](https://github.com/machieke/fusion-module-interfaces/blob/494df69a1ac401c3d3b2cf79dbfde07f74b5e277/fusion/delivery_contracts.py), [evidence_relay.py](https://github.com/machieke/fusion-module-interfaces/blob/494df69a1ac401c3d3b2cf79dbfde07f74b5e277/fusion/evidence_relay.py), [test_m3_1_delivery.py](https://github.com/machieke/fusion-module-interfaces/blob/494df69a1ac401c3d3b2cf79dbfde07f74b5e277/tests/test_m3_1_delivery.py), [verification.json](https://github.com/machieke/fusion-module-interfaces/blob/494df69a1ac401c3d3b2cf79dbfde07f74b5e277/docs/module-interfaces/evidence/m3_1/final/verification.json), [non-numeric-processing.json](https://github.com/machieke/fusion-module-interfaces/blob/494df69a1ac401c3d3b2cf79dbfde07f74b5e277/docs/module-interfaces/evidence/m3_1/non-numeric-processing.json).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EpisodicMemory · C1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ownership is the key contract, not the file layout. Episode ledger: Identity/head, accepted events, occurrence semantics and replay. Delivery intent: Pending evidence and trusted model-independent completion. Belief and numeric ownership: C2 owns admission; RevisionMath/PLN supply proposals. Foreign owner state: No C2 SQL reads and no interpretation of PLN snapshot internals. Explicit compatibility: episode-local-sequence/2; M3.1 local 3.0.0 adds episode-delivery-completion/1. Limits: 256 events/episode; 16 pending deliveries; bounded pages; trusted local placement.</a:t>
            </a:r>
          </a:p>
          <a:p/>
          <a:p>
            <a:r>
              <a:t>Evidence and implementation: [episodes.py](https://github.com/machieke/fusion-module-interfaces/blob/494df69a1ac401c3d3b2cf79dbfde07f74b5e277/fusion/episodes.py), [delivery_contracts.py](https://github.com/machieke/fusion-module-interfaces/blob/494df69a1ac401c3d3b2cf79dbfde07f74b5e277/fusion/delivery_contracts.py), [evidence_relay.py](https://github.com/machieke/fusion-module-interfaces/blob/494df69a1ac401c3d3b2cf79dbfde07f74b5e277/fusion/evidence_relay.py), [test_m3_1_delivery.py](https://github.com/machieke/fusion-module-interfaces/blob/494df69a1ac401c3d3b2cf79dbfde07f74b5e277/tests/test_m3_1_delivery.py), [verification.json](https://github.com/machieke/fusion-module-interfaces/blob/494df69a1ac401c3d3b2cf79dbfde07f74b5e277/docs/module-interfaces/evidence/m3_1/final/verification.json), [non-numeric-processing.json](https://github.com/machieke/fusion-module-interfaces/blob/494df69a1ac401c3d3b2cf79dbfde07f74b5e277/docs/module-interfaces/evidence/m3_1/non-numeric-processing.json).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EpisodicMemory · C1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contract from inputs to effects. recordEpisode / appendEvent: Create identity; append at expected sequence; Event + delivery intent commit atomically. readEpisode / readEvidence: Read ordered accepted history; Observed time is metadata, not ordering authority. pendingEvidence: Return bounded pending deliveries; Backpressure prevents dropped evidence. acknowledgeDelivery: Accept trusted processing completion; M3.1 local v3; old v2 remains explicit. Operation groups on this slide are not a new coverage denominator. The evidence ledger distinguishes new operations from inherited dependencies. Supporting internal helpers are labelled as seams and are not advertised remote services.</a:t>
            </a:r>
          </a:p>
          <a:p/>
          <a:p>
            <a:r>
              <a:t>Evidence and implementation: [episodes.py](https://github.com/machieke/fusion-module-interfaces/blob/494df69a1ac401c3d3b2cf79dbfde07f74b5e277/fusion/episodes.py), [delivery_contracts.py](https://github.com/machieke/fusion-module-interfaces/blob/494df69a1ac401c3d3b2cf79dbfde07f74b5e277/fusion/delivery_contracts.py), [evidence_relay.py](https://github.com/machieke/fusion-module-interfaces/blob/494df69a1ac401c3d3b2cf79dbfde07f74b5e277/fusion/evidence_relay.py), [test_m3_1_delivery.py](https://github.com/machieke/fusion-module-interfaces/blob/494df69a1ac401c3d3b2cf79dbfde07f74b5e277/tests/test_m3_1_delivery.py), [verification.json](https://github.com/machieke/fusion-module-interfaces/blob/494df69a1ac401c3d3b2cf79dbfde07f74b5e277/docs/module-interfaces/evidence/m3_1/final/verification.json), [non-numeric-processing.json](https://github.com/machieke/fusion-module-interfaces/blob/494df69a1ac401c3d3b2cf79dbfde07f74b5e277/docs/module-interfaces/evidence/m3_1/non-numeric-processing.json).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EpisodicMemory · C1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responsibility to observable behavior. 1. Append 16: Accept a full batch of observations. 2. Drain 16: Relay validates C2 receipts; C1 clears pending. 3. Repeat: Append and drain another sixteen. 4. Finish 1: 33 retained events; zero pending after each drain. Evidence classification: M3.1 REAL DeTTa / native PLN · generated observations; historical source labelled. Do not infer performance, broad production readiness or extra runtime integrations from this example.</a:t>
            </a:r>
          </a:p>
          <a:p/>
          <a:p>
            <a:r>
              <a:t>Evidence and implementation: [episodes.py](https://github.com/machieke/fusion-module-interfaces/blob/494df69a1ac401c3d3b2cf79dbfde07f74b5e277/fusion/episodes.py), [delivery_contracts.py](https://github.com/machieke/fusion-module-interfaces/blob/494df69a1ac401c3d3b2cf79dbfde07f74b5e277/fusion/delivery_contracts.py), [evidence_relay.py](https://github.com/machieke/fusion-module-interfaces/blob/494df69a1ac401c3d3b2cf79dbfde07f74b5e277/fusion/evidence_relay.py), [test_m3_1_delivery.py](https://github.com/machieke/fusion-module-interfaces/blob/494df69a1ac401c3d3b2cf79dbfde07f74b5e277/tests/test_m3_1_delivery.py), [verification.json](https://github.com/machieke/fusion-module-interfaces/blob/494df69a1ac401c3d3b2cf79dbfde07f74b5e277/docs/module-interfaces/evidence/m3_1/final/verification.json), [non-numeric-processing.json](https://github.com/machieke/fusion-module-interfaces/blob/494df69a1ac401c3d3b2cf79dbfde07f74b5e277/docs/module-interfaces/evidence/m3_1/non-numeric-processing.json).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EpisodicMemory · C1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invariants should survive provider substitution and future optimization. One occurrence: Same occurrence/body replays; altered meaning conflicts. Ordered acceptance: Expected-head CAS controls append order; observed time cannot retime it. Atomic intent: An accepted evidence event has a delivery intent in the same C1 commit. Independent completion: Processing may finish with no numerical truth value; history remains retained. The supporting tests and runtime evidence are in the linked sources; this slide does not claim a formal proof or a production security audit.</a:t>
            </a:r>
          </a:p>
          <a:p/>
          <a:p>
            <a:r>
              <a:t>Evidence and implementation: [episodes.py](https://github.com/machieke/fusion-module-interfaces/blob/494df69a1ac401c3d3b2cf79dbfde07f74b5e277/fusion/episodes.py), [delivery_contracts.py](https://github.com/machieke/fusion-module-interfaces/blob/494df69a1ac401c3d3b2cf79dbfde07f74b5e277/fusion/delivery_contracts.py), [evidence_relay.py](https://github.com/machieke/fusion-module-interfaces/blob/494df69a1ac401c3d3b2cf79dbfde07f74b5e277/fusion/evidence_relay.py), [test_m3_1_delivery.py](https://github.com/machieke/fusion-module-interfaces/blob/494df69a1ac401c3d3b2cf79dbfde07f74b5e277/tests/test_m3_1_delivery.py), [verification.json](https://github.com/machieke/fusion-module-interfaces/blob/494df69a1ac401c3d3b2cf79dbfde07f74b5e277/docs/module-interfaces/evidence/m3_1/final/verification.json), [non-numeric-processing.json](https://github.com/machieke/fusion-module-interfaces/blob/494df69a1ac401c3d3b2cf79dbfde07f74b5e277/docs/module-interfaces/evidence/m3_1/non-numeric-processing.json).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EpisodicMemory · C1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owner boundary before the recovery claim. Payload saved; append not committed: Retry through AtomStorage, then commit episode state. No cross-owner transaction. C2 decision committed; acknowledgment lost: Relay recovers exact decision and retries trusted completion. No manufactured acknowledgment. Capacity or malformed receipt: Pause with pending evidence; never drop or falsely complete. Repeated-drain and hostile-receipt tests. A fixture can position the failure while a real process is killed. Local replay semantics do not imply exactly-once physical execution, a distributed transaction, or global failover. For pure/static modules the relevant failure is selection/refusal, not invented journal recovery.</a:t>
            </a:r>
          </a:p>
          <a:p/>
          <a:p>
            <a:r>
              <a:t>Evidence and implementation: [episodes.py](https://github.com/machieke/fusion-module-interfaces/blob/494df69a1ac401c3d3b2cf79dbfde07f74b5e277/fusion/episodes.py), [delivery_contracts.py](https://github.com/machieke/fusion-module-interfaces/blob/494df69a1ac401c3d3b2cf79dbfde07f74b5e277/fusion/delivery_contracts.py), [evidence_relay.py](https://github.com/machieke/fusion-module-interfaces/blob/494df69a1ac401c3d3b2cf79dbfde07f74b5e277/fusion/evidence_relay.py), [test_m3_1_delivery.py](https://github.com/machieke/fusion-module-interfaces/blob/494df69a1ac401c3d3b2cf79dbfde07f74b5e277/tests/test_m3_1_delivery.py), [verification.json](https://github.com/machieke/fusion-module-interfaces/blob/494df69a1ac401c3d3b2cf79dbfde07f74b5e277/docs/module-interfaces/evidence/m3_1/final/verification.json), [non-numeric-processing.json](https://github.com/machieke/fusion-module-interfaces/blob/494df69a1ac401c3d3b2cf79dbfde07f74b5e277/docs/module-interfaces/evidence/m3_1/non-numeric-processing.json).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EpisodicMemory · C1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every number with its unit and source class. 33 Observations in one episode: Historical M3.1 repeated-drain observation. 16 / 16 / 1 Three drain batches: Pending returned to zero after every batch. 256 / 16 Lifetime events / pending limit: Contract bounds; distinct from observed 33. This is a delivery/liveness scenario with generated evidence. No append latency, sustained ingestion, storage growth or long-duration retention benchmark is recorded. Proposed: vary append/drain ratio, provenance size and injected relay outage; measure p50/p95 append latency, backlog age and bytes/event without dropping history. No new benchmark is executed for this presentation. Do not compare overlapping suite times or use a one-run workflow measurement as a latency percentile.</a:t>
            </a:r>
          </a:p>
          <a:p/>
          <a:p>
            <a:r>
              <a:t>Evidence and implementation: [episodes.py](https://github.com/machieke/fusion-module-interfaces/blob/494df69a1ac401c3d3b2cf79dbfde07f74b5e277/fusion/episodes.py), [delivery_contracts.py](https://github.com/machieke/fusion-module-interfaces/blob/494df69a1ac401c3d3b2cf79dbfde07f74b5e277/fusion/delivery_contracts.py), [evidence_relay.py](https://github.com/machieke/fusion-module-interfaces/blob/494df69a1ac401c3d3b2cf79dbfde07f74b5e277/fusion/evidence_relay.py), [test_m3_1_delivery.py](https://github.com/machieke/fusion-module-interfaces/blob/494df69a1ac401c3d3b2cf79dbfde07f74b5e277/tests/test_m3_1_delivery.py), [verification.json](https://github.com/machieke/fusion-module-interfaces/blob/494df69a1ac401c3d3b2cf79dbfde07f74b5e277/docs/module-interfaces/evidence/m3_1/final/verification.json), [non-numeric-processing.json](https://github.com/machieke/fusion-module-interfaces/blob/494df69a1ac401c3d3b2cf79dbfde07f74b5e277/docs/module-interfaces/evidence/m3_1/non-numeric-processing.json).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EpisodicMemory · C1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local code is not automatically a production provider. Real: Private SQLite episode owner over real DeTTa; native episode and inference actions. Fixture: Generated reports, operator origins/grants and hostile completion responses. Blocked or unsupported: No required current gate blocked. Pre-existing M3-format pending work is not repaired by new profiles. Unrun: Long-lived production histories, distributed writers, deletion/retention policy and migration. All required M5 gates passed in the recorded final run, including legacy M1–M4 behavior; this presentation does not rerun those integrations. Human maintainers remain unassigned.</a:t>
            </a:r>
          </a:p>
          <a:p/>
          <a:p>
            <a:r>
              <a:t>Evidence and implementation: [episodes.py](https://github.com/machieke/fusion-module-interfaces/blob/494df69a1ac401c3d3b2cf79dbfde07f74b5e277/fusion/episodes.py), [delivery_contracts.py](https://github.com/machieke/fusion-module-interfaces/blob/494df69a1ac401c3d3b2cf79dbfde07f74b5e277/fusion/delivery_contracts.py), [evidence_relay.py](https://github.com/machieke/fusion-module-interfaces/blob/494df69a1ac401c3d3b2cf79dbfde07f74b5e277/fusion/evidence_relay.py), [test_m3_1_delivery.py](https://github.com/machieke/fusion-module-interfaces/blob/494df69a1ac401c3d3b2cf79dbfde07f74b5e277/tests/test_m3_1_delivery.py), [verification.json](https://github.com/machieke/fusion-module-interfaces/blob/494df69a1ac401c3d3b2cf79dbfde07f74b5e277/docs/module-interfaces/evidence/m3_1/final/verification.json), [non-numeric-processing.json](https://github.com/machieke/fusion-module-interfaces/blob/494df69a1ac401c3d3b2cf79dbfde07f74b5e277/docs/module-interfaces/evidence/m3_1/non-numeric-processing.json).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EpisodicMemory · C1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future work as conditional engineering proposals. Measure backlog behavior requires Rate-controlled append/drain and outages; success means No loss; bounded backpressure and recovery age. Add explicit retention policy requires Provenance and replay obligations first; success means Deletion cannot silently invalidate accepted evidence. Improve inspection tools requires Authorized read-only views with privacy controls; success means Explain event order and delivery state without exposing identifiers. No new cognition, scheduler, migration or chain capability is implemented by this series. Any changed numerical semantics, placement or replay lifetime requires separate design and verification rather than a presentation claim.</a:t>
            </a:r>
          </a:p>
          <a:p/>
          <a:p>
            <a:r>
              <a:t>Evidence and implementation: [episodes.py](https://github.com/machieke/fusion-module-interfaces/blob/494df69a1ac401c3d3b2cf79dbfde07f74b5e277/fusion/episodes.py), [delivery_contracts.py](https://github.com/machieke/fusion-module-interfaces/blob/494df69a1ac401c3d3b2cf79dbfde07f74b5e277/fusion/delivery_contracts.py), [evidence_relay.py](https://github.com/machieke/fusion-module-interfaces/blob/494df69a1ac401c3d3b2cf79dbfde07f74b5e277/fusion/evidence_relay.py), [test_m3_1_delivery.py](https://github.com/machieke/fusion-module-interfaces/blob/494df69a1ac401c3d3b2cf79dbfde07f74b5e277/tests/test_m3_1_delivery.py), [verification.json](https://github.com/machieke/fusion-module-interfaces/blob/494df69a1ac401c3d3b2cf79dbfde07f74b5e277/docs/module-interfaces/evidence/m3_1/final/verification.json), [non-numeric-processing.json](https://github.com/machieke/fusion-module-interfaces/blob/494df69a1ac401c3d3b2cf79dbfde07f74b5e277/docs/module-interfaces/evidence/m3_1/non-numeric-processing.json).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EpisodicMemory · C1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Processing completion is not the same as numerical agreement. The reproduction entrypoint is uv run --python 3.11 --locked python scripts/verify_m3_1.py &lt;env&gt; --output &lt;fresh&gt;. Fresh explicit closure profiles; full wrapper includes older regressions. Historical 33-event evidence remains tied to its own tested revision. Build/export checks for this series are separate from runtime tests. Exact upstream pins remain in integration/hive/sources.json, integration/pln/sources.json, integration/pln/deduction-sources.json and the M4/M5 source manifests. Commands use fresh output/state; raw provider environments, credentials, journals and private IDs should not be published.</a:t>
            </a:r>
          </a:p>
          <a:p/>
          <a:p>
            <a:r>
              <a:t>Evidence and implementation: [episodes.py](https://github.com/machieke/fusion-module-interfaces/blob/494df69a1ac401c3d3b2cf79dbfde07f74b5e277/fusion/episodes.py), [delivery_contracts.py](https://github.com/machieke/fusion-module-interfaces/blob/494df69a1ac401c3d3b2cf79dbfde07f74b5e277/fusion/delivery_contracts.py), [evidence_relay.py](https://github.com/machieke/fusion-module-interfaces/blob/494df69a1ac401c3d3b2cf79dbfde07f74b5e277/fusion/evidence_relay.py), [test_m3_1_delivery.py](https://github.com/machieke/fusion-module-interfaces/blob/494df69a1ac401c3d3b2cf79dbfde07f74b5e277/tests/test_m3_1_delivery.py), [verification.json](https://github.com/machieke/fusion-module-interfaces/blob/494df69a1ac401c3d3b2cf79dbfde07f74b5e277/docs/module-interfaces/evidence/m3_1/final/verification.json), [non-numeric-processing.json](https://github.com/machieke/fusion-module-interfaces/blob/494df69a1ac401c3d3b2cf79dbfde07f74b5e277/docs/module-interfaces/evidence/m3_1/non-numeric-processing.json).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EpisodicMemory · C1 · M5 source bfb0ec8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233"/>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AAC0CC"/>
                </a:solidFill>
                <a:latin typeface="DejaVu Sans"/>
              </a:rPr>
              <a:t>OMEGA × ASI / STANDALONE MODULE SERIES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FFFFFF"/>
                </a:solidFill>
                <a:latin typeface="DejaVu Sans"/>
              </a:rPr>
              <a:t>EpisodicMemory · C1</a:t>
            </a:r>
          </a:p>
        </p:txBody>
      </p:sp>
      <p:sp>
        <p:nvSpPr>
          <p:cNvPr id="4" name="TextBox 3"/>
          <p:cNvSpPr txBox="1"/>
          <p:nvPr/>
        </p:nvSpPr>
        <p:spPr>
          <a:xfrm>
            <a:off x="548640" y="1783080"/>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Keep what happened.</a:t>
            </a:r>
          </a:p>
        </p:txBody>
      </p:sp>
      <p:sp>
        <p:nvSpPr>
          <p:cNvPr id="5" name="TextBox 4"/>
          <p:cNvSpPr txBox="1"/>
          <p:nvPr/>
        </p:nvSpPr>
        <p:spPr>
          <a:xfrm>
            <a:off x="548640" y="2343912"/>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Keep disagreement in the record.</a:t>
            </a:r>
          </a:p>
        </p:txBody>
      </p:sp>
      <p:sp>
        <p:nvSpPr>
          <p:cNvPr id="6" name="Rounded Rectangle 5"/>
          <p:cNvSpPr/>
          <p:nvPr/>
        </p:nvSpPr>
        <p:spPr>
          <a:xfrm>
            <a:off x="579120" y="3208020"/>
            <a:ext cx="3112204" cy="274320"/>
          </a:xfrm>
          <a:prstGeom prst="roundRect">
            <a:avLst>
              <a:gd name="adj" fmla="val 19444"/>
            </a:avLst>
          </a:prstGeom>
          <a:solidFill>
            <a:srgbClr val="E4EBF5"/>
          </a:solidFill>
          <a:ln>
            <a:noFill/>
          </a:ln>
          <a:effectLst/>
        </p:spPr>
        <p:txBody>
          <a:bodyPr rtlCol="0" anchor="ctr"/>
          <a:lstStyle/>
          <a:p>
            <a:pPr algn="ctr"/>
          </a:p>
        </p:txBody>
      </p:sp>
      <p:sp>
        <p:nvSpPr>
          <p:cNvPr id="7" name="TextBox 6"/>
          <p:cNvSpPr txBox="1"/>
          <p:nvPr/>
        </p:nvSpPr>
        <p:spPr>
          <a:xfrm>
            <a:off x="685800" y="3261360"/>
            <a:ext cx="2921704"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315E9C"/>
                </a:solidFill>
                <a:latin typeface="DejaVu Sans"/>
              </a:rPr>
              <a:t>ELI16 · THE IDEA IN PLAIN LANGUAGE</a:t>
            </a:r>
          </a:p>
        </p:txBody>
      </p:sp>
      <p:sp>
        <p:nvSpPr>
          <p:cNvPr id="8" name="TextBox 7"/>
          <p:cNvSpPr txBox="1"/>
          <p:nvPr/>
        </p:nvSpPr>
        <p:spPr>
          <a:xfrm>
            <a:off x="579120" y="3649979"/>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A lab notebook: a repeated report does not become a second event, and an</a:t>
            </a:r>
          </a:p>
        </p:txBody>
      </p:sp>
      <p:sp>
        <p:nvSpPr>
          <p:cNvPr id="9" name="TextBox 8"/>
          <p:cNvSpPr txBox="1"/>
          <p:nvPr/>
        </p:nvSpPr>
        <p:spPr>
          <a:xfrm>
            <a:off x="579120" y="3962095"/>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inconvenient observation is not erased.</a:t>
            </a:r>
          </a:p>
        </p:txBody>
      </p:sp>
      <p:sp>
        <p:nvSpPr>
          <p:cNvPr id="10" name="TextBox 9"/>
          <p:cNvSpPr txBox="1"/>
          <p:nvPr/>
        </p:nvSpPr>
        <p:spPr>
          <a:xfrm>
            <a:off x="579120" y="47320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Why it matters: Later belief changes need a durable history of occurrences and provenance.</a:t>
            </a:r>
          </a:p>
        </p:txBody>
      </p:sp>
      <p:sp>
        <p:nvSpPr>
          <p:cNvPr id="11" name="TextBox 10"/>
          <p:cNvSpPr txBox="1"/>
          <p:nvPr/>
        </p:nvSpPr>
        <p:spPr>
          <a:xfrm>
            <a:off x="579120" y="50051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Processing receipts must work even when no numerical belief can be formed.</a:t>
            </a:r>
          </a:p>
        </p:txBody>
      </p:sp>
      <p:sp>
        <p:nvSpPr>
          <p:cNvPr id="12" name="TextBox 11"/>
          <p:cNvSpPr txBox="1"/>
          <p:nvPr/>
        </p:nvSpPr>
        <p:spPr>
          <a:xfrm>
            <a:off x="579120" y="6019800"/>
            <a:ext cx="10439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AAC0CC"/>
                </a:solidFill>
                <a:latin typeface="DejaVu Sans"/>
              </a:rPr>
              <a:t>Through M5 · 17 October 2026 · 12–15 minute talk · evidence and proposals kept separate</a:t>
            </a:r>
          </a:p>
        </p:txBody>
      </p:sp>
      <p:cxnSp>
        <p:nvCxnSpPr>
          <p:cNvPr id="13" name="Connector 12"/>
          <p:cNvCxnSpPr/>
          <p:nvPr/>
        </p:nvCxnSpPr>
        <p:spPr>
          <a:xfrm>
            <a:off x="548640" y="6393180"/>
            <a:ext cx="11094720" cy="0"/>
          </a:xfrm>
          <a:prstGeom prst="line">
            <a:avLst/>
          </a:prstGeom>
          <a:ln w="7620">
            <a:solidFill>
              <a:srgbClr val="536775"/>
            </a:solidFill>
          </a:ln>
          <a:effectLst/>
        </p:spPr>
      </p:cxnSp>
      <p:sp>
        <p:nvSpPr>
          <p:cNvPr id="14" name="TextBox 1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AAC0CC"/>
                </a:solidFill>
                <a:latin typeface="DejaVu Sans"/>
              </a:rPr>
              <a:t>OMEGA × ASI / THROUGH M5 / EpisodicMemory · C1 · M5 source bfb0ec8</a:t>
            </a:r>
          </a:p>
        </p:txBody>
      </p:sp>
      <p:sp>
        <p:nvSpPr>
          <p:cNvPr id="15" name="TextBox 1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AAC0CC"/>
                </a:solidFill>
                <a:latin typeface="DejaVu Sans Mono"/>
              </a:rP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01 / HELICOPTER VIEW</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One module in a system of fifteen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highlighted responsibility is the subject of this talk; placement and process count are separate decisions.</a:t>
            </a:r>
          </a:p>
        </p:txBody>
      </p:sp>
      <p:sp>
        <p:nvSpPr>
          <p:cNvPr id="5" name="Rounded Rectangle 4"/>
          <p:cNvSpPr/>
          <p:nvPr/>
        </p:nvSpPr>
        <p:spPr>
          <a:xfrm>
            <a:off x="5486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6" name="TextBox 5"/>
          <p:cNvSpPr txBox="1"/>
          <p:nvPr/>
        </p:nvSpPr>
        <p:spPr>
          <a:xfrm>
            <a:off x="6858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Persistence</a:t>
            </a:r>
          </a:p>
        </p:txBody>
      </p:sp>
      <p:sp>
        <p:nvSpPr>
          <p:cNvPr id="7" name="Rounded Rectangle 6"/>
          <p:cNvSpPr/>
          <p:nvPr/>
        </p:nvSpPr>
        <p:spPr>
          <a:xfrm>
            <a:off x="6629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8" name="TextBox 7"/>
          <p:cNvSpPr txBox="1"/>
          <p:nvPr/>
        </p:nvSpPr>
        <p:spPr>
          <a:xfrm>
            <a:off x="7620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DA storage</a:t>
            </a:r>
          </a:p>
        </p:txBody>
      </p:sp>
      <p:sp>
        <p:nvSpPr>
          <p:cNvPr id="9" name="Rounded Rectangle 8"/>
          <p:cNvSpPr/>
          <p:nvPr/>
        </p:nvSpPr>
        <p:spPr>
          <a:xfrm>
            <a:off x="6629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0" name="TextBox 9"/>
          <p:cNvSpPr txBox="1"/>
          <p:nvPr/>
        </p:nvSpPr>
        <p:spPr>
          <a:xfrm>
            <a:off x="7620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AtomStorage · C0</a:t>
            </a:r>
          </a:p>
        </p:txBody>
      </p:sp>
      <p:sp>
        <p:nvSpPr>
          <p:cNvPr id="11" name="Rounded Rectangle 10"/>
          <p:cNvSpPr/>
          <p:nvPr/>
        </p:nvSpPr>
        <p:spPr>
          <a:xfrm>
            <a:off x="6629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12" name="TextBox 11"/>
          <p:cNvSpPr txBox="1"/>
          <p:nvPr/>
        </p:nvSpPr>
        <p:spPr>
          <a:xfrm>
            <a:off x="7620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ConsensusFinality</a:t>
            </a:r>
          </a:p>
        </p:txBody>
      </p:sp>
      <p:sp>
        <p:nvSpPr>
          <p:cNvPr id="13" name="Rounded Rectangle 12"/>
          <p:cNvSpPr/>
          <p:nvPr/>
        </p:nvSpPr>
        <p:spPr>
          <a:xfrm>
            <a:off x="33680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14" name="TextBox 13"/>
          <p:cNvSpPr txBox="1"/>
          <p:nvPr/>
        </p:nvSpPr>
        <p:spPr>
          <a:xfrm>
            <a:off x="35052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Knowledge access</a:t>
            </a:r>
          </a:p>
        </p:txBody>
      </p:sp>
      <p:sp>
        <p:nvSpPr>
          <p:cNvPr id="15" name="Rounded Rectangle 14"/>
          <p:cNvSpPr/>
          <p:nvPr/>
        </p:nvSpPr>
        <p:spPr>
          <a:xfrm>
            <a:off x="34823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16" name="TextBox 15"/>
          <p:cNvSpPr txBox="1"/>
          <p:nvPr/>
        </p:nvSpPr>
        <p:spPr>
          <a:xfrm>
            <a:off x="35814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Relations</a:t>
            </a:r>
          </a:p>
        </p:txBody>
      </p:sp>
      <p:sp>
        <p:nvSpPr>
          <p:cNvPr id="17" name="Rounded Rectangle 16"/>
          <p:cNvSpPr/>
          <p:nvPr/>
        </p:nvSpPr>
        <p:spPr>
          <a:xfrm>
            <a:off x="34823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8" name="TextBox 17"/>
          <p:cNvSpPr txBox="1"/>
          <p:nvPr/>
        </p:nvSpPr>
        <p:spPr>
          <a:xfrm>
            <a:off x="35814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Search projection</a:t>
            </a:r>
          </a:p>
        </p:txBody>
      </p:sp>
      <p:sp>
        <p:nvSpPr>
          <p:cNvPr id="19" name="Rounded Rectangle 18"/>
          <p:cNvSpPr/>
          <p:nvPr/>
        </p:nvSpPr>
        <p:spPr>
          <a:xfrm>
            <a:off x="61874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20" name="TextBox 19"/>
          <p:cNvSpPr txBox="1"/>
          <p:nvPr/>
        </p:nvSpPr>
        <p:spPr>
          <a:xfrm>
            <a:off x="63246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Cognition</a:t>
            </a:r>
          </a:p>
        </p:txBody>
      </p:sp>
      <p:sp>
        <p:nvSpPr>
          <p:cNvPr id="21" name="Rounded Rectangle 20"/>
          <p:cNvSpPr/>
          <p:nvPr/>
        </p:nvSpPr>
        <p:spPr>
          <a:xfrm>
            <a:off x="6301740" y="2354580"/>
            <a:ext cx="2407920" cy="449580"/>
          </a:xfrm>
          <a:prstGeom prst="roundRect">
            <a:avLst>
              <a:gd name="adj" fmla="val 13559"/>
            </a:avLst>
          </a:prstGeom>
          <a:solidFill>
            <a:srgbClr val="315E9C"/>
          </a:solidFill>
          <a:ln>
            <a:noFill/>
          </a:ln>
          <a:effectLst/>
        </p:spPr>
        <p:txBody>
          <a:bodyPr rtlCol="0" anchor="ctr"/>
          <a:lstStyle/>
          <a:p>
            <a:pPr algn="ctr"/>
          </a:p>
        </p:txBody>
      </p:sp>
      <p:sp>
        <p:nvSpPr>
          <p:cNvPr id="22" name="TextBox 21"/>
          <p:cNvSpPr txBox="1"/>
          <p:nvPr/>
        </p:nvSpPr>
        <p:spPr>
          <a:xfrm>
            <a:off x="64008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FFFFFF"/>
                </a:solidFill>
                <a:latin typeface="DejaVu Sans"/>
              </a:rPr>
              <a:t>Episodes · C1</a:t>
            </a:r>
          </a:p>
        </p:txBody>
      </p:sp>
      <p:sp>
        <p:nvSpPr>
          <p:cNvPr id="23" name="Rounded Rectangle 22"/>
          <p:cNvSpPr/>
          <p:nvPr/>
        </p:nvSpPr>
        <p:spPr>
          <a:xfrm>
            <a:off x="63017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24" name="TextBox 23"/>
          <p:cNvSpPr txBox="1"/>
          <p:nvPr/>
        </p:nvSpPr>
        <p:spPr>
          <a:xfrm>
            <a:off x="64008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Beliefs · C2</a:t>
            </a:r>
          </a:p>
        </p:txBody>
      </p:sp>
      <p:sp>
        <p:nvSpPr>
          <p:cNvPr id="25" name="Rounded Rectangle 24"/>
          <p:cNvSpPr/>
          <p:nvPr/>
        </p:nvSpPr>
        <p:spPr>
          <a:xfrm>
            <a:off x="63017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26" name="TextBox 25"/>
          <p:cNvSpPr txBox="1"/>
          <p:nvPr/>
        </p:nvSpPr>
        <p:spPr>
          <a:xfrm>
            <a:off x="64008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PLNKernel</a:t>
            </a:r>
          </a:p>
        </p:txBody>
      </p:sp>
      <p:sp>
        <p:nvSpPr>
          <p:cNvPr id="27" name="Rounded Rectangle 26"/>
          <p:cNvSpPr/>
          <p:nvPr/>
        </p:nvSpPr>
        <p:spPr>
          <a:xfrm>
            <a:off x="63017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28" name="TextBox 27"/>
          <p:cNvSpPr txBox="1"/>
          <p:nvPr/>
        </p:nvSpPr>
        <p:spPr>
          <a:xfrm>
            <a:off x="64008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Attention · C3</a:t>
            </a:r>
          </a:p>
        </p:txBody>
      </p:sp>
      <p:sp>
        <p:nvSpPr>
          <p:cNvPr id="29" name="Rounded Rectangle 28"/>
          <p:cNvSpPr/>
          <p:nvPr/>
        </p:nvSpPr>
        <p:spPr>
          <a:xfrm>
            <a:off x="63017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30" name="TextBox 29"/>
          <p:cNvSpPr txBox="1"/>
          <p:nvPr/>
        </p:nvSpPr>
        <p:spPr>
          <a:xfrm>
            <a:off x="64008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Inference · C4</a:t>
            </a:r>
          </a:p>
        </p:txBody>
      </p:sp>
      <p:sp>
        <p:nvSpPr>
          <p:cNvPr id="31" name="Rounded Rectangle 30"/>
          <p:cNvSpPr/>
          <p:nvPr/>
        </p:nvSpPr>
        <p:spPr>
          <a:xfrm>
            <a:off x="90068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32" name="TextBox 31"/>
          <p:cNvSpPr txBox="1"/>
          <p:nvPr/>
        </p:nvSpPr>
        <p:spPr>
          <a:xfrm>
            <a:off x="91440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Coordination + policy</a:t>
            </a:r>
          </a:p>
        </p:txBody>
      </p:sp>
      <p:sp>
        <p:nvSpPr>
          <p:cNvPr id="33" name="Rounded Rectangle 32"/>
          <p:cNvSpPr/>
          <p:nvPr/>
        </p:nvSpPr>
        <p:spPr>
          <a:xfrm>
            <a:off x="91211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34" name="TextBox 33"/>
          <p:cNvSpPr txBox="1"/>
          <p:nvPr/>
        </p:nvSpPr>
        <p:spPr>
          <a:xfrm>
            <a:off x="92202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Messaging</a:t>
            </a:r>
          </a:p>
        </p:txBody>
      </p:sp>
      <p:sp>
        <p:nvSpPr>
          <p:cNvPr id="35" name="Rounded Rectangle 34"/>
          <p:cNvSpPr/>
          <p:nvPr/>
        </p:nvSpPr>
        <p:spPr>
          <a:xfrm>
            <a:off x="91211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36" name="TextBox 35"/>
          <p:cNvSpPr txBox="1"/>
          <p:nvPr/>
        </p:nvSpPr>
        <p:spPr>
          <a:xfrm>
            <a:off x="92202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Execution</a:t>
            </a:r>
          </a:p>
        </p:txBody>
      </p:sp>
      <p:sp>
        <p:nvSpPr>
          <p:cNvPr id="37" name="Rounded Rectangle 36"/>
          <p:cNvSpPr/>
          <p:nvPr/>
        </p:nvSpPr>
        <p:spPr>
          <a:xfrm>
            <a:off x="91211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38" name="TextBox 37"/>
          <p:cNvSpPr txBox="1"/>
          <p:nvPr/>
        </p:nvSpPr>
        <p:spPr>
          <a:xfrm>
            <a:off x="92202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Registry</a:t>
            </a:r>
          </a:p>
        </p:txBody>
      </p:sp>
      <p:sp>
        <p:nvSpPr>
          <p:cNvPr id="39" name="Rounded Rectangle 38"/>
          <p:cNvSpPr/>
          <p:nvPr/>
        </p:nvSpPr>
        <p:spPr>
          <a:xfrm>
            <a:off x="91211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40" name="TextBox 39"/>
          <p:cNvSpPr txBox="1"/>
          <p:nvPr/>
        </p:nvSpPr>
        <p:spPr>
          <a:xfrm>
            <a:off x="92202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Resolver</a:t>
            </a:r>
          </a:p>
        </p:txBody>
      </p:sp>
      <p:sp>
        <p:nvSpPr>
          <p:cNvPr id="41" name="Rounded Rectangle 40"/>
          <p:cNvSpPr/>
          <p:nvPr/>
        </p:nvSpPr>
        <p:spPr>
          <a:xfrm>
            <a:off x="91211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42" name="TextBox 41"/>
          <p:cNvSpPr txBox="1"/>
          <p:nvPr/>
        </p:nvSpPr>
        <p:spPr>
          <a:xfrm>
            <a:off x="92202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Authorization</a:t>
            </a:r>
          </a:p>
        </p:txBody>
      </p:sp>
      <p:sp>
        <p:nvSpPr>
          <p:cNvPr id="43" name="TextBox 42"/>
          <p:cNvSpPr txBox="1"/>
          <p:nvPr/>
        </p:nvSpPr>
        <p:spPr>
          <a:xfrm>
            <a:off x="609600" y="5547360"/>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Own episode identity, ordered event acceptance, occurrence replay and evidence-delivery intents.</a:t>
            </a:r>
          </a:p>
        </p:txBody>
      </p:sp>
      <p:cxnSp>
        <p:nvCxnSpPr>
          <p:cNvPr id="44" name="Connector 43"/>
          <p:cNvCxnSpPr/>
          <p:nvPr/>
        </p:nvCxnSpPr>
        <p:spPr>
          <a:xfrm>
            <a:off x="548640" y="6393180"/>
            <a:ext cx="11094720" cy="0"/>
          </a:xfrm>
          <a:prstGeom prst="line">
            <a:avLst/>
          </a:prstGeom>
          <a:ln w="7620">
            <a:solidFill>
              <a:srgbClr val="C9D2D4"/>
            </a:solidFill>
          </a:ln>
          <a:effectLst/>
        </p:spPr>
      </p:cxnSp>
      <p:sp>
        <p:nvSpPr>
          <p:cNvPr id="45" name="TextBox 44"/>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EpisodicMemory · C1 · M5 source bfb0ec8</a:t>
            </a:r>
          </a:p>
        </p:txBody>
      </p:sp>
      <p:sp>
        <p:nvSpPr>
          <p:cNvPr id="46" name="TextBox 45"/>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02 / FUNCTION DEPENDENCIES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Dependencies explain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Arrows point from caller to dependency. Stores and runtime internals are labelled explicitly.</a:t>
            </a:r>
          </a:p>
        </p:txBody>
      </p:sp>
      <p:sp>
        <p:nvSpPr>
          <p:cNvPr id="5" name="Rounded Rectangle 4"/>
          <p:cNvSpPr/>
          <p:nvPr/>
        </p:nvSpPr>
        <p:spPr>
          <a:xfrm>
            <a:off x="548640" y="2453640"/>
            <a:ext cx="2857500" cy="1668780"/>
          </a:xfrm>
          <a:prstGeom prst="roundRect">
            <a:avLst>
              <a:gd name="adj" fmla="val 5936"/>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621280"/>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Native</a:t>
            </a:r>
          </a:p>
        </p:txBody>
      </p:sp>
      <p:sp>
        <p:nvSpPr>
          <p:cNvPr id="7" name="TextBox 6"/>
          <p:cNvSpPr txBox="1"/>
          <p:nvPr/>
        </p:nvSpPr>
        <p:spPr>
          <a:xfrm>
            <a:off x="716280" y="2904134"/>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episode/inference</a:t>
            </a:r>
          </a:p>
        </p:txBody>
      </p:sp>
      <p:sp>
        <p:nvSpPr>
          <p:cNvPr id="8" name="TextBox 7"/>
          <p:cNvSpPr txBox="1"/>
          <p:nvPr/>
        </p:nvSpPr>
        <p:spPr>
          <a:xfrm>
            <a:off x="716280" y="3186988"/>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scenario / relay</a:t>
            </a:r>
          </a:p>
        </p:txBody>
      </p:sp>
      <p:sp>
        <p:nvSpPr>
          <p:cNvPr id="9" name="TextBox 8"/>
          <p:cNvSpPr txBox="1"/>
          <p:nvPr/>
        </p:nvSpPr>
        <p:spPr>
          <a:xfrm>
            <a:off x="716280" y="3546043"/>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record · append · read ·</a:t>
            </a:r>
          </a:p>
        </p:txBody>
      </p:sp>
      <p:sp>
        <p:nvSpPr>
          <p:cNvPr id="10" name="TextBox 9"/>
          <p:cNvSpPr txBox="1"/>
          <p:nvPr/>
        </p:nvSpPr>
        <p:spPr>
          <a:xfrm>
            <a:off x="716280" y="3789883"/>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pending · acknowledge</a:t>
            </a:r>
          </a:p>
        </p:txBody>
      </p:sp>
      <p:sp>
        <p:nvSpPr>
          <p:cNvPr id="11" name="Rounded Rectangle 10"/>
          <p:cNvSpPr/>
          <p:nvPr/>
        </p:nvSpPr>
        <p:spPr>
          <a:xfrm>
            <a:off x="4229100" y="2453640"/>
            <a:ext cx="3238500" cy="1668780"/>
          </a:xfrm>
          <a:prstGeom prst="roundRect">
            <a:avLst>
              <a:gd name="adj" fmla="val 5936"/>
            </a:avLst>
          </a:prstGeom>
          <a:solidFill>
            <a:srgbClr val="E4EBF5"/>
          </a:solidFill>
          <a:ln w="7620">
            <a:solidFill>
              <a:srgbClr val="315E9C"/>
            </a:solidFill>
          </a:ln>
          <a:effectLst/>
        </p:spPr>
        <p:txBody>
          <a:bodyPr rtlCol="0" anchor="ctr"/>
          <a:lstStyle/>
          <a:p>
            <a:pPr algn="ctr"/>
          </a:p>
        </p:txBody>
      </p:sp>
      <p:sp>
        <p:nvSpPr>
          <p:cNvPr id="12" name="TextBox 11"/>
          <p:cNvSpPr txBox="1"/>
          <p:nvPr/>
        </p:nvSpPr>
        <p:spPr>
          <a:xfrm>
            <a:off x="4396740" y="2621280"/>
            <a:ext cx="290322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1">
                <a:solidFill>
                  <a:srgbClr val="315E9C"/>
                </a:solidFill>
                <a:latin typeface="DejaVu Sans"/>
              </a:rPr>
              <a:t>EpisodicMemory · C1</a:t>
            </a:r>
          </a:p>
        </p:txBody>
      </p:sp>
      <p:sp>
        <p:nvSpPr>
          <p:cNvPr id="13" name="TextBox 12"/>
          <p:cNvSpPr txBox="1"/>
          <p:nvPr/>
        </p:nvSpPr>
        <p:spPr>
          <a:xfrm>
            <a:off x="4396740" y="3009595"/>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Own episode identity, ordered</a:t>
            </a:r>
          </a:p>
        </p:txBody>
      </p:sp>
      <p:sp>
        <p:nvSpPr>
          <p:cNvPr id="14" name="TextBox 13"/>
          <p:cNvSpPr txBox="1"/>
          <p:nvPr/>
        </p:nvSpPr>
        <p:spPr>
          <a:xfrm>
            <a:off x="4396740" y="3214420"/>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event acceptance, occurrence</a:t>
            </a:r>
          </a:p>
        </p:txBody>
      </p:sp>
      <p:sp>
        <p:nvSpPr>
          <p:cNvPr id="15" name="TextBox 14"/>
          <p:cNvSpPr txBox="1"/>
          <p:nvPr/>
        </p:nvSpPr>
        <p:spPr>
          <a:xfrm>
            <a:off x="4396740" y="3419246"/>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replay and evidence-delivery</a:t>
            </a:r>
          </a:p>
        </p:txBody>
      </p:sp>
      <p:sp>
        <p:nvSpPr>
          <p:cNvPr id="16" name="TextBox 15"/>
          <p:cNvSpPr txBox="1"/>
          <p:nvPr/>
        </p:nvSpPr>
        <p:spPr>
          <a:xfrm>
            <a:off x="4396740" y="3624071"/>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intents.</a:t>
            </a:r>
          </a:p>
        </p:txBody>
      </p:sp>
      <p:cxnSp>
        <p:nvCxnSpPr>
          <p:cNvPr id="17" name="Connector 16"/>
          <p:cNvCxnSpPr/>
          <p:nvPr/>
        </p:nvCxnSpPr>
        <p:spPr>
          <a:xfrm>
            <a:off x="3406140" y="3284219"/>
            <a:ext cx="822960" cy="0"/>
          </a:xfrm>
          <a:prstGeom prst="line">
            <a:avLst/>
          </a:prstGeom>
          <a:ln w="15240">
            <a:solidFill>
              <a:srgbClr val="315E9C"/>
            </a:solidFill>
          </a:ln>
          <a:effectLst/>
        </p:spPr>
      </p:cxnSp>
      <p:sp>
        <p:nvSpPr>
          <p:cNvPr id="18" name="Freeform 17"/>
          <p:cNvSpPr/>
          <p:nvPr/>
        </p:nvSpPr>
        <p:spPr>
          <a:xfrm>
            <a:off x="4130040" y="324612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9" name="Rounded Rectangle 18"/>
          <p:cNvSpPr/>
          <p:nvPr/>
        </p:nvSpPr>
        <p:spPr>
          <a:xfrm>
            <a:off x="8404860" y="198120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20" name="TextBox 19"/>
          <p:cNvSpPr txBox="1"/>
          <p:nvPr/>
        </p:nvSpPr>
        <p:spPr>
          <a:xfrm>
            <a:off x="8572500" y="214884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AtomStorage</a:t>
            </a:r>
          </a:p>
        </p:txBody>
      </p:sp>
      <p:sp>
        <p:nvSpPr>
          <p:cNvPr id="21" name="TextBox 20"/>
          <p:cNvSpPr txBox="1"/>
          <p:nvPr/>
        </p:nvSpPr>
        <p:spPr>
          <a:xfrm>
            <a:off x="8572500" y="2488387"/>
            <a:ext cx="290322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Immutable event/payload bytes</a:t>
            </a:r>
          </a:p>
        </p:txBody>
      </p:sp>
      <p:cxnSp>
        <p:nvCxnSpPr>
          <p:cNvPr id="22" name="Connector 21"/>
          <p:cNvCxnSpPr/>
          <p:nvPr/>
        </p:nvCxnSpPr>
        <p:spPr>
          <a:xfrm>
            <a:off x="7467600" y="3284219"/>
            <a:ext cx="426720" cy="0"/>
          </a:xfrm>
          <a:prstGeom prst="line">
            <a:avLst/>
          </a:prstGeom>
          <a:ln w="15240">
            <a:solidFill>
              <a:srgbClr val="315E9C"/>
            </a:solidFill>
          </a:ln>
          <a:effectLst/>
        </p:spPr>
      </p:cxnSp>
      <p:cxnSp>
        <p:nvCxnSpPr>
          <p:cNvPr id="23" name="Connector 22"/>
          <p:cNvCxnSpPr/>
          <p:nvPr/>
        </p:nvCxnSpPr>
        <p:spPr>
          <a:xfrm flipV="1">
            <a:off x="7894320" y="2484120"/>
            <a:ext cx="0" cy="800099"/>
          </a:xfrm>
          <a:prstGeom prst="line">
            <a:avLst/>
          </a:prstGeom>
          <a:ln w="15240">
            <a:solidFill>
              <a:srgbClr val="315E9C"/>
            </a:solidFill>
          </a:ln>
          <a:effectLst/>
        </p:spPr>
      </p:cxnSp>
      <p:cxnSp>
        <p:nvCxnSpPr>
          <p:cNvPr id="24" name="Connector 23"/>
          <p:cNvCxnSpPr/>
          <p:nvPr/>
        </p:nvCxnSpPr>
        <p:spPr>
          <a:xfrm>
            <a:off x="7894320" y="2484120"/>
            <a:ext cx="510540" cy="0"/>
          </a:xfrm>
          <a:prstGeom prst="line">
            <a:avLst/>
          </a:prstGeom>
          <a:ln w="15240">
            <a:solidFill>
              <a:srgbClr val="315E9C"/>
            </a:solidFill>
          </a:ln>
          <a:effectLst/>
        </p:spPr>
      </p:cxnSp>
      <p:sp>
        <p:nvSpPr>
          <p:cNvPr id="25" name="Freeform 24"/>
          <p:cNvSpPr/>
          <p:nvPr/>
        </p:nvSpPr>
        <p:spPr>
          <a:xfrm>
            <a:off x="8305800" y="244602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6" name="Rounded Rectangle 25"/>
          <p:cNvSpPr/>
          <p:nvPr/>
        </p:nvSpPr>
        <p:spPr>
          <a:xfrm>
            <a:off x="8404860" y="317754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27" name="TextBox 26"/>
          <p:cNvSpPr txBox="1"/>
          <p:nvPr/>
        </p:nvSpPr>
        <p:spPr>
          <a:xfrm>
            <a:off x="8572500" y="3345179"/>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PrivateAuthority</a:t>
            </a:r>
          </a:p>
        </p:txBody>
      </p:sp>
      <p:sp>
        <p:nvSpPr>
          <p:cNvPr id="28" name="TextBox 27"/>
          <p:cNvSpPr txBox="1"/>
          <p:nvPr/>
        </p:nvSpPr>
        <p:spPr>
          <a:xfrm>
            <a:off x="8572500" y="3684727"/>
            <a:ext cx="290322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Current scope + origin/selection</a:t>
            </a:r>
          </a:p>
        </p:txBody>
      </p:sp>
      <p:cxnSp>
        <p:nvCxnSpPr>
          <p:cNvPr id="29" name="Connector 28"/>
          <p:cNvCxnSpPr/>
          <p:nvPr/>
        </p:nvCxnSpPr>
        <p:spPr>
          <a:xfrm>
            <a:off x="7467600" y="3284219"/>
            <a:ext cx="426720" cy="0"/>
          </a:xfrm>
          <a:prstGeom prst="line">
            <a:avLst/>
          </a:prstGeom>
          <a:ln w="15240">
            <a:solidFill>
              <a:srgbClr val="315E9C"/>
            </a:solidFill>
          </a:ln>
          <a:effectLst/>
        </p:spPr>
      </p:cxnSp>
      <p:cxnSp>
        <p:nvCxnSpPr>
          <p:cNvPr id="30" name="Connector 29"/>
          <p:cNvCxnSpPr/>
          <p:nvPr/>
        </p:nvCxnSpPr>
        <p:spPr>
          <a:xfrm>
            <a:off x="7894320" y="3284219"/>
            <a:ext cx="0" cy="396241"/>
          </a:xfrm>
          <a:prstGeom prst="line">
            <a:avLst/>
          </a:prstGeom>
          <a:ln w="15240">
            <a:solidFill>
              <a:srgbClr val="315E9C"/>
            </a:solidFill>
          </a:ln>
          <a:effectLst/>
        </p:spPr>
      </p:cxnSp>
      <p:cxnSp>
        <p:nvCxnSpPr>
          <p:cNvPr id="31" name="Connector 30"/>
          <p:cNvCxnSpPr/>
          <p:nvPr/>
        </p:nvCxnSpPr>
        <p:spPr>
          <a:xfrm>
            <a:off x="7894320" y="3680460"/>
            <a:ext cx="510540" cy="0"/>
          </a:xfrm>
          <a:prstGeom prst="line">
            <a:avLst/>
          </a:prstGeom>
          <a:ln w="15240">
            <a:solidFill>
              <a:srgbClr val="315E9C"/>
            </a:solidFill>
          </a:ln>
          <a:effectLst/>
        </p:spPr>
      </p:cxnSp>
      <p:sp>
        <p:nvSpPr>
          <p:cNvPr id="32" name="Freeform 31"/>
          <p:cNvSpPr/>
          <p:nvPr/>
        </p:nvSpPr>
        <p:spPr>
          <a:xfrm>
            <a:off x="8305800" y="364236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33" name="Rounded Rectangle 32"/>
          <p:cNvSpPr/>
          <p:nvPr/>
        </p:nvSpPr>
        <p:spPr>
          <a:xfrm>
            <a:off x="8404860" y="437388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34" name="TextBox 33"/>
          <p:cNvSpPr txBox="1"/>
          <p:nvPr/>
        </p:nvSpPr>
        <p:spPr>
          <a:xfrm>
            <a:off x="8572500" y="4541520"/>
            <a:ext cx="290322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315E9C"/>
                </a:solidFill>
                <a:latin typeface="DejaVu Sans"/>
              </a:rPr>
              <a:t>Trusted completion context</a:t>
            </a:r>
          </a:p>
        </p:txBody>
      </p:sp>
      <p:sp>
        <p:nvSpPr>
          <p:cNvPr id="35" name="TextBox 34"/>
          <p:cNvSpPr txBox="1"/>
          <p:nvPr/>
        </p:nvSpPr>
        <p:spPr>
          <a:xfrm>
            <a:off x="8572500" y="4851806"/>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Selected consumer identity for</a:t>
            </a:r>
          </a:p>
        </p:txBody>
      </p:sp>
      <p:sp>
        <p:nvSpPr>
          <p:cNvPr id="36" name="TextBox 35"/>
          <p:cNvSpPr txBox="1"/>
          <p:nvPr/>
        </p:nvSpPr>
        <p:spPr>
          <a:xfrm>
            <a:off x="8572500" y="5056632"/>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M3.1 acknowledgment</a:t>
            </a:r>
          </a:p>
        </p:txBody>
      </p:sp>
      <p:cxnSp>
        <p:nvCxnSpPr>
          <p:cNvPr id="37" name="Connector 36"/>
          <p:cNvCxnSpPr/>
          <p:nvPr/>
        </p:nvCxnSpPr>
        <p:spPr>
          <a:xfrm>
            <a:off x="7467600" y="3284219"/>
            <a:ext cx="426720" cy="0"/>
          </a:xfrm>
          <a:prstGeom prst="line">
            <a:avLst/>
          </a:prstGeom>
          <a:ln w="15240">
            <a:solidFill>
              <a:srgbClr val="315E9C"/>
            </a:solidFill>
          </a:ln>
          <a:effectLst/>
        </p:spPr>
      </p:cxnSp>
      <p:cxnSp>
        <p:nvCxnSpPr>
          <p:cNvPr id="38" name="Connector 37"/>
          <p:cNvCxnSpPr/>
          <p:nvPr/>
        </p:nvCxnSpPr>
        <p:spPr>
          <a:xfrm>
            <a:off x="7894320" y="3284219"/>
            <a:ext cx="0" cy="1592581"/>
          </a:xfrm>
          <a:prstGeom prst="line">
            <a:avLst/>
          </a:prstGeom>
          <a:ln w="15240">
            <a:solidFill>
              <a:srgbClr val="315E9C"/>
            </a:solidFill>
          </a:ln>
          <a:effectLst/>
        </p:spPr>
      </p:cxnSp>
      <p:cxnSp>
        <p:nvCxnSpPr>
          <p:cNvPr id="39" name="Connector 38"/>
          <p:cNvCxnSpPr/>
          <p:nvPr/>
        </p:nvCxnSpPr>
        <p:spPr>
          <a:xfrm>
            <a:off x="7894320" y="4876800"/>
            <a:ext cx="510540" cy="0"/>
          </a:xfrm>
          <a:prstGeom prst="line">
            <a:avLst/>
          </a:prstGeom>
          <a:ln w="15240">
            <a:solidFill>
              <a:srgbClr val="315E9C"/>
            </a:solidFill>
          </a:ln>
          <a:effectLst/>
        </p:spPr>
      </p:cxnSp>
      <p:sp>
        <p:nvSpPr>
          <p:cNvPr id="40" name="Freeform 39"/>
          <p:cNvSpPr/>
          <p:nvPr/>
        </p:nvSpPr>
        <p:spPr>
          <a:xfrm>
            <a:off x="8305800" y="48387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41" name="Rounded Rectangle 40"/>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42" name="TextBox 41"/>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One responsibility does not imply one process. A dependency does not grant access to its private tables.</a:t>
            </a:r>
          </a:p>
        </p:txBody>
      </p:sp>
      <p:cxnSp>
        <p:nvCxnSpPr>
          <p:cNvPr id="43" name="Connector 42"/>
          <p:cNvCxnSpPr/>
          <p:nvPr/>
        </p:nvCxnSpPr>
        <p:spPr>
          <a:xfrm>
            <a:off x="548640" y="6393180"/>
            <a:ext cx="11094720" cy="0"/>
          </a:xfrm>
          <a:prstGeom prst="line">
            <a:avLst/>
          </a:prstGeom>
          <a:ln w="7620">
            <a:solidFill>
              <a:srgbClr val="C9D2D4"/>
            </a:solidFill>
          </a:ln>
          <a:effectLst/>
        </p:spPr>
      </p:cxnSp>
      <p:sp>
        <p:nvSpPr>
          <p:cNvPr id="44" name="TextBox 4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EpisodicMemory · C1 · M5 source bfb0ec8</a:t>
            </a:r>
          </a:p>
        </p:txBody>
      </p:sp>
      <p:sp>
        <p:nvSpPr>
          <p:cNvPr id="45" name="TextBox 4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OWNERSHIP</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Responsibility, state and scope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owner is authoritative for its own state; other responsibilities are deliberately separate.</a:t>
            </a:r>
          </a:p>
        </p:txBody>
      </p:sp>
      <p:sp>
        <p:nvSpPr>
          <p:cNvPr id="5" name="TextBox 4"/>
          <p:cNvSpPr txBox="1"/>
          <p:nvPr/>
        </p:nvSpPr>
        <p:spPr>
          <a:xfrm>
            <a:off x="640080"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315E9C"/>
                </a:solidFill>
                <a:latin typeface="DejaVu Sans"/>
              </a:rPr>
              <a:t>OWNS / GUARANTEES</a:t>
            </a:r>
          </a:p>
        </p:txBody>
      </p:sp>
      <p:sp>
        <p:nvSpPr>
          <p:cNvPr id="6" name="Rounded Rectangle 5"/>
          <p:cNvSpPr/>
          <p:nvPr/>
        </p:nvSpPr>
        <p:spPr>
          <a:xfrm>
            <a:off x="548640" y="2133600"/>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7" name="TextBox 6"/>
          <p:cNvSpPr txBox="1"/>
          <p:nvPr/>
        </p:nvSpPr>
        <p:spPr>
          <a:xfrm>
            <a:off x="716280"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Episode ledger</a:t>
            </a:r>
          </a:p>
        </p:txBody>
      </p:sp>
      <p:sp>
        <p:nvSpPr>
          <p:cNvPr id="8" name="TextBox 7"/>
          <p:cNvSpPr txBox="1"/>
          <p:nvPr/>
        </p:nvSpPr>
        <p:spPr>
          <a:xfrm>
            <a:off x="716280"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Identity/head, accepted events, occurrence</a:t>
            </a:r>
          </a:p>
        </p:txBody>
      </p:sp>
      <p:sp>
        <p:nvSpPr>
          <p:cNvPr id="9" name="TextBox 8"/>
          <p:cNvSpPr txBox="1"/>
          <p:nvPr/>
        </p:nvSpPr>
        <p:spPr>
          <a:xfrm>
            <a:off x="716280"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semantics and replay</a:t>
            </a:r>
          </a:p>
        </p:txBody>
      </p:sp>
      <p:sp>
        <p:nvSpPr>
          <p:cNvPr id="10" name="Rounded Rectangle 9"/>
          <p:cNvSpPr/>
          <p:nvPr/>
        </p:nvSpPr>
        <p:spPr>
          <a:xfrm>
            <a:off x="548640" y="3764279"/>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11" name="TextBox 10"/>
          <p:cNvSpPr txBox="1"/>
          <p:nvPr/>
        </p:nvSpPr>
        <p:spPr>
          <a:xfrm>
            <a:off x="716280"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Delivery intent</a:t>
            </a:r>
          </a:p>
        </p:txBody>
      </p:sp>
      <p:sp>
        <p:nvSpPr>
          <p:cNvPr id="12" name="TextBox 11"/>
          <p:cNvSpPr txBox="1"/>
          <p:nvPr/>
        </p:nvSpPr>
        <p:spPr>
          <a:xfrm>
            <a:off x="716280"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Pending evidence and trusted model-independent</a:t>
            </a:r>
          </a:p>
        </p:txBody>
      </p:sp>
      <p:sp>
        <p:nvSpPr>
          <p:cNvPr id="13" name="TextBox 12"/>
          <p:cNvSpPr txBox="1"/>
          <p:nvPr/>
        </p:nvSpPr>
        <p:spPr>
          <a:xfrm>
            <a:off x="716280"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completion</a:t>
            </a:r>
          </a:p>
        </p:txBody>
      </p:sp>
      <p:sp>
        <p:nvSpPr>
          <p:cNvPr id="14" name="TextBox 13"/>
          <p:cNvSpPr txBox="1"/>
          <p:nvPr/>
        </p:nvSpPr>
        <p:spPr>
          <a:xfrm>
            <a:off x="6309359"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A86A15"/>
                </a:solidFill>
                <a:latin typeface="DejaVu Sans"/>
              </a:rPr>
              <a:t>OUTSIDE THIS RESPONSIBILITY</a:t>
            </a:r>
          </a:p>
        </p:txBody>
      </p:sp>
      <p:sp>
        <p:nvSpPr>
          <p:cNvPr id="15" name="Rounded Rectangle 14"/>
          <p:cNvSpPr/>
          <p:nvPr/>
        </p:nvSpPr>
        <p:spPr>
          <a:xfrm>
            <a:off x="6217920" y="2133600"/>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16" name="TextBox 15"/>
          <p:cNvSpPr txBox="1"/>
          <p:nvPr/>
        </p:nvSpPr>
        <p:spPr>
          <a:xfrm>
            <a:off x="6385559"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Belief and numeric ownership</a:t>
            </a:r>
          </a:p>
        </p:txBody>
      </p:sp>
      <p:sp>
        <p:nvSpPr>
          <p:cNvPr id="17" name="TextBox 16"/>
          <p:cNvSpPr txBox="1"/>
          <p:nvPr/>
        </p:nvSpPr>
        <p:spPr>
          <a:xfrm>
            <a:off x="6385559"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C2 owns admission; RevisionMath/PLN supply</a:t>
            </a:r>
          </a:p>
        </p:txBody>
      </p:sp>
      <p:sp>
        <p:nvSpPr>
          <p:cNvPr id="18" name="TextBox 17"/>
          <p:cNvSpPr txBox="1"/>
          <p:nvPr/>
        </p:nvSpPr>
        <p:spPr>
          <a:xfrm>
            <a:off x="6385559"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proposals</a:t>
            </a:r>
          </a:p>
        </p:txBody>
      </p:sp>
      <p:sp>
        <p:nvSpPr>
          <p:cNvPr id="19" name="Rounded Rectangle 18"/>
          <p:cNvSpPr/>
          <p:nvPr/>
        </p:nvSpPr>
        <p:spPr>
          <a:xfrm>
            <a:off x="6217920" y="3764279"/>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20" name="TextBox 19"/>
          <p:cNvSpPr txBox="1"/>
          <p:nvPr/>
        </p:nvSpPr>
        <p:spPr>
          <a:xfrm>
            <a:off x="6385559"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Foreign owner state</a:t>
            </a:r>
          </a:p>
        </p:txBody>
      </p:sp>
      <p:sp>
        <p:nvSpPr>
          <p:cNvPr id="21" name="TextBox 20"/>
          <p:cNvSpPr txBox="1"/>
          <p:nvPr/>
        </p:nvSpPr>
        <p:spPr>
          <a:xfrm>
            <a:off x="6385559"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No C2 SQL reads and no interpretation of PLN</a:t>
            </a:r>
          </a:p>
        </p:txBody>
      </p:sp>
      <p:sp>
        <p:nvSpPr>
          <p:cNvPr id="22" name="TextBox 21"/>
          <p:cNvSpPr txBox="1"/>
          <p:nvPr/>
        </p:nvSpPr>
        <p:spPr>
          <a:xfrm>
            <a:off x="6385559"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snapshot internals</a:t>
            </a:r>
          </a:p>
        </p:txBody>
      </p:sp>
      <p:sp>
        <p:nvSpPr>
          <p:cNvPr id="23" name="Rounded Rectangle 2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4" name="TextBox 23"/>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episode-local-sequence/2; M3.1 local 3.0.0 adds episode-delivery-completion/1</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EpisodicMemory · C1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CONTRACT</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The executable surface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operations and implementation seams define the supported scope; versions and profiles remain explicit.</a:t>
            </a:r>
          </a:p>
        </p:txBody>
      </p:sp>
      <p:sp>
        <p:nvSpPr>
          <p:cNvPr id="5" name="TextBox 4"/>
          <p:cNvSpPr txBox="1"/>
          <p:nvPr/>
        </p:nvSpPr>
        <p:spPr>
          <a:xfrm>
            <a:off x="670560" y="1790700"/>
            <a:ext cx="2804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OPERATION / SEAM</a:t>
            </a:r>
          </a:p>
        </p:txBody>
      </p:sp>
      <p:sp>
        <p:nvSpPr>
          <p:cNvPr id="6" name="TextBox 5"/>
          <p:cNvSpPr txBox="1"/>
          <p:nvPr/>
        </p:nvSpPr>
        <p:spPr>
          <a:xfrm>
            <a:off x="3718560" y="1790700"/>
            <a:ext cx="3832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RESPONSIBILITY</a:t>
            </a:r>
          </a:p>
        </p:txBody>
      </p:sp>
      <p:sp>
        <p:nvSpPr>
          <p:cNvPr id="7" name="TextBox 6"/>
          <p:cNvSpPr txBox="1"/>
          <p:nvPr/>
        </p:nvSpPr>
        <p:spPr>
          <a:xfrm>
            <a:off x="7795259" y="1790700"/>
            <a:ext cx="37261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CONTRACT CONSEQUENCE</a:t>
            </a:r>
          </a:p>
        </p:txBody>
      </p:sp>
      <p:sp>
        <p:nvSpPr>
          <p:cNvPr id="8" name="Rounded Rectangle 7"/>
          <p:cNvSpPr/>
          <p:nvPr/>
        </p:nvSpPr>
        <p:spPr>
          <a:xfrm>
            <a:off x="548640" y="2110740"/>
            <a:ext cx="11094720" cy="792480"/>
          </a:xfrm>
          <a:prstGeom prst="roundRect">
            <a:avLst>
              <a:gd name="adj" fmla="val 5769"/>
            </a:avLst>
          </a:prstGeom>
          <a:solidFill>
            <a:srgbClr val="FFFFFF"/>
          </a:solidFill>
          <a:ln>
            <a:noFill/>
          </a:ln>
          <a:effectLst/>
        </p:spPr>
        <p:txBody>
          <a:bodyPr rtlCol="0" anchor="ctr"/>
          <a:lstStyle/>
          <a:p>
            <a:pPr algn="ctr"/>
          </a:p>
        </p:txBody>
      </p:sp>
      <p:sp>
        <p:nvSpPr>
          <p:cNvPr id="9" name="TextBox 8"/>
          <p:cNvSpPr txBox="1"/>
          <p:nvPr/>
        </p:nvSpPr>
        <p:spPr>
          <a:xfrm>
            <a:off x="670560" y="224028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recordEpisode /</a:t>
            </a:r>
          </a:p>
        </p:txBody>
      </p:sp>
      <p:sp>
        <p:nvSpPr>
          <p:cNvPr id="10" name="TextBox 9"/>
          <p:cNvSpPr txBox="1"/>
          <p:nvPr/>
        </p:nvSpPr>
        <p:spPr>
          <a:xfrm>
            <a:off x="670560" y="248412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appendEvent</a:t>
            </a:r>
          </a:p>
        </p:txBody>
      </p:sp>
      <p:sp>
        <p:nvSpPr>
          <p:cNvPr id="11" name="TextBox 10"/>
          <p:cNvSpPr txBox="1"/>
          <p:nvPr/>
        </p:nvSpPr>
        <p:spPr>
          <a:xfrm>
            <a:off x="3718560" y="224028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Create identity; append at expected</a:t>
            </a:r>
          </a:p>
        </p:txBody>
      </p:sp>
      <p:sp>
        <p:nvSpPr>
          <p:cNvPr id="12" name="TextBox 11"/>
          <p:cNvSpPr txBox="1"/>
          <p:nvPr/>
        </p:nvSpPr>
        <p:spPr>
          <a:xfrm>
            <a:off x="3718560" y="24841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sequence</a:t>
            </a:r>
          </a:p>
        </p:txBody>
      </p:sp>
      <p:sp>
        <p:nvSpPr>
          <p:cNvPr id="13" name="TextBox 12"/>
          <p:cNvSpPr txBox="1"/>
          <p:nvPr/>
        </p:nvSpPr>
        <p:spPr>
          <a:xfrm>
            <a:off x="7795259" y="224028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Event + delivery intent commit</a:t>
            </a:r>
          </a:p>
        </p:txBody>
      </p:sp>
      <p:sp>
        <p:nvSpPr>
          <p:cNvPr id="14" name="TextBox 13"/>
          <p:cNvSpPr txBox="1"/>
          <p:nvPr/>
        </p:nvSpPr>
        <p:spPr>
          <a:xfrm>
            <a:off x="7795259" y="248412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atomically</a:t>
            </a:r>
          </a:p>
        </p:txBody>
      </p:sp>
      <p:sp>
        <p:nvSpPr>
          <p:cNvPr id="15" name="Rounded Rectangle 14"/>
          <p:cNvSpPr/>
          <p:nvPr/>
        </p:nvSpPr>
        <p:spPr>
          <a:xfrm>
            <a:off x="548640" y="2941320"/>
            <a:ext cx="11094720" cy="792480"/>
          </a:xfrm>
          <a:prstGeom prst="roundRect">
            <a:avLst>
              <a:gd name="adj" fmla="val 5769"/>
            </a:avLst>
          </a:prstGeom>
          <a:solidFill>
            <a:srgbClr val="FFFFFF"/>
          </a:solidFill>
          <a:ln>
            <a:noFill/>
          </a:ln>
          <a:effectLst/>
        </p:spPr>
        <p:txBody>
          <a:bodyPr rtlCol="0" anchor="ctr"/>
          <a:lstStyle/>
          <a:p>
            <a:pPr algn="ctr"/>
          </a:p>
        </p:txBody>
      </p:sp>
      <p:sp>
        <p:nvSpPr>
          <p:cNvPr id="16" name="TextBox 15"/>
          <p:cNvSpPr txBox="1"/>
          <p:nvPr/>
        </p:nvSpPr>
        <p:spPr>
          <a:xfrm>
            <a:off x="670560" y="307086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readEpisode /</a:t>
            </a:r>
          </a:p>
        </p:txBody>
      </p:sp>
      <p:sp>
        <p:nvSpPr>
          <p:cNvPr id="17" name="TextBox 16"/>
          <p:cNvSpPr txBox="1"/>
          <p:nvPr/>
        </p:nvSpPr>
        <p:spPr>
          <a:xfrm>
            <a:off x="670560" y="331470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readEvidence</a:t>
            </a:r>
          </a:p>
        </p:txBody>
      </p:sp>
      <p:sp>
        <p:nvSpPr>
          <p:cNvPr id="18" name="TextBox 17"/>
          <p:cNvSpPr txBox="1"/>
          <p:nvPr/>
        </p:nvSpPr>
        <p:spPr>
          <a:xfrm>
            <a:off x="3718560" y="307086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 ordered accepted history</a:t>
            </a:r>
          </a:p>
        </p:txBody>
      </p:sp>
      <p:sp>
        <p:nvSpPr>
          <p:cNvPr id="19" name="TextBox 18"/>
          <p:cNvSpPr txBox="1"/>
          <p:nvPr/>
        </p:nvSpPr>
        <p:spPr>
          <a:xfrm>
            <a:off x="7795259" y="3070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Observed time is metadata, not</a:t>
            </a:r>
          </a:p>
        </p:txBody>
      </p:sp>
      <p:sp>
        <p:nvSpPr>
          <p:cNvPr id="20" name="TextBox 19"/>
          <p:cNvSpPr txBox="1"/>
          <p:nvPr/>
        </p:nvSpPr>
        <p:spPr>
          <a:xfrm>
            <a:off x="7795259" y="331470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ordering authority</a:t>
            </a:r>
          </a:p>
        </p:txBody>
      </p:sp>
      <p:sp>
        <p:nvSpPr>
          <p:cNvPr id="21" name="Rounded Rectangle 20"/>
          <p:cNvSpPr/>
          <p:nvPr/>
        </p:nvSpPr>
        <p:spPr>
          <a:xfrm>
            <a:off x="548640" y="3771900"/>
            <a:ext cx="11094720" cy="792480"/>
          </a:xfrm>
          <a:prstGeom prst="roundRect">
            <a:avLst>
              <a:gd name="adj" fmla="val 5769"/>
            </a:avLst>
          </a:prstGeom>
          <a:solidFill>
            <a:srgbClr val="FFFFFF"/>
          </a:solidFill>
          <a:ln>
            <a:noFill/>
          </a:ln>
          <a:effectLst/>
        </p:spPr>
        <p:txBody>
          <a:bodyPr rtlCol="0" anchor="ctr"/>
          <a:lstStyle/>
          <a:p>
            <a:pPr algn="ctr"/>
          </a:p>
        </p:txBody>
      </p:sp>
      <p:sp>
        <p:nvSpPr>
          <p:cNvPr id="22" name="TextBox 21"/>
          <p:cNvSpPr txBox="1"/>
          <p:nvPr/>
        </p:nvSpPr>
        <p:spPr>
          <a:xfrm>
            <a:off x="670560" y="390144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pendingEvidence</a:t>
            </a:r>
          </a:p>
        </p:txBody>
      </p:sp>
      <p:sp>
        <p:nvSpPr>
          <p:cNvPr id="23" name="TextBox 22"/>
          <p:cNvSpPr txBox="1"/>
          <p:nvPr/>
        </p:nvSpPr>
        <p:spPr>
          <a:xfrm>
            <a:off x="3718560" y="390144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Return bounded pending deliveries</a:t>
            </a:r>
          </a:p>
        </p:txBody>
      </p:sp>
      <p:sp>
        <p:nvSpPr>
          <p:cNvPr id="24" name="TextBox 23"/>
          <p:cNvSpPr txBox="1"/>
          <p:nvPr/>
        </p:nvSpPr>
        <p:spPr>
          <a:xfrm>
            <a:off x="7795259" y="390144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Backpressure prevents dropped</a:t>
            </a:r>
          </a:p>
        </p:txBody>
      </p:sp>
      <p:sp>
        <p:nvSpPr>
          <p:cNvPr id="25" name="TextBox 24"/>
          <p:cNvSpPr txBox="1"/>
          <p:nvPr/>
        </p:nvSpPr>
        <p:spPr>
          <a:xfrm>
            <a:off x="7795259" y="4145279"/>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evidence</a:t>
            </a:r>
          </a:p>
        </p:txBody>
      </p:sp>
      <p:sp>
        <p:nvSpPr>
          <p:cNvPr id="26" name="Rounded Rectangle 25"/>
          <p:cNvSpPr/>
          <p:nvPr/>
        </p:nvSpPr>
        <p:spPr>
          <a:xfrm>
            <a:off x="548640" y="4602480"/>
            <a:ext cx="11094720" cy="792480"/>
          </a:xfrm>
          <a:prstGeom prst="roundRect">
            <a:avLst>
              <a:gd name="adj" fmla="val 5769"/>
            </a:avLst>
          </a:prstGeom>
          <a:solidFill>
            <a:srgbClr val="FFFFFF"/>
          </a:solidFill>
          <a:ln>
            <a:noFill/>
          </a:ln>
          <a:effectLst/>
        </p:spPr>
        <p:txBody>
          <a:bodyPr rtlCol="0" anchor="ctr"/>
          <a:lstStyle/>
          <a:p>
            <a:pPr algn="ctr"/>
          </a:p>
        </p:txBody>
      </p:sp>
      <p:sp>
        <p:nvSpPr>
          <p:cNvPr id="27" name="TextBox 26"/>
          <p:cNvSpPr txBox="1"/>
          <p:nvPr/>
        </p:nvSpPr>
        <p:spPr>
          <a:xfrm>
            <a:off x="670560" y="473202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acknowledgeDelivery</a:t>
            </a:r>
          </a:p>
        </p:txBody>
      </p:sp>
      <p:sp>
        <p:nvSpPr>
          <p:cNvPr id="28" name="TextBox 27"/>
          <p:cNvSpPr txBox="1"/>
          <p:nvPr/>
        </p:nvSpPr>
        <p:spPr>
          <a:xfrm>
            <a:off x="3718560" y="47320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Accept trusted processing completion</a:t>
            </a:r>
          </a:p>
        </p:txBody>
      </p:sp>
      <p:sp>
        <p:nvSpPr>
          <p:cNvPr id="29" name="TextBox 28"/>
          <p:cNvSpPr txBox="1"/>
          <p:nvPr/>
        </p:nvSpPr>
        <p:spPr>
          <a:xfrm>
            <a:off x="7795259" y="473202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M3.1 local v3; old v2 remains explicit</a:t>
            </a:r>
          </a:p>
        </p:txBody>
      </p:sp>
      <p:sp>
        <p:nvSpPr>
          <p:cNvPr id="30" name="Rounded Rectangle 29"/>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1" name="TextBox 30"/>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256 events/episode; 16 pending deliveries; bounded pages; trusted local placement.</a:t>
            </a:r>
          </a:p>
        </p:txBody>
      </p:sp>
      <p:cxnSp>
        <p:nvCxnSpPr>
          <p:cNvPr id="32" name="Connector 31"/>
          <p:cNvCxnSpPr/>
          <p:nvPr/>
        </p:nvCxnSpPr>
        <p:spPr>
          <a:xfrm>
            <a:off x="548640" y="6393180"/>
            <a:ext cx="11094720" cy="0"/>
          </a:xfrm>
          <a:prstGeom prst="line">
            <a:avLst/>
          </a:prstGeom>
          <a:ln w="7620">
            <a:solidFill>
              <a:srgbClr val="C9D2D4"/>
            </a:solidFill>
          </a:ln>
          <a:effectLst/>
        </p:spPr>
      </p:cxnSp>
      <p:sp>
        <p:nvSpPr>
          <p:cNvPr id="33" name="TextBox 32"/>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EpisodicMemory · C1 · M5 source bfb0ec8</a:t>
            </a:r>
          </a:p>
        </p:txBody>
      </p:sp>
      <p:sp>
        <p:nvSpPr>
          <p:cNvPr id="34" name="TextBox 33"/>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05 / CONCRETE BEHAVIOR</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A worked example through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M3.1 REAL DeTTa / native PLN · generated observations; historical source labelled</a:t>
            </a:r>
          </a:p>
        </p:txBody>
      </p:sp>
      <p:sp>
        <p:nvSpPr>
          <p:cNvPr id="5" name="Rounded Rectangle 4"/>
          <p:cNvSpPr/>
          <p:nvPr/>
        </p:nvSpPr>
        <p:spPr>
          <a:xfrm>
            <a:off x="5486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01 · STEP</a:t>
            </a:r>
          </a:p>
        </p:txBody>
      </p:sp>
      <p:sp>
        <p:nvSpPr>
          <p:cNvPr id="7" name="TextBox 6"/>
          <p:cNvSpPr txBox="1"/>
          <p:nvPr/>
        </p:nvSpPr>
        <p:spPr>
          <a:xfrm>
            <a:off x="7162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Append 16</a:t>
            </a:r>
          </a:p>
        </p:txBody>
      </p:sp>
      <p:sp>
        <p:nvSpPr>
          <p:cNvPr id="8" name="TextBox 7"/>
          <p:cNvSpPr txBox="1"/>
          <p:nvPr/>
        </p:nvSpPr>
        <p:spPr>
          <a:xfrm>
            <a:off x="7162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Accept a full batch of</a:t>
            </a:r>
          </a:p>
        </p:txBody>
      </p:sp>
      <p:sp>
        <p:nvSpPr>
          <p:cNvPr id="9" name="TextBox 8"/>
          <p:cNvSpPr txBox="1"/>
          <p:nvPr/>
        </p:nvSpPr>
        <p:spPr>
          <a:xfrm>
            <a:off x="7162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observations.</a:t>
            </a:r>
          </a:p>
        </p:txBody>
      </p:sp>
      <p:cxnSp>
        <p:nvCxnSpPr>
          <p:cNvPr id="10" name="Connector 9"/>
          <p:cNvCxnSpPr/>
          <p:nvPr/>
        </p:nvCxnSpPr>
        <p:spPr>
          <a:xfrm>
            <a:off x="3185160" y="3238500"/>
            <a:ext cx="182880" cy="0"/>
          </a:xfrm>
          <a:prstGeom prst="line">
            <a:avLst/>
          </a:prstGeom>
          <a:ln w="15240">
            <a:solidFill>
              <a:srgbClr val="315E9C"/>
            </a:solidFill>
          </a:ln>
          <a:effectLst/>
        </p:spPr>
      </p:cxnSp>
      <p:sp>
        <p:nvSpPr>
          <p:cNvPr id="11" name="Freeform 10"/>
          <p:cNvSpPr/>
          <p:nvPr/>
        </p:nvSpPr>
        <p:spPr>
          <a:xfrm>
            <a:off x="32689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2" name="Rounded Rectangle 11"/>
          <p:cNvSpPr/>
          <p:nvPr/>
        </p:nvSpPr>
        <p:spPr>
          <a:xfrm>
            <a:off x="33680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13" name="TextBox 12"/>
          <p:cNvSpPr txBox="1"/>
          <p:nvPr/>
        </p:nvSpPr>
        <p:spPr>
          <a:xfrm>
            <a:off x="3535679"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02 · STEP</a:t>
            </a:r>
          </a:p>
        </p:txBody>
      </p:sp>
      <p:sp>
        <p:nvSpPr>
          <p:cNvPr id="14" name="TextBox 13"/>
          <p:cNvSpPr txBox="1"/>
          <p:nvPr/>
        </p:nvSpPr>
        <p:spPr>
          <a:xfrm>
            <a:off x="3535679"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Drain 16</a:t>
            </a:r>
          </a:p>
        </p:txBody>
      </p:sp>
      <p:sp>
        <p:nvSpPr>
          <p:cNvPr id="15" name="TextBox 14"/>
          <p:cNvSpPr txBox="1"/>
          <p:nvPr/>
        </p:nvSpPr>
        <p:spPr>
          <a:xfrm>
            <a:off x="3535679"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Relay validates C2</a:t>
            </a:r>
          </a:p>
        </p:txBody>
      </p:sp>
      <p:sp>
        <p:nvSpPr>
          <p:cNvPr id="16" name="TextBox 15"/>
          <p:cNvSpPr txBox="1"/>
          <p:nvPr/>
        </p:nvSpPr>
        <p:spPr>
          <a:xfrm>
            <a:off x="3535679"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receipts; C1 clears</a:t>
            </a:r>
          </a:p>
        </p:txBody>
      </p:sp>
      <p:sp>
        <p:nvSpPr>
          <p:cNvPr id="17" name="TextBox 16"/>
          <p:cNvSpPr txBox="1"/>
          <p:nvPr/>
        </p:nvSpPr>
        <p:spPr>
          <a:xfrm>
            <a:off x="3535679"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pending.</a:t>
            </a:r>
          </a:p>
        </p:txBody>
      </p:sp>
      <p:cxnSp>
        <p:nvCxnSpPr>
          <p:cNvPr id="18" name="Connector 17"/>
          <p:cNvCxnSpPr/>
          <p:nvPr/>
        </p:nvCxnSpPr>
        <p:spPr>
          <a:xfrm>
            <a:off x="6004559" y="3238500"/>
            <a:ext cx="182881" cy="0"/>
          </a:xfrm>
          <a:prstGeom prst="line">
            <a:avLst/>
          </a:prstGeom>
          <a:ln w="15240">
            <a:solidFill>
              <a:srgbClr val="315E9C"/>
            </a:solidFill>
          </a:ln>
          <a:effectLst/>
        </p:spPr>
      </p:cxnSp>
      <p:sp>
        <p:nvSpPr>
          <p:cNvPr id="19" name="Freeform 18"/>
          <p:cNvSpPr/>
          <p:nvPr/>
        </p:nvSpPr>
        <p:spPr>
          <a:xfrm>
            <a:off x="60883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0" name="Rounded Rectangle 19"/>
          <p:cNvSpPr/>
          <p:nvPr/>
        </p:nvSpPr>
        <p:spPr>
          <a:xfrm>
            <a:off x="61874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21" name="TextBox 20"/>
          <p:cNvSpPr txBox="1"/>
          <p:nvPr/>
        </p:nvSpPr>
        <p:spPr>
          <a:xfrm>
            <a:off x="63550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03 · STEP</a:t>
            </a:r>
          </a:p>
        </p:txBody>
      </p:sp>
      <p:sp>
        <p:nvSpPr>
          <p:cNvPr id="22" name="TextBox 21"/>
          <p:cNvSpPr txBox="1"/>
          <p:nvPr/>
        </p:nvSpPr>
        <p:spPr>
          <a:xfrm>
            <a:off x="63550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Repeat</a:t>
            </a:r>
          </a:p>
        </p:txBody>
      </p:sp>
      <p:sp>
        <p:nvSpPr>
          <p:cNvPr id="23" name="TextBox 22"/>
          <p:cNvSpPr txBox="1"/>
          <p:nvPr/>
        </p:nvSpPr>
        <p:spPr>
          <a:xfrm>
            <a:off x="63550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Append and drain</a:t>
            </a:r>
          </a:p>
        </p:txBody>
      </p:sp>
      <p:sp>
        <p:nvSpPr>
          <p:cNvPr id="24" name="TextBox 23"/>
          <p:cNvSpPr txBox="1"/>
          <p:nvPr/>
        </p:nvSpPr>
        <p:spPr>
          <a:xfrm>
            <a:off x="63550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another sixteen.</a:t>
            </a:r>
          </a:p>
        </p:txBody>
      </p:sp>
      <p:cxnSp>
        <p:nvCxnSpPr>
          <p:cNvPr id="25" name="Connector 24"/>
          <p:cNvCxnSpPr/>
          <p:nvPr/>
        </p:nvCxnSpPr>
        <p:spPr>
          <a:xfrm>
            <a:off x="8823960" y="3238500"/>
            <a:ext cx="182880" cy="0"/>
          </a:xfrm>
          <a:prstGeom prst="line">
            <a:avLst/>
          </a:prstGeom>
          <a:ln w="15240">
            <a:solidFill>
              <a:srgbClr val="315E9C"/>
            </a:solidFill>
          </a:ln>
          <a:effectLst/>
        </p:spPr>
      </p:cxnSp>
      <p:sp>
        <p:nvSpPr>
          <p:cNvPr id="26" name="Freeform 25"/>
          <p:cNvSpPr/>
          <p:nvPr/>
        </p:nvSpPr>
        <p:spPr>
          <a:xfrm>
            <a:off x="89077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7" name="Rounded Rectangle 26"/>
          <p:cNvSpPr/>
          <p:nvPr/>
        </p:nvSpPr>
        <p:spPr>
          <a:xfrm>
            <a:off x="90068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28" name="TextBox 27"/>
          <p:cNvSpPr txBox="1"/>
          <p:nvPr/>
        </p:nvSpPr>
        <p:spPr>
          <a:xfrm>
            <a:off x="91744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04 · STEP</a:t>
            </a:r>
          </a:p>
        </p:txBody>
      </p:sp>
      <p:sp>
        <p:nvSpPr>
          <p:cNvPr id="29" name="TextBox 28"/>
          <p:cNvSpPr txBox="1"/>
          <p:nvPr/>
        </p:nvSpPr>
        <p:spPr>
          <a:xfrm>
            <a:off x="91744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Finish 1</a:t>
            </a:r>
          </a:p>
        </p:txBody>
      </p:sp>
      <p:sp>
        <p:nvSpPr>
          <p:cNvPr id="30" name="TextBox 29"/>
          <p:cNvSpPr txBox="1"/>
          <p:nvPr/>
        </p:nvSpPr>
        <p:spPr>
          <a:xfrm>
            <a:off x="91744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33 retained events;</a:t>
            </a:r>
          </a:p>
        </p:txBody>
      </p:sp>
      <p:sp>
        <p:nvSpPr>
          <p:cNvPr id="31" name="TextBox 30"/>
          <p:cNvSpPr txBox="1"/>
          <p:nvPr/>
        </p:nvSpPr>
        <p:spPr>
          <a:xfrm>
            <a:off x="91744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zero pending after</a:t>
            </a:r>
          </a:p>
        </p:txBody>
      </p:sp>
      <p:sp>
        <p:nvSpPr>
          <p:cNvPr id="32" name="TextBox 31"/>
          <p:cNvSpPr txBox="1"/>
          <p:nvPr/>
        </p:nvSpPr>
        <p:spPr>
          <a:xfrm>
            <a:off x="91744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each drain.</a:t>
            </a:r>
          </a:p>
        </p:txBody>
      </p:sp>
      <p:sp>
        <p:nvSpPr>
          <p:cNvPr id="33" name="Rounded Rectangle 32"/>
          <p:cNvSpPr/>
          <p:nvPr/>
        </p:nvSpPr>
        <p:spPr>
          <a:xfrm>
            <a:off x="548640" y="4861560"/>
            <a:ext cx="11094720" cy="853440"/>
          </a:xfrm>
          <a:prstGeom prst="roundRect">
            <a:avLst>
              <a:gd name="adj" fmla="val 11607"/>
            </a:avLst>
          </a:prstGeom>
          <a:solidFill>
            <a:srgbClr val="E4EBF5"/>
          </a:solidFill>
          <a:ln w="7620">
            <a:solidFill>
              <a:srgbClr val="315E9C"/>
            </a:solidFill>
          </a:ln>
          <a:effectLst/>
        </p:spPr>
        <p:txBody>
          <a:bodyPr rtlCol="0" anchor="ctr"/>
          <a:lstStyle/>
          <a:p>
            <a:pPr algn="ctr"/>
          </a:p>
        </p:txBody>
      </p:sp>
      <p:sp>
        <p:nvSpPr>
          <p:cNvPr id="34" name="TextBox 33"/>
          <p:cNvSpPr txBox="1"/>
          <p:nvPr/>
        </p:nvSpPr>
        <p:spPr>
          <a:xfrm>
            <a:off x="716280" y="502920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What the example establishes</a:t>
            </a:r>
          </a:p>
        </p:txBody>
      </p:sp>
      <p:sp>
        <p:nvSpPr>
          <p:cNvPr id="35" name="TextBox 34"/>
          <p:cNvSpPr txBox="1"/>
          <p:nvPr/>
        </p:nvSpPr>
        <p:spPr>
          <a:xfrm>
            <a:off x="716280" y="5378500"/>
            <a:ext cx="107594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Processing completion is not the same as numerical agreement.</a:t>
            </a:r>
          </a:p>
        </p:txBody>
      </p:sp>
      <p:cxnSp>
        <p:nvCxnSpPr>
          <p:cNvPr id="36" name="Connector 35"/>
          <p:cNvCxnSpPr/>
          <p:nvPr/>
        </p:nvCxnSpPr>
        <p:spPr>
          <a:xfrm>
            <a:off x="548640" y="6393180"/>
            <a:ext cx="11094720" cy="0"/>
          </a:xfrm>
          <a:prstGeom prst="line">
            <a:avLst/>
          </a:prstGeom>
          <a:ln w="7620">
            <a:solidFill>
              <a:srgbClr val="C9D2D4"/>
            </a:solidFill>
          </a:ln>
          <a:effectLst/>
        </p:spPr>
      </p:cxnSp>
      <p:sp>
        <p:nvSpPr>
          <p:cNvPr id="37" name="TextBox 3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EpisodicMemory · C1 · M5 source bfb0ec8</a:t>
            </a:r>
          </a:p>
        </p:txBody>
      </p:sp>
      <p:sp>
        <p:nvSpPr>
          <p:cNvPr id="38" name="TextBox 3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06 / BEHAVIORAL GUARANTEES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Four invariants to preserve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Each statement is bounded by the selected profile, authority model and tested failure model.</a:t>
            </a:r>
          </a:p>
        </p:txBody>
      </p:sp>
      <p:sp>
        <p:nvSpPr>
          <p:cNvPr id="5" name="Rounded Rectangle 4"/>
          <p:cNvSpPr/>
          <p:nvPr/>
        </p:nvSpPr>
        <p:spPr>
          <a:xfrm>
            <a:off x="548640" y="186690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I1</a:t>
            </a:r>
          </a:p>
        </p:txBody>
      </p:sp>
      <p:sp>
        <p:nvSpPr>
          <p:cNvPr id="7" name="TextBox 6"/>
          <p:cNvSpPr txBox="1"/>
          <p:nvPr/>
        </p:nvSpPr>
        <p:spPr>
          <a:xfrm>
            <a:off x="716280"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One occurrence</a:t>
            </a:r>
          </a:p>
        </p:txBody>
      </p:sp>
      <p:sp>
        <p:nvSpPr>
          <p:cNvPr id="8" name="TextBox 7"/>
          <p:cNvSpPr txBox="1"/>
          <p:nvPr/>
        </p:nvSpPr>
        <p:spPr>
          <a:xfrm>
            <a:off x="716280"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Same occurrence/body replays; altered meaning</a:t>
            </a:r>
          </a:p>
        </p:txBody>
      </p:sp>
      <p:sp>
        <p:nvSpPr>
          <p:cNvPr id="9" name="TextBox 8"/>
          <p:cNvSpPr txBox="1"/>
          <p:nvPr/>
        </p:nvSpPr>
        <p:spPr>
          <a:xfrm>
            <a:off x="716280"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conflicts.</a:t>
            </a:r>
          </a:p>
        </p:txBody>
      </p:sp>
      <p:sp>
        <p:nvSpPr>
          <p:cNvPr id="10" name="Rounded Rectangle 9"/>
          <p:cNvSpPr/>
          <p:nvPr/>
        </p:nvSpPr>
        <p:spPr>
          <a:xfrm>
            <a:off x="6217920" y="186690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11" name="TextBox 10"/>
          <p:cNvSpPr txBox="1"/>
          <p:nvPr/>
        </p:nvSpPr>
        <p:spPr>
          <a:xfrm>
            <a:off x="6385559"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I2</a:t>
            </a:r>
          </a:p>
        </p:txBody>
      </p:sp>
      <p:sp>
        <p:nvSpPr>
          <p:cNvPr id="12" name="TextBox 11"/>
          <p:cNvSpPr txBox="1"/>
          <p:nvPr/>
        </p:nvSpPr>
        <p:spPr>
          <a:xfrm>
            <a:off x="6385559"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Ordered acceptance</a:t>
            </a:r>
          </a:p>
        </p:txBody>
      </p:sp>
      <p:sp>
        <p:nvSpPr>
          <p:cNvPr id="13" name="TextBox 12"/>
          <p:cNvSpPr txBox="1"/>
          <p:nvPr/>
        </p:nvSpPr>
        <p:spPr>
          <a:xfrm>
            <a:off x="6385559"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Expected-head CAS controls append order;</a:t>
            </a:r>
          </a:p>
        </p:txBody>
      </p:sp>
      <p:sp>
        <p:nvSpPr>
          <p:cNvPr id="14" name="TextBox 13"/>
          <p:cNvSpPr txBox="1"/>
          <p:nvPr/>
        </p:nvSpPr>
        <p:spPr>
          <a:xfrm>
            <a:off x="6385559"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observed time cannot retime it.</a:t>
            </a:r>
          </a:p>
        </p:txBody>
      </p:sp>
      <p:sp>
        <p:nvSpPr>
          <p:cNvPr id="15" name="Rounded Rectangle 14"/>
          <p:cNvSpPr/>
          <p:nvPr/>
        </p:nvSpPr>
        <p:spPr>
          <a:xfrm>
            <a:off x="548640" y="371856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16" name="TextBox 15"/>
          <p:cNvSpPr txBox="1"/>
          <p:nvPr/>
        </p:nvSpPr>
        <p:spPr>
          <a:xfrm>
            <a:off x="716280"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I3</a:t>
            </a:r>
          </a:p>
        </p:txBody>
      </p:sp>
      <p:sp>
        <p:nvSpPr>
          <p:cNvPr id="17" name="TextBox 16"/>
          <p:cNvSpPr txBox="1"/>
          <p:nvPr/>
        </p:nvSpPr>
        <p:spPr>
          <a:xfrm>
            <a:off x="716280"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Atomic intent</a:t>
            </a:r>
          </a:p>
        </p:txBody>
      </p:sp>
      <p:sp>
        <p:nvSpPr>
          <p:cNvPr id="18" name="TextBox 17"/>
          <p:cNvSpPr txBox="1"/>
          <p:nvPr/>
        </p:nvSpPr>
        <p:spPr>
          <a:xfrm>
            <a:off x="716280"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An accepted evidence event has a delivery</a:t>
            </a:r>
          </a:p>
        </p:txBody>
      </p:sp>
      <p:sp>
        <p:nvSpPr>
          <p:cNvPr id="19" name="TextBox 18"/>
          <p:cNvSpPr txBox="1"/>
          <p:nvPr/>
        </p:nvSpPr>
        <p:spPr>
          <a:xfrm>
            <a:off x="716280"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intent in the same C1 commit.</a:t>
            </a:r>
          </a:p>
        </p:txBody>
      </p:sp>
      <p:sp>
        <p:nvSpPr>
          <p:cNvPr id="20" name="Rounded Rectangle 19"/>
          <p:cNvSpPr/>
          <p:nvPr/>
        </p:nvSpPr>
        <p:spPr>
          <a:xfrm>
            <a:off x="6217920" y="371856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21" name="TextBox 20"/>
          <p:cNvSpPr txBox="1"/>
          <p:nvPr/>
        </p:nvSpPr>
        <p:spPr>
          <a:xfrm>
            <a:off x="6385559"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I4</a:t>
            </a:r>
          </a:p>
        </p:txBody>
      </p:sp>
      <p:sp>
        <p:nvSpPr>
          <p:cNvPr id="22" name="TextBox 21"/>
          <p:cNvSpPr txBox="1"/>
          <p:nvPr/>
        </p:nvSpPr>
        <p:spPr>
          <a:xfrm>
            <a:off x="6385559"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Independent completion</a:t>
            </a:r>
          </a:p>
        </p:txBody>
      </p:sp>
      <p:sp>
        <p:nvSpPr>
          <p:cNvPr id="23" name="TextBox 22"/>
          <p:cNvSpPr txBox="1"/>
          <p:nvPr/>
        </p:nvSpPr>
        <p:spPr>
          <a:xfrm>
            <a:off x="6385559"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Processing may finish with no numerical truth</a:t>
            </a:r>
          </a:p>
        </p:txBody>
      </p:sp>
      <p:sp>
        <p:nvSpPr>
          <p:cNvPr id="24" name="TextBox 23"/>
          <p:cNvSpPr txBox="1"/>
          <p:nvPr/>
        </p:nvSpPr>
        <p:spPr>
          <a:xfrm>
            <a:off x="6385559"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value; history remains retained.</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EpisodicMemory · C1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07 / RECOVERY AND REFUSAL</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Failure is part of the interface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 lost response, a missing prerequisite and a deliberate refusal require different interpretations.</a:t>
            </a:r>
          </a:p>
        </p:txBody>
      </p:sp>
      <p:sp>
        <p:nvSpPr>
          <p:cNvPr id="5" name="TextBox 4"/>
          <p:cNvSpPr txBox="1"/>
          <p:nvPr/>
        </p:nvSpPr>
        <p:spPr>
          <a:xfrm>
            <a:off x="670560" y="1790700"/>
            <a:ext cx="32232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BOUNDARY / TRIGGER</a:t>
            </a:r>
          </a:p>
        </p:txBody>
      </p:sp>
      <p:sp>
        <p:nvSpPr>
          <p:cNvPr id="6" name="TextBox 5"/>
          <p:cNvSpPr txBox="1"/>
          <p:nvPr/>
        </p:nvSpPr>
        <p:spPr>
          <a:xfrm>
            <a:off x="4137660" y="1790700"/>
            <a:ext cx="4213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OWNER-AUTHORITATIVE OUTCOME</a:t>
            </a:r>
          </a:p>
        </p:txBody>
      </p:sp>
      <p:sp>
        <p:nvSpPr>
          <p:cNvPr id="7" name="TextBox 6"/>
          <p:cNvSpPr txBox="1"/>
          <p:nvPr/>
        </p:nvSpPr>
        <p:spPr>
          <a:xfrm>
            <a:off x="8595360" y="1790700"/>
            <a:ext cx="29260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EVIDENCE / LIMITATION</a:t>
            </a:r>
          </a:p>
        </p:txBody>
      </p:sp>
      <p:sp>
        <p:nvSpPr>
          <p:cNvPr id="8" name="Rounded Rectangle 7"/>
          <p:cNvSpPr/>
          <p:nvPr/>
        </p:nvSpPr>
        <p:spPr>
          <a:xfrm>
            <a:off x="548640" y="2110740"/>
            <a:ext cx="11094720" cy="1066800"/>
          </a:xfrm>
          <a:prstGeom prst="roundRect">
            <a:avLst>
              <a:gd name="adj" fmla="val 4285"/>
            </a:avLst>
          </a:prstGeom>
          <a:solidFill>
            <a:srgbClr val="FFFFFF"/>
          </a:solidFill>
          <a:ln>
            <a:noFill/>
          </a:ln>
          <a:effectLst/>
        </p:spPr>
        <p:txBody>
          <a:bodyPr rtlCol="0" anchor="ctr"/>
          <a:lstStyle/>
          <a:p>
            <a:pPr algn="ctr"/>
          </a:p>
        </p:txBody>
      </p:sp>
      <p:sp>
        <p:nvSpPr>
          <p:cNvPr id="9" name="TextBox 8"/>
          <p:cNvSpPr txBox="1"/>
          <p:nvPr/>
        </p:nvSpPr>
        <p:spPr>
          <a:xfrm>
            <a:off x="670560" y="22402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Payload saved; append not</a:t>
            </a:r>
          </a:p>
        </p:txBody>
      </p:sp>
      <p:sp>
        <p:nvSpPr>
          <p:cNvPr id="10" name="TextBox 9"/>
          <p:cNvSpPr txBox="1"/>
          <p:nvPr/>
        </p:nvSpPr>
        <p:spPr>
          <a:xfrm>
            <a:off x="670560" y="248412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committed</a:t>
            </a:r>
          </a:p>
        </p:txBody>
      </p:sp>
      <p:sp>
        <p:nvSpPr>
          <p:cNvPr id="11" name="TextBox 10"/>
          <p:cNvSpPr txBox="1"/>
          <p:nvPr/>
        </p:nvSpPr>
        <p:spPr>
          <a:xfrm>
            <a:off x="4137660" y="22402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Retry through AtomStorage, then commit</a:t>
            </a:r>
          </a:p>
        </p:txBody>
      </p:sp>
      <p:sp>
        <p:nvSpPr>
          <p:cNvPr id="12" name="TextBox 11"/>
          <p:cNvSpPr txBox="1"/>
          <p:nvPr/>
        </p:nvSpPr>
        <p:spPr>
          <a:xfrm>
            <a:off x="4137660" y="24841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episode state.</a:t>
            </a:r>
          </a:p>
        </p:txBody>
      </p:sp>
      <p:sp>
        <p:nvSpPr>
          <p:cNvPr id="13" name="TextBox 12"/>
          <p:cNvSpPr txBox="1"/>
          <p:nvPr/>
        </p:nvSpPr>
        <p:spPr>
          <a:xfrm>
            <a:off x="8595360" y="22402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cross-owner transaction</a:t>
            </a:r>
          </a:p>
        </p:txBody>
      </p:sp>
      <p:sp>
        <p:nvSpPr>
          <p:cNvPr id="14" name="Rounded Rectangle 13"/>
          <p:cNvSpPr/>
          <p:nvPr/>
        </p:nvSpPr>
        <p:spPr>
          <a:xfrm>
            <a:off x="548640" y="3215640"/>
            <a:ext cx="11094720" cy="1066800"/>
          </a:xfrm>
          <a:prstGeom prst="roundRect">
            <a:avLst>
              <a:gd name="adj" fmla="val 4285"/>
            </a:avLst>
          </a:prstGeom>
          <a:solidFill>
            <a:srgbClr val="FFFFFF"/>
          </a:solidFill>
          <a:ln>
            <a:noFill/>
          </a:ln>
          <a:effectLst/>
        </p:spPr>
        <p:txBody>
          <a:bodyPr rtlCol="0" anchor="ctr"/>
          <a:lstStyle/>
          <a:p>
            <a:pPr algn="ctr"/>
          </a:p>
        </p:txBody>
      </p:sp>
      <p:sp>
        <p:nvSpPr>
          <p:cNvPr id="15" name="TextBox 14"/>
          <p:cNvSpPr txBox="1"/>
          <p:nvPr/>
        </p:nvSpPr>
        <p:spPr>
          <a:xfrm>
            <a:off x="670560" y="334517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C2 decision committed;</a:t>
            </a:r>
          </a:p>
        </p:txBody>
      </p:sp>
      <p:sp>
        <p:nvSpPr>
          <p:cNvPr id="16" name="TextBox 15"/>
          <p:cNvSpPr txBox="1"/>
          <p:nvPr/>
        </p:nvSpPr>
        <p:spPr>
          <a:xfrm>
            <a:off x="670560" y="358901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acknowledgment lost</a:t>
            </a:r>
          </a:p>
        </p:txBody>
      </p:sp>
      <p:sp>
        <p:nvSpPr>
          <p:cNvPr id="17" name="TextBox 16"/>
          <p:cNvSpPr txBox="1"/>
          <p:nvPr/>
        </p:nvSpPr>
        <p:spPr>
          <a:xfrm>
            <a:off x="4137660" y="334517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Relay recovers exact decision and retries</a:t>
            </a:r>
          </a:p>
        </p:txBody>
      </p:sp>
      <p:sp>
        <p:nvSpPr>
          <p:cNvPr id="18" name="TextBox 17"/>
          <p:cNvSpPr txBox="1"/>
          <p:nvPr/>
        </p:nvSpPr>
        <p:spPr>
          <a:xfrm>
            <a:off x="4137660" y="358901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trusted completion.</a:t>
            </a:r>
          </a:p>
        </p:txBody>
      </p:sp>
      <p:sp>
        <p:nvSpPr>
          <p:cNvPr id="19" name="TextBox 18"/>
          <p:cNvSpPr txBox="1"/>
          <p:nvPr/>
        </p:nvSpPr>
        <p:spPr>
          <a:xfrm>
            <a:off x="8595360" y="3345179"/>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manufactured</a:t>
            </a:r>
          </a:p>
        </p:txBody>
      </p:sp>
      <p:sp>
        <p:nvSpPr>
          <p:cNvPr id="20" name="TextBox 19"/>
          <p:cNvSpPr txBox="1"/>
          <p:nvPr/>
        </p:nvSpPr>
        <p:spPr>
          <a:xfrm>
            <a:off x="8595360" y="3589019"/>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acknowledgment</a:t>
            </a:r>
          </a:p>
        </p:txBody>
      </p:sp>
      <p:sp>
        <p:nvSpPr>
          <p:cNvPr id="21" name="Rounded Rectangle 20"/>
          <p:cNvSpPr/>
          <p:nvPr/>
        </p:nvSpPr>
        <p:spPr>
          <a:xfrm>
            <a:off x="548640" y="4320540"/>
            <a:ext cx="11094720" cy="1066800"/>
          </a:xfrm>
          <a:prstGeom prst="roundRect">
            <a:avLst>
              <a:gd name="adj" fmla="val 4285"/>
            </a:avLst>
          </a:prstGeom>
          <a:solidFill>
            <a:srgbClr val="FFFFFF"/>
          </a:solidFill>
          <a:ln>
            <a:noFill/>
          </a:ln>
          <a:effectLst/>
        </p:spPr>
        <p:txBody>
          <a:bodyPr rtlCol="0" anchor="ctr"/>
          <a:lstStyle/>
          <a:p>
            <a:pPr algn="ctr"/>
          </a:p>
        </p:txBody>
      </p:sp>
      <p:sp>
        <p:nvSpPr>
          <p:cNvPr id="22" name="TextBox 21"/>
          <p:cNvSpPr txBox="1"/>
          <p:nvPr/>
        </p:nvSpPr>
        <p:spPr>
          <a:xfrm>
            <a:off x="670560" y="44500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Capacity or malformed</a:t>
            </a:r>
          </a:p>
        </p:txBody>
      </p:sp>
      <p:sp>
        <p:nvSpPr>
          <p:cNvPr id="23" name="TextBox 22"/>
          <p:cNvSpPr txBox="1"/>
          <p:nvPr/>
        </p:nvSpPr>
        <p:spPr>
          <a:xfrm>
            <a:off x="670560" y="469392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receipt</a:t>
            </a:r>
          </a:p>
        </p:txBody>
      </p:sp>
      <p:sp>
        <p:nvSpPr>
          <p:cNvPr id="24" name="TextBox 23"/>
          <p:cNvSpPr txBox="1"/>
          <p:nvPr/>
        </p:nvSpPr>
        <p:spPr>
          <a:xfrm>
            <a:off x="4137660" y="44500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Pause with pending evidence; never drop</a:t>
            </a:r>
          </a:p>
        </p:txBody>
      </p:sp>
      <p:sp>
        <p:nvSpPr>
          <p:cNvPr id="25" name="TextBox 24"/>
          <p:cNvSpPr txBox="1"/>
          <p:nvPr/>
        </p:nvSpPr>
        <p:spPr>
          <a:xfrm>
            <a:off x="4137660" y="46939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or falsely complete.</a:t>
            </a:r>
          </a:p>
        </p:txBody>
      </p:sp>
      <p:sp>
        <p:nvSpPr>
          <p:cNvPr id="26" name="TextBox 25"/>
          <p:cNvSpPr txBox="1"/>
          <p:nvPr/>
        </p:nvSpPr>
        <p:spPr>
          <a:xfrm>
            <a:off x="8595360" y="44500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Repeated-drain and</a:t>
            </a:r>
          </a:p>
        </p:txBody>
      </p:sp>
      <p:sp>
        <p:nvSpPr>
          <p:cNvPr id="27" name="TextBox 26"/>
          <p:cNvSpPr txBox="1"/>
          <p:nvPr/>
        </p:nvSpPr>
        <p:spPr>
          <a:xfrm>
            <a:off x="8595360" y="469392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hostile-receipt tests</a:t>
            </a:r>
          </a:p>
        </p:txBody>
      </p:sp>
      <p:sp>
        <p:nvSpPr>
          <p:cNvPr id="28" name="Rounded Rectangle 27"/>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9" name="TextBox 28"/>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Recovery evidence covers same-host process termination with intact files; it does not prove power-loss durability.</a:t>
            </a:r>
          </a:p>
        </p:txBody>
      </p:sp>
      <p:cxnSp>
        <p:nvCxnSpPr>
          <p:cNvPr id="30" name="Connector 29"/>
          <p:cNvCxnSpPr/>
          <p:nvPr/>
        </p:nvCxnSpPr>
        <p:spPr>
          <a:xfrm>
            <a:off x="548640" y="6393180"/>
            <a:ext cx="11094720" cy="0"/>
          </a:xfrm>
          <a:prstGeom prst="line">
            <a:avLst/>
          </a:prstGeom>
          <a:ln w="7620">
            <a:solidFill>
              <a:srgbClr val="C9D2D4"/>
            </a:solidFill>
          </a:ln>
          <a:effectLst/>
        </p:spPr>
      </p:cxnSp>
      <p:sp>
        <p:nvSpPr>
          <p:cNvPr id="31" name="TextBox 30"/>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EpisodicMemory · C1 · M5 source bfb0ec8</a:t>
            </a:r>
          </a:p>
        </p:txBody>
      </p:sp>
      <p:sp>
        <p:nvSpPr>
          <p:cNvPr id="32" name="TextBox 31"/>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08 / BENCHMARKS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Measurements and benchmark gaps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Observed values, contract limits and proposed experiments are explicitly different kinds of evidence.</a:t>
            </a:r>
          </a:p>
        </p:txBody>
      </p:sp>
      <p:sp>
        <p:nvSpPr>
          <p:cNvPr id="5" name="Rounded Rectangle 4"/>
          <p:cNvSpPr/>
          <p:nvPr/>
        </p:nvSpPr>
        <p:spPr>
          <a:xfrm>
            <a:off x="54864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2390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33</a:t>
            </a:r>
          </a:p>
        </p:txBody>
      </p:sp>
      <p:sp>
        <p:nvSpPr>
          <p:cNvPr id="7" name="TextBox 6"/>
          <p:cNvSpPr txBox="1"/>
          <p:nvPr/>
        </p:nvSpPr>
        <p:spPr>
          <a:xfrm>
            <a:off x="72390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Observations in one episode</a:t>
            </a:r>
          </a:p>
        </p:txBody>
      </p:sp>
      <p:sp>
        <p:nvSpPr>
          <p:cNvPr id="8" name="TextBox 7"/>
          <p:cNvSpPr txBox="1"/>
          <p:nvPr/>
        </p:nvSpPr>
        <p:spPr>
          <a:xfrm>
            <a:off x="72390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Historical M3.1 repeated-drain</a:t>
            </a:r>
          </a:p>
        </p:txBody>
      </p:sp>
      <p:sp>
        <p:nvSpPr>
          <p:cNvPr id="9" name="TextBox 8"/>
          <p:cNvSpPr txBox="1"/>
          <p:nvPr/>
        </p:nvSpPr>
        <p:spPr>
          <a:xfrm>
            <a:off x="723900"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observation</a:t>
            </a:r>
          </a:p>
        </p:txBody>
      </p:sp>
      <p:sp>
        <p:nvSpPr>
          <p:cNvPr id="10" name="Rounded Rectangle 9"/>
          <p:cNvSpPr/>
          <p:nvPr/>
        </p:nvSpPr>
        <p:spPr>
          <a:xfrm>
            <a:off x="432816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11" name="TextBox 10"/>
          <p:cNvSpPr txBox="1"/>
          <p:nvPr/>
        </p:nvSpPr>
        <p:spPr>
          <a:xfrm>
            <a:off x="450342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16 / 16 / 1</a:t>
            </a:r>
          </a:p>
        </p:txBody>
      </p:sp>
      <p:sp>
        <p:nvSpPr>
          <p:cNvPr id="12" name="TextBox 11"/>
          <p:cNvSpPr txBox="1"/>
          <p:nvPr/>
        </p:nvSpPr>
        <p:spPr>
          <a:xfrm>
            <a:off x="450342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Three drain batches</a:t>
            </a:r>
          </a:p>
        </p:txBody>
      </p:sp>
      <p:sp>
        <p:nvSpPr>
          <p:cNvPr id="13" name="TextBox 12"/>
          <p:cNvSpPr txBox="1"/>
          <p:nvPr/>
        </p:nvSpPr>
        <p:spPr>
          <a:xfrm>
            <a:off x="450342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Pending returned to zero after every</a:t>
            </a:r>
          </a:p>
        </p:txBody>
      </p:sp>
      <p:sp>
        <p:nvSpPr>
          <p:cNvPr id="14" name="TextBox 13"/>
          <p:cNvSpPr txBox="1"/>
          <p:nvPr/>
        </p:nvSpPr>
        <p:spPr>
          <a:xfrm>
            <a:off x="4503420"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batch</a:t>
            </a:r>
          </a:p>
        </p:txBody>
      </p:sp>
      <p:sp>
        <p:nvSpPr>
          <p:cNvPr id="15" name="Rounded Rectangle 14"/>
          <p:cNvSpPr/>
          <p:nvPr/>
        </p:nvSpPr>
        <p:spPr>
          <a:xfrm>
            <a:off x="810768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16" name="TextBox 15"/>
          <p:cNvSpPr txBox="1"/>
          <p:nvPr/>
        </p:nvSpPr>
        <p:spPr>
          <a:xfrm>
            <a:off x="8282939"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256 / 16</a:t>
            </a:r>
          </a:p>
        </p:txBody>
      </p:sp>
      <p:sp>
        <p:nvSpPr>
          <p:cNvPr id="17" name="TextBox 16"/>
          <p:cNvSpPr txBox="1"/>
          <p:nvPr/>
        </p:nvSpPr>
        <p:spPr>
          <a:xfrm>
            <a:off x="8282939"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Lifetime events / pending</a:t>
            </a:r>
          </a:p>
        </p:txBody>
      </p:sp>
      <p:sp>
        <p:nvSpPr>
          <p:cNvPr id="18" name="TextBox 17"/>
          <p:cNvSpPr txBox="1"/>
          <p:nvPr/>
        </p:nvSpPr>
        <p:spPr>
          <a:xfrm>
            <a:off x="8282939"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limit</a:t>
            </a:r>
          </a:p>
        </p:txBody>
      </p:sp>
      <p:sp>
        <p:nvSpPr>
          <p:cNvPr id="19" name="TextBox 18"/>
          <p:cNvSpPr txBox="1"/>
          <p:nvPr/>
        </p:nvSpPr>
        <p:spPr>
          <a:xfrm>
            <a:off x="8282939"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Contract bounds; distinct from</a:t>
            </a:r>
          </a:p>
        </p:txBody>
      </p:sp>
      <p:sp>
        <p:nvSpPr>
          <p:cNvPr id="20" name="TextBox 19"/>
          <p:cNvSpPr txBox="1"/>
          <p:nvPr/>
        </p:nvSpPr>
        <p:spPr>
          <a:xfrm>
            <a:off x="8282939"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observed 33</a:t>
            </a:r>
          </a:p>
        </p:txBody>
      </p:sp>
      <p:sp>
        <p:nvSpPr>
          <p:cNvPr id="21" name="TextBox 20"/>
          <p:cNvSpPr txBox="1"/>
          <p:nvPr/>
        </p:nvSpPr>
        <p:spPr>
          <a:xfrm>
            <a:off x="579120" y="409194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This is a delivery/liveness scenario with generated evidence. No append latency, sustained ingestion, storage</a:t>
            </a:r>
          </a:p>
        </p:txBody>
      </p:sp>
      <p:sp>
        <p:nvSpPr>
          <p:cNvPr id="22" name="TextBox 21"/>
          <p:cNvSpPr txBox="1"/>
          <p:nvPr/>
        </p:nvSpPr>
        <p:spPr>
          <a:xfrm>
            <a:off x="579120" y="433578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growth or long-duration retention benchmark is recorded.</a:t>
            </a:r>
          </a:p>
        </p:txBody>
      </p:sp>
      <p:sp>
        <p:nvSpPr>
          <p:cNvPr id="23" name="Rounded Rectangle 22"/>
          <p:cNvSpPr/>
          <p:nvPr/>
        </p:nvSpPr>
        <p:spPr>
          <a:xfrm>
            <a:off x="548640" y="5067300"/>
            <a:ext cx="11094720" cy="1150620"/>
          </a:xfrm>
          <a:prstGeom prst="roundRect">
            <a:avLst>
              <a:gd name="adj" fmla="val 8609"/>
            </a:avLst>
          </a:prstGeom>
          <a:solidFill>
            <a:srgbClr val="F3E7CE"/>
          </a:solidFill>
          <a:ln w="7620">
            <a:solidFill>
              <a:srgbClr val="A86A15"/>
            </a:solidFill>
          </a:ln>
          <a:effectLst/>
        </p:spPr>
        <p:txBody>
          <a:bodyPr rtlCol="0" anchor="ctr"/>
          <a:lstStyle/>
          <a:p>
            <a:pPr algn="ctr"/>
          </a:p>
        </p:txBody>
      </p:sp>
      <p:sp>
        <p:nvSpPr>
          <p:cNvPr id="24" name="TextBox 23"/>
          <p:cNvSpPr txBox="1"/>
          <p:nvPr/>
        </p:nvSpPr>
        <p:spPr>
          <a:xfrm>
            <a:off x="716280" y="5234940"/>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A86A15"/>
                </a:solidFill>
                <a:latin typeface="DejaVu Sans"/>
              </a:rPr>
              <a:t>PROPOSED BENCHMARK · NOT RUN</a:t>
            </a:r>
          </a:p>
        </p:txBody>
      </p:sp>
      <p:sp>
        <p:nvSpPr>
          <p:cNvPr id="25" name="TextBox 24"/>
          <p:cNvSpPr txBox="1"/>
          <p:nvPr/>
        </p:nvSpPr>
        <p:spPr>
          <a:xfrm>
            <a:off x="716280" y="5545226"/>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Proposed: vary append/drain ratio, provenance size and injected relay outage; measure p50/p95 append latency,</a:t>
            </a:r>
          </a:p>
        </p:txBody>
      </p:sp>
      <p:sp>
        <p:nvSpPr>
          <p:cNvPr id="26" name="TextBox 25"/>
          <p:cNvSpPr txBox="1"/>
          <p:nvPr/>
        </p:nvSpPr>
        <p:spPr>
          <a:xfrm>
            <a:off x="716280" y="5779312"/>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backlog age and bytes/event without dropping history.</a:t>
            </a:r>
          </a:p>
        </p:txBody>
      </p:sp>
      <p:cxnSp>
        <p:nvCxnSpPr>
          <p:cNvPr id="27" name="Connector 26"/>
          <p:cNvCxnSpPr/>
          <p:nvPr/>
        </p:nvCxnSpPr>
        <p:spPr>
          <a:xfrm>
            <a:off x="548640" y="6393180"/>
            <a:ext cx="11094720" cy="0"/>
          </a:xfrm>
          <a:prstGeom prst="line">
            <a:avLst/>
          </a:prstGeom>
          <a:ln w="7620">
            <a:solidFill>
              <a:srgbClr val="C9D2D4"/>
            </a:solidFill>
          </a:ln>
          <a:effectLst/>
        </p:spPr>
      </p:cxnSp>
      <p:sp>
        <p:nvSpPr>
          <p:cNvPr id="28" name="TextBox 2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EpisodicMemory · C1 · M5 source bfb0ec8</a:t>
            </a:r>
          </a:p>
        </p:txBody>
      </p:sp>
      <p:sp>
        <p:nvSpPr>
          <p:cNvPr id="29" name="TextBox 2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09 / EVIDENCE CLASSIFICATION</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Current state: what is real, what is not</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Current supported regressions pass; historical observations and unsatisfied capabilities keep their labels.</a:t>
            </a:r>
          </a:p>
        </p:txBody>
      </p:sp>
      <p:sp>
        <p:nvSpPr>
          <p:cNvPr id="5" name="TextBox 4"/>
          <p:cNvSpPr txBox="1"/>
          <p:nvPr/>
        </p:nvSpPr>
        <p:spPr>
          <a:xfrm>
            <a:off x="670560" y="1790700"/>
            <a:ext cx="2651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CLASSIFICATION</a:t>
            </a:r>
          </a:p>
        </p:txBody>
      </p:sp>
      <p:sp>
        <p:nvSpPr>
          <p:cNvPr id="6" name="TextBox 5"/>
          <p:cNvSpPr txBox="1"/>
          <p:nvPr/>
        </p:nvSpPr>
        <p:spPr>
          <a:xfrm>
            <a:off x="3566160" y="1790700"/>
            <a:ext cx="79552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MODULE-SPECIFIC STATE</a:t>
            </a:r>
          </a:p>
        </p:txBody>
      </p:sp>
      <p:sp>
        <p:nvSpPr>
          <p:cNvPr id="7" name="Rounded Rectangle 6"/>
          <p:cNvSpPr/>
          <p:nvPr/>
        </p:nvSpPr>
        <p:spPr>
          <a:xfrm>
            <a:off x="548640" y="2110740"/>
            <a:ext cx="11094720" cy="815340"/>
          </a:xfrm>
          <a:prstGeom prst="roundRect">
            <a:avLst>
              <a:gd name="adj" fmla="val 5607"/>
            </a:avLst>
          </a:prstGeom>
          <a:solidFill>
            <a:srgbClr val="FFFFFF"/>
          </a:solidFill>
          <a:ln>
            <a:noFill/>
          </a:ln>
          <a:effectLst/>
        </p:spPr>
        <p:txBody>
          <a:bodyPr rtlCol="0" anchor="ctr"/>
          <a:lstStyle/>
          <a:p>
            <a:pPr algn="ctr"/>
          </a:p>
        </p:txBody>
      </p:sp>
      <p:sp>
        <p:nvSpPr>
          <p:cNvPr id="8" name="TextBox 7"/>
          <p:cNvSpPr txBox="1"/>
          <p:nvPr/>
        </p:nvSpPr>
        <p:spPr>
          <a:xfrm>
            <a:off x="670560" y="224028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REAL / IMPLEMENTED</a:t>
            </a:r>
          </a:p>
        </p:txBody>
      </p:sp>
      <p:sp>
        <p:nvSpPr>
          <p:cNvPr id="9" name="TextBox 8"/>
          <p:cNvSpPr txBox="1"/>
          <p:nvPr/>
        </p:nvSpPr>
        <p:spPr>
          <a:xfrm>
            <a:off x="3566160" y="224028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Private SQLite episode owner over real DeTTa; native episode and inference</a:t>
            </a:r>
          </a:p>
        </p:txBody>
      </p:sp>
      <p:sp>
        <p:nvSpPr>
          <p:cNvPr id="10" name="TextBox 9"/>
          <p:cNvSpPr txBox="1"/>
          <p:nvPr/>
        </p:nvSpPr>
        <p:spPr>
          <a:xfrm>
            <a:off x="3566160" y="24841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actions.</a:t>
            </a:r>
          </a:p>
        </p:txBody>
      </p:sp>
      <p:sp>
        <p:nvSpPr>
          <p:cNvPr id="11" name="Rounded Rectangle 10"/>
          <p:cNvSpPr/>
          <p:nvPr/>
        </p:nvSpPr>
        <p:spPr>
          <a:xfrm>
            <a:off x="548640" y="2964179"/>
            <a:ext cx="11094720" cy="815340"/>
          </a:xfrm>
          <a:prstGeom prst="roundRect">
            <a:avLst>
              <a:gd name="adj" fmla="val 5607"/>
            </a:avLst>
          </a:prstGeom>
          <a:solidFill>
            <a:srgbClr val="FFFFFF"/>
          </a:solidFill>
          <a:ln>
            <a:noFill/>
          </a:ln>
          <a:effectLst/>
        </p:spPr>
        <p:txBody>
          <a:bodyPr rtlCol="0" anchor="ctr"/>
          <a:lstStyle/>
          <a:p>
            <a:pPr algn="ctr"/>
          </a:p>
        </p:txBody>
      </p:sp>
      <p:sp>
        <p:nvSpPr>
          <p:cNvPr id="12" name="TextBox 11"/>
          <p:cNvSpPr txBox="1"/>
          <p:nvPr/>
        </p:nvSpPr>
        <p:spPr>
          <a:xfrm>
            <a:off x="670560" y="309372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FIXTURE / LOCAL TEST</a:t>
            </a:r>
          </a:p>
        </p:txBody>
      </p:sp>
      <p:sp>
        <p:nvSpPr>
          <p:cNvPr id="13" name="TextBox 12"/>
          <p:cNvSpPr txBox="1"/>
          <p:nvPr/>
        </p:nvSpPr>
        <p:spPr>
          <a:xfrm>
            <a:off x="670560" y="33375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POLICY</a:t>
            </a:r>
          </a:p>
        </p:txBody>
      </p:sp>
      <p:sp>
        <p:nvSpPr>
          <p:cNvPr id="14" name="TextBox 13"/>
          <p:cNvSpPr txBox="1"/>
          <p:nvPr/>
        </p:nvSpPr>
        <p:spPr>
          <a:xfrm>
            <a:off x="3566160" y="30937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Generated reports, operator origins/grants and hostile completion responses.</a:t>
            </a:r>
          </a:p>
        </p:txBody>
      </p:sp>
      <p:sp>
        <p:nvSpPr>
          <p:cNvPr id="15" name="Rounded Rectangle 14"/>
          <p:cNvSpPr/>
          <p:nvPr/>
        </p:nvSpPr>
        <p:spPr>
          <a:xfrm>
            <a:off x="548640" y="3817619"/>
            <a:ext cx="11094720" cy="815340"/>
          </a:xfrm>
          <a:prstGeom prst="roundRect">
            <a:avLst>
              <a:gd name="adj" fmla="val 5607"/>
            </a:avLst>
          </a:prstGeom>
          <a:solidFill>
            <a:srgbClr val="FFFFFF"/>
          </a:solidFill>
          <a:ln>
            <a:noFill/>
          </a:ln>
          <a:effectLst/>
        </p:spPr>
        <p:txBody>
          <a:bodyPr rtlCol="0" anchor="ctr"/>
          <a:lstStyle/>
          <a:p>
            <a:pPr algn="ctr"/>
          </a:p>
        </p:txBody>
      </p:sp>
      <p:sp>
        <p:nvSpPr>
          <p:cNvPr id="16" name="TextBox 15"/>
          <p:cNvSpPr txBox="1"/>
          <p:nvPr/>
        </p:nvSpPr>
        <p:spPr>
          <a:xfrm>
            <a:off x="670560" y="39471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BLOCKED /</a:t>
            </a:r>
          </a:p>
        </p:txBody>
      </p:sp>
      <p:sp>
        <p:nvSpPr>
          <p:cNvPr id="17" name="TextBox 16"/>
          <p:cNvSpPr txBox="1"/>
          <p:nvPr/>
        </p:nvSpPr>
        <p:spPr>
          <a:xfrm>
            <a:off x="670560" y="41910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UNSUPPORTED</a:t>
            </a:r>
          </a:p>
        </p:txBody>
      </p:sp>
      <p:sp>
        <p:nvSpPr>
          <p:cNvPr id="18" name="TextBox 17"/>
          <p:cNvSpPr txBox="1"/>
          <p:nvPr/>
        </p:nvSpPr>
        <p:spPr>
          <a:xfrm>
            <a:off x="3566160" y="39471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required current gate blocked. Pre-existing M3-format pending work is not</a:t>
            </a:r>
          </a:p>
        </p:txBody>
      </p:sp>
      <p:sp>
        <p:nvSpPr>
          <p:cNvPr id="19" name="TextBox 18"/>
          <p:cNvSpPr txBox="1"/>
          <p:nvPr/>
        </p:nvSpPr>
        <p:spPr>
          <a:xfrm>
            <a:off x="3566160" y="41910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repaired by new profiles.</a:t>
            </a:r>
          </a:p>
        </p:txBody>
      </p:sp>
      <p:sp>
        <p:nvSpPr>
          <p:cNvPr id="20" name="Rounded Rectangle 19"/>
          <p:cNvSpPr/>
          <p:nvPr/>
        </p:nvSpPr>
        <p:spPr>
          <a:xfrm>
            <a:off x="548640" y="4671060"/>
            <a:ext cx="11094720" cy="815340"/>
          </a:xfrm>
          <a:prstGeom prst="roundRect">
            <a:avLst>
              <a:gd name="adj" fmla="val 5607"/>
            </a:avLst>
          </a:prstGeom>
          <a:solidFill>
            <a:srgbClr val="FFFFFF"/>
          </a:solidFill>
          <a:ln>
            <a:noFill/>
          </a:ln>
          <a:effectLst/>
        </p:spPr>
        <p:txBody>
          <a:bodyPr rtlCol="0" anchor="ctr"/>
          <a:lstStyle/>
          <a:p>
            <a:pPr algn="ctr"/>
          </a:p>
        </p:txBody>
      </p:sp>
      <p:sp>
        <p:nvSpPr>
          <p:cNvPr id="21" name="TextBox 20"/>
          <p:cNvSpPr txBox="1"/>
          <p:nvPr/>
        </p:nvSpPr>
        <p:spPr>
          <a:xfrm>
            <a:off x="670560" y="48006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UNRUN</a:t>
            </a:r>
          </a:p>
        </p:txBody>
      </p:sp>
      <p:sp>
        <p:nvSpPr>
          <p:cNvPr id="22" name="TextBox 21"/>
          <p:cNvSpPr txBox="1"/>
          <p:nvPr/>
        </p:nvSpPr>
        <p:spPr>
          <a:xfrm>
            <a:off x="3566160" y="48006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Long-lived production histories, distributed writers, deletion/retention policy and</a:t>
            </a:r>
          </a:p>
        </p:txBody>
      </p:sp>
      <p:sp>
        <p:nvSpPr>
          <p:cNvPr id="23" name="TextBox 22"/>
          <p:cNvSpPr txBox="1"/>
          <p:nvPr/>
        </p:nvSpPr>
        <p:spPr>
          <a:xfrm>
            <a:off x="3566160" y="504444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migration.</a:t>
            </a:r>
          </a:p>
        </p:txBody>
      </p:sp>
      <p:sp>
        <p:nvSpPr>
          <p:cNvPr id="24" name="Rounded Rectangle 23"/>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5" name="TextBox 24"/>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M5 final tested runtime: bfb0ec8 · evidence: 3dc6c11 · module representation is not product completeness.</a:t>
            </a:r>
          </a:p>
        </p:txBody>
      </p:sp>
      <p:cxnSp>
        <p:nvCxnSpPr>
          <p:cNvPr id="26" name="Connector 25"/>
          <p:cNvCxnSpPr/>
          <p:nvPr/>
        </p:nvCxnSpPr>
        <p:spPr>
          <a:xfrm>
            <a:off x="548640" y="6393180"/>
            <a:ext cx="11094720" cy="0"/>
          </a:xfrm>
          <a:prstGeom prst="line">
            <a:avLst/>
          </a:prstGeom>
          <a:ln w="7620">
            <a:solidFill>
              <a:srgbClr val="C9D2D4"/>
            </a:solidFill>
          </a:ln>
          <a:effectLst/>
        </p:spPr>
      </p:cxnSp>
      <p:sp>
        <p:nvSpPr>
          <p:cNvPr id="27" name="TextBox 2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EpisodicMemory · C1 · M5 source bfb0ec8</a:t>
            </a:r>
          </a:p>
        </p:txBody>
      </p:sp>
      <p:sp>
        <p:nvSpPr>
          <p:cNvPr id="28" name="TextBox 2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10 / PROPOSED WORK · NOT IMPLEMENTED</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Future directions need acceptance criteria</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are discussion options, not a committed roadmap or permission to expand the current profile.</a:t>
            </a:r>
          </a:p>
        </p:txBody>
      </p:sp>
      <p:sp>
        <p:nvSpPr>
          <p:cNvPr id="5" name="TextBox 4"/>
          <p:cNvSpPr txBox="1"/>
          <p:nvPr/>
        </p:nvSpPr>
        <p:spPr>
          <a:xfrm>
            <a:off x="670560" y="1790700"/>
            <a:ext cx="28803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DIRECTION</a:t>
            </a:r>
          </a:p>
        </p:txBody>
      </p:sp>
      <p:sp>
        <p:nvSpPr>
          <p:cNvPr id="6" name="TextBox 5"/>
          <p:cNvSpPr txBox="1"/>
          <p:nvPr/>
        </p:nvSpPr>
        <p:spPr>
          <a:xfrm>
            <a:off x="3794760" y="1790700"/>
            <a:ext cx="3870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PREREQUISITE / DESIGN GATE</a:t>
            </a:r>
          </a:p>
        </p:txBody>
      </p:sp>
      <p:sp>
        <p:nvSpPr>
          <p:cNvPr id="7" name="TextBox 6"/>
          <p:cNvSpPr txBox="1"/>
          <p:nvPr/>
        </p:nvSpPr>
        <p:spPr>
          <a:xfrm>
            <a:off x="7909559" y="1790700"/>
            <a:ext cx="36118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MEASURE OF SUCCESS</a:t>
            </a:r>
          </a:p>
        </p:txBody>
      </p:sp>
      <p:sp>
        <p:nvSpPr>
          <p:cNvPr id="8" name="Rounded Rectangle 7"/>
          <p:cNvSpPr/>
          <p:nvPr/>
        </p:nvSpPr>
        <p:spPr>
          <a:xfrm>
            <a:off x="548640" y="2110740"/>
            <a:ext cx="11094720" cy="1059180"/>
          </a:xfrm>
          <a:prstGeom prst="roundRect">
            <a:avLst>
              <a:gd name="adj" fmla="val 4316"/>
            </a:avLst>
          </a:prstGeom>
          <a:solidFill>
            <a:srgbClr val="FFFFFF"/>
          </a:solidFill>
          <a:ln>
            <a:noFill/>
          </a:ln>
          <a:effectLst/>
        </p:spPr>
        <p:txBody>
          <a:bodyPr rtlCol="0" anchor="ctr"/>
          <a:lstStyle/>
          <a:p>
            <a:pPr algn="ctr"/>
          </a:p>
        </p:txBody>
      </p:sp>
      <p:sp>
        <p:nvSpPr>
          <p:cNvPr id="9" name="TextBox 8"/>
          <p:cNvSpPr txBox="1"/>
          <p:nvPr/>
        </p:nvSpPr>
        <p:spPr>
          <a:xfrm>
            <a:off x="670560" y="22402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Measure backlog behavior</a:t>
            </a:r>
          </a:p>
        </p:txBody>
      </p:sp>
      <p:sp>
        <p:nvSpPr>
          <p:cNvPr id="10" name="TextBox 9"/>
          <p:cNvSpPr txBox="1"/>
          <p:nvPr/>
        </p:nvSpPr>
        <p:spPr>
          <a:xfrm>
            <a:off x="3794760" y="22402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Rate-controlled append/drain and</a:t>
            </a:r>
          </a:p>
        </p:txBody>
      </p:sp>
      <p:sp>
        <p:nvSpPr>
          <p:cNvPr id="11" name="TextBox 10"/>
          <p:cNvSpPr txBox="1"/>
          <p:nvPr/>
        </p:nvSpPr>
        <p:spPr>
          <a:xfrm>
            <a:off x="3794760" y="248412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outages</a:t>
            </a:r>
          </a:p>
        </p:txBody>
      </p:sp>
      <p:sp>
        <p:nvSpPr>
          <p:cNvPr id="12" name="TextBox 11"/>
          <p:cNvSpPr txBox="1"/>
          <p:nvPr/>
        </p:nvSpPr>
        <p:spPr>
          <a:xfrm>
            <a:off x="7909559" y="22402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loss; bounded backpressure and</a:t>
            </a:r>
          </a:p>
        </p:txBody>
      </p:sp>
      <p:sp>
        <p:nvSpPr>
          <p:cNvPr id="13" name="TextBox 12"/>
          <p:cNvSpPr txBox="1"/>
          <p:nvPr/>
        </p:nvSpPr>
        <p:spPr>
          <a:xfrm>
            <a:off x="7909559" y="248412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recovery age</a:t>
            </a:r>
          </a:p>
        </p:txBody>
      </p:sp>
      <p:sp>
        <p:nvSpPr>
          <p:cNvPr id="14" name="Rounded Rectangle 13"/>
          <p:cNvSpPr/>
          <p:nvPr/>
        </p:nvSpPr>
        <p:spPr>
          <a:xfrm>
            <a:off x="548640" y="3208020"/>
            <a:ext cx="11094720" cy="1059180"/>
          </a:xfrm>
          <a:prstGeom prst="roundRect">
            <a:avLst>
              <a:gd name="adj" fmla="val 4316"/>
            </a:avLst>
          </a:prstGeom>
          <a:solidFill>
            <a:srgbClr val="FFFFFF"/>
          </a:solidFill>
          <a:ln>
            <a:noFill/>
          </a:ln>
          <a:effectLst/>
        </p:spPr>
        <p:txBody>
          <a:bodyPr rtlCol="0" anchor="ctr"/>
          <a:lstStyle/>
          <a:p>
            <a:pPr algn="ctr"/>
          </a:p>
        </p:txBody>
      </p:sp>
      <p:sp>
        <p:nvSpPr>
          <p:cNvPr id="15" name="TextBox 14"/>
          <p:cNvSpPr txBox="1"/>
          <p:nvPr/>
        </p:nvSpPr>
        <p:spPr>
          <a:xfrm>
            <a:off x="670560" y="333756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Add explicit retention</a:t>
            </a:r>
          </a:p>
        </p:txBody>
      </p:sp>
      <p:sp>
        <p:nvSpPr>
          <p:cNvPr id="16" name="TextBox 15"/>
          <p:cNvSpPr txBox="1"/>
          <p:nvPr/>
        </p:nvSpPr>
        <p:spPr>
          <a:xfrm>
            <a:off x="670560" y="358140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policy</a:t>
            </a:r>
          </a:p>
        </p:txBody>
      </p:sp>
      <p:sp>
        <p:nvSpPr>
          <p:cNvPr id="17" name="TextBox 16"/>
          <p:cNvSpPr txBox="1"/>
          <p:nvPr/>
        </p:nvSpPr>
        <p:spPr>
          <a:xfrm>
            <a:off x="3794760" y="333756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Provenance and replay obligations first</a:t>
            </a:r>
          </a:p>
        </p:txBody>
      </p:sp>
      <p:sp>
        <p:nvSpPr>
          <p:cNvPr id="18" name="TextBox 17"/>
          <p:cNvSpPr txBox="1"/>
          <p:nvPr/>
        </p:nvSpPr>
        <p:spPr>
          <a:xfrm>
            <a:off x="7909559" y="333756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Deletion cannot silently invalidate</a:t>
            </a:r>
          </a:p>
        </p:txBody>
      </p:sp>
      <p:sp>
        <p:nvSpPr>
          <p:cNvPr id="19" name="TextBox 18"/>
          <p:cNvSpPr txBox="1"/>
          <p:nvPr/>
        </p:nvSpPr>
        <p:spPr>
          <a:xfrm>
            <a:off x="7909559" y="358140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accepted evidence</a:t>
            </a:r>
          </a:p>
        </p:txBody>
      </p:sp>
      <p:sp>
        <p:nvSpPr>
          <p:cNvPr id="20" name="Rounded Rectangle 19"/>
          <p:cNvSpPr/>
          <p:nvPr/>
        </p:nvSpPr>
        <p:spPr>
          <a:xfrm>
            <a:off x="548640" y="4305300"/>
            <a:ext cx="11094720" cy="1059180"/>
          </a:xfrm>
          <a:prstGeom prst="roundRect">
            <a:avLst>
              <a:gd name="adj" fmla="val 4316"/>
            </a:avLst>
          </a:prstGeom>
          <a:solidFill>
            <a:srgbClr val="FFFFFF"/>
          </a:solidFill>
          <a:ln>
            <a:noFill/>
          </a:ln>
          <a:effectLst/>
        </p:spPr>
        <p:txBody>
          <a:bodyPr rtlCol="0" anchor="ctr"/>
          <a:lstStyle/>
          <a:p>
            <a:pPr algn="ctr"/>
          </a:p>
        </p:txBody>
      </p:sp>
      <p:sp>
        <p:nvSpPr>
          <p:cNvPr id="21" name="TextBox 20"/>
          <p:cNvSpPr txBox="1"/>
          <p:nvPr/>
        </p:nvSpPr>
        <p:spPr>
          <a:xfrm>
            <a:off x="670560" y="443484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Improve inspection tools</a:t>
            </a:r>
          </a:p>
        </p:txBody>
      </p:sp>
      <p:sp>
        <p:nvSpPr>
          <p:cNvPr id="22" name="TextBox 21"/>
          <p:cNvSpPr txBox="1"/>
          <p:nvPr/>
        </p:nvSpPr>
        <p:spPr>
          <a:xfrm>
            <a:off x="3794760" y="443484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Authorized read-only views with privacy</a:t>
            </a:r>
          </a:p>
        </p:txBody>
      </p:sp>
      <p:sp>
        <p:nvSpPr>
          <p:cNvPr id="23" name="TextBox 22"/>
          <p:cNvSpPr txBox="1"/>
          <p:nvPr/>
        </p:nvSpPr>
        <p:spPr>
          <a:xfrm>
            <a:off x="3794760" y="46786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controls</a:t>
            </a:r>
          </a:p>
        </p:txBody>
      </p:sp>
      <p:sp>
        <p:nvSpPr>
          <p:cNvPr id="24" name="TextBox 23"/>
          <p:cNvSpPr txBox="1"/>
          <p:nvPr/>
        </p:nvSpPr>
        <p:spPr>
          <a:xfrm>
            <a:off x="7909559" y="443484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Explain event order and delivery</a:t>
            </a:r>
          </a:p>
        </p:txBody>
      </p:sp>
      <p:sp>
        <p:nvSpPr>
          <p:cNvPr id="25" name="TextBox 24"/>
          <p:cNvSpPr txBox="1"/>
          <p:nvPr/>
        </p:nvSpPr>
        <p:spPr>
          <a:xfrm>
            <a:off x="7909559" y="46786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state without exposing identifiers</a:t>
            </a:r>
          </a:p>
        </p:txBody>
      </p:sp>
      <p:sp>
        <p:nvSpPr>
          <p:cNvPr id="26" name="Rounded Rectangle 25"/>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7" name="TextBox 26"/>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Keep ownership, current authorization and explicit compatibility intact; qualify new semantics with a new profile.</a:t>
            </a:r>
          </a:p>
        </p:txBody>
      </p:sp>
      <p:cxnSp>
        <p:nvCxnSpPr>
          <p:cNvPr id="28" name="Connector 27"/>
          <p:cNvCxnSpPr/>
          <p:nvPr/>
        </p:nvCxnSpPr>
        <p:spPr>
          <a:xfrm>
            <a:off x="548640" y="6393180"/>
            <a:ext cx="11094720" cy="0"/>
          </a:xfrm>
          <a:prstGeom prst="line">
            <a:avLst/>
          </a:prstGeom>
          <a:ln w="7620">
            <a:solidFill>
              <a:srgbClr val="C9D2D4"/>
            </a:solidFill>
          </a:ln>
          <a:effectLst/>
        </p:spPr>
      </p:cxnSp>
      <p:sp>
        <p:nvSpPr>
          <p:cNvPr id="29" name="TextBox 2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EpisodicMemory · C1 · M5 source bfb0ec8</a:t>
            </a:r>
          </a:p>
        </p:txBody>
      </p:sp>
      <p:sp>
        <p:nvSpPr>
          <p:cNvPr id="30" name="TextBox 2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11 / SOURCES AND TAKEAWAY</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Evidence you can inspect and reproduce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 the exact code, contracts and recorded run before treating a claim as a guarantee.</a:t>
            </a:r>
          </a:p>
        </p:txBody>
      </p:sp>
      <p:sp>
        <p:nvSpPr>
          <p:cNvPr id="5" name="Rounded Rectangle 4"/>
          <p:cNvSpPr/>
          <p:nvPr/>
        </p:nvSpPr>
        <p:spPr>
          <a:xfrm>
            <a:off x="548640" y="1783080"/>
            <a:ext cx="11094720" cy="853440"/>
          </a:xfrm>
          <a:prstGeom prst="roundRect">
            <a:avLst>
              <a:gd name="adj" fmla="val 11607"/>
            </a:avLst>
          </a:prstGeom>
          <a:solidFill>
            <a:srgbClr val="E4EBF5"/>
          </a:solidFill>
          <a:ln w="7620">
            <a:solidFill>
              <a:srgbClr val="315E9C"/>
            </a:solidFill>
          </a:ln>
          <a:effectLst/>
        </p:spPr>
        <p:txBody>
          <a:bodyPr rtlCol="0" anchor="ctr"/>
          <a:lstStyle/>
          <a:p>
            <a:pPr algn="ctr"/>
          </a:p>
        </p:txBody>
      </p:sp>
      <p:sp>
        <p:nvSpPr>
          <p:cNvPr id="6" name="TextBox 5"/>
          <p:cNvSpPr txBox="1"/>
          <p:nvPr/>
        </p:nvSpPr>
        <p:spPr>
          <a:xfrm>
            <a:off x="716280" y="19507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Takeaway</a:t>
            </a:r>
          </a:p>
        </p:txBody>
      </p:sp>
      <p:sp>
        <p:nvSpPr>
          <p:cNvPr id="7" name="TextBox 6"/>
          <p:cNvSpPr txBox="1"/>
          <p:nvPr/>
        </p:nvSpPr>
        <p:spPr>
          <a:xfrm>
            <a:off x="716280" y="23000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Processing completion is not the same as numerical agreement.</a:t>
            </a:r>
          </a:p>
        </p:txBody>
      </p:sp>
      <p:sp>
        <p:nvSpPr>
          <p:cNvPr id="8" name="TextBox 7"/>
          <p:cNvSpPr txBox="1"/>
          <p:nvPr/>
        </p:nvSpPr>
        <p:spPr>
          <a:xfrm>
            <a:off x="609600" y="2819400"/>
            <a:ext cx="10972800"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536775"/>
                </a:solidFill>
                <a:latin typeface="DejaVu Sans"/>
              </a:rPr>
              <a:t>SUPPORTED REPRODUCTION ENTRYPOINT · PREREQUISITES REQUIRED</a:t>
            </a:r>
          </a:p>
        </p:txBody>
      </p:sp>
      <p:sp>
        <p:nvSpPr>
          <p:cNvPr id="9" name="TextBox 8"/>
          <p:cNvSpPr txBox="1"/>
          <p:nvPr/>
        </p:nvSpPr>
        <p:spPr>
          <a:xfrm>
            <a:off x="609600" y="3124200"/>
            <a:ext cx="109347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102B3F"/>
                </a:solidFill>
                <a:latin typeface="DejaVu Sans Mono"/>
              </a:rPr>
              <a:t>uv run --python 3.11 --locked python scripts/verify_m3_1.py &lt;env&gt; --output &lt;fresh&gt;</a:t>
            </a:r>
          </a:p>
        </p:txBody>
      </p:sp>
      <p:sp>
        <p:nvSpPr>
          <p:cNvPr id="10" name="TextBox 9"/>
          <p:cNvSpPr txBox="1"/>
          <p:nvPr/>
        </p:nvSpPr>
        <p:spPr>
          <a:xfrm>
            <a:off x="609600" y="372617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Fresh explicit closure profiles; full wrapper includes older regressions. Historical 33-event evidence remains tied</a:t>
            </a:r>
          </a:p>
        </p:txBody>
      </p:sp>
      <p:sp>
        <p:nvSpPr>
          <p:cNvPr id="11" name="TextBox 10"/>
          <p:cNvSpPr txBox="1"/>
          <p:nvPr/>
        </p:nvSpPr>
        <p:spPr>
          <a:xfrm>
            <a:off x="609600" y="397001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to its own tested revision.</a:t>
            </a:r>
          </a:p>
        </p:txBody>
      </p:sp>
      <p:sp>
        <p:nvSpPr>
          <p:cNvPr id="12" name="TextBox 11"/>
          <p:cNvSpPr txBox="1"/>
          <p:nvPr/>
        </p:nvSpPr>
        <p:spPr>
          <a:xfrm>
            <a:off x="609600" y="471678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fusion/episodes.py</a:t>
            </a:r>
          </a:p>
        </p:txBody>
      </p:sp>
      <p:sp>
        <p:nvSpPr>
          <p:cNvPr id="13" name="TextBox 12"/>
          <p:cNvSpPr txBox="1"/>
          <p:nvPr/>
        </p:nvSpPr>
        <p:spPr>
          <a:xfrm>
            <a:off x="609600" y="496824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fusion/delivery_contracts.py</a:t>
            </a:r>
          </a:p>
        </p:txBody>
      </p:sp>
      <p:sp>
        <p:nvSpPr>
          <p:cNvPr id="14" name="TextBox 13"/>
          <p:cNvSpPr txBox="1"/>
          <p:nvPr/>
        </p:nvSpPr>
        <p:spPr>
          <a:xfrm>
            <a:off x="609600" y="521970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fusion/evidence_relay.py</a:t>
            </a:r>
          </a:p>
        </p:txBody>
      </p:sp>
      <p:sp>
        <p:nvSpPr>
          <p:cNvPr id="15" name="TextBox 14"/>
          <p:cNvSpPr txBox="1"/>
          <p:nvPr/>
        </p:nvSpPr>
        <p:spPr>
          <a:xfrm>
            <a:off x="609600" y="547116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tests/test_m3_1_delivery.py</a:t>
            </a:r>
          </a:p>
        </p:txBody>
      </p:sp>
      <p:sp>
        <p:nvSpPr>
          <p:cNvPr id="16" name="TextBox 15"/>
          <p:cNvSpPr txBox="1"/>
          <p:nvPr/>
        </p:nvSpPr>
        <p:spPr>
          <a:xfrm>
            <a:off x="609600" y="5867400"/>
            <a:ext cx="108966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536775"/>
                </a:solidFill>
                <a:latin typeface="DejaVu Sans"/>
              </a:rPr>
              <a:t>Source 494df69a1ac401c3d3b2cf79dbfde07f74b5e277 · all citations and full notes accompany this deck.</a:t>
            </a:r>
          </a:p>
        </p:txBody>
      </p:sp>
      <p:cxnSp>
        <p:nvCxnSpPr>
          <p:cNvPr id="17" name="Connector 16"/>
          <p:cNvCxnSpPr/>
          <p:nvPr/>
        </p:nvCxnSpPr>
        <p:spPr>
          <a:xfrm>
            <a:off x="548640" y="6393180"/>
            <a:ext cx="11094720" cy="0"/>
          </a:xfrm>
          <a:prstGeom prst="line">
            <a:avLst/>
          </a:prstGeom>
          <a:ln w="7620">
            <a:solidFill>
              <a:srgbClr val="C9D2D4"/>
            </a:solidFill>
          </a:ln>
          <a:effectLst/>
        </p:spPr>
      </p:cxnSp>
      <p:sp>
        <p:nvSpPr>
          <p:cNvPr id="18" name="TextBox 1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EpisodicMemory · C1 · M5 source bfb0ec8</a:t>
            </a:r>
          </a:p>
        </p:txBody>
      </p:sp>
      <p:sp>
        <p:nvSpPr>
          <p:cNvPr id="19" name="TextBox 1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Omega × ASI — EpisodicMemory · C1</dc:title>
  <dc:subject>Own episode identity, ordered event acceptance, occurrence replay and evidence-delivery intents.</dc:subject>
  <dc:creator>Omega × ASI module-interface project</dc:creator>
  <cp:keywords>Omega, ASI, M5, ELI16, EpisodicMemory · C1</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