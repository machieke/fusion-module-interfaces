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999"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with the analogy, then state the technical responsibility: Own bounded integer short-term importance, explicit logical time and causal feedback receipts/retirement. Limited work budgets make ordering observable. Keeping attention independent allows policy/provider experiments without changing belief mathematics or task admission. Do not treat the analogy as an additional experiment. This is a standalone talk about one responsibility, not a claim that every module is a separate service or repository.</a:t>
            </a:r>
          </a:p>
          <a:p/>
          <a:p>
            <a:r>
              <a:t>Evidence and implementation: [attention.py](https://github.com/machieke/fusion-module-interfaces/blob/494df69a1ac401c3d3b2cf79dbfde07f74b5e277/fusion/attention.py), [attention_contracts.py](https://github.com/machieke/fusion-module-interfaces/blob/494df69a1ac401c3d3b2cf79dbfde07f74b5e277/fusion/attention_contracts.py), [fixture_attention.py](https://github.com/machieke/fusion-module-interfaces/blob/494df69a1ac401c3d3b2cf79dbfde07f74b5e277/fusion/adapters/fixture_attention.py), [test_m3_1_attention.py](https://github.com/machieke/fusion-module-interfaces/blob/494df69a1ac401c3d3b2cf79dbfde07f74b5e277/tests/test_m3_1_attention.py),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Attention · C3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Locate Attention · C3 in the bounded fifteen-family inventory. The grey groups are explanatory categories, not deployment units. RevisionMath, the evidence relay, native plugins and transport bindings are supporting seams rather than additional module families. Registry and Resolver are separate responsibilities even though both are implemented in registry.py. Fifteen represented families is not full Omega requirements coverage. Attention has no PLN, AtomStorage/DA, Hive or C1/C2 dependency. It ranks only the eligible targets supplied by a consumer, with explicit policy/profile identity.</a:t>
            </a:r>
          </a:p>
          <a:p/>
          <a:p>
            <a:r>
              <a:t>Evidence and implementation: [attention.py](https://github.com/machieke/fusion-module-interfaces/blob/494df69a1ac401c3d3b2cf79dbfde07f74b5e277/fusion/attention.py), [attention_contracts.py](https://github.com/machieke/fusion-module-interfaces/blob/494df69a1ac401c3d3b2cf79dbfde07f74b5e277/fusion/attention_contracts.py), [fixture_attention.py](https://github.com/machieke/fusion-module-interfaces/blob/494df69a1ac401c3d3b2cf79dbfde07f74b5e277/fusion/adapters/fixture_attention.py), [test_m3_1_attention.py](https://github.com/machieke/fusion-module-interfaces/blob/494df69a1ac401c3d3b2cf79dbfde07f74b5e277/tests/test_m3_1_attention.py),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Attention · C3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Attention has no PLN, AtomStorage/DA, Hive or C1/C2 dependency. It ranks only the eligible targets supplied by a consumer, with explicit policy/profile identity. The left node is a caller or caller class; the right nodes distinguish foreign ports, pure helpers, local state and runtime internals. There is no implied shared transaction. STI is not belief confidence and does not alter formula inputs.</a:t>
            </a:r>
          </a:p>
          <a:p/>
          <a:p>
            <a:r>
              <a:t>Evidence and implementation: [attention.py](https://github.com/machieke/fusion-module-interfaces/blob/494df69a1ac401c3d3b2cf79dbfde07f74b5e277/fusion/attention.py), [attention_contracts.py](https://github.com/machieke/fusion-module-interfaces/blob/494df69a1ac401c3d3b2cf79dbfde07f74b5e277/fusion/attention_contracts.py), [fixture_attention.py](https://github.com/machieke/fusion-module-interfaces/blob/494df69a1ac401c3d3b2cf79dbfde07f74b5e277/fusion/adapters/fixture_attention.py), [test_m3_1_attention.py](https://github.com/machieke/fusion-module-interfaces/blob/494df69a1ac401c3d3b2cf79dbfde07f74b5e277/tests/test_m3_1_attention.py),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Attention · C3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ownership is the key contract, not the file layout. Priority and logical clock: STI per target/context, revision and generation watermark. Causal outcome ledger: Command replay, feedback application and no-credit retirement. Truth values: STI is not belief confidence and does not alter formula inputs. Cognition/search: No task creation, ECAN, LTI, wages/funds or hidden inference dependency. Explicit compatibility: sti-additive-linear-decay/1; fresh closure profile sti-additive-linear-decay-closure/1. Limits: Default 16 targets/context, 8 contexts; finite cause/command capacity; explicit logical steps.</a:t>
            </a:r>
          </a:p>
          <a:p/>
          <a:p>
            <a:r>
              <a:t>Evidence and implementation: [attention.py](https://github.com/machieke/fusion-module-interfaces/blob/494df69a1ac401c3d3b2cf79dbfde07f74b5e277/fusion/attention.py), [attention_contracts.py](https://github.com/machieke/fusion-module-interfaces/blob/494df69a1ac401c3d3b2cf79dbfde07f74b5e277/fusion/attention_contracts.py), [fixture_attention.py](https://github.com/machieke/fusion-module-interfaces/blob/494df69a1ac401c3d3b2cf79dbfde07f74b5e277/fusion/adapters/fixture_attention.py), [test_m3_1_attention.py](https://github.com/machieke/fusion-module-interfaces/blob/494df69a1ac401c3d3b2cf79dbfde07f74b5e277/tests/test_m3_1_attention.py),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Attention · C3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contract from inputs to effects. submitStimulus / readAttention: Ingress plus explicit read; Reads do not allocate or decay state. select: Rank positive eligible STI; deterministic tie-break; No discovery of new tasks. advance: Explicit expected-step logical decay; Stale clocks fail; replay does not retime. submitFeedback / resolveFeedback: Apply causal credit or account for prior outcome; Closure cannot newly apply eligible feedback. Operation groups on this slide are not a new coverage denominator. The evidence ledger distinguishes new operations from inherited dependencies. Supporting internal helpers are labelled as seams and are not advertised remote services.</a:t>
            </a:r>
          </a:p>
          <a:p/>
          <a:p>
            <a:r>
              <a:t>Evidence and implementation: [attention.py](https://github.com/machieke/fusion-module-interfaces/blob/494df69a1ac401c3d3b2cf79dbfde07f74b5e277/fusion/attention.py), [attention_contracts.py](https://github.com/machieke/fusion-module-interfaces/blob/494df69a1ac401c3d3b2cf79dbfde07f74b5e277/fusion/attention_contracts.py), [fixture_attention.py](https://github.com/machieke/fusion-module-interfaces/blob/494df69a1ac401c3d3b2cf79dbfde07f74b5e277/fusion/adapters/fixture_attention.py), [test_m3_1_attention.py](https://github.com/machieke/fusion-module-interfaces/blob/494df69a1ac401c3d3b2cf79dbfde07f74b5e277/tests/test_m3_1_attention.py),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Attention · C3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Use this example to connect the responsibility to observable behavior. 1. Prefer B: Scores A=10, B=20; one attempt available. 2. Select: B runs first; C2 admits one conclusion. 3. Credit once: C3 records one causal feedback outcome. 4. Replay / swap: Both providers retain outcome; no extra native call. Evidence classification: HISTORICAL M3 CONTROLLED COMPARISON · SQLite + independent file fixture. Do not infer performance, broad production readiness or extra runtime integrations from this example.</a:t>
            </a:r>
          </a:p>
          <a:p/>
          <a:p>
            <a:r>
              <a:t>Evidence and implementation: [attention.py](https://github.com/machieke/fusion-module-interfaces/blob/494df69a1ac401c3d3b2cf79dbfde07f74b5e277/fusion/attention.py), [attention_contracts.py](https://github.com/machieke/fusion-module-interfaces/blob/494df69a1ac401c3d3b2cf79dbfde07f74b5e277/fusion/attention_contracts.py), [fixture_attention.py](https://github.com/machieke/fusion-module-interfaces/blob/494df69a1ac401c3d3b2cf79dbfde07f74b5e277/fusion/adapters/fixture_attention.py), [test_m3_1_attention.py](https://github.com/machieke/fusion-module-interfaces/blob/494df69a1ac401c3d3b2cf79dbfde07f74b5e277/tests/test_m3_1_attention.py),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Attention · C3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invariants should survive provider substitution and future optimization. Policy is explicit: Integer saturation, context budget and decay are part of identity. Causal uniqueness: Replay cannot apply the same logical feedback twice. Strict logical time: Feedback is never retimed to make stale work admissible. One authoritative outcome: Application and retirement serialize at the attention owner. The supporting tests and runtime evidence are in the linked sources; this slide does not claim a formal proof or a production security audit.</a:t>
            </a:r>
          </a:p>
          <a:p/>
          <a:p>
            <a:r>
              <a:t>Evidence and implementation: [attention.py](https://github.com/machieke/fusion-module-interfaces/blob/494df69a1ac401c3d3b2cf79dbfde07f74b5e277/fusion/attention.py), [attention_contracts.py](https://github.com/machieke/fusion-module-interfaces/blob/494df69a1ac401c3d3b2cf79dbfde07f74b5e277/fusion/attention_contracts.py), [fixture_attention.py](https://github.com/machieke/fusion-module-interfaces/blob/494df69a1ac401c3d3b2cf79dbfde07f74b5e277/fusion/adapters/fixture_attention.py), [test_m3_1_attention.py](https://github.com/machieke/fusion-module-interfaces/blob/494df69a1ac401c3d3b2cf79dbfde07f74b5e277/tests/test_m3_1_attention.py),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Attention · C3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State the owner boundary before the recovery claim. Feedback applied; response lost: Return original application receipt even after expiry/decay. No second credit. Clock advanced / feedback expired: Retire without credit when permitted. Do not manufacture application. Eligible/unavailable or finite capacity: Resolution remains pending. Reconciliation is not a scheduler. A fixture can position the failure while a real process is killed. Local replay semantics do not imply exactly-once physical execution, a distributed transaction, or global failover. For pure/static modules the relevant failure is selection/refusal, not invented journal recovery.</a:t>
            </a:r>
          </a:p>
          <a:p/>
          <a:p>
            <a:r>
              <a:t>Evidence and implementation: [attention.py](https://github.com/machieke/fusion-module-interfaces/blob/494df69a1ac401c3d3b2cf79dbfde07f74b5e277/fusion/attention.py), [attention_contracts.py](https://github.com/machieke/fusion-module-interfaces/blob/494df69a1ac401c3d3b2cf79dbfde07f74b5e277/fusion/attention_contracts.py), [fixture_attention.py](https://github.com/machieke/fusion-module-interfaces/blob/494df69a1ac401c3d3b2cf79dbfde07f74b5e277/fusion/adapters/fixture_attention.py), [test_m3_1_attention.py](https://github.com/machieke/fusion-module-interfaces/blob/494df69a1ac401c3d3b2cf79dbfde07f74b5e277/tests/test_m3_1_attention.py),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Attention · C3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Read every number with its unit and source class. 4 Controlled provider/preference runs: Same policy, tasks and one-attempt budget. 1 / 0 Native call / replay calls per run: Whole inference-step observation. 100 / 300 / 1 Target cap / context budget / decay: Default STI policy parameters. Historical full-step timings span 0.641150–0.744361 s, one observation per case. They include native inference and cannot rank attention-provider speed or cognitive quality. Proposed: fix eligible sets and causal schedule; vary target count, replay ratio and feedback contention. Measure select/update p50/p95 while checking exact ranking and once-only outcomes. No new benchmark is executed for this presentation. Do not compare overlapping suite times or use a one-run workflow measurement as a latency percentile.</a:t>
            </a:r>
          </a:p>
          <a:p/>
          <a:p>
            <a:r>
              <a:t>Evidence and implementation: [attention.py](https://github.com/machieke/fusion-module-interfaces/blob/494df69a1ac401c3d3b2cf79dbfde07f74b5e277/fusion/attention.py), [attention_contracts.py](https://github.com/machieke/fusion-module-interfaces/blob/494df69a1ac401c3d3b2cf79dbfde07f74b5e277/fusion/attention_contracts.py), [fixture_attention.py](https://github.com/machieke/fusion-module-interfaces/blob/494df69a1ac401c3d3b2cf79dbfde07f74b5e277/fusion/adapters/fixture_attention.py), [test_m3_1_attention.py](https://github.com/machieke/fusion-module-interfaces/blob/494df69a1ac401c3d3b2cf79dbfde07f74b5e277/tests/test_m3_1_attention.py),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Attention · C3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Implemented local code is not automatically a production provider. Real: Persistent SQLite reference STI provider; real native inference consumes its selections. Fixture: Independent atomic-file attention, generated tasks, grants and deterministic fault positions. Blocked or unsupported: No required supported gate blocked; old pending stores need their original profile. Unrun: ECAN/LTI, learned policy quality, production scaling and populated-state migration. All required M5 gates passed in the recorded final run, including legacy M1–M4 behavior; this presentation does not rerun those integrations. Human maintainers remain unassigned.</a:t>
            </a:r>
          </a:p>
          <a:p/>
          <a:p>
            <a:r>
              <a:t>Evidence and implementation: [attention.py](https://github.com/machieke/fusion-module-interfaces/blob/494df69a1ac401c3d3b2cf79dbfde07f74b5e277/fusion/attention.py), [attention_contracts.py](https://github.com/machieke/fusion-module-interfaces/blob/494df69a1ac401c3d3b2cf79dbfde07f74b5e277/fusion/attention_contracts.py), [fixture_attention.py](https://github.com/machieke/fusion-module-interfaces/blob/494df69a1ac401c3d3b2cf79dbfde07f74b5e277/fusion/adapters/fixture_attention.py), [test_m3_1_attention.py](https://github.com/machieke/fusion-module-interfaces/blob/494df69a1ac401c3d3b2cf79dbfde07f74b5e277/tests/test_m3_1_attention.py),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Attention · C3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Discuss future work as conditional engineering proposals. Benchmark independent providers requires Identical logical schedule and durability semantics; success means Performance without ranking or receipt drift. Evaluate ranking usefulness requires Declared task objective and fixed inference budget; success means Outcome quality separate from conformance. Qualify another policy requires New profile with clock/causal semantics; success means No hidden adoption of LTI or coupled attention state. No new cognition, scheduler, migration or chain capability is implemented by this series. Any changed numerical semantics, placement or replay lifetime requires separate design and verification rather than a presentation claim.</a:t>
            </a:r>
          </a:p>
          <a:p/>
          <a:p>
            <a:r>
              <a:t>Evidence and implementation: [attention.py](https://github.com/machieke/fusion-module-interfaces/blob/494df69a1ac401c3d3b2cf79dbfde07f74b5e277/fusion/attention.py), [attention_contracts.py](https://github.com/machieke/fusion-module-interfaces/blob/494df69a1ac401c3d3b2cf79dbfde07f74b5e277/fusion/attention_contracts.py), [fixture_attention.py](https://github.com/machieke/fusion-module-interfaces/blob/494df69a1ac401c3d3b2cf79dbfde07f74b5e277/fusion/adapters/fixture_attention.py), [test_m3_1_attention.py](https://github.com/machieke/fusion-module-interfaces/blob/494df69a1ac401c3d3b2cf79dbfde07f74b5e277/tests/test_m3_1_attention.py),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Attention · C3 · M5 source bfb0ec8</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Conclude with: Priority selects work; causal receipts prevent repeated reward. The reproduction entrypoint is uv run --python 3.11 --locked python scripts/verify_m3_1.py &lt;env&gt; --output &lt;fresh&gt;. Uses fresh closure-profile stores and both providers. Historical comparison retains its own source label; M5 reruns legacy behavior without adding attention work. Build/export checks for this series are separate from runtime tests. Exact upstream pins remain in integration/hive/sources.json, integration/pln/sources.json, integration/pln/deduction-sources.json and the M4/M5 source manifests. Commands use fresh output/state; raw provider environments, credentials, journals and private IDs should not be published.</a:t>
            </a:r>
          </a:p>
          <a:p/>
          <a:p>
            <a:r>
              <a:t>Evidence and implementation: [attention.py](https://github.com/machieke/fusion-module-interfaces/blob/494df69a1ac401c3d3b2cf79dbfde07f74b5e277/fusion/attention.py), [attention_contracts.py](https://github.com/machieke/fusion-module-interfaces/blob/494df69a1ac401c3d3b2cf79dbfde07f74b5e277/fusion/attention_contracts.py), [fixture_attention.py](https://github.com/machieke/fusion-module-interfaces/blob/494df69a1ac401c3d3b2cf79dbfde07f74b5e277/fusion/adapters/fixture_attention.py), [test_m3_1_attention.py](https://github.com/machieke/fusion-module-interfaces/blob/494df69a1ac401c3d3b2cf79dbfde07f74b5e277/tests/test_m3_1_attention.py), [comparison.json](https://github.com/machieke/fusion-module-interfaces/blob/494df69a1ac401c3d3b2cf79dbfde07f74b5e277/docs/module-interfaces/evidence/m3/final/comparison.json), [verification.json](https://github.com/machieke/fusion-module-interfaces/blob/494df69a1ac401c3d3b2cf79dbfde07f74b5e277/docs/module-interfaces/evidence/m3_1/final/verification.json).</a:t>
            </a:r>
          </a:p>
          <a:p/>
          <a:p>
            <a:r>
              <a:t>Scope: repository snapshot 494df69a1ac401c3d3b2cf79dbfde07f74b5e277; tested M5 runtime bfb0ec8856c932dc2bcbc05b8949c957da8d72cd. Historical observations keep their own milestone source. This deck build runs no runtime or benchmark. Future directions and proposed benchmark designs are not implemented work or measured results.</a:t>
            </a:r>
          </a:p>
          <a:p/>
          <a:p>
            <a:r>
              <a:t>Source: Attention · C3 · M5 source bfb0ec8</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2233"/>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AAC0CC"/>
                </a:solidFill>
                <a:latin typeface="DejaVu Sans"/>
              </a:rPr>
              <a:t>OMEGA × ASI / STANDALONE MODULE SERIES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FFFFFF"/>
                </a:solidFill>
                <a:latin typeface="DejaVu Sans"/>
              </a:rPr>
              <a:t>Attention · C3</a:t>
            </a:r>
          </a:p>
        </p:txBody>
      </p:sp>
      <p:sp>
        <p:nvSpPr>
          <p:cNvPr id="4" name="TextBox 3"/>
          <p:cNvSpPr txBox="1"/>
          <p:nvPr/>
        </p:nvSpPr>
        <p:spPr>
          <a:xfrm>
            <a:off x="548640" y="1783080"/>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Rank eligible work.</a:t>
            </a:r>
          </a:p>
        </p:txBody>
      </p:sp>
      <p:sp>
        <p:nvSpPr>
          <p:cNvPr id="5" name="TextBox 4"/>
          <p:cNvSpPr txBox="1"/>
          <p:nvPr/>
        </p:nvSpPr>
        <p:spPr>
          <a:xfrm>
            <a:off x="548640" y="2343912"/>
            <a:ext cx="11049000" cy="560832"/>
          </a:xfrm>
          <a:prstGeom prst="rect">
            <a:avLst/>
          </a:prstGeom>
          <a:noFill/>
        </p:spPr>
        <p:txBody>
          <a:bodyPr wrap="none" lIns="0" rIns="0" tIns="0" bIns="0" anchor="t" anchorCtr="0">
            <a:noAutofit/>
          </a:bodyPr>
          <a:lstStyle/>
          <a:p>
            <a:pPr algn="l">
              <a:lnSpc>
                <a:spcPct val="100000"/>
              </a:lnSpc>
              <a:spcBef>
                <a:spcPts val="0"/>
              </a:spcBef>
              <a:spcAft>
                <a:spcPts val="0"/>
              </a:spcAft>
            </a:pPr>
            <a:r>
              <a:rPr sz="3840" b="1">
                <a:solidFill>
                  <a:srgbClr val="FFFFFF"/>
                </a:solidFill>
                <a:latin typeface="DejaVu Sans"/>
              </a:rPr>
              <a:t>Credit each cause once.</a:t>
            </a:r>
          </a:p>
        </p:txBody>
      </p:sp>
      <p:sp>
        <p:nvSpPr>
          <p:cNvPr id="6" name="Rounded Rectangle 5"/>
          <p:cNvSpPr/>
          <p:nvPr/>
        </p:nvSpPr>
        <p:spPr>
          <a:xfrm>
            <a:off x="579120" y="3208020"/>
            <a:ext cx="3112204" cy="274320"/>
          </a:xfrm>
          <a:prstGeom prst="roundRect">
            <a:avLst>
              <a:gd name="adj" fmla="val 19444"/>
            </a:avLst>
          </a:prstGeom>
          <a:solidFill>
            <a:srgbClr val="E4EBF5"/>
          </a:solidFill>
          <a:ln>
            <a:noFill/>
          </a:ln>
          <a:effectLst/>
        </p:spPr>
        <p:txBody>
          <a:bodyPr rtlCol="0" anchor="ctr"/>
          <a:lstStyle/>
          <a:p>
            <a:pPr algn="ctr"/>
          </a:p>
        </p:txBody>
      </p:sp>
      <p:sp>
        <p:nvSpPr>
          <p:cNvPr id="7" name="TextBox 6"/>
          <p:cNvSpPr txBox="1"/>
          <p:nvPr/>
        </p:nvSpPr>
        <p:spPr>
          <a:xfrm>
            <a:off x="685800" y="3261360"/>
            <a:ext cx="2921704"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315E9C"/>
                </a:solidFill>
                <a:latin typeface="DejaVu Sans"/>
              </a:rPr>
              <a:t>ELI16 · THE IDEA IN PLAIN LANGUAGE</a:t>
            </a:r>
          </a:p>
        </p:txBody>
      </p:sp>
      <p:sp>
        <p:nvSpPr>
          <p:cNvPr id="8" name="TextBox 7"/>
          <p:cNvSpPr txBox="1"/>
          <p:nvPr/>
        </p:nvSpPr>
        <p:spPr>
          <a:xfrm>
            <a:off x="579120" y="3649979"/>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A priority list with a clock: tasks gain or lose points, but a repeated reward receipt</a:t>
            </a:r>
          </a:p>
        </p:txBody>
      </p:sp>
      <p:sp>
        <p:nvSpPr>
          <p:cNvPr id="9" name="TextBox 8"/>
          <p:cNvSpPr txBox="1"/>
          <p:nvPr/>
        </p:nvSpPr>
        <p:spPr>
          <a:xfrm>
            <a:off x="579120" y="3962095"/>
            <a:ext cx="10744200" cy="312115"/>
          </a:xfrm>
          <a:prstGeom prst="rect">
            <a:avLst/>
          </a:prstGeom>
          <a:noFill/>
        </p:spPr>
        <p:txBody>
          <a:bodyPr wrap="none" lIns="0" rIns="0" tIns="0" bIns="0" anchor="t" anchorCtr="0">
            <a:noAutofit/>
          </a:bodyPr>
          <a:lstStyle/>
          <a:p>
            <a:pPr algn="l">
              <a:lnSpc>
                <a:spcPct val="100000"/>
              </a:lnSpc>
              <a:spcBef>
                <a:spcPts val="0"/>
              </a:spcBef>
              <a:spcAft>
                <a:spcPts val="0"/>
              </a:spcAft>
            </a:pPr>
            <a:r>
              <a:rPr sz="1920" b="0">
                <a:solidFill>
                  <a:srgbClr val="FFFFFF"/>
                </a:solidFill>
                <a:latin typeface="DejaVu Sans"/>
              </a:rPr>
              <a:t>cannot buy a second reward.</a:t>
            </a:r>
          </a:p>
        </p:txBody>
      </p:sp>
      <p:sp>
        <p:nvSpPr>
          <p:cNvPr id="10" name="TextBox 9"/>
          <p:cNvSpPr txBox="1"/>
          <p:nvPr/>
        </p:nvSpPr>
        <p:spPr>
          <a:xfrm>
            <a:off x="579120" y="47320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Why it matters: Limited work budgets make ordering observable. Keeping attention independent</a:t>
            </a:r>
          </a:p>
        </p:txBody>
      </p:sp>
      <p:sp>
        <p:nvSpPr>
          <p:cNvPr id="11" name="TextBox 10"/>
          <p:cNvSpPr txBox="1"/>
          <p:nvPr/>
        </p:nvSpPr>
        <p:spPr>
          <a:xfrm>
            <a:off x="579120" y="5005120"/>
            <a:ext cx="1074420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AAC0CC"/>
                </a:solidFill>
                <a:latin typeface="DejaVu Sans"/>
              </a:rPr>
              <a:t>allows policy/provider experiments without changing belief mathematics or task admission.</a:t>
            </a:r>
          </a:p>
        </p:txBody>
      </p:sp>
      <p:sp>
        <p:nvSpPr>
          <p:cNvPr id="12" name="TextBox 11"/>
          <p:cNvSpPr txBox="1"/>
          <p:nvPr/>
        </p:nvSpPr>
        <p:spPr>
          <a:xfrm>
            <a:off x="579120" y="6019800"/>
            <a:ext cx="10439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AAC0CC"/>
                </a:solidFill>
                <a:latin typeface="DejaVu Sans"/>
              </a:rPr>
              <a:t>Through M5 · 17 October 2026 · 12–15 minute talk · evidence and proposals kept separate</a:t>
            </a:r>
          </a:p>
        </p:txBody>
      </p:sp>
      <p:cxnSp>
        <p:nvCxnSpPr>
          <p:cNvPr id="13" name="Connector 12"/>
          <p:cNvCxnSpPr/>
          <p:nvPr/>
        </p:nvCxnSpPr>
        <p:spPr>
          <a:xfrm>
            <a:off x="548640" y="6393180"/>
            <a:ext cx="11094720" cy="0"/>
          </a:xfrm>
          <a:prstGeom prst="line">
            <a:avLst/>
          </a:prstGeom>
          <a:ln w="7620">
            <a:solidFill>
              <a:srgbClr val="536775"/>
            </a:solidFill>
          </a:ln>
          <a:effectLst/>
        </p:spPr>
      </p:cxnSp>
      <p:sp>
        <p:nvSpPr>
          <p:cNvPr id="14" name="TextBox 13"/>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AAC0CC"/>
                </a:solidFill>
                <a:latin typeface="DejaVu Sans"/>
              </a:rPr>
              <a:t>OMEGA × ASI / THROUGH M5 / Attention · C3 · M5 source bfb0ec8</a:t>
            </a:r>
          </a:p>
        </p:txBody>
      </p:sp>
      <p:sp>
        <p:nvSpPr>
          <p:cNvPr id="15" name="TextBox 14"/>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AAC0CC"/>
                </a:solidFill>
                <a:latin typeface="DejaVu Sans Mono"/>
              </a:rPr>
              <a:t>01 / 12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01 / HELICOPTER VIEW</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One module in a system of fifteen</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highlighted responsibility is the subject of this talk; placement and process count are separate decisions.</a:t>
            </a:r>
          </a:p>
        </p:txBody>
      </p:sp>
      <p:sp>
        <p:nvSpPr>
          <p:cNvPr id="5" name="Rounded Rectangle 4"/>
          <p:cNvSpPr/>
          <p:nvPr/>
        </p:nvSpPr>
        <p:spPr>
          <a:xfrm>
            <a:off x="5486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6" name="TextBox 5"/>
          <p:cNvSpPr txBox="1"/>
          <p:nvPr/>
        </p:nvSpPr>
        <p:spPr>
          <a:xfrm>
            <a:off x="6858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Persistence</a:t>
            </a:r>
          </a:p>
        </p:txBody>
      </p:sp>
      <p:sp>
        <p:nvSpPr>
          <p:cNvPr id="7" name="Rounded Rectangle 6"/>
          <p:cNvSpPr/>
          <p:nvPr/>
        </p:nvSpPr>
        <p:spPr>
          <a:xfrm>
            <a:off x="6629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8" name="TextBox 7"/>
          <p:cNvSpPr txBox="1"/>
          <p:nvPr/>
        </p:nvSpPr>
        <p:spPr>
          <a:xfrm>
            <a:off x="7620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DA storage</a:t>
            </a:r>
          </a:p>
        </p:txBody>
      </p:sp>
      <p:sp>
        <p:nvSpPr>
          <p:cNvPr id="9" name="Rounded Rectangle 8"/>
          <p:cNvSpPr/>
          <p:nvPr/>
        </p:nvSpPr>
        <p:spPr>
          <a:xfrm>
            <a:off x="6629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0" name="TextBox 9"/>
          <p:cNvSpPr txBox="1"/>
          <p:nvPr/>
        </p:nvSpPr>
        <p:spPr>
          <a:xfrm>
            <a:off x="7620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AtomStorage · C0</a:t>
            </a:r>
          </a:p>
        </p:txBody>
      </p:sp>
      <p:sp>
        <p:nvSpPr>
          <p:cNvPr id="11" name="Rounded Rectangle 10"/>
          <p:cNvSpPr/>
          <p:nvPr/>
        </p:nvSpPr>
        <p:spPr>
          <a:xfrm>
            <a:off x="6629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12" name="TextBox 11"/>
          <p:cNvSpPr txBox="1"/>
          <p:nvPr/>
        </p:nvSpPr>
        <p:spPr>
          <a:xfrm>
            <a:off x="7620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ConsensusFinality</a:t>
            </a:r>
          </a:p>
        </p:txBody>
      </p:sp>
      <p:sp>
        <p:nvSpPr>
          <p:cNvPr id="13" name="Rounded Rectangle 12"/>
          <p:cNvSpPr/>
          <p:nvPr/>
        </p:nvSpPr>
        <p:spPr>
          <a:xfrm>
            <a:off x="33680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14" name="TextBox 13"/>
          <p:cNvSpPr txBox="1"/>
          <p:nvPr/>
        </p:nvSpPr>
        <p:spPr>
          <a:xfrm>
            <a:off x="35052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Knowledge access</a:t>
            </a:r>
          </a:p>
        </p:txBody>
      </p:sp>
      <p:sp>
        <p:nvSpPr>
          <p:cNvPr id="15" name="Rounded Rectangle 14"/>
          <p:cNvSpPr/>
          <p:nvPr/>
        </p:nvSpPr>
        <p:spPr>
          <a:xfrm>
            <a:off x="34823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16" name="TextBox 15"/>
          <p:cNvSpPr txBox="1"/>
          <p:nvPr/>
        </p:nvSpPr>
        <p:spPr>
          <a:xfrm>
            <a:off x="35814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Relations</a:t>
            </a:r>
          </a:p>
        </p:txBody>
      </p:sp>
      <p:sp>
        <p:nvSpPr>
          <p:cNvPr id="17" name="Rounded Rectangle 16"/>
          <p:cNvSpPr/>
          <p:nvPr/>
        </p:nvSpPr>
        <p:spPr>
          <a:xfrm>
            <a:off x="34823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18" name="TextBox 17"/>
          <p:cNvSpPr txBox="1"/>
          <p:nvPr/>
        </p:nvSpPr>
        <p:spPr>
          <a:xfrm>
            <a:off x="35814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Search projection</a:t>
            </a:r>
          </a:p>
        </p:txBody>
      </p:sp>
      <p:sp>
        <p:nvSpPr>
          <p:cNvPr id="19" name="Rounded Rectangle 18"/>
          <p:cNvSpPr/>
          <p:nvPr/>
        </p:nvSpPr>
        <p:spPr>
          <a:xfrm>
            <a:off x="61874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20" name="TextBox 19"/>
          <p:cNvSpPr txBox="1"/>
          <p:nvPr/>
        </p:nvSpPr>
        <p:spPr>
          <a:xfrm>
            <a:off x="63246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Cognition</a:t>
            </a:r>
          </a:p>
        </p:txBody>
      </p:sp>
      <p:sp>
        <p:nvSpPr>
          <p:cNvPr id="21" name="Rounded Rectangle 20"/>
          <p:cNvSpPr/>
          <p:nvPr/>
        </p:nvSpPr>
        <p:spPr>
          <a:xfrm>
            <a:off x="63017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22" name="TextBox 21"/>
          <p:cNvSpPr txBox="1"/>
          <p:nvPr/>
        </p:nvSpPr>
        <p:spPr>
          <a:xfrm>
            <a:off x="64008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Episodes · C1</a:t>
            </a:r>
          </a:p>
        </p:txBody>
      </p:sp>
      <p:sp>
        <p:nvSpPr>
          <p:cNvPr id="23" name="Rounded Rectangle 22"/>
          <p:cNvSpPr/>
          <p:nvPr/>
        </p:nvSpPr>
        <p:spPr>
          <a:xfrm>
            <a:off x="63017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24" name="TextBox 23"/>
          <p:cNvSpPr txBox="1"/>
          <p:nvPr/>
        </p:nvSpPr>
        <p:spPr>
          <a:xfrm>
            <a:off x="64008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Beliefs · C2</a:t>
            </a:r>
          </a:p>
        </p:txBody>
      </p:sp>
      <p:sp>
        <p:nvSpPr>
          <p:cNvPr id="25" name="Rounded Rectangle 24"/>
          <p:cNvSpPr/>
          <p:nvPr/>
        </p:nvSpPr>
        <p:spPr>
          <a:xfrm>
            <a:off x="63017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26" name="TextBox 25"/>
          <p:cNvSpPr txBox="1"/>
          <p:nvPr/>
        </p:nvSpPr>
        <p:spPr>
          <a:xfrm>
            <a:off x="64008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PLNKernel</a:t>
            </a:r>
          </a:p>
        </p:txBody>
      </p:sp>
      <p:sp>
        <p:nvSpPr>
          <p:cNvPr id="27" name="Rounded Rectangle 26"/>
          <p:cNvSpPr/>
          <p:nvPr/>
        </p:nvSpPr>
        <p:spPr>
          <a:xfrm>
            <a:off x="6301740" y="4023360"/>
            <a:ext cx="2407920" cy="449580"/>
          </a:xfrm>
          <a:prstGeom prst="roundRect">
            <a:avLst>
              <a:gd name="adj" fmla="val 13559"/>
            </a:avLst>
          </a:prstGeom>
          <a:solidFill>
            <a:srgbClr val="315E9C"/>
          </a:solidFill>
          <a:ln>
            <a:noFill/>
          </a:ln>
          <a:effectLst/>
        </p:spPr>
        <p:txBody>
          <a:bodyPr rtlCol="0" anchor="ctr"/>
          <a:lstStyle/>
          <a:p>
            <a:pPr algn="ctr"/>
          </a:p>
        </p:txBody>
      </p:sp>
      <p:sp>
        <p:nvSpPr>
          <p:cNvPr id="28" name="TextBox 27"/>
          <p:cNvSpPr txBox="1"/>
          <p:nvPr/>
        </p:nvSpPr>
        <p:spPr>
          <a:xfrm>
            <a:off x="64008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FFFFFF"/>
                </a:solidFill>
                <a:latin typeface="DejaVu Sans"/>
              </a:rPr>
              <a:t>Attention · C3</a:t>
            </a:r>
          </a:p>
        </p:txBody>
      </p:sp>
      <p:sp>
        <p:nvSpPr>
          <p:cNvPr id="29" name="Rounded Rectangle 28"/>
          <p:cNvSpPr/>
          <p:nvPr/>
        </p:nvSpPr>
        <p:spPr>
          <a:xfrm>
            <a:off x="63017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30" name="TextBox 29"/>
          <p:cNvSpPr txBox="1"/>
          <p:nvPr/>
        </p:nvSpPr>
        <p:spPr>
          <a:xfrm>
            <a:off x="64008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Inference · C4</a:t>
            </a:r>
          </a:p>
        </p:txBody>
      </p:sp>
      <p:sp>
        <p:nvSpPr>
          <p:cNvPr id="31" name="Rounded Rectangle 30"/>
          <p:cNvSpPr/>
          <p:nvPr/>
        </p:nvSpPr>
        <p:spPr>
          <a:xfrm>
            <a:off x="9006840" y="1798320"/>
            <a:ext cx="2636520" cy="3566160"/>
          </a:xfrm>
          <a:prstGeom prst="roundRect">
            <a:avLst>
              <a:gd name="adj" fmla="val 4046"/>
            </a:avLst>
          </a:prstGeom>
          <a:solidFill>
            <a:srgbClr val="E7ECEB"/>
          </a:solidFill>
          <a:ln>
            <a:noFill/>
          </a:ln>
          <a:effectLst/>
        </p:spPr>
        <p:txBody>
          <a:bodyPr rtlCol="0" anchor="ctr"/>
          <a:lstStyle/>
          <a:p>
            <a:pPr algn="ctr"/>
          </a:p>
        </p:txBody>
      </p:sp>
      <p:sp>
        <p:nvSpPr>
          <p:cNvPr id="32" name="TextBox 31"/>
          <p:cNvSpPr txBox="1"/>
          <p:nvPr/>
        </p:nvSpPr>
        <p:spPr>
          <a:xfrm>
            <a:off x="9144000" y="1943100"/>
            <a:ext cx="2362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536775"/>
                </a:solidFill>
                <a:latin typeface="DejaVu Sans"/>
              </a:rPr>
              <a:t>Coordination + policy</a:t>
            </a:r>
          </a:p>
        </p:txBody>
      </p:sp>
      <p:sp>
        <p:nvSpPr>
          <p:cNvPr id="33" name="Rounded Rectangle 32"/>
          <p:cNvSpPr/>
          <p:nvPr/>
        </p:nvSpPr>
        <p:spPr>
          <a:xfrm>
            <a:off x="9121140" y="2354580"/>
            <a:ext cx="2407920" cy="449580"/>
          </a:xfrm>
          <a:prstGeom prst="roundRect">
            <a:avLst>
              <a:gd name="adj" fmla="val 13559"/>
            </a:avLst>
          </a:prstGeom>
          <a:solidFill>
            <a:srgbClr val="FFFFFF"/>
          </a:solidFill>
          <a:ln>
            <a:noFill/>
          </a:ln>
          <a:effectLst/>
        </p:spPr>
        <p:txBody>
          <a:bodyPr rtlCol="0" anchor="ctr"/>
          <a:lstStyle/>
          <a:p>
            <a:pPr algn="ctr"/>
          </a:p>
        </p:txBody>
      </p:sp>
      <p:sp>
        <p:nvSpPr>
          <p:cNvPr id="34" name="TextBox 33"/>
          <p:cNvSpPr txBox="1"/>
          <p:nvPr/>
        </p:nvSpPr>
        <p:spPr>
          <a:xfrm>
            <a:off x="9220200" y="246888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Messaging</a:t>
            </a:r>
          </a:p>
        </p:txBody>
      </p:sp>
      <p:sp>
        <p:nvSpPr>
          <p:cNvPr id="35" name="Rounded Rectangle 34"/>
          <p:cNvSpPr/>
          <p:nvPr/>
        </p:nvSpPr>
        <p:spPr>
          <a:xfrm>
            <a:off x="9121140" y="2910840"/>
            <a:ext cx="2407920" cy="449580"/>
          </a:xfrm>
          <a:prstGeom prst="roundRect">
            <a:avLst>
              <a:gd name="adj" fmla="val 13559"/>
            </a:avLst>
          </a:prstGeom>
          <a:solidFill>
            <a:srgbClr val="FFFFFF"/>
          </a:solidFill>
          <a:ln>
            <a:noFill/>
          </a:ln>
          <a:effectLst/>
        </p:spPr>
        <p:txBody>
          <a:bodyPr rtlCol="0" anchor="ctr"/>
          <a:lstStyle/>
          <a:p>
            <a:pPr algn="ctr"/>
          </a:p>
        </p:txBody>
      </p:sp>
      <p:sp>
        <p:nvSpPr>
          <p:cNvPr id="36" name="TextBox 35"/>
          <p:cNvSpPr txBox="1"/>
          <p:nvPr/>
        </p:nvSpPr>
        <p:spPr>
          <a:xfrm>
            <a:off x="9220200" y="302514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Execution</a:t>
            </a:r>
          </a:p>
        </p:txBody>
      </p:sp>
      <p:sp>
        <p:nvSpPr>
          <p:cNvPr id="37" name="Rounded Rectangle 36"/>
          <p:cNvSpPr/>
          <p:nvPr/>
        </p:nvSpPr>
        <p:spPr>
          <a:xfrm>
            <a:off x="9121140" y="3467100"/>
            <a:ext cx="2407920" cy="449580"/>
          </a:xfrm>
          <a:prstGeom prst="roundRect">
            <a:avLst>
              <a:gd name="adj" fmla="val 13559"/>
            </a:avLst>
          </a:prstGeom>
          <a:solidFill>
            <a:srgbClr val="FFFFFF"/>
          </a:solidFill>
          <a:ln>
            <a:noFill/>
          </a:ln>
          <a:effectLst/>
        </p:spPr>
        <p:txBody>
          <a:bodyPr rtlCol="0" anchor="ctr"/>
          <a:lstStyle/>
          <a:p>
            <a:pPr algn="ctr"/>
          </a:p>
        </p:txBody>
      </p:sp>
      <p:sp>
        <p:nvSpPr>
          <p:cNvPr id="38" name="TextBox 37"/>
          <p:cNvSpPr txBox="1"/>
          <p:nvPr/>
        </p:nvSpPr>
        <p:spPr>
          <a:xfrm>
            <a:off x="9220200" y="358140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Registry</a:t>
            </a:r>
          </a:p>
        </p:txBody>
      </p:sp>
      <p:sp>
        <p:nvSpPr>
          <p:cNvPr id="39" name="Rounded Rectangle 38"/>
          <p:cNvSpPr/>
          <p:nvPr/>
        </p:nvSpPr>
        <p:spPr>
          <a:xfrm>
            <a:off x="9121140" y="4023360"/>
            <a:ext cx="2407920" cy="449580"/>
          </a:xfrm>
          <a:prstGeom prst="roundRect">
            <a:avLst>
              <a:gd name="adj" fmla="val 13559"/>
            </a:avLst>
          </a:prstGeom>
          <a:solidFill>
            <a:srgbClr val="FFFFFF"/>
          </a:solidFill>
          <a:ln>
            <a:noFill/>
          </a:ln>
          <a:effectLst/>
        </p:spPr>
        <p:txBody>
          <a:bodyPr rtlCol="0" anchor="ctr"/>
          <a:lstStyle/>
          <a:p>
            <a:pPr algn="ctr"/>
          </a:p>
        </p:txBody>
      </p:sp>
      <p:sp>
        <p:nvSpPr>
          <p:cNvPr id="40" name="TextBox 39"/>
          <p:cNvSpPr txBox="1"/>
          <p:nvPr/>
        </p:nvSpPr>
        <p:spPr>
          <a:xfrm>
            <a:off x="9220200" y="413766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Resolver</a:t>
            </a:r>
          </a:p>
        </p:txBody>
      </p:sp>
      <p:sp>
        <p:nvSpPr>
          <p:cNvPr id="41" name="Rounded Rectangle 40"/>
          <p:cNvSpPr/>
          <p:nvPr/>
        </p:nvSpPr>
        <p:spPr>
          <a:xfrm>
            <a:off x="9121140" y="4579620"/>
            <a:ext cx="2407920" cy="449580"/>
          </a:xfrm>
          <a:prstGeom prst="roundRect">
            <a:avLst>
              <a:gd name="adj" fmla="val 13559"/>
            </a:avLst>
          </a:prstGeom>
          <a:solidFill>
            <a:srgbClr val="FFFFFF"/>
          </a:solidFill>
          <a:ln>
            <a:noFill/>
          </a:ln>
          <a:effectLst/>
        </p:spPr>
        <p:txBody>
          <a:bodyPr rtlCol="0" anchor="ctr"/>
          <a:lstStyle/>
          <a:p>
            <a:pPr algn="ctr"/>
          </a:p>
        </p:txBody>
      </p:sp>
      <p:sp>
        <p:nvSpPr>
          <p:cNvPr id="42" name="TextBox 41"/>
          <p:cNvSpPr txBox="1"/>
          <p:nvPr/>
        </p:nvSpPr>
        <p:spPr>
          <a:xfrm>
            <a:off x="9220200" y="4693920"/>
            <a:ext cx="22098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102B3F"/>
                </a:solidFill>
                <a:latin typeface="DejaVu Sans"/>
              </a:rPr>
              <a:t>Authorization</a:t>
            </a:r>
          </a:p>
        </p:txBody>
      </p:sp>
      <p:sp>
        <p:nvSpPr>
          <p:cNvPr id="43" name="TextBox 42"/>
          <p:cNvSpPr txBox="1"/>
          <p:nvPr/>
        </p:nvSpPr>
        <p:spPr>
          <a:xfrm>
            <a:off x="609600" y="5547360"/>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Own bounded integer short-term importance, explicit logical time and causal feedback</a:t>
            </a:r>
          </a:p>
        </p:txBody>
      </p:sp>
      <p:sp>
        <p:nvSpPr>
          <p:cNvPr id="44" name="TextBox 43"/>
          <p:cNvSpPr txBox="1"/>
          <p:nvPr/>
        </p:nvSpPr>
        <p:spPr>
          <a:xfrm>
            <a:off x="609600" y="5810707"/>
            <a:ext cx="1089660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102B3F"/>
                </a:solidFill>
                <a:latin typeface="DejaVu Sans"/>
              </a:rPr>
              <a:t>receipts/retirement.</a:t>
            </a:r>
          </a:p>
        </p:txBody>
      </p:sp>
      <p:cxnSp>
        <p:nvCxnSpPr>
          <p:cNvPr id="45" name="Connector 44"/>
          <p:cNvCxnSpPr/>
          <p:nvPr/>
        </p:nvCxnSpPr>
        <p:spPr>
          <a:xfrm>
            <a:off x="548640" y="6393180"/>
            <a:ext cx="11094720" cy="0"/>
          </a:xfrm>
          <a:prstGeom prst="line">
            <a:avLst/>
          </a:prstGeom>
          <a:ln w="7620">
            <a:solidFill>
              <a:srgbClr val="C9D2D4"/>
            </a:solidFill>
          </a:ln>
          <a:effectLst/>
        </p:spPr>
      </p:cxnSp>
      <p:sp>
        <p:nvSpPr>
          <p:cNvPr id="46" name="TextBox 4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Attention · C3 · M5 source bfb0ec8</a:t>
            </a:r>
          </a:p>
        </p:txBody>
      </p:sp>
      <p:sp>
        <p:nvSpPr>
          <p:cNvPr id="47" name="TextBox 4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02 / 12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02 / FUNCTION DEPENDENCIES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Dependencies explain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Arrows point from caller to dependency. Stores and runtime internals are labelled explicitly.</a:t>
            </a:r>
          </a:p>
        </p:txBody>
      </p:sp>
      <p:sp>
        <p:nvSpPr>
          <p:cNvPr id="5" name="Rounded Rectangle 4"/>
          <p:cNvSpPr/>
          <p:nvPr/>
        </p:nvSpPr>
        <p:spPr>
          <a:xfrm>
            <a:off x="548640" y="2453640"/>
            <a:ext cx="2857500" cy="1668780"/>
          </a:xfrm>
          <a:prstGeom prst="roundRect">
            <a:avLst>
              <a:gd name="adj" fmla="val 5936"/>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621280"/>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Ingress producer /</a:t>
            </a:r>
          </a:p>
        </p:txBody>
      </p:sp>
      <p:sp>
        <p:nvSpPr>
          <p:cNvPr id="7" name="TextBox 6"/>
          <p:cNvSpPr txBox="1"/>
          <p:nvPr/>
        </p:nvSpPr>
        <p:spPr>
          <a:xfrm>
            <a:off x="716280" y="2904134"/>
            <a:ext cx="2522220" cy="282854"/>
          </a:xfrm>
          <a:prstGeom prst="rect">
            <a:avLst/>
          </a:prstGeom>
          <a:noFill/>
        </p:spPr>
        <p:txBody>
          <a:bodyPr wrap="none" lIns="0" rIns="0" tIns="0" bIns="0" anchor="t" anchorCtr="0">
            <a:noAutofit/>
          </a:bodyPr>
          <a:lstStyle/>
          <a:p>
            <a:pPr algn="l">
              <a:lnSpc>
                <a:spcPct val="100000"/>
              </a:lnSpc>
              <a:spcBef>
                <a:spcPts val="0"/>
              </a:spcBef>
              <a:spcAft>
                <a:spcPts val="0"/>
              </a:spcAft>
            </a:pPr>
            <a:r>
              <a:rPr sz="1739" b="1">
                <a:solidFill>
                  <a:srgbClr val="315E9C"/>
                </a:solidFill>
                <a:latin typeface="DejaVu Sans"/>
              </a:rPr>
              <a:t>InferenceControl</a:t>
            </a:r>
          </a:p>
        </p:txBody>
      </p:sp>
      <p:sp>
        <p:nvSpPr>
          <p:cNvPr id="8" name="TextBox 7"/>
          <p:cNvSpPr txBox="1"/>
          <p:nvPr/>
        </p:nvSpPr>
        <p:spPr>
          <a:xfrm>
            <a:off x="716280" y="326318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stimulate · select ·</a:t>
            </a:r>
          </a:p>
        </p:txBody>
      </p:sp>
      <p:sp>
        <p:nvSpPr>
          <p:cNvPr id="9" name="TextBox 8"/>
          <p:cNvSpPr txBox="1"/>
          <p:nvPr/>
        </p:nvSpPr>
        <p:spPr>
          <a:xfrm>
            <a:off x="716280" y="350702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advance ·</a:t>
            </a:r>
          </a:p>
        </p:txBody>
      </p:sp>
      <p:sp>
        <p:nvSpPr>
          <p:cNvPr id="10" name="TextBox 9"/>
          <p:cNvSpPr txBox="1"/>
          <p:nvPr/>
        </p:nvSpPr>
        <p:spPr>
          <a:xfrm>
            <a:off x="716280" y="3750868"/>
            <a:ext cx="252222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submit/resolveFeedback</a:t>
            </a:r>
          </a:p>
        </p:txBody>
      </p:sp>
      <p:sp>
        <p:nvSpPr>
          <p:cNvPr id="11" name="Rounded Rectangle 10"/>
          <p:cNvSpPr/>
          <p:nvPr/>
        </p:nvSpPr>
        <p:spPr>
          <a:xfrm>
            <a:off x="4229100" y="2453640"/>
            <a:ext cx="3238500" cy="1668780"/>
          </a:xfrm>
          <a:prstGeom prst="roundRect">
            <a:avLst>
              <a:gd name="adj" fmla="val 5936"/>
            </a:avLst>
          </a:prstGeom>
          <a:solidFill>
            <a:srgbClr val="E4EBF5"/>
          </a:solidFill>
          <a:ln w="7620">
            <a:solidFill>
              <a:srgbClr val="315E9C"/>
            </a:solidFill>
          </a:ln>
          <a:effectLst/>
        </p:spPr>
        <p:txBody>
          <a:bodyPr rtlCol="0" anchor="ctr"/>
          <a:lstStyle/>
          <a:p>
            <a:pPr algn="ctr"/>
          </a:p>
        </p:txBody>
      </p:sp>
      <p:sp>
        <p:nvSpPr>
          <p:cNvPr id="12" name="TextBox 11"/>
          <p:cNvSpPr txBox="1"/>
          <p:nvPr/>
        </p:nvSpPr>
        <p:spPr>
          <a:xfrm>
            <a:off x="4396740" y="2621280"/>
            <a:ext cx="2903220" cy="321868"/>
          </a:xfrm>
          <a:prstGeom prst="rect">
            <a:avLst/>
          </a:prstGeom>
          <a:noFill/>
        </p:spPr>
        <p:txBody>
          <a:bodyPr wrap="none" lIns="0" rIns="0" tIns="0" bIns="0" anchor="t" anchorCtr="0">
            <a:noAutofit/>
          </a:bodyPr>
          <a:lstStyle/>
          <a:p>
            <a:pPr algn="l">
              <a:lnSpc>
                <a:spcPct val="100000"/>
              </a:lnSpc>
              <a:spcBef>
                <a:spcPts val="0"/>
              </a:spcBef>
              <a:spcAft>
                <a:spcPts val="0"/>
              </a:spcAft>
            </a:pPr>
            <a:r>
              <a:rPr sz="1980" b="1">
                <a:solidFill>
                  <a:srgbClr val="315E9C"/>
                </a:solidFill>
                <a:latin typeface="DejaVu Sans"/>
              </a:rPr>
              <a:t>Attention · C3</a:t>
            </a:r>
          </a:p>
        </p:txBody>
      </p:sp>
      <p:sp>
        <p:nvSpPr>
          <p:cNvPr id="13" name="TextBox 12"/>
          <p:cNvSpPr txBox="1"/>
          <p:nvPr/>
        </p:nvSpPr>
        <p:spPr>
          <a:xfrm>
            <a:off x="4396740" y="3019348"/>
            <a:ext cx="29032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Own bounded integer</a:t>
            </a:r>
          </a:p>
        </p:txBody>
      </p:sp>
      <p:sp>
        <p:nvSpPr>
          <p:cNvPr id="14" name="TextBox 13"/>
          <p:cNvSpPr txBox="1"/>
          <p:nvPr/>
        </p:nvSpPr>
        <p:spPr>
          <a:xfrm>
            <a:off x="4396740" y="3253435"/>
            <a:ext cx="29032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short-term importance, explicit</a:t>
            </a:r>
          </a:p>
        </p:txBody>
      </p:sp>
      <p:sp>
        <p:nvSpPr>
          <p:cNvPr id="15" name="TextBox 14"/>
          <p:cNvSpPr txBox="1"/>
          <p:nvPr/>
        </p:nvSpPr>
        <p:spPr>
          <a:xfrm>
            <a:off x="4396740" y="3487521"/>
            <a:ext cx="29032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logical time and causal</a:t>
            </a:r>
          </a:p>
        </p:txBody>
      </p:sp>
      <p:sp>
        <p:nvSpPr>
          <p:cNvPr id="16" name="TextBox 15"/>
          <p:cNvSpPr txBox="1"/>
          <p:nvPr/>
        </p:nvSpPr>
        <p:spPr>
          <a:xfrm>
            <a:off x="4396740" y="3721607"/>
            <a:ext cx="290322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feedback receipts/retirement.</a:t>
            </a:r>
          </a:p>
        </p:txBody>
      </p:sp>
      <p:cxnSp>
        <p:nvCxnSpPr>
          <p:cNvPr id="17" name="Connector 16"/>
          <p:cNvCxnSpPr/>
          <p:nvPr/>
        </p:nvCxnSpPr>
        <p:spPr>
          <a:xfrm>
            <a:off x="3406140" y="3284219"/>
            <a:ext cx="822960" cy="0"/>
          </a:xfrm>
          <a:prstGeom prst="line">
            <a:avLst/>
          </a:prstGeom>
          <a:ln w="15240">
            <a:solidFill>
              <a:srgbClr val="315E9C"/>
            </a:solidFill>
          </a:ln>
          <a:effectLst/>
        </p:spPr>
      </p:cxnSp>
      <p:sp>
        <p:nvSpPr>
          <p:cNvPr id="18" name="Freeform 17"/>
          <p:cNvSpPr/>
          <p:nvPr/>
        </p:nvSpPr>
        <p:spPr>
          <a:xfrm>
            <a:off x="4130040" y="32461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9" name="Rounded Rectangle 18"/>
          <p:cNvSpPr/>
          <p:nvPr/>
        </p:nvSpPr>
        <p:spPr>
          <a:xfrm>
            <a:off x="8404860" y="198120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0" name="TextBox 19"/>
          <p:cNvSpPr txBox="1"/>
          <p:nvPr/>
        </p:nvSpPr>
        <p:spPr>
          <a:xfrm>
            <a:off x="8572500" y="214884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PrivateAuthority</a:t>
            </a:r>
          </a:p>
        </p:txBody>
      </p:sp>
      <p:sp>
        <p:nvSpPr>
          <p:cNvPr id="21" name="TextBox 20"/>
          <p:cNvSpPr txBox="1"/>
          <p:nvPr/>
        </p:nvSpPr>
        <p:spPr>
          <a:xfrm>
            <a:off x="8572500" y="248838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Current caller, scope and</a:t>
            </a:r>
          </a:p>
        </p:txBody>
      </p:sp>
      <p:sp>
        <p:nvSpPr>
          <p:cNvPr id="22" name="TextBox 21"/>
          <p:cNvSpPr txBox="1"/>
          <p:nvPr/>
        </p:nvSpPr>
        <p:spPr>
          <a:xfrm>
            <a:off x="8572500" y="270296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operation</a:t>
            </a:r>
          </a:p>
        </p:txBody>
      </p:sp>
      <p:cxnSp>
        <p:nvCxnSpPr>
          <p:cNvPr id="23" name="Connector 22"/>
          <p:cNvCxnSpPr/>
          <p:nvPr/>
        </p:nvCxnSpPr>
        <p:spPr>
          <a:xfrm>
            <a:off x="7467600" y="3284219"/>
            <a:ext cx="426720" cy="0"/>
          </a:xfrm>
          <a:prstGeom prst="line">
            <a:avLst/>
          </a:prstGeom>
          <a:ln w="15240">
            <a:solidFill>
              <a:srgbClr val="315E9C"/>
            </a:solidFill>
          </a:ln>
          <a:effectLst/>
        </p:spPr>
      </p:cxnSp>
      <p:cxnSp>
        <p:nvCxnSpPr>
          <p:cNvPr id="24" name="Connector 23"/>
          <p:cNvCxnSpPr/>
          <p:nvPr/>
        </p:nvCxnSpPr>
        <p:spPr>
          <a:xfrm flipV="1">
            <a:off x="7894320" y="2484120"/>
            <a:ext cx="0" cy="800099"/>
          </a:xfrm>
          <a:prstGeom prst="line">
            <a:avLst/>
          </a:prstGeom>
          <a:ln w="15240">
            <a:solidFill>
              <a:srgbClr val="315E9C"/>
            </a:solidFill>
          </a:ln>
          <a:effectLst/>
        </p:spPr>
      </p:cxnSp>
      <p:cxnSp>
        <p:nvCxnSpPr>
          <p:cNvPr id="25" name="Connector 24"/>
          <p:cNvCxnSpPr/>
          <p:nvPr/>
        </p:nvCxnSpPr>
        <p:spPr>
          <a:xfrm>
            <a:off x="7894320" y="2484120"/>
            <a:ext cx="510540" cy="0"/>
          </a:xfrm>
          <a:prstGeom prst="line">
            <a:avLst/>
          </a:prstGeom>
          <a:ln w="15240">
            <a:solidFill>
              <a:srgbClr val="315E9C"/>
            </a:solidFill>
          </a:ln>
          <a:effectLst/>
        </p:spPr>
      </p:cxnSp>
      <p:sp>
        <p:nvSpPr>
          <p:cNvPr id="26" name="Freeform 25"/>
          <p:cNvSpPr/>
          <p:nvPr/>
        </p:nvSpPr>
        <p:spPr>
          <a:xfrm>
            <a:off x="8305800" y="244602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7" name="Rounded Rectangle 26"/>
          <p:cNvSpPr/>
          <p:nvPr/>
        </p:nvSpPr>
        <p:spPr>
          <a:xfrm>
            <a:off x="8404860" y="317754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28" name="TextBox 27"/>
          <p:cNvSpPr txBox="1"/>
          <p:nvPr/>
        </p:nvSpPr>
        <p:spPr>
          <a:xfrm>
            <a:off x="8572500" y="3345179"/>
            <a:ext cx="290322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315E9C"/>
                </a:solidFill>
                <a:latin typeface="DejaVu Sans"/>
              </a:rPr>
              <a:t>Opaque reference syntax</a:t>
            </a:r>
          </a:p>
        </p:txBody>
      </p:sp>
      <p:sp>
        <p:nvSpPr>
          <p:cNvPr id="29" name="TextBox 28"/>
          <p:cNvSpPr txBox="1"/>
          <p:nvPr/>
        </p:nvSpPr>
        <p:spPr>
          <a:xfrm>
            <a:off x="8572500" y="3674973"/>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Validate identity shape; do not</a:t>
            </a:r>
          </a:p>
        </p:txBody>
      </p:sp>
      <p:sp>
        <p:nvSpPr>
          <p:cNvPr id="30" name="TextBox 29"/>
          <p:cNvSpPr txBox="1"/>
          <p:nvPr/>
        </p:nvSpPr>
        <p:spPr>
          <a:xfrm>
            <a:off x="8572500" y="3879799"/>
            <a:ext cx="290322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a:rPr>
              <a:t>fetch payloads</a:t>
            </a:r>
          </a:p>
        </p:txBody>
      </p:sp>
      <p:cxnSp>
        <p:nvCxnSpPr>
          <p:cNvPr id="31" name="Connector 30"/>
          <p:cNvCxnSpPr/>
          <p:nvPr/>
        </p:nvCxnSpPr>
        <p:spPr>
          <a:xfrm>
            <a:off x="7467600" y="3284219"/>
            <a:ext cx="426720" cy="0"/>
          </a:xfrm>
          <a:prstGeom prst="line">
            <a:avLst/>
          </a:prstGeom>
          <a:ln w="15240">
            <a:solidFill>
              <a:srgbClr val="315E9C"/>
            </a:solidFill>
          </a:ln>
          <a:effectLst/>
        </p:spPr>
      </p:cxnSp>
      <p:cxnSp>
        <p:nvCxnSpPr>
          <p:cNvPr id="32" name="Connector 31"/>
          <p:cNvCxnSpPr/>
          <p:nvPr/>
        </p:nvCxnSpPr>
        <p:spPr>
          <a:xfrm>
            <a:off x="7894320" y="3284219"/>
            <a:ext cx="0" cy="396241"/>
          </a:xfrm>
          <a:prstGeom prst="line">
            <a:avLst/>
          </a:prstGeom>
          <a:ln w="15240">
            <a:solidFill>
              <a:srgbClr val="315E9C"/>
            </a:solidFill>
          </a:ln>
          <a:effectLst/>
        </p:spPr>
      </p:cxnSp>
      <p:cxnSp>
        <p:nvCxnSpPr>
          <p:cNvPr id="33" name="Connector 32"/>
          <p:cNvCxnSpPr/>
          <p:nvPr/>
        </p:nvCxnSpPr>
        <p:spPr>
          <a:xfrm>
            <a:off x="7894320" y="3680460"/>
            <a:ext cx="510540" cy="0"/>
          </a:xfrm>
          <a:prstGeom prst="line">
            <a:avLst/>
          </a:prstGeom>
          <a:ln w="15240">
            <a:solidFill>
              <a:srgbClr val="315E9C"/>
            </a:solidFill>
          </a:ln>
          <a:effectLst/>
        </p:spPr>
      </p:cxnSp>
      <p:sp>
        <p:nvSpPr>
          <p:cNvPr id="34" name="Freeform 33"/>
          <p:cNvSpPr/>
          <p:nvPr/>
        </p:nvSpPr>
        <p:spPr>
          <a:xfrm>
            <a:off x="8305800" y="364236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35" name="Rounded Rectangle 34"/>
          <p:cNvSpPr/>
          <p:nvPr/>
        </p:nvSpPr>
        <p:spPr>
          <a:xfrm>
            <a:off x="8404860" y="4373880"/>
            <a:ext cx="3238500" cy="1005840"/>
          </a:xfrm>
          <a:prstGeom prst="roundRect">
            <a:avLst>
              <a:gd name="adj" fmla="val 9848"/>
            </a:avLst>
          </a:prstGeom>
          <a:solidFill>
            <a:srgbClr val="FFFFFF"/>
          </a:solidFill>
          <a:ln w="7620">
            <a:solidFill>
              <a:srgbClr val="315E9C"/>
            </a:solidFill>
          </a:ln>
          <a:effectLst/>
        </p:spPr>
        <p:txBody>
          <a:bodyPr rtlCol="0" anchor="ctr"/>
          <a:lstStyle/>
          <a:p>
            <a:pPr algn="ctr"/>
          </a:p>
        </p:txBody>
      </p:sp>
      <p:sp>
        <p:nvSpPr>
          <p:cNvPr id="36" name="TextBox 35"/>
          <p:cNvSpPr txBox="1"/>
          <p:nvPr/>
        </p:nvSpPr>
        <p:spPr>
          <a:xfrm>
            <a:off x="8572500" y="4541520"/>
            <a:ext cx="290322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1">
                <a:solidFill>
                  <a:srgbClr val="315E9C"/>
                </a:solidFill>
                <a:latin typeface="DejaVu Sans"/>
              </a:rPr>
              <a:t>Own state store</a:t>
            </a:r>
          </a:p>
        </p:txBody>
      </p:sp>
      <p:sp>
        <p:nvSpPr>
          <p:cNvPr id="37" name="TextBox 36"/>
          <p:cNvSpPr txBox="1"/>
          <p:nvPr/>
        </p:nvSpPr>
        <p:spPr>
          <a:xfrm>
            <a:off x="8572500" y="4881067"/>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SQLite or independent atomic-file</a:t>
            </a:r>
          </a:p>
        </p:txBody>
      </p:sp>
      <p:sp>
        <p:nvSpPr>
          <p:cNvPr id="38" name="TextBox 37"/>
          <p:cNvSpPr txBox="1"/>
          <p:nvPr/>
        </p:nvSpPr>
        <p:spPr>
          <a:xfrm>
            <a:off x="8572500" y="5095646"/>
            <a:ext cx="290322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fixture</a:t>
            </a:r>
          </a:p>
        </p:txBody>
      </p:sp>
      <p:cxnSp>
        <p:nvCxnSpPr>
          <p:cNvPr id="39" name="Connector 38"/>
          <p:cNvCxnSpPr/>
          <p:nvPr/>
        </p:nvCxnSpPr>
        <p:spPr>
          <a:xfrm>
            <a:off x="7467600" y="3284219"/>
            <a:ext cx="426720" cy="0"/>
          </a:xfrm>
          <a:prstGeom prst="line">
            <a:avLst/>
          </a:prstGeom>
          <a:ln w="15240">
            <a:solidFill>
              <a:srgbClr val="315E9C"/>
            </a:solidFill>
          </a:ln>
          <a:effectLst/>
        </p:spPr>
      </p:cxnSp>
      <p:cxnSp>
        <p:nvCxnSpPr>
          <p:cNvPr id="40" name="Connector 39"/>
          <p:cNvCxnSpPr/>
          <p:nvPr/>
        </p:nvCxnSpPr>
        <p:spPr>
          <a:xfrm>
            <a:off x="7894320" y="3284219"/>
            <a:ext cx="0" cy="1592581"/>
          </a:xfrm>
          <a:prstGeom prst="line">
            <a:avLst/>
          </a:prstGeom>
          <a:ln w="15240">
            <a:solidFill>
              <a:srgbClr val="315E9C"/>
            </a:solidFill>
          </a:ln>
          <a:effectLst/>
        </p:spPr>
      </p:cxnSp>
      <p:cxnSp>
        <p:nvCxnSpPr>
          <p:cNvPr id="41" name="Connector 40"/>
          <p:cNvCxnSpPr/>
          <p:nvPr/>
        </p:nvCxnSpPr>
        <p:spPr>
          <a:xfrm>
            <a:off x="7894320" y="4876800"/>
            <a:ext cx="510540" cy="0"/>
          </a:xfrm>
          <a:prstGeom prst="line">
            <a:avLst/>
          </a:prstGeom>
          <a:ln w="15240">
            <a:solidFill>
              <a:srgbClr val="315E9C"/>
            </a:solidFill>
          </a:ln>
          <a:effectLst/>
        </p:spPr>
      </p:cxnSp>
      <p:sp>
        <p:nvSpPr>
          <p:cNvPr id="42" name="Freeform 41"/>
          <p:cNvSpPr/>
          <p:nvPr/>
        </p:nvSpPr>
        <p:spPr>
          <a:xfrm>
            <a:off x="8305800" y="48387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43" name="Rounded Rectangle 4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44" name="TextBox 43"/>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One responsibility does not imply one process. A dependency does not grant access to its private tables.</a:t>
            </a:r>
          </a:p>
        </p:txBody>
      </p:sp>
      <p:cxnSp>
        <p:nvCxnSpPr>
          <p:cNvPr id="45" name="Connector 44"/>
          <p:cNvCxnSpPr/>
          <p:nvPr/>
        </p:nvCxnSpPr>
        <p:spPr>
          <a:xfrm>
            <a:off x="548640" y="6393180"/>
            <a:ext cx="11094720" cy="0"/>
          </a:xfrm>
          <a:prstGeom prst="line">
            <a:avLst/>
          </a:prstGeom>
          <a:ln w="7620">
            <a:solidFill>
              <a:srgbClr val="C9D2D4"/>
            </a:solidFill>
          </a:ln>
          <a:effectLst/>
        </p:spPr>
      </p:cxnSp>
      <p:sp>
        <p:nvSpPr>
          <p:cNvPr id="46" name="TextBox 4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Attention · C3 · M5 source bfb0ec8</a:t>
            </a:r>
          </a:p>
        </p:txBody>
      </p:sp>
      <p:sp>
        <p:nvSpPr>
          <p:cNvPr id="47" name="TextBox 4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03 / 12</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03 / OWNERSHIP</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Responsibility, state and scope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 owner is authoritative for its own state; other responsibilities are deliberately separate.</a:t>
            </a:r>
          </a:p>
        </p:txBody>
      </p:sp>
      <p:sp>
        <p:nvSpPr>
          <p:cNvPr id="5" name="TextBox 4"/>
          <p:cNvSpPr txBox="1"/>
          <p:nvPr/>
        </p:nvSpPr>
        <p:spPr>
          <a:xfrm>
            <a:off x="640080"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315E9C"/>
                </a:solidFill>
                <a:latin typeface="DejaVu Sans"/>
              </a:rPr>
              <a:t>OWNS / GUARANTEES</a:t>
            </a:r>
          </a:p>
        </p:txBody>
      </p:sp>
      <p:sp>
        <p:nvSpPr>
          <p:cNvPr id="6" name="Rounded Rectangle 5"/>
          <p:cNvSpPr/>
          <p:nvPr/>
        </p:nvSpPr>
        <p:spPr>
          <a:xfrm>
            <a:off x="548640" y="2133600"/>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7" name="TextBox 6"/>
          <p:cNvSpPr txBox="1"/>
          <p:nvPr/>
        </p:nvSpPr>
        <p:spPr>
          <a:xfrm>
            <a:off x="716280"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Priority and logical clock</a:t>
            </a:r>
          </a:p>
        </p:txBody>
      </p:sp>
      <p:sp>
        <p:nvSpPr>
          <p:cNvPr id="8" name="TextBox 7"/>
          <p:cNvSpPr txBox="1"/>
          <p:nvPr/>
        </p:nvSpPr>
        <p:spPr>
          <a:xfrm>
            <a:off x="716280"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STI per target/context, revision and generation</a:t>
            </a:r>
          </a:p>
        </p:txBody>
      </p:sp>
      <p:sp>
        <p:nvSpPr>
          <p:cNvPr id="9" name="TextBox 8"/>
          <p:cNvSpPr txBox="1"/>
          <p:nvPr/>
        </p:nvSpPr>
        <p:spPr>
          <a:xfrm>
            <a:off x="716280"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watermark</a:t>
            </a:r>
          </a:p>
        </p:txBody>
      </p:sp>
      <p:sp>
        <p:nvSpPr>
          <p:cNvPr id="10" name="Rounded Rectangle 9"/>
          <p:cNvSpPr/>
          <p:nvPr/>
        </p:nvSpPr>
        <p:spPr>
          <a:xfrm>
            <a:off x="548640" y="3764279"/>
            <a:ext cx="5425440" cy="1447800"/>
          </a:xfrm>
          <a:prstGeom prst="roundRect">
            <a:avLst>
              <a:gd name="adj" fmla="val 6842"/>
            </a:avLst>
          </a:prstGeom>
          <a:solidFill>
            <a:srgbClr val="E4EBF5"/>
          </a:solidFill>
          <a:ln w="7620">
            <a:solidFill>
              <a:srgbClr val="315E9C"/>
            </a:solidFill>
          </a:ln>
          <a:effectLst/>
        </p:spPr>
        <p:txBody>
          <a:bodyPr rtlCol="0" anchor="ctr"/>
          <a:lstStyle/>
          <a:p>
            <a:pPr algn="ctr"/>
          </a:p>
        </p:txBody>
      </p:sp>
      <p:sp>
        <p:nvSpPr>
          <p:cNvPr id="11" name="TextBox 10"/>
          <p:cNvSpPr txBox="1"/>
          <p:nvPr/>
        </p:nvSpPr>
        <p:spPr>
          <a:xfrm>
            <a:off x="716280"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Causal outcome ledger</a:t>
            </a:r>
          </a:p>
        </p:txBody>
      </p:sp>
      <p:sp>
        <p:nvSpPr>
          <p:cNvPr id="12" name="TextBox 11"/>
          <p:cNvSpPr txBox="1"/>
          <p:nvPr/>
        </p:nvSpPr>
        <p:spPr>
          <a:xfrm>
            <a:off x="716280"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Command replay, feedback application and</a:t>
            </a:r>
          </a:p>
        </p:txBody>
      </p:sp>
      <p:sp>
        <p:nvSpPr>
          <p:cNvPr id="13" name="TextBox 12"/>
          <p:cNvSpPr txBox="1"/>
          <p:nvPr/>
        </p:nvSpPr>
        <p:spPr>
          <a:xfrm>
            <a:off x="716280"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no-credit retirement</a:t>
            </a:r>
          </a:p>
        </p:txBody>
      </p:sp>
      <p:sp>
        <p:nvSpPr>
          <p:cNvPr id="14" name="TextBox 13"/>
          <p:cNvSpPr txBox="1"/>
          <p:nvPr/>
        </p:nvSpPr>
        <p:spPr>
          <a:xfrm>
            <a:off x="6309359" y="1775459"/>
            <a:ext cx="5257800" cy="195072"/>
          </a:xfrm>
          <a:prstGeom prst="rect">
            <a:avLst/>
          </a:prstGeom>
          <a:noFill/>
        </p:spPr>
        <p:txBody>
          <a:bodyPr wrap="none" lIns="0" rIns="0" tIns="0" bIns="0" anchor="t" anchorCtr="0">
            <a:noAutofit/>
          </a:bodyPr>
          <a:lstStyle/>
          <a:p>
            <a:pPr algn="l">
              <a:lnSpc>
                <a:spcPct val="100000"/>
              </a:lnSpc>
              <a:spcBef>
                <a:spcPts val="0"/>
              </a:spcBef>
              <a:spcAft>
                <a:spcPts val="0"/>
              </a:spcAft>
            </a:pPr>
            <a:r>
              <a:rPr sz="1200" b="1">
                <a:solidFill>
                  <a:srgbClr val="A86A15"/>
                </a:solidFill>
                <a:latin typeface="DejaVu Sans"/>
              </a:rPr>
              <a:t>OUTSIDE THIS RESPONSIBILITY</a:t>
            </a:r>
          </a:p>
        </p:txBody>
      </p:sp>
      <p:sp>
        <p:nvSpPr>
          <p:cNvPr id="15" name="Rounded Rectangle 14"/>
          <p:cNvSpPr/>
          <p:nvPr/>
        </p:nvSpPr>
        <p:spPr>
          <a:xfrm>
            <a:off x="6217920" y="2133600"/>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16" name="TextBox 15"/>
          <p:cNvSpPr txBox="1"/>
          <p:nvPr/>
        </p:nvSpPr>
        <p:spPr>
          <a:xfrm>
            <a:off x="6385559" y="2301240"/>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Truth values</a:t>
            </a:r>
          </a:p>
        </p:txBody>
      </p:sp>
      <p:sp>
        <p:nvSpPr>
          <p:cNvPr id="17" name="TextBox 16"/>
          <p:cNvSpPr txBox="1"/>
          <p:nvPr/>
        </p:nvSpPr>
        <p:spPr>
          <a:xfrm>
            <a:off x="6385559" y="267980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STI is not belief confidence and does not alter</a:t>
            </a:r>
          </a:p>
        </p:txBody>
      </p:sp>
      <p:sp>
        <p:nvSpPr>
          <p:cNvPr id="18" name="TextBox 17"/>
          <p:cNvSpPr txBox="1"/>
          <p:nvPr/>
        </p:nvSpPr>
        <p:spPr>
          <a:xfrm>
            <a:off x="6385559" y="293339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formula inputs</a:t>
            </a:r>
          </a:p>
        </p:txBody>
      </p:sp>
      <p:sp>
        <p:nvSpPr>
          <p:cNvPr id="19" name="Rounded Rectangle 18"/>
          <p:cNvSpPr/>
          <p:nvPr/>
        </p:nvSpPr>
        <p:spPr>
          <a:xfrm>
            <a:off x="6217920" y="3764279"/>
            <a:ext cx="5425440" cy="1447800"/>
          </a:xfrm>
          <a:prstGeom prst="roundRect">
            <a:avLst>
              <a:gd name="adj" fmla="val 6842"/>
            </a:avLst>
          </a:prstGeom>
          <a:solidFill>
            <a:srgbClr val="F3E7CE"/>
          </a:solidFill>
          <a:ln w="7620">
            <a:solidFill>
              <a:srgbClr val="A86A15"/>
            </a:solidFill>
          </a:ln>
          <a:effectLst/>
        </p:spPr>
        <p:txBody>
          <a:bodyPr rtlCol="0" anchor="ctr"/>
          <a:lstStyle/>
          <a:p>
            <a:pPr algn="ctr"/>
          </a:p>
        </p:txBody>
      </p:sp>
      <p:sp>
        <p:nvSpPr>
          <p:cNvPr id="20" name="TextBox 19"/>
          <p:cNvSpPr txBox="1"/>
          <p:nvPr/>
        </p:nvSpPr>
        <p:spPr>
          <a:xfrm>
            <a:off x="6385559" y="3931919"/>
            <a:ext cx="509016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A86A15"/>
                </a:solidFill>
                <a:latin typeface="DejaVu Sans"/>
              </a:rPr>
              <a:t>Cognition/search</a:t>
            </a:r>
          </a:p>
        </p:txBody>
      </p:sp>
      <p:sp>
        <p:nvSpPr>
          <p:cNvPr id="21" name="TextBox 20"/>
          <p:cNvSpPr txBox="1"/>
          <p:nvPr/>
        </p:nvSpPr>
        <p:spPr>
          <a:xfrm>
            <a:off x="6385559" y="4310481"/>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No task creation, ECAN, LTI, wages/funds or</a:t>
            </a:r>
          </a:p>
        </p:txBody>
      </p:sp>
      <p:sp>
        <p:nvSpPr>
          <p:cNvPr id="22" name="TextBox 21"/>
          <p:cNvSpPr txBox="1"/>
          <p:nvPr/>
        </p:nvSpPr>
        <p:spPr>
          <a:xfrm>
            <a:off x="6385559" y="4564075"/>
            <a:ext cx="5090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0">
                <a:solidFill>
                  <a:srgbClr val="536775"/>
                </a:solidFill>
                <a:latin typeface="DejaVu Sans"/>
              </a:rPr>
              <a:t>hidden inference dependency</a:t>
            </a:r>
          </a:p>
        </p:txBody>
      </p:sp>
      <p:sp>
        <p:nvSpPr>
          <p:cNvPr id="23" name="Rounded Rectangle 22"/>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4" name="TextBox 23"/>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sti-additive-linear-decay/1; fresh closure profile sti-additive-linear-decay-closure/1</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Attention · C3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04 / 12</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04 / CONTRACT</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The executable surface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operations and implementation seams define the supported scope; versions and profiles remain explicit.</a:t>
            </a:r>
          </a:p>
        </p:txBody>
      </p:sp>
      <p:sp>
        <p:nvSpPr>
          <p:cNvPr id="5" name="TextBox 4"/>
          <p:cNvSpPr txBox="1"/>
          <p:nvPr/>
        </p:nvSpPr>
        <p:spPr>
          <a:xfrm>
            <a:off x="670560" y="1790700"/>
            <a:ext cx="28041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OPERATION / SEAM</a:t>
            </a:r>
          </a:p>
        </p:txBody>
      </p:sp>
      <p:sp>
        <p:nvSpPr>
          <p:cNvPr id="6" name="TextBox 5"/>
          <p:cNvSpPr txBox="1"/>
          <p:nvPr/>
        </p:nvSpPr>
        <p:spPr>
          <a:xfrm>
            <a:off x="3718560" y="1790700"/>
            <a:ext cx="3832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RESPONSIBILITY</a:t>
            </a:r>
          </a:p>
        </p:txBody>
      </p:sp>
      <p:sp>
        <p:nvSpPr>
          <p:cNvPr id="7" name="TextBox 6"/>
          <p:cNvSpPr txBox="1"/>
          <p:nvPr/>
        </p:nvSpPr>
        <p:spPr>
          <a:xfrm>
            <a:off x="7795259" y="1790700"/>
            <a:ext cx="37261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CONTRACT CONSEQUENCE</a:t>
            </a:r>
          </a:p>
        </p:txBody>
      </p:sp>
      <p:sp>
        <p:nvSpPr>
          <p:cNvPr id="8" name="Rounded Rectangle 7"/>
          <p:cNvSpPr/>
          <p:nvPr/>
        </p:nvSpPr>
        <p:spPr>
          <a:xfrm>
            <a:off x="548640" y="2110740"/>
            <a:ext cx="11094720" cy="792480"/>
          </a:xfrm>
          <a:prstGeom prst="roundRect">
            <a:avLst>
              <a:gd name="adj" fmla="val 5769"/>
            </a:avLst>
          </a:prstGeom>
          <a:solidFill>
            <a:srgbClr val="FFFFFF"/>
          </a:solidFill>
          <a:ln>
            <a:noFill/>
          </a:ln>
          <a:effectLst/>
        </p:spPr>
        <p:txBody>
          <a:bodyPr rtlCol="0" anchor="ctr"/>
          <a:lstStyle/>
          <a:p>
            <a:pPr algn="ctr"/>
          </a:p>
        </p:txBody>
      </p:sp>
      <p:sp>
        <p:nvSpPr>
          <p:cNvPr id="9" name="TextBox 8"/>
          <p:cNvSpPr txBox="1"/>
          <p:nvPr/>
        </p:nvSpPr>
        <p:spPr>
          <a:xfrm>
            <a:off x="670560" y="224028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submitStimulus /</a:t>
            </a:r>
          </a:p>
        </p:txBody>
      </p:sp>
      <p:sp>
        <p:nvSpPr>
          <p:cNvPr id="10" name="TextBox 9"/>
          <p:cNvSpPr txBox="1"/>
          <p:nvPr/>
        </p:nvSpPr>
        <p:spPr>
          <a:xfrm>
            <a:off x="670560" y="248412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readAttention</a:t>
            </a:r>
          </a:p>
        </p:txBody>
      </p:sp>
      <p:sp>
        <p:nvSpPr>
          <p:cNvPr id="11" name="TextBox 10"/>
          <p:cNvSpPr txBox="1"/>
          <p:nvPr/>
        </p:nvSpPr>
        <p:spPr>
          <a:xfrm>
            <a:off x="3718560" y="224028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Ingress plus explicit read</a:t>
            </a:r>
          </a:p>
        </p:txBody>
      </p:sp>
      <p:sp>
        <p:nvSpPr>
          <p:cNvPr id="12" name="TextBox 11"/>
          <p:cNvSpPr txBox="1"/>
          <p:nvPr/>
        </p:nvSpPr>
        <p:spPr>
          <a:xfrm>
            <a:off x="7795259" y="224028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Reads do not allocate or decay state</a:t>
            </a:r>
          </a:p>
        </p:txBody>
      </p:sp>
      <p:sp>
        <p:nvSpPr>
          <p:cNvPr id="13" name="Rounded Rectangle 12"/>
          <p:cNvSpPr/>
          <p:nvPr/>
        </p:nvSpPr>
        <p:spPr>
          <a:xfrm>
            <a:off x="548640" y="2941320"/>
            <a:ext cx="11094720" cy="792480"/>
          </a:xfrm>
          <a:prstGeom prst="roundRect">
            <a:avLst>
              <a:gd name="adj" fmla="val 5769"/>
            </a:avLst>
          </a:prstGeom>
          <a:solidFill>
            <a:srgbClr val="FFFFFF"/>
          </a:solidFill>
          <a:ln>
            <a:noFill/>
          </a:ln>
          <a:effectLst/>
        </p:spPr>
        <p:txBody>
          <a:bodyPr rtlCol="0" anchor="ctr"/>
          <a:lstStyle/>
          <a:p>
            <a:pPr algn="ctr"/>
          </a:p>
        </p:txBody>
      </p:sp>
      <p:sp>
        <p:nvSpPr>
          <p:cNvPr id="14" name="TextBox 13"/>
          <p:cNvSpPr txBox="1"/>
          <p:nvPr/>
        </p:nvSpPr>
        <p:spPr>
          <a:xfrm>
            <a:off x="670560" y="3070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select</a:t>
            </a:r>
          </a:p>
        </p:txBody>
      </p:sp>
      <p:sp>
        <p:nvSpPr>
          <p:cNvPr id="15" name="TextBox 14"/>
          <p:cNvSpPr txBox="1"/>
          <p:nvPr/>
        </p:nvSpPr>
        <p:spPr>
          <a:xfrm>
            <a:off x="3718560" y="3070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Rank positive eligible STI; deterministic</a:t>
            </a:r>
          </a:p>
        </p:txBody>
      </p:sp>
      <p:sp>
        <p:nvSpPr>
          <p:cNvPr id="16" name="TextBox 15"/>
          <p:cNvSpPr txBox="1"/>
          <p:nvPr/>
        </p:nvSpPr>
        <p:spPr>
          <a:xfrm>
            <a:off x="3718560" y="331470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tie-break</a:t>
            </a:r>
          </a:p>
        </p:txBody>
      </p:sp>
      <p:sp>
        <p:nvSpPr>
          <p:cNvPr id="17" name="TextBox 16"/>
          <p:cNvSpPr txBox="1"/>
          <p:nvPr/>
        </p:nvSpPr>
        <p:spPr>
          <a:xfrm>
            <a:off x="7795259" y="3070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discovery of new tasks</a:t>
            </a:r>
          </a:p>
        </p:txBody>
      </p:sp>
      <p:sp>
        <p:nvSpPr>
          <p:cNvPr id="18" name="Rounded Rectangle 17"/>
          <p:cNvSpPr/>
          <p:nvPr/>
        </p:nvSpPr>
        <p:spPr>
          <a:xfrm>
            <a:off x="548640" y="3771900"/>
            <a:ext cx="11094720" cy="792480"/>
          </a:xfrm>
          <a:prstGeom prst="roundRect">
            <a:avLst>
              <a:gd name="adj" fmla="val 5769"/>
            </a:avLst>
          </a:prstGeom>
          <a:solidFill>
            <a:srgbClr val="FFFFFF"/>
          </a:solidFill>
          <a:ln>
            <a:noFill/>
          </a:ln>
          <a:effectLst/>
        </p:spPr>
        <p:txBody>
          <a:bodyPr rtlCol="0" anchor="ctr"/>
          <a:lstStyle/>
          <a:p>
            <a:pPr algn="ctr"/>
          </a:p>
        </p:txBody>
      </p:sp>
      <p:sp>
        <p:nvSpPr>
          <p:cNvPr id="19" name="TextBox 18"/>
          <p:cNvSpPr txBox="1"/>
          <p:nvPr/>
        </p:nvSpPr>
        <p:spPr>
          <a:xfrm>
            <a:off x="670560" y="390144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advance</a:t>
            </a:r>
          </a:p>
        </p:txBody>
      </p:sp>
      <p:sp>
        <p:nvSpPr>
          <p:cNvPr id="20" name="TextBox 19"/>
          <p:cNvSpPr txBox="1"/>
          <p:nvPr/>
        </p:nvSpPr>
        <p:spPr>
          <a:xfrm>
            <a:off x="3718560" y="390144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Explicit expected-step logical decay</a:t>
            </a:r>
          </a:p>
        </p:txBody>
      </p:sp>
      <p:sp>
        <p:nvSpPr>
          <p:cNvPr id="21" name="TextBox 20"/>
          <p:cNvSpPr txBox="1"/>
          <p:nvPr/>
        </p:nvSpPr>
        <p:spPr>
          <a:xfrm>
            <a:off x="7795259" y="390144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Stale clocks fail; replay does not</a:t>
            </a:r>
          </a:p>
        </p:txBody>
      </p:sp>
      <p:sp>
        <p:nvSpPr>
          <p:cNvPr id="22" name="TextBox 21"/>
          <p:cNvSpPr txBox="1"/>
          <p:nvPr/>
        </p:nvSpPr>
        <p:spPr>
          <a:xfrm>
            <a:off x="7795259" y="4145279"/>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retime</a:t>
            </a:r>
          </a:p>
        </p:txBody>
      </p:sp>
      <p:sp>
        <p:nvSpPr>
          <p:cNvPr id="23" name="Rounded Rectangle 22"/>
          <p:cNvSpPr/>
          <p:nvPr/>
        </p:nvSpPr>
        <p:spPr>
          <a:xfrm>
            <a:off x="548640" y="4602480"/>
            <a:ext cx="11094720" cy="792480"/>
          </a:xfrm>
          <a:prstGeom prst="roundRect">
            <a:avLst>
              <a:gd name="adj" fmla="val 5769"/>
            </a:avLst>
          </a:prstGeom>
          <a:solidFill>
            <a:srgbClr val="FFFFFF"/>
          </a:solidFill>
          <a:ln>
            <a:noFill/>
          </a:ln>
          <a:effectLst/>
        </p:spPr>
        <p:txBody>
          <a:bodyPr rtlCol="0" anchor="ctr"/>
          <a:lstStyle/>
          <a:p>
            <a:pPr algn="ctr"/>
          </a:p>
        </p:txBody>
      </p:sp>
      <p:sp>
        <p:nvSpPr>
          <p:cNvPr id="24" name="TextBox 23"/>
          <p:cNvSpPr txBox="1"/>
          <p:nvPr/>
        </p:nvSpPr>
        <p:spPr>
          <a:xfrm>
            <a:off x="670560" y="473202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submitFeedback /</a:t>
            </a:r>
          </a:p>
        </p:txBody>
      </p:sp>
      <p:sp>
        <p:nvSpPr>
          <p:cNvPr id="25" name="TextBox 24"/>
          <p:cNvSpPr txBox="1"/>
          <p:nvPr/>
        </p:nvSpPr>
        <p:spPr>
          <a:xfrm>
            <a:off x="670560" y="4975860"/>
            <a:ext cx="28041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resolveFeedback</a:t>
            </a:r>
          </a:p>
        </p:txBody>
      </p:sp>
      <p:sp>
        <p:nvSpPr>
          <p:cNvPr id="26" name="TextBox 25"/>
          <p:cNvSpPr txBox="1"/>
          <p:nvPr/>
        </p:nvSpPr>
        <p:spPr>
          <a:xfrm>
            <a:off x="3718560" y="473202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Apply causal credit or account for prior</a:t>
            </a:r>
          </a:p>
        </p:txBody>
      </p:sp>
      <p:sp>
        <p:nvSpPr>
          <p:cNvPr id="27" name="TextBox 26"/>
          <p:cNvSpPr txBox="1"/>
          <p:nvPr/>
        </p:nvSpPr>
        <p:spPr>
          <a:xfrm>
            <a:off x="3718560" y="4975860"/>
            <a:ext cx="3832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outcome</a:t>
            </a:r>
          </a:p>
        </p:txBody>
      </p:sp>
      <p:sp>
        <p:nvSpPr>
          <p:cNvPr id="28" name="TextBox 27"/>
          <p:cNvSpPr txBox="1"/>
          <p:nvPr/>
        </p:nvSpPr>
        <p:spPr>
          <a:xfrm>
            <a:off x="7795259" y="473202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Closure cannot newly apply eligible</a:t>
            </a:r>
          </a:p>
        </p:txBody>
      </p:sp>
      <p:sp>
        <p:nvSpPr>
          <p:cNvPr id="29" name="TextBox 28"/>
          <p:cNvSpPr txBox="1"/>
          <p:nvPr/>
        </p:nvSpPr>
        <p:spPr>
          <a:xfrm>
            <a:off x="7795259" y="4975860"/>
            <a:ext cx="37261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feedback</a:t>
            </a:r>
          </a:p>
        </p:txBody>
      </p:sp>
      <p:sp>
        <p:nvSpPr>
          <p:cNvPr id="30" name="Rounded Rectangle 29"/>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31" name="TextBox 30"/>
          <p:cNvSpPr txBox="1"/>
          <p:nvPr/>
        </p:nvSpPr>
        <p:spPr>
          <a:xfrm>
            <a:off x="716280" y="5905500"/>
            <a:ext cx="107442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Default 16 targets/context, 8 contexts; finite cause/command capacity; explicit logical steps.</a:t>
            </a:r>
          </a:p>
        </p:txBody>
      </p:sp>
      <p:cxnSp>
        <p:nvCxnSpPr>
          <p:cNvPr id="32" name="Connector 31"/>
          <p:cNvCxnSpPr/>
          <p:nvPr/>
        </p:nvCxnSpPr>
        <p:spPr>
          <a:xfrm>
            <a:off x="548640" y="6393180"/>
            <a:ext cx="11094720" cy="0"/>
          </a:xfrm>
          <a:prstGeom prst="line">
            <a:avLst/>
          </a:prstGeom>
          <a:ln w="7620">
            <a:solidFill>
              <a:srgbClr val="C9D2D4"/>
            </a:solidFill>
          </a:ln>
          <a:effectLst/>
        </p:spPr>
      </p:cxnSp>
      <p:sp>
        <p:nvSpPr>
          <p:cNvPr id="33" name="TextBox 32"/>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Attention · C3 · M5 source bfb0ec8</a:t>
            </a:r>
          </a:p>
        </p:txBody>
      </p:sp>
      <p:sp>
        <p:nvSpPr>
          <p:cNvPr id="34" name="TextBox 33"/>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05 / 12</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05 / CONCRETE BEHAVIOR</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A worked example through the boundary</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HISTORICAL M3 CONTROLLED COMPARISON · SQLite + independent file fixture</a:t>
            </a:r>
          </a:p>
        </p:txBody>
      </p:sp>
      <p:sp>
        <p:nvSpPr>
          <p:cNvPr id="5" name="Rounded Rectangle 4"/>
          <p:cNvSpPr/>
          <p:nvPr/>
        </p:nvSpPr>
        <p:spPr>
          <a:xfrm>
            <a:off x="5486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01 · STEP</a:t>
            </a:r>
          </a:p>
        </p:txBody>
      </p:sp>
      <p:sp>
        <p:nvSpPr>
          <p:cNvPr id="7" name="TextBox 6"/>
          <p:cNvSpPr txBox="1"/>
          <p:nvPr/>
        </p:nvSpPr>
        <p:spPr>
          <a:xfrm>
            <a:off x="7162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Prefer B</a:t>
            </a:r>
          </a:p>
        </p:txBody>
      </p:sp>
      <p:sp>
        <p:nvSpPr>
          <p:cNvPr id="8" name="TextBox 7"/>
          <p:cNvSpPr txBox="1"/>
          <p:nvPr/>
        </p:nvSpPr>
        <p:spPr>
          <a:xfrm>
            <a:off x="7162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Scores A=10, B=20;</a:t>
            </a:r>
          </a:p>
        </p:txBody>
      </p:sp>
      <p:sp>
        <p:nvSpPr>
          <p:cNvPr id="9" name="TextBox 8"/>
          <p:cNvSpPr txBox="1"/>
          <p:nvPr/>
        </p:nvSpPr>
        <p:spPr>
          <a:xfrm>
            <a:off x="7162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one attempt</a:t>
            </a:r>
          </a:p>
        </p:txBody>
      </p:sp>
      <p:sp>
        <p:nvSpPr>
          <p:cNvPr id="10" name="TextBox 9"/>
          <p:cNvSpPr txBox="1"/>
          <p:nvPr/>
        </p:nvSpPr>
        <p:spPr>
          <a:xfrm>
            <a:off x="7162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available.</a:t>
            </a:r>
          </a:p>
        </p:txBody>
      </p:sp>
      <p:cxnSp>
        <p:nvCxnSpPr>
          <p:cNvPr id="11" name="Connector 10"/>
          <p:cNvCxnSpPr/>
          <p:nvPr/>
        </p:nvCxnSpPr>
        <p:spPr>
          <a:xfrm>
            <a:off x="3185160" y="3238500"/>
            <a:ext cx="182880" cy="0"/>
          </a:xfrm>
          <a:prstGeom prst="line">
            <a:avLst/>
          </a:prstGeom>
          <a:ln w="15240">
            <a:solidFill>
              <a:srgbClr val="315E9C"/>
            </a:solidFill>
          </a:ln>
          <a:effectLst/>
        </p:spPr>
      </p:cxnSp>
      <p:sp>
        <p:nvSpPr>
          <p:cNvPr id="12" name="Freeform 11"/>
          <p:cNvSpPr/>
          <p:nvPr/>
        </p:nvSpPr>
        <p:spPr>
          <a:xfrm>
            <a:off x="32689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13" name="Rounded Rectangle 12"/>
          <p:cNvSpPr/>
          <p:nvPr/>
        </p:nvSpPr>
        <p:spPr>
          <a:xfrm>
            <a:off x="33680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14" name="TextBox 13"/>
          <p:cNvSpPr txBox="1"/>
          <p:nvPr/>
        </p:nvSpPr>
        <p:spPr>
          <a:xfrm>
            <a:off x="3535679"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02 · STEP</a:t>
            </a:r>
          </a:p>
        </p:txBody>
      </p:sp>
      <p:sp>
        <p:nvSpPr>
          <p:cNvPr id="15" name="TextBox 14"/>
          <p:cNvSpPr txBox="1"/>
          <p:nvPr/>
        </p:nvSpPr>
        <p:spPr>
          <a:xfrm>
            <a:off x="3535679"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Select</a:t>
            </a:r>
          </a:p>
        </p:txBody>
      </p:sp>
      <p:sp>
        <p:nvSpPr>
          <p:cNvPr id="16" name="TextBox 15"/>
          <p:cNvSpPr txBox="1"/>
          <p:nvPr/>
        </p:nvSpPr>
        <p:spPr>
          <a:xfrm>
            <a:off x="3535679"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B runs first; C2</a:t>
            </a:r>
          </a:p>
        </p:txBody>
      </p:sp>
      <p:sp>
        <p:nvSpPr>
          <p:cNvPr id="17" name="TextBox 16"/>
          <p:cNvSpPr txBox="1"/>
          <p:nvPr/>
        </p:nvSpPr>
        <p:spPr>
          <a:xfrm>
            <a:off x="3535679"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admits one</a:t>
            </a:r>
          </a:p>
        </p:txBody>
      </p:sp>
      <p:sp>
        <p:nvSpPr>
          <p:cNvPr id="18" name="TextBox 17"/>
          <p:cNvSpPr txBox="1"/>
          <p:nvPr/>
        </p:nvSpPr>
        <p:spPr>
          <a:xfrm>
            <a:off x="3535679"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conclusion.</a:t>
            </a:r>
          </a:p>
        </p:txBody>
      </p:sp>
      <p:cxnSp>
        <p:nvCxnSpPr>
          <p:cNvPr id="19" name="Connector 18"/>
          <p:cNvCxnSpPr/>
          <p:nvPr/>
        </p:nvCxnSpPr>
        <p:spPr>
          <a:xfrm>
            <a:off x="6004559" y="3238500"/>
            <a:ext cx="182881" cy="0"/>
          </a:xfrm>
          <a:prstGeom prst="line">
            <a:avLst/>
          </a:prstGeom>
          <a:ln w="15240">
            <a:solidFill>
              <a:srgbClr val="315E9C"/>
            </a:solidFill>
          </a:ln>
          <a:effectLst/>
        </p:spPr>
      </p:cxnSp>
      <p:sp>
        <p:nvSpPr>
          <p:cNvPr id="20" name="Freeform 19"/>
          <p:cNvSpPr/>
          <p:nvPr/>
        </p:nvSpPr>
        <p:spPr>
          <a:xfrm>
            <a:off x="60883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1" name="Rounded Rectangle 20"/>
          <p:cNvSpPr/>
          <p:nvPr/>
        </p:nvSpPr>
        <p:spPr>
          <a:xfrm>
            <a:off x="61874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22" name="TextBox 21"/>
          <p:cNvSpPr txBox="1"/>
          <p:nvPr/>
        </p:nvSpPr>
        <p:spPr>
          <a:xfrm>
            <a:off x="63550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03 · STEP</a:t>
            </a:r>
          </a:p>
        </p:txBody>
      </p:sp>
      <p:sp>
        <p:nvSpPr>
          <p:cNvPr id="23" name="TextBox 22"/>
          <p:cNvSpPr txBox="1"/>
          <p:nvPr/>
        </p:nvSpPr>
        <p:spPr>
          <a:xfrm>
            <a:off x="63550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Credit once</a:t>
            </a:r>
          </a:p>
        </p:txBody>
      </p:sp>
      <p:sp>
        <p:nvSpPr>
          <p:cNvPr id="24" name="TextBox 23"/>
          <p:cNvSpPr txBox="1"/>
          <p:nvPr/>
        </p:nvSpPr>
        <p:spPr>
          <a:xfrm>
            <a:off x="63550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C3 records one</a:t>
            </a:r>
          </a:p>
        </p:txBody>
      </p:sp>
      <p:sp>
        <p:nvSpPr>
          <p:cNvPr id="25" name="TextBox 24"/>
          <p:cNvSpPr txBox="1"/>
          <p:nvPr/>
        </p:nvSpPr>
        <p:spPr>
          <a:xfrm>
            <a:off x="63550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causal feedback</a:t>
            </a:r>
          </a:p>
        </p:txBody>
      </p:sp>
      <p:sp>
        <p:nvSpPr>
          <p:cNvPr id="26" name="TextBox 25"/>
          <p:cNvSpPr txBox="1"/>
          <p:nvPr/>
        </p:nvSpPr>
        <p:spPr>
          <a:xfrm>
            <a:off x="63550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outcome.</a:t>
            </a:r>
          </a:p>
        </p:txBody>
      </p:sp>
      <p:cxnSp>
        <p:nvCxnSpPr>
          <p:cNvPr id="27" name="Connector 26"/>
          <p:cNvCxnSpPr/>
          <p:nvPr/>
        </p:nvCxnSpPr>
        <p:spPr>
          <a:xfrm>
            <a:off x="8823960" y="3238500"/>
            <a:ext cx="182880" cy="0"/>
          </a:xfrm>
          <a:prstGeom prst="line">
            <a:avLst/>
          </a:prstGeom>
          <a:ln w="15240">
            <a:solidFill>
              <a:srgbClr val="315E9C"/>
            </a:solidFill>
          </a:ln>
          <a:effectLst/>
        </p:spPr>
      </p:cxnSp>
      <p:sp>
        <p:nvSpPr>
          <p:cNvPr id="28" name="Freeform 27"/>
          <p:cNvSpPr/>
          <p:nvPr/>
        </p:nvSpPr>
        <p:spPr>
          <a:xfrm>
            <a:off x="8907780" y="3200400"/>
            <a:ext cx="99060" cy="76200"/>
          </a:xfrm>
          <a:custGeom>
            <a:avLst/>
            <a:gdLst/>
            <a:ahLst/>
            <a:cxnLst/>
            <a:rect l="l" t="t" r="r" b="b"/>
            <a:pathLst>
              <a:path w="13" h="10">
                <a:moveTo>
                  <a:pt x="13" y="5"/>
                </a:moveTo>
                <a:lnTo>
                  <a:pt x="0" y="0"/>
                </a:lnTo>
                <a:lnTo>
                  <a:pt x="0" y="10"/>
                </a:lnTo>
                <a:close/>
              </a:path>
            </a:pathLst>
          </a:custGeom>
          <a:solidFill>
            <a:srgbClr val="315E9C"/>
          </a:solidFill>
          <a:ln>
            <a:noFill/>
          </a:ln>
          <a:effectLst/>
        </p:spPr>
        <p:txBody>
          <a:bodyPr rtlCol="0" anchor="ctr"/>
          <a:lstStyle/>
          <a:p>
            <a:pPr algn="ctr"/>
          </a:p>
        </p:txBody>
      </p:sp>
      <p:sp>
        <p:nvSpPr>
          <p:cNvPr id="29" name="Rounded Rectangle 28"/>
          <p:cNvSpPr/>
          <p:nvPr/>
        </p:nvSpPr>
        <p:spPr>
          <a:xfrm>
            <a:off x="9006840" y="2011680"/>
            <a:ext cx="2636520" cy="2468880"/>
          </a:xfrm>
          <a:prstGeom prst="roundRect">
            <a:avLst>
              <a:gd name="adj" fmla="val 4012"/>
            </a:avLst>
          </a:prstGeom>
          <a:solidFill>
            <a:srgbClr val="FFFFFF"/>
          </a:solidFill>
          <a:ln w="7620">
            <a:solidFill>
              <a:srgbClr val="315E9C"/>
            </a:solidFill>
          </a:ln>
          <a:effectLst/>
        </p:spPr>
        <p:txBody>
          <a:bodyPr rtlCol="0" anchor="ctr"/>
          <a:lstStyle/>
          <a:p>
            <a:pPr algn="ctr"/>
          </a:p>
        </p:txBody>
      </p:sp>
      <p:sp>
        <p:nvSpPr>
          <p:cNvPr id="30" name="TextBox 29"/>
          <p:cNvSpPr txBox="1"/>
          <p:nvPr/>
        </p:nvSpPr>
        <p:spPr>
          <a:xfrm>
            <a:off x="9174480" y="2179320"/>
            <a:ext cx="230124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04 · STEP</a:t>
            </a:r>
          </a:p>
        </p:txBody>
      </p:sp>
      <p:sp>
        <p:nvSpPr>
          <p:cNvPr id="31" name="TextBox 30"/>
          <p:cNvSpPr txBox="1"/>
          <p:nvPr/>
        </p:nvSpPr>
        <p:spPr>
          <a:xfrm>
            <a:off x="9174480" y="2415540"/>
            <a:ext cx="2301240" cy="302361"/>
          </a:xfrm>
          <a:prstGeom prst="rect">
            <a:avLst/>
          </a:prstGeom>
          <a:noFill/>
        </p:spPr>
        <p:txBody>
          <a:bodyPr wrap="none" lIns="0" rIns="0" tIns="0" bIns="0" anchor="t" anchorCtr="0">
            <a:noAutofit/>
          </a:bodyPr>
          <a:lstStyle/>
          <a:p>
            <a:pPr algn="l">
              <a:lnSpc>
                <a:spcPct val="100000"/>
              </a:lnSpc>
              <a:spcBef>
                <a:spcPts val="0"/>
              </a:spcBef>
              <a:spcAft>
                <a:spcPts val="0"/>
              </a:spcAft>
            </a:pPr>
            <a:r>
              <a:rPr sz="1859" b="1">
                <a:solidFill>
                  <a:srgbClr val="315E9C"/>
                </a:solidFill>
                <a:latin typeface="DejaVu Sans"/>
              </a:rPr>
              <a:t>Replay / swap</a:t>
            </a:r>
          </a:p>
        </p:txBody>
      </p:sp>
      <p:sp>
        <p:nvSpPr>
          <p:cNvPr id="32" name="TextBox 31"/>
          <p:cNvSpPr txBox="1"/>
          <p:nvPr/>
        </p:nvSpPr>
        <p:spPr>
          <a:xfrm>
            <a:off x="9174480" y="2794101"/>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Both providers retain</a:t>
            </a:r>
          </a:p>
        </p:txBody>
      </p:sp>
      <p:sp>
        <p:nvSpPr>
          <p:cNvPr id="33" name="TextBox 32"/>
          <p:cNvSpPr txBox="1"/>
          <p:nvPr/>
        </p:nvSpPr>
        <p:spPr>
          <a:xfrm>
            <a:off x="9174480" y="3067202"/>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outcome; no extra</a:t>
            </a:r>
          </a:p>
        </p:txBody>
      </p:sp>
      <p:sp>
        <p:nvSpPr>
          <p:cNvPr id="34" name="TextBox 33"/>
          <p:cNvSpPr txBox="1"/>
          <p:nvPr/>
        </p:nvSpPr>
        <p:spPr>
          <a:xfrm>
            <a:off x="9174480" y="3340303"/>
            <a:ext cx="23012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native call.</a:t>
            </a:r>
          </a:p>
        </p:txBody>
      </p:sp>
      <p:sp>
        <p:nvSpPr>
          <p:cNvPr id="35" name="Rounded Rectangle 34"/>
          <p:cNvSpPr/>
          <p:nvPr/>
        </p:nvSpPr>
        <p:spPr>
          <a:xfrm>
            <a:off x="548640" y="486156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36" name="TextBox 35"/>
          <p:cNvSpPr txBox="1"/>
          <p:nvPr/>
        </p:nvSpPr>
        <p:spPr>
          <a:xfrm>
            <a:off x="716280" y="502920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What the example establishes</a:t>
            </a:r>
          </a:p>
        </p:txBody>
      </p:sp>
      <p:sp>
        <p:nvSpPr>
          <p:cNvPr id="37" name="TextBox 36"/>
          <p:cNvSpPr txBox="1"/>
          <p:nvPr/>
        </p:nvSpPr>
        <p:spPr>
          <a:xfrm>
            <a:off x="716280" y="5378500"/>
            <a:ext cx="1075944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Priority selects work; causal receipts prevent repeated reward.</a:t>
            </a:r>
          </a:p>
        </p:txBody>
      </p:sp>
      <p:cxnSp>
        <p:nvCxnSpPr>
          <p:cNvPr id="38" name="Connector 37"/>
          <p:cNvCxnSpPr/>
          <p:nvPr/>
        </p:nvCxnSpPr>
        <p:spPr>
          <a:xfrm>
            <a:off x="548640" y="6393180"/>
            <a:ext cx="11094720" cy="0"/>
          </a:xfrm>
          <a:prstGeom prst="line">
            <a:avLst/>
          </a:prstGeom>
          <a:ln w="7620">
            <a:solidFill>
              <a:srgbClr val="C9D2D4"/>
            </a:solidFill>
          </a:ln>
          <a:effectLst/>
        </p:spPr>
      </p:cxnSp>
      <p:sp>
        <p:nvSpPr>
          <p:cNvPr id="39" name="TextBox 3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Attention · C3 · M5 source bfb0ec8</a:t>
            </a:r>
          </a:p>
        </p:txBody>
      </p:sp>
      <p:sp>
        <p:nvSpPr>
          <p:cNvPr id="40" name="TextBox 3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06 / 12</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06 / BEHAVIORAL GUARANTEES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Four invariants to preserve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Each statement is bounded by the selected profile, authority model and tested failure model.</a:t>
            </a:r>
          </a:p>
        </p:txBody>
      </p:sp>
      <p:sp>
        <p:nvSpPr>
          <p:cNvPr id="5" name="Rounded Rectangle 4"/>
          <p:cNvSpPr/>
          <p:nvPr/>
        </p:nvSpPr>
        <p:spPr>
          <a:xfrm>
            <a:off x="54864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16280"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I1</a:t>
            </a:r>
          </a:p>
        </p:txBody>
      </p:sp>
      <p:sp>
        <p:nvSpPr>
          <p:cNvPr id="7" name="TextBox 6"/>
          <p:cNvSpPr txBox="1"/>
          <p:nvPr/>
        </p:nvSpPr>
        <p:spPr>
          <a:xfrm>
            <a:off x="716280"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Policy is explicit</a:t>
            </a:r>
          </a:p>
        </p:txBody>
      </p:sp>
      <p:sp>
        <p:nvSpPr>
          <p:cNvPr id="8" name="TextBox 7"/>
          <p:cNvSpPr txBox="1"/>
          <p:nvPr/>
        </p:nvSpPr>
        <p:spPr>
          <a:xfrm>
            <a:off x="716280"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Integer saturation, context budget and decay</a:t>
            </a:r>
          </a:p>
        </p:txBody>
      </p:sp>
      <p:sp>
        <p:nvSpPr>
          <p:cNvPr id="9" name="TextBox 8"/>
          <p:cNvSpPr txBox="1"/>
          <p:nvPr/>
        </p:nvSpPr>
        <p:spPr>
          <a:xfrm>
            <a:off x="716280"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are part of identity.</a:t>
            </a:r>
          </a:p>
        </p:txBody>
      </p:sp>
      <p:sp>
        <p:nvSpPr>
          <p:cNvPr id="10" name="Rounded Rectangle 9"/>
          <p:cNvSpPr/>
          <p:nvPr/>
        </p:nvSpPr>
        <p:spPr>
          <a:xfrm>
            <a:off x="6217920" y="186690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1" name="TextBox 10"/>
          <p:cNvSpPr txBox="1"/>
          <p:nvPr/>
        </p:nvSpPr>
        <p:spPr>
          <a:xfrm>
            <a:off x="6385559" y="2034539"/>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I2</a:t>
            </a:r>
          </a:p>
        </p:txBody>
      </p:sp>
      <p:sp>
        <p:nvSpPr>
          <p:cNvPr id="12" name="TextBox 11"/>
          <p:cNvSpPr txBox="1"/>
          <p:nvPr/>
        </p:nvSpPr>
        <p:spPr>
          <a:xfrm>
            <a:off x="6385559" y="2270760"/>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Causal uniqueness</a:t>
            </a:r>
          </a:p>
        </p:txBody>
      </p:sp>
      <p:sp>
        <p:nvSpPr>
          <p:cNvPr id="13" name="TextBox 12"/>
          <p:cNvSpPr txBox="1"/>
          <p:nvPr/>
        </p:nvSpPr>
        <p:spPr>
          <a:xfrm>
            <a:off x="6385559" y="2639567"/>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Replay cannot apply the same logical feedback</a:t>
            </a:r>
          </a:p>
        </p:txBody>
      </p:sp>
      <p:sp>
        <p:nvSpPr>
          <p:cNvPr id="14" name="TextBox 13"/>
          <p:cNvSpPr txBox="1"/>
          <p:nvPr/>
        </p:nvSpPr>
        <p:spPr>
          <a:xfrm>
            <a:off x="6385559" y="290291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twice.</a:t>
            </a:r>
          </a:p>
        </p:txBody>
      </p:sp>
      <p:sp>
        <p:nvSpPr>
          <p:cNvPr id="15" name="Rounded Rectangle 14"/>
          <p:cNvSpPr/>
          <p:nvPr/>
        </p:nvSpPr>
        <p:spPr>
          <a:xfrm>
            <a:off x="54864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16" name="TextBox 15"/>
          <p:cNvSpPr txBox="1"/>
          <p:nvPr/>
        </p:nvSpPr>
        <p:spPr>
          <a:xfrm>
            <a:off x="716280"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I3</a:t>
            </a:r>
          </a:p>
        </p:txBody>
      </p:sp>
      <p:sp>
        <p:nvSpPr>
          <p:cNvPr id="17" name="TextBox 16"/>
          <p:cNvSpPr txBox="1"/>
          <p:nvPr/>
        </p:nvSpPr>
        <p:spPr>
          <a:xfrm>
            <a:off x="716280"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Strict logical time</a:t>
            </a:r>
          </a:p>
        </p:txBody>
      </p:sp>
      <p:sp>
        <p:nvSpPr>
          <p:cNvPr id="18" name="TextBox 17"/>
          <p:cNvSpPr txBox="1"/>
          <p:nvPr/>
        </p:nvSpPr>
        <p:spPr>
          <a:xfrm>
            <a:off x="716280"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Feedback is never retimed to make stale work</a:t>
            </a:r>
          </a:p>
        </p:txBody>
      </p:sp>
      <p:sp>
        <p:nvSpPr>
          <p:cNvPr id="19" name="TextBox 18"/>
          <p:cNvSpPr txBox="1"/>
          <p:nvPr/>
        </p:nvSpPr>
        <p:spPr>
          <a:xfrm>
            <a:off x="716280"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admissible.</a:t>
            </a:r>
          </a:p>
        </p:txBody>
      </p:sp>
      <p:sp>
        <p:nvSpPr>
          <p:cNvPr id="20" name="Rounded Rectangle 19"/>
          <p:cNvSpPr/>
          <p:nvPr/>
        </p:nvSpPr>
        <p:spPr>
          <a:xfrm>
            <a:off x="6217920" y="3718560"/>
            <a:ext cx="5425440" cy="1623060"/>
          </a:xfrm>
          <a:prstGeom prst="roundRect">
            <a:avLst>
              <a:gd name="adj" fmla="val 6103"/>
            </a:avLst>
          </a:prstGeom>
          <a:solidFill>
            <a:srgbClr val="FFFFFF"/>
          </a:solidFill>
          <a:ln w="7620">
            <a:solidFill>
              <a:srgbClr val="315E9C"/>
            </a:solidFill>
          </a:ln>
          <a:effectLst/>
        </p:spPr>
        <p:txBody>
          <a:bodyPr rtlCol="0" anchor="ctr"/>
          <a:lstStyle/>
          <a:p>
            <a:pPr algn="ctr"/>
          </a:p>
        </p:txBody>
      </p:sp>
      <p:sp>
        <p:nvSpPr>
          <p:cNvPr id="21" name="TextBox 20"/>
          <p:cNvSpPr txBox="1"/>
          <p:nvPr/>
        </p:nvSpPr>
        <p:spPr>
          <a:xfrm>
            <a:off x="6385559" y="3886200"/>
            <a:ext cx="5090160" cy="156057"/>
          </a:xfrm>
          <a:prstGeom prst="rect">
            <a:avLst/>
          </a:prstGeom>
          <a:noFill/>
        </p:spPr>
        <p:txBody>
          <a:bodyPr wrap="none" lIns="0" rIns="0" tIns="0" bIns="0" anchor="t" anchorCtr="0">
            <a:noAutofit/>
          </a:bodyPr>
          <a:lstStyle/>
          <a:p>
            <a:pPr algn="l">
              <a:lnSpc>
                <a:spcPct val="100000"/>
              </a:lnSpc>
              <a:spcBef>
                <a:spcPts val="0"/>
              </a:spcBef>
              <a:spcAft>
                <a:spcPts val="0"/>
              </a:spcAft>
            </a:pPr>
            <a:r>
              <a:rPr sz="960" b="1">
                <a:solidFill>
                  <a:srgbClr val="315E9C"/>
                </a:solidFill>
                <a:latin typeface="DejaVu Sans"/>
              </a:rPr>
              <a:t>I4</a:t>
            </a:r>
          </a:p>
        </p:txBody>
      </p:sp>
      <p:sp>
        <p:nvSpPr>
          <p:cNvPr id="22" name="TextBox 21"/>
          <p:cNvSpPr txBox="1"/>
          <p:nvPr/>
        </p:nvSpPr>
        <p:spPr>
          <a:xfrm>
            <a:off x="6385559" y="4122419"/>
            <a:ext cx="5090160" cy="292608"/>
          </a:xfrm>
          <a:prstGeom prst="rect">
            <a:avLst/>
          </a:prstGeom>
          <a:noFill/>
        </p:spPr>
        <p:txBody>
          <a:bodyPr wrap="none" lIns="0" rIns="0" tIns="0" bIns="0" anchor="t" anchorCtr="0">
            <a:noAutofit/>
          </a:bodyPr>
          <a:lstStyle/>
          <a:p>
            <a:pPr algn="l">
              <a:lnSpc>
                <a:spcPct val="100000"/>
              </a:lnSpc>
              <a:spcBef>
                <a:spcPts val="0"/>
              </a:spcBef>
              <a:spcAft>
                <a:spcPts val="0"/>
              </a:spcAft>
            </a:pPr>
            <a:r>
              <a:rPr sz="1800" b="1">
                <a:solidFill>
                  <a:srgbClr val="315E9C"/>
                </a:solidFill>
                <a:latin typeface="DejaVu Sans"/>
              </a:rPr>
              <a:t>One authoritative outcome</a:t>
            </a:r>
          </a:p>
        </p:txBody>
      </p:sp>
      <p:sp>
        <p:nvSpPr>
          <p:cNvPr id="23" name="TextBox 22"/>
          <p:cNvSpPr txBox="1"/>
          <p:nvPr/>
        </p:nvSpPr>
        <p:spPr>
          <a:xfrm>
            <a:off x="6385559" y="4491228"/>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Application and retirement serialize at the</a:t>
            </a:r>
          </a:p>
        </p:txBody>
      </p:sp>
      <p:sp>
        <p:nvSpPr>
          <p:cNvPr id="24" name="TextBox 23"/>
          <p:cNvSpPr txBox="1"/>
          <p:nvPr/>
        </p:nvSpPr>
        <p:spPr>
          <a:xfrm>
            <a:off x="6385559" y="4754575"/>
            <a:ext cx="5090160" cy="263347"/>
          </a:xfrm>
          <a:prstGeom prst="rect">
            <a:avLst/>
          </a:prstGeom>
          <a:noFill/>
        </p:spPr>
        <p:txBody>
          <a:bodyPr wrap="none" lIns="0" rIns="0" tIns="0" bIns="0" anchor="t" anchorCtr="0">
            <a:noAutofit/>
          </a:bodyPr>
          <a:lstStyle/>
          <a:p>
            <a:pPr algn="l">
              <a:lnSpc>
                <a:spcPct val="100000"/>
              </a:lnSpc>
              <a:spcBef>
                <a:spcPts val="0"/>
              </a:spcBef>
              <a:spcAft>
                <a:spcPts val="0"/>
              </a:spcAft>
            </a:pPr>
            <a:r>
              <a:rPr sz="1620" b="0">
                <a:solidFill>
                  <a:srgbClr val="536775"/>
                </a:solidFill>
                <a:latin typeface="DejaVu Sans"/>
              </a:rPr>
              <a:t>attention owner.</a:t>
            </a:r>
          </a:p>
        </p:txBody>
      </p:sp>
      <p:cxnSp>
        <p:nvCxnSpPr>
          <p:cNvPr id="25" name="Connector 24"/>
          <p:cNvCxnSpPr/>
          <p:nvPr/>
        </p:nvCxnSpPr>
        <p:spPr>
          <a:xfrm>
            <a:off x="548640" y="6393180"/>
            <a:ext cx="11094720" cy="0"/>
          </a:xfrm>
          <a:prstGeom prst="line">
            <a:avLst/>
          </a:prstGeom>
          <a:ln w="7620">
            <a:solidFill>
              <a:srgbClr val="C9D2D4"/>
            </a:solidFill>
          </a:ln>
          <a:effectLst/>
        </p:spPr>
      </p:cxnSp>
      <p:sp>
        <p:nvSpPr>
          <p:cNvPr id="26" name="TextBox 25"/>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Attention · C3 · M5 source bfb0ec8</a:t>
            </a:r>
          </a:p>
        </p:txBody>
      </p:sp>
      <p:sp>
        <p:nvSpPr>
          <p:cNvPr id="27" name="TextBox 26"/>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07 / 12</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07 / RECOVERY AND REFUSAL</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Failure is part of the interface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 lost response, a missing prerequisite and a deliberate refusal require different interpretations.</a:t>
            </a:r>
          </a:p>
        </p:txBody>
      </p:sp>
      <p:sp>
        <p:nvSpPr>
          <p:cNvPr id="5" name="TextBox 4"/>
          <p:cNvSpPr txBox="1"/>
          <p:nvPr/>
        </p:nvSpPr>
        <p:spPr>
          <a:xfrm>
            <a:off x="670560" y="1790700"/>
            <a:ext cx="32232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BOUNDARY / TRIGGER</a:t>
            </a:r>
          </a:p>
        </p:txBody>
      </p:sp>
      <p:sp>
        <p:nvSpPr>
          <p:cNvPr id="6" name="TextBox 5"/>
          <p:cNvSpPr txBox="1"/>
          <p:nvPr/>
        </p:nvSpPr>
        <p:spPr>
          <a:xfrm>
            <a:off x="4137660" y="1790700"/>
            <a:ext cx="42138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OWNER-AUTHORITATIVE OUTCOME</a:t>
            </a:r>
          </a:p>
        </p:txBody>
      </p:sp>
      <p:sp>
        <p:nvSpPr>
          <p:cNvPr id="7" name="TextBox 6"/>
          <p:cNvSpPr txBox="1"/>
          <p:nvPr/>
        </p:nvSpPr>
        <p:spPr>
          <a:xfrm>
            <a:off x="8595360" y="1790700"/>
            <a:ext cx="29260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EVIDENCE / LIMITATION</a:t>
            </a:r>
          </a:p>
        </p:txBody>
      </p:sp>
      <p:sp>
        <p:nvSpPr>
          <p:cNvPr id="8" name="Rounded Rectangle 7"/>
          <p:cNvSpPr/>
          <p:nvPr/>
        </p:nvSpPr>
        <p:spPr>
          <a:xfrm>
            <a:off x="548640" y="2110740"/>
            <a:ext cx="11094720" cy="1066800"/>
          </a:xfrm>
          <a:prstGeom prst="roundRect">
            <a:avLst>
              <a:gd name="adj" fmla="val 4285"/>
            </a:avLst>
          </a:prstGeom>
          <a:solidFill>
            <a:srgbClr val="FFFFFF"/>
          </a:solidFill>
          <a:ln>
            <a:noFill/>
          </a:ln>
          <a:effectLst/>
        </p:spPr>
        <p:txBody>
          <a:bodyPr rtlCol="0" anchor="ctr"/>
          <a:lstStyle/>
          <a:p>
            <a:pPr algn="ctr"/>
          </a:p>
        </p:txBody>
      </p:sp>
      <p:sp>
        <p:nvSpPr>
          <p:cNvPr id="9" name="TextBox 8"/>
          <p:cNvSpPr txBox="1"/>
          <p:nvPr/>
        </p:nvSpPr>
        <p:spPr>
          <a:xfrm>
            <a:off x="670560" y="22402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Feedback applied; response</a:t>
            </a:r>
          </a:p>
        </p:txBody>
      </p:sp>
      <p:sp>
        <p:nvSpPr>
          <p:cNvPr id="10" name="TextBox 9"/>
          <p:cNvSpPr txBox="1"/>
          <p:nvPr/>
        </p:nvSpPr>
        <p:spPr>
          <a:xfrm>
            <a:off x="670560" y="24841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lost</a:t>
            </a:r>
          </a:p>
        </p:txBody>
      </p:sp>
      <p:sp>
        <p:nvSpPr>
          <p:cNvPr id="11" name="TextBox 10"/>
          <p:cNvSpPr txBox="1"/>
          <p:nvPr/>
        </p:nvSpPr>
        <p:spPr>
          <a:xfrm>
            <a:off x="4137660" y="22402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Return original application receipt even</a:t>
            </a:r>
          </a:p>
        </p:txBody>
      </p:sp>
      <p:sp>
        <p:nvSpPr>
          <p:cNvPr id="12" name="TextBox 11"/>
          <p:cNvSpPr txBox="1"/>
          <p:nvPr/>
        </p:nvSpPr>
        <p:spPr>
          <a:xfrm>
            <a:off x="4137660" y="248412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after expiry/decay.</a:t>
            </a:r>
          </a:p>
        </p:txBody>
      </p:sp>
      <p:sp>
        <p:nvSpPr>
          <p:cNvPr id="13" name="TextBox 12"/>
          <p:cNvSpPr txBox="1"/>
          <p:nvPr/>
        </p:nvSpPr>
        <p:spPr>
          <a:xfrm>
            <a:off x="8595360" y="22402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second credit</a:t>
            </a:r>
          </a:p>
        </p:txBody>
      </p:sp>
      <p:sp>
        <p:nvSpPr>
          <p:cNvPr id="14" name="Rounded Rectangle 13"/>
          <p:cNvSpPr/>
          <p:nvPr/>
        </p:nvSpPr>
        <p:spPr>
          <a:xfrm>
            <a:off x="548640" y="3215640"/>
            <a:ext cx="11094720" cy="1066800"/>
          </a:xfrm>
          <a:prstGeom prst="roundRect">
            <a:avLst>
              <a:gd name="adj" fmla="val 4285"/>
            </a:avLst>
          </a:prstGeom>
          <a:solidFill>
            <a:srgbClr val="FFFFFF"/>
          </a:solidFill>
          <a:ln>
            <a:noFill/>
          </a:ln>
          <a:effectLst/>
        </p:spPr>
        <p:txBody>
          <a:bodyPr rtlCol="0" anchor="ctr"/>
          <a:lstStyle/>
          <a:p>
            <a:pPr algn="ctr"/>
          </a:p>
        </p:txBody>
      </p:sp>
      <p:sp>
        <p:nvSpPr>
          <p:cNvPr id="15" name="TextBox 14"/>
          <p:cNvSpPr txBox="1"/>
          <p:nvPr/>
        </p:nvSpPr>
        <p:spPr>
          <a:xfrm>
            <a:off x="670560" y="334517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Clock advanced / feedback</a:t>
            </a:r>
          </a:p>
        </p:txBody>
      </p:sp>
      <p:sp>
        <p:nvSpPr>
          <p:cNvPr id="16" name="TextBox 15"/>
          <p:cNvSpPr txBox="1"/>
          <p:nvPr/>
        </p:nvSpPr>
        <p:spPr>
          <a:xfrm>
            <a:off x="670560" y="3589019"/>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expired</a:t>
            </a:r>
          </a:p>
        </p:txBody>
      </p:sp>
      <p:sp>
        <p:nvSpPr>
          <p:cNvPr id="17" name="TextBox 16"/>
          <p:cNvSpPr txBox="1"/>
          <p:nvPr/>
        </p:nvSpPr>
        <p:spPr>
          <a:xfrm>
            <a:off x="4137660" y="3345179"/>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Retire without credit when permitted.</a:t>
            </a:r>
          </a:p>
        </p:txBody>
      </p:sp>
      <p:sp>
        <p:nvSpPr>
          <p:cNvPr id="18" name="TextBox 17"/>
          <p:cNvSpPr txBox="1"/>
          <p:nvPr/>
        </p:nvSpPr>
        <p:spPr>
          <a:xfrm>
            <a:off x="8595360" y="334517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Do not manufacture</a:t>
            </a:r>
          </a:p>
        </p:txBody>
      </p:sp>
      <p:sp>
        <p:nvSpPr>
          <p:cNvPr id="19" name="TextBox 18"/>
          <p:cNvSpPr txBox="1"/>
          <p:nvPr/>
        </p:nvSpPr>
        <p:spPr>
          <a:xfrm>
            <a:off x="8595360" y="3589019"/>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application</a:t>
            </a:r>
          </a:p>
        </p:txBody>
      </p:sp>
      <p:sp>
        <p:nvSpPr>
          <p:cNvPr id="20" name="Rounded Rectangle 19"/>
          <p:cNvSpPr/>
          <p:nvPr/>
        </p:nvSpPr>
        <p:spPr>
          <a:xfrm>
            <a:off x="548640" y="4320540"/>
            <a:ext cx="11094720" cy="1066800"/>
          </a:xfrm>
          <a:prstGeom prst="roundRect">
            <a:avLst>
              <a:gd name="adj" fmla="val 4285"/>
            </a:avLst>
          </a:prstGeom>
          <a:solidFill>
            <a:srgbClr val="FFFFFF"/>
          </a:solidFill>
          <a:ln>
            <a:noFill/>
          </a:ln>
          <a:effectLst/>
        </p:spPr>
        <p:txBody>
          <a:bodyPr rtlCol="0" anchor="ctr"/>
          <a:lstStyle/>
          <a:p>
            <a:pPr algn="ctr"/>
          </a:p>
        </p:txBody>
      </p:sp>
      <p:sp>
        <p:nvSpPr>
          <p:cNvPr id="21" name="TextBox 20"/>
          <p:cNvSpPr txBox="1"/>
          <p:nvPr/>
        </p:nvSpPr>
        <p:spPr>
          <a:xfrm>
            <a:off x="670560" y="445008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Eligible/unavailable or finite</a:t>
            </a:r>
          </a:p>
        </p:txBody>
      </p:sp>
      <p:sp>
        <p:nvSpPr>
          <p:cNvPr id="22" name="TextBox 21"/>
          <p:cNvSpPr txBox="1"/>
          <p:nvPr/>
        </p:nvSpPr>
        <p:spPr>
          <a:xfrm>
            <a:off x="670560" y="4693920"/>
            <a:ext cx="32232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capacity</a:t>
            </a:r>
          </a:p>
        </p:txBody>
      </p:sp>
      <p:sp>
        <p:nvSpPr>
          <p:cNvPr id="23" name="TextBox 22"/>
          <p:cNvSpPr txBox="1"/>
          <p:nvPr/>
        </p:nvSpPr>
        <p:spPr>
          <a:xfrm>
            <a:off x="4137660" y="4450080"/>
            <a:ext cx="42138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Resolution remains pending.</a:t>
            </a:r>
          </a:p>
        </p:txBody>
      </p:sp>
      <p:sp>
        <p:nvSpPr>
          <p:cNvPr id="24" name="TextBox 23"/>
          <p:cNvSpPr txBox="1"/>
          <p:nvPr/>
        </p:nvSpPr>
        <p:spPr>
          <a:xfrm>
            <a:off x="8595360" y="445008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Reconciliation is not a</a:t>
            </a:r>
          </a:p>
        </p:txBody>
      </p:sp>
      <p:sp>
        <p:nvSpPr>
          <p:cNvPr id="25" name="TextBox 24"/>
          <p:cNvSpPr txBox="1"/>
          <p:nvPr/>
        </p:nvSpPr>
        <p:spPr>
          <a:xfrm>
            <a:off x="8595360" y="4693920"/>
            <a:ext cx="29260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scheduler</a:t>
            </a:r>
          </a:p>
        </p:txBody>
      </p:sp>
      <p:sp>
        <p:nvSpPr>
          <p:cNvPr id="26" name="Rounded Rectangle 25"/>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7" name="TextBox 26"/>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Recovery evidence covers same-host process termination with intact files; it does not prove power-loss durability.</a:t>
            </a:r>
          </a:p>
        </p:txBody>
      </p:sp>
      <p:cxnSp>
        <p:nvCxnSpPr>
          <p:cNvPr id="28" name="Connector 27"/>
          <p:cNvCxnSpPr/>
          <p:nvPr/>
        </p:nvCxnSpPr>
        <p:spPr>
          <a:xfrm>
            <a:off x="548640" y="6393180"/>
            <a:ext cx="11094720" cy="0"/>
          </a:xfrm>
          <a:prstGeom prst="line">
            <a:avLst/>
          </a:prstGeom>
          <a:ln w="7620">
            <a:solidFill>
              <a:srgbClr val="C9D2D4"/>
            </a:solidFill>
          </a:ln>
          <a:effectLst/>
        </p:spPr>
      </p:cxnSp>
      <p:sp>
        <p:nvSpPr>
          <p:cNvPr id="29" name="TextBox 28"/>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Attention · C3 · M5 source bfb0ec8</a:t>
            </a:r>
          </a:p>
        </p:txBody>
      </p:sp>
      <p:sp>
        <p:nvSpPr>
          <p:cNvPr id="30" name="TextBox 29"/>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08 / 12</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08 / BENCHMARKS</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Measurements and benchmark gaps</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Observed values, contract limits and proposed experiments are explicitly different kinds of evidence.</a:t>
            </a:r>
          </a:p>
        </p:txBody>
      </p:sp>
      <p:sp>
        <p:nvSpPr>
          <p:cNvPr id="5" name="Rounded Rectangle 4"/>
          <p:cNvSpPr/>
          <p:nvPr/>
        </p:nvSpPr>
        <p:spPr>
          <a:xfrm>
            <a:off x="54864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6" name="TextBox 5"/>
          <p:cNvSpPr txBox="1"/>
          <p:nvPr/>
        </p:nvSpPr>
        <p:spPr>
          <a:xfrm>
            <a:off x="72390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4</a:t>
            </a:r>
          </a:p>
        </p:txBody>
      </p:sp>
      <p:sp>
        <p:nvSpPr>
          <p:cNvPr id="7" name="TextBox 6"/>
          <p:cNvSpPr txBox="1"/>
          <p:nvPr/>
        </p:nvSpPr>
        <p:spPr>
          <a:xfrm>
            <a:off x="72390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Controlled</a:t>
            </a:r>
          </a:p>
        </p:txBody>
      </p:sp>
      <p:sp>
        <p:nvSpPr>
          <p:cNvPr id="8" name="TextBox 7"/>
          <p:cNvSpPr txBox="1"/>
          <p:nvPr/>
        </p:nvSpPr>
        <p:spPr>
          <a:xfrm>
            <a:off x="72390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provider/preference runs</a:t>
            </a:r>
          </a:p>
        </p:txBody>
      </p:sp>
      <p:sp>
        <p:nvSpPr>
          <p:cNvPr id="9" name="TextBox 8"/>
          <p:cNvSpPr txBox="1"/>
          <p:nvPr/>
        </p:nvSpPr>
        <p:spPr>
          <a:xfrm>
            <a:off x="72390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Same policy, tasks and one-attempt</a:t>
            </a:r>
          </a:p>
        </p:txBody>
      </p:sp>
      <p:sp>
        <p:nvSpPr>
          <p:cNvPr id="10" name="TextBox 9"/>
          <p:cNvSpPr txBox="1"/>
          <p:nvPr/>
        </p:nvSpPr>
        <p:spPr>
          <a:xfrm>
            <a:off x="723900" y="349879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budget</a:t>
            </a:r>
          </a:p>
        </p:txBody>
      </p:sp>
      <p:sp>
        <p:nvSpPr>
          <p:cNvPr id="11" name="Rounded Rectangle 10"/>
          <p:cNvSpPr/>
          <p:nvPr/>
        </p:nvSpPr>
        <p:spPr>
          <a:xfrm>
            <a:off x="432816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2" name="TextBox 11"/>
          <p:cNvSpPr txBox="1"/>
          <p:nvPr/>
        </p:nvSpPr>
        <p:spPr>
          <a:xfrm>
            <a:off x="4503420" y="2019300"/>
            <a:ext cx="3185160" cy="585216"/>
          </a:xfrm>
          <a:prstGeom prst="rect">
            <a:avLst/>
          </a:prstGeom>
          <a:noFill/>
        </p:spPr>
        <p:txBody>
          <a:bodyPr wrap="none" lIns="0" rIns="0" tIns="0" bIns="0" anchor="t" anchorCtr="0">
            <a:noAutofit/>
          </a:bodyPr>
          <a:lstStyle/>
          <a:p>
            <a:pPr algn="l">
              <a:lnSpc>
                <a:spcPct val="100000"/>
              </a:lnSpc>
              <a:spcBef>
                <a:spcPts val="0"/>
              </a:spcBef>
              <a:spcAft>
                <a:spcPts val="0"/>
              </a:spcAft>
            </a:pPr>
            <a:r>
              <a:rPr sz="3600" b="1">
                <a:solidFill>
                  <a:srgbClr val="315E9C"/>
                </a:solidFill>
                <a:latin typeface="DejaVu Sans"/>
              </a:rPr>
              <a:t>1 / 0</a:t>
            </a:r>
          </a:p>
        </p:txBody>
      </p:sp>
      <p:sp>
        <p:nvSpPr>
          <p:cNvPr id="13" name="TextBox 12"/>
          <p:cNvSpPr txBox="1"/>
          <p:nvPr/>
        </p:nvSpPr>
        <p:spPr>
          <a:xfrm>
            <a:off x="4503420"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Native call / replay calls per</a:t>
            </a:r>
          </a:p>
        </p:txBody>
      </p:sp>
      <p:sp>
        <p:nvSpPr>
          <p:cNvPr id="14" name="TextBox 13"/>
          <p:cNvSpPr txBox="1"/>
          <p:nvPr/>
        </p:nvSpPr>
        <p:spPr>
          <a:xfrm>
            <a:off x="4503420"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run</a:t>
            </a:r>
          </a:p>
        </p:txBody>
      </p:sp>
      <p:sp>
        <p:nvSpPr>
          <p:cNvPr id="15" name="TextBox 14"/>
          <p:cNvSpPr txBox="1"/>
          <p:nvPr/>
        </p:nvSpPr>
        <p:spPr>
          <a:xfrm>
            <a:off x="4503420"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Whole inference-step observation</a:t>
            </a:r>
          </a:p>
        </p:txBody>
      </p:sp>
      <p:sp>
        <p:nvSpPr>
          <p:cNvPr id="16" name="Rounded Rectangle 15"/>
          <p:cNvSpPr/>
          <p:nvPr/>
        </p:nvSpPr>
        <p:spPr>
          <a:xfrm>
            <a:off x="8107680" y="1859280"/>
            <a:ext cx="3535679" cy="2004059"/>
          </a:xfrm>
          <a:prstGeom prst="roundRect">
            <a:avLst>
              <a:gd name="adj" fmla="val 4942"/>
            </a:avLst>
          </a:prstGeom>
          <a:solidFill>
            <a:srgbClr val="FFFFFF"/>
          </a:solidFill>
          <a:ln w="7620">
            <a:solidFill>
              <a:srgbClr val="315E9C"/>
            </a:solidFill>
          </a:ln>
          <a:effectLst/>
        </p:spPr>
        <p:txBody>
          <a:bodyPr rtlCol="0" anchor="ctr"/>
          <a:lstStyle/>
          <a:p>
            <a:pPr algn="ctr"/>
          </a:p>
        </p:txBody>
      </p:sp>
      <p:sp>
        <p:nvSpPr>
          <p:cNvPr id="17" name="TextBox 16"/>
          <p:cNvSpPr txBox="1"/>
          <p:nvPr/>
        </p:nvSpPr>
        <p:spPr>
          <a:xfrm>
            <a:off x="8282939" y="2019300"/>
            <a:ext cx="3185160" cy="575462"/>
          </a:xfrm>
          <a:prstGeom prst="rect">
            <a:avLst/>
          </a:prstGeom>
          <a:noFill/>
        </p:spPr>
        <p:txBody>
          <a:bodyPr wrap="none" lIns="0" rIns="0" tIns="0" bIns="0" anchor="t" anchorCtr="0">
            <a:noAutofit/>
          </a:bodyPr>
          <a:lstStyle/>
          <a:p>
            <a:pPr algn="l">
              <a:lnSpc>
                <a:spcPct val="100000"/>
              </a:lnSpc>
              <a:spcBef>
                <a:spcPts val="0"/>
              </a:spcBef>
              <a:spcAft>
                <a:spcPts val="0"/>
              </a:spcAft>
            </a:pPr>
            <a:r>
              <a:rPr sz="3540" b="1">
                <a:solidFill>
                  <a:srgbClr val="315E9C"/>
                </a:solidFill>
                <a:latin typeface="DejaVu Sans"/>
              </a:rPr>
              <a:t>100 / 300 / 1</a:t>
            </a:r>
          </a:p>
        </p:txBody>
      </p:sp>
      <p:sp>
        <p:nvSpPr>
          <p:cNvPr id="18" name="TextBox 17"/>
          <p:cNvSpPr txBox="1"/>
          <p:nvPr/>
        </p:nvSpPr>
        <p:spPr>
          <a:xfrm>
            <a:off x="8282939" y="2712720"/>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Target cap / context budget</a:t>
            </a:r>
          </a:p>
        </p:txBody>
      </p:sp>
      <p:sp>
        <p:nvSpPr>
          <p:cNvPr id="19" name="TextBox 18"/>
          <p:cNvSpPr txBox="1"/>
          <p:nvPr/>
        </p:nvSpPr>
        <p:spPr>
          <a:xfrm>
            <a:off x="8282939" y="2966313"/>
            <a:ext cx="3185160" cy="253593"/>
          </a:xfrm>
          <a:prstGeom prst="rect">
            <a:avLst/>
          </a:prstGeom>
          <a:noFill/>
        </p:spPr>
        <p:txBody>
          <a:bodyPr wrap="none" lIns="0" rIns="0" tIns="0" bIns="0" anchor="t" anchorCtr="0">
            <a:noAutofit/>
          </a:bodyPr>
          <a:lstStyle/>
          <a:p>
            <a:pPr algn="l">
              <a:lnSpc>
                <a:spcPct val="100000"/>
              </a:lnSpc>
              <a:spcBef>
                <a:spcPts val="0"/>
              </a:spcBef>
              <a:spcAft>
                <a:spcPts val="0"/>
              </a:spcAft>
            </a:pPr>
            <a:r>
              <a:rPr sz="1560" b="1">
                <a:solidFill>
                  <a:srgbClr val="102B3F"/>
                </a:solidFill>
                <a:latin typeface="DejaVu Sans"/>
              </a:rPr>
              <a:t>/ decay</a:t>
            </a:r>
          </a:p>
        </p:txBody>
      </p:sp>
      <p:sp>
        <p:nvSpPr>
          <p:cNvPr id="20" name="TextBox 19"/>
          <p:cNvSpPr txBox="1"/>
          <p:nvPr/>
        </p:nvSpPr>
        <p:spPr>
          <a:xfrm>
            <a:off x="8282939" y="3284219"/>
            <a:ext cx="3185160" cy="214579"/>
          </a:xfrm>
          <a:prstGeom prst="rect">
            <a:avLst/>
          </a:prstGeom>
          <a:noFill/>
        </p:spPr>
        <p:txBody>
          <a:bodyPr wrap="none" lIns="0" rIns="0" tIns="0" bIns="0" anchor="t" anchorCtr="0">
            <a:noAutofit/>
          </a:bodyPr>
          <a:lstStyle/>
          <a:p>
            <a:pPr algn="l">
              <a:lnSpc>
                <a:spcPct val="100000"/>
              </a:lnSpc>
              <a:spcBef>
                <a:spcPts val="0"/>
              </a:spcBef>
              <a:spcAft>
                <a:spcPts val="0"/>
              </a:spcAft>
            </a:pPr>
            <a:r>
              <a:rPr sz="1320" b="0">
                <a:solidFill>
                  <a:srgbClr val="536775"/>
                </a:solidFill>
                <a:latin typeface="DejaVu Sans"/>
              </a:rPr>
              <a:t>Default STI policy parameters</a:t>
            </a:r>
          </a:p>
        </p:txBody>
      </p:sp>
      <p:sp>
        <p:nvSpPr>
          <p:cNvPr id="21" name="TextBox 20"/>
          <p:cNvSpPr txBox="1"/>
          <p:nvPr/>
        </p:nvSpPr>
        <p:spPr>
          <a:xfrm>
            <a:off x="579120" y="409194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Historical full-step timings span 0.641150–0.744361 s, one observation per case. They include native inference</a:t>
            </a:r>
          </a:p>
        </p:txBody>
      </p:sp>
      <p:sp>
        <p:nvSpPr>
          <p:cNvPr id="22" name="TextBox 21"/>
          <p:cNvSpPr txBox="1"/>
          <p:nvPr/>
        </p:nvSpPr>
        <p:spPr>
          <a:xfrm>
            <a:off x="579120" y="4335780"/>
            <a:ext cx="11003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and cannot rank attention-provider speed or cognitive quality.</a:t>
            </a:r>
          </a:p>
        </p:txBody>
      </p:sp>
      <p:sp>
        <p:nvSpPr>
          <p:cNvPr id="23" name="Rounded Rectangle 22"/>
          <p:cNvSpPr/>
          <p:nvPr/>
        </p:nvSpPr>
        <p:spPr>
          <a:xfrm>
            <a:off x="548640" y="5067300"/>
            <a:ext cx="11094720" cy="1150620"/>
          </a:xfrm>
          <a:prstGeom prst="roundRect">
            <a:avLst>
              <a:gd name="adj" fmla="val 8609"/>
            </a:avLst>
          </a:prstGeom>
          <a:solidFill>
            <a:srgbClr val="F3E7CE"/>
          </a:solidFill>
          <a:ln w="7620">
            <a:solidFill>
              <a:srgbClr val="A86A15"/>
            </a:solidFill>
          </a:ln>
          <a:effectLst/>
        </p:spPr>
        <p:txBody>
          <a:bodyPr rtlCol="0" anchor="ctr"/>
          <a:lstStyle/>
          <a:p>
            <a:pPr algn="ctr"/>
          </a:p>
        </p:txBody>
      </p:sp>
      <p:sp>
        <p:nvSpPr>
          <p:cNvPr id="24" name="TextBox 23"/>
          <p:cNvSpPr txBox="1"/>
          <p:nvPr/>
        </p:nvSpPr>
        <p:spPr>
          <a:xfrm>
            <a:off x="716280" y="5234940"/>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1">
                <a:solidFill>
                  <a:srgbClr val="A86A15"/>
                </a:solidFill>
                <a:latin typeface="DejaVu Sans"/>
              </a:rPr>
              <a:t>PROPOSED BENCHMARK · NOT RUN</a:t>
            </a:r>
          </a:p>
        </p:txBody>
      </p:sp>
      <p:sp>
        <p:nvSpPr>
          <p:cNvPr id="25" name="TextBox 24"/>
          <p:cNvSpPr txBox="1"/>
          <p:nvPr/>
        </p:nvSpPr>
        <p:spPr>
          <a:xfrm>
            <a:off x="716280" y="5545226"/>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Proposed: fix eligible sets and causal schedule; vary target count, replay ratio and feedback contention. Measure</a:t>
            </a:r>
          </a:p>
        </p:txBody>
      </p:sp>
      <p:sp>
        <p:nvSpPr>
          <p:cNvPr id="26" name="TextBox 25"/>
          <p:cNvSpPr txBox="1"/>
          <p:nvPr/>
        </p:nvSpPr>
        <p:spPr>
          <a:xfrm>
            <a:off x="716280" y="5779312"/>
            <a:ext cx="1075944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536775"/>
                </a:solidFill>
                <a:latin typeface="DejaVu Sans"/>
              </a:rPr>
              <a:t>select/update p50/p95 while checking exact ranking and once-only outcomes.</a:t>
            </a:r>
          </a:p>
        </p:txBody>
      </p:sp>
      <p:cxnSp>
        <p:nvCxnSpPr>
          <p:cNvPr id="27" name="Connector 26"/>
          <p:cNvCxnSpPr/>
          <p:nvPr/>
        </p:nvCxnSpPr>
        <p:spPr>
          <a:xfrm>
            <a:off x="548640" y="6393180"/>
            <a:ext cx="11094720" cy="0"/>
          </a:xfrm>
          <a:prstGeom prst="line">
            <a:avLst/>
          </a:prstGeom>
          <a:ln w="7620">
            <a:solidFill>
              <a:srgbClr val="C9D2D4"/>
            </a:solidFill>
          </a:ln>
          <a:effectLst/>
        </p:spPr>
      </p:cxnSp>
      <p:sp>
        <p:nvSpPr>
          <p:cNvPr id="28" name="TextBox 2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Attention · C3 · M5 source bfb0ec8</a:t>
            </a:r>
          </a:p>
        </p:txBody>
      </p:sp>
      <p:sp>
        <p:nvSpPr>
          <p:cNvPr id="29" name="TextBox 2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09 / 12</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09 / EVIDENCE CLASSIFICATION</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Current state: what is real, what is not</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Current supported regressions pass; historical observations and unsatisfied capabilities keep their labels.</a:t>
            </a:r>
          </a:p>
        </p:txBody>
      </p:sp>
      <p:sp>
        <p:nvSpPr>
          <p:cNvPr id="5" name="TextBox 4"/>
          <p:cNvSpPr txBox="1"/>
          <p:nvPr/>
        </p:nvSpPr>
        <p:spPr>
          <a:xfrm>
            <a:off x="670560" y="1790700"/>
            <a:ext cx="26517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CLASSIFICATION</a:t>
            </a:r>
          </a:p>
        </p:txBody>
      </p:sp>
      <p:sp>
        <p:nvSpPr>
          <p:cNvPr id="6" name="TextBox 5"/>
          <p:cNvSpPr txBox="1"/>
          <p:nvPr/>
        </p:nvSpPr>
        <p:spPr>
          <a:xfrm>
            <a:off x="3566160" y="1790700"/>
            <a:ext cx="795528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MODULE-SPECIFIC STATE</a:t>
            </a:r>
          </a:p>
        </p:txBody>
      </p:sp>
      <p:sp>
        <p:nvSpPr>
          <p:cNvPr id="7" name="Rounded Rectangle 6"/>
          <p:cNvSpPr/>
          <p:nvPr/>
        </p:nvSpPr>
        <p:spPr>
          <a:xfrm>
            <a:off x="548640" y="2110740"/>
            <a:ext cx="11094720" cy="815340"/>
          </a:xfrm>
          <a:prstGeom prst="roundRect">
            <a:avLst>
              <a:gd name="adj" fmla="val 5607"/>
            </a:avLst>
          </a:prstGeom>
          <a:solidFill>
            <a:srgbClr val="FFFFFF"/>
          </a:solidFill>
          <a:ln>
            <a:noFill/>
          </a:ln>
          <a:effectLst/>
        </p:spPr>
        <p:txBody>
          <a:bodyPr rtlCol="0" anchor="ctr"/>
          <a:lstStyle/>
          <a:p>
            <a:pPr algn="ctr"/>
          </a:p>
        </p:txBody>
      </p:sp>
      <p:sp>
        <p:nvSpPr>
          <p:cNvPr id="8" name="TextBox 7"/>
          <p:cNvSpPr txBox="1"/>
          <p:nvPr/>
        </p:nvSpPr>
        <p:spPr>
          <a:xfrm>
            <a:off x="670560" y="224028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REAL / IMPLEMENTED</a:t>
            </a:r>
          </a:p>
        </p:txBody>
      </p:sp>
      <p:sp>
        <p:nvSpPr>
          <p:cNvPr id="9" name="TextBox 8"/>
          <p:cNvSpPr txBox="1"/>
          <p:nvPr/>
        </p:nvSpPr>
        <p:spPr>
          <a:xfrm>
            <a:off x="3566160" y="224028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Persistent SQLite reference STI provider; real native inference consumes its</a:t>
            </a:r>
          </a:p>
        </p:txBody>
      </p:sp>
      <p:sp>
        <p:nvSpPr>
          <p:cNvPr id="10" name="TextBox 9"/>
          <p:cNvSpPr txBox="1"/>
          <p:nvPr/>
        </p:nvSpPr>
        <p:spPr>
          <a:xfrm>
            <a:off x="3566160" y="24841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selections.</a:t>
            </a:r>
          </a:p>
        </p:txBody>
      </p:sp>
      <p:sp>
        <p:nvSpPr>
          <p:cNvPr id="11" name="Rounded Rectangle 10"/>
          <p:cNvSpPr/>
          <p:nvPr/>
        </p:nvSpPr>
        <p:spPr>
          <a:xfrm>
            <a:off x="548640" y="2964179"/>
            <a:ext cx="11094720" cy="815340"/>
          </a:xfrm>
          <a:prstGeom prst="roundRect">
            <a:avLst>
              <a:gd name="adj" fmla="val 5607"/>
            </a:avLst>
          </a:prstGeom>
          <a:solidFill>
            <a:srgbClr val="FFFFFF"/>
          </a:solidFill>
          <a:ln>
            <a:noFill/>
          </a:ln>
          <a:effectLst/>
        </p:spPr>
        <p:txBody>
          <a:bodyPr rtlCol="0" anchor="ctr"/>
          <a:lstStyle/>
          <a:p>
            <a:pPr algn="ctr"/>
          </a:p>
        </p:txBody>
      </p:sp>
      <p:sp>
        <p:nvSpPr>
          <p:cNvPr id="12" name="TextBox 11"/>
          <p:cNvSpPr txBox="1"/>
          <p:nvPr/>
        </p:nvSpPr>
        <p:spPr>
          <a:xfrm>
            <a:off x="670560" y="309372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FIXTURE / LOCAL TEST</a:t>
            </a:r>
          </a:p>
        </p:txBody>
      </p:sp>
      <p:sp>
        <p:nvSpPr>
          <p:cNvPr id="13" name="TextBox 12"/>
          <p:cNvSpPr txBox="1"/>
          <p:nvPr/>
        </p:nvSpPr>
        <p:spPr>
          <a:xfrm>
            <a:off x="670560" y="33375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POLICY</a:t>
            </a:r>
          </a:p>
        </p:txBody>
      </p:sp>
      <p:sp>
        <p:nvSpPr>
          <p:cNvPr id="14" name="TextBox 13"/>
          <p:cNvSpPr txBox="1"/>
          <p:nvPr/>
        </p:nvSpPr>
        <p:spPr>
          <a:xfrm>
            <a:off x="3566160" y="309372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Independent atomic-file attention, generated tasks, grants and deterministic fault</a:t>
            </a:r>
          </a:p>
        </p:txBody>
      </p:sp>
      <p:sp>
        <p:nvSpPr>
          <p:cNvPr id="15" name="TextBox 14"/>
          <p:cNvSpPr txBox="1"/>
          <p:nvPr/>
        </p:nvSpPr>
        <p:spPr>
          <a:xfrm>
            <a:off x="3566160" y="33375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positions.</a:t>
            </a:r>
          </a:p>
        </p:txBody>
      </p:sp>
      <p:sp>
        <p:nvSpPr>
          <p:cNvPr id="16" name="Rounded Rectangle 15"/>
          <p:cNvSpPr/>
          <p:nvPr/>
        </p:nvSpPr>
        <p:spPr>
          <a:xfrm>
            <a:off x="548640" y="3817619"/>
            <a:ext cx="11094720" cy="815340"/>
          </a:xfrm>
          <a:prstGeom prst="roundRect">
            <a:avLst>
              <a:gd name="adj" fmla="val 5607"/>
            </a:avLst>
          </a:prstGeom>
          <a:solidFill>
            <a:srgbClr val="FFFFFF"/>
          </a:solidFill>
          <a:ln>
            <a:noFill/>
          </a:ln>
          <a:effectLst/>
        </p:spPr>
        <p:txBody>
          <a:bodyPr rtlCol="0" anchor="ctr"/>
          <a:lstStyle/>
          <a:p>
            <a:pPr algn="ctr"/>
          </a:p>
        </p:txBody>
      </p:sp>
      <p:sp>
        <p:nvSpPr>
          <p:cNvPr id="17" name="TextBox 16"/>
          <p:cNvSpPr txBox="1"/>
          <p:nvPr/>
        </p:nvSpPr>
        <p:spPr>
          <a:xfrm>
            <a:off x="670560" y="394716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BLOCKED /</a:t>
            </a:r>
          </a:p>
        </p:txBody>
      </p:sp>
      <p:sp>
        <p:nvSpPr>
          <p:cNvPr id="18" name="TextBox 17"/>
          <p:cNvSpPr txBox="1"/>
          <p:nvPr/>
        </p:nvSpPr>
        <p:spPr>
          <a:xfrm>
            <a:off x="670560" y="41910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UNSUPPORTED</a:t>
            </a:r>
          </a:p>
        </p:txBody>
      </p:sp>
      <p:sp>
        <p:nvSpPr>
          <p:cNvPr id="19" name="TextBox 18"/>
          <p:cNvSpPr txBox="1"/>
          <p:nvPr/>
        </p:nvSpPr>
        <p:spPr>
          <a:xfrm>
            <a:off x="3566160" y="394716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required supported gate blocked; old pending stores need their original profile.</a:t>
            </a:r>
          </a:p>
        </p:txBody>
      </p:sp>
      <p:sp>
        <p:nvSpPr>
          <p:cNvPr id="20" name="Rounded Rectangle 19"/>
          <p:cNvSpPr/>
          <p:nvPr/>
        </p:nvSpPr>
        <p:spPr>
          <a:xfrm>
            <a:off x="548640" y="4671060"/>
            <a:ext cx="11094720" cy="815340"/>
          </a:xfrm>
          <a:prstGeom prst="roundRect">
            <a:avLst>
              <a:gd name="adj" fmla="val 5607"/>
            </a:avLst>
          </a:prstGeom>
          <a:solidFill>
            <a:srgbClr val="FFFFFF"/>
          </a:solidFill>
          <a:ln>
            <a:noFill/>
          </a:ln>
          <a:effectLst/>
        </p:spPr>
        <p:txBody>
          <a:bodyPr rtlCol="0" anchor="ctr"/>
          <a:lstStyle/>
          <a:p>
            <a:pPr algn="ctr"/>
          </a:p>
        </p:txBody>
      </p:sp>
      <p:sp>
        <p:nvSpPr>
          <p:cNvPr id="21" name="TextBox 20"/>
          <p:cNvSpPr txBox="1"/>
          <p:nvPr/>
        </p:nvSpPr>
        <p:spPr>
          <a:xfrm>
            <a:off x="670560" y="4800600"/>
            <a:ext cx="26517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UNRUN</a:t>
            </a:r>
          </a:p>
        </p:txBody>
      </p:sp>
      <p:sp>
        <p:nvSpPr>
          <p:cNvPr id="22" name="TextBox 21"/>
          <p:cNvSpPr txBox="1"/>
          <p:nvPr/>
        </p:nvSpPr>
        <p:spPr>
          <a:xfrm>
            <a:off x="3566160" y="480060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ECAN/LTI, learned policy quality, production scaling and populated-state</a:t>
            </a:r>
          </a:p>
        </p:txBody>
      </p:sp>
      <p:sp>
        <p:nvSpPr>
          <p:cNvPr id="23" name="TextBox 22"/>
          <p:cNvSpPr txBox="1"/>
          <p:nvPr/>
        </p:nvSpPr>
        <p:spPr>
          <a:xfrm>
            <a:off x="3566160" y="5044440"/>
            <a:ext cx="795528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migration.</a:t>
            </a:r>
          </a:p>
        </p:txBody>
      </p:sp>
      <p:sp>
        <p:nvSpPr>
          <p:cNvPr id="24" name="Rounded Rectangle 23"/>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5" name="TextBox 24"/>
          <p:cNvSpPr txBox="1"/>
          <p:nvPr/>
        </p:nvSpPr>
        <p:spPr>
          <a:xfrm>
            <a:off x="716280" y="5905500"/>
            <a:ext cx="10744200" cy="224332"/>
          </a:xfrm>
          <a:prstGeom prst="rect">
            <a:avLst/>
          </a:prstGeom>
          <a:noFill/>
        </p:spPr>
        <p:txBody>
          <a:bodyPr wrap="none" lIns="0" rIns="0" tIns="0" bIns="0" anchor="t" anchorCtr="0">
            <a:noAutofit/>
          </a:bodyPr>
          <a:lstStyle/>
          <a:p>
            <a:pPr algn="l">
              <a:lnSpc>
                <a:spcPct val="100000"/>
              </a:lnSpc>
              <a:spcBef>
                <a:spcPts val="0"/>
              </a:spcBef>
              <a:spcAft>
                <a:spcPts val="0"/>
              </a:spcAft>
            </a:pPr>
            <a:r>
              <a:rPr sz="1380" b="1">
                <a:solidFill>
                  <a:srgbClr val="102B3F"/>
                </a:solidFill>
                <a:latin typeface="DejaVu Sans"/>
              </a:rPr>
              <a:t>M5 final tested runtime: bfb0ec8 · evidence: 3dc6c11 · module representation is not product completeness.</a:t>
            </a:r>
          </a:p>
        </p:txBody>
      </p:sp>
      <p:cxnSp>
        <p:nvCxnSpPr>
          <p:cNvPr id="26" name="Connector 25"/>
          <p:cNvCxnSpPr/>
          <p:nvPr/>
        </p:nvCxnSpPr>
        <p:spPr>
          <a:xfrm>
            <a:off x="548640" y="6393180"/>
            <a:ext cx="11094720" cy="0"/>
          </a:xfrm>
          <a:prstGeom prst="line">
            <a:avLst/>
          </a:prstGeom>
          <a:ln w="7620">
            <a:solidFill>
              <a:srgbClr val="C9D2D4"/>
            </a:solidFill>
          </a:ln>
          <a:effectLst/>
        </p:spPr>
      </p:cxnSp>
      <p:sp>
        <p:nvSpPr>
          <p:cNvPr id="27" name="TextBox 26"/>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Attention · C3 · M5 source bfb0ec8</a:t>
            </a:r>
          </a:p>
        </p:txBody>
      </p:sp>
      <p:sp>
        <p:nvSpPr>
          <p:cNvPr id="28" name="TextBox 27"/>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10 / 12</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10 / PROPOSED WORK · NOT IMPLEMENTED</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Future directions need acceptance criteria</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These are discussion options, not a committed roadmap or permission to expand the current profile.</a:t>
            </a:r>
          </a:p>
        </p:txBody>
      </p:sp>
      <p:sp>
        <p:nvSpPr>
          <p:cNvPr id="5" name="TextBox 4"/>
          <p:cNvSpPr txBox="1"/>
          <p:nvPr/>
        </p:nvSpPr>
        <p:spPr>
          <a:xfrm>
            <a:off x="670560" y="1790700"/>
            <a:ext cx="28803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DIRECTION</a:t>
            </a:r>
          </a:p>
        </p:txBody>
      </p:sp>
      <p:sp>
        <p:nvSpPr>
          <p:cNvPr id="6" name="TextBox 5"/>
          <p:cNvSpPr txBox="1"/>
          <p:nvPr/>
        </p:nvSpPr>
        <p:spPr>
          <a:xfrm>
            <a:off x="3794760" y="1790700"/>
            <a:ext cx="3870960"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PREREQUISITE / DESIGN GATE</a:t>
            </a:r>
          </a:p>
        </p:txBody>
      </p:sp>
      <p:sp>
        <p:nvSpPr>
          <p:cNvPr id="7" name="TextBox 6"/>
          <p:cNvSpPr txBox="1"/>
          <p:nvPr/>
        </p:nvSpPr>
        <p:spPr>
          <a:xfrm>
            <a:off x="7909559" y="1790700"/>
            <a:ext cx="3611879" cy="165811"/>
          </a:xfrm>
          <a:prstGeom prst="rect">
            <a:avLst/>
          </a:prstGeom>
          <a:noFill/>
        </p:spPr>
        <p:txBody>
          <a:bodyPr wrap="none" lIns="0" rIns="0" tIns="0" bIns="0" anchor="t" anchorCtr="0">
            <a:noAutofit/>
          </a:bodyPr>
          <a:lstStyle/>
          <a:p>
            <a:pPr algn="l">
              <a:lnSpc>
                <a:spcPct val="100000"/>
              </a:lnSpc>
              <a:spcBef>
                <a:spcPts val="0"/>
              </a:spcBef>
              <a:spcAft>
                <a:spcPts val="0"/>
              </a:spcAft>
            </a:pPr>
            <a:r>
              <a:rPr sz="1019" b="1">
                <a:solidFill>
                  <a:srgbClr val="536775"/>
                </a:solidFill>
                <a:latin typeface="DejaVu Sans"/>
              </a:rPr>
              <a:t>MEASURE OF SUCCESS</a:t>
            </a:r>
          </a:p>
        </p:txBody>
      </p:sp>
      <p:sp>
        <p:nvSpPr>
          <p:cNvPr id="8" name="Rounded Rectangle 7"/>
          <p:cNvSpPr/>
          <p:nvPr/>
        </p:nvSpPr>
        <p:spPr>
          <a:xfrm>
            <a:off x="548640" y="2110740"/>
            <a:ext cx="11094720" cy="1059180"/>
          </a:xfrm>
          <a:prstGeom prst="roundRect">
            <a:avLst>
              <a:gd name="adj" fmla="val 4316"/>
            </a:avLst>
          </a:prstGeom>
          <a:solidFill>
            <a:srgbClr val="FFFFFF"/>
          </a:solidFill>
          <a:ln>
            <a:noFill/>
          </a:ln>
          <a:effectLst/>
        </p:spPr>
        <p:txBody>
          <a:bodyPr rtlCol="0" anchor="ctr"/>
          <a:lstStyle/>
          <a:p>
            <a:pPr algn="ctr"/>
          </a:p>
        </p:txBody>
      </p:sp>
      <p:sp>
        <p:nvSpPr>
          <p:cNvPr id="9" name="TextBox 8"/>
          <p:cNvSpPr txBox="1"/>
          <p:nvPr/>
        </p:nvSpPr>
        <p:spPr>
          <a:xfrm>
            <a:off x="670560" y="224028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Benchmark independent</a:t>
            </a:r>
          </a:p>
        </p:txBody>
      </p:sp>
      <p:sp>
        <p:nvSpPr>
          <p:cNvPr id="10" name="TextBox 9"/>
          <p:cNvSpPr txBox="1"/>
          <p:nvPr/>
        </p:nvSpPr>
        <p:spPr>
          <a:xfrm>
            <a:off x="670560" y="248412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providers</a:t>
            </a:r>
          </a:p>
        </p:txBody>
      </p:sp>
      <p:sp>
        <p:nvSpPr>
          <p:cNvPr id="11" name="TextBox 10"/>
          <p:cNvSpPr txBox="1"/>
          <p:nvPr/>
        </p:nvSpPr>
        <p:spPr>
          <a:xfrm>
            <a:off x="3794760" y="224028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Identical logical schedule and durability</a:t>
            </a:r>
          </a:p>
        </p:txBody>
      </p:sp>
      <p:sp>
        <p:nvSpPr>
          <p:cNvPr id="12" name="TextBox 11"/>
          <p:cNvSpPr txBox="1"/>
          <p:nvPr/>
        </p:nvSpPr>
        <p:spPr>
          <a:xfrm>
            <a:off x="3794760" y="248412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semantics</a:t>
            </a:r>
          </a:p>
        </p:txBody>
      </p:sp>
      <p:sp>
        <p:nvSpPr>
          <p:cNvPr id="13" name="TextBox 12"/>
          <p:cNvSpPr txBox="1"/>
          <p:nvPr/>
        </p:nvSpPr>
        <p:spPr>
          <a:xfrm>
            <a:off x="7909559" y="22402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Performance without ranking or</a:t>
            </a:r>
          </a:p>
        </p:txBody>
      </p:sp>
      <p:sp>
        <p:nvSpPr>
          <p:cNvPr id="14" name="TextBox 13"/>
          <p:cNvSpPr txBox="1"/>
          <p:nvPr/>
        </p:nvSpPr>
        <p:spPr>
          <a:xfrm>
            <a:off x="7909559" y="248412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receipt drift</a:t>
            </a:r>
          </a:p>
        </p:txBody>
      </p:sp>
      <p:sp>
        <p:nvSpPr>
          <p:cNvPr id="15" name="Rounded Rectangle 14"/>
          <p:cNvSpPr/>
          <p:nvPr/>
        </p:nvSpPr>
        <p:spPr>
          <a:xfrm>
            <a:off x="548640" y="3208020"/>
            <a:ext cx="11094720" cy="1059180"/>
          </a:xfrm>
          <a:prstGeom prst="roundRect">
            <a:avLst>
              <a:gd name="adj" fmla="val 4316"/>
            </a:avLst>
          </a:prstGeom>
          <a:solidFill>
            <a:srgbClr val="FFFFFF"/>
          </a:solidFill>
          <a:ln>
            <a:noFill/>
          </a:ln>
          <a:effectLst/>
        </p:spPr>
        <p:txBody>
          <a:bodyPr rtlCol="0" anchor="ctr"/>
          <a:lstStyle/>
          <a:p>
            <a:pPr algn="ctr"/>
          </a:p>
        </p:txBody>
      </p:sp>
      <p:sp>
        <p:nvSpPr>
          <p:cNvPr id="16" name="TextBox 15"/>
          <p:cNvSpPr txBox="1"/>
          <p:nvPr/>
        </p:nvSpPr>
        <p:spPr>
          <a:xfrm>
            <a:off x="670560" y="333756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Evaluate ranking</a:t>
            </a:r>
          </a:p>
        </p:txBody>
      </p:sp>
      <p:sp>
        <p:nvSpPr>
          <p:cNvPr id="17" name="TextBox 16"/>
          <p:cNvSpPr txBox="1"/>
          <p:nvPr/>
        </p:nvSpPr>
        <p:spPr>
          <a:xfrm>
            <a:off x="670560" y="358140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usefulness</a:t>
            </a:r>
          </a:p>
        </p:txBody>
      </p:sp>
      <p:sp>
        <p:nvSpPr>
          <p:cNvPr id="18" name="TextBox 17"/>
          <p:cNvSpPr txBox="1"/>
          <p:nvPr/>
        </p:nvSpPr>
        <p:spPr>
          <a:xfrm>
            <a:off x="3794760" y="333756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Declared task objective and fixed</a:t>
            </a:r>
          </a:p>
        </p:txBody>
      </p:sp>
      <p:sp>
        <p:nvSpPr>
          <p:cNvPr id="19" name="TextBox 18"/>
          <p:cNvSpPr txBox="1"/>
          <p:nvPr/>
        </p:nvSpPr>
        <p:spPr>
          <a:xfrm>
            <a:off x="3794760" y="358140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inference budget</a:t>
            </a:r>
          </a:p>
        </p:txBody>
      </p:sp>
      <p:sp>
        <p:nvSpPr>
          <p:cNvPr id="20" name="TextBox 19"/>
          <p:cNvSpPr txBox="1"/>
          <p:nvPr/>
        </p:nvSpPr>
        <p:spPr>
          <a:xfrm>
            <a:off x="7909559" y="333756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Outcome quality separate from</a:t>
            </a:r>
          </a:p>
        </p:txBody>
      </p:sp>
      <p:sp>
        <p:nvSpPr>
          <p:cNvPr id="21" name="TextBox 20"/>
          <p:cNvSpPr txBox="1"/>
          <p:nvPr/>
        </p:nvSpPr>
        <p:spPr>
          <a:xfrm>
            <a:off x="7909559" y="358140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conformance</a:t>
            </a:r>
          </a:p>
        </p:txBody>
      </p:sp>
      <p:sp>
        <p:nvSpPr>
          <p:cNvPr id="22" name="Rounded Rectangle 21"/>
          <p:cNvSpPr/>
          <p:nvPr/>
        </p:nvSpPr>
        <p:spPr>
          <a:xfrm>
            <a:off x="548640" y="4305300"/>
            <a:ext cx="11094720" cy="1059180"/>
          </a:xfrm>
          <a:prstGeom prst="roundRect">
            <a:avLst>
              <a:gd name="adj" fmla="val 4316"/>
            </a:avLst>
          </a:prstGeom>
          <a:solidFill>
            <a:srgbClr val="FFFFFF"/>
          </a:solidFill>
          <a:ln>
            <a:noFill/>
          </a:ln>
          <a:effectLst/>
        </p:spPr>
        <p:txBody>
          <a:bodyPr rtlCol="0" anchor="ctr"/>
          <a:lstStyle/>
          <a:p>
            <a:pPr algn="ctr"/>
          </a:p>
        </p:txBody>
      </p:sp>
      <p:sp>
        <p:nvSpPr>
          <p:cNvPr id="23" name="TextBox 22"/>
          <p:cNvSpPr txBox="1"/>
          <p:nvPr/>
        </p:nvSpPr>
        <p:spPr>
          <a:xfrm>
            <a:off x="670560" y="4434840"/>
            <a:ext cx="28803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1">
                <a:solidFill>
                  <a:srgbClr val="102B3F"/>
                </a:solidFill>
                <a:latin typeface="DejaVu Sans"/>
              </a:rPr>
              <a:t>Qualify another policy</a:t>
            </a:r>
          </a:p>
        </p:txBody>
      </p:sp>
      <p:sp>
        <p:nvSpPr>
          <p:cNvPr id="24" name="TextBox 23"/>
          <p:cNvSpPr txBox="1"/>
          <p:nvPr/>
        </p:nvSpPr>
        <p:spPr>
          <a:xfrm>
            <a:off x="3794760" y="4434840"/>
            <a:ext cx="387096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New profile with clock/causal semantics</a:t>
            </a:r>
          </a:p>
        </p:txBody>
      </p:sp>
      <p:sp>
        <p:nvSpPr>
          <p:cNvPr id="25" name="TextBox 24"/>
          <p:cNvSpPr txBox="1"/>
          <p:nvPr/>
        </p:nvSpPr>
        <p:spPr>
          <a:xfrm>
            <a:off x="7909559" y="443484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No hidden adoption of LTI or coupled</a:t>
            </a:r>
          </a:p>
        </p:txBody>
      </p:sp>
      <p:sp>
        <p:nvSpPr>
          <p:cNvPr id="26" name="TextBox 25"/>
          <p:cNvSpPr txBox="1"/>
          <p:nvPr/>
        </p:nvSpPr>
        <p:spPr>
          <a:xfrm>
            <a:off x="7909559" y="4678680"/>
            <a:ext cx="3611879"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attention state</a:t>
            </a:r>
          </a:p>
        </p:txBody>
      </p:sp>
      <p:sp>
        <p:nvSpPr>
          <p:cNvPr id="27" name="Rounded Rectangle 26"/>
          <p:cNvSpPr/>
          <p:nvPr/>
        </p:nvSpPr>
        <p:spPr>
          <a:xfrm>
            <a:off x="548640" y="5829300"/>
            <a:ext cx="11094720" cy="403859"/>
          </a:xfrm>
          <a:prstGeom prst="roundRect">
            <a:avLst>
              <a:gd name="adj" fmla="val 15094"/>
            </a:avLst>
          </a:prstGeom>
          <a:solidFill>
            <a:srgbClr val="E7ECEB"/>
          </a:solidFill>
          <a:ln>
            <a:noFill/>
          </a:ln>
          <a:effectLst/>
        </p:spPr>
        <p:txBody>
          <a:bodyPr rtlCol="0" anchor="ctr"/>
          <a:lstStyle/>
          <a:p>
            <a:pPr algn="ctr"/>
          </a:p>
        </p:txBody>
      </p:sp>
      <p:sp>
        <p:nvSpPr>
          <p:cNvPr id="28" name="TextBox 27"/>
          <p:cNvSpPr txBox="1"/>
          <p:nvPr/>
        </p:nvSpPr>
        <p:spPr>
          <a:xfrm>
            <a:off x="716280" y="5905500"/>
            <a:ext cx="107442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1">
                <a:solidFill>
                  <a:srgbClr val="102B3F"/>
                </a:solidFill>
                <a:latin typeface="DejaVu Sans"/>
              </a:rPr>
              <a:t>Keep ownership, current authorization and explicit compatibility intact; qualify new semantics with a new profile.</a:t>
            </a:r>
          </a:p>
        </p:txBody>
      </p:sp>
      <p:cxnSp>
        <p:nvCxnSpPr>
          <p:cNvPr id="29" name="Connector 28"/>
          <p:cNvCxnSpPr/>
          <p:nvPr/>
        </p:nvCxnSpPr>
        <p:spPr>
          <a:xfrm>
            <a:off x="548640" y="6393180"/>
            <a:ext cx="11094720" cy="0"/>
          </a:xfrm>
          <a:prstGeom prst="line">
            <a:avLst/>
          </a:prstGeom>
          <a:ln w="7620">
            <a:solidFill>
              <a:srgbClr val="C9D2D4"/>
            </a:solidFill>
          </a:ln>
          <a:effectLst/>
        </p:spPr>
      </p:cxnSp>
      <p:sp>
        <p:nvSpPr>
          <p:cNvPr id="30" name="TextBox 29"/>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Attention · C3 · M5 source bfb0ec8</a:t>
            </a:r>
          </a:p>
        </p:txBody>
      </p:sp>
      <p:sp>
        <p:nvSpPr>
          <p:cNvPr id="31" name="TextBox 30"/>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11 / 12</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4F2EB"/>
        </a:solidFill>
        <a:effectLst/>
      </p:bgPr>
    </p:bg>
    <p:spTree>
      <p:nvGrpSpPr>
        <p:cNvPr id="1" name=""/>
        <p:cNvGrpSpPr/>
        <p:nvPr/>
      </p:nvGrpSpPr>
      <p:grpSpPr/>
      <p:sp>
        <p:nvSpPr>
          <p:cNvPr id="2" name="TextBox 1"/>
          <p:cNvSpPr txBox="1"/>
          <p:nvPr/>
        </p:nvSpPr>
        <p:spPr>
          <a:xfrm>
            <a:off x="548640" y="327660"/>
            <a:ext cx="108204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1">
                <a:solidFill>
                  <a:srgbClr val="007C78"/>
                </a:solidFill>
                <a:latin typeface="DejaVu Sans"/>
              </a:rPr>
              <a:t>11 / SOURCES AND TAKEAWAY</a:t>
            </a:r>
          </a:p>
        </p:txBody>
      </p:sp>
      <p:sp>
        <p:nvSpPr>
          <p:cNvPr id="3" name="TextBox 2"/>
          <p:cNvSpPr txBox="1"/>
          <p:nvPr/>
        </p:nvSpPr>
        <p:spPr>
          <a:xfrm>
            <a:off x="533400" y="723900"/>
            <a:ext cx="11125200" cy="507187"/>
          </a:xfrm>
          <a:prstGeom prst="rect">
            <a:avLst/>
          </a:prstGeom>
          <a:noFill/>
        </p:spPr>
        <p:txBody>
          <a:bodyPr wrap="none" lIns="0" rIns="0" tIns="0" bIns="0" anchor="t" anchorCtr="0">
            <a:noAutofit/>
          </a:bodyPr>
          <a:lstStyle/>
          <a:p>
            <a:pPr algn="l">
              <a:lnSpc>
                <a:spcPct val="100000"/>
              </a:lnSpc>
              <a:spcBef>
                <a:spcPts val="0"/>
              </a:spcBef>
              <a:spcAft>
                <a:spcPts val="0"/>
              </a:spcAft>
            </a:pPr>
            <a:r>
              <a:rPr sz="3120" b="1">
                <a:solidFill>
                  <a:srgbClr val="102B3F"/>
                </a:solidFill>
                <a:latin typeface="DejaVu Sans"/>
              </a:rPr>
              <a:t>Evidence you can inspect and reproduce</a:t>
            </a:r>
          </a:p>
        </p:txBody>
      </p:sp>
      <p:sp>
        <p:nvSpPr>
          <p:cNvPr id="4" name="TextBox 3"/>
          <p:cNvSpPr txBox="1"/>
          <p:nvPr/>
        </p:nvSpPr>
        <p:spPr>
          <a:xfrm>
            <a:off x="556260" y="1257300"/>
            <a:ext cx="110490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Read the exact code, contracts and recorded run before treating a claim as a guarantee.</a:t>
            </a:r>
          </a:p>
        </p:txBody>
      </p:sp>
      <p:sp>
        <p:nvSpPr>
          <p:cNvPr id="5" name="Rounded Rectangle 4"/>
          <p:cNvSpPr/>
          <p:nvPr/>
        </p:nvSpPr>
        <p:spPr>
          <a:xfrm>
            <a:off x="548640" y="1783080"/>
            <a:ext cx="11094720" cy="853440"/>
          </a:xfrm>
          <a:prstGeom prst="roundRect">
            <a:avLst>
              <a:gd name="adj" fmla="val 11607"/>
            </a:avLst>
          </a:prstGeom>
          <a:solidFill>
            <a:srgbClr val="E4EBF5"/>
          </a:solidFill>
          <a:ln w="7620">
            <a:solidFill>
              <a:srgbClr val="315E9C"/>
            </a:solidFill>
          </a:ln>
          <a:effectLst/>
        </p:spPr>
        <p:txBody>
          <a:bodyPr rtlCol="0" anchor="ctr"/>
          <a:lstStyle/>
          <a:p>
            <a:pPr algn="ctr"/>
          </a:p>
        </p:txBody>
      </p:sp>
      <p:sp>
        <p:nvSpPr>
          <p:cNvPr id="6" name="TextBox 5"/>
          <p:cNvSpPr txBox="1"/>
          <p:nvPr/>
        </p:nvSpPr>
        <p:spPr>
          <a:xfrm>
            <a:off x="716280" y="19507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1">
                <a:solidFill>
                  <a:srgbClr val="315E9C"/>
                </a:solidFill>
                <a:latin typeface="DejaVu Sans"/>
              </a:rPr>
              <a:t>Takeaway</a:t>
            </a:r>
          </a:p>
        </p:txBody>
      </p:sp>
      <p:sp>
        <p:nvSpPr>
          <p:cNvPr id="7" name="TextBox 6"/>
          <p:cNvSpPr txBox="1"/>
          <p:nvPr/>
        </p:nvSpPr>
        <p:spPr>
          <a:xfrm>
            <a:off x="716280" y="2300020"/>
            <a:ext cx="10759440" cy="273100"/>
          </a:xfrm>
          <a:prstGeom prst="rect">
            <a:avLst/>
          </a:prstGeom>
          <a:noFill/>
        </p:spPr>
        <p:txBody>
          <a:bodyPr wrap="none" lIns="0" rIns="0" tIns="0" bIns="0" anchor="t" anchorCtr="0">
            <a:noAutofit/>
          </a:bodyPr>
          <a:lstStyle/>
          <a:p>
            <a:pPr algn="l">
              <a:lnSpc>
                <a:spcPct val="100000"/>
              </a:lnSpc>
              <a:spcBef>
                <a:spcPts val="0"/>
              </a:spcBef>
              <a:spcAft>
                <a:spcPts val="0"/>
              </a:spcAft>
            </a:pPr>
            <a:r>
              <a:rPr sz="1680" b="0">
                <a:solidFill>
                  <a:srgbClr val="536775"/>
                </a:solidFill>
                <a:latin typeface="DejaVu Sans"/>
              </a:rPr>
              <a:t>Priority selects work; causal receipts prevent repeated reward.</a:t>
            </a:r>
          </a:p>
        </p:txBody>
      </p:sp>
      <p:sp>
        <p:nvSpPr>
          <p:cNvPr id="8" name="TextBox 7"/>
          <p:cNvSpPr txBox="1"/>
          <p:nvPr/>
        </p:nvSpPr>
        <p:spPr>
          <a:xfrm>
            <a:off x="609600" y="2819400"/>
            <a:ext cx="10972800" cy="175564"/>
          </a:xfrm>
          <a:prstGeom prst="rect">
            <a:avLst/>
          </a:prstGeom>
          <a:noFill/>
        </p:spPr>
        <p:txBody>
          <a:bodyPr wrap="none" lIns="0" rIns="0" tIns="0" bIns="0" anchor="t" anchorCtr="0">
            <a:noAutofit/>
          </a:bodyPr>
          <a:lstStyle/>
          <a:p>
            <a:pPr algn="l">
              <a:lnSpc>
                <a:spcPct val="100000"/>
              </a:lnSpc>
              <a:spcBef>
                <a:spcPts val="0"/>
              </a:spcBef>
              <a:spcAft>
                <a:spcPts val="0"/>
              </a:spcAft>
            </a:pPr>
            <a:r>
              <a:rPr sz="1080" b="1">
                <a:solidFill>
                  <a:srgbClr val="536775"/>
                </a:solidFill>
                <a:latin typeface="DejaVu Sans"/>
              </a:rPr>
              <a:t>SUPPORTED REPRODUCTION ENTRYPOINT · PREREQUISITES REQUIRED</a:t>
            </a:r>
          </a:p>
        </p:txBody>
      </p:sp>
      <p:sp>
        <p:nvSpPr>
          <p:cNvPr id="9" name="TextBox 8"/>
          <p:cNvSpPr txBox="1"/>
          <p:nvPr/>
        </p:nvSpPr>
        <p:spPr>
          <a:xfrm>
            <a:off x="609600" y="3124200"/>
            <a:ext cx="10934700" cy="234086"/>
          </a:xfrm>
          <a:prstGeom prst="rect">
            <a:avLst/>
          </a:prstGeom>
          <a:noFill/>
        </p:spPr>
        <p:txBody>
          <a:bodyPr wrap="none" lIns="0" rIns="0" tIns="0" bIns="0" anchor="t" anchorCtr="0">
            <a:noAutofit/>
          </a:bodyPr>
          <a:lstStyle/>
          <a:p>
            <a:pPr algn="l">
              <a:lnSpc>
                <a:spcPct val="100000"/>
              </a:lnSpc>
              <a:spcBef>
                <a:spcPts val="0"/>
              </a:spcBef>
              <a:spcAft>
                <a:spcPts val="0"/>
              </a:spcAft>
            </a:pPr>
            <a:r>
              <a:rPr sz="1439" b="0">
                <a:solidFill>
                  <a:srgbClr val="102B3F"/>
                </a:solidFill>
                <a:latin typeface="DejaVu Sans Mono"/>
              </a:rPr>
              <a:t>uv run --python 3.11 --locked python scripts/verify_m3_1.py &lt;env&gt; --output &lt;fresh&gt;</a:t>
            </a:r>
          </a:p>
        </p:txBody>
      </p:sp>
      <p:sp>
        <p:nvSpPr>
          <p:cNvPr id="10" name="TextBox 9"/>
          <p:cNvSpPr txBox="1"/>
          <p:nvPr/>
        </p:nvSpPr>
        <p:spPr>
          <a:xfrm>
            <a:off x="609600" y="372617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Uses fresh closure-profile stores and both providers. Historical comparison retains its own source label; M5 reruns</a:t>
            </a:r>
          </a:p>
        </p:txBody>
      </p:sp>
      <p:sp>
        <p:nvSpPr>
          <p:cNvPr id="11" name="TextBox 10"/>
          <p:cNvSpPr txBox="1"/>
          <p:nvPr/>
        </p:nvSpPr>
        <p:spPr>
          <a:xfrm>
            <a:off x="609600" y="3970019"/>
            <a:ext cx="10896600" cy="243840"/>
          </a:xfrm>
          <a:prstGeom prst="rect">
            <a:avLst/>
          </a:prstGeom>
          <a:noFill/>
        </p:spPr>
        <p:txBody>
          <a:bodyPr wrap="none" lIns="0" rIns="0" tIns="0" bIns="0" anchor="t" anchorCtr="0">
            <a:noAutofit/>
          </a:bodyPr>
          <a:lstStyle/>
          <a:p>
            <a:pPr algn="l">
              <a:lnSpc>
                <a:spcPct val="100000"/>
              </a:lnSpc>
              <a:spcBef>
                <a:spcPts val="0"/>
              </a:spcBef>
              <a:spcAft>
                <a:spcPts val="0"/>
              </a:spcAft>
            </a:pPr>
            <a:r>
              <a:rPr sz="1500" b="0">
                <a:solidFill>
                  <a:srgbClr val="536775"/>
                </a:solidFill>
                <a:latin typeface="DejaVu Sans"/>
              </a:rPr>
              <a:t>legacy behavior without adding attention work.</a:t>
            </a:r>
          </a:p>
        </p:txBody>
      </p:sp>
      <p:sp>
        <p:nvSpPr>
          <p:cNvPr id="12" name="TextBox 11"/>
          <p:cNvSpPr txBox="1"/>
          <p:nvPr/>
        </p:nvSpPr>
        <p:spPr>
          <a:xfrm>
            <a:off x="609600" y="471678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fusion/attention.py</a:t>
            </a:r>
          </a:p>
        </p:txBody>
      </p:sp>
      <p:sp>
        <p:nvSpPr>
          <p:cNvPr id="13" name="TextBox 12"/>
          <p:cNvSpPr txBox="1"/>
          <p:nvPr/>
        </p:nvSpPr>
        <p:spPr>
          <a:xfrm>
            <a:off x="609600" y="496824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fusion/attention_contracts.py</a:t>
            </a:r>
          </a:p>
        </p:txBody>
      </p:sp>
      <p:sp>
        <p:nvSpPr>
          <p:cNvPr id="14" name="TextBox 13"/>
          <p:cNvSpPr txBox="1"/>
          <p:nvPr/>
        </p:nvSpPr>
        <p:spPr>
          <a:xfrm>
            <a:off x="609600" y="521970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fusion/adapters/fixture_attention.py</a:t>
            </a:r>
          </a:p>
        </p:txBody>
      </p:sp>
      <p:sp>
        <p:nvSpPr>
          <p:cNvPr id="15" name="TextBox 14"/>
          <p:cNvSpPr txBox="1"/>
          <p:nvPr/>
        </p:nvSpPr>
        <p:spPr>
          <a:xfrm>
            <a:off x="609600" y="5471160"/>
            <a:ext cx="109347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315E9C"/>
                </a:solidFill>
                <a:latin typeface="DejaVu Sans Mono"/>
              </a:rPr>
              <a:t>tests/test_m3_1_attention.py</a:t>
            </a:r>
          </a:p>
        </p:txBody>
      </p:sp>
      <p:sp>
        <p:nvSpPr>
          <p:cNvPr id="16" name="TextBox 15"/>
          <p:cNvSpPr txBox="1"/>
          <p:nvPr/>
        </p:nvSpPr>
        <p:spPr>
          <a:xfrm>
            <a:off x="609600" y="5867400"/>
            <a:ext cx="10896600" cy="185318"/>
          </a:xfrm>
          <a:prstGeom prst="rect">
            <a:avLst/>
          </a:prstGeom>
          <a:noFill/>
        </p:spPr>
        <p:txBody>
          <a:bodyPr wrap="none" lIns="0" rIns="0" tIns="0" bIns="0" anchor="t" anchorCtr="0">
            <a:noAutofit/>
          </a:bodyPr>
          <a:lstStyle/>
          <a:p>
            <a:pPr algn="l">
              <a:lnSpc>
                <a:spcPct val="100000"/>
              </a:lnSpc>
              <a:spcBef>
                <a:spcPts val="0"/>
              </a:spcBef>
              <a:spcAft>
                <a:spcPts val="0"/>
              </a:spcAft>
            </a:pPr>
            <a:r>
              <a:rPr sz="1140" b="0">
                <a:solidFill>
                  <a:srgbClr val="536775"/>
                </a:solidFill>
                <a:latin typeface="DejaVu Sans"/>
              </a:rPr>
              <a:t>Source 494df69a1ac401c3d3b2cf79dbfde07f74b5e277 · all citations and full notes accompany this deck.</a:t>
            </a:r>
          </a:p>
        </p:txBody>
      </p:sp>
      <p:cxnSp>
        <p:nvCxnSpPr>
          <p:cNvPr id="17" name="Connector 16"/>
          <p:cNvCxnSpPr/>
          <p:nvPr/>
        </p:nvCxnSpPr>
        <p:spPr>
          <a:xfrm>
            <a:off x="548640" y="6393180"/>
            <a:ext cx="11094720" cy="0"/>
          </a:xfrm>
          <a:prstGeom prst="line">
            <a:avLst/>
          </a:prstGeom>
          <a:ln w="7620">
            <a:solidFill>
              <a:srgbClr val="C9D2D4"/>
            </a:solidFill>
          </a:ln>
          <a:effectLst/>
        </p:spPr>
      </p:cxnSp>
      <p:sp>
        <p:nvSpPr>
          <p:cNvPr id="18" name="TextBox 17"/>
          <p:cNvSpPr txBox="1"/>
          <p:nvPr/>
        </p:nvSpPr>
        <p:spPr>
          <a:xfrm>
            <a:off x="548640" y="6499859"/>
            <a:ext cx="9906000" cy="146304"/>
          </a:xfrm>
          <a:prstGeom prst="rect">
            <a:avLst/>
          </a:prstGeom>
          <a:noFill/>
        </p:spPr>
        <p:txBody>
          <a:bodyPr wrap="none" lIns="0" rIns="0" tIns="0" bIns="0" anchor="t" anchorCtr="0">
            <a:noAutofit/>
          </a:bodyPr>
          <a:lstStyle/>
          <a:p>
            <a:pPr algn="l">
              <a:lnSpc>
                <a:spcPct val="100000"/>
              </a:lnSpc>
              <a:spcBef>
                <a:spcPts val="0"/>
              </a:spcBef>
              <a:spcAft>
                <a:spcPts val="0"/>
              </a:spcAft>
            </a:pPr>
            <a:r>
              <a:rPr sz="900" b="0">
                <a:solidFill>
                  <a:srgbClr val="536775"/>
                </a:solidFill>
                <a:latin typeface="DejaVu Sans"/>
              </a:rPr>
              <a:t>OMEGA × ASI / THROUGH M5 / Attention · C3 · M5 source bfb0ec8</a:t>
            </a:r>
          </a:p>
        </p:txBody>
      </p:sp>
      <p:sp>
        <p:nvSpPr>
          <p:cNvPr id="19" name="TextBox 18"/>
          <p:cNvSpPr txBox="1"/>
          <p:nvPr/>
        </p:nvSpPr>
        <p:spPr>
          <a:xfrm>
            <a:off x="10744200" y="6469380"/>
            <a:ext cx="914400" cy="204825"/>
          </a:xfrm>
          <a:prstGeom prst="rect">
            <a:avLst/>
          </a:prstGeom>
          <a:noFill/>
        </p:spPr>
        <p:txBody>
          <a:bodyPr wrap="none" lIns="0" rIns="0" tIns="0" bIns="0" anchor="t" anchorCtr="0">
            <a:noAutofit/>
          </a:bodyPr>
          <a:lstStyle/>
          <a:p>
            <a:pPr algn="l">
              <a:lnSpc>
                <a:spcPct val="100000"/>
              </a:lnSpc>
              <a:spcBef>
                <a:spcPts val="0"/>
              </a:spcBef>
              <a:spcAft>
                <a:spcPts val="0"/>
              </a:spcAft>
            </a:pPr>
            <a:r>
              <a:rPr sz="1260" b="0">
                <a:solidFill>
                  <a:srgbClr val="536775"/>
                </a:solidFill>
                <a:latin typeface="DejaVu Sans Mono"/>
              </a:rPr>
              <a:t>12 / 12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Omega × ASI — Attention · C3</dc:title>
  <dc:subject>Own bounded integer short-term importance, explicit logical time and causal feedback receipts/retirement.</dc:subject>
  <dc:creator>Omega × ASI module-interface project</dc:creator>
  <cp:keywords>Omega, ASI, M5, ELI16, Attention · C3</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