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Select from an immutable explicit workset, reserve attempts, request admission and track feedback closure. A bounded native action needs durable limits and honest completion status. Restart must not turn one authorized step into unbounded evaluation. Do not treat the analogy as an additional experiment. This is a standalone talk about one responsibility, not a claim that every module is a separate service or repository.</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InferenceControl · C4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C4 does not call PLNKernel directly and performs no truth arithmetic. C2 invokes the kernel and owns admission. C4 does not query the M5 Search module or discover tasks.</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does not call PLNKernel directly and performs no truth arithmetic. C2 invokes the kernel and owns admission. C4 does not query the M5 Search module or discover tasks. The left node is a caller or caller class; the right nodes distinguish foreign ports, pure helpers, local state and runtime internals. There is no implied shared transaction. Admission belongs to C2; causal credit belongs to C3.</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Execution journal: Selections, candidate progress, physical-attempt reservations and immutable result. Closure journal: Bounded feedback reconciliation progress, separate from execution counters. Beliefs and STI: Admission belongs to C2; causal credit belongs to C3. General search/scheduling: No agenda expansion, continuous worker or automatic retry scheduler. Explicit compatibility: bounded-grounded-inference/1; fresh M3.1 local 2.1.0 closure extension. Limits: Finite worksets and journals; ≤16 resolutions/reconcile call; absolute deadlines never renewed.</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step: Run one immutable explicit workset; Budget, deadline and selections bind the intent. readProgress: Expose execution and closure independently; Terminal execution may have pending closure. reconcile: Resolve already-recorded feedback intents; No new inference, retiming, refunds or deadline reset.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Freeze selection: Read eligible tasks and exact premise snapshots. 2. Reserve: Persist one physical attempt before evaluation. 3. Request C2: C2 invokes guarded PLN and decides admission. 4. Close separately: Save feedback outcome; later reconcile if needed. Evidence classification: ACTUAL native Hive inference · generated workset; real C2/PLN/DeTTa. Do not infer performance, broad production readiness or extra runtime integrations from this example.</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Durable budgets: Candidate/attempt/generation limits and absolute deadline survive restart. Physical reservation: A crash may consume a slot without a conclusion; no refund. Frozen inputs: No silent latest-premise substitution or workset expansion. Honest progress: Later closure never rewrites the original execution result. The supporting tests and runtime evidence are in the linked sources; this slide does not claim a formal proof or a production security audit.</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Crash after reservation: Slot remains spent, even if native evaluation never completes. Conservative bounded-work guarantee. Admission saved; reply lost: Read the recorded C2 decision and continue original intent. Duplicate-safe support admission. Feedback application reply lost: Resolve at C3; preserve original result and budget. No new native formula calls.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2 / 1 Candidates / attempt in comparison: One admission and one feedback credit. 0 New native calls during reconciliation: Recorded M3.1 observation. 1–16 Tasks in explicit workset: Contract bound, not search depth. The historical four-case comparison records one full step per configuration, not a latency distribution. No sustained scheduling, fairness or general inference benchmark exists. Proposed: fixed worksets and native runtime; vary budgets, refused candidates and crash points. Report completion/abandonment, physical evaluations and p50/p95 step/closure latency. No new benchmark is executed for this presentation. Do not compare overlapping suite times or use a one-run workflow measurement as a latency percentile.</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Persistent controller, actual authenticated Hive action and native guarded PLN through C2. Fixture: Generated tasks/premises, initial priority preference and injected kill positions. Blocked or unsupported: No required supported gate blocked. Eligible/unavailable feedback can remain pending by design. Unrun: General inference search, scheduler fairness, LTI, distributed recovery and old-state migration. All required M5 gates passed in the recorded final run, including legacy M1–M4 behavior; this presentation does not rerun those integrations. Human maintainers remain unassigned.</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budget utility requires Fixed tasks, declared objective and failure schedule; success means Useful completions per physical evaluation. Improve closure observability requires Read-only authorized receipt tooling; success means Separate execution, evidence and feedback progress. Specify orchestration separately requires Explicit ownership and retry policy before automation; success means No scheduler hidden inside reconciliation. No new cognition, scheduler, migration or chain capability is implemented by this series. Any changed numerical semantics, placement or replay lifetime requires separate design and verification rather than a presentation claim.</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Bounded work can finish honestly without finding a conclusion. The reproduction entrypoint is uv run --python 3.11 --locked python scripts/verify_m3_1.py &lt;env&gt; --output &lt;fresh&gt;. Actual Hive cases require pinned native providers and private operator configuration. Fresh closure journals preserve explicit compatibility; no live migration.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[inference.py](https://github.com/machieke/fusion-module-interfaces/blob/494df69a1ac401c3d3b2cf79dbfde07f74b5e277/fusion/inference.py), [deadlines.py](https://github.com/machieke/fusion-module-interfaces/blob/494df69a1ac401c3d3b2cf79dbfde07f74b5e277/fusion/deadlines.py), [cognition_contracts.py](https://github.com/machieke/fusion-module-interfaces/blob/494df69a1ac401c3d3b2cf79dbfde07f74b5e277/fusion/cognition_contracts.py), [program.py](https://github.com/machieke/fusion-module-interfaces/blob/494df69a1ac401c3d3b2cf79dbfde07f74b5e277/integration/hive/inference_program/program.py),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InferenceControl · C4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InferenceControl · C4</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Spend work deliberately.</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Keep the budget spent after a crash.</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limited exam-attempt card: restarting the application does not give back an attempt</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already reserved.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A bounded native action needs durable limits and honest completion status. Restart</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must not turn one authorized step into unbounded evaluation.</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InferenceControl · C4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315E9C"/>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Select from an immutable explicit workset, reserve attempts, request admission and track feedback</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closure.</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Authenticated</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native</a:t>
            </a:r>
          </a:p>
        </p:txBody>
      </p:sp>
      <p:sp>
        <p:nvSpPr>
          <p:cNvPr id="8" name="TextBox 7"/>
          <p:cNvSpPr txBox="1"/>
          <p:nvPr/>
        </p:nvSpPr>
        <p:spPr>
          <a:xfrm>
            <a:off x="716280" y="3186988"/>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fusion-inference</a:t>
            </a:r>
          </a:p>
        </p:txBody>
      </p:sp>
      <p:sp>
        <p:nvSpPr>
          <p:cNvPr id="9" name="TextBox 8"/>
          <p:cNvSpPr txBox="1"/>
          <p:nvPr/>
        </p:nvSpPr>
        <p:spPr>
          <a:xfrm>
            <a:off x="716280" y="354604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step · readProgress ·</a:t>
            </a:r>
          </a:p>
        </p:txBody>
      </p:sp>
      <p:sp>
        <p:nvSpPr>
          <p:cNvPr id="10" name="TextBox 9"/>
          <p:cNvSpPr txBox="1"/>
          <p:nvPr/>
        </p:nvSpPr>
        <p:spPr>
          <a:xfrm>
            <a:off x="716280" y="378988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reconcile</a:t>
            </a:r>
          </a:p>
        </p:txBody>
      </p:sp>
      <p:sp>
        <p:nvSpPr>
          <p:cNvPr id="11" name="Rounded Rectangle 10"/>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2" name="TextBox 11"/>
          <p:cNvSpPr txBox="1"/>
          <p:nvPr/>
        </p:nvSpPr>
        <p:spPr>
          <a:xfrm>
            <a:off x="4396740" y="2621280"/>
            <a:ext cx="290322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InferenceControl · C4</a:t>
            </a:r>
          </a:p>
        </p:txBody>
      </p:sp>
      <p:sp>
        <p:nvSpPr>
          <p:cNvPr id="13" name="TextBox 12"/>
          <p:cNvSpPr txBox="1"/>
          <p:nvPr/>
        </p:nvSpPr>
        <p:spPr>
          <a:xfrm>
            <a:off x="4396740" y="2999841"/>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Select from an immutable explicit</a:t>
            </a:r>
          </a:p>
        </p:txBody>
      </p:sp>
      <p:sp>
        <p:nvSpPr>
          <p:cNvPr id="14" name="TextBox 13"/>
          <p:cNvSpPr txBox="1"/>
          <p:nvPr/>
        </p:nvSpPr>
        <p:spPr>
          <a:xfrm>
            <a:off x="4396740" y="3204667"/>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workset, reserve attempts, request</a:t>
            </a:r>
          </a:p>
        </p:txBody>
      </p:sp>
      <p:sp>
        <p:nvSpPr>
          <p:cNvPr id="15" name="TextBox 14"/>
          <p:cNvSpPr txBox="1"/>
          <p:nvPr/>
        </p:nvSpPr>
        <p:spPr>
          <a:xfrm>
            <a:off x="4396740" y="3409492"/>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admission and track feedback</a:t>
            </a:r>
          </a:p>
        </p:txBody>
      </p:sp>
      <p:sp>
        <p:nvSpPr>
          <p:cNvPr id="16" name="TextBox 15"/>
          <p:cNvSpPr txBox="1"/>
          <p:nvPr/>
        </p:nvSpPr>
        <p:spPr>
          <a:xfrm>
            <a:off x="4396740" y="3614318"/>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closure.</a:t>
            </a:r>
          </a:p>
        </p:txBody>
      </p:sp>
      <p:cxnSp>
        <p:nvCxnSpPr>
          <p:cNvPr id="17" name="Connector 16"/>
          <p:cNvCxnSpPr/>
          <p:nvPr/>
        </p:nvCxnSpPr>
        <p:spPr>
          <a:xfrm>
            <a:off x="3406140" y="3284219"/>
            <a:ext cx="822960" cy="0"/>
          </a:xfrm>
          <a:prstGeom prst="line">
            <a:avLst/>
          </a:prstGeom>
          <a:ln w="15240">
            <a:solidFill>
              <a:srgbClr val="315E9C"/>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Rounded Rectangle 18"/>
          <p:cNvSpPr/>
          <p:nvPr/>
        </p:nvSpPr>
        <p:spPr>
          <a:xfrm>
            <a:off x="8404860" y="1661159"/>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0" name="TextBox 19"/>
          <p:cNvSpPr txBox="1"/>
          <p:nvPr/>
        </p:nvSpPr>
        <p:spPr>
          <a:xfrm>
            <a:off x="8572500" y="182880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AtomStorage</a:t>
            </a:r>
          </a:p>
        </p:txBody>
      </p:sp>
      <p:sp>
        <p:nvSpPr>
          <p:cNvPr id="21" name="TextBox 20"/>
          <p:cNvSpPr txBox="1"/>
          <p:nvPr/>
        </p:nvSpPr>
        <p:spPr>
          <a:xfrm>
            <a:off x="8572500" y="216834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Read exact workset and grounded</a:t>
            </a:r>
          </a:p>
        </p:txBody>
      </p:sp>
      <p:sp>
        <p:nvSpPr>
          <p:cNvPr id="22" name="TextBox 21"/>
          <p:cNvSpPr txBox="1"/>
          <p:nvPr/>
        </p:nvSpPr>
        <p:spPr>
          <a:xfrm>
            <a:off x="8572500" y="238292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tasks</a:t>
            </a:r>
          </a:p>
        </p:txBody>
      </p:sp>
      <p:cxnSp>
        <p:nvCxnSpPr>
          <p:cNvPr id="23" name="Connector 22"/>
          <p:cNvCxnSpPr/>
          <p:nvPr/>
        </p:nvCxnSpPr>
        <p:spPr>
          <a:xfrm>
            <a:off x="7467600" y="3284219"/>
            <a:ext cx="426720" cy="0"/>
          </a:xfrm>
          <a:prstGeom prst="line">
            <a:avLst/>
          </a:prstGeom>
          <a:ln w="15240">
            <a:solidFill>
              <a:srgbClr val="315E9C"/>
            </a:solidFill>
          </a:ln>
          <a:effectLst/>
        </p:spPr>
      </p:cxnSp>
      <p:cxnSp>
        <p:nvCxnSpPr>
          <p:cNvPr id="24" name="Connector 23"/>
          <p:cNvCxnSpPr/>
          <p:nvPr/>
        </p:nvCxnSpPr>
        <p:spPr>
          <a:xfrm flipV="1">
            <a:off x="7894320" y="2164080"/>
            <a:ext cx="0" cy="1120139"/>
          </a:xfrm>
          <a:prstGeom prst="line">
            <a:avLst/>
          </a:prstGeom>
          <a:ln w="15240">
            <a:solidFill>
              <a:srgbClr val="315E9C"/>
            </a:solidFill>
          </a:ln>
          <a:effectLst/>
        </p:spPr>
      </p:cxnSp>
      <p:cxnSp>
        <p:nvCxnSpPr>
          <p:cNvPr id="25" name="Connector 24"/>
          <p:cNvCxnSpPr/>
          <p:nvPr/>
        </p:nvCxnSpPr>
        <p:spPr>
          <a:xfrm>
            <a:off x="7894320" y="2164080"/>
            <a:ext cx="510540" cy="0"/>
          </a:xfrm>
          <a:prstGeom prst="line">
            <a:avLst/>
          </a:prstGeom>
          <a:ln w="15240">
            <a:solidFill>
              <a:srgbClr val="315E9C"/>
            </a:solidFill>
          </a:ln>
          <a:effectLst/>
        </p:spPr>
      </p:cxnSp>
      <p:sp>
        <p:nvSpPr>
          <p:cNvPr id="26" name="Freeform 25"/>
          <p:cNvSpPr/>
          <p:nvPr/>
        </p:nvSpPr>
        <p:spPr>
          <a:xfrm>
            <a:off x="8305800" y="212598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7" name="Rounded Rectangle 26"/>
          <p:cNvSpPr/>
          <p:nvPr/>
        </p:nvSpPr>
        <p:spPr>
          <a:xfrm>
            <a:off x="8404860" y="27051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8" name="TextBox 27"/>
          <p:cNvSpPr txBox="1"/>
          <p:nvPr/>
        </p:nvSpPr>
        <p:spPr>
          <a:xfrm>
            <a:off x="8572500" y="28727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Attention</a:t>
            </a:r>
          </a:p>
        </p:txBody>
      </p:sp>
      <p:sp>
        <p:nvSpPr>
          <p:cNvPr id="29" name="TextBox 28"/>
          <p:cNvSpPr txBox="1"/>
          <p:nvPr/>
        </p:nvSpPr>
        <p:spPr>
          <a:xfrm>
            <a:off x="8572500" y="32122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Select, stimulate and</a:t>
            </a:r>
          </a:p>
        </p:txBody>
      </p:sp>
      <p:sp>
        <p:nvSpPr>
          <p:cNvPr id="30" name="TextBox 29"/>
          <p:cNvSpPr txBox="1"/>
          <p:nvPr/>
        </p:nvSpPr>
        <p:spPr>
          <a:xfrm>
            <a:off x="8572500" y="34268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submit/resolve feedback</a:t>
            </a:r>
          </a:p>
        </p:txBody>
      </p:sp>
      <p:cxnSp>
        <p:nvCxnSpPr>
          <p:cNvPr id="31" name="Connector 30"/>
          <p:cNvCxnSpPr/>
          <p:nvPr/>
        </p:nvCxnSpPr>
        <p:spPr>
          <a:xfrm>
            <a:off x="7467600" y="3284219"/>
            <a:ext cx="426720" cy="0"/>
          </a:xfrm>
          <a:prstGeom prst="line">
            <a:avLst/>
          </a:prstGeom>
          <a:ln w="15240">
            <a:solidFill>
              <a:srgbClr val="315E9C"/>
            </a:solidFill>
          </a:ln>
          <a:effectLst/>
        </p:spPr>
      </p:cxnSp>
      <p:cxnSp>
        <p:nvCxnSpPr>
          <p:cNvPr id="32" name="Connector 31"/>
          <p:cNvCxnSpPr/>
          <p:nvPr/>
        </p:nvCxnSpPr>
        <p:spPr>
          <a:xfrm flipV="1">
            <a:off x="7894320" y="3208020"/>
            <a:ext cx="0" cy="76199"/>
          </a:xfrm>
          <a:prstGeom prst="line">
            <a:avLst/>
          </a:prstGeom>
          <a:ln w="15240">
            <a:solidFill>
              <a:srgbClr val="315E9C"/>
            </a:solidFill>
          </a:ln>
          <a:effectLst/>
        </p:spPr>
      </p:cxnSp>
      <p:cxnSp>
        <p:nvCxnSpPr>
          <p:cNvPr id="33" name="Connector 32"/>
          <p:cNvCxnSpPr/>
          <p:nvPr/>
        </p:nvCxnSpPr>
        <p:spPr>
          <a:xfrm>
            <a:off x="7894320" y="3208020"/>
            <a:ext cx="510540" cy="0"/>
          </a:xfrm>
          <a:prstGeom prst="line">
            <a:avLst/>
          </a:prstGeom>
          <a:ln w="15240">
            <a:solidFill>
              <a:srgbClr val="315E9C"/>
            </a:solidFill>
          </a:ln>
          <a:effectLst/>
        </p:spPr>
      </p:cxnSp>
      <p:sp>
        <p:nvSpPr>
          <p:cNvPr id="34" name="Freeform 33"/>
          <p:cNvSpPr/>
          <p:nvPr/>
        </p:nvSpPr>
        <p:spPr>
          <a:xfrm>
            <a:off x="8305800" y="31699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5" name="Rounded Rectangle 34"/>
          <p:cNvSpPr/>
          <p:nvPr/>
        </p:nvSpPr>
        <p:spPr>
          <a:xfrm>
            <a:off x="8404860" y="37490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6" name="TextBox 35"/>
          <p:cNvSpPr txBox="1"/>
          <p:nvPr/>
        </p:nvSpPr>
        <p:spPr>
          <a:xfrm>
            <a:off x="8572500" y="39166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DerivedBeliefRevision</a:t>
            </a:r>
          </a:p>
        </p:txBody>
      </p:sp>
      <p:sp>
        <p:nvSpPr>
          <p:cNvPr id="37" name="TextBox 36"/>
          <p:cNvSpPr txBox="1"/>
          <p:nvPr/>
        </p:nvSpPr>
        <p:spPr>
          <a:xfrm>
            <a:off x="8572500" y="425622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Read exact premises; submit/read</a:t>
            </a:r>
          </a:p>
        </p:txBody>
      </p:sp>
      <p:sp>
        <p:nvSpPr>
          <p:cNvPr id="38" name="TextBox 37"/>
          <p:cNvSpPr txBox="1"/>
          <p:nvPr/>
        </p:nvSpPr>
        <p:spPr>
          <a:xfrm>
            <a:off x="8572500" y="447080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derivation</a:t>
            </a:r>
          </a:p>
        </p:txBody>
      </p:sp>
      <p:cxnSp>
        <p:nvCxnSpPr>
          <p:cNvPr id="39" name="Connector 38"/>
          <p:cNvCxnSpPr/>
          <p:nvPr/>
        </p:nvCxnSpPr>
        <p:spPr>
          <a:xfrm>
            <a:off x="7467600" y="3284219"/>
            <a:ext cx="426720" cy="0"/>
          </a:xfrm>
          <a:prstGeom prst="line">
            <a:avLst/>
          </a:prstGeom>
          <a:ln w="15240">
            <a:solidFill>
              <a:srgbClr val="315E9C"/>
            </a:solidFill>
          </a:ln>
          <a:effectLst/>
        </p:spPr>
      </p:cxnSp>
      <p:cxnSp>
        <p:nvCxnSpPr>
          <p:cNvPr id="40" name="Connector 39"/>
          <p:cNvCxnSpPr/>
          <p:nvPr/>
        </p:nvCxnSpPr>
        <p:spPr>
          <a:xfrm>
            <a:off x="7894320" y="3284219"/>
            <a:ext cx="0" cy="967741"/>
          </a:xfrm>
          <a:prstGeom prst="line">
            <a:avLst/>
          </a:prstGeom>
          <a:ln w="15240">
            <a:solidFill>
              <a:srgbClr val="315E9C"/>
            </a:solidFill>
          </a:ln>
          <a:effectLst/>
        </p:spPr>
      </p:cxnSp>
      <p:cxnSp>
        <p:nvCxnSpPr>
          <p:cNvPr id="41" name="Connector 40"/>
          <p:cNvCxnSpPr/>
          <p:nvPr/>
        </p:nvCxnSpPr>
        <p:spPr>
          <a:xfrm>
            <a:off x="7894320" y="4251960"/>
            <a:ext cx="510540" cy="0"/>
          </a:xfrm>
          <a:prstGeom prst="line">
            <a:avLst/>
          </a:prstGeom>
          <a:ln w="15240">
            <a:solidFill>
              <a:srgbClr val="315E9C"/>
            </a:solidFill>
          </a:ln>
          <a:effectLst/>
        </p:spPr>
      </p:cxnSp>
      <p:sp>
        <p:nvSpPr>
          <p:cNvPr id="42" name="Freeform 41"/>
          <p:cNvSpPr/>
          <p:nvPr/>
        </p:nvSpPr>
        <p:spPr>
          <a:xfrm>
            <a:off x="8305800" y="42138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3" name="Rounded Rectangle 42"/>
          <p:cNvSpPr/>
          <p:nvPr/>
        </p:nvSpPr>
        <p:spPr>
          <a:xfrm>
            <a:off x="8404860" y="47929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44" name="TextBox 43"/>
          <p:cNvSpPr txBox="1"/>
          <p:nvPr/>
        </p:nvSpPr>
        <p:spPr>
          <a:xfrm>
            <a:off x="8572500" y="49606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PrivateAuthority</a:t>
            </a:r>
          </a:p>
        </p:txBody>
      </p:sp>
      <p:sp>
        <p:nvSpPr>
          <p:cNvPr id="45" name="TextBox 44"/>
          <p:cNvSpPr txBox="1"/>
          <p:nvPr/>
        </p:nvSpPr>
        <p:spPr>
          <a:xfrm>
            <a:off x="8572500" y="53001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Live selection and operation</a:t>
            </a:r>
          </a:p>
        </p:txBody>
      </p:sp>
      <p:sp>
        <p:nvSpPr>
          <p:cNvPr id="46" name="TextBox 45"/>
          <p:cNvSpPr txBox="1"/>
          <p:nvPr/>
        </p:nvSpPr>
        <p:spPr>
          <a:xfrm>
            <a:off x="8572500" y="55147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authorization</a:t>
            </a:r>
          </a:p>
        </p:txBody>
      </p:sp>
      <p:cxnSp>
        <p:nvCxnSpPr>
          <p:cNvPr id="47" name="Connector 46"/>
          <p:cNvCxnSpPr/>
          <p:nvPr/>
        </p:nvCxnSpPr>
        <p:spPr>
          <a:xfrm>
            <a:off x="7467600" y="3284219"/>
            <a:ext cx="426720" cy="0"/>
          </a:xfrm>
          <a:prstGeom prst="line">
            <a:avLst/>
          </a:prstGeom>
          <a:ln w="15240">
            <a:solidFill>
              <a:srgbClr val="315E9C"/>
            </a:solidFill>
          </a:ln>
          <a:effectLst/>
        </p:spPr>
      </p:cxnSp>
      <p:cxnSp>
        <p:nvCxnSpPr>
          <p:cNvPr id="48" name="Connector 47"/>
          <p:cNvCxnSpPr/>
          <p:nvPr/>
        </p:nvCxnSpPr>
        <p:spPr>
          <a:xfrm>
            <a:off x="7894320" y="3284219"/>
            <a:ext cx="0" cy="2011681"/>
          </a:xfrm>
          <a:prstGeom prst="line">
            <a:avLst/>
          </a:prstGeom>
          <a:ln w="15240">
            <a:solidFill>
              <a:srgbClr val="315E9C"/>
            </a:solidFill>
          </a:ln>
          <a:effectLst/>
        </p:spPr>
      </p:cxnSp>
      <p:cxnSp>
        <p:nvCxnSpPr>
          <p:cNvPr id="49" name="Connector 48"/>
          <p:cNvCxnSpPr/>
          <p:nvPr/>
        </p:nvCxnSpPr>
        <p:spPr>
          <a:xfrm>
            <a:off x="7894320" y="5295900"/>
            <a:ext cx="510540" cy="0"/>
          </a:xfrm>
          <a:prstGeom prst="line">
            <a:avLst/>
          </a:prstGeom>
          <a:ln w="15240">
            <a:solidFill>
              <a:srgbClr val="315E9C"/>
            </a:solidFill>
          </a:ln>
          <a:effectLst/>
        </p:spPr>
      </p:cxnSp>
      <p:sp>
        <p:nvSpPr>
          <p:cNvPr id="50" name="Freeform 49"/>
          <p:cNvSpPr/>
          <p:nvPr/>
        </p:nvSpPr>
        <p:spPr>
          <a:xfrm>
            <a:off x="8305800" y="52578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51" name="Rounded Rectangle 5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52" name="TextBox 51"/>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53" name="Connector 52"/>
          <p:cNvCxnSpPr/>
          <p:nvPr/>
        </p:nvCxnSpPr>
        <p:spPr>
          <a:xfrm>
            <a:off x="548640" y="6393180"/>
            <a:ext cx="11094720" cy="0"/>
          </a:xfrm>
          <a:prstGeom prst="line">
            <a:avLst/>
          </a:prstGeom>
          <a:ln w="7620">
            <a:solidFill>
              <a:srgbClr val="C9D2D4"/>
            </a:solidFill>
          </a:ln>
          <a:effectLst/>
        </p:spPr>
      </p:cxnSp>
      <p:sp>
        <p:nvSpPr>
          <p:cNvPr id="54" name="TextBox 5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55" name="TextBox 5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Execution journal</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Selections, candidate progress, physical-attempt</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reservations and immutable result</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Closure journal</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Bounded feedback reconciliation progress,</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separate from execution counters</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Beliefs and STI</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Admission belongs to C2; causal credit belongs to</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C3</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General search/scheduling</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agenda expansion, continuous worker or</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automatic retry scheduler</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bounded-grounded-inference/1; fresh M3.1 local 2.1.0 closure extension</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step</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Run one immutable explicit workset</a:t>
            </a:r>
          </a:p>
        </p:txBody>
      </p:sp>
      <p:sp>
        <p:nvSpPr>
          <p:cNvPr id="11" name="TextBox 10"/>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Budget, deadline and selections bind</a:t>
            </a:r>
          </a:p>
        </p:txBody>
      </p:sp>
      <p:sp>
        <p:nvSpPr>
          <p:cNvPr id="12" name="TextBox 11"/>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intent</a:t>
            </a:r>
          </a:p>
        </p:txBody>
      </p:sp>
      <p:sp>
        <p:nvSpPr>
          <p:cNvPr id="13" name="Rounded Rectangle 12"/>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4" name="TextBox 13"/>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readProgress</a:t>
            </a:r>
          </a:p>
        </p:txBody>
      </p:sp>
      <p:sp>
        <p:nvSpPr>
          <p:cNvPr id="15" name="TextBox 14"/>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Expose execution and closure</a:t>
            </a:r>
          </a:p>
        </p:txBody>
      </p:sp>
      <p:sp>
        <p:nvSpPr>
          <p:cNvPr id="16" name="TextBox 15"/>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independently</a:t>
            </a:r>
          </a:p>
        </p:txBody>
      </p:sp>
      <p:sp>
        <p:nvSpPr>
          <p:cNvPr id="17" name="TextBox 16"/>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Terminal execution may have pending</a:t>
            </a:r>
          </a:p>
        </p:txBody>
      </p:sp>
      <p:sp>
        <p:nvSpPr>
          <p:cNvPr id="18" name="TextBox 17"/>
          <p:cNvSpPr txBox="1"/>
          <p:nvPr/>
        </p:nvSpPr>
        <p:spPr>
          <a:xfrm>
            <a:off x="7795259" y="331470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closure</a:t>
            </a:r>
          </a:p>
        </p:txBody>
      </p:sp>
      <p:sp>
        <p:nvSpPr>
          <p:cNvPr id="19" name="Rounded Rectangle 18"/>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0" name="TextBox 19"/>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reconcile</a:t>
            </a:r>
          </a:p>
        </p:txBody>
      </p:sp>
      <p:sp>
        <p:nvSpPr>
          <p:cNvPr id="21" name="TextBox 20"/>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Resolve already-recorded feedback</a:t>
            </a:r>
          </a:p>
        </p:txBody>
      </p:sp>
      <p:sp>
        <p:nvSpPr>
          <p:cNvPr id="22" name="TextBox 21"/>
          <p:cNvSpPr txBox="1"/>
          <p:nvPr/>
        </p:nvSpPr>
        <p:spPr>
          <a:xfrm>
            <a:off x="3718560" y="4145279"/>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intents</a:t>
            </a:r>
          </a:p>
        </p:txBody>
      </p:sp>
      <p:sp>
        <p:nvSpPr>
          <p:cNvPr id="23" name="TextBox 22"/>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new inference, retiming, refunds or</a:t>
            </a:r>
          </a:p>
        </p:txBody>
      </p:sp>
      <p:sp>
        <p:nvSpPr>
          <p:cNvPr id="24" name="TextBox 23"/>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deadline reset</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Finite worksets and journals; ≤16 resolutions/reconcile call; absolute deadlines never renewed.</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ACTUAL native Hive inference · generated workset; real C2/PLN/DeTTa</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Freeze selection</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Read eligible tasks</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and exact premise</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snapshots.</a:t>
            </a:r>
          </a:p>
        </p:txBody>
      </p:sp>
      <p:cxnSp>
        <p:nvCxnSpPr>
          <p:cNvPr id="11" name="Connector 10"/>
          <p:cNvCxnSpPr/>
          <p:nvPr/>
        </p:nvCxnSpPr>
        <p:spPr>
          <a:xfrm>
            <a:off x="3185160" y="3238500"/>
            <a:ext cx="182880" cy="0"/>
          </a:xfrm>
          <a:prstGeom prst="line">
            <a:avLst/>
          </a:prstGeom>
          <a:ln w="15240">
            <a:solidFill>
              <a:srgbClr val="315E9C"/>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Reserve</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Persist one physical</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attempt before</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evaluation.</a:t>
            </a:r>
          </a:p>
        </p:txBody>
      </p:sp>
      <p:cxnSp>
        <p:nvCxnSpPr>
          <p:cNvPr id="19" name="Connector 18"/>
          <p:cNvCxnSpPr/>
          <p:nvPr/>
        </p:nvCxnSpPr>
        <p:spPr>
          <a:xfrm>
            <a:off x="6004559" y="3238500"/>
            <a:ext cx="182881" cy="0"/>
          </a:xfrm>
          <a:prstGeom prst="line">
            <a:avLst/>
          </a:prstGeom>
          <a:ln w="15240">
            <a:solidFill>
              <a:srgbClr val="315E9C"/>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Request C2</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C2 invokes guarded</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PLN and decides</a:t>
            </a:r>
          </a:p>
        </p:txBody>
      </p:sp>
      <p:sp>
        <p:nvSpPr>
          <p:cNvPr id="26" name="TextBox 25"/>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admission.</a:t>
            </a:r>
          </a:p>
        </p:txBody>
      </p:sp>
      <p:cxnSp>
        <p:nvCxnSpPr>
          <p:cNvPr id="27" name="Connector 26"/>
          <p:cNvCxnSpPr/>
          <p:nvPr/>
        </p:nvCxnSpPr>
        <p:spPr>
          <a:xfrm>
            <a:off x="8823960" y="3238500"/>
            <a:ext cx="182880" cy="0"/>
          </a:xfrm>
          <a:prstGeom prst="line">
            <a:avLst/>
          </a:prstGeom>
          <a:ln w="15240">
            <a:solidFill>
              <a:srgbClr val="315E9C"/>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Close separately</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Save feedback</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outcome; later</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reconcile if needed.</a:t>
            </a:r>
          </a:p>
        </p:txBody>
      </p:sp>
      <p:sp>
        <p:nvSpPr>
          <p:cNvPr id="35" name="Rounded Rectangle 34"/>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6" name="TextBox 35"/>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7" name="TextBox 36"/>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Bounded work can finish honestly without finding a conclusion.</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Durable budgets</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Candidate/attempt/generation limits and</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absolute deadline survive restart.</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Physical reservation</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crash may consume a slot without a</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conclusion; no refund.</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Frozen inputs</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No silent latest-premise substitution or workset</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expansion.</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Honest progress</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Later closure never rewrites the original</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execution result.</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Crash after reservation</a:t>
            </a:r>
          </a:p>
        </p:txBody>
      </p:sp>
      <p:sp>
        <p:nvSpPr>
          <p:cNvPr id="10" name="TextBox 9"/>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Slot remains spent, even if native</a:t>
            </a:r>
          </a:p>
        </p:txBody>
      </p:sp>
      <p:sp>
        <p:nvSpPr>
          <p:cNvPr id="11" name="TextBox 10"/>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evaluation never completes.</a:t>
            </a:r>
          </a:p>
        </p:txBody>
      </p:sp>
      <p:sp>
        <p:nvSpPr>
          <p:cNvPr id="12" name="TextBox 11"/>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Conservative bounded-work</a:t>
            </a:r>
          </a:p>
        </p:txBody>
      </p:sp>
      <p:sp>
        <p:nvSpPr>
          <p:cNvPr id="13" name="TextBox 12"/>
          <p:cNvSpPr txBox="1"/>
          <p:nvPr/>
        </p:nvSpPr>
        <p:spPr>
          <a:xfrm>
            <a:off x="8595360" y="24841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guarantee</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Admission saved; reply lost</a:t>
            </a:r>
          </a:p>
        </p:txBody>
      </p:sp>
      <p:sp>
        <p:nvSpPr>
          <p:cNvPr id="16" name="TextBox 15"/>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recorded C2 decision and</a:t>
            </a:r>
          </a:p>
        </p:txBody>
      </p:sp>
      <p:sp>
        <p:nvSpPr>
          <p:cNvPr id="17" name="TextBox 16"/>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continue original intent.</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Duplicate-safe support</a:t>
            </a:r>
          </a:p>
        </p:txBody>
      </p:sp>
      <p:sp>
        <p:nvSpPr>
          <p:cNvPr id="19" name="TextBox 18"/>
          <p:cNvSpPr txBox="1"/>
          <p:nvPr/>
        </p:nvSpPr>
        <p:spPr>
          <a:xfrm>
            <a:off x="8595360" y="358901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admission</a:t>
            </a:r>
          </a:p>
        </p:txBody>
      </p:sp>
      <p:sp>
        <p:nvSpPr>
          <p:cNvPr id="20" name="Rounded Rectangle 19"/>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1" name="TextBox 20"/>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Feedback application reply</a:t>
            </a:r>
          </a:p>
        </p:txBody>
      </p:sp>
      <p:sp>
        <p:nvSpPr>
          <p:cNvPr id="22" name="TextBox 21"/>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lost</a:t>
            </a:r>
          </a:p>
        </p:txBody>
      </p:sp>
      <p:sp>
        <p:nvSpPr>
          <p:cNvPr id="23" name="TextBox 22"/>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Resolve at C3; preserve original result and</a:t>
            </a:r>
          </a:p>
        </p:txBody>
      </p:sp>
      <p:sp>
        <p:nvSpPr>
          <p:cNvPr id="24" name="TextBox 23"/>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budget.</a:t>
            </a:r>
          </a:p>
        </p:txBody>
      </p:sp>
      <p:sp>
        <p:nvSpPr>
          <p:cNvPr id="25" name="TextBox 24"/>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new native formula calls</a:t>
            </a:r>
          </a:p>
        </p:txBody>
      </p:sp>
      <p:sp>
        <p:nvSpPr>
          <p:cNvPr id="26" name="Rounded Rectangle 2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7" name="TextBox 26"/>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2 / 1</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Candidates / attempt in</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comparison</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One admission and one feedback</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credit</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0</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New native calls during</a:t>
            </a:r>
          </a:p>
        </p:txBody>
      </p:sp>
      <p:sp>
        <p:nvSpPr>
          <p:cNvPr id="14" name="TextBox 13"/>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reconciliation</a:t>
            </a:r>
          </a:p>
        </p:txBody>
      </p:sp>
      <p:sp>
        <p:nvSpPr>
          <p:cNvPr id="15" name="TextBox 14"/>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Recorded M3.1 observation</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7" name="TextBox 16"/>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1–16</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Tasks in explicit workset</a:t>
            </a:r>
          </a:p>
        </p:txBody>
      </p:sp>
      <p:sp>
        <p:nvSpPr>
          <p:cNvPr id="19" name="TextBox 18"/>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Contract bound, not search depth</a:t>
            </a:r>
          </a:p>
        </p:txBody>
      </p:sp>
      <p:sp>
        <p:nvSpPr>
          <p:cNvPr id="20" name="TextBox 19"/>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historical four-case comparison records one full step per configuration, not a latency distribution. No</a:t>
            </a:r>
          </a:p>
        </p:txBody>
      </p:sp>
      <p:sp>
        <p:nvSpPr>
          <p:cNvPr id="21" name="TextBox 20"/>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sustained scheduling, fairness or general inference benchmark exists.</a:t>
            </a:r>
          </a:p>
        </p:txBody>
      </p:sp>
      <p:sp>
        <p:nvSpPr>
          <p:cNvPr id="22" name="Rounded Rectangle 21"/>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3" name="TextBox 22"/>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4" name="TextBox 23"/>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fixed worksets and native runtime; vary budgets, refused candidates and crash points. Report</a:t>
            </a:r>
          </a:p>
        </p:txBody>
      </p:sp>
      <p:sp>
        <p:nvSpPr>
          <p:cNvPr id="25" name="TextBox 24"/>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completion/abandonment, physical evaluations and p50/p95 step/closure latency.</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Persistent controller, actual authenticated Hive action and native guarded PLN</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through C2.</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tasks/premises, initial priority preference and injected kill positions.</a:t>
            </a:r>
          </a:p>
        </p:txBody>
      </p:sp>
      <p:sp>
        <p:nvSpPr>
          <p:cNvPr id="15" name="Rounded Rectangle 14"/>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6" name="TextBox 15"/>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7" name="TextBox 16"/>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8" name="TextBox 17"/>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supported gate blocked. Eligible/unavailable feedback can remain</a:t>
            </a:r>
          </a:p>
        </p:txBody>
      </p:sp>
      <p:sp>
        <p:nvSpPr>
          <p:cNvPr id="19" name="TextBox 18"/>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pending by design.</a:t>
            </a:r>
          </a:p>
        </p:txBody>
      </p:sp>
      <p:sp>
        <p:nvSpPr>
          <p:cNvPr id="20" name="Rounded Rectangle 19"/>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1" name="TextBox 20"/>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2" name="TextBox 21"/>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General inference search, scheduler fairness, LTI, distributed recovery and</a:t>
            </a:r>
          </a:p>
        </p:txBody>
      </p:sp>
      <p:sp>
        <p:nvSpPr>
          <p:cNvPr id="23" name="TextBox 22"/>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old-state migration.</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budget utility</a:t>
            </a:r>
          </a:p>
        </p:txBody>
      </p:sp>
      <p:sp>
        <p:nvSpPr>
          <p:cNvPr id="10" name="TextBox 9"/>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Fixed tasks, declared objective and</a:t>
            </a:r>
          </a:p>
        </p:txBody>
      </p:sp>
      <p:sp>
        <p:nvSpPr>
          <p:cNvPr id="11" name="TextBox 10"/>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failure schedule</a:t>
            </a:r>
          </a:p>
        </p:txBody>
      </p:sp>
      <p:sp>
        <p:nvSpPr>
          <p:cNvPr id="12" name="TextBox 11"/>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Useful completions per physical</a:t>
            </a:r>
          </a:p>
        </p:txBody>
      </p:sp>
      <p:sp>
        <p:nvSpPr>
          <p:cNvPr id="13" name="TextBox 12"/>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evaluation</a:t>
            </a:r>
          </a:p>
        </p:txBody>
      </p:sp>
      <p:sp>
        <p:nvSpPr>
          <p:cNvPr id="14" name="Rounded Rectangle 13"/>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5" name="TextBox 14"/>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Improve closure</a:t>
            </a:r>
          </a:p>
        </p:txBody>
      </p:sp>
      <p:sp>
        <p:nvSpPr>
          <p:cNvPr id="16" name="TextBox 15"/>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observability</a:t>
            </a:r>
          </a:p>
        </p:txBody>
      </p:sp>
      <p:sp>
        <p:nvSpPr>
          <p:cNvPr id="17" name="TextBox 16"/>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Read-only authorized receipt tooling</a:t>
            </a:r>
          </a:p>
        </p:txBody>
      </p:sp>
      <p:sp>
        <p:nvSpPr>
          <p:cNvPr id="18" name="TextBox 17"/>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execution, evidence and</a:t>
            </a:r>
          </a:p>
        </p:txBody>
      </p:sp>
      <p:sp>
        <p:nvSpPr>
          <p:cNvPr id="19" name="TextBox 18"/>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feedback progress</a:t>
            </a:r>
          </a:p>
        </p:txBody>
      </p:sp>
      <p:sp>
        <p:nvSpPr>
          <p:cNvPr id="20" name="Rounded Rectangle 19"/>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1" name="TextBox 20"/>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Specify orchestration</a:t>
            </a:r>
          </a:p>
        </p:txBody>
      </p:sp>
      <p:sp>
        <p:nvSpPr>
          <p:cNvPr id="22" name="TextBox 21"/>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separately</a:t>
            </a:r>
          </a:p>
        </p:txBody>
      </p:sp>
      <p:sp>
        <p:nvSpPr>
          <p:cNvPr id="23" name="TextBox 22"/>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ownership and retry policy</a:t>
            </a:r>
          </a:p>
        </p:txBody>
      </p:sp>
      <p:sp>
        <p:nvSpPr>
          <p:cNvPr id="24" name="TextBox 23"/>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before automation</a:t>
            </a:r>
          </a:p>
        </p:txBody>
      </p:sp>
      <p:sp>
        <p:nvSpPr>
          <p:cNvPr id="25" name="TextBox 24"/>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scheduler hidden inside</a:t>
            </a:r>
          </a:p>
        </p:txBody>
      </p:sp>
      <p:sp>
        <p:nvSpPr>
          <p:cNvPr id="26" name="TextBox 25"/>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reconciliation</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Bounded work can finish honestly without finding a conclusion.</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scripts/verify_m3_1.py &lt;env&gt; --output &lt;fresh&gt;</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Actual Hive cases require pinned native providers and private operator configuration. Fresh closure journals</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preserve explicit compatibility; no live migration.</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fusion/inference.py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fusion/deadlines.py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fusion/cognition_contracts.py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integration/hive/inference_program/program.py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InferenceControl · C4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InferenceControl · C4</dc:title>
  <dc:subject>Select from an immutable explicit workset, reserve attempts, request admission and track feedback closure.</dc:subject>
  <dc:creator>Omega × ASI module-interface project</dc:creator>
  <cp:keywords>Omega, ASI, M5, ELI16, InferenceControl · C4</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