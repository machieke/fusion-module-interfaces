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analogy, then state the technical responsibility: Pure deterministic filtering of descriptors against explicit version, profile, operation, guarantee and resource requirements. Provider substitution is safe only when consumers state requirements independently and mismatches cannot quietly weaken behavior. Do not treat the analogy as an additional experiment. This is a standalone talk about one responsibility, not a claim that every module is a separate service or repository.</a:t>
            </a:r>
          </a:p>
          <a:p/>
          <a:p>
            <a:r>
              <a:t>Evidence and implementation: [registry.py](https://github.com/machieke/fusion-module-interfaces/blob/494df69a1ac401c3d3b2cf79dbfde07f74b5e277/fusion/registry.py), [bindings.py](https://github.com/machieke/fusion-module-interfaces/blob/494df69a1ac401c3d3b2cf79dbfde07f74b5e277/fusion/bindings.py), [test_contract.py](https://github.com/machieke/fusion-module-interfaces/blob/494df69a1ac401c3d3b2cf79dbfde07f74b5e277/tests/test_contract.py), [test_m11.py](https://github.com/machieke/fusion-module-interfaces/blob/494df69a1ac401c3d3b2cf79dbfde07f74b5e277/tests/test_m11.py), [contracts.md](https://github.com/machieke/fusion-module-interfaces/blob/494df69a1ac401c3d3b2cf79dbfde07f74b5e277/docs/module-interfaces/contracts.md).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Compatibility resolver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Compatibility resolver in the bounded fifteen-family inventory. The grey groups are explanatory categories, not deployment units. RevisionMath, the evidence relay, native plugins and transport bindings are supporting seams rather than additional module families. Registry and Resolver are separate responsibilities even though both are implemented in registry.py. Fifteen represented families is not full Omega requirements coverage. Resolver owns no mutable state and grants no permission. Selection success is followed by descriptor-bound invocation and live authorization. Interface major compatibility does not widen the implemented wire version.</a:t>
            </a:r>
          </a:p>
          <a:p/>
          <a:p>
            <a:r>
              <a:t>Evidence and implementation: [registry.py](https://github.com/machieke/fusion-module-interfaces/blob/494df69a1ac401c3d3b2cf79dbfde07f74b5e277/fusion/registry.py), [bindings.py](https://github.com/machieke/fusion-module-interfaces/blob/494df69a1ac401c3d3b2cf79dbfde07f74b5e277/fusion/bindings.py), [test_contract.py](https://github.com/machieke/fusion-module-interfaces/blob/494df69a1ac401c3d3b2cf79dbfde07f74b5e277/tests/test_contract.py), [test_m11.py](https://github.com/machieke/fusion-module-interfaces/blob/494df69a1ac401c3d3b2cf79dbfde07f74b5e277/tests/test_m11.py), [contracts.md](https://github.com/machieke/fusion-module-interfaces/blob/494df69a1ac401c3d3b2cf79dbfde07f74b5e277/docs/module-interfaces/contracts.md).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Compatibility resolver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Resolver owns no mutable state and grants no permission. Selection success is followed by descriptor-bound invocation and live authorization. Interface major compatibility does not widen the implemented wire version. The left node is a caller or caller class; the right nodes distinguish foreign ports, pure helpers, local state and runtime internals. There is no implied shared transaction. Selecting a descriptor does not prove the provider is reachable or correct.</a:t>
            </a:r>
          </a:p>
          <a:p/>
          <a:p>
            <a:r>
              <a:t>Evidence and implementation: [registry.py](https://github.com/machieke/fusion-module-interfaces/blob/494df69a1ac401c3d3b2cf79dbfde07f74b5e277/fusion/registry.py), [bindings.py](https://github.com/machieke/fusion-module-interfaces/blob/494df69a1ac401c3d3b2cf79dbfde07f74b5e277/fusion/bindings.py), [test_contract.py](https://github.com/machieke/fusion-module-interfaces/blob/494df69a1ac401c3d3b2cf79dbfde07f74b5e277/tests/test_contract.py), [test_m11.py](https://github.com/machieke/fusion-module-interfaces/blob/494df69a1ac401c3d3b2cf79dbfde07f74b5e277/tests/test_m11.py), [contracts.md](https://github.com/machieke/fusion-module-interfaces/blob/494df69a1ac401c3d3b2cf79dbfde07f74b5e277/docs/module-interfaces/contracts.md).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Compatibility resolver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ownership is the key contract, not the file layout. No mutable domain state: A pure selection function; callers retain chosen descriptor identity. Compatibility decision: Filter/error ordering and deterministic tie-break. Execution or liveness: Selecting a descriptor does not prove the provider is reachable or correct. Evidence verification: Required verification currently fails; no verifier is implemented. Explicit compatibility: same-major/1 responsibility; explicit exact profiles; M1 wire remains 1.0.0. Limits: Trusted-local metadata checks; no proof of advertised reliability or measured performance.</a:t>
            </a:r>
          </a:p>
          <a:p/>
          <a:p>
            <a:r>
              <a:t>Evidence and implementation: [registry.py](https://github.com/machieke/fusion-module-interfaces/blob/494df69a1ac401c3d3b2cf79dbfde07f74b5e277/fusion/registry.py), [bindings.py](https://github.com/machieke/fusion-module-interfaces/blob/494df69a1ac401c3d3b2cf79dbfde07f74b5e277/fusion/bindings.py), [test_contract.py](https://github.com/machieke/fusion-module-interfaces/blob/494df69a1ac401c3d3b2cf79dbfde07f74b5e277/tests/test_contract.py), [test_m11.py](https://github.com/machieke/fusion-module-interfaces/blob/494df69a1ac401c3d3b2cf79dbfde07f74b5e277/tests/test_m11.py), [contracts.md](https://github.com/machieke/fusion-module-interfaces/blob/494df69a1ac401c3d3b2cf79dbfde07f74b5e277/docs/module-interfaces/contracts.md).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Compatibility resolver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contract from inputs to effects. Version filter: Same major and explicit [minimum, maximum) range; No candidate → UNSUPPORTED_VERSION. Profile/features filter: Exact profile and required feature subset; Mismatch → UNSUPPORTED_PROFILE. Operation filter: Required operation subset; Mismatch → UNSUPPORTED_OPERATION. Guarantee/resource filter: Guarantees, payload, privacy and latency requirement; Unsatisfied → NOT_AVAILABLE. Deterministic selection: Highest matching version/provider ordering; No hidden semantic relaxation. Operation groups on this slide are not a new coverage denominator. The evidence ledger distinguishes new operations from inherited dependencies. Supporting internal helpers are labelled as seams and are not advertised remote services.</a:t>
            </a:r>
          </a:p>
          <a:p/>
          <a:p>
            <a:r>
              <a:t>Evidence and implementation: [registry.py](https://github.com/machieke/fusion-module-interfaces/blob/494df69a1ac401c3d3b2cf79dbfde07f74b5e277/fusion/registry.py), [bindings.py](https://github.com/machieke/fusion-module-interfaces/blob/494df69a1ac401c3d3b2cf79dbfde07f74b5e277/fusion/bindings.py), [test_contract.py](https://github.com/machieke/fusion-module-interfaces/blob/494df69a1ac401c3d3b2cf79dbfde07f74b5e277/tests/test_contract.py), [test_m11.py](https://github.com/machieke/fusion-module-interfaces/blob/494df69a1ac401c3d3b2cf79dbfde07f74b5e277/tests/test_m11.py), [contracts.md](https://github.com/machieke/fusion-module-interfaces/blob/494df69a1ac401c3d3b2cf79dbfde07f74b5e277/docs/module-interfaces/contracts.md).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Compatibility resolver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responsibility to observable behavior. 1. State need: Consumer requires scoped, idempotent process restart. 2. Reject mismatch: Wrong profile, missing operation or weak guarantee fails. 3. Choose match: Resolve explicit provider and profile. 4. Check again: Binding verifies actual token before an effect. Evidence classification: EXECUTED LOCAL RESOLUTION · positive/negative descriptors are fixtures. Do not infer performance, broad production readiness or extra runtime integrations from this example.</a:t>
            </a:r>
          </a:p>
          <a:p/>
          <a:p>
            <a:r>
              <a:t>Evidence and implementation: [registry.py](https://github.com/machieke/fusion-module-interfaces/blob/494df69a1ac401c3d3b2cf79dbfde07f74b5e277/fusion/registry.py), [bindings.py](https://github.com/machieke/fusion-module-interfaces/blob/494df69a1ac401c3d3b2cf79dbfde07f74b5e277/fusion/bindings.py), [test_contract.py](https://github.com/machieke/fusion-module-interfaces/blob/494df69a1ac401c3d3b2cf79dbfde07f74b5e277/tests/test_contract.py), [test_m11.py](https://github.com/machieke/fusion-module-interfaces/blob/494df69a1ac401c3d3b2cf79dbfde07f74b5e277/tests/test_m11.py), [contracts.md](https://github.com/machieke/fusion-module-interfaces/blob/494df69a1ac401c3d3b2cf79dbfde07f74b5e277/docs/module-interfaces/contracts.md).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Compatibility resolver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invariants should survive provider substitution and future optimization. Independent requirement: Do not derive the required guarantees from whichever provider appears. Exact semantics: Same major alone is insufficient; profile/features/operations must match. Fail-closed proof need: An unsupported required verifier cannot become optional. No silent drift: Changed selected provider/token is refused by the binding. The supporting tests and runtime evidence are in the linked sources; this slide does not claim a formal proof or a production security audit.</a:t>
            </a:r>
          </a:p>
          <a:p/>
          <a:p>
            <a:r>
              <a:t>Evidence and implementation: [registry.py](https://github.com/machieke/fusion-module-interfaces/blob/494df69a1ac401c3d3b2cf79dbfde07f74b5e277/fusion/registry.py), [bindings.py](https://github.com/machieke/fusion-module-interfaces/blob/494df69a1ac401c3d3b2cf79dbfde07f74b5e277/fusion/bindings.py), [test_contract.py](https://github.com/machieke/fusion-module-interfaces/blob/494df69a1ac401c3d3b2cf79dbfde07f74b5e277/tests/test_contract.py), [test_m11.py](https://github.com/machieke/fusion-module-interfaces/blob/494df69a1ac401c3d3b2cf79dbfde07f74b5e277/tests/test_m11.py), [contracts.md](https://github.com/machieke/fusion-module-interfaces/blob/494df69a1ac401c3d3b2cf79dbfde07f74b5e277/docs/module-interfaces/contracts.md).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Compatibility resolver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owner boundary before the recovery claim. Provider configuration changes after selection: Invocation rejects descriptor drift. Caller must select explicitly again. No eligible candidate: Return a typed compatibility error; create no domain effect. No weaker fallback. Restart with saved intent: Use the pinned selection in that intent. Fresh replacement needs explicit composition. A fixture can position the failure while a real process is killed. Local replay semantics do not imply exactly-once physical execution, a distributed transaction, or global failover. For pure/static modules the relevant failure is selection/refusal, not invented journal recovery.</a:t>
            </a:r>
          </a:p>
          <a:p/>
          <a:p>
            <a:r>
              <a:t>Evidence and implementation: [registry.py](https://github.com/machieke/fusion-module-interfaces/blob/494df69a1ac401c3d3b2cf79dbfde07f74b5e277/fusion/registry.py), [bindings.py](https://github.com/machieke/fusion-module-interfaces/blob/494df69a1ac401c3d3b2cf79dbfde07f74b5e277/fusion/bindings.py), [test_contract.py](https://github.com/machieke/fusion-module-interfaces/blob/494df69a1ac401c3d3b2cf79dbfde07f74b5e277/tests/test_contract.py), [test_m11.py](https://github.com/machieke/fusion-module-interfaces/blob/494df69a1ac401c3d3b2cf79dbfde07f74b5e277/tests/test_m11.py), [contracts.md](https://github.com/machieke/fusion-module-interfaces/blob/494df69a1ac401c3d3b2cf79dbfde07f74b5e277/docs/module-interfaces/contracts.md).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Compatibility resolver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every number with its unit and source class. 5 Ordered compatibility stages: Version → profile → operations → resources → selection. 1.2.3 Additive same-major fixture: Resolver test; actual M1 wire stays 1.0.0. 0 Runtime effects from resolution: Pure-function boundary. These are deterministic conformance properties, not measured selection performance. Advertised latency metadata is not a benchmark or verified SLO from this resolver. Proposed: increasing descriptor count and rejection-stage mixes; measure p50/p95 selection time and allocations, while preserving exact error and tie-break outcomes. No new benchmark is executed for this presentation. Do not compare overlapping suite times or use a one-run workflow measurement as a latency percentile.</a:t>
            </a:r>
          </a:p>
          <a:p/>
          <a:p>
            <a:r>
              <a:t>Evidence and implementation: [registry.py](https://github.com/machieke/fusion-module-interfaces/blob/494df69a1ac401c3d3b2cf79dbfde07f74b5e277/fusion/registry.py), [bindings.py](https://github.com/machieke/fusion-module-interfaces/blob/494df69a1ac401c3d3b2cf79dbfde07f74b5e277/fusion/bindings.py), [test_contract.py](https://github.com/machieke/fusion-module-interfaces/blob/494df69a1ac401c3d3b2cf79dbfde07f74b5e277/tests/test_contract.py), [test_m11.py](https://github.com/machieke/fusion-module-interfaces/blob/494df69a1ac401c3d3b2cf79dbfde07f74b5e277/tests/test_m11.py), [contracts.md](https://github.com/machieke/fusion-module-interfaces/blob/494df69a1ac401c3d3b2cf79dbfde07f74b5e277/docs/module-interfaces/contracts.md).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Compatibility resolver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local code is not automatically a production provider. Real: Executed pure Python resolution and descriptor-bound in-process/stdio calls. Fixture: Synthetic versions, profiles, guarantees, payload limits and SLO metadata. Blocked or unsupported: A requirement for verification cannot pass until a supported verifier exists. Unrun: Large dynamic catalogues, remote attestation, availability optimization and adaptive scheduling. All required M5 gates passed in the recorded final run, including legacy M1–M4 behavior; this presentation does not rerun those integrations. Human maintainers remain unassigned.</a:t>
            </a:r>
          </a:p>
          <a:p/>
          <a:p>
            <a:r>
              <a:t>Evidence and implementation: [registry.py](https://github.com/machieke/fusion-module-interfaces/blob/494df69a1ac401c3d3b2cf79dbfde07f74b5e277/fusion/registry.py), [bindings.py](https://github.com/machieke/fusion-module-interfaces/blob/494df69a1ac401c3d3b2cf79dbfde07f74b5e277/fusion/bindings.py), [test_contract.py](https://github.com/machieke/fusion-module-interfaces/blob/494df69a1ac401c3d3b2cf79dbfde07f74b5e277/tests/test_contract.py), [test_m11.py](https://github.com/machieke/fusion-module-interfaces/blob/494df69a1ac401c3d3b2cf79dbfde07f74b5e277/tests/test_m11.py), [contracts.md](https://github.com/machieke/fusion-module-interfaces/blob/494df69a1ac401c3d3b2cf79dbfde07f74b5e277/docs/module-interfaces/contracts.md).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Compatibility resolver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future work as conditional engineering proposals. Explain selection decisions requires Structured reason trace without relaxing filters; success means Operators can reproduce each rejection. Connect verified evidence requires Explicit verifier and freshness contract; success means Only independently checked claims satisfy proof requirements. Measure catalogue scale requires Controlled sizes and worst-case rejection mix; success means Deterministic semantics survive optimization. No new cognition, scheduler, migration or chain capability is implemented by this series. Any changed numerical semantics, placement or replay lifetime requires separate design and verification rather than a presentation claim.</a:t>
            </a:r>
          </a:p>
          <a:p/>
          <a:p>
            <a:r>
              <a:t>Evidence and implementation: [registry.py](https://github.com/machieke/fusion-module-interfaces/blob/494df69a1ac401c3d3b2cf79dbfde07f74b5e277/fusion/registry.py), [bindings.py](https://github.com/machieke/fusion-module-interfaces/blob/494df69a1ac401c3d3b2cf79dbfde07f74b5e277/fusion/bindings.py), [test_contract.py](https://github.com/machieke/fusion-module-interfaces/blob/494df69a1ac401c3d3b2cf79dbfde07f74b5e277/tests/test_contract.py), [test_m11.py](https://github.com/machieke/fusion-module-interfaces/blob/494df69a1ac401c3d3b2cf79dbfde07f74b5e277/tests/test_m11.py), [contracts.md](https://github.com/machieke/fusion-module-interfaces/blob/494df69a1ac401c3d3b2cf79dbfde07f74b5e277/docs/module-interfaces/contracts.md).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Compatibility resolver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Compatibility is a conjunction of requirements, not a matching name. The reproduction entrypoint is uv run --python 3.11 --locked python scripts/verify_m11.py --fixture-only. Positive and negative descriptor fixtures are the appropriate evidence here; they do not validate a provider’s real-world SLO or security. Build/export checks for this series are separate from runtime tests. Exact upstream pins remain in integration/hive/sources.json, integration/pln/sources.json, integration/pln/deduction-sources.json and the M4/M5 source manifests. Commands use fresh output/state; raw provider environments, credentials, journals and private IDs should not be published.</a:t>
            </a:r>
          </a:p>
          <a:p/>
          <a:p>
            <a:r>
              <a:t>Evidence and implementation: [registry.py](https://github.com/machieke/fusion-module-interfaces/blob/494df69a1ac401c3d3b2cf79dbfde07f74b5e277/fusion/registry.py), [bindings.py](https://github.com/machieke/fusion-module-interfaces/blob/494df69a1ac401c3d3b2cf79dbfde07f74b5e277/fusion/bindings.py), [test_contract.py](https://github.com/machieke/fusion-module-interfaces/blob/494df69a1ac401c3d3b2cf79dbfde07f74b5e277/tests/test_contract.py), [test_m11.py](https://github.com/machieke/fusion-module-interfaces/blob/494df69a1ac401c3d3b2cf79dbfde07f74b5e277/tests/test_m11.py), [contracts.md](https://github.com/machieke/fusion-module-interfaces/blob/494df69a1ac401c3d3b2cf79dbfde07f74b5e277/docs/module-interfaces/contracts.md).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Compatibility resolver · M5 source bfb0ec8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OMEGA × ASI / STANDALONE MODULE SERIES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Compatibility resolver</a:t>
            </a:r>
          </a:p>
        </p:txBody>
      </p:sp>
      <p:sp>
        <p:nvSpPr>
          <p:cNvPr id="4" name="TextBox 3"/>
          <p:cNvSpPr txBox="1"/>
          <p:nvPr/>
        </p:nvSpPr>
        <p:spPr>
          <a:xfrm>
            <a:off x="548640" y="1783080"/>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Select matching semantics.</a:t>
            </a:r>
          </a:p>
        </p:txBody>
      </p:sp>
      <p:sp>
        <p:nvSpPr>
          <p:cNvPr id="5" name="TextBox 4"/>
          <p:cNvSpPr txBox="1"/>
          <p:nvPr/>
        </p:nvSpPr>
        <p:spPr>
          <a:xfrm>
            <a:off x="548640" y="2343912"/>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Fail before effects.</a:t>
            </a:r>
          </a:p>
        </p:txBody>
      </p:sp>
      <p:sp>
        <p:nvSpPr>
          <p:cNvPr id="6" name="Rounded Rectangle 5"/>
          <p:cNvSpPr/>
          <p:nvPr/>
        </p:nvSpPr>
        <p:spPr>
          <a:xfrm>
            <a:off x="579120" y="3208020"/>
            <a:ext cx="3112204" cy="274320"/>
          </a:xfrm>
          <a:prstGeom prst="roundRect">
            <a:avLst>
              <a:gd name="adj" fmla="val 19444"/>
            </a:avLst>
          </a:prstGeom>
          <a:solidFill>
            <a:srgbClr val="E4EBF5"/>
          </a:solidFill>
          <a:ln>
            <a:noFill/>
          </a:ln>
          <a:effectLst/>
        </p:spPr>
        <p:txBody>
          <a:bodyPr rtlCol="0" anchor="ctr"/>
          <a:lstStyle/>
          <a:p>
            <a:pPr algn="ctr"/>
          </a:p>
        </p:txBody>
      </p:sp>
      <p:sp>
        <p:nvSpPr>
          <p:cNvPr id="7" name="TextBox 6"/>
          <p:cNvSpPr txBox="1"/>
          <p:nvPr/>
        </p:nvSpPr>
        <p:spPr>
          <a:xfrm>
            <a:off x="685800" y="3261360"/>
            <a:ext cx="2921704"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315E9C"/>
                </a:solidFill>
                <a:latin typeface="DejaVu Sans"/>
              </a:rPr>
              <a:t>ELI16 · THE IDEA IN PLAIN LANGUAGE</a:t>
            </a:r>
          </a:p>
        </p:txBody>
      </p:sp>
      <p:sp>
        <p:nvSpPr>
          <p:cNvPr id="8" name="TextBox 7"/>
          <p:cNvSpPr txBox="1"/>
          <p:nvPr/>
        </p:nvSpPr>
        <p:spPr>
          <a:xfrm>
            <a:off x="579120" y="3649979"/>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An adapter checklist: matching the plug shape is not enough; voltage, capacity and</a:t>
            </a:r>
          </a:p>
        </p:txBody>
      </p:sp>
      <p:sp>
        <p:nvSpPr>
          <p:cNvPr id="9" name="TextBox 8"/>
          <p:cNvSpPr txBox="1"/>
          <p:nvPr/>
        </p:nvSpPr>
        <p:spPr>
          <a:xfrm>
            <a:off x="579120" y="3962095"/>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required guarantees must match too.</a:t>
            </a:r>
          </a:p>
        </p:txBody>
      </p:sp>
      <p:sp>
        <p:nvSpPr>
          <p:cNvPr id="10" name="TextBox 9"/>
          <p:cNvSpPr txBox="1"/>
          <p:nvPr/>
        </p:nvSpPr>
        <p:spPr>
          <a:xfrm>
            <a:off x="579120" y="47320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Why it matters: Provider substitution is safe only when consumers state requirements</a:t>
            </a:r>
          </a:p>
        </p:txBody>
      </p:sp>
      <p:sp>
        <p:nvSpPr>
          <p:cNvPr id="11" name="TextBox 10"/>
          <p:cNvSpPr txBox="1"/>
          <p:nvPr/>
        </p:nvSpPr>
        <p:spPr>
          <a:xfrm>
            <a:off x="579120" y="50051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independently and mismatches cannot quietly weaken behavior.</a:t>
            </a:r>
          </a:p>
        </p:txBody>
      </p:sp>
      <p:sp>
        <p:nvSpPr>
          <p:cNvPr id="12" name="TextBox 11"/>
          <p:cNvSpPr txBox="1"/>
          <p:nvPr/>
        </p:nvSpPr>
        <p:spPr>
          <a:xfrm>
            <a:off x="579120" y="6019800"/>
            <a:ext cx="10439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AAC0CC"/>
                </a:solidFill>
                <a:latin typeface="DejaVu Sans"/>
              </a:rPr>
              <a:t>Through M5 · 17 October 2026 · 12–15 minute talk · evidence and proposals kept separate</a:t>
            </a:r>
          </a:p>
        </p:txBody>
      </p:sp>
      <p:cxnSp>
        <p:nvCxnSpPr>
          <p:cNvPr id="13" name="Connector 12"/>
          <p:cNvCxnSpPr/>
          <p:nvPr/>
        </p:nvCxnSpPr>
        <p:spPr>
          <a:xfrm>
            <a:off x="548640" y="6393180"/>
            <a:ext cx="11094720" cy="0"/>
          </a:xfrm>
          <a:prstGeom prst="line">
            <a:avLst/>
          </a:prstGeom>
          <a:ln w="7620">
            <a:solidFill>
              <a:srgbClr val="536775"/>
            </a:solidFill>
          </a:ln>
          <a:effectLst/>
        </p:spPr>
      </p:cxnSp>
      <p:sp>
        <p:nvSpPr>
          <p:cNvPr id="14" name="TextBox 1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M5 / Compatibility resolver · M5 source bfb0ec8</a:t>
            </a:r>
          </a:p>
        </p:txBody>
      </p:sp>
      <p:sp>
        <p:nvSpPr>
          <p:cNvPr id="15" name="TextBox 1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HELICOPTER VIEW</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One module in a system of fifteen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highlighted responsibility is the subject of this talk; placement and process count are separate decisions.</a:t>
            </a:r>
          </a:p>
        </p:txBody>
      </p:sp>
      <p:sp>
        <p:nvSpPr>
          <p:cNvPr id="5" name="Rounded Rectangle 4"/>
          <p:cNvSpPr/>
          <p:nvPr/>
        </p:nvSpPr>
        <p:spPr>
          <a:xfrm>
            <a:off x="5486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6" name="TextBox 5"/>
          <p:cNvSpPr txBox="1"/>
          <p:nvPr/>
        </p:nvSpPr>
        <p:spPr>
          <a:xfrm>
            <a:off x="6858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Persistence</a:t>
            </a:r>
          </a:p>
        </p:txBody>
      </p:sp>
      <p:sp>
        <p:nvSpPr>
          <p:cNvPr id="7" name="Rounded Rectangle 6"/>
          <p:cNvSpPr/>
          <p:nvPr/>
        </p:nvSpPr>
        <p:spPr>
          <a:xfrm>
            <a:off x="6629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8" name="TextBox 7"/>
          <p:cNvSpPr txBox="1"/>
          <p:nvPr/>
        </p:nvSpPr>
        <p:spPr>
          <a:xfrm>
            <a:off x="7620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DA storage</a:t>
            </a:r>
          </a:p>
        </p:txBody>
      </p:sp>
      <p:sp>
        <p:nvSpPr>
          <p:cNvPr id="9" name="Rounded Rectangle 8"/>
          <p:cNvSpPr/>
          <p:nvPr/>
        </p:nvSpPr>
        <p:spPr>
          <a:xfrm>
            <a:off x="6629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0" name="TextBox 9"/>
          <p:cNvSpPr txBox="1"/>
          <p:nvPr/>
        </p:nvSpPr>
        <p:spPr>
          <a:xfrm>
            <a:off x="7620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AtomStorage · C0</a:t>
            </a:r>
          </a:p>
        </p:txBody>
      </p:sp>
      <p:sp>
        <p:nvSpPr>
          <p:cNvPr id="11" name="Rounded Rectangle 10"/>
          <p:cNvSpPr/>
          <p:nvPr/>
        </p:nvSpPr>
        <p:spPr>
          <a:xfrm>
            <a:off x="6629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12" name="TextBox 11"/>
          <p:cNvSpPr txBox="1"/>
          <p:nvPr/>
        </p:nvSpPr>
        <p:spPr>
          <a:xfrm>
            <a:off x="7620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ConsensusFinality</a:t>
            </a:r>
          </a:p>
        </p:txBody>
      </p:sp>
      <p:sp>
        <p:nvSpPr>
          <p:cNvPr id="13" name="Rounded Rectangle 12"/>
          <p:cNvSpPr/>
          <p:nvPr/>
        </p:nvSpPr>
        <p:spPr>
          <a:xfrm>
            <a:off x="33680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14" name="TextBox 13"/>
          <p:cNvSpPr txBox="1"/>
          <p:nvPr/>
        </p:nvSpPr>
        <p:spPr>
          <a:xfrm>
            <a:off x="35052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Knowledge access</a:t>
            </a:r>
          </a:p>
        </p:txBody>
      </p:sp>
      <p:sp>
        <p:nvSpPr>
          <p:cNvPr id="15" name="Rounded Rectangle 14"/>
          <p:cNvSpPr/>
          <p:nvPr/>
        </p:nvSpPr>
        <p:spPr>
          <a:xfrm>
            <a:off x="34823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16" name="TextBox 15"/>
          <p:cNvSpPr txBox="1"/>
          <p:nvPr/>
        </p:nvSpPr>
        <p:spPr>
          <a:xfrm>
            <a:off x="35814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Relations</a:t>
            </a:r>
          </a:p>
        </p:txBody>
      </p:sp>
      <p:sp>
        <p:nvSpPr>
          <p:cNvPr id="17" name="Rounded Rectangle 16"/>
          <p:cNvSpPr/>
          <p:nvPr/>
        </p:nvSpPr>
        <p:spPr>
          <a:xfrm>
            <a:off x="34823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8" name="TextBox 17"/>
          <p:cNvSpPr txBox="1"/>
          <p:nvPr/>
        </p:nvSpPr>
        <p:spPr>
          <a:xfrm>
            <a:off x="35814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Search projection</a:t>
            </a:r>
          </a:p>
        </p:txBody>
      </p:sp>
      <p:sp>
        <p:nvSpPr>
          <p:cNvPr id="19" name="Rounded Rectangle 18"/>
          <p:cNvSpPr/>
          <p:nvPr/>
        </p:nvSpPr>
        <p:spPr>
          <a:xfrm>
            <a:off x="61874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20" name="TextBox 19"/>
          <p:cNvSpPr txBox="1"/>
          <p:nvPr/>
        </p:nvSpPr>
        <p:spPr>
          <a:xfrm>
            <a:off x="63246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Cognition</a:t>
            </a:r>
          </a:p>
        </p:txBody>
      </p:sp>
      <p:sp>
        <p:nvSpPr>
          <p:cNvPr id="21" name="Rounded Rectangle 20"/>
          <p:cNvSpPr/>
          <p:nvPr/>
        </p:nvSpPr>
        <p:spPr>
          <a:xfrm>
            <a:off x="63017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22" name="TextBox 21"/>
          <p:cNvSpPr txBox="1"/>
          <p:nvPr/>
        </p:nvSpPr>
        <p:spPr>
          <a:xfrm>
            <a:off x="64008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Episodes · C1</a:t>
            </a:r>
          </a:p>
        </p:txBody>
      </p:sp>
      <p:sp>
        <p:nvSpPr>
          <p:cNvPr id="23" name="Rounded Rectangle 22"/>
          <p:cNvSpPr/>
          <p:nvPr/>
        </p:nvSpPr>
        <p:spPr>
          <a:xfrm>
            <a:off x="63017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24" name="TextBox 23"/>
          <p:cNvSpPr txBox="1"/>
          <p:nvPr/>
        </p:nvSpPr>
        <p:spPr>
          <a:xfrm>
            <a:off x="64008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Beliefs · C2</a:t>
            </a:r>
          </a:p>
        </p:txBody>
      </p:sp>
      <p:sp>
        <p:nvSpPr>
          <p:cNvPr id="25" name="Rounded Rectangle 24"/>
          <p:cNvSpPr/>
          <p:nvPr/>
        </p:nvSpPr>
        <p:spPr>
          <a:xfrm>
            <a:off x="63017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26" name="TextBox 25"/>
          <p:cNvSpPr txBox="1"/>
          <p:nvPr/>
        </p:nvSpPr>
        <p:spPr>
          <a:xfrm>
            <a:off x="64008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PLNKernel</a:t>
            </a:r>
          </a:p>
        </p:txBody>
      </p:sp>
      <p:sp>
        <p:nvSpPr>
          <p:cNvPr id="27" name="Rounded Rectangle 26"/>
          <p:cNvSpPr/>
          <p:nvPr/>
        </p:nvSpPr>
        <p:spPr>
          <a:xfrm>
            <a:off x="63017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28" name="TextBox 27"/>
          <p:cNvSpPr txBox="1"/>
          <p:nvPr/>
        </p:nvSpPr>
        <p:spPr>
          <a:xfrm>
            <a:off x="64008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Attention · C3</a:t>
            </a:r>
          </a:p>
        </p:txBody>
      </p:sp>
      <p:sp>
        <p:nvSpPr>
          <p:cNvPr id="29" name="Rounded Rectangle 28"/>
          <p:cNvSpPr/>
          <p:nvPr/>
        </p:nvSpPr>
        <p:spPr>
          <a:xfrm>
            <a:off x="63017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30" name="TextBox 29"/>
          <p:cNvSpPr txBox="1"/>
          <p:nvPr/>
        </p:nvSpPr>
        <p:spPr>
          <a:xfrm>
            <a:off x="64008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Inference · C4</a:t>
            </a:r>
          </a:p>
        </p:txBody>
      </p:sp>
      <p:sp>
        <p:nvSpPr>
          <p:cNvPr id="31" name="Rounded Rectangle 30"/>
          <p:cNvSpPr/>
          <p:nvPr/>
        </p:nvSpPr>
        <p:spPr>
          <a:xfrm>
            <a:off x="90068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32" name="TextBox 31"/>
          <p:cNvSpPr txBox="1"/>
          <p:nvPr/>
        </p:nvSpPr>
        <p:spPr>
          <a:xfrm>
            <a:off x="91440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Coordination + policy</a:t>
            </a:r>
          </a:p>
        </p:txBody>
      </p:sp>
      <p:sp>
        <p:nvSpPr>
          <p:cNvPr id="33" name="Rounded Rectangle 32"/>
          <p:cNvSpPr/>
          <p:nvPr/>
        </p:nvSpPr>
        <p:spPr>
          <a:xfrm>
            <a:off x="91211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34" name="TextBox 33"/>
          <p:cNvSpPr txBox="1"/>
          <p:nvPr/>
        </p:nvSpPr>
        <p:spPr>
          <a:xfrm>
            <a:off x="92202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Messaging</a:t>
            </a:r>
          </a:p>
        </p:txBody>
      </p:sp>
      <p:sp>
        <p:nvSpPr>
          <p:cNvPr id="35" name="Rounded Rectangle 34"/>
          <p:cNvSpPr/>
          <p:nvPr/>
        </p:nvSpPr>
        <p:spPr>
          <a:xfrm>
            <a:off x="91211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36" name="TextBox 35"/>
          <p:cNvSpPr txBox="1"/>
          <p:nvPr/>
        </p:nvSpPr>
        <p:spPr>
          <a:xfrm>
            <a:off x="92202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Execution</a:t>
            </a:r>
          </a:p>
        </p:txBody>
      </p:sp>
      <p:sp>
        <p:nvSpPr>
          <p:cNvPr id="37" name="Rounded Rectangle 36"/>
          <p:cNvSpPr/>
          <p:nvPr/>
        </p:nvSpPr>
        <p:spPr>
          <a:xfrm>
            <a:off x="91211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38" name="TextBox 37"/>
          <p:cNvSpPr txBox="1"/>
          <p:nvPr/>
        </p:nvSpPr>
        <p:spPr>
          <a:xfrm>
            <a:off x="92202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Registry</a:t>
            </a:r>
          </a:p>
        </p:txBody>
      </p:sp>
      <p:sp>
        <p:nvSpPr>
          <p:cNvPr id="39" name="Rounded Rectangle 38"/>
          <p:cNvSpPr/>
          <p:nvPr/>
        </p:nvSpPr>
        <p:spPr>
          <a:xfrm>
            <a:off x="9121140" y="4023360"/>
            <a:ext cx="2407920" cy="449580"/>
          </a:xfrm>
          <a:prstGeom prst="roundRect">
            <a:avLst>
              <a:gd name="adj" fmla="val 13559"/>
            </a:avLst>
          </a:prstGeom>
          <a:solidFill>
            <a:srgbClr val="315E9C"/>
          </a:solidFill>
          <a:ln>
            <a:noFill/>
          </a:ln>
          <a:effectLst/>
        </p:spPr>
        <p:txBody>
          <a:bodyPr rtlCol="0" anchor="ctr"/>
          <a:lstStyle/>
          <a:p>
            <a:pPr algn="ctr"/>
          </a:p>
        </p:txBody>
      </p:sp>
      <p:sp>
        <p:nvSpPr>
          <p:cNvPr id="40" name="TextBox 39"/>
          <p:cNvSpPr txBox="1"/>
          <p:nvPr/>
        </p:nvSpPr>
        <p:spPr>
          <a:xfrm>
            <a:off x="92202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FFFFFF"/>
                </a:solidFill>
                <a:latin typeface="DejaVu Sans"/>
              </a:rPr>
              <a:t>Resolver</a:t>
            </a:r>
          </a:p>
        </p:txBody>
      </p:sp>
      <p:sp>
        <p:nvSpPr>
          <p:cNvPr id="41" name="Rounded Rectangle 40"/>
          <p:cNvSpPr/>
          <p:nvPr/>
        </p:nvSpPr>
        <p:spPr>
          <a:xfrm>
            <a:off x="91211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42" name="TextBox 41"/>
          <p:cNvSpPr txBox="1"/>
          <p:nvPr/>
        </p:nvSpPr>
        <p:spPr>
          <a:xfrm>
            <a:off x="92202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Authorization</a:t>
            </a:r>
          </a:p>
        </p:txBody>
      </p:sp>
      <p:sp>
        <p:nvSpPr>
          <p:cNvPr id="43" name="TextBox 42"/>
          <p:cNvSpPr txBox="1"/>
          <p:nvPr/>
        </p:nvSpPr>
        <p:spPr>
          <a:xfrm>
            <a:off x="609600" y="554736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Pure deterministic filtering of descriptors against explicit version, profile, operation, guarantee and</a:t>
            </a:r>
          </a:p>
        </p:txBody>
      </p:sp>
      <p:sp>
        <p:nvSpPr>
          <p:cNvPr id="44" name="TextBox 43"/>
          <p:cNvSpPr txBox="1"/>
          <p:nvPr/>
        </p:nvSpPr>
        <p:spPr>
          <a:xfrm>
            <a:off x="609600" y="5810707"/>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resource requirements.</a:t>
            </a:r>
          </a:p>
        </p:txBody>
      </p:sp>
      <p:cxnSp>
        <p:nvCxnSpPr>
          <p:cNvPr id="45" name="Connector 44"/>
          <p:cNvCxnSpPr/>
          <p:nvPr/>
        </p:nvCxnSpPr>
        <p:spPr>
          <a:xfrm>
            <a:off x="548640" y="6393180"/>
            <a:ext cx="11094720" cy="0"/>
          </a:xfrm>
          <a:prstGeom prst="line">
            <a:avLst/>
          </a:prstGeom>
          <a:ln w="7620">
            <a:solidFill>
              <a:srgbClr val="C9D2D4"/>
            </a:solidFill>
          </a:ln>
          <a:effectLst/>
        </p:spPr>
      </p:cxnSp>
      <p:sp>
        <p:nvSpPr>
          <p:cNvPr id="46" name="TextBox 4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Compatibility resolver · M5 source bfb0ec8</a:t>
            </a:r>
          </a:p>
        </p:txBody>
      </p:sp>
      <p:sp>
        <p:nvSpPr>
          <p:cNvPr id="47" name="TextBox 4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FUNCTION DEPENDENCIES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Dependencies explain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Arrows point from caller to dependency. Stores and runtime internals are labelled explicitly.</a:t>
            </a:r>
          </a:p>
        </p:txBody>
      </p:sp>
      <p:sp>
        <p:nvSpPr>
          <p:cNvPr id="5" name="Rounded Rectangle 4"/>
          <p:cNvSpPr/>
          <p:nvPr/>
        </p:nvSpPr>
        <p:spPr>
          <a:xfrm>
            <a:off x="548640" y="2453640"/>
            <a:ext cx="2857500" cy="1668780"/>
          </a:xfrm>
          <a:prstGeom prst="roundRect">
            <a:avLst>
              <a:gd name="adj" fmla="val 5936"/>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621280"/>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Composition /</a:t>
            </a:r>
          </a:p>
        </p:txBody>
      </p:sp>
      <p:sp>
        <p:nvSpPr>
          <p:cNvPr id="7" name="TextBox 6"/>
          <p:cNvSpPr txBox="1"/>
          <p:nvPr/>
        </p:nvSpPr>
        <p:spPr>
          <a:xfrm>
            <a:off x="716280" y="2904134"/>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validated bindings</a:t>
            </a:r>
          </a:p>
        </p:txBody>
      </p:sp>
      <p:sp>
        <p:nvSpPr>
          <p:cNvPr id="8" name="TextBox 7"/>
          <p:cNvSpPr txBox="1"/>
          <p:nvPr/>
        </p:nvSpPr>
        <p:spPr>
          <a:xfrm>
            <a:off x="716280" y="3263188"/>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resolve(catalogue,</a:t>
            </a:r>
          </a:p>
        </p:txBody>
      </p:sp>
      <p:sp>
        <p:nvSpPr>
          <p:cNvPr id="9" name="TextBox 8"/>
          <p:cNvSpPr txBox="1"/>
          <p:nvPr/>
        </p:nvSpPr>
        <p:spPr>
          <a:xfrm>
            <a:off x="716280" y="3507028"/>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requirement)</a:t>
            </a:r>
          </a:p>
        </p:txBody>
      </p:sp>
      <p:sp>
        <p:nvSpPr>
          <p:cNvPr id="10" name="Rounded Rectangle 9"/>
          <p:cNvSpPr/>
          <p:nvPr/>
        </p:nvSpPr>
        <p:spPr>
          <a:xfrm>
            <a:off x="4229100" y="2453640"/>
            <a:ext cx="3238500" cy="1668780"/>
          </a:xfrm>
          <a:prstGeom prst="roundRect">
            <a:avLst>
              <a:gd name="adj" fmla="val 5936"/>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4396740" y="2621280"/>
            <a:ext cx="290322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Compatibility resolver</a:t>
            </a:r>
          </a:p>
        </p:txBody>
      </p:sp>
      <p:sp>
        <p:nvSpPr>
          <p:cNvPr id="12" name="TextBox 11"/>
          <p:cNvSpPr txBox="1"/>
          <p:nvPr/>
        </p:nvSpPr>
        <p:spPr>
          <a:xfrm>
            <a:off x="4396740" y="2990087"/>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Pure deterministic filtering of</a:t>
            </a:r>
          </a:p>
        </p:txBody>
      </p:sp>
      <p:sp>
        <p:nvSpPr>
          <p:cNvPr id="13" name="TextBox 12"/>
          <p:cNvSpPr txBox="1"/>
          <p:nvPr/>
        </p:nvSpPr>
        <p:spPr>
          <a:xfrm>
            <a:off x="4396740" y="3194913"/>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descriptors against explicit version,</a:t>
            </a:r>
          </a:p>
        </p:txBody>
      </p:sp>
      <p:sp>
        <p:nvSpPr>
          <p:cNvPr id="14" name="TextBox 13"/>
          <p:cNvSpPr txBox="1"/>
          <p:nvPr/>
        </p:nvSpPr>
        <p:spPr>
          <a:xfrm>
            <a:off x="4396740" y="3399739"/>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profile, operation, guarantee and</a:t>
            </a:r>
          </a:p>
        </p:txBody>
      </p:sp>
      <p:sp>
        <p:nvSpPr>
          <p:cNvPr id="15" name="TextBox 14"/>
          <p:cNvSpPr txBox="1"/>
          <p:nvPr/>
        </p:nvSpPr>
        <p:spPr>
          <a:xfrm>
            <a:off x="4396740" y="3604564"/>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resource requirements.</a:t>
            </a:r>
          </a:p>
        </p:txBody>
      </p:sp>
      <p:cxnSp>
        <p:nvCxnSpPr>
          <p:cNvPr id="16" name="Connector 15"/>
          <p:cNvCxnSpPr/>
          <p:nvPr/>
        </p:nvCxnSpPr>
        <p:spPr>
          <a:xfrm>
            <a:off x="3406140" y="3284219"/>
            <a:ext cx="822960" cy="0"/>
          </a:xfrm>
          <a:prstGeom prst="line">
            <a:avLst/>
          </a:prstGeom>
          <a:ln w="15240">
            <a:solidFill>
              <a:srgbClr val="315E9C"/>
            </a:solidFill>
          </a:ln>
          <a:effectLst/>
        </p:spPr>
      </p:cxnSp>
      <p:sp>
        <p:nvSpPr>
          <p:cNvPr id="17" name="Freeform 16"/>
          <p:cNvSpPr/>
          <p:nvPr/>
        </p:nvSpPr>
        <p:spPr>
          <a:xfrm>
            <a:off x="4130040" y="32461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8" name="Rounded Rectangle 17"/>
          <p:cNvSpPr/>
          <p:nvPr/>
        </p:nvSpPr>
        <p:spPr>
          <a:xfrm>
            <a:off x="8404860" y="198120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19" name="TextBox 18"/>
          <p:cNvSpPr txBox="1"/>
          <p:nvPr/>
        </p:nvSpPr>
        <p:spPr>
          <a:xfrm>
            <a:off x="8572500" y="214884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Registry descriptors</a:t>
            </a:r>
          </a:p>
        </p:txBody>
      </p:sp>
      <p:sp>
        <p:nvSpPr>
          <p:cNvPr id="20" name="TextBox 19"/>
          <p:cNvSpPr txBox="1"/>
          <p:nvPr/>
        </p:nvSpPr>
        <p:spPr>
          <a:xfrm>
            <a:off x="8572500" y="2488387"/>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Advertised provider metadata</a:t>
            </a:r>
          </a:p>
        </p:txBody>
      </p:sp>
      <p:cxnSp>
        <p:nvCxnSpPr>
          <p:cNvPr id="21" name="Connector 20"/>
          <p:cNvCxnSpPr/>
          <p:nvPr/>
        </p:nvCxnSpPr>
        <p:spPr>
          <a:xfrm>
            <a:off x="7467600" y="3284219"/>
            <a:ext cx="426720" cy="0"/>
          </a:xfrm>
          <a:prstGeom prst="line">
            <a:avLst/>
          </a:prstGeom>
          <a:ln w="15240">
            <a:solidFill>
              <a:srgbClr val="315E9C"/>
            </a:solidFill>
          </a:ln>
          <a:effectLst/>
        </p:spPr>
      </p:cxnSp>
      <p:cxnSp>
        <p:nvCxnSpPr>
          <p:cNvPr id="22" name="Connector 21"/>
          <p:cNvCxnSpPr/>
          <p:nvPr/>
        </p:nvCxnSpPr>
        <p:spPr>
          <a:xfrm flipV="1">
            <a:off x="7894320" y="2484120"/>
            <a:ext cx="0" cy="800099"/>
          </a:xfrm>
          <a:prstGeom prst="line">
            <a:avLst/>
          </a:prstGeom>
          <a:ln w="15240">
            <a:solidFill>
              <a:srgbClr val="315E9C"/>
            </a:solidFill>
          </a:ln>
          <a:effectLst/>
        </p:spPr>
      </p:cxnSp>
      <p:cxnSp>
        <p:nvCxnSpPr>
          <p:cNvPr id="23" name="Connector 22"/>
          <p:cNvCxnSpPr/>
          <p:nvPr/>
        </p:nvCxnSpPr>
        <p:spPr>
          <a:xfrm>
            <a:off x="7894320" y="2484120"/>
            <a:ext cx="510540" cy="0"/>
          </a:xfrm>
          <a:prstGeom prst="line">
            <a:avLst/>
          </a:prstGeom>
          <a:ln w="15240">
            <a:solidFill>
              <a:srgbClr val="315E9C"/>
            </a:solidFill>
          </a:ln>
          <a:effectLst/>
        </p:spPr>
      </p:cxnSp>
      <p:sp>
        <p:nvSpPr>
          <p:cNvPr id="24" name="Freeform 23"/>
          <p:cNvSpPr/>
          <p:nvPr/>
        </p:nvSpPr>
        <p:spPr>
          <a:xfrm>
            <a:off x="8305800" y="24460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5" name="Rounded Rectangle 24"/>
          <p:cNvSpPr/>
          <p:nvPr/>
        </p:nvSpPr>
        <p:spPr>
          <a:xfrm>
            <a:off x="8404860" y="317754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26" name="TextBox 25"/>
          <p:cNvSpPr txBox="1"/>
          <p:nvPr/>
        </p:nvSpPr>
        <p:spPr>
          <a:xfrm>
            <a:off x="8572500" y="3345179"/>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Consumer requirement</a:t>
            </a:r>
          </a:p>
        </p:txBody>
      </p:sp>
      <p:sp>
        <p:nvSpPr>
          <p:cNvPr id="27" name="TextBox 26"/>
          <p:cNvSpPr txBox="1"/>
          <p:nvPr/>
        </p:nvSpPr>
        <p:spPr>
          <a:xfrm>
            <a:off x="8572500" y="368472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Independently fixed semantics</a:t>
            </a:r>
          </a:p>
        </p:txBody>
      </p:sp>
      <p:sp>
        <p:nvSpPr>
          <p:cNvPr id="28" name="TextBox 27"/>
          <p:cNvSpPr txBox="1"/>
          <p:nvPr/>
        </p:nvSpPr>
        <p:spPr>
          <a:xfrm>
            <a:off x="8572500" y="389930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and limits</a:t>
            </a:r>
          </a:p>
        </p:txBody>
      </p:sp>
      <p:cxnSp>
        <p:nvCxnSpPr>
          <p:cNvPr id="29" name="Connector 28"/>
          <p:cNvCxnSpPr/>
          <p:nvPr/>
        </p:nvCxnSpPr>
        <p:spPr>
          <a:xfrm>
            <a:off x="7467600" y="3284219"/>
            <a:ext cx="426720" cy="0"/>
          </a:xfrm>
          <a:prstGeom prst="line">
            <a:avLst/>
          </a:prstGeom>
          <a:ln w="15240">
            <a:solidFill>
              <a:srgbClr val="315E9C"/>
            </a:solidFill>
          </a:ln>
          <a:effectLst/>
        </p:spPr>
      </p:cxnSp>
      <p:cxnSp>
        <p:nvCxnSpPr>
          <p:cNvPr id="30" name="Connector 29"/>
          <p:cNvCxnSpPr/>
          <p:nvPr/>
        </p:nvCxnSpPr>
        <p:spPr>
          <a:xfrm>
            <a:off x="7894320" y="3284219"/>
            <a:ext cx="0" cy="396241"/>
          </a:xfrm>
          <a:prstGeom prst="line">
            <a:avLst/>
          </a:prstGeom>
          <a:ln w="15240">
            <a:solidFill>
              <a:srgbClr val="315E9C"/>
            </a:solidFill>
          </a:ln>
          <a:effectLst/>
        </p:spPr>
      </p:cxnSp>
      <p:cxnSp>
        <p:nvCxnSpPr>
          <p:cNvPr id="31" name="Connector 30"/>
          <p:cNvCxnSpPr/>
          <p:nvPr/>
        </p:nvCxnSpPr>
        <p:spPr>
          <a:xfrm>
            <a:off x="7894320" y="3680460"/>
            <a:ext cx="510540" cy="0"/>
          </a:xfrm>
          <a:prstGeom prst="line">
            <a:avLst/>
          </a:prstGeom>
          <a:ln w="15240">
            <a:solidFill>
              <a:srgbClr val="315E9C"/>
            </a:solidFill>
          </a:ln>
          <a:effectLst/>
        </p:spPr>
      </p:cxnSp>
      <p:sp>
        <p:nvSpPr>
          <p:cNvPr id="32" name="Freeform 31"/>
          <p:cNvSpPr/>
          <p:nvPr/>
        </p:nvSpPr>
        <p:spPr>
          <a:xfrm>
            <a:off x="8305800" y="364236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33" name="Rounded Rectangle 32"/>
          <p:cNvSpPr/>
          <p:nvPr/>
        </p:nvSpPr>
        <p:spPr>
          <a:xfrm>
            <a:off x="8404860" y="437388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34" name="TextBox 33"/>
          <p:cNvSpPr txBox="1"/>
          <p:nvPr/>
        </p:nvSpPr>
        <p:spPr>
          <a:xfrm>
            <a:off x="8572500" y="4541520"/>
            <a:ext cx="290322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315E9C"/>
                </a:solidFill>
                <a:latin typeface="DejaVu Sans"/>
              </a:rPr>
              <a:t>Version/canonical helpers</a:t>
            </a:r>
          </a:p>
        </p:txBody>
      </p:sp>
      <p:sp>
        <p:nvSpPr>
          <p:cNvPr id="35" name="TextBox 34"/>
          <p:cNvSpPr txBox="1"/>
          <p:nvPr/>
        </p:nvSpPr>
        <p:spPr>
          <a:xfrm>
            <a:off x="8572500" y="4871313"/>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Deterministic validation and</a:t>
            </a:r>
          </a:p>
        </p:txBody>
      </p:sp>
      <p:sp>
        <p:nvSpPr>
          <p:cNvPr id="36" name="TextBox 35"/>
          <p:cNvSpPr txBox="1"/>
          <p:nvPr/>
        </p:nvSpPr>
        <p:spPr>
          <a:xfrm>
            <a:off x="8572500" y="5076139"/>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selection</a:t>
            </a:r>
          </a:p>
        </p:txBody>
      </p:sp>
      <p:cxnSp>
        <p:nvCxnSpPr>
          <p:cNvPr id="37" name="Connector 36"/>
          <p:cNvCxnSpPr/>
          <p:nvPr/>
        </p:nvCxnSpPr>
        <p:spPr>
          <a:xfrm>
            <a:off x="7467600" y="3284219"/>
            <a:ext cx="426720" cy="0"/>
          </a:xfrm>
          <a:prstGeom prst="line">
            <a:avLst/>
          </a:prstGeom>
          <a:ln w="15240">
            <a:solidFill>
              <a:srgbClr val="315E9C"/>
            </a:solidFill>
          </a:ln>
          <a:effectLst/>
        </p:spPr>
      </p:cxnSp>
      <p:cxnSp>
        <p:nvCxnSpPr>
          <p:cNvPr id="38" name="Connector 37"/>
          <p:cNvCxnSpPr/>
          <p:nvPr/>
        </p:nvCxnSpPr>
        <p:spPr>
          <a:xfrm>
            <a:off x="7894320" y="3284219"/>
            <a:ext cx="0" cy="1592581"/>
          </a:xfrm>
          <a:prstGeom prst="line">
            <a:avLst/>
          </a:prstGeom>
          <a:ln w="15240">
            <a:solidFill>
              <a:srgbClr val="315E9C"/>
            </a:solidFill>
          </a:ln>
          <a:effectLst/>
        </p:spPr>
      </p:cxnSp>
      <p:cxnSp>
        <p:nvCxnSpPr>
          <p:cNvPr id="39" name="Connector 38"/>
          <p:cNvCxnSpPr/>
          <p:nvPr/>
        </p:nvCxnSpPr>
        <p:spPr>
          <a:xfrm>
            <a:off x="7894320" y="4876800"/>
            <a:ext cx="510540" cy="0"/>
          </a:xfrm>
          <a:prstGeom prst="line">
            <a:avLst/>
          </a:prstGeom>
          <a:ln w="15240">
            <a:solidFill>
              <a:srgbClr val="315E9C"/>
            </a:solidFill>
          </a:ln>
          <a:effectLst/>
        </p:spPr>
      </p:cxnSp>
      <p:sp>
        <p:nvSpPr>
          <p:cNvPr id="40" name="Freeform 39"/>
          <p:cNvSpPr/>
          <p:nvPr/>
        </p:nvSpPr>
        <p:spPr>
          <a:xfrm>
            <a:off x="8305800" y="48387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41" name="Rounded Rectangle 40"/>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42" name="TextBox 41"/>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One responsibility does not imply one process. A dependency does not grant access to its private tables.</a:t>
            </a:r>
          </a:p>
        </p:txBody>
      </p:sp>
      <p:cxnSp>
        <p:nvCxnSpPr>
          <p:cNvPr id="43" name="Connector 42"/>
          <p:cNvCxnSpPr/>
          <p:nvPr/>
        </p:nvCxnSpPr>
        <p:spPr>
          <a:xfrm>
            <a:off x="548640" y="6393180"/>
            <a:ext cx="11094720" cy="0"/>
          </a:xfrm>
          <a:prstGeom prst="line">
            <a:avLst/>
          </a:prstGeom>
          <a:ln w="7620">
            <a:solidFill>
              <a:srgbClr val="C9D2D4"/>
            </a:solidFill>
          </a:ln>
          <a:effectLst/>
        </p:spPr>
      </p:cxnSp>
      <p:sp>
        <p:nvSpPr>
          <p:cNvPr id="44" name="TextBox 4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Compatibility resolver · M5 source bfb0ec8</a:t>
            </a:r>
          </a:p>
        </p:txBody>
      </p:sp>
      <p:sp>
        <p:nvSpPr>
          <p:cNvPr id="45" name="TextBox 4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OWNERSHIP</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Responsibility, state and scope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owner is authoritative for its own state; other responsibilities are deliberately separate.</a:t>
            </a:r>
          </a:p>
        </p:txBody>
      </p:sp>
      <p:sp>
        <p:nvSpPr>
          <p:cNvPr id="5" name="TextBox 4"/>
          <p:cNvSpPr txBox="1"/>
          <p:nvPr/>
        </p:nvSpPr>
        <p:spPr>
          <a:xfrm>
            <a:off x="640080"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315E9C"/>
                </a:solidFill>
                <a:latin typeface="DejaVu Sans"/>
              </a:rPr>
              <a:t>OWNS / GUARANTEES</a:t>
            </a:r>
          </a:p>
        </p:txBody>
      </p:sp>
      <p:sp>
        <p:nvSpPr>
          <p:cNvPr id="6" name="Rounded Rectangle 5"/>
          <p:cNvSpPr/>
          <p:nvPr/>
        </p:nvSpPr>
        <p:spPr>
          <a:xfrm>
            <a:off x="548640" y="2133600"/>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7" name="TextBox 6"/>
          <p:cNvSpPr txBox="1"/>
          <p:nvPr/>
        </p:nvSpPr>
        <p:spPr>
          <a:xfrm>
            <a:off x="716280"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No mutable domain state</a:t>
            </a:r>
          </a:p>
        </p:txBody>
      </p:sp>
      <p:sp>
        <p:nvSpPr>
          <p:cNvPr id="8" name="TextBox 7"/>
          <p:cNvSpPr txBox="1"/>
          <p:nvPr/>
        </p:nvSpPr>
        <p:spPr>
          <a:xfrm>
            <a:off x="716280"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 pure selection function; callers retain chosen</a:t>
            </a:r>
          </a:p>
        </p:txBody>
      </p:sp>
      <p:sp>
        <p:nvSpPr>
          <p:cNvPr id="9" name="TextBox 8"/>
          <p:cNvSpPr txBox="1"/>
          <p:nvPr/>
        </p:nvSpPr>
        <p:spPr>
          <a:xfrm>
            <a:off x="716280"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descriptor identity</a:t>
            </a:r>
          </a:p>
        </p:txBody>
      </p:sp>
      <p:sp>
        <p:nvSpPr>
          <p:cNvPr id="10" name="Rounded Rectangle 9"/>
          <p:cNvSpPr/>
          <p:nvPr/>
        </p:nvSpPr>
        <p:spPr>
          <a:xfrm>
            <a:off x="548640" y="3764279"/>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716280"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Compatibility decision</a:t>
            </a:r>
          </a:p>
        </p:txBody>
      </p:sp>
      <p:sp>
        <p:nvSpPr>
          <p:cNvPr id="12" name="TextBox 11"/>
          <p:cNvSpPr txBox="1"/>
          <p:nvPr/>
        </p:nvSpPr>
        <p:spPr>
          <a:xfrm>
            <a:off x="716280"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Filter/error ordering and deterministic tie-break</a:t>
            </a:r>
          </a:p>
        </p:txBody>
      </p:sp>
      <p:sp>
        <p:nvSpPr>
          <p:cNvPr id="13" name="TextBox 12"/>
          <p:cNvSpPr txBox="1"/>
          <p:nvPr/>
        </p:nvSpPr>
        <p:spPr>
          <a:xfrm>
            <a:off x="6309359"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A86A15"/>
                </a:solidFill>
                <a:latin typeface="DejaVu Sans"/>
              </a:rPr>
              <a:t>OUTSIDE THIS RESPONSIBILITY</a:t>
            </a:r>
          </a:p>
        </p:txBody>
      </p:sp>
      <p:sp>
        <p:nvSpPr>
          <p:cNvPr id="14" name="Rounded Rectangle 13"/>
          <p:cNvSpPr/>
          <p:nvPr/>
        </p:nvSpPr>
        <p:spPr>
          <a:xfrm>
            <a:off x="6217920" y="2133600"/>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5" name="TextBox 14"/>
          <p:cNvSpPr txBox="1"/>
          <p:nvPr/>
        </p:nvSpPr>
        <p:spPr>
          <a:xfrm>
            <a:off x="6385559"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Execution or liveness</a:t>
            </a:r>
          </a:p>
        </p:txBody>
      </p:sp>
      <p:sp>
        <p:nvSpPr>
          <p:cNvPr id="16" name="TextBox 15"/>
          <p:cNvSpPr txBox="1"/>
          <p:nvPr/>
        </p:nvSpPr>
        <p:spPr>
          <a:xfrm>
            <a:off x="6385559"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Selecting a descriptor does not prove the provider</a:t>
            </a:r>
          </a:p>
        </p:txBody>
      </p:sp>
      <p:sp>
        <p:nvSpPr>
          <p:cNvPr id="17" name="TextBox 16"/>
          <p:cNvSpPr txBox="1"/>
          <p:nvPr/>
        </p:nvSpPr>
        <p:spPr>
          <a:xfrm>
            <a:off x="6385559"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is reachable or correct</a:t>
            </a:r>
          </a:p>
        </p:txBody>
      </p:sp>
      <p:sp>
        <p:nvSpPr>
          <p:cNvPr id="18" name="Rounded Rectangle 17"/>
          <p:cNvSpPr/>
          <p:nvPr/>
        </p:nvSpPr>
        <p:spPr>
          <a:xfrm>
            <a:off x="6217920" y="3764279"/>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9" name="TextBox 18"/>
          <p:cNvSpPr txBox="1"/>
          <p:nvPr/>
        </p:nvSpPr>
        <p:spPr>
          <a:xfrm>
            <a:off x="6385559"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Evidence verification</a:t>
            </a:r>
          </a:p>
        </p:txBody>
      </p:sp>
      <p:sp>
        <p:nvSpPr>
          <p:cNvPr id="20" name="TextBox 19"/>
          <p:cNvSpPr txBox="1"/>
          <p:nvPr/>
        </p:nvSpPr>
        <p:spPr>
          <a:xfrm>
            <a:off x="6385559"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Required verification currently fails; no verifier is</a:t>
            </a:r>
          </a:p>
        </p:txBody>
      </p:sp>
      <p:sp>
        <p:nvSpPr>
          <p:cNvPr id="21" name="TextBox 20"/>
          <p:cNvSpPr txBox="1"/>
          <p:nvPr/>
        </p:nvSpPr>
        <p:spPr>
          <a:xfrm>
            <a:off x="6385559"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implemented</a:t>
            </a:r>
          </a:p>
        </p:txBody>
      </p:sp>
      <p:sp>
        <p:nvSpPr>
          <p:cNvPr id="22" name="Rounded Rectangle 21"/>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3" name="TextBox 22"/>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same-major/1 responsibility; explicit exact profiles; M1 wire remains 1.0.0</a:t>
            </a:r>
          </a:p>
        </p:txBody>
      </p:sp>
      <p:cxnSp>
        <p:nvCxnSpPr>
          <p:cNvPr id="24" name="Connector 23"/>
          <p:cNvCxnSpPr/>
          <p:nvPr/>
        </p:nvCxnSpPr>
        <p:spPr>
          <a:xfrm>
            <a:off x="548640" y="6393180"/>
            <a:ext cx="11094720" cy="0"/>
          </a:xfrm>
          <a:prstGeom prst="line">
            <a:avLst/>
          </a:prstGeom>
          <a:ln w="7620">
            <a:solidFill>
              <a:srgbClr val="C9D2D4"/>
            </a:solidFill>
          </a:ln>
          <a:effectLst/>
        </p:spPr>
      </p:cxnSp>
      <p:sp>
        <p:nvSpPr>
          <p:cNvPr id="25" name="TextBox 24"/>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Compatibility resolver · M5 source bfb0ec8</a:t>
            </a:r>
          </a:p>
        </p:txBody>
      </p:sp>
      <p:sp>
        <p:nvSpPr>
          <p:cNvPr id="26" name="TextBox 25"/>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CONTRACT</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executable surface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operations and implementation seams define the supported scope; versions and profiles remain explicit.</a:t>
            </a:r>
          </a:p>
        </p:txBody>
      </p:sp>
      <p:sp>
        <p:nvSpPr>
          <p:cNvPr id="5" name="TextBox 4"/>
          <p:cNvSpPr txBox="1"/>
          <p:nvPr/>
        </p:nvSpPr>
        <p:spPr>
          <a:xfrm>
            <a:off x="670560" y="1790700"/>
            <a:ext cx="2804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OPERATION / SEAM</a:t>
            </a:r>
          </a:p>
        </p:txBody>
      </p:sp>
      <p:sp>
        <p:nvSpPr>
          <p:cNvPr id="6" name="TextBox 5"/>
          <p:cNvSpPr txBox="1"/>
          <p:nvPr/>
        </p:nvSpPr>
        <p:spPr>
          <a:xfrm>
            <a:off x="3718560" y="1790700"/>
            <a:ext cx="3832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RESPONSIBILITY</a:t>
            </a:r>
          </a:p>
        </p:txBody>
      </p:sp>
      <p:sp>
        <p:nvSpPr>
          <p:cNvPr id="7" name="TextBox 6"/>
          <p:cNvSpPr txBox="1"/>
          <p:nvPr/>
        </p:nvSpPr>
        <p:spPr>
          <a:xfrm>
            <a:off x="7795259" y="1790700"/>
            <a:ext cx="37261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CONTRACT CONSEQUENCE</a:t>
            </a:r>
          </a:p>
        </p:txBody>
      </p:sp>
      <p:sp>
        <p:nvSpPr>
          <p:cNvPr id="8" name="Rounded Rectangle 7"/>
          <p:cNvSpPr/>
          <p:nvPr/>
        </p:nvSpPr>
        <p:spPr>
          <a:xfrm>
            <a:off x="548640" y="2110740"/>
            <a:ext cx="11094720" cy="647700"/>
          </a:xfrm>
          <a:prstGeom prst="roundRect">
            <a:avLst>
              <a:gd name="adj" fmla="val 7058"/>
            </a:avLst>
          </a:prstGeom>
          <a:solidFill>
            <a:srgbClr val="FFFFFF"/>
          </a:solidFill>
          <a:ln>
            <a:noFill/>
          </a:ln>
          <a:effectLst/>
        </p:spPr>
        <p:txBody>
          <a:bodyPr rtlCol="0" anchor="ctr"/>
          <a:lstStyle/>
          <a:p>
            <a:pPr algn="ctr"/>
          </a:p>
        </p:txBody>
      </p:sp>
      <p:sp>
        <p:nvSpPr>
          <p:cNvPr id="9" name="TextBox 8"/>
          <p:cNvSpPr txBox="1"/>
          <p:nvPr/>
        </p:nvSpPr>
        <p:spPr>
          <a:xfrm>
            <a:off x="670560" y="22402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Version filter</a:t>
            </a:r>
          </a:p>
        </p:txBody>
      </p:sp>
      <p:sp>
        <p:nvSpPr>
          <p:cNvPr id="10" name="TextBox 9"/>
          <p:cNvSpPr txBox="1"/>
          <p:nvPr/>
        </p:nvSpPr>
        <p:spPr>
          <a:xfrm>
            <a:off x="3718560" y="22402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Same major and explicit [minimum,</a:t>
            </a:r>
          </a:p>
        </p:txBody>
      </p:sp>
      <p:sp>
        <p:nvSpPr>
          <p:cNvPr id="11" name="TextBox 10"/>
          <p:cNvSpPr txBox="1"/>
          <p:nvPr/>
        </p:nvSpPr>
        <p:spPr>
          <a:xfrm>
            <a:off x="3718560" y="24841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maximum) range</a:t>
            </a:r>
          </a:p>
        </p:txBody>
      </p:sp>
      <p:sp>
        <p:nvSpPr>
          <p:cNvPr id="12" name="TextBox 11"/>
          <p:cNvSpPr txBox="1"/>
          <p:nvPr/>
        </p:nvSpPr>
        <p:spPr>
          <a:xfrm>
            <a:off x="7795259" y="22402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candidate →</a:t>
            </a:r>
          </a:p>
        </p:txBody>
      </p:sp>
      <p:sp>
        <p:nvSpPr>
          <p:cNvPr id="13" name="TextBox 12"/>
          <p:cNvSpPr txBox="1"/>
          <p:nvPr/>
        </p:nvSpPr>
        <p:spPr>
          <a:xfrm>
            <a:off x="7795259" y="24841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UNSUPPORTED_VERSION</a:t>
            </a:r>
          </a:p>
        </p:txBody>
      </p:sp>
      <p:sp>
        <p:nvSpPr>
          <p:cNvPr id="14" name="Rounded Rectangle 13"/>
          <p:cNvSpPr/>
          <p:nvPr/>
        </p:nvSpPr>
        <p:spPr>
          <a:xfrm>
            <a:off x="548640" y="2796540"/>
            <a:ext cx="11094720" cy="647700"/>
          </a:xfrm>
          <a:prstGeom prst="roundRect">
            <a:avLst>
              <a:gd name="adj" fmla="val 7058"/>
            </a:avLst>
          </a:prstGeom>
          <a:solidFill>
            <a:srgbClr val="FFFFFF"/>
          </a:solidFill>
          <a:ln>
            <a:noFill/>
          </a:ln>
          <a:effectLst/>
        </p:spPr>
        <p:txBody>
          <a:bodyPr rtlCol="0" anchor="ctr"/>
          <a:lstStyle/>
          <a:p>
            <a:pPr algn="ctr"/>
          </a:p>
        </p:txBody>
      </p:sp>
      <p:sp>
        <p:nvSpPr>
          <p:cNvPr id="15" name="TextBox 14"/>
          <p:cNvSpPr txBox="1"/>
          <p:nvPr/>
        </p:nvSpPr>
        <p:spPr>
          <a:xfrm>
            <a:off x="670560" y="2926079"/>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Profile/features filter</a:t>
            </a:r>
          </a:p>
        </p:txBody>
      </p:sp>
      <p:sp>
        <p:nvSpPr>
          <p:cNvPr id="16" name="TextBox 15"/>
          <p:cNvSpPr txBox="1"/>
          <p:nvPr/>
        </p:nvSpPr>
        <p:spPr>
          <a:xfrm>
            <a:off x="3718560" y="2926079"/>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Exact profile and required feature</a:t>
            </a:r>
          </a:p>
        </p:txBody>
      </p:sp>
      <p:sp>
        <p:nvSpPr>
          <p:cNvPr id="17" name="TextBox 16"/>
          <p:cNvSpPr txBox="1"/>
          <p:nvPr/>
        </p:nvSpPr>
        <p:spPr>
          <a:xfrm>
            <a:off x="3718560" y="31699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subset</a:t>
            </a:r>
          </a:p>
        </p:txBody>
      </p:sp>
      <p:sp>
        <p:nvSpPr>
          <p:cNvPr id="18" name="TextBox 17"/>
          <p:cNvSpPr txBox="1"/>
          <p:nvPr/>
        </p:nvSpPr>
        <p:spPr>
          <a:xfrm>
            <a:off x="7795259" y="2926079"/>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Mismatch → UNSUPPORTED_PROFILE</a:t>
            </a:r>
          </a:p>
        </p:txBody>
      </p:sp>
      <p:sp>
        <p:nvSpPr>
          <p:cNvPr id="19" name="Rounded Rectangle 18"/>
          <p:cNvSpPr/>
          <p:nvPr/>
        </p:nvSpPr>
        <p:spPr>
          <a:xfrm>
            <a:off x="548640" y="3482340"/>
            <a:ext cx="11094720" cy="647700"/>
          </a:xfrm>
          <a:prstGeom prst="roundRect">
            <a:avLst>
              <a:gd name="adj" fmla="val 7058"/>
            </a:avLst>
          </a:prstGeom>
          <a:solidFill>
            <a:srgbClr val="FFFFFF"/>
          </a:solidFill>
          <a:ln>
            <a:noFill/>
          </a:ln>
          <a:effectLst/>
        </p:spPr>
        <p:txBody>
          <a:bodyPr rtlCol="0" anchor="ctr"/>
          <a:lstStyle/>
          <a:p>
            <a:pPr algn="ctr"/>
          </a:p>
        </p:txBody>
      </p:sp>
      <p:sp>
        <p:nvSpPr>
          <p:cNvPr id="20" name="TextBox 19"/>
          <p:cNvSpPr txBox="1"/>
          <p:nvPr/>
        </p:nvSpPr>
        <p:spPr>
          <a:xfrm>
            <a:off x="670560" y="3611879"/>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Operation filter</a:t>
            </a:r>
          </a:p>
        </p:txBody>
      </p:sp>
      <p:sp>
        <p:nvSpPr>
          <p:cNvPr id="21" name="TextBox 20"/>
          <p:cNvSpPr txBox="1"/>
          <p:nvPr/>
        </p:nvSpPr>
        <p:spPr>
          <a:xfrm>
            <a:off x="3718560" y="3611879"/>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Required operation subset</a:t>
            </a:r>
          </a:p>
        </p:txBody>
      </p:sp>
      <p:sp>
        <p:nvSpPr>
          <p:cNvPr id="22" name="TextBox 21"/>
          <p:cNvSpPr txBox="1"/>
          <p:nvPr/>
        </p:nvSpPr>
        <p:spPr>
          <a:xfrm>
            <a:off x="7795259" y="3611879"/>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Mismatch →</a:t>
            </a:r>
          </a:p>
        </p:txBody>
      </p:sp>
      <p:sp>
        <p:nvSpPr>
          <p:cNvPr id="23" name="TextBox 22"/>
          <p:cNvSpPr txBox="1"/>
          <p:nvPr/>
        </p:nvSpPr>
        <p:spPr>
          <a:xfrm>
            <a:off x="7795259" y="3855719"/>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UNSUPPORTED_OPERATION</a:t>
            </a:r>
          </a:p>
        </p:txBody>
      </p:sp>
      <p:sp>
        <p:nvSpPr>
          <p:cNvPr id="24" name="Rounded Rectangle 23"/>
          <p:cNvSpPr/>
          <p:nvPr/>
        </p:nvSpPr>
        <p:spPr>
          <a:xfrm>
            <a:off x="548640" y="4168140"/>
            <a:ext cx="11094720" cy="647700"/>
          </a:xfrm>
          <a:prstGeom prst="roundRect">
            <a:avLst>
              <a:gd name="adj" fmla="val 7058"/>
            </a:avLst>
          </a:prstGeom>
          <a:solidFill>
            <a:srgbClr val="FFFFFF"/>
          </a:solidFill>
          <a:ln>
            <a:noFill/>
          </a:ln>
          <a:effectLst/>
        </p:spPr>
        <p:txBody>
          <a:bodyPr rtlCol="0" anchor="ctr"/>
          <a:lstStyle/>
          <a:p>
            <a:pPr algn="ctr"/>
          </a:p>
        </p:txBody>
      </p:sp>
      <p:sp>
        <p:nvSpPr>
          <p:cNvPr id="25" name="TextBox 24"/>
          <p:cNvSpPr txBox="1"/>
          <p:nvPr/>
        </p:nvSpPr>
        <p:spPr>
          <a:xfrm>
            <a:off x="670560" y="42976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Guarantee/resource filter</a:t>
            </a:r>
          </a:p>
        </p:txBody>
      </p:sp>
      <p:sp>
        <p:nvSpPr>
          <p:cNvPr id="26" name="TextBox 25"/>
          <p:cNvSpPr txBox="1"/>
          <p:nvPr/>
        </p:nvSpPr>
        <p:spPr>
          <a:xfrm>
            <a:off x="3718560" y="42976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Guarantees, payload, privacy and</a:t>
            </a:r>
          </a:p>
        </p:txBody>
      </p:sp>
      <p:sp>
        <p:nvSpPr>
          <p:cNvPr id="27" name="TextBox 26"/>
          <p:cNvSpPr txBox="1"/>
          <p:nvPr/>
        </p:nvSpPr>
        <p:spPr>
          <a:xfrm>
            <a:off x="3718560" y="45415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latency requirement</a:t>
            </a:r>
          </a:p>
        </p:txBody>
      </p:sp>
      <p:sp>
        <p:nvSpPr>
          <p:cNvPr id="28" name="TextBox 27"/>
          <p:cNvSpPr txBox="1"/>
          <p:nvPr/>
        </p:nvSpPr>
        <p:spPr>
          <a:xfrm>
            <a:off x="7795259" y="42976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Unsatisfied → NOT_AVAILABLE</a:t>
            </a:r>
          </a:p>
        </p:txBody>
      </p:sp>
      <p:sp>
        <p:nvSpPr>
          <p:cNvPr id="29" name="Rounded Rectangle 28"/>
          <p:cNvSpPr/>
          <p:nvPr/>
        </p:nvSpPr>
        <p:spPr>
          <a:xfrm>
            <a:off x="548640" y="4853940"/>
            <a:ext cx="11094720" cy="647700"/>
          </a:xfrm>
          <a:prstGeom prst="roundRect">
            <a:avLst>
              <a:gd name="adj" fmla="val 7058"/>
            </a:avLst>
          </a:prstGeom>
          <a:solidFill>
            <a:srgbClr val="FFFFFF"/>
          </a:solidFill>
          <a:ln>
            <a:noFill/>
          </a:ln>
          <a:effectLst/>
        </p:spPr>
        <p:txBody>
          <a:bodyPr rtlCol="0" anchor="ctr"/>
          <a:lstStyle/>
          <a:p>
            <a:pPr algn="ctr"/>
          </a:p>
        </p:txBody>
      </p:sp>
      <p:sp>
        <p:nvSpPr>
          <p:cNvPr id="30" name="TextBox 29"/>
          <p:cNvSpPr txBox="1"/>
          <p:nvPr/>
        </p:nvSpPr>
        <p:spPr>
          <a:xfrm>
            <a:off x="670560" y="49834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Deterministic selection</a:t>
            </a:r>
          </a:p>
        </p:txBody>
      </p:sp>
      <p:sp>
        <p:nvSpPr>
          <p:cNvPr id="31" name="TextBox 30"/>
          <p:cNvSpPr txBox="1"/>
          <p:nvPr/>
        </p:nvSpPr>
        <p:spPr>
          <a:xfrm>
            <a:off x="3718560" y="49834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Highest matching version/provider</a:t>
            </a:r>
          </a:p>
        </p:txBody>
      </p:sp>
      <p:sp>
        <p:nvSpPr>
          <p:cNvPr id="32" name="TextBox 31"/>
          <p:cNvSpPr txBox="1"/>
          <p:nvPr/>
        </p:nvSpPr>
        <p:spPr>
          <a:xfrm>
            <a:off x="3718560" y="52273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ordering</a:t>
            </a:r>
          </a:p>
        </p:txBody>
      </p:sp>
      <p:sp>
        <p:nvSpPr>
          <p:cNvPr id="33" name="TextBox 32"/>
          <p:cNvSpPr txBox="1"/>
          <p:nvPr/>
        </p:nvSpPr>
        <p:spPr>
          <a:xfrm>
            <a:off x="7795259" y="49834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hidden semantic relaxation</a:t>
            </a:r>
          </a:p>
        </p:txBody>
      </p:sp>
      <p:sp>
        <p:nvSpPr>
          <p:cNvPr id="34" name="Rounded Rectangle 3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5" name="TextBox 34"/>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Trusted-local metadata checks; no proof of advertised reliability or measured performance.</a:t>
            </a:r>
          </a:p>
        </p:txBody>
      </p:sp>
      <p:cxnSp>
        <p:nvCxnSpPr>
          <p:cNvPr id="36" name="Connector 35"/>
          <p:cNvCxnSpPr/>
          <p:nvPr/>
        </p:nvCxnSpPr>
        <p:spPr>
          <a:xfrm>
            <a:off x="548640" y="6393180"/>
            <a:ext cx="11094720" cy="0"/>
          </a:xfrm>
          <a:prstGeom prst="line">
            <a:avLst/>
          </a:prstGeom>
          <a:ln w="7620">
            <a:solidFill>
              <a:srgbClr val="C9D2D4"/>
            </a:solidFill>
          </a:ln>
          <a:effectLst/>
        </p:spPr>
      </p:cxnSp>
      <p:sp>
        <p:nvSpPr>
          <p:cNvPr id="37" name="TextBox 3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Compatibility resolver · M5 source bfb0ec8</a:t>
            </a:r>
          </a:p>
        </p:txBody>
      </p:sp>
      <p:sp>
        <p:nvSpPr>
          <p:cNvPr id="38" name="TextBox 3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05 / CONCRETE BEHAVIOR</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A worked example through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EXECUTED LOCAL RESOLUTION · positive/negative descriptors are fixtures</a:t>
            </a:r>
          </a:p>
        </p:txBody>
      </p:sp>
      <p:sp>
        <p:nvSpPr>
          <p:cNvPr id="5" name="Rounded Rectangle 4"/>
          <p:cNvSpPr/>
          <p:nvPr/>
        </p:nvSpPr>
        <p:spPr>
          <a:xfrm>
            <a:off x="5486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01 · STEP</a:t>
            </a:r>
          </a:p>
        </p:txBody>
      </p:sp>
      <p:sp>
        <p:nvSpPr>
          <p:cNvPr id="7" name="TextBox 6"/>
          <p:cNvSpPr txBox="1"/>
          <p:nvPr/>
        </p:nvSpPr>
        <p:spPr>
          <a:xfrm>
            <a:off x="7162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State need</a:t>
            </a:r>
          </a:p>
        </p:txBody>
      </p:sp>
      <p:sp>
        <p:nvSpPr>
          <p:cNvPr id="8" name="TextBox 7"/>
          <p:cNvSpPr txBox="1"/>
          <p:nvPr/>
        </p:nvSpPr>
        <p:spPr>
          <a:xfrm>
            <a:off x="7162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Consumer requires</a:t>
            </a:r>
          </a:p>
        </p:txBody>
      </p:sp>
      <p:sp>
        <p:nvSpPr>
          <p:cNvPr id="9" name="TextBox 8"/>
          <p:cNvSpPr txBox="1"/>
          <p:nvPr/>
        </p:nvSpPr>
        <p:spPr>
          <a:xfrm>
            <a:off x="7162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scoped, idempotent</a:t>
            </a:r>
          </a:p>
        </p:txBody>
      </p:sp>
      <p:sp>
        <p:nvSpPr>
          <p:cNvPr id="10" name="TextBox 9"/>
          <p:cNvSpPr txBox="1"/>
          <p:nvPr/>
        </p:nvSpPr>
        <p:spPr>
          <a:xfrm>
            <a:off x="7162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process restart.</a:t>
            </a:r>
          </a:p>
        </p:txBody>
      </p:sp>
      <p:cxnSp>
        <p:nvCxnSpPr>
          <p:cNvPr id="11" name="Connector 10"/>
          <p:cNvCxnSpPr/>
          <p:nvPr/>
        </p:nvCxnSpPr>
        <p:spPr>
          <a:xfrm>
            <a:off x="3185160" y="3238500"/>
            <a:ext cx="182880" cy="0"/>
          </a:xfrm>
          <a:prstGeom prst="line">
            <a:avLst/>
          </a:prstGeom>
          <a:ln w="15240">
            <a:solidFill>
              <a:srgbClr val="315E9C"/>
            </a:solidFill>
          </a:ln>
          <a:effectLst/>
        </p:spPr>
      </p:cxnSp>
      <p:sp>
        <p:nvSpPr>
          <p:cNvPr id="12" name="Freeform 11"/>
          <p:cNvSpPr/>
          <p:nvPr/>
        </p:nvSpPr>
        <p:spPr>
          <a:xfrm>
            <a:off x="32689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3" name="Rounded Rectangle 12"/>
          <p:cNvSpPr/>
          <p:nvPr/>
        </p:nvSpPr>
        <p:spPr>
          <a:xfrm>
            <a:off x="33680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14" name="TextBox 13"/>
          <p:cNvSpPr txBox="1"/>
          <p:nvPr/>
        </p:nvSpPr>
        <p:spPr>
          <a:xfrm>
            <a:off x="3535679"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02 · STEP</a:t>
            </a:r>
          </a:p>
        </p:txBody>
      </p:sp>
      <p:sp>
        <p:nvSpPr>
          <p:cNvPr id="15" name="TextBox 14"/>
          <p:cNvSpPr txBox="1"/>
          <p:nvPr/>
        </p:nvSpPr>
        <p:spPr>
          <a:xfrm>
            <a:off x="3535679"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Reject mismatch</a:t>
            </a:r>
          </a:p>
        </p:txBody>
      </p:sp>
      <p:sp>
        <p:nvSpPr>
          <p:cNvPr id="16" name="TextBox 15"/>
          <p:cNvSpPr txBox="1"/>
          <p:nvPr/>
        </p:nvSpPr>
        <p:spPr>
          <a:xfrm>
            <a:off x="3535679"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Wrong profile,</a:t>
            </a:r>
          </a:p>
        </p:txBody>
      </p:sp>
      <p:sp>
        <p:nvSpPr>
          <p:cNvPr id="17" name="TextBox 16"/>
          <p:cNvSpPr txBox="1"/>
          <p:nvPr/>
        </p:nvSpPr>
        <p:spPr>
          <a:xfrm>
            <a:off x="3535679"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missing operation or</a:t>
            </a:r>
          </a:p>
        </p:txBody>
      </p:sp>
      <p:sp>
        <p:nvSpPr>
          <p:cNvPr id="18" name="TextBox 17"/>
          <p:cNvSpPr txBox="1"/>
          <p:nvPr/>
        </p:nvSpPr>
        <p:spPr>
          <a:xfrm>
            <a:off x="3535679"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weak guarantee fails.</a:t>
            </a:r>
          </a:p>
        </p:txBody>
      </p:sp>
      <p:cxnSp>
        <p:nvCxnSpPr>
          <p:cNvPr id="19" name="Connector 18"/>
          <p:cNvCxnSpPr/>
          <p:nvPr/>
        </p:nvCxnSpPr>
        <p:spPr>
          <a:xfrm>
            <a:off x="6004559" y="3238500"/>
            <a:ext cx="182881" cy="0"/>
          </a:xfrm>
          <a:prstGeom prst="line">
            <a:avLst/>
          </a:prstGeom>
          <a:ln w="15240">
            <a:solidFill>
              <a:srgbClr val="315E9C"/>
            </a:solidFill>
          </a:ln>
          <a:effectLst/>
        </p:spPr>
      </p:cxnSp>
      <p:sp>
        <p:nvSpPr>
          <p:cNvPr id="20" name="Freeform 19"/>
          <p:cNvSpPr/>
          <p:nvPr/>
        </p:nvSpPr>
        <p:spPr>
          <a:xfrm>
            <a:off x="60883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1" name="Rounded Rectangle 20"/>
          <p:cNvSpPr/>
          <p:nvPr/>
        </p:nvSpPr>
        <p:spPr>
          <a:xfrm>
            <a:off x="61874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22" name="TextBox 21"/>
          <p:cNvSpPr txBox="1"/>
          <p:nvPr/>
        </p:nvSpPr>
        <p:spPr>
          <a:xfrm>
            <a:off x="63550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03 · STEP</a:t>
            </a:r>
          </a:p>
        </p:txBody>
      </p:sp>
      <p:sp>
        <p:nvSpPr>
          <p:cNvPr id="23" name="TextBox 22"/>
          <p:cNvSpPr txBox="1"/>
          <p:nvPr/>
        </p:nvSpPr>
        <p:spPr>
          <a:xfrm>
            <a:off x="63550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Choose match</a:t>
            </a:r>
          </a:p>
        </p:txBody>
      </p:sp>
      <p:sp>
        <p:nvSpPr>
          <p:cNvPr id="24" name="TextBox 23"/>
          <p:cNvSpPr txBox="1"/>
          <p:nvPr/>
        </p:nvSpPr>
        <p:spPr>
          <a:xfrm>
            <a:off x="63550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Resolve explicit</a:t>
            </a:r>
          </a:p>
        </p:txBody>
      </p:sp>
      <p:sp>
        <p:nvSpPr>
          <p:cNvPr id="25" name="TextBox 24"/>
          <p:cNvSpPr txBox="1"/>
          <p:nvPr/>
        </p:nvSpPr>
        <p:spPr>
          <a:xfrm>
            <a:off x="63550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provider and profile.</a:t>
            </a:r>
          </a:p>
        </p:txBody>
      </p:sp>
      <p:cxnSp>
        <p:nvCxnSpPr>
          <p:cNvPr id="26" name="Connector 25"/>
          <p:cNvCxnSpPr/>
          <p:nvPr/>
        </p:nvCxnSpPr>
        <p:spPr>
          <a:xfrm>
            <a:off x="8823960" y="3238500"/>
            <a:ext cx="182880" cy="0"/>
          </a:xfrm>
          <a:prstGeom prst="line">
            <a:avLst/>
          </a:prstGeom>
          <a:ln w="15240">
            <a:solidFill>
              <a:srgbClr val="315E9C"/>
            </a:solidFill>
          </a:ln>
          <a:effectLst/>
        </p:spPr>
      </p:cxnSp>
      <p:sp>
        <p:nvSpPr>
          <p:cNvPr id="27" name="Freeform 26"/>
          <p:cNvSpPr/>
          <p:nvPr/>
        </p:nvSpPr>
        <p:spPr>
          <a:xfrm>
            <a:off x="89077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8" name="Rounded Rectangle 27"/>
          <p:cNvSpPr/>
          <p:nvPr/>
        </p:nvSpPr>
        <p:spPr>
          <a:xfrm>
            <a:off x="90068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29" name="TextBox 28"/>
          <p:cNvSpPr txBox="1"/>
          <p:nvPr/>
        </p:nvSpPr>
        <p:spPr>
          <a:xfrm>
            <a:off x="91744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04 · STEP</a:t>
            </a:r>
          </a:p>
        </p:txBody>
      </p:sp>
      <p:sp>
        <p:nvSpPr>
          <p:cNvPr id="30" name="TextBox 29"/>
          <p:cNvSpPr txBox="1"/>
          <p:nvPr/>
        </p:nvSpPr>
        <p:spPr>
          <a:xfrm>
            <a:off x="91744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Check again</a:t>
            </a:r>
          </a:p>
        </p:txBody>
      </p:sp>
      <p:sp>
        <p:nvSpPr>
          <p:cNvPr id="31" name="TextBox 30"/>
          <p:cNvSpPr txBox="1"/>
          <p:nvPr/>
        </p:nvSpPr>
        <p:spPr>
          <a:xfrm>
            <a:off x="91744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Binding verifies</a:t>
            </a:r>
          </a:p>
        </p:txBody>
      </p:sp>
      <p:sp>
        <p:nvSpPr>
          <p:cNvPr id="32" name="TextBox 31"/>
          <p:cNvSpPr txBox="1"/>
          <p:nvPr/>
        </p:nvSpPr>
        <p:spPr>
          <a:xfrm>
            <a:off x="91744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actual token before</a:t>
            </a:r>
          </a:p>
        </p:txBody>
      </p:sp>
      <p:sp>
        <p:nvSpPr>
          <p:cNvPr id="33" name="TextBox 32"/>
          <p:cNvSpPr txBox="1"/>
          <p:nvPr/>
        </p:nvSpPr>
        <p:spPr>
          <a:xfrm>
            <a:off x="91744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an effect.</a:t>
            </a:r>
          </a:p>
        </p:txBody>
      </p:sp>
      <p:sp>
        <p:nvSpPr>
          <p:cNvPr id="34" name="Rounded Rectangle 33"/>
          <p:cNvSpPr/>
          <p:nvPr/>
        </p:nvSpPr>
        <p:spPr>
          <a:xfrm>
            <a:off x="548640" y="486156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35" name="TextBox 34"/>
          <p:cNvSpPr txBox="1"/>
          <p:nvPr/>
        </p:nvSpPr>
        <p:spPr>
          <a:xfrm>
            <a:off x="716280" y="502920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What the example establishes</a:t>
            </a:r>
          </a:p>
        </p:txBody>
      </p:sp>
      <p:sp>
        <p:nvSpPr>
          <p:cNvPr id="36" name="TextBox 35"/>
          <p:cNvSpPr txBox="1"/>
          <p:nvPr/>
        </p:nvSpPr>
        <p:spPr>
          <a:xfrm>
            <a:off x="716280" y="5378500"/>
            <a:ext cx="107594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Compatibility is a conjunction of requirements, not a matching name.</a:t>
            </a:r>
          </a:p>
        </p:txBody>
      </p:sp>
      <p:cxnSp>
        <p:nvCxnSpPr>
          <p:cNvPr id="37" name="Connector 36"/>
          <p:cNvCxnSpPr/>
          <p:nvPr/>
        </p:nvCxnSpPr>
        <p:spPr>
          <a:xfrm>
            <a:off x="548640" y="6393180"/>
            <a:ext cx="11094720" cy="0"/>
          </a:xfrm>
          <a:prstGeom prst="line">
            <a:avLst/>
          </a:prstGeom>
          <a:ln w="7620">
            <a:solidFill>
              <a:srgbClr val="C9D2D4"/>
            </a:solidFill>
          </a:ln>
          <a:effectLst/>
        </p:spPr>
      </p:cxnSp>
      <p:sp>
        <p:nvSpPr>
          <p:cNvPr id="38" name="TextBox 3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Compatibility resolver · M5 source bfb0ec8</a:t>
            </a:r>
          </a:p>
        </p:txBody>
      </p:sp>
      <p:sp>
        <p:nvSpPr>
          <p:cNvPr id="39" name="TextBox 3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06 / BEHAVIORAL GUARANTEES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Four invariants to preserve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Each statement is bounded by the selected profile, authority model and tested failure model.</a:t>
            </a:r>
          </a:p>
        </p:txBody>
      </p:sp>
      <p:sp>
        <p:nvSpPr>
          <p:cNvPr id="5" name="Rounded Rectangle 4"/>
          <p:cNvSpPr/>
          <p:nvPr/>
        </p:nvSpPr>
        <p:spPr>
          <a:xfrm>
            <a:off x="54864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I1</a:t>
            </a:r>
          </a:p>
        </p:txBody>
      </p:sp>
      <p:sp>
        <p:nvSpPr>
          <p:cNvPr id="7" name="TextBox 6"/>
          <p:cNvSpPr txBox="1"/>
          <p:nvPr/>
        </p:nvSpPr>
        <p:spPr>
          <a:xfrm>
            <a:off x="716280"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Independent requirement</a:t>
            </a:r>
          </a:p>
        </p:txBody>
      </p:sp>
      <p:sp>
        <p:nvSpPr>
          <p:cNvPr id="8" name="TextBox 7"/>
          <p:cNvSpPr txBox="1"/>
          <p:nvPr/>
        </p:nvSpPr>
        <p:spPr>
          <a:xfrm>
            <a:off x="716280"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Do not derive the required guarantees from</a:t>
            </a:r>
          </a:p>
        </p:txBody>
      </p:sp>
      <p:sp>
        <p:nvSpPr>
          <p:cNvPr id="9" name="TextBox 8"/>
          <p:cNvSpPr txBox="1"/>
          <p:nvPr/>
        </p:nvSpPr>
        <p:spPr>
          <a:xfrm>
            <a:off x="716280"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whichever provider appears.</a:t>
            </a:r>
          </a:p>
        </p:txBody>
      </p:sp>
      <p:sp>
        <p:nvSpPr>
          <p:cNvPr id="10" name="Rounded Rectangle 9"/>
          <p:cNvSpPr/>
          <p:nvPr/>
        </p:nvSpPr>
        <p:spPr>
          <a:xfrm>
            <a:off x="621792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1" name="TextBox 10"/>
          <p:cNvSpPr txBox="1"/>
          <p:nvPr/>
        </p:nvSpPr>
        <p:spPr>
          <a:xfrm>
            <a:off x="6385559"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I2</a:t>
            </a:r>
          </a:p>
        </p:txBody>
      </p:sp>
      <p:sp>
        <p:nvSpPr>
          <p:cNvPr id="12" name="TextBox 11"/>
          <p:cNvSpPr txBox="1"/>
          <p:nvPr/>
        </p:nvSpPr>
        <p:spPr>
          <a:xfrm>
            <a:off x="6385559"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Exact semantics</a:t>
            </a:r>
          </a:p>
        </p:txBody>
      </p:sp>
      <p:sp>
        <p:nvSpPr>
          <p:cNvPr id="13" name="TextBox 12"/>
          <p:cNvSpPr txBox="1"/>
          <p:nvPr/>
        </p:nvSpPr>
        <p:spPr>
          <a:xfrm>
            <a:off x="6385559"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Same major alone is insufficient;</a:t>
            </a:r>
          </a:p>
        </p:txBody>
      </p:sp>
      <p:sp>
        <p:nvSpPr>
          <p:cNvPr id="14" name="TextBox 13"/>
          <p:cNvSpPr txBox="1"/>
          <p:nvPr/>
        </p:nvSpPr>
        <p:spPr>
          <a:xfrm>
            <a:off x="6385559"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profile/features/operations must match.</a:t>
            </a:r>
          </a:p>
        </p:txBody>
      </p:sp>
      <p:sp>
        <p:nvSpPr>
          <p:cNvPr id="15" name="Rounded Rectangle 14"/>
          <p:cNvSpPr/>
          <p:nvPr/>
        </p:nvSpPr>
        <p:spPr>
          <a:xfrm>
            <a:off x="54864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6" name="TextBox 15"/>
          <p:cNvSpPr txBox="1"/>
          <p:nvPr/>
        </p:nvSpPr>
        <p:spPr>
          <a:xfrm>
            <a:off x="716280"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I3</a:t>
            </a:r>
          </a:p>
        </p:txBody>
      </p:sp>
      <p:sp>
        <p:nvSpPr>
          <p:cNvPr id="17" name="TextBox 16"/>
          <p:cNvSpPr txBox="1"/>
          <p:nvPr/>
        </p:nvSpPr>
        <p:spPr>
          <a:xfrm>
            <a:off x="716280"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Fail-closed proof need</a:t>
            </a:r>
          </a:p>
        </p:txBody>
      </p:sp>
      <p:sp>
        <p:nvSpPr>
          <p:cNvPr id="18" name="TextBox 17"/>
          <p:cNvSpPr txBox="1"/>
          <p:nvPr/>
        </p:nvSpPr>
        <p:spPr>
          <a:xfrm>
            <a:off x="716280"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An unsupported required verifier cannot become</a:t>
            </a:r>
          </a:p>
        </p:txBody>
      </p:sp>
      <p:sp>
        <p:nvSpPr>
          <p:cNvPr id="19" name="TextBox 18"/>
          <p:cNvSpPr txBox="1"/>
          <p:nvPr/>
        </p:nvSpPr>
        <p:spPr>
          <a:xfrm>
            <a:off x="716280"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optional.</a:t>
            </a:r>
          </a:p>
        </p:txBody>
      </p:sp>
      <p:sp>
        <p:nvSpPr>
          <p:cNvPr id="20" name="Rounded Rectangle 19"/>
          <p:cNvSpPr/>
          <p:nvPr/>
        </p:nvSpPr>
        <p:spPr>
          <a:xfrm>
            <a:off x="621792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21" name="TextBox 20"/>
          <p:cNvSpPr txBox="1"/>
          <p:nvPr/>
        </p:nvSpPr>
        <p:spPr>
          <a:xfrm>
            <a:off x="6385559"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I4</a:t>
            </a:r>
          </a:p>
        </p:txBody>
      </p:sp>
      <p:sp>
        <p:nvSpPr>
          <p:cNvPr id="22" name="TextBox 21"/>
          <p:cNvSpPr txBox="1"/>
          <p:nvPr/>
        </p:nvSpPr>
        <p:spPr>
          <a:xfrm>
            <a:off x="6385559"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No silent drift</a:t>
            </a:r>
          </a:p>
        </p:txBody>
      </p:sp>
      <p:sp>
        <p:nvSpPr>
          <p:cNvPr id="23" name="TextBox 22"/>
          <p:cNvSpPr txBox="1"/>
          <p:nvPr/>
        </p:nvSpPr>
        <p:spPr>
          <a:xfrm>
            <a:off x="6385559"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Changed selected provider/token is refused by</a:t>
            </a:r>
          </a:p>
        </p:txBody>
      </p:sp>
      <p:sp>
        <p:nvSpPr>
          <p:cNvPr id="24" name="TextBox 23"/>
          <p:cNvSpPr txBox="1"/>
          <p:nvPr/>
        </p:nvSpPr>
        <p:spPr>
          <a:xfrm>
            <a:off x="6385559"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the binding.</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Compatibility resolver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07 / RECOVERY AND REFUSAL</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Failure is part of the interface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lost response, a missing prerequisite and a deliberate refusal require different interpretations.</a:t>
            </a:r>
          </a:p>
        </p:txBody>
      </p:sp>
      <p:sp>
        <p:nvSpPr>
          <p:cNvPr id="5" name="TextBox 4"/>
          <p:cNvSpPr txBox="1"/>
          <p:nvPr/>
        </p:nvSpPr>
        <p:spPr>
          <a:xfrm>
            <a:off x="670560" y="1790700"/>
            <a:ext cx="32232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BOUNDARY / TRIGGER</a:t>
            </a:r>
          </a:p>
        </p:txBody>
      </p:sp>
      <p:sp>
        <p:nvSpPr>
          <p:cNvPr id="6" name="TextBox 5"/>
          <p:cNvSpPr txBox="1"/>
          <p:nvPr/>
        </p:nvSpPr>
        <p:spPr>
          <a:xfrm>
            <a:off x="4137660" y="1790700"/>
            <a:ext cx="4213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OWNER-AUTHORITATIVE OUTCOME</a:t>
            </a:r>
          </a:p>
        </p:txBody>
      </p:sp>
      <p:sp>
        <p:nvSpPr>
          <p:cNvPr id="7" name="TextBox 6"/>
          <p:cNvSpPr txBox="1"/>
          <p:nvPr/>
        </p:nvSpPr>
        <p:spPr>
          <a:xfrm>
            <a:off x="8595360" y="1790700"/>
            <a:ext cx="29260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EVIDENCE / LIMITATION</a:t>
            </a:r>
          </a:p>
        </p:txBody>
      </p:sp>
      <p:sp>
        <p:nvSpPr>
          <p:cNvPr id="8" name="Rounded Rectangle 7"/>
          <p:cNvSpPr/>
          <p:nvPr/>
        </p:nvSpPr>
        <p:spPr>
          <a:xfrm>
            <a:off x="548640" y="2110740"/>
            <a:ext cx="11094720" cy="1066800"/>
          </a:xfrm>
          <a:prstGeom prst="roundRect">
            <a:avLst>
              <a:gd name="adj" fmla="val 4285"/>
            </a:avLst>
          </a:prstGeom>
          <a:solidFill>
            <a:srgbClr val="FFFFFF"/>
          </a:solidFill>
          <a:ln>
            <a:noFill/>
          </a:ln>
          <a:effectLst/>
        </p:spPr>
        <p:txBody>
          <a:bodyPr rtlCol="0" anchor="ctr"/>
          <a:lstStyle/>
          <a:p>
            <a:pPr algn="ctr"/>
          </a:p>
        </p:txBody>
      </p:sp>
      <p:sp>
        <p:nvSpPr>
          <p:cNvPr id="9" name="TextBox 8"/>
          <p:cNvSpPr txBox="1"/>
          <p:nvPr/>
        </p:nvSpPr>
        <p:spPr>
          <a:xfrm>
            <a:off x="670560" y="22402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Provider configuration</a:t>
            </a:r>
          </a:p>
        </p:txBody>
      </p:sp>
      <p:sp>
        <p:nvSpPr>
          <p:cNvPr id="10" name="TextBox 9"/>
          <p:cNvSpPr txBox="1"/>
          <p:nvPr/>
        </p:nvSpPr>
        <p:spPr>
          <a:xfrm>
            <a:off x="670560" y="24841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changes after selection</a:t>
            </a:r>
          </a:p>
        </p:txBody>
      </p:sp>
      <p:sp>
        <p:nvSpPr>
          <p:cNvPr id="11" name="TextBox 10"/>
          <p:cNvSpPr txBox="1"/>
          <p:nvPr/>
        </p:nvSpPr>
        <p:spPr>
          <a:xfrm>
            <a:off x="4137660" y="22402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Invocation rejects descriptor drift.</a:t>
            </a:r>
          </a:p>
        </p:txBody>
      </p:sp>
      <p:sp>
        <p:nvSpPr>
          <p:cNvPr id="12" name="TextBox 11"/>
          <p:cNvSpPr txBox="1"/>
          <p:nvPr/>
        </p:nvSpPr>
        <p:spPr>
          <a:xfrm>
            <a:off x="8595360" y="22402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Caller must select explicitly</a:t>
            </a:r>
          </a:p>
        </p:txBody>
      </p:sp>
      <p:sp>
        <p:nvSpPr>
          <p:cNvPr id="13" name="TextBox 12"/>
          <p:cNvSpPr txBox="1"/>
          <p:nvPr/>
        </p:nvSpPr>
        <p:spPr>
          <a:xfrm>
            <a:off x="8595360" y="248412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again</a:t>
            </a:r>
          </a:p>
        </p:txBody>
      </p:sp>
      <p:sp>
        <p:nvSpPr>
          <p:cNvPr id="14" name="Rounded Rectangle 13"/>
          <p:cNvSpPr/>
          <p:nvPr/>
        </p:nvSpPr>
        <p:spPr>
          <a:xfrm>
            <a:off x="548640" y="3215640"/>
            <a:ext cx="11094720" cy="1066800"/>
          </a:xfrm>
          <a:prstGeom prst="roundRect">
            <a:avLst>
              <a:gd name="adj" fmla="val 4285"/>
            </a:avLst>
          </a:prstGeom>
          <a:solidFill>
            <a:srgbClr val="FFFFFF"/>
          </a:solidFill>
          <a:ln>
            <a:noFill/>
          </a:ln>
          <a:effectLst/>
        </p:spPr>
        <p:txBody>
          <a:bodyPr rtlCol="0" anchor="ctr"/>
          <a:lstStyle/>
          <a:p>
            <a:pPr algn="ctr"/>
          </a:p>
        </p:txBody>
      </p:sp>
      <p:sp>
        <p:nvSpPr>
          <p:cNvPr id="15" name="TextBox 14"/>
          <p:cNvSpPr txBox="1"/>
          <p:nvPr/>
        </p:nvSpPr>
        <p:spPr>
          <a:xfrm>
            <a:off x="670560" y="334517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No eligible candidate</a:t>
            </a:r>
          </a:p>
        </p:txBody>
      </p:sp>
      <p:sp>
        <p:nvSpPr>
          <p:cNvPr id="16" name="TextBox 15"/>
          <p:cNvSpPr txBox="1"/>
          <p:nvPr/>
        </p:nvSpPr>
        <p:spPr>
          <a:xfrm>
            <a:off x="4137660" y="334517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Return a typed compatibility error; create</a:t>
            </a:r>
          </a:p>
        </p:txBody>
      </p:sp>
      <p:sp>
        <p:nvSpPr>
          <p:cNvPr id="17" name="TextBox 16"/>
          <p:cNvSpPr txBox="1"/>
          <p:nvPr/>
        </p:nvSpPr>
        <p:spPr>
          <a:xfrm>
            <a:off x="4137660" y="358901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domain effect.</a:t>
            </a:r>
          </a:p>
        </p:txBody>
      </p:sp>
      <p:sp>
        <p:nvSpPr>
          <p:cNvPr id="18" name="TextBox 17"/>
          <p:cNvSpPr txBox="1"/>
          <p:nvPr/>
        </p:nvSpPr>
        <p:spPr>
          <a:xfrm>
            <a:off x="8595360" y="334517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weaker fallback</a:t>
            </a:r>
          </a:p>
        </p:txBody>
      </p:sp>
      <p:sp>
        <p:nvSpPr>
          <p:cNvPr id="19" name="Rounded Rectangle 18"/>
          <p:cNvSpPr/>
          <p:nvPr/>
        </p:nvSpPr>
        <p:spPr>
          <a:xfrm>
            <a:off x="548640" y="4320540"/>
            <a:ext cx="11094720" cy="1066800"/>
          </a:xfrm>
          <a:prstGeom prst="roundRect">
            <a:avLst>
              <a:gd name="adj" fmla="val 4285"/>
            </a:avLst>
          </a:prstGeom>
          <a:solidFill>
            <a:srgbClr val="FFFFFF"/>
          </a:solidFill>
          <a:ln>
            <a:noFill/>
          </a:ln>
          <a:effectLst/>
        </p:spPr>
        <p:txBody>
          <a:bodyPr rtlCol="0" anchor="ctr"/>
          <a:lstStyle/>
          <a:p>
            <a:pPr algn="ctr"/>
          </a:p>
        </p:txBody>
      </p:sp>
      <p:sp>
        <p:nvSpPr>
          <p:cNvPr id="20" name="TextBox 19"/>
          <p:cNvSpPr txBox="1"/>
          <p:nvPr/>
        </p:nvSpPr>
        <p:spPr>
          <a:xfrm>
            <a:off x="670560" y="44500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Restart with saved intent</a:t>
            </a:r>
          </a:p>
        </p:txBody>
      </p:sp>
      <p:sp>
        <p:nvSpPr>
          <p:cNvPr id="21" name="TextBox 20"/>
          <p:cNvSpPr txBox="1"/>
          <p:nvPr/>
        </p:nvSpPr>
        <p:spPr>
          <a:xfrm>
            <a:off x="4137660" y="44500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Use the pinned selection in that intent.</a:t>
            </a:r>
          </a:p>
        </p:txBody>
      </p:sp>
      <p:sp>
        <p:nvSpPr>
          <p:cNvPr id="22" name="TextBox 21"/>
          <p:cNvSpPr txBox="1"/>
          <p:nvPr/>
        </p:nvSpPr>
        <p:spPr>
          <a:xfrm>
            <a:off x="8595360" y="44500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Fresh replacement needs</a:t>
            </a:r>
          </a:p>
        </p:txBody>
      </p:sp>
      <p:sp>
        <p:nvSpPr>
          <p:cNvPr id="23" name="TextBox 22"/>
          <p:cNvSpPr txBox="1"/>
          <p:nvPr/>
        </p:nvSpPr>
        <p:spPr>
          <a:xfrm>
            <a:off x="8595360" y="469392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explicit composition</a:t>
            </a:r>
          </a:p>
        </p:txBody>
      </p:sp>
      <p:sp>
        <p:nvSpPr>
          <p:cNvPr id="24" name="Rounded Rectangle 2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5" name="TextBox 24"/>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Recovery evidence covers same-host process termination with intact files; it does not prove power-loss durability.</a:t>
            </a:r>
          </a:p>
        </p:txBody>
      </p:sp>
      <p:cxnSp>
        <p:nvCxnSpPr>
          <p:cNvPr id="26" name="Connector 25"/>
          <p:cNvCxnSpPr/>
          <p:nvPr/>
        </p:nvCxnSpPr>
        <p:spPr>
          <a:xfrm>
            <a:off x="548640" y="6393180"/>
            <a:ext cx="11094720" cy="0"/>
          </a:xfrm>
          <a:prstGeom prst="line">
            <a:avLst/>
          </a:prstGeom>
          <a:ln w="7620">
            <a:solidFill>
              <a:srgbClr val="C9D2D4"/>
            </a:solidFill>
          </a:ln>
          <a:effectLst/>
        </p:spPr>
      </p:cxnSp>
      <p:sp>
        <p:nvSpPr>
          <p:cNvPr id="27" name="TextBox 2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Compatibility resolver · M5 source bfb0ec8</a:t>
            </a:r>
          </a:p>
        </p:txBody>
      </p:sp>
      <p:sp>
        <p:nvSpPr>
          <p:cNvPr id="28" name="TextBox 2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08 / BENCHMARKS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Measurements and benchmark gaps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Observed values, contract limits and proposed experiments are explicitly different kinds of evidence.</a:t>
            </a:r>
          </a:p>
        </p:txBody>
      </p:sp>
      <p:sp>
        <p:nvSpPr>
          <p:cNvPr id="5" name="Rounded Rectangle 4"/>
          <p:cNvSpPr/>
          <p:nvPr/>
        </p:nvSpPr>
        <p:spPr>
          <a:xfrm>
            <a:off x="54864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2390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5</a:t>
            </a:r>
          </a:p>
        </p:txBody>
      </p:sp>
      <p:sp>
        <p:nvSpPr>
          <p:cNvPr id="7" name="TextBox 6"/>
          <p:cNvSpPr txBox="1"/>
          <p:nvPr/>
        </p:nvSpPr>
        <p:spPr>
          <a:xfrm>
            <a:off x="72390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Ordered compatibility</a:t>
            </a:r>
          </a:p>
        </p:txBody>
      </p:sp>
      <p:sp>
        <p:nvSpPr>
          <p:cNvPr id="8" name="TextBox 7"/>
          <p:cNvSpPr txBox="1"/>
          <p:nvPr/>
        </p:nvSpPr>
        <p:spPr>
          <a:xfrm>
            <a:off x="72390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stages</a:t>
            </a:r>
          </a:p>
        </p:txBody>
      </p:sp>
      <p:sp>
        <p:nvSpPr>
          <p:cNvPr id="9" name="TextBox 8"/>
          <p:cNvSpPr txBox="1"/>
          <p:nvPr/>
        </p:nvSpPr>
        <p:spPr>
          <a:xfrm>
            <a:off x="72390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Version → profile → operations →</a:t>
            </a:r>
          </a:p>
        </p:txBody>
      </p:sp>
      <p:sp>
        <p:nvSpPr>
          <p:cNvPr id="10" name="TextBox 9"/>
          <p:cNvSpPr txBox="1"/>
          <p:nvPr/>
        </p:nvSpPr>
        <p:spPr>
          <a:xfrm>
            <a:off x="72390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resources → selection</a:t>
            </a:r>
          </a:p>
        </p:txBody>
      </p:sp>
      <p:sp>
        <p:nvSpPr>
          <p:cNvPr id="11" name="Rounded Rectangle 10"/>
          <p:cNvSpPr/>
          <p:nvPr/>
        </p:nvSpPr>
        <p:spPr>
          <a:xfrm>
            <a:off x="432816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2" name="TextBox 11"/>
          <p:cNvSpPr txBox="1"/>
          <p:nvPr/>
        </p:nvSpPr>
        <p:spPr>
          <a:xfrm>
            <a:off x="450342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1.2.3</a:t>
            </a:r>
          </a:p>
        </p:txBody>
      </p:sp>
      <p:sp>
        <p:nvSpPr>
          <p:cNvPr id="13" name="TextBox 12"/>
          <p:cNvSpPr txBox="1"/>
          <p:nvPr/>
        </p:nvSpPr>
        <p:spPr>
          <a:xfrm>
            <a:off x="450342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Additive same-major fixture</a:t>
            </a:r>
          </a:p>
        </p:txBody>
      </p:sp>
      <p:sp>
        <p:nvSpPr>
          <p:cNvPr id="14" name="TextBox 13"/>
          <p:cNvSpPr txBox="1"/>
          <p:nvPr/>
        </p:nvSpPr>
        <p:spPr>
          <a:xfrm>
            <a:off x="450342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Resolver test; actual M1 wire stays</a:t>
            </a:r>
          </a:p>
        </p:txBody>
      </p:sp>
      <p:sp>
        <p:nvSpPr>
          <p:cNvPr id="15" name="TextBox 14"/>
          <p:cNvSpPr txBox="1"/>
          <p:nvPr/>
        </p:nvSpPr>
        <p:spPr>
          <a:xfrm>
            <a:off x="450342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1.0.0</a:t>
            </a:r>
          </a:p>
        </p:txBody>
      </p:sp>
      <p:sp>
        <p:nvSpPr>
          <p:cNvPr id="16" name="Rounded Rectangle 15"/>
          <p:cNvSpPr/>
          <p:nvPr/>
        </p:nvSpPr>
        <p:spPr>
          <a:xfrm>
            <a:off x="810768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7" name="TextBox 16"/>
          <p:cNvSpPr txBox="1"/>
          <p:nvPr/>
        </p:nvSpPr>
        <p:spPr>
          <a:xfrm>
            <a:off x="8282939"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0</a:t>
            </a:r>
          </a:p>
        </p:txBody>
      </p:sp>
      <p:sp>
        <p:nvSpPr>
          <p:cNvPr id="18" name="TextBox 17"/>
          <p:cNvSpPr txBox="1"/>
          <p:nvPr/>
        </p:nvSpPr>
        <p:spPr>
          <a:xfrm>
            <a:off x="8282939"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Runtime effects from</a:t>
            </a:r>
          </a:p>
        </p:txBody>
      </p:sp>
      <p:sp>
        <p:nvSpPr>
          <p:cNvPr id="19" name="TextBox 18"/>
          <p:cNvSpPr txBox="1"/>
          <p:nvPr/>
        </p:nvSpPr>
        <p:spPr>
          <a:xfrm>
            <a:off x="8282939"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resolution</a:t>
            </a:r>
          </a:p>
        </p:txBody>
      </p:sp>
      <p:sp>
        <p:nvSpPr>
          <p:cNvPr id="20" name="TextBox 19"/>
          <p:cNvSpPr txBox="1"/>
          <p:nvPr/>
        </p:nvSpPr>
        <p:spPr>
          <a:xfrm>
            <a:off x="8282939"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Pure-function boundary</a:t>
            </a:r>
          </a:p>
        </p:txBody>
      </p:sp>
      <p:sp>
        <p:nvSpPr>
          <p:cNvPr id="21" name="TextBox 20"/>
          <p:cNvSpPr txBox="1"/>
          <p:nvPr/>
        </p:nvSpPr>
        <p:spPr>
          <a:xfrm>
            <a:off x="579120" y="409194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deterministic conformance properties, not measured selection performance. Advertised latency</a:t>
            </a:r>
          </a:p>
        </p:txBody>
      </p:sp>
      <p:sp>
        <p:nvSpPr>
          <p:cNvPr id="22" name="TextBox 21"/>
          <p:cNvSpPr txBox="1"/>
          <p:nvPr/>
        </p:nvSpPr>
        <p:spPr>
          <a:xfrm>
            <a:off x="579120" y="433578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metadata is not a benchmark or verified SLO from this resolver.</a:t>
            </a:r>
          </a:p>
        </p:txBody>
      </p:sp>
      <p:sp>
        <p:nvSpPr>
          <p:cNvPr id="23" name="Rounded Rectangle 22"/>
          <p:cNvSpPr/>
          <p:nvPr/>
        </p:nvSpPr>
        <p:spPr>
          <a:xfrm>
            <a:off x="548640" y="5067300"/>
            <a:ext cx="11094720" cy="1150620"/>
          </a:xfrm>
          <a:prstGeom prst="roundRect">
            <a:avLst>
              <a:gd name="adj" fmla="val 8609"/>
            </a:avLst>
          </a:prstGeom>
          <a:solidFill>
            <a:srgbClr val="F3E7CE"/>
          </a:solidFill>
          <a:ln w="7620">
            <a:solidFill>
              <a:srgbClr val="A86A15"/>
            </a:solidFill>
          </a:ln>
          <a:effectLst/>
        </p:spPr>
        <p:txBody>
          <a:bodyPr rtlCol="0" anchor="ctr"/>
          <a:lstStyle/>
          <a:p>
            <a:pPr algn="ctr"/>
          </a:p>
        </p:txBody>
      </p:sp>
      <p:sp>
        <p:nvSpPr>
          <p:cNvPr id="24" name="TextBox 23"/>
          <p:cNvSpPr txBox="1"/>
          <p:nvPr/>
        </p:nvSpPr>
        <p:spPr>
          <a:xfrm>
            <a:off x="716280" y="5234940"/>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A86A15"/>
                </a:solidFill>
                <a:latin typeface="DejaVu Sans"/>
              </a:rPr>
              <a:t>PROPOSED BENCHMARK · NOT RUN</a:t>
            </a:r>
          </a:p>
        </p:txBody>
      </p:sp>
      <p:sp>
        <p:nvSpPr>
          <p:cNvPr id="25" name="TextBox 24"/>
          <p:cNvSpPr txBox="1"/>
          <p:nvPr/>
        </p:nvSpPr>
        <p:spPr>
          <a:xfrm>
            <a:off x="716280" y="5545226"/>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Proposed: increasing descriptor count and rejection-stage mixes; measure p50/p95 selection time and allocations,</a:t>
            </a:r>
          </a:p>
        </p:txBody>
      </p:sp>
      <p:sp>
        <p:nvSpPr>
          <p:cNvPr id="26" name="TextBox 25"/>
          <p:cNvSpPr txBox="1"/>
          <p:nvPr/>
        </p:nvSpPr>
        <p:spPr>
          <a:xfrm>
            <a:off x="716280" y="5779312"/>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while preserving exact error and tie-break outcomes.</a:t>
            </a:r>
          </a:p>
        </p:txBody>
      </p:sp>
      <p:cxnSp>
        <p:nvCxnSpPr>
          <p:cNvPr id="27" name="Connector 26"/>
          <p:cNvCxnSpPr/>
          <p:nvPr/>
        </p:nvCxnSpPr>
        <p:spPr>
          <a:xfrm>
            <a:off x="548640" y="6393180"/>
            <a:ext cx="11094720" cy="0"/>
          </a:xfrm>
          <a:prstGeom prst="line">
            <a:avLst/>
          </a:prstGeom>
          <a:ln w="7620">
            <a:solidFill>
              <a:srgbClr val="C9D2D4"/>
            </a:solidFill>
          </a:ln>
          <a:effectLst/>
        </p:spPr>
      </p:cxnSp>
      <p:sp>
        <p:nvSpPr>
          <p:cNvPr id="28" name="TextBox 2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Compatibility resolver · M5 source bfb0ec8</a:t>
            </a:r>
          </a:p>
        </p:txBody>
      </p:sp>
      <p:sp>
        <p:nvSpPr>
          <p:cNvPr id="29" name="TextBox 2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09 / EVIDENCE CLASSIFICATION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Current state: what is real, what is not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supported regressions pass; historical observations and unsatisfied capabilities keep their labels.</a:t>
            </a:r>
          </a:p>
        </p:txBody>
      </p:sp>
      <p:sp>
        <p:nvSpPr>
          <p:cNvPr id="5" name="TextBox 4"/>
          <p:cNvSpPr txBox="1"/>
          <p:nvPr/>
        </p:nvSpPr>
        <p:spPr>
          <a:xfrm>
            <a:off x="670560" y="1790700"/>
            <a:ext cx="2651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a:t>
            </a:r>
          </a:p>
        </p:txBody>
      </p:sp>
      <p:sp>
        <p:nvSpPr>
          <p:cNvPr id="6" name="TextBox 5"/>
          <p:cNvSpPr txBox="1"/>
          <p:nvPr/>
        </p:nvSpPr>
        <p:spPr>
          <a:xfrm>
            <a:off x="3566160" y="1790700"/>
            <a:ext cx="7955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MODULE-SPECIFIC STATE</a:t>
            </a:r>
          </a:p>
        </p:txBody>
      </p:sp>
      <p:sp>
        <p:nvSpPr>
          <p:cNvPr id="7" name="Rounded Rectangle 6"/>
          <p:cNvSpPr/>
          <p:nvPr/>
        </p:nvSpPr>
        <p:spPr>
          <a:xfrm>
            <a:off x="548640" y="2110740"/>
            <a:ext cx="11094720" cy="815340"/>
          </a:xfrm>
          <a:prstGeom prst="roundRect">
            <a:avLst>
              <a:gd name="adj" fmla="val 5607"/>
            </a:avLst>
          </a:prstGeom>
          <a:solidFill>
            <a:srgbClr val="FFFFFF"/>
          </a:solidFill>
          <a:ln>
            <a:noFill/>
          </a:ln>
          <a:effectLst/>
        </p:spPr>
        <p:txBody>
          <a:bodyPr rtlCol="0" anchor="ctr"/>
          <a:lstStyle/>
          <a:p>
            <a:pPr algn="ctr"/>
          </a:p>
        </p:txBody>
      </p:sp>
      <p:sp>
        <p:nvSpPr>
          <p:cNvPr id="8" name="TextBox 7"/>
          <p:cNvSpPr txBox="1"/>
          <p:nvPr/>
        </p:nvSpPr>
        <p:spPr>
          <a:xfrm>
            <a:off x="670560" y="224028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REAL / IMPLEMENTED</a:t>
            </a:r>
          </a:p>
        </p:txBody>
      </p:sp>
      <p:sp>
        <p:nvSpPr>
          <p:cNvPr id="9" name="TextBox 8"/>
          <p:cNvSpPr txBox="1"/>
          <p:nvPr/>
        </p:nvSpPr>
        <p:spPr>
          <a:xfrm>
            <a:off x="3566160" y="224028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Executed pure Python resolution and descriptor-bound in-process/stdio calls.</a:t>
            </a:r>
          </a:p>
        </p:txBody>
      </p:sp>
      <p:sp>
        <p:nvSpPr>
          <p:cNvPr id="10" name="Rounded Rectangle 9"/>
          <p:cNvSpPr/>
          <p:nvPr/>
        </p:nvSpPr>
        <p:spPr>
          <a:xfrm>
            <a:off x="548640" y="2964179"/>
            <a:ext cx="11094720" cy="815340"/>
          </a:xfrm>
          <a:prstGeom prst="roundRect">
            <a:avLst>
              <a:gd name="adj" fmla="val 5607"/>
            </a:avLst>
          </a:prstGeom>
          <a:solidFill>
            <a:srgbClr val="FFFFFF"/>
          </a:solidFill>
          <a:ln>
            <a:noFill/>
          </a:ln>
          <a:effectLst/>
        </p:spPr>
        <p:txBody>
          <a:bodyPr rtlCol="0" anchor="ctr"/>
          <a:lstStyle/>
          <a:p>
            <a:pPr algn="ctr"/>
          </a:p>
        </p:txBody>
      </p:sp>
      <p:sp>
        <p:nvSpPr>
          <p:cNvPr id="11" name="TextBox 10"/>
          <p:cNvSpPr txBox="1"/>
          <p:nvPr/>
        </p:nvSpPr>
        <p:spPr>
          <a:xfrm>
            <a:off x="670560" y="309372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FIXTURE / LOCAL TEST</a:t>
            </a:r>
          </a:p>
        </p:txBody>
      </p:sp>
      <p:sp>
        <p:nvSpPr>
          <p:cNvPr id="12" name="TextBox 11"/>
          <p:cNvSpPr txBox="1"/>
          <p:nvPr/>
        </p:nvSpPr>
        <p:spPr>
          <a:xfrm>
            <a:off x="670560" y="33375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POLICY</a:t>
            </a:r>
          </a:p>
        </p:txBody>
      </p:sp>
      <p:sp>
        <p:nvSpPr>
          <p:cNvPr id="13" name="TextBox 12"/>
          <p:cNvSpPr txBox="1"/>
          <p:nvPr/>
        </p:nvSpPr>
        <p:spPr>
          <a:xfrm>
            <a:off x="3566160" y="30937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Synthetic versions, profiles, guarantees, payload limits and SLO metadata.</a:t>
            </a:r>
          </a:p>
        </p:txBody>
      </p:sp>
      <p:sp>
        <p:nvSpPr>
          <p:cNvPr id="14" name="Rounded Rectangle 13"/>
          <p:cNvSpPr/>
          <p:nvPr/>
        </p:nvSpPr>
        <p:spPr>
          <a:xfrm>
            <a:off x="548640" y="3817619"/>
            <a:ext cx="11094720" cy="815340"/>
          </a:xfrm>
          <a:prstGeom prst="roundRect">
            <a:avLst>
              <a:gd name="adj" fmla="val 5607"/>
            </a:avLst>
          </a:prstGeom>
          <a:solidFill>
            <a:srgbClr val="FFFFFF"/>
          </a:solidFill>
          <a:ln>
            <a:noFill/>
          </a:ln>
          <a:effectLst/>
        </p:spPr>
        <p:txBody>
          <a:bodyPr rtlCol="0" anchor="ctr"/>
          <a:lstStyle/>
          <a:p>
            <a:pPr algn="ctr"/>
          </a:p>
        </p:txBody>
      </p:sp>
      <p:sp>
        <p:nvSpPr>
          <p:cNvPr id="15" name="TextBox 14"/>
          <p:cNvSpPr txBox="1"/>
          <p:nvPr/>
        </p:nvSpPr>
        <p:spPr>
          <a:xfrm>
            <a:off x="670560" y="39471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BLOCKED /</a:t>
            </a:r>
          </a:p>
        </p:txBody>
      </p:sp>
      <p:sp>
        <p:nvSpPr>
          <p:cNvPr id="16" name="TextBox 15"/>
          <p:cNvSpPr txBox="1"/>
          <p:nvPr/>
        </p:nvSpPr>
        <p:spPr>
          <a:xfrm>
            <a:off x="670560" y="41910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UNSUPPORTED</a:t>
            </a:r>
          </a:p>
        </p:txBody>
      </p:sp>
      <p:sp>
        <p:nvSpPr>
          <p:cNvPr id="17" name="TextBox 16"/>
          <p:cNvSpPr txBox="1"/>
          <p:nvPr/>
        </p:nvSpPr>
        <p:spPr>
          <a:xfrm>
            <a:off x="3566160" y="39471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requirement for verification cannot pass until a supported verifier exists.</a:t>
            </a:r>
          </a:p>
        </p:txBody>
      </p:sp>
      <p:sp>
        <p:nvSpPr>
          <p:cNvPr id="18" name="Rounded Rectangle 17"/>
          <p:cNvSpPr/>
          <p:nvPr/>
        </p:nvSpPr>
        <p:spPr>
          <a:xfrm>
            <a:off x="548640" y="4671060"/>
            <a:ext cx="11094720" cy="815340"/>
          </a:xfrm>
          <a:prstGeom prst="roundRect">
            <a:avLst>
              <a:gd name="adj" fmla="val 5607"/>
            </a:avLst>
          </a:prstGeom>
          <a:solidFill>
            <a:srgbClr val="FFFFFF"/>
          </a:solidFill>
          <a:ln>
            <a:noFill/>
          </a:ln>
          <a:effectLst/>
        </p:spPr>
        <p:txBody>
          <a:bodyPr rtlCol="0" anchor="ctr"/>
          <a:lstStyle/>
          <a:p>
            <a:pPr algn="ctr"/>
          </a:p>
        </p:txBody>
      </p:sp>
      <p:sp>
        <p:nvSpPr>
          <p:cNvPr id="19" name="TextBox 18"/>
          <p:cNvSpPr txBox="1"/>
          <p:nvPr/>
        </p:nvSpPr>
        <p:spPr>
          <a:xfrm>
            <a:off x="670560" y="48006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UNRUN</a:t>
            </a:r>
          </a:p>
        </p:txBody>
      </p:sp>
      <p:sp>
        <p:nvSpPr>
          <p:cNvPr id="20" name="TextBox 19"/>
          <p:cNvSpPr txBox="1"/>
          <p:nvPr/>
        </p:nvSpPr>
        <p:spPr>
          <a:xfrm>
            <a:off x="3566160" y="48006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Large dynamic catalogues, remote attestation, availability optimization and</a:t>
            </a:r>
          </a:p>
        </p:txBody>
      </p:sp>
      <p:sp>
        <p:nvSpPr>
          <p:cNvPr id="21" name="TextBox 20"/>
          <p:cNvSpPr txBox="1"/>
          <p:nvPr/>
        </p:nvSpPr>
        <p:spPr>
          <a:xfrm>
            <a:off x="3566160" y="504444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adaptive scheduling.</a:t>
            </a:r>
          </a:p>
        </p:txBody>
      </p:sp>
      <p:sp>
        <p:nvSpPr>
          <p:cNvPr id="22" name="Rounded Rectangle 21"/>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3" name="TextBox 22"/>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M5 final tested runtime: bfb0ec8 · evidence: 3dc6c11 · module representation is not product completeness.</a:t>
            </a:r>
          </a:p>
        </p:txBody>
      </p:sp>
      <p:cxnSp>
        <p:nvCxnSpPr>
          <p:cNvPr id="24" name="Connector 23"/>
          <p:cNvCxnSpPr/>
          <p:nvPr/>
        </p:nvCxnSpPr>
        <p:spPr>
          <a:xfrm>
            <a:off x="548640" y="6393180"/>
            <a:ext cx="11094720" cy="0"/>
          </a:xfrm>
          <a:prstGeom prst="line">
            <a:avLst/>
          </a:prstGeom>
          <a:ln w="7620">
            <a:solidFill>
              <a:srgbClr val="C9D2D4"/>
            </a:solidFill>
          </a:ln>
          <a:effectLst/>
        </p:spPr>
      </p:cxnSp>
      <p:sp>
        <p:nvSpPr>
          <p:cNvPr id="25" name="TextBox 24"/>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Compatibility resolver · M5 source bfb0ec8</a:t>
            </a:r>
          </a:p>
        </p:txBody>
      </p:sp>
      <p:sp>
        <p:nvSpPr>
          <p:cNvPr id="26" name="TextBox 25"/>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10 / PROPOSED WORK · NOT IMPLEMENTED</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Future directions need acceptance criteria</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discussion options, not a committed roadmap or permission to expand the current profile.</a:t>
            </a:r>
          </a:p>
        </p:txBody>
      </p:sp>
      <p:sp>
        <p:nvSpPr>
          <p:cNvPr id="5" name="TextBox 4"/>
          <p:cNvSpPr txBox="1"/>
          <p:nvPr/>
        </p:nvSpPr>
        <p:spPr>
          <a:xfrm>
            <a:off x="670560" y="1790700"/>
            <a:ext cx="2880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DIRECTION</a:t>
            </a:r>
          </a:p>
        </p:txBody>
      </p:sp>
      <p:sp>
        <p:nvSpPr>
          <p:cNvPr id="6" name="TextBox 5"/>
          <p:cNvSpPr txBox="1"/>
          <p:nvPr/>
        </p:nvSpPr>
        <p:spPr>
          <a:xfrm>
            <a:off x="3794760" y="1790700"/>
            <a:ext cx="3870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PREREQUISITE / DESIGN GATE</a:t>
            </a:r>
          </a:p>
        </p:txBody>
      </p:sp>
      <p:sp>
        <p:nvSpPr>
          <p:cNvPr id="7" name="TextBox 6"/>
          <p:cNvSpPr txBox="1"/>
          <p:nvPr/>
        </p:nvSpPr>
        <p:spPr>
          <a:xfrm>
            <a:off x="7909559" y="1790700"/>
            <a:ext cx="3611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MEASURE OF SUCCESS</a:t>
            </a:r>
          </a:p>
        </p:txBody>
      </p:sp>
      <p:sp>
        <p:nvSpPr>
          <p:cNvPr id="8" name="Rounded Rectangle 7"/>
          <p:cNvSpPr/>
          <p:nvPr/>
        </p:nvSpPr>
        <p:spPr>
          <a:xfrm>
            <a:off x="548640" y="2110740"/>
            <a:ext cx="11094720" cy="1059180"/>
          </a:xfrm>
          <a:prstGeom prst="roundRect">
            <a:avLst>
              <a:gd name="adj" fmla="val 4316"/>
            </a:avLst>
          </a:prstGeom>
          <a:solidFill>
            <a:srgbClr val="FFFFFF"/>
          </a:solidFill>
          <a:ln>
            <a:noFill/>
          </a:ln>
          <a:effectLst/>
        </p:spPr>
        <p:txBody>
          <a:bodyPr rtlCol="0" anchor="ctr"/>
          <a:lstStyle/>
          <a:p>
            <a:pPr algn="ctr"/>
          </a:p>
        </p:txBody>
      </p:sp>
      <p:sp>
        <p:nvSpPr>
          <p:cNvPr id="9" name="TextBox 8"/>
          <p:cNvSpPr txBox="1"/>
          <p:nvPr/>
        </p:nvSpPr>
        <p:spPr>
          <a:xfrm>
            <a:off x="670560" y="22402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Explain selection</a:t>
            </a:r>
          </a:p>
        </p:txBody>
      </p:sp>
      <p:sp>
        <p:nvSpPr>
          <p:cNvPr id="10" name="TextBox 9"/>
          <p:cNvSpPr txBox="1"/>
          <p:nvPr/>
        </p:nvSpPr>
        <p:spPr>
          <a:xfrm>
            <a:off x="670560" y="248412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decisions</a:t>
            </a:r>
          </a:p>
        </p:txBody>
      </p:sp>
      <p:sp>
        <p:nvSpPr>
          <p:cNvPr id="11" name="TextBox 10"/>
          <p:cNvSpPr txBox="1"/>
          <p:nvPr/>
        </p:nvSpPr>
        <p:spPr>
          <a:xfrm>
            <a:off x="3794760" y="22402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Structured reason trace without</a:t>
            </a:r>
          </a:p>
        </p:txBody>
      </p:sp>
      <p:sp>
        <p:nvSpPr>
          <p:cNvPr id="12" name="TextBox 11"/>
          <p:cNvSpPr txBox="1"/>
          <p:nvPr/>
        </p:nvSpPr>
        <p:spPr>
          <a:xfrm>
            <a:off x="3794760" y="248412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relaxing filters</a:t>
            </a:r>
          </a:p>
        </p:txBody>
      </p:sp>
      <p:sp>
        <p:nvSpPr>
          <p:cNvPr id="13" name="TextBox 12"/>
          <p:cNvSpPr txBox="1"/>
          <p:nvPr/>
        </p:nvSpPr>
        <p:spPr>
          <a:xfrm>
            <a:off x="7909559" y="22402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Operators can reproduce each</a:t>
            </a:r>
          </a:p>
        </p:txBody>
      </p:sp>
      <p:sp>
        <p:nvSpPr>
          <p:cNvPr id="14" name="TextBox 13"/>
          <p:cNvSpPr txBox="1"/>
          <p:nvPr/>
        </p:nvSpPr>
        <p:spPr>
          <a:xfrm>
            <a:off x="7909559" y="248412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rejection</a:t>
            </a:r>
          </a:p>
        </p:txBody>
      </p:sp>
      <p:sp>
        <p:nvSpPr>
          <p:cNvPr id="15" name="Rounded Rectangle 14"/>
          <p:cNvSpPr/>
          <p:nvPr/>
        </p:nvSpPr>
        <p:spPr>
          <a:xfrm>
            <a:off x="548640" y="3208020"/>
            <a:ext cx="11094720" cy="1059180"/>
          </a:xfrm>
          <a:prstGeom prst="roundRect">
            <a:avLst>
              <a:gd name="adj" fmla="val 4316"/>
            </a:avLst>
          </a:prstGeom>
          <a:solidFill>
            <a:srgbClr val="FFFFFF"/>
          </a:solidFill>
          <a:ln>
            <a:noFill/>
          </a:ln>
          <a:effectLst/>
        </p:spPr>
        <p:txBody>
          <a:bodyPr rtlCol="0" anchor="ctr"/>
          <a:lstStyle/>
          <a:p>
            <a:pPr algn="ctr"/>
          </a:p>
        </p:txBody>
      </p:sp>
      <p:sp>
        <p:nvSpPr>
          <p:cNvPr id="16" name="TextBox 15"/>
          <p:cNvSpPr txBox="1"/>
          <p:nvPr/>
        </p:nvSpPr>
        <p:spPr>
          <a:xfrm>
            <a:off x="670560" y="333756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Connect verified evidence</a:t>
            </a:r>
          </a:p>
        </p:txBody>
      </p:sp>
      <p:sp>
        <p:nvSpPr>
          <p:cNvPr id="17" name="TextBox 16"/>
          <p:cNvSpPr txBox="1"/>
          <p:nvPr/>
        </p:nvSpPr>
        <p:spPr>
          <a:xfrm>
            <a:off x="3794760" y="333756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Explicit verifier and freshness contract</a:t>
            </a:r>
          </a:p>
        </p:txBody>
      </p:sp>
      <p:sp>
        <p:nvSpPr>
          <p:cNvPr id="18" name="TextBox 17"/>
          <p:cNvSpPr txBox="1"/>
          <p:nvPr/>
        </p:nvSpPr>
        <p:spPr>
          <a:xfrm>
            <a:off x="7909559" y="333756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Only independently checked claims</a:t>
            </a:r>
          </a:p>
        </p:txBody>
      </p:sp>
      <p:sp>
        <p:nvSpPr>
          <p:cNvPr id="19" name="TextBox 18"/>
          <p:cNvSpPr txBox="1"/>
          <p:nvPr/>
        </p:nvSpPr>
        <p:spPr>
          <a:xfrm>
            <a:off x="7909559" y="358140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satisfy proof requirements</a:t>
            </a:r>
          </a:p>
        </p:txBody>
      </p:sp>
      <p:sp>
        <p:nvSpPr>
          <p:cNvPr id="20" name="Rounded Rectangle 19"/>
          <p:cNvSpPr/>
          <p:nvPr/>
        </p:nvSpPr>
        <p:spPr>
          <a:xfrm>
            <a:off x="548640" y="4305300"/>
            <a:ext cx="11094720" cy="1059180"/>
          </a:xfrm>
          <a:prstGeom prst="roundRect">
            <a:avLst>
              <a:gd name="adj" fmla="val 4316"/>
            </a:avLst>
          </a:prstGeom>
          <a:solidFill>
            <a:srgbClr val="FFFFFF"/>
          </a:solidFill>
          <a:ln>
            <a:noFill/>
          </a:ln>
          <a:effectLst/>
        </p:spPr>
        <p:txBody>
          <a:bodyPr rtlCol="0" anchor="ctr"/>
          <a:lstStyle/>
          <a:p>
            <a:pPr algn="ctr"/>
          </a:p>
        </p:txBody>
      </p:sp>
      <p:sp>
        <p:nvSpPr>
          <p:cNvPr id="21" name="TextBox 20"/>
          <p:cNvSpPr txBox="1"/>
          <p:nvPr/>
        </p:nvSpPr>
        <p:spPr>
          <a:xfrm>
            <a:off x="670560" y="443484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Measure catalogue scale</a:t>
            </a:r>
          </a:p>
        </p:txBody>
      </p:sp>
      <p:sp>
        <p:nvSpPr>
          <p:cNvPr id="22" name="TextBox 21"/>
          <p:cNvSpPr txBox="1"/>
          <p:nvPr/>
        </p:nvSpPr>
        <p:spPr>
          <a:xfrm>
            <a:off x="3794760" y="443484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Controlled sizes and worst-case</a:t>
            </a:r>
          </a:p>
        </p:txBody>
      </p:sp>
      <p:sp>
        <p:nvSpPr>
          <p:cNvPr id="23" name="TextBox 22"/>
          <p:cNvSpPr txBox="1"/>
          <p:nvPr/>
        </p:nvSpPr>
        <p:spPr>
          <a:xfrm>
            <a:off x="3794760" y="46786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rejection mix</a:t>
            </a:r>
          </a:p>
        </p:txBody>
      </p:sp>
      <p:sp>
        <p:nvSpPr>
          <p:cNvPr id="24" name="TextBox 23"/>
          <p:cNvSpPr txBox="1"/>
          <p:nvPr/>
        </p:nvSpPr>
        <p:spPr>
          <a:xfrm>
            <a:off x="7909559" y="443484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Deterministic semantics survive</a:t>
            </a:r>
          </a:p>
        </p:txBody>
      </p:sp>
      <p:sp>
        <p:nvSpPr>
          <p:cNvPr id="25" name="TextBox 24"/>
          <p:cNvSpPr txBox="1"/>
          <p:nvPr/>
        </p:nvSpPr>
        <p:spPr>
          <a:xfrm>
            <a:off x="7909559" y="46786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optimization</a:t>
            </a:r>
          </a:p>
        </p:txBody>
      </p:sp>
      <p:sp>
        <p:nvSpPr>
          <p:cNvPr id="26" name="Rounded Rectangle 25"/>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7" name="TextBox 26"/>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Keep ownership, current authorization and explicit compatibility intact; qualify new semantics with a new profile.</a:t>
            </a:r>
          </a:p>
        </p:txBody>
      </p:sp>
      <p:cxnSp>
        <p:nvCxnSpPr>
          <p:cNvPr id="28" name="Connector 27"/>
          <p:cNvCxnSpPr/>
          <p:nvPr/>
        </p:nvCxnSpPr>
        <p:spPr>
          <a:xfrm>
            <a:off x="548640" y="6393180"/>
            <a:ext cx="11094720" cy="0"/>
          </a:xfrm>
          <a:prstGeom prst="line">
            <a:avLst/>
          </a:prstGeom>
          <a:ln w="7620">
            <a:solidFill>
              <a:srgbClr val="C9D2D4"/>
            </a:solidFill>
          </a:ln>
          <a:effectLst/>
        </p:spPr>
      </p:cxnSp>
      <p:sp>
        <p:nvSpPr>
          <p:cNvPr id="29" name="TextBox 2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Compatibility resolver · M5 source bfb0ec8</a:t>
            </a:r>
          </a:p>
        </p:txBody>
      </p:sp>
      <p:sp>
        <p:nvSpPr>
          <p:cNvPr id="30" name="TextBox 2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11 / SOURCES AND TAKEAWAY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Evidence you can inspect and reproduce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the exact code, contracts and recorded run before treating a claim as a guarantee.</a:t>
            </a:r>
          </a:p>
        </p:txBody>
      </p:sp>
      <p:sp>
        <p:nvSpPr>
          <p:cNvPr id="5" name="Rounded Rectangle 4"/>
          <p:cNvSpPr/>
          <p:nvPr/>
        </p:nvSpPr>
        <p:spPr>
          <a:xfrm>
            <a:off x="548640" y="178308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6" name="TextBox 5"/>
          <p:cNvSpPr txBox="1"/>
          <p:nvPr/>
        </p:nvSpPr>
        <p:spPr>
          <a:xfrm>
            <a:off x="716280" y="19507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Takeaway</a:t>
            </a:r>
          </a:p>
        </p:txBody>
      </p:sp>
      <p:sp>
        <p:nvSpPr>
          <p:cNvPr id="7" name="TextBox 6"/>
          <p:cNvSpPr txBox="1"/>
          <p:nvPr/>
        </p:nvSpPr>
        <p:spPr>
          <a:xfrm>
            <a:off x="716280" y="23000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Compatibility is a conjunction of requirements, not a matching name.</a:t>
            </a:r>
          </a:p>
        </p:txBody>
      </p:sp>
      <p:sp>
        <p:nvSpPr>
          <p:cNvPr id="8" name="TextBox 7"/>
          <p:cNvSpPr txBox="1"/>
          <p:nvPr/>
        </p:nvSpPr>
        <p:spPr>
          <a:xfrm>
            <a:off x="609600" y="2819400"/>
            <a:ext cx="1097280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536775"/>
                </a:solidFill>
                <a:latin typeface="DejaVu Sans"/>
              </a:rPr>
              <a:t>SUPPORTED REPRODUCTION ENTRYPOINT · PREREQUISITES REQUIRED</a:t>
            </a:r>
          </a:p>
        </p:txBody>
      </p:sp>
      <p:sp>
        <p:nvSpPr>
          <p:cNvPr id="9" name="TextBox 8"/>
          <p:cNvSpPr txBox="1"/>
          <p:nvPr/>
        </p:nvSpPr>
        <p:spPr>
          <a:xfrm>
            <a:off x="609600" y="3124200"/>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uv run --python 3.11 --locked python scripts/verify_m11.py --fixture-only</a:t>
            </a:r>
          </a:p>
        </p:txBody>
      </p:sp>
      <p:sp>
        <p:nvSpPr>
          <p:cNvPr id="10" name="TextBox 9"/>
          <p:cNvSpPr txBox="1"/>
          <p:nvPr/>
        </p:nvSpPr>
        <p:spPr>
          <a:xfrm>
            <a:off x="609600" y="372617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Positive and negative descriptor fixtures are the appropriate evidence here; they do not validate a provider’s</a:t>
            </a:r>
          </a:p>
        </p:txBody>
      </p:sp>
      <p:sp>
        <p:nvSpPr>
          <p:cNvPr id="11" name="TextBox 10"/>
          <p:cNvSpPr txBox="1"/>
          <p:nvPr/>
        </p:nvSpPr>
        <p:spPr>
          <a:xfrm>
            <a:off x="609600" y="397001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real-world SLO or security.</a:t>
            </a:r>
          </a:p>
        </p:txBody>
      </p:sp>
      <p:sp>
        <p:nvSpPr>
          <p:cNvPr id="12" name="TextBox 11"/>
          <p:cNvSpPr txBox="1"/>
          <p:nvPr/>
        </p:nvSpPr>
        <p:spPr>
          <a:xfrm>
            <a:off x="609600" y="471678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fusion/registry.py</a:t>
            </a:r>
          </a:p>
        </p:txBody>
      </p:sp>
      <p:sp>
        <p:nvSpPr>
          <p:cNvPr id="13" name="TextBox 12"/>
          <p:cNvSpPr txBox="1"/>
          <p:nvPr/>
        </p:nvSpPr>
        <p:spPr>
          <a:xfrm>
            <a:off x="609600" y="496824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fusion/bindings.py</a:t>
            </a:r>
          </a:p>
        </p:txBody>
      </p:sp>
      <p:sp>
        <p:nvSpPr>
          <p:cNvPr id="14" name="TextBox 13"/>
          <p:cNvSpPr txBox="1"/>
          <p:nvPr/>
        </p:nvSpPr>
        <p:spPr>
          <a:xfrm>
            <a:off x="609600" y="521970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tests/test_contract.py</a:t>
            </a:r>
          </a:p>
        </p:txBody>
      </p:sp>
      <p:sp>
        <p:nvSpPr>
          <p:cNvPr id="15" name="TextBox 14"/>
          <p:cNvSpPr txBox="1"/>
          <p:nvPr/>
        </p:nvSpPr>
        <p:spPr>
          <a:xfrm>
            <a:off x="609600" y="547116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tests/test_m11.py</a:t>
            </a:r>
          </a:p>
        </p:txBody>
      </p:sp>
      <p:sp>
        <p:nvSpPr>
          <p:cNvPr id="16" name="TextBox 15"/>
          <p:cNvSpPr txBox="1"/>
          <p:nvPr/>
        </p:nvSpPr>
        <p:spPr>
          <a:xfrm>
            <a:off x="609600" y="5867400"/>
            <a:ext cx="10896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536775"/>
                </a:solidFill>
                <a:latin typeface="DejaVu Sans"/>
              </a:rPr>
              <a:t>Source 494df69a1ac401c3d3b2cf79dbfde07f74b5e277 · all citations and full notes accompany this deck.</a:t>
            </a:r>
          </a:p>
        </p:txBody>
      </p:sp>
      <p:cxnSp>
        <p:nvCxnSpPr>
          <p:cNvPr id="17" name="Connector 16"/>
          <p:cNvCxnSpPr/>
          <p:nvPr/>
        </p:nvCxnSpPr>
        <p:spPr>
          <a:xfrm>
            <a:off x="548640" y="6393180"/>
            <a:ext cx="11094720" cy="0"/>
          </a:xfrm>
          <a:prstGeom prst="line">
            <a:avLst/>
          </a:prstGeom>
          <a:ln w="7620">
            <a:solidFill>
              <a:srgbClr val="C9D2D4"/>
            </a:solidFill>
          </a:ln>
          <a:effectLst/>
        </p:spPr>
      </p:cxnSp>
      <p:sp>
        <p:nvSpPr>
          <p:cNvPr id="18" name="TextBox 1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Compatibility resolver · M5 source bfb0ec8</a:t>
            </a:r>
          </a:p>
        </p:txBody>
      </p:sp>
      <p:sp>
        <p:nvSpPr>
          <p:cNvPr id="19" name="TextBox 1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Omega × ASI — Compatibility resolver</dc:title>
  <dc:subject>Pure deterministic filtering of descriptors against explicit version, profile, operation, guarantee and resource requirements.</dc:subject>
  <dc:creator>Omega × ASI module-interface project</dc:creator>
  <cp:keywords>Omega, ASI, M5, ELI16, Compatibility resolver</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