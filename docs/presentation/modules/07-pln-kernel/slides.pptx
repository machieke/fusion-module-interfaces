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analogy, then state the technical responsibility: Apply the existing guarded five-premise grounded deduction implementation under exact source/runtime profiles. Separating numerical proposals from admission prevents a runtime or formula replacement from silently acquiring authority over beliefs, budgets or search. Do not treat the analogy as an additional experiment. This is a standalone talk about one responsibility, not a claim that every module is a separate service or repository.</a:t>
            </a:r>
          </a:p>
          <a:p/>
          <a:p>
            <a:r>
              <a:t>Evidence and implementation: [pln_deduction.py](https://github.com/machieke/fusion-module-interfaces/blob/494df69a1ac401c3d3b2cf79dbfde07f74b5e277/fusion/adapters/pln_deduction.py), [test_deduction.py](https://github.com/machieke/fusion-module-interfaces/blob/494df69a1ac401c3d3b2cf79dbfde07f74b5e277/integration/pln/test_deduction.py), [deduction-sources.json](https://github.com/machieke/fusion-module-interfaces/blob/494df69a1ac401c3d3b2cf79dbfde07f74b5e277/integration/pln/deduction-sources.json), [m3-evidence.md](https://github.com/machieke/fusion-module-interfaces/blob/494df69a1ac401c3d3b2cf79dbfde07f74b5e277/docs/module-interfaces/m3-evidence.md), [verification.json](https://github.com/machieke/fusion-module-interfaces/blob/494df69a1ac401c3d3b2cf79dbfde07f74b5e277/docs/module-interfaces/evidence/m3/final/verification.json).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PLNKernel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PLNKernel in the bounded fifteen-family inventory. The grey groups are explanatory categories, not deployment units. RevisionMath, the evidence relay, native plugins and transport bindings are supporting seams rather than additional module families. Registry and Resolver are separate responsibilities even though both are implemented in registry.py. Fifteen represented families is not full Omega requirements coverage. PLNKernel has no domain journal, AtomStorage, Attention, C1 or scheduler dependency. RevisionMath is a separate pure revision port; neither is a general inference controller.</a:t>
            </a:r>
          </a:p>
          <a:p/>
          <a:p>
            <a:r>
              <a:t>Evidence and implementation: [pln_deduction.py](https://github.com/machieke/fusion-module-interfaces/blob/494df69a1ac401c3d3b2cf79dbfde07f74b5e277/fusion/adapters/pln_deduction.py), [test_deduction.py](https://github.com/machieke/fusion-module-interfaces/blob/494df69a1ac401c3d3b2cf79dbfde07f74b5e277/integration/pln/test_deduction.py), [deduction-sources.json](https://github.com/machieke/fusion-module-interfaces/blob/494df69a1ac401c3d3b2cf79dbfde07f74b5e277/integration/pln/deduction-sources.json), [m3-evidence.md](https://github.com/machieke/fusion-module-interfaces/blob/494df69a1ac401c3d3b2cf79dbfde07f74b5e277/docs/module-interfaces/m3-evidence.md), [verification.json](https://github.com/machieke/fusion-module-interfaces/blob/494df69a1ac401c3d3b2cf79dbfde07f74b5e277/docs/module-interfaces/evidence/m3/final/verification.json).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PLNKernel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PLNKernel has no domain journal, AtomStorage, Attention, C1 or scheduler dependency. RevisionMath is a separate pure revision port; neither is a general inference controller. The left node is a caller or caller class; the right nodes distinguish foreign ports, pure helpers, local state and runtime internals. There is no implied shared transaction. C2 validates exact claim/lineage and commits the result.</a:t>
            </a:r>
          </a:p>
          <a:p/>
          <a:p>
            <a:r>
              <a:t>Evidence and implementation: [pln_deduction.py](https://github.com/machieke/fusion-module-interfaces/blob/494df69a1ac401c3d3b2cf79dbfde07f74b5e277/fusion/adapters/pln_deduction.py), [test_deduction.py](https://github.com/machieke/fusion-module-interfaces/blob/494df69a1ac401c3d3b2cf79dbfde07f74b5e277/integration/pln/test_deduction.py), [deduction-sources.json](https://github.com/machieke/fusion-module-interfaces/blob/494df69a1ac401c3d3b2cf79dbfde07f74b5e277/integration/pln/deduction-sources.json), [m3-evidence.md](https://github.com/machieke/fusion-module-interfaces/blob/494df69a1ac401c3d3b2cf79dbfde07f74b5e277/docs/module-interfaces/m3-evidence.md), [verification.json](https://github.com/machieke/fusion-module-interfaces/blob/494df69a1ac401c3d3b2cf79dbfde07f74b5e277/docs/module-interfaces/evidence/m3/final/verification.json).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PLNKernel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ownership is the key contract, not the file layout. No mutable domain state: A pure proposal interface; selected runtime identity is explicit. Guarded execution boundary: Validate inputs, source/profile compatibility and returned proposal. Admission and provenance authority: C2 validates exact claim/lineage and commits the result. Search and work budgets: No PLN.Query/Derive loop, agenda, task generation or attention mutation. Explicit compatibility: grounded-five-premise-deduction/1 · fusion-petta-swi-10.1.14-deduction/1. Limits: One bounded grounded rule; heuristic truth model; no belief, budget or agenda state.</a:t>
            </a:r>
          </a:p>
          <a:p/>
          <a:p>
            <a:r>
              <a:t>Evidence and implementation: [pln_deduction.py](https://github.com/machieke/fusion-module-interfaces/blob/494df69a1ac401c3d3b2cf79dbfde07f74b5e277/fusion/adapters/pln_deduction.py), [test_deduction.py](https://github.com/machieke/fusion-module-interfaces/blob/494df69a1ac401c3d3b2cf79dbfde07f74b5e277/integration/pln/test_deduction.py), [deduction-sources.json](https://github.com/machieke/fusion-module-interfaces/blob/494df69a1ac401c3d3b2cf79dbfde07f74b5e277/integration/pln/deduction-sources.json), [m3-evidence.md](https://github.com/machieke/fusion-module-interfaces/blob/494df69a1ac401c3d3b2cf79dbfde07f74b5e277/docs/module-interfaces/m3-evidence.md), [verification.json](https://github.com/machieke/fusion-module-interfaces/blob/494df69a1ac401c3d3b2cf79dbfde07f74b5e277/docs/module-interfaces/evidence/m3/final/verification.json).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PLNKernel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contract from inputs to effects. profile: Identify model, rule, runtime and pinned sources; Compatibility is explicit before use. applyRule: Evaluate P, Q, R, P⇒Q, Q⇒R; One grounded proposal for P⇒R. RevisionMath.revise: Separate narrow revision dependency; Not an extra kernel method or general inference loop. Operation groups on this slide are not a new coverage denominator. The evidence ledger distinguishes new operations from inherited dependencies. Supporting internal helpers are labelled as seams and are not advertised remote services.</a:t>
            </a:r>
          </a:p>
          <a:p/>
          <a:p>
            <a:r>
              <a:t>Evidence and implementation: [pln_deduction.py](https://github.com/machieke/fusion-module-interfaces/blob/494df69a1ac401c3d3b2cf79dbfde07f74b5e277/fusion/adapters/pln_deduction.py), [test_deduction.py](https://github.com/machieke/fusion-module-interfaces/blob/494df69a1ac401c3d3b2cf79dbfde07f74b5e277/integration/pln/test_deduction.py), [deduction-sources.json](https://github.com/machieke/fusion-module-interfaces/blob/494df69a1ac401c3d3b2cf79dbfde07f74b5e277/integration/pln/deduction-sources.json), [m3-evidence.md](https://github.com/machieke/fusion-module-interfaces/blob/494df69a1ac401c3d3b2cf79dbfde07f74b5e277/docs/module-interfaces/m3-evidence.md), [verification.json](https://github.com/machieke/fusion-module-interfaces/blob/494df69a1ac401c3d3b2cf79dbfde07f74b5e277/docs/module-interfaces/evidence/m3/final/verification.json).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PLNKernel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responsibility to observable behavior. 1. Bind premises: Exact historical supports for five grounded roles. 2. Validate: Check domains, bindings and probability consistency. 3. Execute native: Run unchanged guarded Truth_Deduction. 4. Return proposal: C2 rechecks authority and decides admission. Evidence classification: REAL native PeTTa / PLN · generated exact premises; no replacement mathematics. Do not infer performance, broad production readiness or extra runtime integrations from this example.</a:t>
            </a:r>
          </a:p>
          <a:p/>
          <a:p>
            <a:r>
              <a:t>Evidence and implementation: [pln_deduction.py](https://github.com/machieke/fusion-module-interfaces/blob/494df69a1ac401c3d3b2cf79dbfde07f74b5e277/fusion/adapters/pln_deduction.py), [test_deduction.py](https://github.com/machieke/fusion-module-interfaces/blob/494df69a1ac401c3d3b2cf79dbfde07f74b5e277/integration/pln/test_deduction.py), [deduction-sources.json](https://github.com/machieke/fusion-module-interfaces/blob/494df69a1ac401c3d3b2cf79dbfde07f74b5e277/integration/pln/deduction-sources.json), [m3-evidence.md](https://github.com/machieke/fusion-module-interfaces/blob/494df69a1ac401c3d3b2cf79dbfde07f74b5e277/docs/module-interfaces/m3-evidence.md), [verification.json](https://github.com/machieke/fusion-module-interfaces/blob/494df69a1ac401c3d3b2cf79dbfde07f74b5e277/docs/module-interfaces/evidence/m3/final/verification.json).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PLNKernel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invariants should survive provider substitution and future optimization. Pinned mathematics: No alternative formula is substituted to obtain a desired result. Exact premise vector: Historical support identities are not replaced by latest beliefs. Refuse invalid domains: Nonfinite or inconsistent inputs fail guarded checks. No owner writes: A successful formula result alone changes no belief or attention state. The supporting tests and runtime evidence are in the linked sources; this slide does not claim a formal proof or a production security audit.</a:t>
            </a:r>
          </a:p>
          <a:p/>
          <a:p>
            <a:r>
              <a:t>Evidence and implementation: [pln_deduction.py](https://github.com/machieke/fusion-module-interfaces/blob/494df69a1ac401c3d3b2cf79dbfde07f74b5e277/fusion/adapters/pln_deduction.py), [test_deduction.py](https://github.com/machieke/fusion-module-interfaces/blob/494df69a1ac401c3d3b2cf79dbfde07f74b5e277/integration/pln/test_deduction.py), [deduction-sources.json](https://github.com/machieke/fusion-module-interfaces/blob/494df69a1ac401c3d3b2cf79dbfde07f74b5e277/integration/pln/deduction-sources.json), [m3-evidence.md](https://github.com/machieke/fusion-module-interfaces/blob/494df69a1ac401c3d3b2cf79dbfde07f74b5e277/docs/module-interfaces/m3-evidence.md), [verification.json](https://github.com/machieke/fusion-module-interfaces/blob/494df69a1ac401c3d3b2cf79dbfde07f74b5e277/docs/module-interfaces/evidence/m3/final/verification.json).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PLNKernel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owner boundary before the recovery claim. Native process unavailable: Return explicit unavailable/failed attempt semantics. No fixture fallback for real gate. Crash around formula return: C2/C4 journals govern recovery and spent attempts. Kernel is not the recovery owner. Source/runtime mismatch: Reject incompatible selection before admission. Historical SWI 10.0.1 is unrun. A fixture can position the failure while a real process is killed. Local replay semantics do not imply exactly-once physical execution, a distributed transaction, or global failover. For pure/static modules the relevant failure is selection/refusal, not invented journal recovery.</a:t>
            </a:r>
          </a:p>
          <a:p/>
          <a:p>
            <a:r>
              <a:t>Evidence and implementation: [pln_deduction.py](https://github.com/machieke/fusion-module-interfaces/blob/494df69a1ac401c3d3b2cf79dbfde07f74b5e277/fusion/adapters/pln_deduction.py), [test_deduction.py](https://github.com/machieke/fusion-module-interfaces/blob/494df69a1ac401c3d3b2cf79dbfde07f74b5e277/integration/pln/test_deduction.py), [deduction-sources.json](https://github.com/machieke/fusion-module-interfaces/blob/494df69a1ac401c3d3b2cf79dbfde07f74b5e277/integration/pln/deduction-sources.json), [m3-evidence.md](https://github.com/machieke/fusion-module-interfaces/blob/494df69a1ac401c3d3b2cf79dbfde07f74b5e277/docs/module-interfaces/m3-evidence.md), [verification.json](https://github.com/machieke/fusion-module-interfaces/blob/494df69a1ac401c3d3b2cf79dbfde07f74b5e277/docs/module-interfaces/evidence/m3/final/verification.json).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PLNKernel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every number with its unit and source class. 5 → 1 Premises → grounded proposal: One rule, not general inference. 0.68 / 0.3136 Recorded deduction strength / confidence: Generated golden; tolerance 1e−12. 0 Mutable domain owners in kernel: Architectural invariant, not performance. The numerical golden checks implementation agreement, not probabilistic calibration or theorem validity. No isolated native-call latency or large-rule benchmark is recorded. Proposed: separate process startup from warm native calls; fix exact valid vectors and refusal cases; report p50/p95, guard cost and timeout behavior without changing the formula. No new benchmark is executed for this presentation. Do not compare overlapping suite times or use a one-run workflow measurement as a latency percentile.</a:t>
            </a:r>
          </a:p>
          <a:p/>
          <a:p>
            <a:r>
              <a:t>Evidence and implementation: [pln_deduction.py](https://github.com/machieke/fusion-module-interfaces/blob/494df69a1ac401c3d3b2cf79dbfde07f74b5e277/fusion/adapters/pln_deduction.py), [test_deduction.py](https://github.com/machieke/fusion-module-interfaces/blob/494df69a1ac401c3d3b2cf79dbfde07f74b5e277/integration/pln/test_deduction.py), [deduction-sources.json](https://github.com/machieke/fusion-module-interfaces/blob/494df69a1ac401c3d3b2cf79dbfde07f74b5e277/integration/pln/deduction-sources.json), [m3-evidence.md](https://github.com/machieke/fusion-module-interfaces/blob/494df69a1ac401c3d3b2cf79dbfde07f74b5e277/docs/module-interfaces/m3-evidence.md), [verification.json](https://github.com/machieke/fusion-module-interfaces/blob/494df69a1ac401c3d3b2cf79dbfde07f74b5e277/docs/module-interfaces/evidence/m3/final/verification.json).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PLNKernel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Implemented local code is not automatically a production provider. Real: Pinned Reachability, PLN, PeTTa, SWI 10.1.14 and Janus execute the native formula. Fixture: Generated premise vectors and independent expected numerical goldens. Blocked or unsupported: No required supported gate blocked; historical SWI 10.0.1 compatibility remains unrun. Unrun: General rule search, calibration, broad rule coverage and cross-runtime numerical equivalence. All required M5 gates passed in the recorded final run, including legacy M1–M4 behavior; this presentation does not rerun those integrations. Human maintainers remain unassigned.</a:t>
            </a:r>
          </a:p>
          <a:p/>
          <a:p>
            <a:r>
              <a:t>Evidence and implementation: [pln_deduction.py](https://github.com/machieke/fusion-module-interfaces/blob/494df69a1ac401c3d3b2cf79dbfde07f74b5e277/fusion/adapters/pln_deduction.py), [test_deduction.py](https://github.com/machieke/fusion-module-interfaces/blob/494df69a1ac401c3d3b2cf79dbfde07f74b5e277/integration/pln/test_deduction.py), [deduction-sources.json](https://github.com/machieke/fusion-module-interfaces/blob/494df69a1ac401c3d3b2cf79dbfde07f74b5e277/integration/pln/deduction-sources.json), [m3-evidence.md](https://github.com/machieke/fusion-module-interfaces/blob/494df69a1ac401c3d3b2cf79dbfde07f74b5e277/docs/module-interfaces/m3-evidence.md), [verification.json](https://github.com/machieke/fusion-module-interfaces/blob/494df69a1ac401c3d3b2cf79dbfde07f74b5e277/docs/module-interfaces/evidence/m3/final/verification.json).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PLNKernel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future work as conditional engineering proposals. Measure the runtime boundary requires Warm/cold fixed-vector experiments; success means Separate startup, guards and native evaluation. Qualify a new runtime pin requires Golden, refusal and source compatibility matrix; success means No silent numerical or exception changes. Add another rule deliberately requires Explicit rule profile and lineage/admission review; success means Each new rule has independent goldens and refusal tests. No new cognition, scheduler, migration or chain capability is implemented by this series. Any changed numerical semantics, placement or replay lifetime requires separate design and verification rather than a presentation claim.</a:t>
            </a:r>
          </a:p>
          <a:p/>
          <a:p>
            <a:r>
              <a:t>Evidence and implementation: [pln_deduction.py](https://github.com/machieke/fusion-module-interfaces/blob/494df69a1ac401c3d3b2cf79dbfde07f74b5e277/fusion/adapters/pln_deduction.py), [test_deduction.py](https://github.com/machieke/fusion-module-interfaces/blob/494df69a1ac401c3d3b2cf79dbfde07f74b5e277/integration/pln/test_deduction.py), [deduction-sources.json](https://github.com/machieke/fusion-module-interfaces/blob/494df69a1ac401c3d3b2cf79dbfde07f74b5e277/integration/pln/deduction-sources.json), [m3-evidence.md](https://github.com/machieke/fusion-module-interfaces/blob/494df69a1ac401c3d3b2cf79dbfde07f74b5e277/docs/module-interfaces/m3-evidence.md), [verification.json](https://github.com/machieke/fusion-module-interfaces/blob/494df69a1ac401c3d3b2cf79dbfde07f74b5e277/docs/module-interfaces/evidence/m3/final/verification.json).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PLNKernel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Reusing mathematics requires preserving its assumptions and boundary. The reproduction entrypoint is uv run --python 3.11 --locked python scripts/verify_m3.py &lt;env&gt; --output &lt;fresh&gt;. Build pinned providers with build_m3.py first; use a fresh source checkout and explicit runtime selection. The wrapper includes both guard and actual-native suites. Build/export checks for this series are separate from runtime tests. Exact upstream pins remain in integration/hive/sources.json, integration/pln/sources.json, integration/pln/deduction-sources.json and the M4/M5 source manifests. Commands use fresh output/state; raw provider environments, credentials, journals and private IDs should not be published.</a:t>
            </a:r>
          </a:p>
          <a:p/>
          <a:p>
            <a:r>
              <a:t>Evidence and implementation: [pln_deduction.py](https://github.com/machieke/fusion-module-interfaces/blob/494df69a1ac401c3d3b2cf79dbfde07f74b5e277/fusion/adapters/pln_deduction.py), [test_deduction.py](https://github.com/machieke/fusion-module-interfaces/blob/494df69a1ac401c3d3b2cf79dbfde07f74b5e277/integration/pln/test_deduction.py), [deduction-sources.json](https://github.com/machieke/fusion-module-interfaces/blob/494df69a1ac401c3d3b2cf79dbfde07f74b5e277/integration/pln/deduction-sources.json), [m3-evidence.md](https://github.com/machieke/fusion-module-interfaces/blob/494df69a1ac401c3d3b2cf79dbfde07f74b5e277/docs/module-interfaces/m3-evidence.md), [verification.json](https://github.com/machieke/fusion-module-interfaces/blob/494df69a1ac401c3d3b2cf79dbfde07f74b5e277/docs/module-interfaces/evidence/m3/final/verification.json).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PLNKernel · M5 source bfb0ec8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233"/>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AAC0CC"/>
                </a:solidFill>
                <a:latin typeface="DejaVu Sans"/>
              </a:rPr>
              <a:t>OMEGA × ASI / STANDALONE MODULE SERIES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FFFFFF"/>
                </a:solidFill>
                <a:latin typeface="DejaVu Sans"/>
              </a:rPr>
              <a:t>PLNKernel</a:t>
            </a:r>
          </a:p>
        </p:txBody>
      </p:sp>
      <p:sp>
        <p:nvSpPr>
          <p:cNvPr id="4" name="TextBox 3"/>
          <p:cNvSpPr txBox="1"/>
          <p:nvPr/>
        </p:nvSpPr>
        <p:spPr>
          <a:xfrm>
            <a:off x="548640" y="1783080"/>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Calculate one grounded proposal.</a:t>
            </a:r>
          </a:p>
        </p:txBody>
      </p:sp>
      <p:sp>
        <p:nvSpPr>
          <p:cNvPr id="5" name="TextBox 4"/>
          <p:cNvSpPr txBox="1"/>
          <p:nvPr/>
        </p:nvSpPr>
        <p:spPr>
          <a:xfrm>
            <a:off x="548640" y="2343912"/>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Own no beliefs.</a:t>
            </a:r>
          </a:p>
        </p:txBody>
      </p:sp>
      <p:sp>
        <p:nvSpPr>
          <p:cNvPr id="6" name="Rounded Rectangle 5"/>
          <p:cNvSpPr/>
          <p:nvPr/>
        </p:nvSpPr>
        <p:spPr>
          <a:xfrm>
            <a:off x="579120" y="3208020"/>
            <a:ext cx="3112204" cy="274320"/>
          </a:xfrm>
          <a:prstGeom prst="roundRect">
            <a:avLst>
              <a:gd name="adj" fmla="val 19444"/>
            </a:avLst>
          </a:prstGeom>
          <a:solidFill>
            <a:srgbClr val="DCEFE8"/>
          </a:solidFill>
          <a:ln>
            <a:noFill/>
          </a:ln>
          <a:effectLst/>
        </p:spPr>
        <p:txBody>
          <a:bodyPr rtlCol="0" anchor="ctr"/>
          <a:lstStyle/>
          <a:p>
            <a:pPr algn="ctr"/>
          </a:p>
        </p:txBody>
      </p:sp>
      <p:sp>
        <p:nvSpPr>
          <p:cNvPr id="7" name="TextBox 6"/>
          <p:cNvSpPr txBox="1"/>
          <p:nvPr/>
        </p:nvSpPr>
        <p:spPr>
          <a:xfrm>
            <a:off x="685800" y="3261360"/>
            <a:ext cx="2921704"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007C78"/>
                </a:solidFill>
                <a:latin typeface="DejaVu Sans"/>
              </a:rPr>
              <a:t>ELI16 · THE IDEA IN PLAIN LANGUAGE</a:t>
            </a:r>
          </a:p>
        </p:txBody>
      </p:sp>
      <p:sp>
        <p:nvSpPr>
          <p:cNvPr id="8" name="TextBox 7"/>
          <p:cNvSpPr txBox="1"/>
          <p:nvPr/>
        </p:nvSpPr>
        <p:spPr>
          <a:xfrm>
            <a:off x="579120" y="3649979"/>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A guarded calculator: the same exact inputs enter a pinned formula, and the result</a:t>
            </a:r>
          </a:p>
        </p:txBody>
      </p:sp>
      <p:sp>
        <p:nvSpPr>
          <p:cNvPr id="9" name="TextBox 8"/>
          <p:cNvSpPr txBox="1"/>
          <p:nvPr/>
        </p:nvSpPr>
        <p:spPr>
          <a:xfrm>
            <a:off x="579120" y="3962095"/>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goes back to the evidence owner for acceptance.</a:t>
            </a:r>
          </a:p>
        </p:txBody>
      </p:sp>
      <p:sp>
        <p:nvSpPr>
          <p:cNvPr id="10" name="TextBox 9"/>
          <p:cNvSpPr txBox="1"/>
          <p:nvPr/>
        </p:nvSpPr>
        <p:spPr>
          <a:xfrm>
            <a:off x="579120" y="47320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Why it matters: Separating numerical proposals from admission prevents a runtime or formula</a:t>
            </a:r>
          </a:p>
        </p:txBody>
      </p:sp>
      <p:sp>
        <p:nvSpPr>
          <p:cNvPr id="11" name="TextBox 10"/>
          <p:cNvSpPr txBox="1"/>
          <p:nvPr/>
        </p:nvSpPr>
        <p:spPr>
          <a:xfrm>
            <a:off x="579120" y="50051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replacement from silently acquiring authority over beliefs, budgets or search.</a:t>
            </a:r>
          </a:p>
        </p:txBody>
      </p:sp>
      <p:sp>
        <p:nvSpPr>
          <p:cNvPr id="12" name="TextBox 11"/>
          <p:cNvSpPr txBox="1"/>
          <p:nvPr/>
        </p:nvSpPr>
        <p:spPr>
          <a:xfrm>
            <a:off x="579120" y="6019800"/>
            <a:ext cx="10439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AAC0CC"/>
                </a:solidFill>
                <a:latin typeface="DejaVu Sans"/>
              </a:rPr>
              <a:t>Through M5 · 17 October 2026 · 12–15 minute talk · evidence and proposals kept separate</a:t>
            </a:r>
          </a:p>
        </p:txBody>
      </p:sp>
      <p:cxnSp>
        <p:nvCxnSpPr>
          <p:cNvPr id="13" name="Connector 12"/>
          <p:cNvCxnSpPr/>
          <p:nvPr/>
        </p:nvCxnSpPr>
        <p:spPr>
          <a:xfrm>
            <a:off x="548640" y="6393180"/>
            <a:ext cx="11094720" cy="0"/>
          </a:xfrm>
          <a:prstGeom prst="line">
            <a:avLst/>
          </a:prstGeom>
          <a:ln w="7620">
            <a:solidFill>
              <a:srgbClr val="536775"/>
            </a:solidFill>
          </a:ln>
          <a:effectLst/>
        </p:spPr>
      </p:cxnSp>
      <p:sp>
        <p:nvSpPr>
          <p:cNvPr id="14" name="TextBox 13"/>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AAC0CC"/>
                </a:solidFill>
                <a:latin typeface="DejaVu Sans"/>
              </a:rPr>
              <a:t>OMEGA × ASI / THROUGH M5 / PLNKernel · M5 source bfb0ec8</a:t>
            </a:r>
          </a:p>
        </p:txBody>
      </p:sp>
      <p:sp>
        <p:nvSpPr>
          <p:cNvPr id="15" name="TextBox 14"/>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AAC0CC"/>
                </a:solidFill>
                <a:latin typeface="DejaVu Sans Mono"/>
              </a:rPr>
              <a:t>01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01 / HELICOPTER VIEW</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One module in a system of fifteen</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highlighted responsibility is the subject of this talk; placement and process count are separate decisions.</a:t>
            </a:r>
          </a:p>
        </p:txBody>
      </p:sp>
      <p:sp>
        <p:nvSpPr>
          <p:cNvPr id="5" name="Rounded Rectangle 4"/>
          <p:cNvSpPr/>
          <p:nvPr/>
        </p:nvSpPr>
        <p:spPr>
          <a:xfrm>
            <a:off x="5486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6" name="TextBox 5"/>
          <p:cNvSpPr txBox="1"/>
          <p:nvPr/>
        </p:nvSpPr>
        <p:spPr>
          <a:xfrm>
            <a:off x="6858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Persistence</a:t>
            </a:r>
          </a:p>
        </p:txBody>
      </p:sp>
      <p:sp>
        <p:nvSpPr>
          <p:cNvPr id="7" name="Rounded Rectangle 6"/>
          <p:cNvSpPr/>
          <p:nvPr/>
        </p:nvSpPr>
        <p:spPr>
          <a:xfrm>
            <a:off x="6629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8" name="TextBox 7"/>
          <p:cNvSpPr txBox="1"/>
          <p:nvPr/>
        </p:nvSpPr>
        <p:spPr>
          <a:xfrm>
            <a:off x="7620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DA storage</a:t>
            </a:r>
          </a:p>
        </p:txBody>
      </p:sp>
      <p:sp>
        <p:nvSpPr>
          <p:cNvPr id="9" name="Rounded Rectangle 8"/>
          <p:cNvSpPr/>
          <p:nvPr/>
        </p:nvSpPr>
        <p:spPr>
          <a:xfrm>
            <a:off x="6629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0" name="TextBox 9"/>
          <p:cNvSpPr txBox="1"/>
          <p:nvPr/>
        </p:nvSpPr>
        <p:spPr>
          <a:xfrm>
            <a:off x="7620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AtomStorage · C0</a:t>
            </a:r>
          </a:p>
        </p:txBody>
      </p:sp>
      <p:sp>
        <p:nvSpPr>
          <p:cNvPr id="11" name="Rounded Rectangle 10"/>
          <p:cNvSpPr/>
          <p:nvPr/>
        </p:nvSpPr>
        <p:spPr>
          <a:xfrm>
            <a:off x="6629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12" name="TextBox 11"/>
          <p:cNvSpPr txBox="1"/>
          <p:nvPr/>
        </p:nvSpPr>
        <p:spPr>
          <a:xfrm>
            <a:off x="7620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ConsensusFinality</a:t>
            </a:r>
          </a:p>
        </p:txBody>
      </p:sp>
      <p:sp>
        <p:nvSpPr>
          <p:cNvPr id="13" name="Rounded Rectangle 12"/>
          <p:cNvSpPr/>
          <p:nvPr/>
        </p:nvSpPr>
        <p:spPr>
          <a:xfrm>
            <a:off x="33680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14" name="TextBox 13"/>
          <p:cNvSpPr txBox="1"/>
          <p:nvPr/>
        </p:nvSpPr>
        <p:spPr>
          <a:xfrm>
            <a:off x="35052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Knowledge access</a:t>
            </a:r>
          </a:p>
        </p:txBody>
      </p:sp>
      <p:sp>
        <p:nvSpPr>
          <p:cNvPr id="15" name="Rounded Rectangle 14"/>
          <p:cNvSpPr/>
          <p:nvPr/>
        </p:nvSpPr>
        <p:spPr>
          <a:xfrm>
            <a:off x="34823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16" name="TextBox 15"/>
          <p:cNvSpPr txBox="1"/>
          <p:nvPr/>
        </p:nvSpPr>
        <p:spPr>
          <a:xfrm>
            <a:off x="35814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Relations</a:t>
            </a:r>
          </a:p>
        </p:txBody>
      </p:sp>
      <p:sp>
        <p:nvSpPr>
          <p:cNvPr id="17" name="Rounded Rectangle 16"/>
          <p:cNvSpPr/>
          <p:nvPr/>
        </p:nvSpPr>
        <p:spPr>
          <a:xfrm>
            <a:off x="34823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8" name="TextBox 17"/>
          <p:cNvSpPr txBox="1"/>
          <p:nvPr/>
        </p:nvSpPr>
        <p:spPr>
          <a:xfrm>
            <a:off x="35814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Search projection</a:t>
            </a:r>
          </a:p>
        </p:txBody>
      </p:sp>
      <p:sp>
        <p:nvSpPr>
          <p:cNvPr id="19" name="Rounded Rectangle 18"/>
          <p:cNvSpPr/>
          <p:nvPr/>
        </p:nvSpPr>
        <p:spPr>
          <a:xfrm>
            <a:off x="61874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20" name="TextBox 19"/>
          <p:cNvSpPr txBox="1"/>
          <p:nvPr/>
        </p:nvSpPr>
        <p:spPr>
          <a:xfrm>
            <a:off x="63246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Cognition</a:t>
            </a:r>
          </a:p>
        </p:txBody>
      </p:sp>
      <p:sp>
        <p:nvSpPr>
          <p:cNvPr id="21" name="Rounded Rectangle 20"/>
          <p:cNvSpPr/>
          <p:nvPr/>
        </p:nvSpPr>
        <p:spPr>
          <a:xfrm>
            <a:off x="63017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22" name="TextBox 21"/>
          <p:cNvSpPr txBox="1"/>
          <p:nvPr/>
        </p:nvSpPr>
        <p:spPr>
          <a:xfrm>
            <a:off x="64008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Episodes · C1</a:t>
            </a:r>
          </a:p>
        </p:txBody>
      </p:sp>
      <p:sp>
        <p:nvSpPr>
          <p:cNvPr id="23" name="Rounded Rectangle 22"/>
          <p:cNvSpPr/>
          <p:nvPr/>
        </p:nvSpPr>
        <p:spPr>
          <a:xfrm>
            <a:off x="63017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24" name="TextBox 23"/>
          <p:cNvSpPr txBox="1"/>
          <p:nvPr/>
        </p:nvSpPr>
        <p:spPr>
          <a:xfrm>
            <a:off x="64008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Beliefs · C2</a:t>
            </a:r>
          </a:p>
        </p:txBody>
      </p:sp>
      <p:sp>
        <p:nvSpPr>
          <p:cNvPr id="25" name="Rounded Rectangle 24"/>
          <p:cNvSpPr/>
          <p:nvPr/>
        </p:nvSpPr>
        <p:spPr>
          <a:xfrm>
            <a:off x="6301740" y="3467100"/>
            <a:ext cx="2407920" cy="449580"/>
          </a:xfrm>
          <a:prstGeom prst="roundRect">
            <a:avLst>
              <a:gd name="adj" fmla="val 13559"/>
            </a:avLst>
          </a:prstGeom>
          <a:solidFill>
            <a:srgbClr val="007C78"/>
          </a:solidFill>
          <a:ln>
            <a:noFill/>
          </a:ln>
          <a:effectLst/>
        </p:spPr>
        <p:txBody>
          <a:bodyPr rtlCol="0" anchor="ctr"/>
          <a:lstStyle/>
          <a:p>
            <a:pPr algn="ctr"/>
          </a:p>
        </p:txBody>
      </p:sp>
      <p:sp>
        <p:nvSpPr>
          <p:cNvPr id="26" name="TextBox 25"/>
          <p:cNvSpPr txBox="1"/>
          <p:nvPr/>
        </p:nvSpPr>
        <p:spPr>
          <a:xfrm>
            <a:off x="64008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FFFFFF"/>
                </a:solidFill>
                <a:latin typeface="DejaVu Sans"/>
              </a:rPr>
              <a:t>PLNKernel</a:t>
            </a:r>
          </a:p>
        </p:txBody>
      </p:sp>
      <p:sp>
        <p:nvSpPr>
          <p:cNvPr id="27" name="Rounded Rectangle 26"/>
          <p:cNvSpPr/>
          <p:nvPr/>
        </p:nvSpPr>
        <p:spPr>
          <a:xfrm>
            <a:off x="63017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28" name="TextBox 27"/>
          <p:cNvSpPr txBox="1"/>
          <p:nvPr/>
        </p:nvSpPr>
        <p:spPr>
          <a:xfrm>
            <a:off x="64008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Attention · C3</a:t>
            </a:r>
          </a:p>
        </p:txBody>
      </p:sp>
      <p:sp>
        <p:nvSpPr>
          <p:cNvPr id="29" name="Rounded Rectangle 28"/>
          <p:cNvSpPr/>
          <p:nvPr/>
        </p:nvSpPr>
        <p:spPr>
          <a:xfrm>
            <a:off x="63017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30" name="TextBox 29"/>
          <p:cNvSpPr txBox="1"/>
          <p:nvPr/>
        </p:nvSpPr>
        <p:spPr>
          <a:xfrm>
            <a:off x="64008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Inference · C4</a:t>
            </a:r>
          </a:p>
        </p:txBody>
      </p:sp>
      <p:sp>
        <p:nvSpPr>
          <p:cNvPr id="31" name="Rounded Rectangle 30"/>
          <p:cNvSpPr/>
          <p:nvPr/>
        </p:nvSpPr>
        <p:spPr>
          <a:xfrm>
            <a:off x="90068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32" name="TextBox 31"/>
          <p:cNvSpPr txBox="1"/>
          <p:nvPr/>
        </p:nvSpPr>
        <p:spPr>
          <a:xfrm>
            <a:off x="91440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Coordination + policy</a:t>
            </a:r>
          </a:p>
        </p:txBody>
      </p:sp>
      <p:sp>
        <p:nvSpPr>
          <p:cNvPr id="33" name="Rounded Rectangle 32"/>
          <p:cNvSpPr/>
          <p:nvPr/>
        </p:nvSpPr>
        <p:spPr>
          <a:xfrm>
            <a:off x="91211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34" name="TextBox 33"/>
          <p:cNvSpPr txBox="1"/>
          <p:nvPr/>
        </p:nvSpPr>
        <p:spPr>
          <a:xfrm>
            <a:off x="92202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Messaging</a:t>
            </a:r>
          </a:p>
        </p:txBody>
      </p:sp>
      <p:sp>
        <p:nvSpPr>
          <p:cNvPr id="35" name="Rounded Rectangle 34"/>
          <p:cNvSpPr/>
          <p:nvPr/>
        </p:nvSpPr>
        <p:spPr>
          <a:xfrm>
            <a:off x="91211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36" name="TextBox 35"/>
          <p:cNvSpPr txBox="1"/>
          <p:nvPr/>
        </p:nvSpPr>
        <p:spPr>
          <a:xfrm>
            <a:off x="92202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Execution</a:t>
            </a:r>
          </a:p>
        </p:txBody>
      </p:sp>
      <p:sp>
        <p:nvSpPr>
          <p:cNvPr id="37" name="Rounded Rectangle 36"/>
          <p:cNvSpPr/>
          <p:nvPr/>
        </p:nvSpPr>
        <p:spPr>
          <a:xfrm>
            <a:off x="91211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38" name="TextBox 37"/>
          <p:cNvSpPr txBox="1"/>
          <p:nvPr/>
        </p:nvSpPr>
        <p:spPr>
          <a:xfrm>
            <a:off x="92202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Registry</a:t>
            </a:r>
          </a:p>
        </p:txBody>
      </p:sp>
      <p:sp>
        <p:nvSpPr>
          <p:cNvPr id="39" name="Rounded Rectangle 38"/>
          <p:cNvSpPr/>
          <p:nvPr/>
        </p:nvSpPr>
        <p:spPr>
          <a:xfrm>
            <a:off x="91211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40" name="TextBox 39"/>
          <p:cNvSpPr txBox="1"/>
          <p:nvPr/>
        </p:nvSpPr>
        <p:spPr>
          <a:xfrm>
            <a:off x="92202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Resolver</a:t>
            </a:r>
          </a:p>
        </p:txBody>
      </p:sp>
      <p:sp>
        <p:nvSpPr>
          <p:cNvPr id="41" name="Rounded Rectangle 40"/>
          <p:cNvSpPr/>
          <p:nvPr/>
        </p:nvSpPr>
        <p:spPr>
          <a:xfrm>
            <a:off x="91211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42" name="TextBox 41"/>
          <p:cNvSpPr txBox="1"/>
          <p:nvPr/>
        </p:nvSpPr>
        <p:spPr>
          <a:xfrm>
            <a:off x="92202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Authorization</a:t>
            </a:r>
          </a:p>
        </p:txBody>
      </p:sp>
      <p:sp>
        <p:nvSpPr>
          <p:cNvPr id="43" name="TextBox 42"/>
          <p:cNvSpPr txBox="1"/>
          <p:nvPr/>
        </p:nvSpPr>
        <p:spPr>
          <a:xfrm>
            <a:off x="609600" y="5547360"/>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Apply the existing guarded five-premise grounded deduction implementation under exact</a:t>
            </a:r>
          </a:p>
        </p:txBody>
      </p:sp>
      <p:sp>
        <p:nvSpPr>
          <p:cNvPr id="44" name="TextBox 43"/>
          <p:cNvSpPr txBox="1"/>
          <p:nvPr/>
        </p:nvSpPr>
        <p:spPr>
          <a:xfrm>
            <a:off x="609600" y="5810707"/>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source/runtime profiles.</a:t>
            </a:r>
          </a:p>
        </p:txBody>
      </p:sp>
      <p:cxnSp>
        <p:nvCxnSpPr>
          <p:cNvPr id="45" name="Connector 44"/>
          <p:cNvCxnSpPr/>
          <p:nvPr/>
        </p:nvCxnSpPr>
        <p:spPr>
          <a:xfrm>
            <a:off x="548640" y="6393180"/>
            <a:ext cx="11094720" cy="0"/>
          </a:xfrm>
          <a:prstGeom prst="line">
            <a:avLst/>
          </a:prstGeom>
          <a:ln w="7620">
            <a:solidFill>
              <a:srgbClr val="C9D2D4"/>
            </a:solidFill>
          </a:ln>
          <a:effectLst/>
        </p:spPr>
      </p:cxnSp>
      <p:sp>
        <p:nvSpPr>
          <p:cNvPr id="46" name="TextBox 4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PLNKernel · M5 source bfb0ec8</a:t>
            </a:r>
          </a:p>
        </p:txBody>
      </p:sp>
      <p:sp>
        <p:nvSpPr>
          <p:cNvPr id="47" name="TextBox 4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02 / FUNCTION DEPENDENCIES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Dependencies explain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Arrows point from caller to dependency. Stores and runtime internals are labelled explicitly.</a:t>
            </a:r>
          </a:p>
        </p:txBody>
      </p:sp>
      <p:sp>
        <p:nvSpPr>
          <p:cNvPr id="5" name="Rounded Rectangle 4"/>
          <p:cNvSpPr/>
          <p:nvPr/>
        </p:nvSpPr>
        <p:spPr>
          <a:xfrm>
            <a:off x="548640" y="2453640"/>
            <a:ext cx="2857500" cy="1668780"/>
          </a:xfrm>
          <a:prstGeom prst="roundRect">
            <a:avLst>
              <a:gd name="adj" fmla="val 5936"/>
            </a:avLst>
          </a:prstGeom>
          <a:solidFill>
            <a:srgbClr val="FFFFFF"/>
          </a:solidFill>
          <a:ln w="7620">
            <a:solidFill>
              <a:srgbClr val="007C78"/>
            </a:solidFill>
          </a:ln>
          <a:effectLst/>
        </p:spPr>
        <p:txBody>
          <a:bodyPr rtlCol="0" anchor="ctr"/>
          <a:lstStyle/>
          <a:p>
            <a:pPr algn="ctr"/>
          </a:p>
        </p:txBody>
      </p:sp>
      <p:sp>
        <p:nvSpPr>
          <p:cNvPr id="6" name="TextBox 5"/>
          <p:cNvSpPr txBox="1"/>
          <p:nvPr/>
        </p:nvSpPr>
        <p:spPr>
          <a:xfrm>
            <a:off x="716280" y="2621280"/>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007C78"/>
                </a:solidFill>
                <a:latin typeface="DejaVu Sans"/>
              </a:rPr>
              <a:t>C2 · Derived belief</a:t>
            </a:r>
          </a:p>
        </p:txBody>
      </p:sp>
      <p:sp>
        <p:nvSpPr>
          <p:cNvPr id="7" name="TextBox 6"/>
          <p:cNvSpPr txBox="1"/>
          <p:nvPr/>
        </p:nvSpPr>
        <p:spPr>
          <a:xfrm>
            <a:off x="716280" y="2904134"/>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007C78"/>
                </a:solidFill>
                <a:latin typeface="DejaVu Sans"/>
              </a:rPr>
              <a:t>owner</a:t>
            </a:r>
          </a:p>
        </p:txBody>
      </p:sp>
      <p:sp>
        <p:nvSpPr>
          <p:cNvPr id="8" name="TextBox 7"/>
          <p:cNvSpPr txBox="1"/>
          <p:nvPr/>
        </p:nvSpPr>
        <p:spPr>
          <a:xfrm>
            <a:off x="716280" y="3263188"/>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profile · applyRule</a:t>
            </a:r>
          </a:p>
        </p:txBody>
      </p:sp>
      <p:sp>
        <p:nvSpPr>
          <p:cNvPr id="9" name="Rounded Rectangle 8"/>
          <p:cNvSpPr/>
          <p:nvPr/>
        </p:nvSpPr>
        <p:spPr>
          <a:xfrm>
            <a:off x="4229100" y="2453640"/>
            <a:ext cx="3238500" cy="1668780"/>
          </a:xfrm>
          <a:prstGeom prst="roundRect">
            <a:avLst>
              <a:gd name="adj" fmla="val 5936"/>
            </a:avLst>
          </a:prstGeom>
          <a:solidFill>
            <a:srgbClr val="DCEFE8"/>
          </a:solidFill>
          <a:ln w="7620">
            <a:solidFill>
              <a:srgbClr val="007C78"/>
            </a:solidFill>
          </a:ln>
          <a:effectLst/>
        </p:spPr>
        <p:txBody>
          <a:bodyPr rtlCol="0" anchor="ctr"/>
          <a:lstStyle/>
          <a:p>
            <a:pPr algn="ctr"/>
          </a:p>
        </p:txBody>
      </p:sp>
      <p:sp>
        <p:nvSpPr>
          <p:cNvPr id="10" name="TextBox 9"/>
          <p:cNvSpPr txBox="1"/>
          <p:nvPr/>
        </p:nvSpPr>
        <p:spPr>
          <a:xfrm>
            <a:off x="4396740" y="2621280"/>
            <a:ext cx="2903220" cy="321868"/>
          </a:xfrm>
          <a:prstGeom prst="rect">
            <a:avLst/>
          </a:prstGeom>
          <a:noFill/>
        </p:spPr>
        <p:txBody>
          <a:bodyPr wrap="none" lIns="0" rIns="0" tIns="0" bIns="0" anchor="t" anchorCtr="0">
            <a:noAutofit/>
          </a:bodyPr>
          <a:lstStyle/>
          <a:p>
            <a:pPr algn="l">
              <a:lnSpc>
                <a:spcPct val="100000"/>
              </a:lnSpc>
              <a:spcBef>
                <a:spcPts val="0"/>
              </a:spcBef>
              <a:spcAft>
                <a:spcPts val="0"/>
              </a:spcAft>
            </a:pPr>
            <a:r>
              <a:rPr sz="1980" b="1">
                <a:solidFill>
                  <a:srgbClr val="007C78"/>
                </a:solidFill>
                <a:latin typeface="DejaVu Sans"/>
              </a:rPr>
              <a:t>PLNKernel</a:t>
            </a:r>
          </a:p>
        </p:txBody>
      </p:sp>
      <p:sp>
        <p:nvSpPr>
          <p:cNvPr id="11" name="TextBox 10"/>
          <p:cNvSpPr txBox="1"/>
          <p:nvPr/>
        </p:nvSpPr>
        <p:spPr>
          <a:xfrm>
            <a:off x="4396740" y="3019348"/>
            <a:ext cx="290322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Apply the existing guarded</a:t>
            </a:r>
          </a:p>
        </p:txBody>
      </p:sp>
      <p:sp>
        <p:nvSpPr>
          <p:cNvPr id="12" name="TextBox 11"/>
          <p:cNvSpPr txBox="1"/>
          <p:nvPr/>
        </p:nvSpPr>
        <p:spPr>
          <a:xfrm>
            <a:off x="4396740" y="3243681"/>
            <a:ext cx="290322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five-premise grounded</a:t>
            </a:r>
          </a:p>
        </p:txBody>
      </p:sp>
      <p:sp>
        <p:nvSpPr>
          <p:cNvPr id="13" name="TextBox 12"/>
          <p:cNvSpPr txBox="1"/>
          <p:nvPr/>
        </p:nvSpPr>
        <p:spPr>
          <a:xfrm>
            <a:off x="4396740" y="3468014"/>
            <a:ext cx="290322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deduction implementation under</a:t>
            </a:r>
          </a:p>
        </p:txBody>
      </p:sp>
      <p:sp>
        <p:nvSpPr>
          <p:cNvPr id="14" name="TextBox 13"/>
          <p:cNvSpPr txBox="1"/>
          <p:nvPr/>
        </p:nvSpPr>
        <p:spPr>
          <a:xfrm>
            <a:off x="4396740" y="3692347"/>
            <a:ext cx="290322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exact source/runtime profiles.</a:t>
            </a:r>
          </a:p>
        </p:txBody>
      </p:sp>
      <p:cxnSp>
        <p:nvCxnSpPr>
          <p:cNvPr id="15" name="Connector 14"/>
          <p:cNvCxnSpPr/>
          <p:nvPr/>
        </p:nvCxnSpPr>
        <p:spPr>
          <a:xfrm>
            <a:off x="3406140" y="3284219"/>
            <a:ext cx="822960" cy="0"/>
          </a:xfrm>
          <a:prstGeom prst="line">
            <a:avLst/>
          </a:prstGeom>
          <a:ln w="15240">
            <a:solidFill>
              <a:srgbClr val="007C78"/>
            </a:solidFill>
          </a:ln>
          <a:effectLst/>
        </p:spPr>
      </p:cxnSp>
      <p:sp>
        <p:nvSpPr>
          <p:cNvPr id="16" name="Freeform 15"/>
          <p:cNvSpPr/>
          <p:nvPr/>
        </p:nvSpPr>
        <p:spPr>
          <a:xfrm>
            <a:off x="4130040" y="324612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17" name="Rounded Rectangle 16"/>
          <p:cNvSpPr/>
          <p:nvPr/>
        </p:nvSpPr>
        <p:spPr>
          <a:xfrm>
            <a:off x="8404860" y="1981200"/>
            <a:ext cx="3238500" cy="1005840"/>
          </a:xfrm>
          <a:prstGeom prst="roundRect">
            <a:avLst>
              <a:gd name="adj" fmla="val 9848"/>
            </a:avLst>
          </a:prstGeom>
          <a:solidFill>
            <a:srgbClr val="FFFFFF"/>
          </a:solidFill>
          <a:ln w="7620">
            <a:solidFill>
              <a:srgbClr val="007C78"/>
            </a:solidFill>
          </a:ln>
          <a:effectLst/>
        </p:spPr>
        <p:txBody>
          <a:bodyPr rtlCol="0" anchor="ctr"/>
          <a:lstStyle/>
          <a:p>
            <a:pPr algn="ctr"/>
          </a:p>
        </p:txBody>
      </p:sp>
      <p:sp>
        <p:nvSpPr>
          <p:cNvPr id="18" name="TextBox 17"/>
          <p:cNvSpPr txBox="1"/>
          <p:nvPr/>
        </p:nvSpPr>
        <p:spPr>
          <a:xfrm>
            <a:off x="8572500" y="214884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007C78"/>
                </a:solidFill>
                <a:latin typeface="DejaVu Sans"/>
              </a:rPr>
              <a:t>Reachability adapter</a:t>
            </a:r>
          </a:p>
        </p:txBody>
      </p:sp>
      <p:sp>
        <p:nvSpPr>
          <p:cNvPr id="19" name="TextBox 18"/>
          <p:cNvSpPr txBox="1"/>
          <p:nvPr/>
        </p:nvSpPr>
        <p:spPr>
          <a:xfrm>
            <a:off x="8572500" y="248838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Unchanged</a:t>
            </a:r>
          </a:p>
        </p:txBody>
      </p:sp>
      <p:sp>
        <p:nvSpPr>
          <p:cNvPr id="20" name="TextBox 19"/>
          <p:cNvSpPr txBox="1"/>
          <p:nvPr/>
        </p:nvSpPr>
        <p:spPr>
          <a:xfrm>
            <a:off x="8572500" y="270296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PLNAdapter.apply_rule guards</a:t>
            </a:r>
          </a:p>
        </p:txBody>
      </p:sp>
      <p:cxnSp>
        <p:nvCxnSpPr>
          <p:cNvPr id="21" name="Connector 20"/>
          <p:cNvCxnSpPr/>
          <p:nvPr/>
        </p:nvCxnSpPr>
        <p:spPr>
          <a:xfrm>
            <a:off x="7467600" y="3284219"/>
            <a:ext cx="426720" cy="0"/>
          </a:xfrm>
          <a:prstGeom prst="line">
            <a:avLst/>
          </a:prstGeom>
          <a:ln w="15240">
            <a:solidFill>
              <a:srgbClr val="007C78"/>
            </a:solidFill>
          </a:ln>
          <a:effectLst/>
        </p:spPr>
      </p:cxnSp>
      <p:cxnSp>
        <p:nvCxnSpPr>
          <p:cNvPr id="22" name="Connector 21"/>
          <p:cNvCxnSpPr/>
          <p:nvPr/>
        </p:nvCxnSpPr>
        <p:spPr>
          <a:xfrm flipV="1">
            <a:off x="7894320" y="2484120"/>
            <a:ext cx="0" cy="800099"/>
          </a:xfrm>
          <a:prstGeom prst="line">
            <a:avLst/>
          </a:prstGeom>
          <a:ln w="15240">
            <a:solidFill>
              <a:srgbClr val="007C78"/>
            </a:solidFill>
          </a:ln>
          <a:effectLst/>
        </p:spPr>
      </p:cxnSp>
      <p:cxnSp>
        <p:nvCxnSpPr>
          <p:cNvPr id="23" name="Connector 22"/>
          <p:cNvCxnSpPr/>
          <p:nvPr/>
        </p:nvCxnSpPr>
        <p:spPr>
          <a:xfrm>
            <a:off x="7894320" y="2484120"/>
            <a:ext cx="510540" cy="0"/>
          </a:xfrm>
          <a:prstGeom prst="line">
            <a:avLst/>
          </a:prstGeom>
          <a:ln w="15240">
            <a:solidFill>
              <a:srgbClr val="007C78"/>
            </a:solidFill>
          </a:ln>
          <a:effectLst/>
        </p:spPr>
      </p:cxnSp>
      <p:sp>
        <p:nvSpPr>
          <p:cNvPr id="24" name="Freeform 23"/>
          <p:cNvSpPr/>
          <p:nvPr/>
        </p:nvSpPr>
        <p:spPr>
          <a:xfrm>
            <a:off x="8305800" y="244602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25" name="Rounded Rectangle 24"/>
          <p:cNvSpPr/>
          <p:nvPr/>
        </p:nvSpPr>
        <p:spPr>
          <a:xfrm>
            <a:off x="8404860" y="3177540"/>
            <a:ext cx="3238500" cy="1005840"/>
          </a:xfrm>
          <a:prstGeom prst="roundRect">
            <a:avLst>
              <a:gd name="adj" fmla="val 9848"/>
            </a:avLst>
          </a:prstGeom>
          <a:solidFill>
            <a:srgbClr val="FFFFFF"/>
          </a:solidFill>
          <a:ln w="7620">
            <a:solidFill>
              <a:srgbClr val="007C78"/>
            </a:solidFill>
          </a:ln>
          <a:effectLst/>
        </p:spPr>
        <p:txBody>
          <a:bodyPr rtlCol="0" anchor="ctr"/>
          <a:lstStyle/>
          <a:p>
            <a:pPr algn="ctr"/>
          </a:p>
        </p:txBody>
      </p:sp>
      <p:sp>
        <p:nvSpPr>
          <p:cNvPr id="26" name="TextBox 25"/>
          <p:cNvSpPr txBox="1"/>
          <p:nvPr/>
        </p:nvSpPr>
        <p:spPr>
          <a:xfrm>
            <a:off x="8572500" y="3345179"/>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007C78"/>
                </a:solidFill>
                <a:latin typeface="DejaVu Sans"/>
              </a:rPr>
              <a:t>Native PLN library</a:t>
            </a:r>
          </a:p>
        </p:txBody>
      </p:sp>
      <p:sp>
        <p:nvSpPr>
          <p:cNvPr id="27" name="TextBox 26"/>
          <p:cNvSpPr txBox="1"/>
          <p:nvPr/>
        </p:nvSpPr>
        <p:spPr>
          <a:xfrm>
            <a:off x="8572500" y="368472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Pinned Truth_Deduction</a:t>
            </a:r>
          </a:p>
        </p:txBody>
      </p:sp>
      <p:sp>
        <p:nvSpPr>
          <p:cNvPr id="28" name="TextBox 27"/>
          <p:cNvSpPr txBox="1"/>
          <p:nvPr/>
        </p:nvSpPr>
        <p:spPr>
          <a:xfrm>
            <a:off x="8572500" y="389930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implementation</a:t>
            </a:r>
          </a:p>
        </p:txBody>
      </p:sp>
      <p:cxnSp>
        <p:nvCxnSpPr>
          <p:cNvPr id="29" name="Connector 28"/>
          <p:cNvCxnSpPr/>
          <p:nvPr/>
        </p:nvCxnSpPr>
        <p:spPr>
          <a:xfrm>
            <a:off x="7467600" y="3284219"/>
            <a:ext cx="426720" cy="0"/>
          </a:xfrm>
          <a:prstGeom prst="line">
            <a:avLst/>
          </a:prstGeom>
          <a:ln w="15240">
            <a:solidFill>
              <a:srgbClr val="007C78"/>
            </a:solidFill>
          </a:ln>
          <a:effectLst/>
        </p:spPr>
      </p:cxnSp>
      <p:cxnSp>
        <p:nvCxnSpPr>
          <p:cNvPr id="30" name="Connector 29"/>
          <p:cNvCxnSpPr/>
          <p:nvPr/>
        </p:nvCxnSpPr>
        <p:spPr>
          <a:xfrm>
            <a:off x="7894320" y="3284219"/>
            <a:ext cx="0" cy="396241"/>
          </a:xfrm>
          <a:prstGeom prst="line">
            <a:avLst/>
          </a:prstGeom>
          <a:ln w="15240">
            <a:solidFill>
              <a:srgbClr val="007C78"/>
            </a:solidFill>
          </a:ln>
          <a:effectLst/>
        </p:spPr>
      </p:cxnSp>
      <p:cxnSp>
        <p:nvCxnSpPr>
          <p:cNvPr id="31" name="Connector 30"/>
          <p:cNvCxnSpPr/>
          <p:nvPr/>
        </p:nvCxnSpPr>
        <p:spPr>
          <a:xfrm>
            <a:off x="7894320" y="3680460"/>
            <a:ext cx="510540" cy="0"/>
          </a:xfrm>
          <a:prstGeom prst="line">
            <a:avLst/>
          </a:prstGeom>
          <a:ln w="15240">
            <a:solidFill>
              <a:srgbClr val="007C78"/>
            </a:solidFill>
          </a:ln>
          <a:effectLst/>
        </p:spPr>
      </p:cxnSp>
      <p:sp>
        <p:nvSpPr>
          <p:cNvPr id="32" name="Freeform 31"/>
          <p:cNvSpPr/>
          <p:nvPr/>
        </p:nvSpPr>
        <p:spPr>
          <a:xfrm>
            <a:off x="8305800" y="364236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33" name="Rounded Rectangle 32"/>
          <p:cNvSpPr/>
          <p:nvPr/>
        </p:nvSpPr>
        <p:spPr>
          <a:xfrm>
            <a:off x="8404860" y="4373880"/>
            <a:ext cx="3238500" cy="1005840"/>
          </a:xfrm>
          <a:prstGeom prst="roundRect">
            <a:avLst>
              <a:gd name="adj" fmla="val 9848"/>
            </a:avLst>
          </a:prstGeom>
          <a:solidFill>
            <a:srgbClr val="FFFFFF"/>
          </a:solidFill>
          <a:ln w="7620">
            <a:solidFill>
              <a:srgbClr val="007C78"/>
            </a:solidFill>
          </a:ln>
          <a:effectLst/>
        </p:spPr>
        <p:txBody>
          <a:bodyPr rtlCol="0" anchor="ctr"/>
          <a:lstStyle/>
          <a:p>
            <a:pPr algn="ctr"/>
          </a:p>
        </p:txBody>
      </p:sp>
      <p:sp>
        <p:nvSpPr>
          <p:cNvPr id="34" name="TextBox 33"/>
          <p:cNvSpPr txBox="1"/>
          <p:nvPr/>
        </p:nvSpPr>
        <p:spPr>
          <a:xfrm>
            <a:off x="8572500" y="454152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007C78"/>
                </a:solidFill>
                <a:latin typeface="DejaVu Sans"/>
              </a:rPr>
              <a:t>PeTTa / SWI / Janus</a:t>
            </a:r>
          </a:p>
        </p:txBody>
      </p:sp>
      <p:sp>
        <p:nvSpPr>
          <p:cNvPr id="35" name="TextBox 34"/>
          <p:cNvSpPr txBox="1"/>
          <p:nvPr/>
        </p:nvSpPr>
        <p:spPr>
          <a:xfrm>
            <a:off x="8572500" y="4881067"/>
            <a:ext cx="290322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Verified native execution bridge</a:t>
            </a:r>
          </a:p>
        </p:txBody>
      </p:sp>
      <p:cxnSp>
        <p:nvCxnSpPr>
          <p:cNvPr id="36" name="Connector 35"/>
          <p:cNvCxnSpPr/>
          <p:nvPr/>
        </p:nvCxnSpPr>
        <p:spPr>
          <a:xfrm>
            <a:off x="7467600" y="3284219"/>
            <a:ext cx="426720" cy="0"/>
          </a:xfrm>
          <a:prstGeom prst="line">
            <a:avLst/>
          </a:prstGeom>
          <a:ln w="15240">
            <a:solidFill>
              <a:srgbClr val="007C78"/>
            </a:solidFill>
          </a:ln>
          <a:effectLst/>
        </p:spPr>
      </p:cxnSp>
      <p:cxnSp>
        <p:nvCxnSpPr>
          <p:cNvPr id="37" name="Connector 36"/>
          <p:cNvCxnSpPr/>
          <p:nvPr/>
        </p:nvCxnSpPr>
        <p:spPr>
          <a:xfrm>
            <a:off x="7894320" y="3284219"/>
            <a:ext cx="0" cy="1592581"/>
          </a:xfrm>
          <a:prstGeom prst="line">
            <a:avLst/>
          </a:prstGeom>
          <a:ln w="15240">
            <a:solidFill>
              <a:srgbClr val="007C78"/>
            </a:solidFill>
          </a:ln>
          <a:effectLst/>
        </p:spPr>
      </p:cxnSp>
      <p:cxnSp>
        <p:nvCxnSpPr>
          <p:cNvPr id="38" name="Connector 37"/>
          <p:cNvCxnSpPr/>
          <p:nvPr/>
        </p:nvCxnSpPr>
        <p:spPr>
          <a:xfrm>
            <a:off x="7894320" y="4876800"/>
            <a:ext cx="510540" cy="0"/>
          </a:xfrm>
          <a:prstGeom prst="line">
            <a:avLst/>
          </a:prstGeom>
          <a:ln w="15240">
            <a:solidFill>
              <a:srgbClr val="007C78"/>
            </a:solidFill>
          </a:ln>
          <a:effectLst/>
        </p:spPr>
      </p:cxnSp>
      <p:sp>
        <p:nvSpPr>
          <p:cNvPr id="39" name="Freeform 38"/>
          <p:cNvSpPr/>
          <p:nvPr/>
        </p:nvSpPr>
        <p:spPr>
          <a:xfrm>
            <a:off x="8305800" y="483870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40" name="Rounded Rectangle 39"/>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41" name="TextBox 40"/>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One responsibility does not imply one process. A dependency does not grant access to its private tables.</a:t>
            </a:r>
          </a:p>
        </p:txBody>
      </p:sp>
      <p:cxnSp>
        <p:nvCxnSpPr>
          <p:cNvPr id="42" name="Connector 41"/>
          <p:cNvCxnSpPr/>
          <p:nvPr/>
        </p:nvCxnSpPr>
        <p:spPr>
          <a:xfrm>
            <a:off x="548640" y="6393180"/>
            <a:ext cx="11094720" cy="0"/>
          </a:xfrm>
          <a:prstGeom prst="line">
            <a:avLst/>
          </a:prstGeom>
          <a:ln w="7620">
            <a:solidFill>
              <a:srgbClr val="C9D2D4"/>
            </a:solidFill>
          </a:ln>
          <a:effectLst/>
        </p:spPr>
      </p:cxnSp>
      <p:sp>
        <p:nvSpPr>
          <p:cNvPr id="43" name="TextBox 42"/>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PLNKernel · M5 source bfb0ec8</a:t>
            </a:r>
          </a:p>
        </p:txBody>
      </p:sp>
      <p:sp>
        <p:nvSpPr>
          <p:cNvPr id="44" name="TextBox 43"/>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03 / OWNERSHIP</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Responsibility, state and scope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owner is authoritative for its own state; other responsibilities are deliberately separate.</a:t>
            </a:r>
          </a:p>
        </p:txBody>
      </p:sp>
      <p:sp>
        <p:nvSpPr>
          <p:cNvPr id="5" name="TextBox 4"/>
          <p:cNvSpPr txBox="1"/>
          <p:nvPr/>
        </p:nvSpPr>
        <p:spPr>
          <a:xfrm>
            <a:off x="640080"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315E9C"/>
                </a:solidFill>
                <a:latin typeface="DejaVu Sans"/>
              </a:rPr>
              <a:t>OWNS / GUARANTEES</a:t>
            </a:r>
          </a:p>
        </p:txBody>
      </p:sp>
      <p:sp>
        <p:nvSpPr>
          <p:cNvPr id="6" name="Rounded Rectangle 5"/>
          <p:cNvSpPr/>
          <p:nvPr/>
        </p:nvSpPr>
        <p:spPr>
          <a:xfrm>
            <a:off x="548640" y="2133600"/>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7" name="TextBox 6"/>
          <p:cNvSpPr txBox="1"/>
          <p:nvPr/>
        </p:nvSpPr>
        <p:spPr>
          <a:xfrm>
            <a:off x="716280"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No mutable domain state</a:t>
            </a:r>
          </a:p>
        </p:txBody>
      </p:sp>
      <p:sp>
        <p:nvSpPr>
          <p:cNvPr id="8" name="TextBox 7"/>
          <p:cNvSpPr txBox="1"/>
          <p:nvPr/>
        </p:nvSpPr>
        <p:spPr>
          <a:xfrm>
            <a:off x="716280"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A pure proposal interface; selected runtime</a:t>
            </a:r>
          </a:p>
        </p:txBody>
      </p:sp>
      <p:sp>
        <p:nvSpPr>
          <p:cNvPr id="9" name="TextBox 8"/>
          <p:cNvSpPr txBox="1"/>
          <p:nvPr/>
        </p:nvSpPr>
        <p:spPr>
          <a:xfrm>
            <a:off x="716280"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identity is explicit</a:t>
            </a:r>
          </a:p>
        </p:txBody>
      </p:sp>
      <p:sp>
        <p:nvSpPr>
          <p:cNvPr id="10" name="Rounded Rectangle 9"/>
          <p:cNvSpPr/>
          <p:nvPr/>
        </p:nvSpPr>
        <p:spPr>
          <a:xfrm>
            <a:off x="548640" y="3764279"/>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11" name="TextBox 10"/>
          <p:cNvSpPr txBox="1"/>
          <p:nvPr/>
        </p:nvSpPr>
        <p:spPr>
          <a:xfrm>
            <a:off x="716280"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Guarded execution boundary</a:t>
            </a:r>
          </a:p>
        </p:txBody>
      </p:sp>
      <p:sp>
        <p:nvSpPr>
          <p:cNvPr id="12" name="TextBox 11"/>
          <p:cNvSpPr txBox="1"/>
          <p:nvPr/>
        </p:nvSpPr>
        <p:spPr>
          <a:xfrm>
            <a:off x="716280"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Validate inputs, source/profile compatibility and</a:t>
            </a:r>
          </a:p>
        </p:txBody>
      </p:sp>
      <p:sp>
        <p:nvSpPr>
          <p:cNvPr id="13" name="TextBox 12"/>
          <p:cNvSpPr txBox="1"/>
          <p:nvPr/>
        </p:nvSpPr>
        <p:spPr>
          <a:xfrm>
            <a:off x="716280"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returned proposal</a:t>
            </a:r>
          </a:p>
        </p:txBody>
      </p:sp>
      <p:sp>
        <p:nvSpPr>
          <p:cNvPr id="14" name="TextBox 13"/>
          <p:cNvSpPr txBox="1"/>
          <p:nvPr/>
        </p:nvSpPr>
        <p:spPr>
          <a:xfrm>
            <a:off x="6309359"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A86A15"/>
                </a:solidFill>
                <a:latin typeface="DejaVu Sans"/>
              </a:rPr>
              <a:t>OUTSIDE THIS RESPONSIBILITY</a:t>
            </a:r>
          </a:p>
        </p:txBody>
      </p:sp>
      <p:sp>
        <p:nvSpPr>
          <p:cNvPr id="15" name="Rounded Rectangle 14"/>
          <p:cNvSpPr/>
          <p:nvPr/>
        </p:nvSpPr>
        <p:spPr>
          <a:xfrm>
            <a:off x="6217920" y="2133600"/>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16" name="TextBox 15"/>
          <p:cNvSpPr txBox="1"/>
          <p:nvPr/>
        </p:nvSpPr>
        <p:spPr>
          <a:xfrm>
            <a:off x="6385559"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Admission and provenance authority</a:t>
            </a:r>
          </a:p>
        </p:txBody>
      </p:sp>
      <p:sp>
        <p:nvSpPr>
          <p:cNvPr id="17" name="TextBox 16"/>
          <p:cNvSpPr txBox="1"/>
          <p:nvPr/>
        </p:nvSpPr>
        <p:spPr>
          <a:xfrm>
            <a:off x="6385559"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C2 validates exact claim/lineage and commits the</a:t>
            </a:r>
          </a:p>
        </p:txBody>
      </p:sp>
      <p:sp>
        <p:nvSpPr>
          <p:cNvPr id="18" name="TextBox 17"/>
          <p:cNvSpPr txBox="1"/>
          <p:nvPr/>
        </p:nvSpPr>
        <p:spPr>
          <a:xfrm>
            <a:off x="6385559"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result</a:t>
            </a:r>
          </a:p>
        </p:txBody>
      </p:sp>
      <p:sp>
        <p:nvSpPr>
          <p:cNvPr id="19" name="Rounded Rectangle 18"/>
          <p:cNvSpPr/>
          <p:nvPr/>
        </p:nvSpPr>
        <p:spPr>
          <a:xfrm>
            <a:off x="6217920" y="3764279"/>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20" name="TextBox 19"/>
          <p:cNvSpPr txBox="1"/>
          <p:nvPr/>
        </p:nvSpPr>
        <p:spPr>
          <a:xfrm>
            <a:off x="6385559"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Search and work budgets</a:t>
            </a:r>
          </a:p>
        </p:txBody>
      </p:sp>
      <p:sp>
        <p:nvSpPr>
          <p:cNvPr id="21" name="TextBox 20"/>
          <p:cNvSpPr txBox="1"/>
          <p:nvPr/>
        </p:nvSpPr>
        <p:spPr>
          <a:xfrm>
            <a:off x="6385559"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No PLN.Query/Derive loop, agenda, task</a:t>
            </a:r>
          </a:p>
        </p:txBody>
      </p:sp>
      <p:sp>
        <p:nvSpPr>
          <p:cNvPr id="22" name="TextBox 21"/>
          <p:cNvSpPr txBox="1"/>
          <p:nvPr/>
        </p:nvSpPr>
        <p:spPr>
          <a:xfrm>
            <a:off x="6385559"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generation or attention mutation</a:t>
            </a:r>
          </a:p>
        </p:txBody>
      </p:sp>
      <p:sp>
        <p:nvSpPr>
          <p:cNvPr id="23" name="Rounded Rectangle 22"/>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4" name="TextBox 23"/>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grounded-five-premise-deduction/1 · fusion-petta-swi-10.1.14-deduction/1</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PLNKernel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04 / CONTRACT</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The executable surface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operations and implementation seams define the supported scope; versions and profiles remain explicit.</a:t>
            </a:r>
          </a:p>
        </p:txBody>
      </p:sp>
      <p:sp>
        <p:nvSpPr>
          <p:cNvPr id="5" name="TextBox 4"/>
          <p:cNvSpPr txBox="1"/>
          <p:nvPr/>
        </p:nvSpPr>
        <p:spPr>
          <a:xfrm>
            <a:off x="670560" y="1790700"/>
            <a:ext cx="28041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OPERATION / SEAM</a:t>
            </a:r>
          </a:p>
        </p:txBody>
      </p:sp>
      <p:sp>
        <p:nvSpPr>
          <p:cNvPr id="6" name="TextBox 5"/>
          <p:cNvSpPr txBox="1"/>
          <p:nvPr/>
        </p:nvSpPr>
        <p:spPr>
          <a:xfrm>
            <a:off x="3718560" y="1790700"/>
            <a:ext cx="3832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RESPONSIBILITY</a:t>
            </a:r>
          </a:p>
        </p:txBody>
      </p:sp>
      <p:sp>
        <p:nvSpPr>
          <p:cNvPr id="7" name="TextBox 6"/>
          <p:cNvSpPr txBox="1"/>
          <p:nvPr/>
        </p:nvSpPr>
        <p:spPr>
          <a:xfrm>
            <a:off x="7795259" y="1790700"/>
            <a:ext cx="37261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CONTRACT CONSEQUENCE</a:t>
            </a:r>
          </a:p>
        </p:txBody>
      </p:sp>
      <p:sp>
        <p:nvSpPr>
          <p:cNvPr id="8" name="Rounded Rectangle 7"/>
          <p:cNvSpPr/>
          <p:nvPr/>
        </p:nvSpPr>
        <p:spPr>
          <a:xfrm>
            <a:off x="548640" y="2110740"/>
            <a:ext cx="11094720" cy="792480"/>
          </a:xfrm>
          <a:prstGeom prst="roundRect">
            <a:avLst>
              <a:gd name="adj" fmla="val 5769"/>
            </a:avLst>
          </a:prstGeom>
          <a:solidFill>
            <a:srgbClr val="FFFFFF"/>
          </a:solidFill>
          <a:ln>
            <a:noFill/>
          </a:ln>
          <a:effectLst/>
        </p:spPr>
        <p:txBody>
          <a:bodyPr rtlCol="0" anchor="ctr"/>
          <a:lstStyle/>
          <a:p>
            <a:pPr algn="ctr"/>
          </a:p>
        </p:txBody>
      </p:sp>
      <p:sp>
        <p:nvSpPr>
          <p:cNvPr id="9" name="TextBox 8"/>
          <p:cNvSpPr txBox="1"/>
          <p:nvPr/>
        </p:nvSpPr>
        <p:spPr>
          <a:xfrm>
            <a:off x="670560" y="224028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profile</a:t>
            </a:r>
          </a:p>
        </p:txBody>
      </p:sp>
      <p:sp>
        <p:nvSpPr>
          <p:cNvPr id="10" name="TextBox 9"/>
          <p:cNvSpPr txBox="1"/>
          <p:nvPr/>
        </p:nvSpPr>
        <p:spPr>
          <a:xfrm>
            <a:off x="3718560" y="224028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Identify model, rule, runtime and</a:t>
            </a:r>
          </a:p>
        </p:txBody>
      </p:sp>
      <p:sp>
        <p:nvSpPr>
          <p:cNvPr id="11" name="TextBox 10"/>
          <p:cNvSpPr txBox="1"/>
          <p:nvPr/>
        </p:nvSpPr>
        <p:spPr>
          <a:xfrm>
            <a:off x="3718560" y="248412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pinned sources</a:t>
            </a:r>
          </a:p>
        </p:txBody>
      </p:sp>
      <p:sp>
        <p:nvSpPr>
          <p:cNvPr id="12" name="TextBox 11"/>
          <p:cNvSpPr txBox="1"/>
          <p:nvPr/>
        </p:nvSpPr>
        <p:spPr>
          <a:xfrm>
            <a:off x="7795259" y="224028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Compatibility is explicit before use</a:t>
            </a:r>
          </a:p>
        </p:txBody>
      </p:sp>
      <p:sp>
        <p:nvSpPr>
          <p:cNvPr id="13" name="Rounded Rectangle 12"/>
          <p:cNvSpPr/>
          <p:nvPr/>
        </p:nvSpPr>
        <p:spPr>
          <a:xfrm>
            <a:off x="548640" y="2941320"/>
            <a:ext cx="11094720" cy="792480"/>
          </a:xfrm>
          <a:prstGeom prst="roundRect">
            <a:avLst>
              <a:gd name="adj" fmla="val 5769"/>
            </a:avLst>
          </a:prstGeom>
          <a:solidFill>
            <a:srgbClr val="FFFFFF"/>
          </a:solidFill>
          <a:ln>
            <a:noFill/>
          </a:ln>
          <a:effectLst/>
        </p:spPr>
        <p:txBody>
          <a:bodyPr rtlCol="0" anchor="ctr"/>
          <a:lstStyle/>
          <a:p>
            <a:pPr algn="ctr"/>
          </a:p>
        </p:txBody>
      </p:sp>
      <p:sp>
        <p:nvSpPr>
          <p:cNvPr id="14" name="TextBox 13"/>
          <p:cNvSpPr txBox="1"/>
          <p:nvPr/>
        </p:nvSpPr>
        <p:spPr>
          <a:xfrm>
            <a:off x="670560" y="307086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applyRule</a:t>
            </a:r>
          </a:p>
        </p:txBody>
      </p:sp>
      <p:sp>
        <p:nvSpPr>
          <p:cNvPr id="15" name="TextBox 14"/>
          <p:cNvSpPr txBox="1"/>
          <p:nvPr/>
        </p:nvSpPr>
        <p:spPr>
          <a:xfrm>
            <a:off x="3718560" y="307086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Evaluate P, Q, R, P⇒Q, Q⇒R</a:t>
            </a:r>
          </a:p>
        </p:txBody>
      </p:sp>
      <p:sp>
        <p:nvSpPr>
          <p:cNvPr id="16" name="TextBox 15"/>
          <p:cNvSpPr txBox="1"/>
          <p:nvPr/>
        </p:nvSpPr>
        <p:spPr>
          <a:xfrm>
            <a:off x="7795259" y="307086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One grounded proposal for P⇒R</a:t>
            </a:r>
          </a:p>
        </p:txBody>
      </p:sp>
      <p:sp>
        <p:nvSpPr>
          <p:cNvPr id="17" name="Rounded Rectangle 16"/>
          <p:cNvSpPr/>
          <p:nvPr/>
        </p:nvSpPr>
        <p:spPr>
          <a:xfrm>
            <a:off x="548640" y="3771900"/>
            <a:ext cx="11094720" cy="792480"/>
          </a:xfrm>
          <a:prstGeom prst="roundRect">
            <a:avLst>
              <a:gd name="adj" fmla="val 5769"/>
            </a:avLst>
          </a:prstGeom>
          <a:solidFill>
            <a:srgbClr val="FFFFFF"/>
          </a:solidFill>
          <a:ln>
            <a:noFill/>
          </a:ln>
          <a:effectLst/>
        </p:spPr>
        <p:txBody>
          <a:bodyPr rtlCol="0" anchor="ctr"/>
          <a:lstStyle/>
          <a:p>
            <a:pPr algn="ctr"/>
          </a:p>
        </p:txBody>
      </p:sp>
      <p:sp>
        <p:nvSpPr>
          <p:cNvPr id="18" name="TextBox 17"/>
          <p:cNvSpPr txBox="1"/>
          <p:nvPr/>
        </p:nvSpPr>
        <p:spPr>
          <a:xfrm>
            <a:off x="670560" y="390144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RevisionMath.revise</a:t>
            </a:r>
          </a:p>
        </p:txBody>
      </p:sp>
      <p:sp>
        <p:nvSpPr>
          <p:cNvPr id="19" name="TextBox 18"/>
          <p:cNvSpPr txBox="1"/>
          <p:nvPr/>
        </p:nvSpPr>
        <p:spPr>
          <a:xfrm>
            <a:off x="3718560" y="390144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Separate narrow revision dependency</a:t>
            </a:r>
          </a:p>
        </p:txBody>
      </p:sp>
      <p:sp>
        <p:nvSpPr>
          <p:cNvPr id="20" name="TextBox 19"/>
          <p:cNvSpPr txBox="1"/>
          <p:nvPr/>
        </p:nvSpPr>
        <p:spPr>
          <a:xfrm>
            <a:off x="7795259" y="390144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Not an extra kernel method or general</a:t>
            </a:r>
          </a:p>
        </p:txBody>
      </p:sp>
      <p:sp>
        <p:nvSpPr>
          <p:cNvPr id="21" name="TextBox 20"/>
          <p:cNvSpPr txBox="1"/>
          <p:nvPr/>
        </p:nvSpPr>
        <p:spPr>
          <a:xfrm>
            <a:off x="7795259" y="4145279"/>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inference loop</a:t>
            </a:r>
          </a:p>
        </p:txBody>
      </p:sp>
      <p:sp>
        <p:nvSpPr>
          <p:cNvPr id="22" name="Rounded Rectangle 21"/>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3" name="TextBox 22"/>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One bounded grounded rule; heuristic truth model; no belief, budget or agenda state.</a:t>
            </a:r>
          </a:p>
        </p:txBody>
      </p:sp>
      <p:cxnSp>
        <p:nvCxnSpPr>
          <p:cNvPr id="24" name="Connector 23"/>
          <p:cNvCxnSpPr/>
          <p:nvPr/>
        </p:nvCxnSpPr>
        <p:spPr>
          <a:xfrm>
            <a:off x="548640" y="6393180"/>
            <a:ext cx="11094720" cy="0"/>
          </a:xfrm>
          <a:prstGeom prst="line">
            <a:avLst/>
          </a:prstGeom>
          <a:ln w="7620">
            <a:solidFill>
              <a:srgbClr val="C9D2D4"/>
            </a:solidFill>
          </a:ln>
          <a:effectLst/>
        </p:spPr>
      </p:cxnSp>
      <p:sp>
        <p:nvSpPr>
          <p:cNvPr id="25" name="TextBox 24"/>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PLNKernel · M5 source bfb0ec8</a:t>
            </a:r>
          </a:p>
        </p:txBody>
      </p:sp>
      <p:sp>
        <p:nvSpPr>
          <p:cNvPr id="26" name="TextBox 25"/>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05 / CONCRETE BEHAVIOR</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A worked example through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REAL native PeTTa / PLN · generated exact premises; no replacement mathematics</a:t>
            </a:r>
          </a:p>
        </p:txBody>
      </p:sp>
      <p:sp>
        <p:nvSpPr>
          <p:cNvPr id="5" name="Rounded Rectangle 4"/>
          <p:cNvSpPr/>
          <p:nvPr/>
        </p:nvSpPr>
        <p:spPr>
          <a:xfrm>
            <a:off x="548640" y="2011680"/>
            <a:ext cx="2636520" cy="2468880"/>
          </a:xfrm>
          <a:prstGeom prst="roundRect">
            <a:avLst>
              <a:gd name="adj" fmla="val 4012"/>
            </a:avLst>
          </a:prstGeom>
          <a:solidFill>
            <a:srgbClr val="FFFFFF"/>
          </a:solidFill>
          <a:ln w="7620">
            <a:solidFill>
              <a:srgbClr val="007C78"/>
            </a:solidFill>
          </a:ln>
          <a:effectLst/>
        </p:spPr>
        <p:txBody>
          <a:bodyPr rtlCol="0" anchor="ctr"/>
          <a:lstStyle/>
          <a:p>
            <a:pPr algn="ctr"/>
          </a:p>
        </p:txBody>
      </p:sp>
      <p:sp>
        <p:nvSpPr>
          <p:cNvPr id="6" name="TextBox 5"/>
          <p:cNvSpPr txBox="1"/>
          <p:nvPr/>
        </p:nvSpPr>
        <p:spPr>
          <a:xfrm>
            <a:off x="7162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01 · STEP</a:t>
            </a:r>
          </a:p>
        </p:txBody>
      </p:sp>
      <p:sp>
        <p:nvSpPr>
          <p:cNvPr id="7" name="TextBox 6"/>
          <p:cNvSpPr txBox="1"/>
          <p:nvPr/>
        </p:nvSpPr>
        <p:spPr>
          <a:xfrm>
            <a:off x="7162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Bind premises</a:t>
            </a:r>
          </a:p>
        </p:txBody>
      </p:sp>
      <p:sp>
        <p:nvSpPr>
          <p:cNvPr id="8" name="TextBox 7"/>
          <p:cNvSpPr txBox="1"/>
          <p:nvPr/>
        </p:nvSpPr>
        <p:spPr>
          <a:xfrm>
            <a:off x="7162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Exact historical</a:t>
            </a:r>
          </a:p>
        </p:txBody>
      </p:sp>
      <p:sp>
        <p:nvSpPr>
          <p:cNvPr id="9" name="TextBox 8"/>
          <p:cNvSpPr txBox="1"/>
          <p:nvPr/>
        </p:nvSpPr>
        <p:spPr>
          <a:xfrm>
            <a:off x="7162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supports for five</a:t>
            </a:r>
          </a:p>
        </p:txBody>
      </p:sp>
      <p:sp>
        <p:nvSpPr>
          <p:cNvPr id="10" name="TextBox 9"/>
          <p:cNvSpPr txBox="1"/>
          <p:nvPr/>
        </p:nvSpPr>
        <p:spPr>
          <a:xfrm>
            <a:off x="7162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grounded roles.</a:t>
            </a:r>
          </a:p>
        </p:txBody>
      </p:sp>
      <p:cxnSp>
        <p:nvCxnSpPr>
          <p:cNvPr id="11" name="Connector 10"/>
          <p:cNvCxnSpPr/>
          <p:nvPr/>
        </p:nvCxnSpPr>
        <p:spPr>
          <a:xfrm>
            <a:off x="3185160" y="3238500"/>
            <a:ext cx="182880" cy="0"/>
          </a:xfrm>
          <a:prstGeom prst="line">
            <a:avLst/>
          </a:prstGeom>
          <a:ln w="15240">
            <a:solidFill>
              <a:srgbClr val="007C78"/>
            </a:solidFill>
          </a:ln>
          <a:effectLst/>
        </p:spPr>
      </p:cxnSp>
      <p:sp>
        <p:nvSpPr>
          <p:cNvPr id="12" name="Freeform 11"/>
          <p:cNvSpPr/>
          <p:nvPr/>
        </p:nvSpPr>
        <p:spPr>
          <a:xfrm>
            <a:off x="3268980" y="320040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13" name="Rounded Rectangle 12"/>
          <p:cNvSpPr/>
          <p:nvPr/>
        </p:nvSpPr>
        <p:spPr>
          <a:xfrm>
            <a:off x="3368040" y="2011680"/>
            <a:ext cx="2636520" cy="2468880"/>
          </a:xfrm>
          <a:prstGeom prst="roundRect">
            <a:avLst>
              <a:gd name="adj" fmla="val 4012"/>
            </a:avLst>
          </a:prstGeom>
          <a:solidFill>
            <a:srgbClr val="FFFFFF"/>
          </a:solidFill>
          <a:ln w="7620">
            <a:solidFill>
              <a:srgbClr val="007C78"/>
            </a:solidFill>
          </a:ln>
          <a:effectLst/>
        </p:spPr>
        <p:txBody>
          <a:bodyPr rtlCol="0" anchor="ctr"/>
          <a:lstStyle/>
          <a:p>
            <a:pPr algn="ctr"/>
          </a:p>
        </p:txBody>
      </p:sp>
      <p:sp>
        <p:nvSpPr>
          <p:cNvPr id="14" name="TextBox 13"/>
          <p:cNvSpPr txBox="1"/>
          <p:nvPr/>
        </p:nvSpPr>
        <p:spPr>
          <a:xfrm>
            <a:off x="3535679"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02 · STEP</a:t>
            </a:r>
          </a:p>
        </p:txBody>
      </p:sp>
      <p:sp>
        <p:nvSpPr>
          <p:cNvPr id="15" name="TextBox 14"/>
          <p:cNvSpPr txBox="1"/>
          <p:nvPr/>
        </p:nvSpPr>
        <p:spPr>
          <a:xfrm>
            <a:off x="3535679"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Validate</a:t>
            </a:r>
          </a:p>
        </p:txBody>
      </p:sp>
      <p:sp>
        <p:nvSpPr>
          <p:cNvPr id="16" name="TextBox 15"/>
          <p:cNvSpPr txBox="1"/>
          <p:nvPr/>
        </p:nvSpPr>
        <p:spPr>
          <a:xfrm>
            <a:off x="3535679"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Check domains,</a:t>
            </a:r>
          </a:p>
        </p:txBody>
      </p:sp>
      <p:sp>
        <p:nvSpPr>
          <p:cNvPr id="17" name="TextBox 16"/>
          <p:cNvSpPr txBox="1"/>
          <p:nvPr/>
        </p:nvSpPr>
        <p:spPr>
          <a:xfrm>
            <a:off x="3535679"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bindings and</a:t>
            </a:r>
          </a:p>
        </p:txBody>
      </p:sp>
      <p:sp>
        <p:nvSpPr>
          <p:cNvPr id="18" name="TextBox 17"/>
          <p:cNvSpPr txBox="1"/>
          <p:nvPr/>
        </p:nvSpPr>
        <p:spPr>
          <a:xfrm>
            <a:off x="3535679"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probability</a:t>
            </a:r>
          </a:p>
        </p:txBody>
      </p:sp>
      <p:sp>
        <p:nvSpPr>
          <p:cNvPr id="19" name="TextBox 18"/>
          <p:cNvSpPr txBox="1"/>
          <p:nvPr/>
        </p:nvSpPr>
        <p:spPr>
          <a:xfrm>
            <a:off x="3535679" y="3613404"/>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consistency.</a:t>
            </a:r>
          </a:p>
        </p:txBody>
      </p:sp>
      <p:cxnSp>
        <p:nvCxnSpPr>
          <p:cNvPr id="20" name="Connector 19"/>
          <p:cNvCxnSpPr/>
          <p:nvPr/>
        </p:nvCxnSpPr>
        <p:spPr>
          <a:xfrm>
            <a:off x="6004559" y="3238500"/>
            <a:ext cx="182881" cy="0"/>
          </a:xfrm>
          <a:prstGeom prst="line">
            <a:avLst/>
          </a:prstGeom>
          <a:ln w="15240">
            <a:solidFill>
              <a:srgbClr val="007C78"/>
            </a:solidFill>
          </a:ln>
          <a:effectLst/>
        </p:spPr>
      </p:cxnSp>
      <p:sp>
        <p:nvSpPr>
          <p:cNvPr id="21" name="Freeform 20"/>
          <p:cNvSpPr/>
          <p:nvPr/>
        </p:nvSpPr>
        <p:spPr>
          <a:xfrm>
            <a:off x="6088380" y="320040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22" name="Rounded Rectangle 21"/>
          <p:cNvSpPr/>
          <p:nvPr/>
        </p:nvSpPr>
        <p:spPr>
          <a:xfrm>
            <a:off x="6187440" y="2011680"/>
            <a:ext cx="2636520" cy="2468880"/>
          </a:xfrm>
          <a:prstGeom prst="roundRect">
            <a:avLst>
              <a:gd name="adj" fmla="val 4012"/>
            </a:avLst>
          </a:prstGeom>
          <a:solidFill>
            <a:srgbClr val="FFFFFF"/>
          </a:solidFill>
          <a:ln w="7620">
            <a:solidFill>
              <a:srgbClr val="007C78"/>
            </a:solidFill>
          </a:ln>
          <a:effectLst/>
        </p:spPr>
        <p:txBody>
          <a:bodyPr rtlCol="0" anchor="ctr"/>
          <a:lstStyle/>
          <a:p>
            <a:pPr algn="ctr"/>
          </a:p>
        </p:txBody>
      </p:sp>
      <p:sp>
        <p:nvSpPr>
          <p:cNvPr id="23" name="TextBox 22"/>
          <p:cNvSpPr txBox="1"/>
          <p:nvPr/>
        </p:nvSpPr>
        <p:spPr>
          <a:xfrm>
            <a:off x="63550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03 · STEP</a:t>
            </a:r>
          </a:p>
        </p:txBody>
      </p:sp>
      <p:sp>
        <p:nvSpPr>
          <p:cNvPr id="24" name="TextBox 23"/>
          <p:cNvSpPr txBox="1"/>
          <p:nvPr/>
        </p:nvSpPr>
        <p:spPr>
          <a:xfrm>
            <a:off x="63550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Execute native</a:t>
            </a:r>
          </a:p>
        </p:txBody>
      </p:sp>
      <p:sp>
        <p:nvSpPr>
          <p:cNvPr id="25" name="TextBox 24"/>
          <p:cNvSpPr txBox="1"/>
          <p:nvPr/>
        </p:nvSpPr>
        <p:spPr>
          <a:xfrm>
            <a:off x="63550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Run unchanged</a:t>
            </a:r>
          </a:p>
        </p:txBody>
      </p:sp>
      <p:sp>
        <p:nvSpPr>
          <p:cNvPr id="26" name="TextBox 25"/>
          <p:cNvSpPr txBox="1"/>
          <p:nvPr/>
        </p:nvSpPr>
        <p:spPr>
          <a:xfrm>
            <a:off x="63550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guarded</a:t>
            </a:r>
          </a:p>
        </p:txBody>
      </p:sp>
      <p:sp>
        <p:nvSpPr>
          <p:cNvPr id="27" name="TextBox 26"/>
          <p:cNvSpPr txBox="1"/>
          <p:nvPr/>
        </p:nvSpPr>
        <p:spPr>
          <a:xfrm>
            <a:off x="63550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Truth_Deduction.</a:t>
            </a:r>
          </a:p>
        </p:txBody>
      </p:sp>
      <p:cxnSp>
        <p:nvCxnSpPr>
          <p:cNvPr id="28" name="Connector 27"/>
          <p:cNvCxnSpPr/>
          <p:nvPr/>
        </p:nvCxnSpPr>
        <p:spPr>
          <a:xfrm>
            <a:off x="8823960" y="3238500"/>
            <a:ext cx="182880" cy="0"/>
          </a:xfrm>
          <a:prstGeom prst="line">
            <a:avLst/>
          </a:prstGeom>
          <a:ln w="15240">
            <a:solidFill>
              <a:srgbClr val="007C78"/>
            </a:solidFill>
          </a:ln>
          <a:effectLst/>
        </p:spPr>
      </p:cxnSp>
      <p:sp>
        <p:nvSpPr>
          <p:cNvPr id="29" name="Freeform 28"/>
          <p:cNvSpPr/>
          <p:nvPr/>
        </p:nvSpPr>
        <p:spPr>
          <a:xfrm>
            <a:off x="8907780" y="320040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30" name="Rounded Rectangle 29"/>
          <p:cNvSpPr/>
          <p:nvPr/>
        </p:nvSpPr>
        <p:spPr>
          <a:xfrm>
            <a:off x="9006840" y="2011680"/>
            <a:ext cx="2636520" cy="2468880"/>
          </a:xfrm>
          <a:prstGeom prst="roundRect">
            <a:avLst>
              <a:gd name="adj" fmla="val 4012"/>
            </a:avLst>
          </a:prstGeom>
          <a:solidFill>
            <a:srgbClr val="FFFFFF"/>
          </a:solidFill>
          <a:ln w="7620">
            <a:solidFill>
              <a:srgbClr val="007C78"/>
            </a:solidFill>
          </a:ln>
          <a:effectLst/>
        </p:spPr>
        <p:txBody>
          <a:bodyPr rtlCol="0" anchor="ctr"/>
          <a:lstStyle/>
          <a:p>
            <a:pPr algn="ctr"/>
          </a:p>
        </p:txBody>
      </p:sp>
      <p:sp>
        <p:nvSpPr>
          <p:cNvPr id="31" name="TextBox 30"/>
          <p:cNvSpPr txBox="1"/>
          <p:nvPr/>
        </p:nvSpPr>
        <p:spPr>
          <a:xfrm>
            <a:off x="91744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04 · STEP</a:t>
            </a:r>
          </a:p>
        </p:txBody>
      </p:sp>
      <p:sp>
        <p:nvSpPr>
          <p:cNvPr id="32" name="TextBox 31"/>
          <p:cNvSpPr txBox="1"/>
          <p:nvPr/>
        </p:nvSpPr>
        <p:spPr>
          <a:xfrm>
            <a:off x="91744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Return proposal</a:t>
            </a:r>
          </a:p>
        </p:txBody>
      </p:sp>
      <p:sp>
        <p:nvSpPr>
          <p:cNvPr id="33" name="TextBox 32"/>
          <p:cNvSpPr txBox="1"/>
          <p:nvPr/>
        </p:nvSpPr>
        <p:spPr>
          <a:xfrm>
            <a:off x="91744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C2 rechecks</a:t>
            </a:r>
          </a:p>
        </p:txBody>
      </p:sp>
      <p:sp>
        <p:nvSpPr>
          <p:cNvPr id="34" name="TextBox 33"/>
          <p:cNvSpPr txBox="1"/>
          <p:nvPr/>
        </p:nvSpPr>
        <p:spPr>
          <a:xfrm>
            <a:off x="91744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authority and</a:t>
            </a:r>
          </a:p>
        </p:txBody>
      </p:sp>
      <p:sp>
        <p:nvSpPr>
          <p:cNvPr id="35" name="TextBox 34"/>
          <p:cNvSpPr txBox="1"/>
          <p:nvPr/>
        </p:nvSpPr>
        <p:spPr>
          <a:xfrm>
            <a:off x="91744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decides admission.</a:t>
            </a:r>
          </a:p>
        </p:txBody>
      </p:sp>
      <p:sp>
        <p:nvSpPr>
          <p:cNvPr id="36" name="Rounded Rectangle 35"/>
          <p:cNvSpPr/>
          <p:nvPr/>
        </p:nvSpPr>
        <p:spPr>
          <a:xfrm>
            <a:off x="548640" y="4861560"/>
            <a:ext cx="11094720" cy="853440"/>
          </a:xfrm>
          <a:prstGeom prst="roundRect">
            <a:avLst>
              <a:gd name="adj" fmla="val 11607"/>
            </a:avLst>
          </a:prstGeom>
          <a:solidFill>
            <a:srgbClr val="DCEFE8"/>
          </a:solidFill>
          <a:ln w="7620">
            <a:solidFill>
              <a:srgbClr val="007C78"/>
            </a:solidFill>
          </a:ln>
          <a:effectLst/>
        </p:spPr>
        <p:txBody>
          <a:bodyPr rtlCol="0" anchor="ctr"/>
          <a:lstStyle/>
          <a:p>
            <a:pPr algn="ctr"/>
          </a:p>
        </p:txBody>
      </p:sp>
      <p:sp>
        <p:nvSpPr>
          <p:cNvPr id="37" name="TextBox 36"/>
          <p:cNvSpPr txBox="1"/>
          <p:nvPr/>
        </p:nvSpPr>
        <p:spPr>
          <a:xfrm>
            <a:off x="716280" y="502920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007C78"/>
                </a:solidFill>
                <a:latin typeface="DejaVu Sans"/>
              </a:rPr>
              <a:t>What the example establishes</a:t>
            </a:r>
          </a:p>
        </p:txBody>
      </p:sp>
      <p:sp>
        <p:nvSpPr>
          <p:cNvPr id="38" name="TextBox 37"/>
          <p:cNvSpPr txBox="1"/>
          <p:nvPr/>
        </p:nvSpPr>
        <p:spPr>
          <a:xfrm>
            <a:off x="716280" y="5378500"/>
            <a:ext cx="107594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Reusing mathematics requires preserving its assumptions and boundary.</a:t>
            </a:r>
          </a:p>
        </p:txBody>
      </p:sp>
      <p:cxnSp>
        <p:nvCxnSpPr>
          <p:cNvPr id="39" name="Connector 38"/>
          <p:cNvCxnSpPr/>
          <p:nvPr/>
        </p:nvCxnSpPr>
        <p:spPr>
          <a:xfrm>
            <a:off x="548640" y="6393180"/>
            <a:ext cx="11094720" cy="0"/>
          </a:xfrm>
          <a:prstGeom prst="line">
            <a:avLst/>
          </a:prstGeom>
          <a:ln w="7620">
            <a:solidFill>
              <a:srgbClr val="C9D2D4"/>
            </a:solidFill>
          </a:ln>
          <a:effectLst/>
        </p:spPr>
      </p:cxnSp>
      <p:sp>
        <p:nvSpPr>
          <p:cNvPr id="40" name="TextBox 39"/>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PLNKernel · M5 source bfb0ec8</a:t>
            </a:r>
          </a:p>
        </p:txBody>
      </p:sp>
      <p:sp>
        <p:nvSpPr>
          <p:cNvPr id="41" name="TextBox 40"/>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06 / BEHAVIORAL GUARANTEES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Four invariants to preserve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Each statement is bounded by the selected profile, authority model and tested failure model.</a:t>
            </a:r>
          </a:p>
        </p:txBody>
      </p:sp>
      <p:sp>
        <p:nvSpPr>
          <p:cNvPr id="5" name="Rounded Rectangle 4"/>
          <p:cNvSpPr/>
          <p:nvPr/>
        </p:nvSpPr>
        <p:spPr>
          <a:xfrm>
            <a:off x="548640" y="1866900"/>
            <a:ext cx="5425440" cy="1623060"/>
          </a:xfrm>
          <a:prstGeom prst="roundRect">
            <a:avLst>
              <a:gd name="adj" fmla="val 6103"/>
            </a:avLst>
          </a:prstGeom>
          <a:solidFill>
            <a:srgbClr val="FFFFFF"/>
          </a:solidFill>
          <a:ln w="7620">
            <a:solidFill>
              <a:srgbClr val="007C78"/>
            </a:solidFill>
          </a:ln>
          <a:effectLst/>
        </p:spPr>
        <p:txBody>
          <a:bodyPr rtlCol="0" anchor="ctr"/>
          <a:lstStyle/>
          <a:p>
            <a:pPr algn="ctr"/>
          </a:p>
        </p:txBody>
      </p:sp>
      <p:sp>
        <p:nvSpPr>
          <p:cNvPr id="6" name="TextBox 5"/>
          <p:cNvSpPr txBox="1"/>
          <p:nvPr/>
        </p:nvSpPr>
        <p:spPr>
          <a:xfrm>
            <a:off x="716280"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I1</a:t>
            </a:r>
          </a:p>
        </p:txBody>
      </p:sp>
      <p:sp>
        <p:nvSpPr>
          <p:cNvPr id="7" name="TextBox 6"/>
          <p:cNvSpPr txBox="1"/>
          <p:nvPr/>
        </p:nvSpPr>
        <p:spPr>
          <a:xfrm>
            <a:off x="716280"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Pinned mathematics</a:t>
            </a:r>
          </a:p>
        </p:txBody>
      </p:sp>
      <p:sp>
        <p:nvSpPr>
          <p:cNvPr id="8" name="TextBox 7"/>
          <p:cNvSpPr txBox="1"/>
          <p:nvPr/>
        </p:nvSpPr>
        <p:spPr>
          <a:xfrm>
            <a:off x="716280"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No alternative formula is substituted to obtain a</a:t>
            </a:r>
          </a:p>
        </p:txBody>
      </p:sp>
      <p:sp>
        <p:nvSpPr>
          <p:cNvPr id="9" name="TextBox 8"/>
          <p:cNvSpPr txBox="1"/>
          <p:nvPr/>
        </p:nvSpPr>
        <p:spPr>
          <a:xfrm>
            <a:off x="716280"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desired result.</a:t>
            </a:r>
          </a:p>
        </p:txBody>
      </p:sp>
      <p:sp>
        <p:nvSpPr>
          <p:cNvPr id="10" name="Rounded Rectangle 9"/>
          <p:cNvSpPr/>
          <p:nvPr/>
        </p:nvSpPr>
        <p:spPr>
          <a:xfrm>
            <a:off x="6217920" y="1866900"/>
            <a:ext cx="5425440" cy="1623060"/>
          </a:xfrm>
          <a:prstGeom prst="roundRect">
            <a:avLst>
              <a:gd name="adj" fmla="val 6103"/>
            </a:avLst>
          </a:prstGeom>
          <a:solidFill>
            <a:srgbClr val="FFFFFF"/>
          </a:solidFill>
          <a:ln w="7620">
            <a:solidFill>
              <a:srgbClr val="007C78"/>
            </a:solidFill>
          </a:ln>
          <a:effectLst/>
        </p:spPr>
        <p:txBody>
          <a:bodyPr rtlCol="0" anchor="ctr"/>
          <a:lstStyle/>
          <a:p>
            <a:pPr algn="ctr"/>
          </a:p>
        </p:txBody>
      </p:sp>
      <p:sp>
        <p:nvSpPr>
          <p:cNvPr id="11" name="TextBox 10"/>
          <p:cNvSpPr txBox="1"/>
          <p:nvPr/>
        </p:nvSpPr>
        <p:spPr>
          <a:xfrm>
            <a:off x="6385559"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I2</a:t>
            </a:r>
          </a:p>
        </p:txBody>
      </p:sp>
      <p:sp>
        <p:nvSpPr>
          <p:cNvPr id="12" name="TextBox 11"/>
          <p:cNvSpPr txBox="1"/>
          <p:nvPr/>
        </p:nvSpPr>
        <p:spPr>
          <a:xfrm>
            <a:off x="6385559"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Exact premise vector</a:t>
            </a:r>
          </a:p>
        </p:txBody>
      </p:sp>
      <p:sp>
        <p:nvSpPr>
          <p:cNvPr id="13" name="TextBox 12"/>
          <p:cNvSpPr txBox="1"/>
          <p:nvPr/>
        </p:nvSpPr>
        <p:spPr>
          <a:xfrm>
            <a:off x="6385559"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Historical support identities are not replaced by</a:t>
            </a:r>
          </a:p>
        </p:txBody>
      </p:sp>
      <p:sp>
        <p:nvSpPr>
          <p:cNvPr id="14" name="TextBox 13"/>
          <p:cNvSpPr txBox="1"/>
          <p:nvPr/>
        </p:nvSpPr>
        <p:spPr>
          <a:xfrm>
            <a:off x="6385559"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latest beliefs.</a:t>
            </a:r>
          </a:p>
        </p:txBody>
      </p:sp>
      <p:sp>
        <p:nvSpPr>
          <p:cNvPr id="15" name="Rounded Rectangle 14"/>
          <p:cNvSpPr/>
          <p:nvPr/>
        </p:nvSpPr>
        <p:spPr>
          <a:xfrm>
            <a:off x="548640" y="3718560"/>
            <a:ext cx="5425440" cy="1623060"/>
          </a:xfrm>
          <a:prstGeom prst="roundRect">
            <a:avLst>
              <a:gd name="adj" fmla="val 6103"/>
            </a:avLst>
          </a:prstGeom>
          <a:solidFill>
            <a:srgbClr val="FFFFFF"/>
          </a:solidFill>
          <a:ln w="7620">
            <a:solidFill>
              <a:srgbClr val="007C78"/>
            </a:solidFill>
          </a:ln>
          <a:effectLst/>
        </p:spPr>
        <p:txBody>
          <a:bodyPr rtlCol="0" anchor="ctr"/>
          <a:lstStyle/>
          <a:p>
            <a:pPr algn="ctr"/>
          </a:p>
        </p:txBody>
      </p:sp>
      <p:sp>
        <p:nvSpPr>
          <p:cNvPr id="16" name="TextBox 15"/>
          <p:cNvSpPr txBox="1"/>
          <p:nvPr/>
        </p:nvSpPr>
        <p:spPr>
          <a:xfrm>
            <a:off x="716280"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I3</a:t>
            </a:r>
          </a:p>
        </p:txBody>
      </p:sp>
      <p:sp>
        <p:nvSpPr>
          <p:cNvPr id="17" name="TextBox 16"/>
          <p:cNvSpPr txBox="1"/>
          <p:nvPr/>
        </p:nvSpPr>
        <p:spPr>
          <a:xfrm>
            <a:off x="716280"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Refuse invalid domains</a:t>
            </a:r>
          </a:p>
        </p:txBody>
      </p:sp>
      <p:sp>
        <p:nvSpPr>
          <p:cNvPr id="18" name="TextBox 17"/>
          <p:cNvSpPr txBox="1"/>
          <p:nvPr/>
        </p:nvSpPr>
        <p:spPr>
          <a:xfrm>
            <a:off x="716280"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Nonfinite or inconsistent inputs fail guarded</a:t>
            </a:r>
          </a:p>
        </p:txBody>
      </p:sp>
      <p:sp>
        <p:nvSpPr>
          <p:cNvPr id="19" name="TextBox 18"/>
          <p:cNvSpPr txBox="1"/>
          <p:nvPr/>
        </p:nvSpPr>
        <p:spPr>
          <a:xfrm>
            <a:off x="716280"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checks.</a:t>
            </a:r>
          </a:p>
        </p:txBody>
      </p:sp>
      <p:sp>
        <p:nvSpPr>
          <p:cNvPr id="20" name="Rounded Rectangle 19"/>
          <p:cNvSpPr/>
          <p:nvPr/>
        </p:nvSpPr>
        <p:spPr>
          <a:xfrm>
            <a:off x="6217920" y="3718560"/>
            <a:ext cx="5425440" cy="1623060"/>
          </a:xfrm>
          <a:prstGeom prst="roundRect">
            <a:avLst>
              <a:gd name="adj" fmla="val 6103"/>
            </a:avLst>
          </a:prstGeom>
          <a:solidFill>
            <a:srgbClr val="FFFFFF"/>
          </a:solidFill>
          <a:ln w="7620">
            <a:solidFill>
              <a:srgbClr val="007C78"/>
            </a:solidFill>
          </a:ln>
          <a:effectLst/>
        </p:spPr>
        <p:txBody>
          <a:bodyPr rtlCol="0" anchor="ctr"/>
          <a:lstStyle/>
          <a:p>
            <a:pPr algn="ctr"/>
          </a:p>
        </p:txBody>
      </p:sp>
      <p:sp>
        <p:nvSpPr>
          <p:cNvPr id="21" name="TextBox 20"/>
          <p:cNvSpPr txBox="1"/>
          <p:nvPr/>
        </p:nvSpPr>
        <p:spPr>
          <a:xfrm>
            <a:off x="6385559"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I4</a:t>
            </a:r>
          </a:p>
        </p:txBody>
      </p:sp>
      <p:sp>
        <p:nvSpPr>
          <p:cNvPr id="22" name="TextBox 21"/>
          <p:cNvSpPr txBox="1"/>
          <p:nvPr/>
        </p:nvSpPr>
        <p:spPr>
          <a:xfrm>
            <a:off x="6385559"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No owner writes</a:t>
            </a:r>
          </a:p>
        </p:txBody>
      </p:sp>
      <p:sp>
        <p:nvSpPr>
          <p:cNvPr id="23" name="TextBox 22"/>
          <p:cNvSpPr txBox="1"/>
          <p:nvPr/>
        </p:nvSpPr>
        <p:spPr>
          <a:xfrm>
            <a:off x="6385559"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 successful formula result alone changes no</a:t>
            </a:r>
          </a:p>
        </p:txBody>
      </p:sp>
      <p:sp>
        <p:nvSpPr>
          <p:cNvPr id="24" name="TextBox 23"/>
          <p:cNvSpPr txBox="1"/>
          <p:nvPr/>
        </p:nvSpPr>
        <p:spPr>
          <a:xfrm>
            <a:off x="6385559"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belief or attention state.</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PLNKernel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07 / RECOVERY AND REFUSAL</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Failure is part of the interface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 lost response, a missing prerequisite and a deliberate refusal require different interpretations.</a:t>
            </a:r>
          </a:p>
        </p:txBody>
      </p:sp>
      <p:sp>
        <p:nvSpPr>
          <p:cNvPr id="5" name="TextBox 4"/>
          <p:cNvSpPr txBox="1"/>
          <p:nvPr/>
        </p:nvSpPr>
        <p:spPr>
          <a:xfrm>
            <a:off x="670560" y="1790700"/>
            <a:ext cx="32232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BOUNDARY / TRIGGER</a:t>
            </a:r>
          </a:p>
        </p:txBody>
      </p:sp>
      <p:sp>
        <p:nvSpPr>
          <p:cNvPr id="6" name="TextBox 5"/>
          <p:cNvSpPr txBox="1"/>
          <p:nvPr/>
        </p:nvSpPr>
        <p:spPr>
          <a:xfrm>
            <a:off x="4137660" y="1790700"/>
            <a:ext cx="4213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OWNER-AUTHORITATIVE OUTCOME</a:t>
            </a:r>
          </a:p>
        </p:txBody>
      </p:sp>
      <p:sp>
        <p:nvSpPr>
          <p:cNvPr id="7" name="TextBox 6"/>
          <p:cNvSpPr txBox="1"/>
          <p:nvPr/>
        </p:nvSpPr>
        <p:spPr>
          <a:xfrm>
            <a:off x="8595360" y="1790700"/>
            <a:ext cx="29260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EVIDENCE / LIMITATION</a:t>
            </a:r>
          </a:p>
        </p:txBody>
      </p:sp>
      <p:sp>
        <p:nvSpPr>
          <p:cNvPr id="8" name="Rounded Rectangle 7"/>
          <p:cNvSpPr/>
          <p:nvPr/>
        </p:nvSpPr>
        <p:spPr>
          <a:xfrm>
            <a:off x="548640" y="2110740"/>
            <a:ext cx="11094720" cy="1066800"/>
          </a:xfrm>
          <a:prstGeom prst="roundRect">
            <a:avLst>
              <a:gd name="adj" fmla="val 4285"/>
            </a:avLst>
          </a:prstGeom>
          <a:solidFill>
            <a:srgbClr val="FFFFFF"/>
          </a:solidFill>
          <a:ln>
            <a:noFill/>
          </a:ln>
          <a:effectLst/>
        </p:spPr>
        <p:txBody>
          <a:bodyPr rtlCol="0" anchor="ctr"/>
          <a:lstStyle/>
          <a:p>
            <a:pPr algn="ctr"/>
          </a:p>
        </p:txBody>
      </p:sp>
      <p:sp>
        <p:nvSpPr>
          <p:cNvPr id="9" name="TextBox 8"/>
          <p:cNvSpPr txBox="1"/>
          <p:nvPr/>
        </p:nvSpPr>
        <p:spPr>
          <a:xfrm>
            <a:off x="670560" y="22402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Native process unavailable</a:t>
            </a:r>
          </a:p>
        </p:txBody>
      </p:sp>
      <p:sp>
        <p:nvSpPr>
          <p:cNvPr id="10" name="TextBox 9"/>
          <p:cNvSpPr txBox="1"/>
          <p:nvPr/>
        </p:nvSpPr>
        <p:spPr>
          <a:xfrm>
            <a:off x="4137660" y="22402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Return explicit unavailable/failed attempt</a:t>
            </a:r>
          </a:p>
        </p:txBody>
      </p:sp>
      <p:sp>
        <p:nvSpPr>
          <p:cNvPr id="11" name="TextBox 10"/>
          <p:cNvSpPr txBox="1"/>
          <p:nvPr/>
        </p:nvSpPr>
        <p:spPr>
          <a:xfrm>
            <a:off x="4137660" y="248412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semantics.</a:t>
            </a:r>
          </a:p>
        </p:txBody>
      </p:sp>
      <p:sp>
        <p:nvSpPr>
          <p:cNvPr id="12" name="TextBox 11"/>
          <p:cNvSpPr txBox="1"/>
          <p:nvPr/>
        </p:nvSpPr>
        <p:spPr>
          <a:xfrm>
            <a:off x="8595360" y="22402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fixture fallback for real</a:t>
            </a:r>
          </a:p>
        </p:txBody>
      </p:sp>
      <p:sp>
        <p:nvSpPr>
          <p:cNvPr id="13" name="TextBox 12"/>
          <p:cNvSpPr txBox="1"/>
          <p:nvPr/>
        </p:nvSpPr>
        <p:spPr>
          <a:xfrm>
            <a:off x="8595360" y="248412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gate</a:t>
            </a:r>
          </a:p>
        </p:txBody>
      </p:sp>
      <p:sp>
        <p:nvSpPr>
          <p:cNvPr id="14" name="Rounded Rectangle 13"/>
          <p:cNvSpPr/>
          <p:nvPr/>
        </p:nvSpPr>
        <p:spPr>
          <a:xfrm>
            <a:off x="548640" y="3215640"/>
            <a:ext cx="11094720" cy="1066800"/>
          </a:xfrm>
          <a:prstGeom prst="roundRect">
            <a:avLst>
              <a:gd name="adj" fmla="val 4285"/>
            </a:avLst>
          </a:prstGeom>
          <a:solidFill>
            <a:srgbClr val="FFFFFF"/>
          </a:solidFill>
          <a:ln>
            <a:noFill/>
          </a:ln>
          <a:effectLst/>
        </p:spPr>
        <p:txBody>
          <a:bodyPr rtlCol="0" anchor="ctr"/>
          <a:lstStyle/>
          <a:p>
            <a:pPr algn="ctr"/>
          </a:p>
        </p:txBody>
      </p:sp>
      <p:sp>
        <p:nvSpPr>
          <p:cNvPr id="15" name="TextBox 14"/>
          <p:cNvSpPr txBox="1"/>
          <p:nvPr/>
        </p:nvSpPr>
        <p:spPr>
          <a:xfrm>
            <a:off x="670560" y="3345179"/>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Crash around formula return</a:t>
            </a:r>
          </a:p>
        </p:txBody>
      </p:sp>
      <p:sp>
        <p:nvSpPr>
          <p:cNvPr id="16" name="TextBox 15"/>
          <p:cNvSpPr txBox="1"/>
          <p:nvPr/>
        </p:nvSpPr>
        <p:spPr>
          <a:xfrm>
            <a:off x="4137660" y="334517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C2/C4 journals govern recovery and spent</a:t>
            </a:r>
          </a:p>
        </p:txBody>
      </p:sp>
      <p:sp>
        <p:nvSpPr>
          <p:cNvPr id="17" name="TextBox 16"/>
          <p:cNvSpPr txBox="1"/>
          <p:nvPr/>
        </p:nvSpPr>
        <p:spPr>
          <a:xfrm>
            <a:off x="4137660" y="358901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attempts.</a:t>
            </a:r>
          </a:p>
        </p:txBody>
      </p:sp>
      <p:sp>
        <p:nvSpPr>
          <p:cNvPr id="18" name="TextBox 17"/>
          <p:cNvSpPr txBox="1"/>
          <p:nvPr/>
        </p:nvSpPr>
        <p:spPr>
          <a:xfrm>
            <a:off x="8595360" y="3345179"/>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Kernel is not the recovery</a:t>
            </a:r>
          </a:p>
        </p:txBody>
      </p:sp>
      <p:sp>
        <p:nvSpPr>
          <p:cNvPr id="19" name="TextBox 18"/>
          <p:cNvSpPr txBox="1"/>
          <p:nvPr/>
        </p:nvSpPr>
        <p:spPr>
          <a:xfrm>
            <a:off x="8595360" y="3589019"/>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owner</a:t>
            </a:r>
          </a:p>
        </p:txBody>
      </p:sp>
      <p:sp>
        <p:nvSpPr>
          <p:cNvPr id="20" name="Rounded Rectangle 19"/>
          <p:cNvSpPr/>
          <p:nvPr/>
        </p:nvSpPr>
        <p:spPr>
          <a:xfrm>
            <a:off x="548640" y="4320540"/>
            <a:ext cx="11094720" cy="1066800"/>
          </a:xfrm>
          <a:prstGeom prst="roundRect">
            <a:avLst>
              <a:gd name="adj" fmla="val 4285"/>
            </a:avLst>
          </a:prstGeom>
          <a:solidFill>
            <a:srgbClr val="FFFFFF"/>
          </a:solidFill>
          <a:ln>
            <a:noFill/>
          </a:ln>
          <a:effectLst/>
        </p:spPr>
        <p:txBody>
          <a:bodyPr rtlCol="0" anchor="ctr"/>
          <a:lstStyle/>
          <a:p>
            <a:pPr algn="ctr"/>
          </a:p>
        </p:txBody>
      </p:sp>
      <p:sp>
        <p:nvSpPr>
          <p:cNvPr id="21" name="TextBox 20"/>
          <p:cNvSpPr txBox="1"/>
          <p:nvPr/>
        </p:nvSpPr>
        <p:spPr>
          <a:xfrm>
            <a:off x="670560" y="44500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Source/runtime mismatch</a:t>
            </a:r>
          </a:p>
        </p:txBody>
      </p:sp>
      <p:sp>
        <p:nvSpPr>
          <p:cNvPr id="22" name="TextBox 21"/>
          <p:cNvSpPr txBox="1"/>
          <p:nvPr/>
        </p:nvSpPr>
        <p:spPr>
          <a:xfrm>
            <a:off x="4137660" y="44500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Reject incompatible selection before</a:t>
            </a:r>
          </a:p>
        </p:txBody>
      </p:sp>
      <p:sp>
        <p:nvSpPr>
          <p:cNvPr id="23" name="TextBox 22"/>
          <p:cNvSpPr txBox="1"/>
          <p:nvPr/>
        </p:nvSpPr>
        <p:spPr>
          <a:xfrm>
            <a:off x="4137660" y="469392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admission.</a:t>
            </a:r>
          </a:p>
        </p:txBody>
      </p:sp>
      <p:sp>
        <p:nvSpPr>
          <p:cNvPr id="24" name="TextBox 23"/>
          <p:cNvSpPr txBox="1"/>
          <p:nvPr/>
        </p:nvSpPr>
        <p:spPr>
          <a:xfrm>
            <a:off x="8595360" y="44500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Historical SWI 10.0.1 is unrun</a:t>
            </a:r>
          </a:p>
        </p:txBody>
      </p:sp>
      <p:sp>
        <p:nvSpPr>
          <p:cNvPr id="25" name="Rounded Rectangle 24"/>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6" name="TextBox 25"/>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Recovery evidence covers same-host process termination with intact files; it does not prove power-loss durability.</a:t>
            </a:r>
          </a:p>
        </p:txBody>
      </p:sp>
      <p:cxnSp>
        <p:nvCxnSpPr>
          <p:cNvPr id="27" name="Connector 26"/>
          <p:cNvCxnSpPr/>
          <p:nvPr/>
        </p:nvCxnSpPr>
        <p:spPr>
          <a:xfrm>
            <a:off x="548640" y="6393180"/>
            <a:ext cx="11094720" cy="0"/>
          </a:xfrm>
          <a:prstGeom prst="line">
            <a:avLst/>
          </a:prstGeom>
          <a:ln w="7620">
            <a:solidFill>
              <a:srgbClr val="C9D2D4"/>
            </a:solidFill>
          </a:ln>
          <a:effectLst/>
        </p:spPr>
      </p:cxnSp>
      <p:sp>
        <p:nvSpPr>
          <p:cNvPr id="28" name="TextBox 2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PLNKernel · M5 source bfb0ec8</a:t>
            </a:r>
          </a:p>
        </p:txBody>
      </p:sp>
      <p:sp>
        <p:nvSpPr>
          <p:cNvPr id="29" name="TextBox 2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08 / BENCHMARKS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Measurements and benchmark gaps</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Observed values, contract limits and proposed experiments are explicitly different kinds of evidence.</a:t>
            </a:r>
          </a:p>
        </p:txBody>
      </p:sp>
      <p:sp>
        <p:nvSpPr>
          <p:cNvPr id="5" name="Rounded Rectangle 4"/>
          <p:cNvSpPr/>
          <p:nvPr/>
        </p:nvSpPr>
        <p:spPr>
          <a:xfrm>
            <a:off x="548640" y="1859280"/>
            <a:ext cx="3535679" cy="2004059"/>
          </a:xfrm>
          <a:prstGeom prst="roundRect">
            <a:avLst>
              <a:gd name="adj" fmla="val 4942"/>
            </a:avLst>
          </a:prstGeom>
          <a:solidFill>
            <a:srgbClr val="FFFFFF"/>
          </a:solidFill>
          <a:ln w="7620">
            <a:solidFill>
              <a:srgbClr val="007C78"/>
            </a:solidFill>
          </a:ln>
          <a:effectLst/>
        </p:spPr>
        <p:txBody>
          <a:bodyPr rtlCol="0" anchor="ctr"/>
          <a:lstStyle/>
          <a:p>
            <a:pPr algn="ctr"/>
          </a:p>
        </p:txBody>
      </p:sp>
      <p:sp>
        <p:nvSpPr>
          <p:cNvPr id="6" name="TextBox 5"/>
          <p:cNvSpPr txBox="1"/>
          <p:nvPr/>
        </p:nvSpPr>
        <p:spPr>
          <a:xfrm>
            <a:off x="72390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007C78"/>
                </a:solidFill>
                <a:latin typeface="DejaVu Sans"/>
              </a:rPr>
              <a:t>5 → 1</a:t>
            </a:r>
          </a:p>
        </p:txBody>
      </p:sp>
      <p:sp>
        <p:nvSpPr>
          <p:cNvPr id="7" name="TextBox 6"/>
          <p:cNvSpPr txBox="1"/>
          <p:nvPr/>
        </p:nvSpPr>
        <p:spPr>
          <a:xfrm>
            <a:off x="72390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Premises → grounded</a:t>
            </a:r>
          </a:p>
        </p:txBody>
      </p:sp>
      <p:sp>
        <p:nvSpPr>
          <p:cNvPr id="8" name="TextBox 7"/>
          <p:cNvSpPr txBox="1"/>
          <p:nvPr/>
        </p:nvSpPr>
        <p:spPr>
          <a:xfrm>
            <a:off x="723900"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proposal</a:t>
            </a:r>
          </a:p>
        </p:txBody>
      </p:sp>
      <p:sp>
        <p:nvSpPr>
          <p:cNvPr id="9" name="TextBox 8"/>
          <p:cNvSpPr txBox="1"/>
          <p:nvPr/>
        </p:nvSpPr>
        <p:spPr>
          <a:xfrm>
            <a:off x="72390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One rule, not general inference</a:t>
            </a:r>
          </a:p>
        </p:txBody>
      </p:sp>
      <p:sp>
        <p:nvSpPr>
          <p:cNvPr id="10" name="Rounded Rectangle 9"/>
          <p:cNvSpPr/>
          <p:nvPr/>
        </p:nvSpPr>
        <p:spPr>
          <a:xfrm>
            <a:off x="4328160" y="1859280"/>
            <a:ext cx="3535679" cy="2004059"/>
          </a:xfrm>
          <a:prstGeom prst="roundRect">
            <a:avLst>
              <a:gd name="adj" fmla="val 4942"/>
            </a:avLst>
          </a:prstGeom>
          <a:solidFill>
            <a:srgbClr val="FFFFFF"/>
          </a:solidFill>
          <a:ln w="7620">
            <a:solidFill>
              <a:srgbClr val="007C78"/>
            </a:solidFill>
          </a:ln>
          <a:effectLst/>
        </p:spPr>
        <p:txBody>
          <a:bodyPr rtlCol="0" anchor="ctr"/>
          <a:lstStyle/>
          <a:p>
            <a:pPr algn="ctr"/>
          </a:p>
        </p:txBody>
      </p:sp>
      <p:sp>
        <p:nvSpPr>
          <p:cNvPr id="11" name="TextBox 10"/>
          <p:cNvSpPr txBox="1"/>
          <p:nvPr/>
        </p:nvSpPr>
        <p:spPr>
          <a:xfrm>
            <a:off x="4503420" y="2019300"/>
            <a:ext cx="3185160" cy="546201"/>
          </a:xfrm>
          <a:prstGeom prst="rect">
            <a:avLst/>
          </a:prstGeom>
          <a:noFill/>
        </p:spPr>
        <p:txBody>
          <a:bodyPr wrap="none" lIns="0" rIns="0" tIns="0" bIns="0" anchor="t" anchorCtr="0">
            <a:noAutofit/>
          </a:bodyPr>
          <a:lstStyle/>
          <a:p>
            <a:pPr algn="l">
              <a:lnSpc>
                <a:spcPct val="100000"/>
              </a:lnSpc>
              <a:spcBef>
                <a:spcPts val="0"/>
              </a:spcBef>
              <a:spcAft>
                <a:spcPts val="0"/>
              </a:spcAft>
            </a:pPr>
            <a:r>
              <a:rPr sz="3360" b="1">
                <a:solidFill>
                  <a:srgbClr val="007C78"/>
                </a:solidFill>
                <a:latin typeface="DejaVu Sans"/>
              </a:rPr>
              <a:t>0.68 / 0.3136</a:t>
            </a:r>
          </a:p>
        </p:txBody>
      </p:sp>
      <p:sp>
        <p:nvSpPr>
          <p:cNvPr id="12" name="TextBox 11"/>
          <p:cNvSpPr txBox="1"/>
          <p:nvPr/>
        </p:nvSpPr>
        <p:spPr>
          <a:xfrm>
            <a:off x="450342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Recorded deduction</a:t>
            </a:r>
          </a:p>
        </p:txBody>
      </p:sp>
      <p:sp>
        <p:nvSpPr>
          <p:cNvPr id="13" name="TextBox 12"/>
          <p:cNvSpPr txBox="1"/>
          <p:nvPr/>
        </p:nvSpPr>
        <p:spPr>
          <a:xfrm>
            <a:off x="4503420"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strength / confidence</a:t>
            </a:r>
          </a:p>
        </p:txBody>
      </p:sp>
      <p:sp>
        <p:nvSpPr>
          <p:cNvPr id="14" name="TextBox 13"/>
          <p:cNvSpPr txBox="1"/>
          <p:nvPr/>
        </p:nvSpPr>
        <p:spPr>
          <a:xfrm>
            <a:off x="450342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Generated golden; tolerance 1e−12</a:t>
            </a:r>
          </a:p>
        </p:txBody>
      </p:sp>
      <p:sp>
        <p:nvSpPr>
          <p:cNvPr id="15" name="Rounded Rectangle 14"/>
          <p:cNvSpPr/>
          <p:nvPr/>
        </p:nvSpPr>
        <p:spPr>
          <a:xfrm>
            <a:off x="8107680" y="1859280"/>
            <a:ext cx="3535679" cy="2004059"/>
          </a:xfrm>
          <a:prstGeom prst="roundRect">
            <a:avLst>
              <a:gd name="adj" fmla="val 4942"/>
            </a:avLst>
          </a:prstGeom>
          <a:solidFill>
            <a:srgbClr val="FFFFFF"/>
          </a:solidFill>
          <a:ln w="7620">
            <a:solidFill>
              <a:srgbClr val="007C78"/>
            </a:solidFill>
          </a:ln>
          <a:effectLst/>
        </p:spPr>
        <p:txBody>
          <a:bodyPr rtlCol="0" anchor="ctr"/>
          <a:lstStyle/>
          <a:p>
            <a:pPr algn="ctr"/>
          </a:p>
        </p:txBody>
      </p:sp>
      <p:sp>
        <p:nvSpPr>
          <p:cNvPr id="16" name="TextBox 15"/>
          <p:cNvSpPr txBox="1"/>
          <p:nvPr/>
        </p:nvSpPr>
        <p:spPr>
          <a:xfrm>
            <a:off x="8282939"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007C78"/>
                </a:solidFill>
                <a:latin typeface="DejaVu Sans"/>
              </a:rPr>
              <a:t>0</a:t>
            </a:r>
          </a:p>
        </p:txBody>
      </p:sp>
      <p:sp>
        <p:nvSpPr>
          <p:cNvPr id="17" name="TextBox 16"/>
          <p:cNvSpPr txBox="1"/>
          <p:nvPr/>
        </p:nvSpPr>
        <p:spPr>
          <a:xfrm>
            <a:off x="8282939"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Mutable domain owners in</a:t>
            </a:r>
          </a:p>
        </p:txBody>
      </p:sp>
      <p:sp>
        <p:nvSpPr>
          <p:cNvPr id="18" name="TextBox 17"/>
          <p:cNvSpPr txBox="1"/>
          <p:nvPr/>
        </p:nvSpPr>
        <p:spPr>
          <a:xfrm>
            <a:off x="8282939"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kernel</a:t>
            </a:r>
          </a:p>
        </p:txBody>
      </p:sp>
      <p:sp>
        <p:nvSpPr>
          <p:cNvPr id="19" name="TextBox 18"/>
          <p:cNvSpPr txBox="1"/>
          <p:nvPr/>
        </p:nvSpPr>
        <p:spPr>
          <a:xfrm>
            <a:off x="8282939"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Architectural invariant, not</a:t>
            </a:r>
          </a:p>
        </p:txBody>
      </p:sp>
      <p:sp>
        <p:nvSpPr>
          <p:cNvPr id="20" name="TextBox 19"/>
          <p:cNvSpPr txBox="1"/>
          <p:nvPr/>
        </p:nvSpPr>
        <p:spPr>
          <a:xfrm>
            <a:off x="8282939"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performance</a:t>
            </a:r>
          </a:p>
        </p:txBody>
      </p:sp>
      <p:sp>
        <p:nvSpPr>
          <p:cNvPr id="21" name="TextBox 20"/>
          <p:cNvSpPr txBox="1"/>
          <p:nvPr/>
        </p:nvSpPr>
        <p:spPr>
          <a:xfrm>
            <a:off x="579120" y="409194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numerical golden checks implementation agreement, not probabilistic calibration or theorem validity. No</a:t>
            </a:r>
          </a:p>
        </p:txBody>
      </p:sp>
      <p:sp>
        <p:nvSpPr>
          <p:cNvPr id="22" name="TextBox 21"/>
          <p:cNvSpPr txBox="1"/>
          <p:nvPr/>
        </p:nvSpPr>
        <p:spPr>
          <a:xfrm>
            <a:off x="579120" y="433578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isolated native-call latency or large-rule benchmark is recorded.</a:t>
            </a:r>
          </a:p>
        </p:txBody>
      </p:sp>
      <p:sp>
        <p:nvSpPr>
          <p:cNvPr id="23" name="Rounded Rectangle 22"/>
          <p:cNvSpPr/>
          <p:nvPr/>
        </p:nvSpPr>
        <p:spPr>
          <a:xfrm>
            <a:off x="548640" y="5067300"/>
            <a:ext cx="11094720" cy="1150620"/>
          </a:xfrm>
          <a:prstGeom prst="roundRect">
            <a:avLst>
              <a:gd name="adj" fmla="val 8609"/>
            </a:avLst>
          </a:prstGeom>
          <a:solidFill>
            <a:srgbClr val="F3E7CE"/>
          </a:solidFill>
          <a:ln w="7620">
            <a:solidFill>
              <a:srgbClr val="A86A15"/>
            </a:solidFill>
          </a:ln>
          <a:effectLst/>
        </p:spPr>
        <p:txBody>
          <a:bodyPr rtlCol="0" anchor="ctr"/>
          <a:lstStyle/>
          <a:p>
            <a:pPr algn="ctr"/>
          </a:p>
        </p:txBody>
      </p:sp>
      <p:sp>
        <p:nvSpPr>
          <p:cNvPr id="24" name="TextBox 23"/>
          <p:cNvSpPr txBox="1"/>
          <p:nvPr/>
        </p:nvSpPr>
        <p:spPr>
          <a:xfrm>
            <a:off x="716280" y="5234940"/>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A86A15"/>
                </a:solidFill>
                <a:latin typeface="DejaVu Sans"/>
              </a:rPr>
              <a:t>PROPOSED BENCHMARK · NOT RUN</a:t>
            </a:r>
          </a:p>
        </p:txBody>
      </p:sp>
      <p:sp>
        <p:nvSpPr>
          <p:cNvPr id="25" name="TextBox 24"/>
          <p:cNvSpPr txBox="1"/>
          <p:nvPr/>
        </p:nvSpPr>
        <p:spPr>
          <a:xfrm>
            <a:off x="716280" y="5545226"/>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Proposed: separate process startup from warm native calls; fix exact valid vectors and refusal cases; report</a:t>
            </a:r>
          </a:p>
        </p:txBody>
      </p:sp>
      <p:sp>
        <p:nvSpPr>
          <p:cNvPr id="26" name="TextBox 25"/>
          <p:cNvSpPr txBox="1"/>
          <p:nvPr/>
        </p:nvSpPr>
        <p:spPr>
          <a:xfrm>
            <a:off x="716280" y="5779312"/>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p50/p95, guard cost and timeout behavior without changing the formula.</a:t>
            </a:r>
          </a:p>
        </p:txBody>
      </p:sp>
      <p:cxnSp>
        <p:nvCxnSpPr>
          <p:cNvPr id="27" name="Connector 26"/>
          <p:cNvCxnSpPr/>
          <p:nvPr/>
        </p:nvCxnSpPr>
        <p:spPr>
          <a:xfrm>
            <a:off x="548640" y="6393180"/>
            <a:ext cx="11094720" cy="0"/>
          </a:xfrm>
          <a:prstGeom prst="line">
            <a:avLst/>
          </a:prstGeom>
          <a:ln w="7620">
            <a:solidFill>
              <a:srgbClr val="C9D2D4"/>
            </a:solidFill>
          </a:ln>
          <a:effectLst/>
        </p:spPr>
      </p:cxnSp>
      <p:sp>
        <p:nvSpPr>
          <p:cNvPr id="28" name="TextBox 2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PLNKernel · M5 source bfb0ec8</a:t>
            </a:r>
          </a:p>
        </p:txBody>
      </p:sp>
      <p:sp>
        <p:nvSpPr>
          <p:cNvPr id="29" name="TextBox 2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09 / EVIDENCE CLASSIFICATION</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Current state: what is real, what is not</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Current supported regressions pass; historical observations and unsatisfied capabilities keep their labels.</a:t>
            </a:r>
          </a:p>
        </p:txBody>
      </p:sp>
      <p:sp>
        <p:nvSpPr>
          <p:cNvPr id="5" name="TextBox 4"/>
          <p:cNvSpPr txBox="1"/>
          <p:nvPr/>
        </p:nvSpPr>
        <p:spPr>
          <a:xfrm>
            <a:off x="670560" y="1790700"/>
            <a:ext cx="26517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CLASSIFICATION</a:t>
            </a:r>
          </a:p>
        </p:txBody>
      </p:sp>
      <p:sp>
        <p:nvSpPr>
          <p:cNvPr id="6" name="TextBox 5"/>
          <p:cNvSpPr txBox="1"/>
          <p:nvPr/>
        </p:nvSpPr>
        <p:spPr>
          <a:xfrm>
            <a:off x="3566160" y="1790700"/>
            <a:ext cx="795528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MODULE-SPECIFIC STATE</a:t>
            </a:r>
          </a:p>
        </p:txBody>
      </p:sp>
      <p:sp>
        <p:nvSpPr>
          <p:cNvPr id="7" name="Rounded Rectangle 6"/>
          <p:cNvSpPr/>
          <p:nvPr/>
        </p:nvSpPr>
        <p:spPr>
          <a:xfrm>
            <a:off x="548640" y="2110740"/>
            <a:ext cx="11094720" cy="815340"/>
          </a:xfrm>
          <a:prstGeom prst="roundRect">
            <a:avLst>
              <a:gd name="adj" fmla="val 5607"/>
            </a:avLst>
          </a:prstGeom>
          <a:solidFill>
            <a:srgbClr val="FFFFFF"/>
          </a:solidFill>
          <a:ln>
            <a:noFill/>
          </a:ln>
          <a:effectLst/>
        </p:spPr>
        <p:txBody>
          <a:bodyPr rtlCol="0" anchor="ctr"/>
          <a:lstStyle/>
          <a:p>
            <a:pPr algn="ctr"/>
          </a:p>
        </p:txBody>
      </p:sp>
      <p:sp>
        <p:nvSpPr>
          <p:cNvPr id="8" name="TextBox 7"/>
          <p:cNvSpPr txBox="1"/>
          <p:nvPr/>
        </p:nvSpPr>
        <p:spPr>
          <a:xfrm>
            <a:off x="670560" y="224028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REAL / IMPLEMENTED</a:t>
            </a:r>
          </a:p>
        </p:txBody>
      </p:sp>
      <p:sp>
        <p:nvSpPr>
          <p:cNvPr id="9" name="TextBox 8"/>
          <p:cNvSpPr txBox="1"/>
          <p:nvPr/>
        </p:nvSpPr>
        <p:spPr>
          <a:xfrm>
            <a:off x="3566160" y="224028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Pinned Reachability, PLN, PeTTa, SWI 10.1.14 and Janus execute the native</a:t>
            </a:r>
          </a:p>
        </p:txBody>
      </p:sp>
      <p:sp>
        <p:nvSpPr>
          <p:cNvPr id="10" name="TextBox 9"/>
          <p:cNvSpPr txBox="1"/>
          <p:nvPr/>
        </p:nvSpPr>
        <p:spPr>
          <a:xfrm>
            <a:off x="3566160" y="248412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formula.</a:t>
            </a:r>
          </a:p>
        </p:txBody>
      </p:sp>
      <p:sp>
        <p:nvSpPr>
          <p:cNvPr id="11" name="Rounded Rectangle 10"/>
          <p:cNvSpPr/>
          <p:nvPr/>
        </p:nvSpPr>
        <p:spPr>
          <a:xfrm>
            <a:off x="548640" y="2964179"/>
            <a:ext cx="11094720" cy="815340"/>
          </a:xfrm>
          <a:prstGeom prst="roundRect">
            <a:avLst>
              <a:gd name="adj" fmla="val 5607"/>
            </a:avLst>
          </a:prstGeom>
          <a:solidFill>
            <a:srgbClr val="FFFFFF"/>
          </a:solidFill>
          <a:ln>
            <a:noFill/>
          </a:ln>
          <a:effectLst/>
        </p:spPr>
        <p:txBody>
          <a:bodyPr rtlCol="0" anchor="ctr"/>
          <a:lstStyle/>
          <a:p>
            <a:pPr algn="ctr"/>
          </a:p>
        </p:txBody>
      </p:sp>
      <p:sp>
        <p:nvSpPr>
          <p:cNvPr id="12" name="TextBox 11"/>
          <p:cNvSpPr txBox="1"/>
          <p:nvPr/>
        </p:nvSpPr>
        <p:spPr>
          <a:xfrm>
            <a:off x="670560" y="309372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FIXTURE / LOCAL TEST</a:t>
            </a:r>
          </a:p>
        </p:txBody>
      </p:sp>
      <p:sp>
        <p:nvSpPr>
          <p:cNvPr id="13" name="TextBox 12"/>
          <p:cNvSpPr txBox="1"/>
          <p:nvPr/>
        </p:nvSpPr>
        <p:spPr>
          <a:xfrm>
            <a:off x="670560" y="33375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POLICY</a:t>
            </a:r>
          </a:p>
        </p:txBody>
      </p:sp>
      <p:sp>
        <p:nvSpPr>
          <p:cNvPr id="14" name="TextBox 13"/>
          <p:cNvSpPr txBox="1"/>
          <p:nvPr/>
        </p:nvSpPr>
        <p:spPr>
          <a:xfrm>
            <a:off x="3566160" y="309372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Generated premise vectors and independent expected numerical goldens.</a:t>
            </a:r>
          </a:p>
        </p:txBody>
      </p:sp>
      <p:sp>
        <p:nvSpPr>
          <p:cNvPr id="15" name="Rounded Rectangle 14"/>
          <p:cNvSpPr/>
          <p:nvPr/>
        </p:nvSpPr>
        <p:spPr>
          <a:xfrm>
            <a:off x="548640" y="3817619"/>
            <a:ext cx="11094720" cy="815340"/>
          </a:xfrm>
          <a:prstGeom prst="roundRect">
            <a:avLst>
              <a:gd name="adj" fmla="val 5607"/>
            </a:avLst>
          </a:prstGeom>
          <a:solidFill>
            <a:srgbClr val="FFFFFF"/>
          </a:solidFill>
          <a:ln>
            <a:noFill/>
          </a:ln>
          <a:effectLst/>
        </p:spPr>
        <p:txBody>
          <a:bodyPr rtlCol="0" anchor="ctr"/>
          <a:lstStyle/>
          <a:p>
            <a:pPr algn="ctr"/>
          </a:p>
        </p:txBody>
      </p:sp>
      <p:sp>
        <p:nvSpPr>
          <p:cNvPr id="16" name="TextBox 15"/>
          <p:cNvSpPr txBox="1"/>
          <p:nvPr/>
        </p:nvSpPr>
        <p:spPr>
          <a:xfrm>
            <a:off x="670560" y="39471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BLOCKED /</a:t>
            </a:r>
          </a:p>
        </p:txBody>
      </p:sp>
      <p:sp>
        <p:nvSpPr>
          <p:cNvPr id="17" name="TextBox 16"/>
          <p:cNvSpPr txBox="1"/>
          <p:nvPr/>
        </p:nvSpPr>
        <p:spPr>
          <a:xfrm>
            <a:off x="670560" y="41910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UNSUPPORTED</a:t>
            </a:r>
          </a:p>
        </p:txBody>
      </p:sp>
      <p:sp>
        <p:nvSpPr>
          <p:cNvPr id="18" name="TextBox 17"/>
          <p:cNvSpPr txBox="1"/>
          <p:nvPr/>
        </p:nvSpPr>
        <p:spPr>
          <a:xfrm>
            <a:off x="3566160" y="394716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required supported gate blocked; historical SWI 10.0.1 compatibility remains</a:t>
            </a:r>
          </a:p>
        </p:txBody>
      </p:sp>
      <p:sp>
        <p:nvSpPr>
          <p:cNvPr id="19" name="TextBox 18"/>
          <p:cNvSpPr txBox="1"/>
          <p:nvPr/>
        </p:nvSpPr>
        <p:spPr>
          <a:xfrm>
            <a:off x="3566160" y="41910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unrun.</a:t>
            </a:r>
          </a:p>
        </p:txBody>
      </p:sp>
      <p:sp>
        <p:nvSpPr>
          <p:cNvPr id="20" name="Rounded Rectangle 19"/>
          <p:cNvSpPr/>
          <p:nvPr/>
        </p:nvSpPr>
        <p:spPr>
          <a:xfrm>
            <a:off x="548640" y="4671060"/>
            <a:ext cx="11094720" cy="815340"/>
          </a:xfrm>
          <a:prstGeom prst="roundRect">
            <a:avLst>
              <a:gd name="adj" fmla="val 5607"/>
            </a:avLst>
          </a:prstGeom>
          <a:solidFill>
            <a:srgbClr val="FFFFFF"/>
          </a:solidFill>
          <a:ln>
            <a:noFill/>
          </a:ln>
          <a:effectLst/>
        </p:spPr>
        <p:txBody>
          <a:bodyPr rtlCol="0" anchor="ctr"/>
          <a:lstStyle/>
          <a:p>
            <a:pPr algn="ctr"/>
          </a:p>
        </p:txBody>
      </p:sp>
      <p:sp>
        <p:nvSpPr>
          <p:cNvPr id="21" name="TextBox 20"/>
          <p:cNvSpPr txBox="1"/>
          <p:nvPr/>
        </p:nvSpPr>
        <p:spPr>
          <a:xfrm>
            <a:off x="670560" y="48006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UNRUN</a:t>
            </a:r>
          </a:p>
        </p:txBody>
      </p:sp>
      <p:sp>
        <p:nvSpPr>
          <p:cNvPr id="22" name="TextBox 21"/>
          <p:cNvSpPr txBox="1"/>
          <p:nvPr/>
        </p:nvSpPr>
        <p:spPr>
          <a:xfrm>
            <a:off x="3566160" y="48006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General rule search, calibration, broad rule coverage and cross-runtime numerical</a:t>
            </a:r>
          </a:p>
        </p:txBody>
      </p:sp>
      <p:sp>
        <p:nvSpPr>
          <p:cNvPr id="23" name="TextBox 22"/>
          <p:cNvSpPr txBox="1"/>
          <p:nvPr/>
        </p:nvSpPr>
        <p:spPr>
          <a:xfrm>
            <a:off x="3566160" y="504444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equivalence.</a:t>
            </a:r>
          </a:p>
        </p:txBody>
      </p:sp>
      <p:sp>
        <p:nvSpPr>
          <p:cNvPr id="24" name="Rounded Rectangle 23"/>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5" name="TextBox 24"/>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M5 final tested runtime: bfb0ec8 · evidence: 3dc6c11 · module representation is not product completeness.</a:t>
            </a:r>
          </a:p>
        </p:txBody>
      </p:sp>
      <p:cxnSp>
        <p:nvCxnSpPr>
          <p:cNvPr id="26" name="Connector 25"/>
          <p:cNvCxnSpPr/>
          <p:nvPr/>
        </p:nvCxnSpPr>
        <p:spPr>
          <a:xfrm>
            <a:off x="548640" y="6393180"/>
            <a:ext cx="11094720" cy="0"/>
          </a:xfrm>
          <a:prstGeom prst="line">
            <a:avLst/>
          </a:prstGeom>
          <a:ln w="7620">
            <a:solidFill>
              <a:srgbClr val="C9D2D4"/>
            </a:solidFill>
          </a:ln>
          <a:effectLst/>
        </p:spPr>
      </p:cxnSp>
      <p:sp>
        <p:nvSpPr>
          <p:cNvPr id="27" name="TextBox 26"/>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PLNKernel · M5 source bfb0ec8</a:t>
            </a:r>
          </a:p>
        </p:txBody>
      </p:sp>
      <p:sp>
        <p:nvSpPr>
          <p:cNvPr id="28" name="TextBox 27"/>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10 / PROPOSED WORK · NOT IMPLEMENTED</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Future directions need acceptance criteria</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are discussion options, not a committed roadmap or permission to expand the current profile.</a:t>
            </a:r>
          </a:p>
        </p:txBody>
      </p:sp>
      <p:sp>
        <p:nvSpPr>
          <p:cNvPr id="5" name="TextBox 4"/>
          <p:cNvSpPr txBox="1"/>
          <p:nvPr/>
        </p:nvSpPr>
        <p:spPr>
          <a:xfrm>
            <a:off x="670560" y="1790700"/>
            <a:ext cx="28803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DIRECTION</a:t>
            </a:r>
          </a:p>
        </p:txBody>
      </p:sp>
      <p:sp>
        <p:nvSpPr>
          <p:cNvPr id="6" name="TextBox 5"/>
          <p:cNvSpPr txBox="1"/>
          <p:nvPr/>
        </p:nvSpPr>
        <p:spPr>
          <a:xfrm>
            <a:off x="3794760" y="1790700"/>
            <a:ext cx="38709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PREREQUISITE / DESIGN GATE</a:t>
            </a:r>
          </a:p>
        </p:txBody>
      </p:sp>
      <p:sp>
        <p:nvSpPr>
          <p:cNvPr id="7" name="TextBox 6"/>
          <p:cNvSpPr txBox="1"/>
          <p:nvPr/>
        </p:nvSpPr>
        <p:spPr>
          <a:xfrm>
            <a:off x="7909559" y="1790700"/>
            <a:ext cx="36118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MEASURE OF SUCCESS</a:t>
            </a:r>
          </a:p>
        </p:txBody>
      </p:sp>
      <p:sp>
        <p:nvSpPr>
          <p:cNvPr id="8" name="Rounded Rectangle 7"/>
          <p:cNvSpPr/>
          <p:nvPr/>
        </p:nvSpPr>
        <p:spPr>
          <a:xfrm>
            <a:off x="548640" y="2110740"/>
            <a:ext cx="11094720" cy="1059180"/>
          </a:xfrm>
          <a:prstGeom prst="roundRect">
            <a:avLst>
              <a:gd name="adj" fmla="val 4316"/>
            </a:avLst>
          </a:prstGeom>
          <a:solidFill>
            <a:srgbClr val="FFFFFF"/>
          </a:solidFill>
          <a:ln>
            <a:noFill/>
          </a:ln>
          <a:effectLst/>
        </p:spPr>
        <p:txBody>
          <a:bodyPr rtlCol="0" anchor="ctr"/>
          <a:lstStyle/>
          <a:p>
            <a:pPr algn="ctr"/>
          </a:p>
        </p:txBody>
      </p:sp>
      <p:sp>
        <p:nvSpPr>
          <p:cNvPr id="9" name="TextBox 8"/>
          <p:cNvSpPr txBox="1"/>
          <p:nvPr/>
        </p:nvSpPr>
        <p:spPr>
          <a:xfrm>
            <a:off x="670560" y="224028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Measure the runtime</a:t>
            </a:r>
          </a:p>
        </p:txBody>
      </p:sp>
      <p:sp>
        <p:nvSpPr>
          <p:cNvPr id="10" name="TextBox 9"/>
          <p:cNvSpPr txBox="1"/>
          <p:nvPr/>
        </p:nvSpPr>
        <p:spPr>
          <a:xfrm>
            <a:off x="670560" y="248412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boundary</a:t>
            </a:r>
          </a:p>
        </p:txBody>
      </p:sp>
      <p:sp>
        <p:nvSpPr>
          <p:cNvPr id="11" name="TextBox 10"/>
          <p:cNvSpPr txBox="1"/>
          <p:nvPr/>
        </p:nvSpPr>
        <p:spPr>
          <a:xfrm>
            <a:off x="3794760" y="22402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Warm/cold fixed-vector experiments</a:t>
            </a:r>
          </a:p>
        </p:txBody>
      </p:sp>
      <p:sp>
        <p:nvSpPr>
          <p:cNvPr id="12" name="TextBox 11"/>
          <p:cNvSpPr txBox="1"/>
          <p:nvPr/>
        </p:nvSpPr>
        <p:spPr>
          <a:xfrm>
            <a:off x="7909559" y="22402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Separate startup, guards and native</a:t>
            </a:r>
          </a:p>
        </p:txBody>
      </p:sp>
      <p:sp>
        <p:nvSpPr>
          <p:cNvPr id="13" name="TextBox 12"/>
          <p:cNvSpPr txBox="1"/>
          <p:nvPr/>
        </p:nvSpPr>
        <p:spPr>
          <a:xfrm>
            <a:off x="7909559" y="248412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evaluation</a:t>
            </a:r>
          </a:p>
        </p:txBody>
      </p:sp>
      <p:sp>
        <p:nvSpPr>
          <p:cNvPr id="14" name="Rounded Rectangle 13"/>
          <p:cNvSpPr/>
          <p:nvPr/>
        </p:nvSpPr>
        <p:spPr>
          <a:xfrm>
            <a:off x="548640" y="3208020"/>
            <a:ext cx="11094720" cy="1059180"/>
          </a:xfrm>
          <a:prstGeom prst="roundRect">
            <a:avLst>
              <a:gd name="adj" fmla="val 4316"/>
            </a:avLst>
          </a:prstGeom>
          <a:solidFill>
            <a:srgbClr val="FFFFFF"/>
          </a:solidFill>
          <a:ln>
            <a:noFill/>
          </a:ln>
          <a:effectLst/>
        </p:spPr>
        <p:txBody>
          <a:bodyPr rtlCol="0" anchor="ctr"/>
          <a:lstStyle/>
          <a:p>
            <a:pPr algn="ctr"/>
          </a:p>
        </p:txBody>
      </p:sp>
      <p:sp>
        <p:nvSpPr>
          <p:cNvPr id="15" name="TextBox 14"/>
          <p:cNvSpPr txBox="1"/>
          <p:nvPr/>
        </p:nvSpPr>
        <p:spPr>
          <a:xfrm>
            <a:off x="670560" y="333756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Qualify a new runtime pin</a:t>
            </a:r>
          </a:p>
        </p:txBody>
      </p:sp>
      <p:sp>
        <p:nvSpPr>
          <p:cNvPr id="16" name="TextBox 15"/>
          <p:cNvSpPr txBox="1"/>
          <p:nvPr/>
        </p:nvSpPr>
        <p:spPr>
          <a:xfrm>
            <a:off x="3794760" y="333756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Golden, refusal and source compatibility</a:t>
            </a:r>
          </a:p>
        </p:txBody>
      </p:sp>
      <p:sp>
        <p:nvSpPr>
          <p:cNvPr id="17" name="TextBox 16"/>
          <p:cNvSpPr txBox="1"/>
          <p:nvPr/>
        </p:nvSpPr>
        <p:spPr>
          <a:xfrm>
            <a:off x="3794760" y="358140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matrix</a:t>
            </a:r>
          </a:p>
        </p:txBody>
      </p:sp>
      <p:sp>
        <p:nvSpPr>
          <p:cNvPr id="18" name="TextBox 17"/>
          <p:cNvSpPr txBox="1"/>
          <p:nvPr/>
        </p:nvSpPr>
        <p:spPr>
          <a:xfrm>
            <a:off x="7909559" y="333756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silent numerical or exception</a:t>
            </a:r>
          </a:p>
        </p:txBody>
      </p:sp>
      <p:sp>
        <p:nvSpPr>
          <p:cNvPr id="19" name="TextBox 18"/>
          <p:cNvSpPr txBox="1"/>
          <p:nvPr/>
        </p:nvSpPr>
        <p:spPr>
          <a:xfrm>
            <a:off x="7909559" y="358140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changes</a:t>
            </a:r>
          </a:p>
        </p:txBody>
      </p:sp>
      <p:sp>
        <p:nvSpPr>
          <p:cNvPr id="20" name="Rounded Rectangle 19"/>
          <p:cNvSpPr/>
          <p:nvPr/>
        </p:nvSpPr>
        <p:spPr>
          <a:xfrm>
            <a:off x="548640" y="4305300"/>
            <a:ext cx="11094720" cy="1059180"/>
          </a:xfrm>
          <a:prstGeom prst="roundRect">
            <a:avLst>
              <a:gd name="adj" fmla="val 4316"/>
            </a:avLst>
          </a:prstGeom>
          <a:solidFill>
            <a:srgbClr val="FFFFFF"/>
          </a:solidFill>
          <a:ln>
            <a:noFill/>
          </a:ln>
          <a:effectLst/>
        </p:spPr>
        <p:txBody>
          <a:bodyPr rtlCol="0" anchor="ctr"/>
          <a:lstStyle/>
          <a:p>
            <a:pPr algn="ctr"/>
          </a:p>
        </p:txBody>
      </p:sp>
      <p:sp>
        <p:nvSpPr>
          <p:cNvPr id="21" name="TextBox 20"/>
          <p:cNvSpPr txBox="1"/>
          <p:nvPr/>
        </p:nvSpPr>
        <p:spPr>
          <a:xfrm>
            <a:off x="670560" y="443484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Add another rule</a:t>
            </a:r>
          </a:p>
        </p:txBody>
      </p:sp>
      <p:sp>
        <p:nvSpPr>
          <p:cNvPr id="22" name="TextBox 21"/>
          <p:cNvSpPr txBox="1"/>
          <p:nvPr/>
        </p:nvSpPr>
        <p:spPr>
          <a:xfrm>
            <a:off x="670560" y="467868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deliberately</a:t>
            </a:r>
          </a:p>
        </p:txBody>
      </p:sp>
      <p:sp>
        <p:nvSpPr>
          <p:cNvPr id="23" name="TextBox 22"/>
          <p:cNvSpPr txBox="1"/>
          <p:nvPr/>
        </p:nvSpPr>
        <p:spPr>
          <a:xfrm>
            <a:off x="3794760" y="443484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Explicit rule profile and</a:t>
            </a:r>
          </a:p>
        </p:txBody>
      </p:sp>
      <p:sp>
        <p:nvSpPr>
          <p:cNvPr id="24" name="TextBox 23"/>
          <p:cNvSpPr txBox="1"/>
          <p:nvPr/>
        </p:nvSpPr>
        <p:spPr>
          <a:xfrm>
            <a:off x="3794760" y="46786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lineage/admission review</a:t>
            </a:r>
          </a:p>
        </p:txBody>
      </p:sp>
      <p:sp>
        <p:nvSpPr>
          <p:cNvPr id="25" name="TextBox 24"/>
          <p:cNvSpPr txBox="1"/>
          <p:nvPr/>
        </p:nvSpPr>
        <p:spPr>
          <a:xfrm>
            <a:off x="7909559" y="443484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Each new rule has independent</a:t>
            </a:r>
          </a:p>
        </p:txBody>
      </p:sp>
      <p:sp>
        <p:nvSpPr>
          <p:cNvPr id="26" name="TextBox 25"/>
          <p:cNvSpPr txBox="1"/>
          <p:nvPr/>
        </p:nvSpPr>
        <p:spPr>
          <a:xfrm>
            <a:off x="7909559" y="46786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goldens and refusal tests</a:t>
            </a:r>
          </a:p>
        </p:txBody>
      </p:sp>
      <p:sp>
        <p:nvSpPr>
          <p:cNvPr id="27" name="Rounded Rectangle 26"/>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8" name="TextBox 27"/>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Keep ownership, current authorization and explicit compatibility intact; qualify new semantics with a new profile.</a:t>
            </a:r>
          </a:p>
        </p:txBody>
      </p:sp>
      <p:cxnSp>
        <p:nvCxnSpPr>
          <p:cNvPr id="29" name="Connector 28"/>
          <p:cNvCxnSpPr/>
          <p:nvPr/>
        </p:nvCxnSpPr>
        <p:spPr>
          <a:xfrm>
            <a:off x="548640" y="6393180"/>
            <a:ext cx="11094720" cy="0"/>
          </a:xfrm>
          <a:prstGeom prst="line">
            <a:avLst/>
          </a:prstGeom>
          <a:ln w="7620">
            <a:solidFill>
              <a:srgbClr val="C9D2D4"/>
            </a:solidFill>
          </a:ln>
          <a:effectLst/>
        </p:spPr>
      </p:cxnSp>
      <p:sp>
        <p:nvSpPr>
          <p:cNvPr id="30" name="TextBox 29"/>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PLNKernel · M5 source bfb0ec8</a:t>
            </a:r>
          </a:p>
        </p:txBody>
      </p:sp>
      <p:sp>
        <p:nvSpPr>
          <p:cNvPr id="31" name="TextBox 30"/>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11 / SOURCES AND TAKEAWAY</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Evidence you can inspect and reproduce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 the exact code, contracts and recorded run before treating a claim as a guarantee.</a:t>
            </a:r>
          </a:p>
        </p:txBody>
      </p:sp>
      <p:sp>
        <p:nvSpPr>
          <p:cNvPr id="5" name="Rounded Rectangle 4"/>
          <p:cNvSpPr/>
          <p:nvPr/>
        </p:nvSpPr>
        <p:spPr>
          <a:xfrm>
            <a:off x="548640" y="1783080"/>
            <a:ext cx="11094720" cy="853440"/>
          </a:xfrm>
          <a:prstGeom prst="roundRect">
            <a:avLst>
              <a:gd name="adj" fmla="val 11607"/>
            </a:avLst>
          </a:prstGeom>
          <a:solidFill>
            <a:srgbClr val="DCEFE8"/>
          </a:solidFill>
          <a:ln w="7620">
            <a:solidFill>
              <a:srgbClr val="007C78"/>
            </a:solidFill>
          </a:ln>
          <a:effectLst/>
        </p:spPr>
        <p:txBody>
          <a:bodyPr rtlCol="0" anchor="ctr"/>
          <a:lstStyle/>
          <a:p>
            <a:pPr algn="ctr"/>
          </a:p>
        </p:txBody>
      </p:sp>
      <p:sp>
        <p:nvSpPr>
          <p:cNvPr id="6" name="TextBox 5"/>
          <p:cNvSpPr txBox="1"/>
          <p:nvPr/>
        </p:nvSpPr>
        <p:spPr>
          <a:xfrm>
            <a:off x="716280" y="19507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007C78"/>
                </a:solidFill>
                <a:latin typeface="DejaVu Sans"/>
              </a:rPr>
              <a:t>Takeaway</a:t>
            </a:r>
          </a:p>
        </p:txBody>
      </p:sp>
      <p:sp>
        <p:nvSpPr>
          <p:cNvPr id="7" name="TextBox 6"/>
          <p:cNvSpPr txBox="1"/>
          <p:nvPr/>
        </p:nvSpPr>
        <p:spPr>
          <a:xfrm>
            <a:off x="716280" y="23000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Reusing mathematics requires preserving its assumptions and boundary.</a:t>
            </a:r>
          </a:p>
        </p:txBody>
      </p:sp>
      <p:sp>
        <p:nvSpPr>
          <p:cNvPr id="8" name="TextBox 7"/>
          <p:cNvSpPr txBox="1"/>
          <p:nvPr/>
        </p:nvSpPr>
        <p:spPr>
          <a:xfrm>
            <a:off x="609600" y="2819400"/>
            <a:ext cx="10972800"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536775"/>
                </a:solidFill>
                <a:latin typeface="DejaVu Sans"/>
              </a:rPr>
              <a:t>SUPPORTED REPRODUCTION ENTRYPOINT · PREREQUISITES REQUIRED</a:t>
            </a:r>
          </a:p>
        </p:txBody>
      </p:sp>
      <p:sp>
        <p:nvSpPr>
          <p:cNvPr id="9" name="TextBox 8"/>
          <p:cNvSpPr txBox="1"/>
          <p:nvPr/>
        </p:nvSpPr>
        <p:spPr>
          <a:xfrm>
            <a:off x="609600" y="3124200"/>
            <a:ext cx="109347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102B3F"/>
                </a:solidFill>
                <a:latin typeface="DejaVu Sans Mono"/>
              </a:rPr>
              <a:t>uv run --python 3.11 --locked python scripts/verify_m3.py &lt;env&gt; --output &lt;fresh&gt;</a:t>
            </a:r>
          </a:p>
        </p:txBody>
      </p:sp>
      <p:sp>
        <p:nvSpPr>
          <p:cNvPr id="10" name="TextBox 9"/>
          <p:cNvSpPr txBox="1"/>
          <p:nvPr/>
        </p:nvSpPr>
        <p:spPr>
          <a:xfrm>
            <a:off x="609600" y="372617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Build pinned providers with build_m3.py first; use a fresh source checkout and explicit runtime selection. The</a:t>
            </a:r>
          </a:p>
        </p:txBody>
      </p:sp>
      <p:sp>
        <p:nvSpPr>
          <p:cNvPr id="11" name="TextBox 10"/>
          <p:cNvSpPr txBox="1"/>
          <p:nvPr/>
        </p:nvSpPr>
        <p:spPr>
          <a:xfrm>
            <a:off x="609600" y="397001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wrapper includes both guard and actual-native suites.</a:t>
            </a:r>
          </a:p>
        </p:txBody>
      </p:sp>
      <p:sp>
        <p:nvSpPr>
          <p:cNvPr id="12" name="TextBox 11"/>
          <p:cNvSpPr txBox="1"/>
          <p:nvPr/>
        </p:nvSpPr>
        <p:spPr>
          <a:xfrm>
            <a:off x="609600" y="471678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fusion/adapters/pln_deduction.py</a:t>
            </a:r>
          </a:p>
        </p:txBody>
      </p:sp>
      <p:sp>
        <p:nvSpPr>
          <p:cNvPr id="13" name="TextBox 12"/>
          <p:cNvSpPr txBox="1"/>
          <p:nvPr/>
        </p:nvSpPr>
        <p:spPr>
          <a:xfrm>
            <a:off x="609600" y="496824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integration/pln/test_deduction.py</a:t>
            </a:r>
          </a:p>
        </p:txBody>
      </p:sp>
      <p:sp>
        <p:nvSpPr>
          <p:cNvPr id="14" name="TextBox 13"/>
          <p:cNvSpPr txBox="1"/>
          <p:nvPr/>
        </p:nvSpPr>
        <p:spPr>
          <a:xfrm>
            <a:off x="609600" y="521970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integration/pln/deduction-sources.json</a:t>
            </a:r>
          </a:p>
        </p:txBody>
      </p:sp>
      <p:sp>
        <p:nvSpPr>
          <p:cNvPr id="15" name="TextBox 14"/>
          <p:cNvSpPr txBox="1"/>
          <p:nvPr/>
        </p:nvSpPr>
        <p:spPr>
          <a:xfrm>
            <a:off x="609600" y="547116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docs/module-interfaces/m3-evidence.md</a:t>
            </a:r>
          </a:p>
        </p:txBody>
      </p:sp>
      <p:sp>
        <p:nvSpPr>
          <p:cNvPr id="16" name="TextBox 15"/>
          <p:cNvSpPr txBox="1"/>
          <p:nvPr/>
        </p:nvSpPr>
        <p:spPr>
          <a:xfrm>
            <a:off x="609600" y="5867400"/>
            <a:ext cx="108966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536775"/>
                </a:solidFill>
                <a:latin typeface="DejaVu Sans"/>
              </a:rPr>
              <a:t>Source 494df69a1ac401c3d3b2cf79dbfde07f74b5e277 · all citations and full notes accompany this deck.</a:t>
            </a:r>
          </a:p>
        </p:txBody>
      </p:sp>
      <p:cxnSp>
        <p:nvCxnSpPr>
          <p:cNvPr id="17" name="Connector 16"/>
          <p:cNvCxnSpPr/>
          <p:nvPr/>
        </p:nvCxnSpPr>
        <p:spPr>
          <a:xfrm>
            <a:off x="548640" y="6393180"/>
            <a:ext cx="11094720" cy="0"/>
          </a:xfrm>
          <a:prstGeom prst="line">
            <a:avLst/>
          </a:prstGeom>
          <a:ln w="7620">
            <a:solidFill>
              <a:srgbClr val="C9D2D4"/>
            </a:solidFill>
          </a:ln>
          <a:effectLst/>
        </p:spPr>
      </p:cxnSp>
      <p:sp>
        <p:nvSpPr>
          <p:cNvPr id="18" name="TextBox 1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PLNKernel · M5 source bfb0ec8</a:t>
            </a:r>
          </a:p>
        </p:txBody>
      </p:sp>
      <p:sp>
        <p:nvSpPr>
          <p:cNvPr id="19" name="TextBox 1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Omega × ASI — PLNKernel</dc:title>
  <dc:subject>Apply the existing guarded five-premise grounded deduction implementation under exact source/runtime profiles.</dc:subject>
  <dc:creator>Omega × ASI module-interface project</dc:creator>
  <cp:keywords>Omega, ASI, M5, ELI16, PLNKernel</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