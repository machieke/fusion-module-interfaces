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analogy, then state the technical responsibility: Submit one approved generated-result commitment and observe matching inclusion post-state plus deploy-effect finality. Submission, inclusion and finalized effect are different observations. Exact approval and durable signed intent prevent retries from changing the authorized artifact. Do not treat the analogy as an additional experiment. This is a standalone talk about one responsibility, not a claim that every module is a separate service or repository.</a:t>
            </a:r>
          </a:p>
          <a:p/>
          <a:p>
            <a:r>
              <a:t>Evidence and implementation: [f1r3_m4.py](https://github.com/machieke/fusion-module-interfaces/blob/494df69a1ac401c3d3b2cf79dbfde07f74b5e277/fusion/adapters/f1r3_m4.py), [program.py](https://github.com/machieke/fusion-module-interfaces/blob/494df69a1ac401c3d3b2cf79dbfde07f74b5e277/integration/hive/commitment/program.py), [same-artifact.json](https://github.com/machieke/fusion-module-interfaces/blob/494df69a1ac401c3d3b2cf79dbfde07f74b5e277/evidence/m4/final/same-artifact.json), [readback.json](https://github.com/machieke/fusion-module-interfaces/blob/494df69a1ac401c3d3b2cf79dbfde07f74b5e277/evidence/m4/final/readback.json), [manifest.json](https://github.com/machieke/fusion-module-interfaces/blob/494df69a1ac401c3d3b2cf79dbfde07f74b5e277/evidence/m4/manifest.json), [verification.json](https://github.com/machieke/fusion-module-interfaces/blob/494df69a1ac401c3d3b2cf79dbfde07f74b5e277/evidence/m5/final/verification.json).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ConsensusFinality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Locate ConsensusFinality in the bounded fifteen-family inventory. The grey groups are explanatory categories, not deployment units. RevisionMath, the evidence relay, native plugins and transport bindings are supporting seams rather than additional module families. Registry and Resolver are separate responsibilities even though both are implemented in registry.py. Fifteen represented families is not full Omega requirements coverage. The native caller reads the accepted inspect result through caller-owned access and AtomStorage. The finality adapter does not depend on C1/C2, attention or inference; no private cognitive hashes are eligible.</a:t>
            </a:r>
          </a:p>
          <a:p/>
          <a:p>
            <a:r>
              <a:t>Evidence and implementation: [f1r3_m4.py](https://github.com/machieke/fusion-module-interfaces/blob/494df69a1ac401c3d3b2cf79dbfde07f74b5e277/fusion/adapters/f1r3_m4.py), [program.py](https://github.com/machieke/fusion-module-interfaces/blob/494df69a1ac401c3d3b2cf79dbfde07f74b5e277/integration/hive/commitment/program.py), [same-artifact.json](https://github.com/machieke/fusion-module-interfaces/blob/494df69a1ac401c3d3b2cf79dbfde07f74b5e277/evidence/m4/final/same-artifact.json), [readback.json](https://github.com/machieke/fusion-module-interfaces/blob/494df69a1ac401c3d3b2cf79dbfde07f74b5e277/evidence/m4/final/readback.json), [manifest.json](https://github.com/machieke/fusion-module-interfaces/blob/494df69a1ac401c3d3b2cf79dbfde07f74b5e277/evidence/m4/manifest.json), [verification.json](https://github.com/machieke/fusion-module-interfaces/blob/494df69a1ac401c3d3b2cf79dbfde07f74b5e277/evidence/m5/final/verification.json).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ConsensusFinality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native caller reads the accepted inspect result through caller-owned access and AtomStorage. The finality adapter does not depend on C1/C2, attention or inference; no private cognitive hashes are eligible. The left node is a caller or caller class; the right nodes distinguish foreign ports, pure helpers, local state and runtime internals. There is no implied shared transaction. No rewritten consensus, public network or new M5 chain operation.</a:t>
            </a:r>
          </a:p>
          <a:p/>
          <a:p>
            <a:r>
              <a:t>Evidence and implementation: [f1r3_m4.py](https://github.com/machieke/fusion-module-interfaces/blob/494df69a1ac401c3d3b2cf79dbfde07f74b5e277/fusion/adapters/f1r3_m4.py), [program.py](https://github.com/machieke/fusion-module-interfaces/blob/494df69a1ac401c3d3b2cf79dbfde07f74b5e277/integration/hive/commitment/program.py), [same-artifact.json](https://github.com/machieke/fusion-module-interfaces/blob/494df69a1ac401c3d3b2cf79dbfde07f74b5e277/evidence/m4/final/same-artifact.json), [readback.json](https://github.com/machieke/fusion-module-interfaces/blob/494df69a1ac401c3d3b2cf79dbfde07f74b5e277/evidence/m4/final/readback.json), [manifest.json](https://github.com/machieke/fusion-module-interfaces/blob/494df69a1ac401c3d3b2cf79dbfde07f74b5e277/evidence/m4/manifest.json), [verification.json](https://github.com/machieke/fusion-module-interfaces/blob/494df69a1ac401c3d3b2cf79dbfde07f74b5e277/evidence/m5/final/verification.json).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ConsensusFinality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State ownership is the key contract, not the file layout. Logical and signed intents: Stable timestamp, deployment identity and full signed request. Verified observations: Exact approved tuple, inclusion block/post-state and matching deploy effect. Consensus implementation: No rewritten consensus, public network or new M5 chain operation. Cognitive correctness: Finality does not prove reasoning, belief truth or off-chain retention. Explicit compatibility: f1r3-generated-post-state/2 · clean F1R3node 9ec1096 · fresh journal. Limits: One local validator; bounded call-driven observation, no public-network attachment.</a:t>
            </a:r>
          </a:p>
          <a:p/>
          <a:p>
            <a:r>
              <a:t>Evidence and implementation: [f1r3_m4.py](https://github.com/machieke/fusion-module-interfaces/blob/494df69a1ac401c3d3b2cf79dbfde07f74b5e277/fusion/adapters/f1r3_m4.py), [program.py](https://github.com/machieke/fusion-module-interfaces/blob/494df69a1ac401c3d3b2cf79dbfde07f74b5e277/integration/hive/commitment/program.py), [same-artifact.json](https://github.com/machieke/fusion-module-interfaces/blob/494df69a1ac401c3d3b2cf79dbfde07f74b5e277/evidence/m4/final/same-artifact.json), [readback.json](https://github.com/machieke/fusion-module-interfaces/blob/494df69a1ac401c3d3b2cf79dbfde07f74b5e277/evidence/m4/final/readback.json), [manifest.json](https://github.com/machieke/fusion-module-interfaces/blob/494df69a1ac401c3d3b2cf79dbfde07f74b5e277/evidence/m4/manifest.json), [verification.json](https://github.com/machieke/fusion-module-interfaces/blob/494df69a1ac401c3d3b2cf79dbfde07f74b5e277/evidence/m5/final/verification.json).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ConsensusFinality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contract from inputs to effects. submit: Validate approval; persist plan before signing, bytes before send; Replay reuses the exact signed deployment. observe: Check inclusion, post-state value and deploy-effect finality; Finalized block alone is insufficient. Independent readback: Read same effect with read-only access; Separate process; no caller journal or signing key. Operation groups on this slide are not a new coverage denominator. The evidence ledger distinguishes new operations from inherited dependencies. Supporting internal helpers are labelled as seams and are not advertised remote services.</a:t>
            </a:r>
          </a:p>
          <a:p/>
          <a:p>
            <a:r>
              <a:t>Evidence and implementation: [f1r3_m4.py](https://github.com/machieke/fusion-module-interfaces/blob/494df69a1ac401c3d3b2cf79dbfde07f74b5e277/fusion/adapters/f1r3_m4.py), [program.py](https://github.com/machieke/fusion-module-interfaces/blob/494df69a1ac401c3d3b2cf79dbfde07f74b5e277/integration/hive/commitment/program.py), [same-artifact.json](https://github.com/machieke/fusion-module-interfaces/blob/494df69a1ac401c3d3b2cf79dbfde07f74b5e277/evidence/m4/final/same-artifact.json), [readback.json](https://github.com/machieke/fusion-module-interfaces/blob/494df69a1ac401c3d3b2cf79dbfde07f74b5e277/evidence/m4/final/readback.json), [manifest.json](https://github.com/machieke/fusion-module-interfaces/blob/494df69a1ac401c3d3b2cf79dbfde07f74b5e277/evidence/m4/manifest.json), [verification.json](https://github.com/machieke/fusion-module-interfaces/blob/494df69a1ac401c3d3b2cf79dbfde07f74b5e277/evidence/m5/final/verification.json).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ConsensusFinality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example to connect the responsibility to observable behavior. 1. Accept result: Real Hive inspect finishes; retrieve approved bytes. 2. Freeze approval: Bind exact result, destination, signer and operation. 3. Persist / send: Save intent and signed bytes, then submit locally. 4. Verify effect: Read inclusion post-state and matching finalized deploy. Evidence classification: M4 REAL isolated F1R3node · generated workflow, test genesis/key and fixture counterparty. Do not infer performance, broad production readiness or extra runtime integrations from this example.</a:t>
            </a:r>
          </a:p>
          <a:p/>
          <a:p>
            <a:r>
              <a:t>Evidence and implementation: [f1r3_m4.py](https://github.com/machieke/fusion-module-interfaces/blob/494df69a1ac401c3d3b2cf79dbfde07f74b5e277/fusion/adapters/f1r3_m4.py), [program.py](https://github.com/machieke/fusion-module-interfaces/blob/494df69a1ac401c3d3b2cf79dbfde07f74b5e277/integration/hive/commitment/program.py), [same-artifact.json](https://github.com/machieke/fusion-module-interfaces/blob/494df69a1ac401c3d3b2cf79dbfde07f74b5e277/evidence/m4/final/same-artifact.json), [readback.json](https://github.com/machieke/fusion-module-interfaces/blob/494df69a1ac401c3d3b2cf79dbfde07f74b5e277/evidence/m4/final/readback.json), [manifest.json](https://github.com/machieke/fusion-module-interfaces/blob/494df69a1ac401c3d3b2cf79dbfde07f74b5e277/evidence/m4/manifest.json), [verification.json](https://github.com/machieke/fusion-module-interfaces/blob/494df69a1ac401c3d3b2cf79dbfde07f74b5e277/evidence/m5/final/verification.json).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ConsensusFinality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invariants should survive provider substitution and future optimization. Exact-artifact approval: Mutable aliases cannot substitute another result or destination. Same signed replay: Lost responses do not generate a new timestamp, signature or deployment. Effect-specific finality: Accepted tuple and successful target deploy effect must match. Private placement: Episodes, beliefs, provenance and identifying hashes stay off-chain. The supporting tests and runtime evidence are in the linked sources; this slide does not claim a formal proof or a production security audit.</a:t>
            </a:r>
          </a:p>
          <a:p/>
          <a:p>
            <a:r>
              <a:t>Evidence and implementation: [f1r3_m4.py](https://github.com/machieke/fusion-module-interfaces/blob/494df69a1ac401c3d3b2cf79dbfde07f74b5e277/fusion/adapters/f1r3_m4.py), [program.py](https://github.com/machieke/fusion-module-interfaces/blob/494df69a1ac401c3d3b2cf79dbfde07f74b5e277/integration/hive/commitment/program.py), [same-artifact.json](https://github.com/machieke/fusion-module-interfaces/blob/494df69a1ac401c3d3b2cf79dbfde07f74b5e277/evidence/m4/final/same-artifact.json), [readback.json](https://github.com/machieke/fusion-module-interfaces/blob/494df69a1ac401c3d3b2cf79dbfde07f74b5e277/evidence/m4/final/readback.json), [manifest.json](https://github.com/machieke/fusion-module-interfaces/blob/494df69a1ac401c3d3b2cf79dbfde07f74b5e277/evidence/m4/manifest.json), [verification.json](https://github.com/machieke/fusion-module-interfaces/blob/494df69a1ac401c3d3b2cf79dbfde07f74b5e277/evidence/m5/final/verification.json).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ConsensusFinality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State the owner boundary before the recovery claim. Caller dies after result acceptance: Recover accepted artifact, reauthorize and continue. No substitute artifact. Adapter dies before/after sending: Replay persisted signed bytes, even without signer access. Four total M4 caller/adapter kill boundaries. Node restarts / observation reply lost: Observe same genesis/state; independent reader confirms effect. No claim of decentralized failover. A fixture can position the failure while a real process is killed. Local replay semantics do not imply exactly-once physical execution, a distributed transaction, or global failover. For pure/static modules the relevant failure is selection/refusal, not invented journal recovery.</a:t>
            </a:r>
          </a:p>
          <a:p/>
          <a:p>
            <a:r>
              <a:t>Evidence and implementation: [f1r3_m4.py](https://github.com/machieke/fusion-module-interfaces/blob/494df69a1ac401c3d3b2cf79dbfde07f74b5e277/fusion/adapters/f1r3_m4.py), [program.py](https://github.com/machieke/fusion-module-interfaces/blob/494df69a1ac401c3d3b2cf79dbfde07f74b5e277/integration/hive/commitment/program.py), [same-artifact.json](https://github.com/machieke/fusion-module-interfaces/blob/494df69a1ac401c3d3b2cf79dbfde07f74b5e277/evidence/m4/final/same-artifact.json), [readback.json](https://github.com/machieke/fusion-module-interfaces/blob/494df69a1ac401c3d3b2cf79dbfde07f74b5e277/evidence/m4/final/readback.json), [manifest.json](https://github.com/machieke/fusion-module-interfaces/blob/494df69a1ac401c3d3b2cf79dbfde07f74b5e277/evidence/m4/manifest.json), [verification.json](https://github.com/machieke/fusion-module-interfaces/blob/494df69a1ac401c3d3b2cf79dbfde07f74b5e277/evidence/m5/final/verification.json).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ConsensusFinality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every number with its unit and source class. 4.066 s First finalized-effect observation: One M4 local run; includes proposal/observation overhead. 673 B Persisted signed request: Same bytes survive replay. 675 phlo Recorded execution cost: Local fixed workflow; not an economic estimate. Single local validator and one generated artifact, with concurrent regressions. No throughput distribution, public-network latency, economic cost or decentralized-safety benchmark is established. Proposed: repeat the same isolated workload with fixed genesis/config; report inclusion and effect-finality p50/p95 separately, signed size and execution cost, including outage cases. No new benchmark is executed for this presentation. Do not compare overlapping suite times or use a one-run workflow measurement as a latency percentile.</a:t>
            </a:r>
          </a:p>
          <a:p/>
          <a:p>
            <a:r>
              <a:t>Evidence and implementation: [f1r3_m4.py](https://github.com/machieke/fusion-module-interfaces/blob/494df69a1ac401c3d3b2cf79dbfde07f74b5e277/fusion/adapters/f1r3_m4.py), [program.py](https://github.com/machieke/fusion-module-interfaces/blob/494df69a1ac401c3d3b2cf79dbfde07f74b5e277/integration/hive/commitment/program.py), [same-artifact.json](https://github.com/machieke/fusion-module-interfaces/blob/494df69a1ac401c3d3b2cf79dbfde07f74b5e277/evidence/m4/final/same-artifact.json), [readback.json](https://github.com/machieke/fusion-module-interfaces/blob/494df69a1ac401c3d3b2cf79dbfde07f74b5e277/evidence/m4/final/readback.json), [manifest.json](https://github.com/machieke/fusion-module-interfaces/blob/494df69a1ac401c3d3b2cf79dbfde07f74b5e277/evidence/m4/manifest.json), [verification.json](https://github.com/machieke/fusion-module-interfaces/blob/494df69a1ac401c3d3b2cf79dbfde07f74b5e277/evidence/m5/final/verification.json).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ConsensusFinality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Implemented local code is not automatically a production provider. Real: Pinned F1R3node, actual Hive/DeTTa artifact, post-state query and independent readback. Fixture: Generated input, test signer/genesis, local approval policy and message counterparty. Blocked or unsupported: Exact dirty historical M1 source reproduction remains blocked; clean M4 rebaseline passes separately. Unrun: Public networks, multi-validator safety, production keys/economics, power loss and trustless attestation. All required M5 gates passed in the recorded final run, including legacy M1–M4 behavior; this presentation does not rerun those integrations. Human maintainers remain unassigned.</a:t>
            </a:r>
          </a:p>
          <a:p/>
          <a:p>
            <a:r>
              <a:t>Evidence and implementation: [f1r3_m4.py](https://github.com/machieke/fusion-module-interfaces/blob/494df69a1ac401c3d3b2cf79dbfde07f74b5e277/fusion/adapters/f1r3_m4.py), [program.py](https://github.com/machieke/fusion-module-interfaces/blob/494df69a1ac401c3d3b2cf79dbfde07f74b5e277/integration/hive/commitment/program.py), [same-artifact.json](https://github.com/machieke/fusion-module-interfaces/blob/494df69a1ac401c3d3b2cf79dbfde07f74b5e277/evidence/m4/final/same-artifact.json), [readback.json](https://github.com/machieke/fusion-module-interfaces/blob/494df69a1ac401c3d3b2cf79dbfde07f74b5e277/evidence/m4/final/readback.json), [manifest.json](https://github.com/machieke/fusion-module-interfaces/blob/494df69a1ac401c3d3b2cf79dbfde07f74b5e277/evidence/m4/manifest.json), [verification.json](https://github.com/machieke/fusion-module-interfaces/blob/494df69a1ac401c3d3b2cf79dbfde07f74b5e277/evidence/m5/final/verification.json).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ConsensusFinality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 future work as conditional engineering proposals. Measure repeated local behavior requires Fixed isolated config and repeated artifact trials; success means Inclusion and effect-finality distributions separated. Strengthen observation trust requires Explicit independent-proof and threat-model contract; success means Do not confuse node assertions with trustless attestation. Evaluate broader deployment requires Separate authorization, isolation and multi-validator study; success means No silent promotion of local proof into network safety. No new cognition, scheduler, migration or chain capability is implemented by this series. Any changed numerical semantics, placement or replay lifetime requires separate design and verification rather than a presentation claim.</a:t>
            </a:r>
          </a:p>
          <a:p/>
          <a:p>
            <a:r>
              <a:t>Evidence and implementation: [f1r3_m4.py](https://github.com/machieke/fusion-module-interfaces/blob/494df69a1ac401c3d3b2cf79dbfde07f74b5e277/fusion/adapters/f1r3_m4.py), [program.py](https://github.com/machieke/fusion-module-interfaces/blob/494df69a1ac401c3d3b2cf79dbfde07f74b5e277/integration/hive/commitment/program.py), [same-artifact.json](https://github.com/machieke/fusion-module-interfaces/blob/494df69a1ac401c3d3b2cf79dbfde07f74b5e277/evidence/m4/final/same-artifact.json), [readback.json](https://github.com/machieke/fusion-module-interfaces/blob/494df69a1ac401c3d3b2cf79dbfde07f74b5e277/evidence/m4/final/readback.json), [manifest.json](https://github.com/machieke/fusion-module-interfaces/blob/494df69a1ac401c3d3b2cf79dbfde07f74b5e277/evidence/m4/manifest.json), [verification.json](https://github.com/machieke/fusion-module-interfaces/blob/494df69a1ac401c3d3b2cf79dbfde07f74b5e277/evidence/m5/final/verification.json).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ConsensusFinality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Conclude with: Verify the approved effect, not merely a successful submission. The reproduction entrypoint is uv run --python 3.11 --locked python scripts/verify_m4.py &lt;build&gt; --output &lt;fresh&gt;. Use the historical tested M4 checkout 55ed540 or its intended compatible scope. M5 verifies unchanged real-chain behavior via verify_m5.py; source, namespace and recipe requirements remain explicit. Build/export checks for this series are separate from runtime tests. Exact upstream pins remain in integration/hive/sources.json, integration/pln/sources.json, integration/pln/deduction-sources.json and the M4/M5 source manifests. Commands use fresh output/state; raw provider environments, credentials, journals and private IDs should not be published.</a:t>
            </a:r>
          </a:p>
          <a:p/>
          <a:p>
            <a:r>
              <a:t>Evidence and implementation: [f1r3_m4.py](https://github.com/machieke/fusion-module-interfaces/blob/494df69a1ac401c3d3b2cf79dbfde07f74b5e277/fusion/adapters/f1r3_m4.py), [program.py](https://github.com/machieke/fusion-module-interfaces/blob/494df69a1ac401c3d3b2cf79dbfde07f74b5e277/integration/hive/commitment/program.py), [same-artifact.json](https://github.com/machieke/fusion-module-interfaces/blob/494df69a1ac401c3d3b2cf79dbfde07f74b5e277/evidence/m4/final/same-artifact.json), [readback.json](https://github.com/machieke/fusion-module-interfaces/blob/494df69a1ac401c3d3b2cf79dbfde07f74b5e277/evidence/m4/final/readback.json), [manifest.json](https://github.com/machieke/fusion-module-interfaces/blob/494df69a1ac401c3d3b2cf79dbfde07f74b5e277/evidence/m4/manifest.json), [verification.json](https://github.com/machieke/fusion-module-interfaces/blob/494df69a1ac401c3d3b2cf79dbfde07f74b5e277/evidence/m5/final/verification.json).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ConsensusFinality · M5 source bfb0ec8</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2233"/>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AAC0CC"/>
                </a:solidFill>
                <a:latin typeface="DejaVu Sans"/>
              </a:rPr>
              <a:t>OMEGA × ASI / STANDALONE MODULE SERIES</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FFFFFF"/>
                </a:solidFill>
                <a:latin typeface="DejaVu Sans"/>
              </a:rPr>
              <a:t>ConsensusFinality</a:t>
            </a:r>
          </a:p>
        </p:txBody>
      </p:sp>
      <p:sp>
        <p:nvSpPr>
          <p:cNvPr id="4" name="TextBox 3"/>
          <p:cNvSpPr txBox="1"/>
          <p:nvPr/>
        </p:nvSpPr>
        <p:spPr>
          <a:xfrm>
            <a:off x="548640" y="1783080"/>
            <a:ext cx="11049000" cy="560832"/>
          </a:xfrm>
          <a:prstGeom prst="rect">
            <a:avLst/>
          </a:prstGeom>
          <a:noFill/>
        </p:spPr>
        <p:txBody>
          <a:bodyPr wrap="none" lIns="0" rIns="0" tIns="0" bIns="0" anchor="t" anchorCtr="0">
            <a:noAutofit/>
          </a:bodyPr>
          <a:lstStyle/>
          <a:p>
            <a:pPr algn="l">
              <a:lnSpc>
                <a:spcPct val="100000"/>
              </a:lnSpc>
              <a:spcBef>
                <a:spcPts val="0"/>
              </a:spcBef>
              <a:spcAft>
                <a:spcPts val="0"/>
              </a:spcAft>
            </a:pPr>
            <a:r>
              <a:rPr sz="3840" b="1">
                <a:solidFill>
                  <a:srgbClr val="FFFFFF"/>
                </a:solidFill>
                <a:latin typeface="DejaVu Sans"/>
              </a:rPr>
              <a:t>Commit the approved result.</a:t>
            </a:r>
          </a:p>
        </p:txBody>
      </p:sp>
      <p:sp>
        <p:nvSpPr>
          <p:cNvPr id="5" name="TextBox 4"/>
          <p:cNvSpPr txBox="1"/>
          <p:nvPr/>
        </p:nvSpPr>
        <p:spPr>
          <a:xfrm>
            <a:off x="548640" y="2343912"/>
            <a:ext cx="11049000" cy="560832"/>
          </a:xfrm>
          <a:prstGeom prst="rect">
            <a:avLst/>
          </a:prstGeom>
          <a:noFill/>
        </p:spPr>
        <p:txBody>
          <a:bodyPr wrap="none" lIns="0" rIns="0" tIns="0" bIns="0" anchor="t" anchorCtr="0">
            <a:noAutofit/>
          </a:bodyPr>
          <a:lstStyle/>
          <a:p>
            <a:pPr algn="l">
              <a:lnSpc>
                <a:spcPct val="100000"/>
              </a:lnSpc>
              <a:spcBef>
                <a:spcPts val="0"/>
              </a:spcBef>
              <a:spcAft>
                <a:spcPts val="0"/>
              </a:spcAft>
            </a:pPr>
            <a:r>
              <a:rPr sz="3840" b="1">
                <a:solidFill>
                  <a:srgbClr val="FFFFFF"/>
                </a:solidFill>
                <a:latin typeface="DejaVu Sans"/>
              </a:rPr>
              <a:t>Verify its actual on-chain effect.</a:t>
            </a:r>
          </a:p>
        </p:txBody>
      </p:sp>
      <p:sp>
        <p:nvSpPr>
          <p:cNvPr id="6" name="Rounded Rectangle 5"/>
          <p:cNvSpPr/>
          <p:nvPr/>
        </p:nvSpPr>
        <p:spPr>
          <a:xfrm>
            <a:off x="579120" y="3208020"/>
            <a:ext cx="3112204" cy="274320"/>
          </a:xfrm>
          <a:prstGeom prst="roundRect">
            <a:avLst>
              <a:gd name="adj" fmla="val 19444"/>
            </a:avLst>
          </a:prstGeom>
          <a:solidFill>
            <a:srgbClr val="DCEFE8"/>
          </a:solidFill>
          <a:ln>
            <a:noFill/>
          </a:ln>
          <a:effectLst/>
        </p:spPr>
        <p:txBody>
          <a:bodyPr rtlCol="0" anchor="ctr"/>
          <a:lstStyle/>
          <a:p>
            <a:pPr algn="ctr"/>
          </a:p>
        </p:txBody>
      </p:sp>
      <p:sp>
        <p:nvSpPr>
          <p:cNvPr id="7" name="TextBox 6"/>
          <p:cNvSpPr txBox="1"/>
          <p:nvPr/>
        </p:nvSpPr>
        <p:spPr>
          <a:xfrm>
            <a:off x="685800" y="3261360"/>
            <a:ext cx="2921704" cy="175564"/>
          </a:xfrm>
          <a:prstGeom prst="rect">
            <a:avLst/>
          </a:prstGeom>
          <a:noFill/>
        </p:spPr>
        <p:txBody>
          <a:bodyPr wrap="none" lIns="0" rIns="0" tIns="0" bIns="0" anchor="t" anchorCtr="0">
            <a:noAutofit/>
          </a:bodyPr>
          <a:lstStyle/>
          <a:p>
            <a:pPr algn="l">
              <a:lnSpc>
                <a:spcPct val="100000"/>
              </a:lnSpc>
              <a:spcBef>
                <a:spcPts val="0"/>
              </a:spcBef>
              <a:spcAft>
                <a:spcPts val="0"/>
              </a:spcAft>
            </a:pPr>
            <a:r>
              <a:rPr sz="1080" b="1">
                <a:solidFill>
                  <a:srgbClr val="007C78"/>
                </a:solidFill>
                <a:latin typeface="DejaVu Sans"/>
              </a:rPr>
              <a:t>ELI16 · THE IDEA IN PLAIN LANGUAGE</a:t>
            </a:r>
          </a:p>
        </p:txBody>
      </p:sp>
      <p:sp>
        <p:nvSpPr>
          <p:cNvPr id="8" name="TextBox 7"/>
          <p:cNvSpPr txBox="1"/>
          <p:nvPr/>
        </p:nvSpPr>
        <p:spPr>
          <a:xfrm>
            <a:off x="579120" y="3649979"/>
            <a:ext cx="10744200" cy="312115"/>
          </a:xfrm>
          <a:prstGeom prst="rect">
            <a:avLst/>
          </a:prstGeom>
          <a:noFill/>
        </p:spPr>
        <p:txBody>
          <a:bodyPr wrap="none" lIns="0" rIns="0" tIns="0" bIns="0" anchor="t" anchorCtr="0">
            <a:noAutofit/>
          </a:bodyPr>
          <a:lstStyle/>
          <a:p>
            <a:pPr algn="l">
              <a:lnSpc>
                <a:spcPct val="100000"/>
              </a:lnSpc>
              <a:spcBef>
                <a:spcPts val="0"/>
              </a:spcBef>
              <a:spcAft>
                <a:spcPts val="0"/>
              </a:spcAft>
            </a:pPr>
            <a:r>
              <a:rPr sz="1920" b="0">
                <a:solidFill>
                  <a:srgbClr val="FFFFFF"/>
                </a:solidFill>
                <a:latin typeface="DejaVu Sans"/>
              </a:rPr>
              <a:t>A signed sealed envelope: retry the same envelope after a lost reply, then read the</a:t>
            </a:r>
          </a:p>
        </p:txBody>
      </p:sp>
      <p:sp>
        <p:nvSpPr>
          <p:cNvPr id="9" name="TextBox 8"/>
          <p:cNvSpPr txBox="1"/>
          <p:nvPr/>
        </p:nvSpPr>
        <p:spPr>
          <a:xfrm>
            <a:off x="579120" y="3962095"/>
            <a:ext cx="10744200" cy="312115"/>
          </a:xfrm>
          <a:prstGeom prst="rect">
            <a:avLst/>
          </a:prstGeom>
          <a:noFill/>
        </p:spPr>
        <p:txBody>
          <a:bodyPr wrap="none" lIns="0" rIns="0" tIns="0" bIns="0" anchor="t" anchorCtr="0">
            <a:noAutofit/>
          </a:bodyPr>
          <a:lstStyle/>
          <a:p>
            <a:pPr algn="l">
              <a:lnSpc>
                <a:spcPct val="100000"/>
              </a:lnSpc>
              <a:spcBef>
                <a:spcPts val="0"/>
              </a:spcBef>
              <a:spcAft>
                <a:spcPts val="0"/>
              </a:spcAft>
            </a:pPr>
            <a:r>
              <a:rPr sz="1920" b="0">
                <a:solidFill>
                  <a:srgbClr val="FFFFFF"/>
                </a:solidFill>
                <a:latin typeface="DejaVu Sans"/>
              </a:rPr>
              <a:t>ledger to check what was actually stored.</a:t>
            </a:r>
          </a:p>
        </p:txBody>
      </p:sp>
      <p:sp>
        <p:nvSpPr>
          <p:cNvPr id="10" name="TextBox 9"/>
          <p:cNvSpPr txBox="1"/>
          <p:nvPr/>
        </p:nvSpPr>
        <p:spPr>
          <a:xfrm>
            <a:off x="579120" y="4732020"/>
            <a:ext cx="1074420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AAC0CC"/>
                </a:solidFill>
                <a:latin typeface="DejaVu Sans"/>
              </a:rPr>
              <a:t>Why it matters: Submission, inclusion and finalized effect are different observations. Exact approval</a:t>
            </a:r>
          </a:p>
        </p:txBody>
      </p:sp>
      <p:sp>
        <p:nvSpPr>
          <p:cNvPr id="11" name="TextBox 10"/>
          <p:cNvSpPr txBox="1"/>
          <p:nvPr/>
        </p:nvSpPr>
        <p:spPr>
          <a:xfrm>
            <a:off x="579120" y="5005120"/>
            <a:ext cx="1074420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AAC0CC"/>
                </a:solidFill>
                <a:latin typeface="DejaVu Sans"/>
              </a:rPr>
              <a:t>and durable signed intent prevent retries from changing the authorized artifact.</a:t>
            </a:r>
          </a:p>
        </p:txBody>
      </p:sp>
      <p:sp>
        <p:nvSpPr>
          <p:cNvPr id="12" name="TextBox 11"/>
          <p:cNvSpPr txBox="1"/>
          <p:nvPr/>
        </p:nvSpPr>
        <p:spPr>
          <a:xfrm>
            <a:off x="579120" y="6019800"/>
            <a:ext cx="10439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0">
                <a:solidFill>
                  <a:srgbClr val="AAC0CC"/>
                </a:solidFill>
                <a:latin typeface="DejaVu Sans"/>
              </a:rPr>
              <a:t>Through M5 · 17 October 2026 · 12–15 minute talk · evidence and proposals kept separate</a:t>
            </a:r>
          </a:p>
        </p:txBody>
      </p:sp>
      <p:cxnSp>
        <p:nvCxnSpPr>
          <p:cNvPr id="13" name="Connector 12"/>
          <p:cNvCxnSpPr/>
          <p:nvPr/>
        </p:nvCxnSpPr>
        <p:spPr>
          <a:xfrm>
            <a:off x="548640" y="6393180"/>
            <a:ext cx="11094720" cy="0"/>
          </a:xfrm>
          <a:prstGeom prst="line">
            <a:avLst/>
          </a:prstGeom>
          <a:ln w="7620">
            <a:solidFill>
              <a:srgbClr val="536775"/>
            </a:solidFill>
          </a:ln>
          <a:effectLst/>
        </p:spPr>
      </p:cxnSp>
      <p:sp>
        <p:nvSpPr>
          <p:cNvPr id="14" name="TextBox 13"/>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AAC0CC"/>
                </a:solidFill>
                <a:latin typeface="DejaVu Sans"/>
              </a:rPr>
              <a:t>OMEGA × ASI / THROUGH M5 / ConsensusFinality · M5 source bfb0ec8</a:t>
            </a:r>
          </a:p>
        </p:txBody>
      </p:sp>
      <p:sp>
        <p:nvSpPr>
          <p:cNvPr id="15" name="TextBox 14"/>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AAC0CC"/>
                </a:solidFill>
                <a:latin typeface="DejaVu Sans Mono"/>
              </a:rPr>
              <a:t>01 / 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01 / HELICOPTER VIEW</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One module in a system of fifteen</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The highlighted responsibility is the subject of this talk; placement and process count are separate decisions.</a:t>
            </a:r>
          </a:p>
        </p:txBody>
      </p:sp>
      <p:sp>
        <p:nvSpPr>
          <p:cNvPr id="5" name="Rounded Rectangle 4"/>
          <p:cNvSpPr/>
          <p:nvPr/>
        </p:nvSpPr>
        <p:spPr>
          <a:xfrm>
            <a:off x="548640" y="1798320"/>
            <a:ext cx="2636520" cy="3566160"/>
          </a:xfrm>
          <a:prstGeom prst="roundRect">
            <a:avLst>
              <a:gd name="adj" fmla="val 4046"/>
            </a:avLst>
          </a:prstGeom>
          <a:solidFill>
            <a:srgbClr val="E7ECEB"/>
          </a:solidFill>
          <a:ln>
            <a:noFill/>
          </a:ln>
          <a:effectLst/>
        </p:spPr>
        <p:txBody>
          <a:bodyPr rtlCol="0" anchor="ctr"/>
          <a:lstStyle/>
          <a:p>
            <a:pPr algn="ctr"/>
          </a:p>
        </p:txBody>
      </p:sp>
      <p:sp>
        <p:nvSpPr>
          <p:cNvPr id="6" name="TextBox 5"/>
          <p:cNvSpPr txBox="1"/>
          <p:nvPr/>
        </p:nvSpPr>
        <p:spPr>
          <a:xfrm>
            <a:off x="685800" y="1943100"/>
            <a:ext cx="236220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536775"/>
                </a:solidFill>
                <a:latin typeface="DejaVu Sans"/>
              </a:rPr>
              <a:t>Persistence</a:t>
            </a:r>
          </a:p>
        </p:txBody>
      </p:sp>
      <p:sp>
        <p:nvSpPr>
          <p:cNvPr id="7" name="Rounded Rectangle 6"/>
          <p:cNvSpPr/>
          <p:nvPr/>
        </p:nvSpPr>
        <p:spPr>
          <a:xfrm>
            <a:off x="662940" y="2354580"/>
            <a:ext cx="2407920" cy="449580"/>
          </a:xfrm>
          <a:prstGeom prst="roundRect">
            <a:avLst>
              <a:gd name="adj" fmla="val 13559"/>
            </a:avLst>
          </a:prstGeom>
          <a:solidFill>
            <a:srgbClr val="FFFFFF"/>
          </a:solidFill>
          <a:ln>
            <a:noFill/>
          </a:ln>
          <a:effectLst/>
        </p:spPr>
        <p:txBody>
          <a:bodyPr rtlCol="0" anchor="ctr"/>
          <a:lstStyle/>
          <a:p>
            <a:pPr algn="ctr"/>
          </a:p>
        </p:txBody>
      </p:sp>
      <p:sp>
        <p:nvSpPr>
          <p:cNvPr id="8" name="TextBox 7"/>
          <p:cNvSpPr txBox="1"/>
          <p:nvPr/>
        </p:nvSpPr>
        <p:spPr>
          <a:xfrm>
            <a:off x="762000" y="246888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DA storage</a:t>
            </a:r>
          </a:p>
        </p:txBody>
      </p:sp>
      <p:sp>
        <p:nvSpPr>
          <p:cNvPr id="9" name="Rounded Rectangle 8"/>
          <p:cNvSpPr/>
          <p:nvPr/>
        </p:nvSpPr>
        <p:spPr>
          <a:xfrm>
            <a:off x="662940" y="2910840"/>
            <a:ext cx="2407920" cy="449580"/>
          </a:xfrm>
          <a:prstGeom prst="roundRect">
            <a:avLst>
              <a:gd name="adj" fmla="val 13559"/>
            </a:avLst>
          </a:prstGeom>
          <a:solidFill>
            <a:srgbClr val="FFFFFF"/>
          </a:solidFill>
          <a:ln>
            <a:noFill/>
          </a:ln>
          <a:effectLst/>
        </p:spPr>
        <p:txBody>
          <a:bodyPr rtlCol="0" anchor="ctr"/>
          <a:lstStyle/>
          <a:p>
            <a:pPr algn="ctr"/>
          </a:p>
        </p:txBody>
      </p:sp>
      <p:sp>
        <p:nvSpPr>
          <p:cNvPr id="10" name="TextBox 9"/>
          <p:cNvSpPr txBox="1"/>
          <p:nvPr/>
        </p:nvSpPr>
        <p:spPr>
          <a:xfrm>
            <a:off x="762000" y="302514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AtomStorage · C0</a:t>
            </a:r>
          </a:p>
        </p:txBody>
      </p:sp>
      <p:sp>
        <p:nvSpPr>
          <p:cNvPr id="11" name="Rounded Rectangle 10"/>
          <p:cNvSpPr/>
          <p:nvPr/>
        </p:nvSpPr>
        <p:spPr>
          <a:xfrm>
            <a:off x="662940" y="3467100"/>
            <a:ext cx="2407920" cy="449580"/>
          </a:xfrm>
          <a:prstGeom prst="roundRect">
            <a:avLst>
              <a:gd name="adj" fmla="val 13559"/>
            </a:avLst>
          </a:prstGeom>
          <a:solidFill>
            <a:srgbClr val="007C78"/>
          </a:solidFill>
          <a:ln>
            <a:noFill/>
          </a:ln>
          <a:effectLst/>
        </p:spPr>
        <p:txBody>
          <a:bodyPr rtlCol="0" anchor="ctr"/>
          <a:lstStyle/>
          <a:p>
            <a:pPr algn="ctr"/>
          </a:p>
        </p:txBody>
      </p:sp>
      <p:sp>
        <p:nvSpPr>
          <p:cNvPr id="12" name="TextBox 11"/>
          <p:cNvSpPr txBox="1"/>
          <p:nvPr/>
        </p:nvSpPr>
        <p:spPr>
          <a:xfrm>
            <a:off x="762000" y="358140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FFFFFF"/>
                </a:solidFill>
                <a:latin typeface="DejaVu Sans"/>
              </a:rPr>
              <a:t>ConsensusFinality</a:t>
            </a:r>
          </a:p>
        </p:txBody>
      </p:sp>
      <p:sp>
        <p:nvSpPr>
          <p:cNvPr id="13" name="Rounded Rectangle 12"/>
          <p:cNvSpPr/>
          <p:nvPr/>
        </p:nvSpPr>
        <p:spPr>
          <a:xfrm>
            <a:off x="3368040" y="1798320"/>
            <a:ext cx="2636520" cy="3566160"/>
          </a:xfrm>
          <a:prstGeom prst="roundRect">
            <a:avLst>
              <a:gd name="adj" fmla="val 4046"/>
            </a:avLst>
          </a:prstGeom>
          <a:solidFill>
            <a:srgbClr val="E7ECEB"/>
          </a:solidFill>
          <a:ln>
            <a:noFill/>
          </a:ln>
          <a:effectLst/>
        </p:spPr>
        <p:txBody>
          <a:bodyPr rtlCol="0" anchor="ctr"/>
          <a:lstStyle/>
          <a:p>
            <a:pPr algn="ctr"/>
          </a:p>
        </p:txBody>
      </p:sp>
      <p:sp>
        <p:nvSpPr>
          <p:cNvPr id="14" name="TextBox 13"/>
          <p:cNvSpPr txBox="1"/>
          <p:nvPr/>
        </p:nvSpPr>
        <p:spPr>
          <a:xfrm>
            <a:off x="3505200" y="1943100"/>
            <a:ext cx="236220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536775"/>
                </a:solidFill>
                <a:latin typeface="DejaVu Sans"/>
              </a:rPr>
              <a:t>Knowledge access</a:t>
            </a:r>
          </a:p>
        </p:txBody>
      </p:sp>
      <p:sp>
        <p:nvSpPr>
          <p:cNvPr id="15" name="Rounded Rectangle 14"/>
          <p:cNvSpPr/>
          <p:nvPr/>
        </p:nvSpPr>
        <p:spPr>
          <a:xfrm>
            <a:off x="3482340" y="2354580"/>
            <a:ext cx="2407920" cy="449580"/>
          </a:xfrm>
          <a:prstGeom prst="roundRect">
            <a:avLst>
              <a:gd name="adj" fmla="val 13559"/>
            </a:avLst>
          </a:prstGeom>
          <a:solidFill>
            <a:srgbClr val="FFFFFF"/>
          </a:solidFill>
          <a:ln>
            <a:noFill/>
          </a:ln>
          <a:effectLst/>
        </p:spPr>
        <p:txBody>
          <a:bodyPr rtlCol="0" anchor="ctr"/>
          <a:lstStyle/>
          <a:p>
            <a:pPr algn="ctr"/>
          </a:p>
        </p:txBody>
      </p:sp>
      <p:sp>
        <p:nvSpPr>
          <p:cNvPr id="16" name="TextBox 15"/>
          <p:cNvSpPr txBox="1"/>
          <p:nvPr/>
        </p:nvSpPr>
        <p:spPr>
          <a:xfrm>
            <a:off x="3581400" y="246888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Relations</a:t>
            </a:r>
          </a:p>
        </p:txBody>
      </p:sp>
      <p:sp>
        <p:nvSpPr>
          <p:cNvPr id="17" name="Rounded Rectangle 16"/>
          <p:cNvSpPr/>
          <p:nvPr/>
        </p:nvSpPr>
        <p:spPr>
          <a:xfrm>
            <a:off x="3482340" y="2910840"/>
            <a:ext cx="2407920" cy="449580"/>
          </a:xfrm>
          <a:prstGeom prst="roundRect">
            <a:avLst>
              <a:gd name="adj" fmla="val 13559"/>
            </a:avLst>
          </a:prstGeom>
          <a:solidFill>
            <a:srgbClr val="FFFFFF"/>
          </a:solidFill>
          <a:ln>
            <a:noFill/>
          </a:ln>
          <a:effectLst/>
        </p:spPr>
        <p:txBody>
          <a:bodyPr rtlCol="0" anchor="ctr"/>
          <a:lstStyle/>
          <a:p>
            <a:pPr algn="ctr"/>
          </a:p>
        </p:txBody>
      </p:sp>
      <p:sp>
        <p:nvSpPr>
          <p:cNvPr id="18" name="TextBox 17"/>
          <p:cNvSpPr txBox="1"/>
          <p:nvPr/>
        </p:nvSpPr>
        <p:spPr>
          <a:xfrm>
            <a:off x="3581400" y="302514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Search projection</a:t>
            </a:r>
          </a:p>
        </p:txBody>
      </p:sp>
      <p:sp>
        <p:nvSpPr>
          <p:cNvPr id="19" name="Rounded Rectangle 18"/>
          <p:cNvSpPr/>
          <p:nvPr/>
        </p:nvSpPr>
        <p:spPr>
          <a:xfrm>
            <a:off x="6187440" y="1798320"/>
            <a:ext cx="2636520" cy="3566160"/>
          </a:xfrm>
          <a:prstGeom prst="roundRect">
            <a:avLst>
              <a:gd name="adj" fmla="val 4046"/>
            </a:avLst>
          </a:prstGeom>
          <a:solidFill>
            <a:srgbClr val="E7ECEB"/>
          </a:solidFill>
          <a:ln>
            <a:noFill/>
          </a:ln>
          <a:effectLst/>
        </p:spPr>
        <p:txBody>
          <a:bodyPr rtlCol="0" anchor="ctr"/>
          <a:lstStyle/>
          <a:p>
            <a:pPr algn="ctr"/>
          </a:p>
        </p:txBody>
      </p:sp>
      <p:sp>
        <p:nvSpPr>
          <p:cNvPr id="20" name="TextBox 19"/>
          <p:cNvSpPr txBox="1"/>
          <p:nvPr/>
        </p:nvSpPr>
        <p:spPr>
          <a:xfrm>
            <a:off x="6324600" y="1943100"/>
            <a:ext cx="236220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536775"/>
                </a:solidFill>
                <a:latin typeface="DejaVu Sans"/>
              </a:rPr>
              <a:t>Cognition</a:t>
            </a:r>
          </a:p>
        </p:txBody>
      </p:sp>
      <p:sp>
        <p:nvSpPr>
          <p:cNvPr id="21" name="Rounded Rectangle 20"/>
          <p:cNvSpPr/>
          <p:nvPr/>
        </p:nvSpPr>
        <p:spPr>
          <a:xfrm>
            <a:off x="6301740" y="2354580"/>
            <a:ext cx="2407920" cy="449580"/>
          </a:xfrm>
          <a:prstGeom prst="roundRect">
            <a:avLst>
              <a:gd name="adj" fmla="val 13559"/>
            </a:avLst>
          </a:prstGeom>
          <a:solidFill>
            <a:srgbClr val="FFFFFF"/>
          </a:solidFill>
          <a:ln>
            <a:noFill/>
          </a:ln>
          <a:effectLst/>
        </p:spPr>
        <p:txBody>
          <a:bodyPr rtlCol="0" anchor="ctr"/>
          <a:lstStyle/>
          <a:p>
            <a:pPr algn="ctr"/>
          </a:p>
        </p:txBody>
      </p:sp>
      <p:sp>
        <p:nvSpPr>
          <p:cNvPr id="22" name="TextBox 21"/>
          <p:cNvSpPr txBox="1"/>
          <p:nvPr/>
        </p:nvSpPr>
        <p:spPr>
          <a:xfrm>
            <a:off x="6400800" y="246888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Episodes · C1</a:t>
            </a:r>
          </a:p>
        </p:txBody>
      </p:sp>
      <p:sp>
        <p:nvSpPr>
          <p:cNvPr id="23" name="Rounded Rectangle 22"/>
          <p:cNvSpPr/>
          <p:nvPr/>
        </p:nvSpPr>
        <p:spPr>
          <a:xfrm>
            <a:off x="6301740" y="2910840"/>
            <a:ext cx="2407920" cy="449580"/>
          </a:xfrm>
          <a:prstGeom prst="roundRect">
            <a:avLst>
              <a:gd name="adj" fmla="val 13559"/>
            </a:avLst>
          </a:prstGeom>
          <a:solidFill>
            <a:srgbClr val="FFFFFF"/>
          </a:solidFill>
          <a:ln>
            <a:noFill/>
          </a:ln>
          <a:effectLst/>
        </p:spPr>
        <p:txBody>
          <a:bodyPr rtlCol="0" anchor="ctr"/>
          <a:lstStyle/>
          <a:p>
            <a:pPr algn="ctr"/>
          </a:p>
        </p:txBody>
      </p:sp>
      <p:sp>
        <p:nvSpPr>
          <p:cNvPr id="24" name="TextBox 23"/>
          <p:cNvSpPr txBox="1"/>
          <p:nvPr/>
        </p:nvSpPr>
        <p:spPr>
          <a:xfrm>
            <a:off x="6400800" y="302514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Beliefs · C2</a:t>
            </a:r>
          </a:p>
        </p:txBody>
      </p:sp>
      <p:sp>
        <p:nvSpPr>
          <p:cNvPr id="25" name="Rounded Rectangle 24"/>
          <p:cNvSpPr/>
          <p:nvPr/>
        </p:nvSpPr>
        <p:spPr>
          <a:xfrm>
            <a:off x="6301740" y="3467100"/>
            <a:ext cx="2407920" cy="449580"/>
          </a:xfrm>
          <a:prstGeom prst="roundRect">
            <a:avLst>
              <a:gd name="adj" fmla="val 13559"/>
            </a:avLst>
          </a:prstGeom>
          <a:solidFill>
            <a:srgbClr val="FFFFFF"/>
          </a:solidFill>
          <a:ln>
            <a:noFill/>
          </a:ln>
          <a:effectLst/>
        </p:spPr>
        <p:txBody>
          <a:bodyPr rtlCol="0" anchor="ctr"/>
          <a:lstStyle/>
          <a:p>
            <a:pPr algn="ctr"/>
          </a:p>
        </p:txBody>
      </p:sp>
      <p:sp>
        <p:nvSpPr>
          <p:cNvPr id="26" name="TextBox 25"/>
          <p:cNvSpPr txBox="1"/>
          <p:nvPr/>
        </p:nvSpPr>
        <p:spPr>
          <a:xfrm>
            <a:off x="6400800" y="358140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PLNKernel</a:t>
            </a:r>
          </a:p>
        </p:txBody>
      </p:sp>
      <p:sp>
        <p:nvSpPr>
          <p:cNvPr id="27" name="Rounded Rectangle 26"/>
          <p:cNvSpPr/>
          <p:nvPr/>
        </p:nvSpPr>
        <p:spPr>
          <a:xfrm>
            <a:off x="6301740" y="4023360"/>
            <a:ext cx="2407920" cy="449580"/>
          </a:xfrm>
          <a:prstGeom prst="roundRect">
            <a:avLst>
              <a:gd name="adj" fmla="val 13559"/>
            </a:avLst>
          </a:prstGeom>
          <a:solidFill>
            <a:srgbClr val="FFFFFF"/>
          </a:solidFill>
          <a:ln>
            <a:noFill/>
          </a:ln>
          <a:effectLst/>
        </p:spPr>
        <p:txBody>
          <a:bodyPr rtlCol="0" anchor="ctr"/>
          <a:lstStyle/>
          <a:p>
            <a:pPr algn="ctr"/>
          </a:p>
        </p:txBody>
      </p:sp>
      <p:sp>
        <p:nvSpPr>
          <p:cNvPr id="28" name="TextBox 27"/>
          <p:cNvSpPr txBox="1"/>
          <p:nvPr/>
        </p:nvSpPr>
        <p:spPr>
          <a:xfrm>
            <a:off x="6400800" y="413766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Attention · C3</a:t>
            </a:r>
          </a:p>
        </p:txBody>
      </p:sp>
      <p:sp>
        <p:nvSpPr>
          <p:cNvPr id="29" name="Rounded Rectangle 28"/>
          <p:cNvSpPr/>
          <p:nvPr/>
        </p:nvSpPr>
        <p:spPr>
          <a:xfrm>
            <a:off x="6301740" y="4579620"/>
            <a:ext cx="2407920" cy="449580"/>
          </a:xfrm>
          <a:prstGeom prst="roundRect">
            <a:avLst>
              <a:gd name="adj" fmla="val 13559"/>
            </a:avLst>
          </a:prstGeom>
          <a:solidFill>
            <a:srgbClr val="FFFFFF"/>
          </a:solidFill>
          <a:ln>
            <a:noFill/>
          </a:ln>
          <a:effectLst/>
        </p:spPr>
        <p:txBody>
          <a:bodyPr rtlCol="0" anchor="ctr"/>
          <a:lstStyle/>
          <a:p>
            <a:pPr algn="ctr"/>
          </a:p>
        </p:txBody>
      </p:sp>
      <p:sp>
        <p:nvSpPr>
          <p:cNvPr id="30" name="TextBox 29"/>
          <p:cNvSpPr txBox="1"/>
          <p:nvPr/>
        </p:nvSpPr>
        <p:spPr>
          <a:xfrm>
            <a:off x="6400800" y="469392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Inference · C4</a:t>
            </a:r>
          </a:p>
        </p:txBody>
      </p:sp>
      <p:sp>
        <p:nvSpPr>
          <p:cNvPr id="31" name="Rounded Rectangle 30"/>
          <p:cNvSpPr/>
          <p:nvPr/>
        </p:nvSpPr>
        <p:spPr>
          <a:xfrm>
            <a:off x="9006840" y="1798320"/>
            <a:ext cx="2636520" cy="3566160"/>
          </a:xfrm>
          <a:prstGeom prst="roundRect">
            <a:avLst>
              <a:gd name="adj" fmla="val 4046"/>
            </a:avLst>
          </a:prstGeom>
          <a:solidFill>
            <a:srgbClr val="E7ECEB"/>
          </a:solidFill>
          <a:ln>
            <a:noFill/>
          </a:ln>
          <a:effectLst/>
        </p:spPr>
        <p:txBody>
          <a:bodyPr rtlCol="0" anchor="ctr"/>
          <a:lstStyle/>
          <a:p>
            <a:pPr algn="ctr"/>
          </a:p>
        </p:txBody>
      </p:sp>
      <p:sp>
        <p:nvSpPr>
          <p:cNvPr id="32" name="TextBox 31"/>
          <p:cNvSpPr txBox="1"/>
          <p:nvPr/>
        </p:nvSpPr>
        <p:spPr>
          <a:xfrm>
            <a:off x="9144000" y="1943100"/>
            <a:ext cx="236220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536775"/>
                </a:solidFill>
                <a:latin typeface="DejaVu Sans"/>
              </a:rPr>
              <a:t>Coordination + policy</a:t>
            </a:r>
          </a:p>
        </p:txBody>
      </p:sp>
      <p:sp>
        <p:nvSpPr>
          <p:cNvPr id="33" name="Rounded Rectangle 32"/>
          <p:cNvSpPr/>
          <p:nvPr/>
        </p:nvSpPr>
        <p:spPr>
          <a:xfrm>
            <a:off x="9121140" y="2354580"/>
            <a:ext cx="2407920" cy="449580"/>
          </a:xfrm>
          <a:prstGeom prst="roundRect">
            <a:avLst>
              <a:gd name="adj" fmla="val 13559"/>
            </a:avLst>
          </a:prstGeom>
          <a:solidFill>
            <a:srgbClr val="FFFFFF"/>
          </a:solidFill>
          <a:ln>
            <a:noFill/>
          </a:ln>
          <a:effectLst/>
        </p:spPr>
        <p:txBody>
          <a:bodyPr rtlCol="0" anchor="ctr"/>
          <a:lstStyle/>
          <a:p>
            <a:pPr algn="ctr"/>
          </a:p>
        </p:txBody>
      </p:sp>
      <p:sp>
        <p:nvSpPr>
          <p:cNvPr id="34" name="TextBox 33"/>
          <p:cNvSpPr txBox="1"/>
          <p:nvPr/>
        </p:nvSpPr>
        <p:spPr>
          <a:xfrm>
            <a:off x="9220200" y="246888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Messaging</a:t>
            </a:r>
          </a:p>
        </p:txBody>
      </p:sp>
      <p:sp>
        <p:nvSpPr>
          <p:cNvPr id="35" name="Rounded Rectangle 34"/>
          <p:cNvSpPr/>
          <p:nvPr/>
        </p:nvSpPr>
        <p:spPr>
          <a:xfrm>
            <a:off x="9121140" y="2910840"/>
            <a:ext cx="2407920" cy="449580"/>
          </a:xfrm>
          <a:prstGeom prst="roundRect">
            <a:avLst>
              <a:gd name="adj" fmla="val 13559"/>
            </a:avLst>
          </a:prstGeom>
          <a:solidFill>
            <a:srgbClr val="FFFFFF"/>
          </a:solidFill>
          <a:ln>
            <a:noFill/>
          </a:ln>
          <a:effectLst/>
        </p:spPr>
        <p:txBody>
          <a:bodyPr rtlCol="0" anchor="ctr"/>
          <a:lstStyle/>
          <a:p>
            <a:pPr algn="ctr"/>
          </a:p>
        </p:txBody>
      </p:sp>
      <p:sp>
        <p:nvSpPr>
          <p:cNvPr id="36" name="TextBox 35"/>
          <p:cNvSpPr txBox="1"/>
          <p:nvPr/>
        </p:nvSpPr>
        <p:spPr>
          <a:xfrm>
            <a:off x="9220200" y="302514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Execution</a:t>
            </a:r>
          </a:p>
        </p:txBody>
      </p:sp>
      <p:sp>
        <p:nvSpPr>
          <p:cNvPr id="37" name="Rounded Rectangle 36"/>
          <p:cNvSpPr/>
          <p:nvPr/>
        </p:nvSpPr>
        <p:spPr>
          <a:xfrm>
            <a:off x="9121140" y="3467100"/>
            <a:ext cx="2407920" cy="449580"/>
          </a:xfrm>
          <a:prstGeom prst="roundRect">
            <a:avLst>
              <a:gd name="adj" fmla="val 13559"/>
            </a:avLst>
          </a:prstGeom>
          <a:solidFill>
            <a:srgbClr val="FFFFFF"/>
          </a:solidFill>
          <a:ln>
            <a:noFill/>
          </a:ln>
          <a:effectLst/>
        </p:spPr>
        <p:txBody>
          <a:bodyPr rtlCol="0" anchor="ctr"/>
          <a:lstStyle/>
          <a:p>
            <a:pPr algn="ctr"/>
          </a:p>
        </p:txBody>
      </p:sp>
      <p:sp>
        <p:nvSpPr>
          <p:cNvPr id="38" name="TextBox 37"/>
          <p:cNvSpPr txBox="1"/>
          <p:nvPr/>
        </p:nvSpPr>
        <p:spPr>
          <a:xfrm>
            <a:off x="9220200" y="358140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Registry</a:t>
            </a:r>
          </a:p>
        </p:txBody>
      </p:sp>
      <p:sp>
        <p:nvSpPr>
          <p:cNvPr id="39" name="Rounded Rectangle 38"/>
          <p:cNvSpPr/>
          <p:nvPr/>
        </p:nvSpPr>
        <p:spPr>
          <a:xfrm>
            <a:off x="9121140" y="4023360"/>
            <a:ext cx="2407920" cy="449580"/>
          </a:xfrm>
          <a:prstGeom prst="roundRect">
            <a:avLst>
              <a:gd name="adj" fmla="val 13559"/>
            </a:avLst>
          </a:prstGeom>
          <a:solidFill>
            <a:srgbClr val="FFFFFF"/>
          </a:solidFill>
          <a:ln>
            <a:noFill/>
          </a:ln>
          <a:effectLst/>
        </p:spPr>
        <p:txBody>
          <a:bodyPr rtlCol="0" anchor="ctr"/>
          <a:lstStyle/>
          <a:p>
            <a:pPr algn="ctr"/>
          </a:p>
        </p:txBody>
      </p:sp>
      <p:sp>
        <p:nvSpPr>
          <p:cNvPr id="40" name="TextBox 39"/>
          <p:cNvSpPr txBox="1"/>
          <p:nvPr/>
        </p:nvSpPr>
        <p:spPr>
          <a:xfrm>
            <a:off x="9220200" y="413766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Resolver</a:t>
            </a:r>
          </a:p>
        </p:txBody>
      </p:sp>
      <p:sp>
        <p:nvSpPr>
          <p:cNvPr id="41" name="Rounded Rectangle 40"/>
          <p:cNvSpPr/>
          <p:nvPr/>
        </p:nvSpPr>
        <p:spPr>
          <a:xfrm>
            <a:off x="9121140" y="4579620"/>
            <a:ext cx="2407920" cy="449580"/>
          </a:xfrm>
          <a:prstGeom prst="roundRect">
            <a:avLst>
              <a:gd name="adj" fmla="val 13559"/>
            </a:avLst>
          </a:prstGeom>
          <a:solidFill>
            <a:srgbClr val="FFFFFF"/>
          </a:solidFill>
          <a:ln>
            <a:noFill/>
          </a:ln>
          <a:effectLst/>
        </p:spPr>
        <p:txBody>
          <a:bodyPr rtlCol="0" anchor="ctr"/>
          <a:lstStyle/>
          <a:p>
            <a:pPr algn="ctr"/>
          </a:p>
        </p:txBody>
      </p:sp>
      <p:sp>
        <p:nvSpPr>
          <p:cNvPr id="42" name="TextBox 41"/>
          <p:cNvSpPr txBox="1"/>
          <p:nvPr/>
        </p:nvSpPr>
        <p:spPr>
          <a:xfrm>
            <a:off x="9220200" y="469392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Authorization</a:t>
            </a:r>
          </a:p>
        </p:txBody>
      </p:sp>
      <p:sp>
        <p:nvSpPr>
          <p:cNvPr id="43" name="TextBox 42"/>
          <p:cNvSpPr txBox="1"/>
          <p:nvPr/>
        </p:nvSpPr>
        <p:spPr>
          <a:xfrm>
            <a:off x="609600" y="5547360"/>
            <a:ext cx="1089660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102B3F"/>
                </a:solidFill>
                <a:latin typeface="DejaVu Sans"/>
              </a:rPr>
              <a:t>Submit one approved generated-result commitment and observe matching inclusion post-state plus</a:t>
            </a:r>
          </a:p>
        </p:txBody>
      </p:sp>
      <p:sp>
        <p:nvSpPr>
          <p:cNvPr id="44" name="TextBox 43"/>
          <p:cNvSpPr txBox="1"/>
          <p:nvPr/>
        </p:nvSpPr>
        <p:spPr>
          <a:xfrm>
            <a:off x="609600" y="5810707"/>
            <a:ext cx="1089660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102B3F"/>
                </a:solidFill>
                <a:latin typeface="DejaVu Sans"/>
              </a:rPr>
              <a:t>deploy-effect finality.</a:t>
            </a:r>
          </a:p>
        </p:txBody>
      </p:sp>
      <p:cxnSp>
        <p:nvCxnSpPr>
          <p:cNvPr id="45" name="Connector 44"/>
          <p:cNvCxnSpPr/>
          <p:nvPr/>
        </p:nvCxnSpPr>
        <p:spPr>
          <a:xfrm>
            <a:off x="548640" y="6393180"/>
            <a:ext cx="11094720" cy="0"/>
          </a:xfrm>
          <a:prstGeom prst="line">
            <a:avLst/>
          </a:prstGeom>
          <a:ln w="7620">
            <a:solidFill>
              <a:srgbClr val="C9D2D4"/>
            </a:solidFill>
          </a:ln>
          <a:effectLst/>
        </p:spPr>
      </p:cxnSp>
      <p:sp>
        <p:nvSpPr>
          <p:cNvPr id="46" name="TextBox 45"/>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ConsensusFinality · M5 source bfb0ec8</a:t>
            </a:r>
          </a:p>
        </p:txBody>
      </p:sp>
      <p:sp>
        <p:nvSpPr>
          <p:cNvPr id="47" name="TextBox 46"/>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02 / 12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02 / FUNCTION DEPENDENCIES</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Dependencies explain the boundary</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Arrows point from caller to dependency. Stores and runtime internals are labelled explicitly.</a:t>
            </a:r>
          </a:p>
        </p:txBody>
      </p:sp>
      <p:sp>
        <p:nvSpPr>
          <p:cNvPr id="5" name="Rounded Rectangle 4"/>
          <p:cNvSpPr/>
          <p:nvPr/>
        </p:nvSpPr>
        <p:spPr>
          <a:xfrm>
            <a:off x="548640" y="2453640"/>
            <a:ext cx="2857500" cy="1668780"/>
          </a:xfrm>
          <a:prstGeom prst="roundRect">
            <a:avLst>
              <a:gd name="adj" fmla="val 5936"/>
            </a:avLst>
          </a:prstGeom>
          <a:solidFill>
            <a:srgbClr val="FFFFFF"/>
          </a:solidFill>
          <a:ln w="7620">
            <a:solidFill>
              <a:srgbClr val="007C78"/>
            </a:solidFill>
          </a:ln>
          <a:effectLst/>
        </p:spPr>
        <p:txBody>
          <a:bodyPr rtlCol="0" anchor="ctr"/>
          <a:lstStyle/>
          <a:p>
            <a:pPr algn="ctr"/>
          </a:p>
        </p:txBody>
      </p:sp>
      <p:sp>
        <p:nvSpPr>
          <p:cNvPr id="6" name="TextBox 5"/>
          <p:cNvSpPr txBox="1"/>
          <p:nvPr/>
        </p:nvSpPr>
        <p:spPr>
          <a:xfrm>
            <a:off x="716280" y="2621280"/>
            <a:ext cx="2522220" cy="282854"/>
          </a:xfrm>
          <a:prstGeom prst="rect">
            <a:avLst/>
          </a:prstGeom>
          <a:noFill/>
        </p:spPr>
        <p:txBody>
          <a:bodyPr wrap="none" lIns="0" rIns="0" tIns="0" bIns="0" anchor="t" anchorCtr="0">
            <a:noAutofit/>
          </a:bodyPr>
          <a:lstStyle/>
          <a:p>
            <a:pPr algn="l">
              <a:lnSpc>
                <a:spcPct val="100000"/>
              </a:lnSpc>
              <a:spcBef>
                <a:spcPts val="0"/>
              </a:spcBef>
              <a:spcAft>
                <a:spcPts val="0"/>
              </a:spcAft>
            </a:pPr>
            <a:r>
              <a:rPr sz="1739" b="1">
                <a:solidFill>
                  <a:srgbClr val="007C78"/>
                </a:solidFill>
                <a:latin typeface="DejaVu Sans"/>
              </a:rPr>
              <a:t>Native</a:t>
            </a:r>
          </a:p>
        </p:txBody>
      </p:sp>
      <p:sp>
        <p:nvSpPr>
          <p:cNvPr id="7" name="TextBox 6"/>
          <p:cNvSpPr txBox="1"/>
          <p:nvPr/>
        </p:nvSpPr>
        <p:spPr>
          <a:xfrm>
            <a:off x="716280" y="2904134"/>
            <a:ext cx="2522220" cy="282854"/>
          </a:xfrm>
          <a:prstGeom prst="rect">
            <a:avLst/>
          </a:prstGeom>
          <a:noFill/>
        </p:spPr>
        <p:txBody>
          <a:bodyPr wrap="none" lIns="0" rIns="0" tIns="0" bIns="0" anchor="t" anchorCtr="0">
            <a:noAutofit/>
          </a:bodyPr>
          <a:lstStyle/>
          <a:p>
            <a:pPr algn="l">
              <a:lnSpc>
                <a:spcPct val="100000"/>
              </a:lnSpc>
              <a:spcBef>
                <a:spcPts val="0"/>
              </a:spcBef>
              <a:spcAft>
                <a:spcPts val="0"/>
              </a:spcAft>
            </a:pPr>
            <a:r>
              <a:rPr sz="1739" b="1">
                <a:solidFill>
                  <a:srgbClr val="007C78"/>
                </a:solidFill>
                <a:latin typeface="DejaVu Sans"/>
              </a:rPr>
              <a:t>fusion-commitment</a:t>
            </a:r>
          </a:p>
        </p:txBody>
      </p:sp>
      <p:sp>
        <p:nvSpPr>
          <p:cNvPr id="8" name="TextBox 7"/>
          <p:cNvSpPr txBox="1"/>
          <p:nvPr/>
        </p:nvSpPr>
        <p:spPr>
          <a:xfrm>
            <a:off x="716280" y="3186988"/>
            <a:ext cx="2522220" cy="282854"/>
          </a:xfrm>
          <a:prstGeom prst="rect">
            <a:avLst/>
          </a:prstGeom>
          <a:noFill/>
        </p:spPr>
        <p:txBody>
          <a:bodyPr wrap="none" lIns="0" rIns="0" tIns="0" bIns="0" anchor="t" anchorCtr="0">
            <a:noAutofit/>
          </a:bodyPr>
          <a:lstStyle/>
          <a:p>
            <a:pPr algn="l">
              <a:lnSpc>
                <a:spcPct val="100000"/>
              </a:lnSpc>
              <a:spcBef>
                <a:spcPts val="0"/>
              </a:spcBef>
              <a:spcAft>
                <a:spcPts val="0"/>
              </a:spcAft>
            </a:pPr>
            <a:r>
              <a:rPr sz="1739" b="1">
                <a:solidFill>
                  <a:srgbClr val="007C78"/>
                </a:solidFill>
                <a:latin typeface="DejaVu Sans"/>
              </a:rPr>
              <a:t>sibling</a:t>
            </a:r>
          </a:p>
        </p:txBody>
      </p:sp>
      <p:sp>
        <p:nvSpPr>
          <p:cNvPr id="9" name="TextBox 8"/>
          <p:cNvSpPr txBox="1"/>
          <p:nvPr/>
        </p:nvSpPr>
        <p:spPr>
          <a:xfrm>
            <a:off x="716280" y="3546043"/>
            <a:ext cx="252222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submit · observe</a:t>
            </a:r>
          </a:p>
        </p:txBody>
      </p:sp>
      <p:sp>
        <p:nvSpPr>
          <p:cNvPr id="10" name="Rounded Rectangle 9"/>
          <p:cNvSpPr/>
          <p:nvPr/>
        </p:nvSpPr>
        <p:spPr>
          <a:xfrm>
            <a:off x="4229100" y="2453640"/>
            <a:ext cx="3238500" cy="1668780"/>
          </a:xfrm>
          <a:prstGeom prst="roundRect">
            <a:avLst>
              <a:gd name="adj" fmla="val 5936"/>
            </a:avLst>
          </a:prstGeom>
          <a:solidFill>
            <a:srgbClr val="DCEFE8"/>
          </a:solidFill>
          <a:ln w="7620">
            <a:solidFill>
              <a:srgbClr val="007C78"/>
            </a:solidFill>
          </a:ln>
          <a:effectLst/>
        </p:spPr>
        <p:txBody>
          <a:bodyPr rtlCol="0" anchor="ctr"/>
          <a:lstStyle/>
          <a:p>
            <a:pPr algn="ctr"/>
          </a:p>
        </p:txBody>
      </p:sp>
      <p:sp>
        <p:nvSpPr>
          <p:cNvPr id="11" name="TextBox 10"/>
          <p:cNvSpPr txBox="1"/>
          <p:nvPr/>
        </p:nvSpPr>
        <p:spPr>
          <a:xfrm>
            <a:off x="4396740" y="2621280"/>
            <a:ext cx="2903220" cy="321868"/>
          </a:xfrm>
          <a:prstGeom prst="rect">
            <a:avLst/>
          </a:prstGeom>
          <a:noFill/>
        </p:spPr>
        <p:txBody>
          <a:bodyPr wrap="none" lIns="0" rIns="0" tIns="0" bIns="0" anchor="t" anchorCtr="0">
            <a:noAutofit/>
          </a:bodyPr>
          <a:lstStyle/>
          <a:p>
            <a:pPr algn="l">
              <a:lnSpc>
                <a:spcPct val="100000"/>
              </a:lnSpc>
              <a:spcBef>
                <a:spcPts val="0"/>
              </a:spcBef>
              <a:spcAft>
                <a:spcPts val="0"/>
              </a:spcAft>
            </a:pPr>
            <a:r>
              <a:rPr sz="1980" b="1">
                <a:solidFill>
                  <a:srgbClr val="007C78"/>
                </a:solidFill>
                <a:latin typeface="DejaVu Sans"/>
              </a:rPr>
              <a:t>ConsensusFinality</a:t>
            </a:r>
          </a:p>
        </p:txBody>
      </p:sp>
      <p:sp>
        <p:nvSpPr>
          <p:cNvPr id="12" name="TextBox 11"/>
          <p:cNvSpPr txBox="1"/>
          <p:nvPr/>
        </p:nvSpPr>
        <p:spPr>
          <a:xfrm>
            <a:off x="4396740" y="3019348"/>
            <a:ext cx="290322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a:rPr>
              <a:t>Submit one approved</a:t>
            </a:r>
          </a:p>
        </p:txBody>
      </p:sp>
      <p:sp>
        <p:nvSpPr>
          <p:cNvPr id="13" name="TextBox 12"/>
          <p:cNvSpPr txBox="1"/>
          <p:nvPr/>
        </p:nvSpPr>
        <p:spPr>
          <a:xfrm>
            <a:off x="4396740" y="3224174"/>
            <a:ext cx="290322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a:rPr>
              <a:t>generated-result commitment and</a:t>
            </a:r>
          </a:p>
        </p:txBody>
      </p:sp>
      <p:sp>
        <p:nvSpPr>
          <p:cNvPr id="14" name="TextBox 13"/>
          <p:cNvSpPr txBox="1"/>
          <p:nvPr/>
        </p:nvSpPr>
        <p:spPr>
          <a:xfrm>
            <a:off x="4396740" y="3429000"/>
            <a:ext cx="290322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a:rPr>
              <a:t>observe matching inclusion</a:t>
            </a:r>
          </a:p>
        </p:txBody>
      </p:sp>
      <p:sp>
        <p:nvSpPr>
          <p:cNvPr id="15" name="TextBox 14"/>
          <p:cNvSpPr txBox="1"/>
          <p:nvPr/>
        </p:nvSpPr>
        <p:spPr>
          <a:xfrm>
            <a:off x="4396740" y="3633825"/>
            <a:ext cx="290322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a:rPr>
              <a:t>post-state plus deploy-effect</a:t>
            </a:r>
          </a:p>
        </p:txBody>
      </p:sp>
      <p:sp>
        <p:nvSpPr>
          <p:cNvPr id="16" name="TextBox 15"/>
          <p:cNvSpPr txBox="1"/>
          <p:nvPr/>
        </p:nvSpPr>
        <p:spPr>
          <a:xfrm>
            <a:off x="4396740" y="3838651"/>
            <a:ext cx="290322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a:rPr>
              <a:t>finality.</a:t>
            </a:r>
          </a:p>
        </p:txBody>
      </p:sp>
      <p:cxnSp>
        <p:nvCxnSpPr>
          <p:cNvPr id="17" name="Connector 16"/>
          <p:cNvCxnSpPr/>
          <p:nvPr/>
        </p:nvCxnSpPr>
        <p:spPr>
          <a:xfrm>
            <a:off x="3406140" y="3284219"/>
            <a:ext cx="822960" cy="0"/>
          </a:xfrm>
          <a:prstGeom prst="line">
            <a:avLst/>
          </a:prstGeom>
          <a:ln w="15240">
            <a:solidFill>
              <a:srgbClr val="007C78"/>
            </a:solidFill>
          </a:ln>
          <a:effectLst/>
        </p:spPr>
      </p:cxnSp>
      <p:sp>
        <p:nvSpPr>
          <p:cNvPr id="18" name="Freeform 17"/>
          <p:cNvSpPr/>
          <p:nvPr/>
        </p:nvSpPr>
        <p:spPr>
          <a:xfrm>
            <a:off x="4130040" y="3246120"/>
            <a:ext cx="99060" cy="76200"/>
          </a:xfrm>
          <a:custGeom>
            <a:avLst/>
            <a:gdLst/>
            <a:ahLst/>
            <a:cxnLst/>
            <a:rect l="l" t="t" r="r" b="b"/>
            <a:pathLst>
              <a:path w="13" h="10">
                <a:moveTo>
                  <a:pt x="13" y="5"/>
                </a:moveTo>
                <a:lnTo>
                  <a:pt x="0" y="0"/>
                </a:lnTo>
                <a:lnTo>
                  <a:pt x="0" y="10"/>
                </a:lnTo>
                <a:close/>
              </a:path>
            </a:pathLst>
          </a:custGeom>
          <a:solidFill>
            <a:srgbClr val="007C78"/>
          </a:solidFill>
          <a:ln>
            <a:noFill/>
          </a:ln>
          <a:effectLst/>
        </p:spPr>
        <p:txBody>
          <a:bodyPr rtlCol="0" anchor="ctr"/>
          <a:lstStyle/>
          <a:p>
            <a:pPr algn="ctr"/>
          </a:p>
        </p:txBody>
      </p:sp>
      <p:sp>
        <p:nvSpPr>
          <p:cNvPr id="19" name="Rounded Rectangle 18"/>
          <p:cNvSpPr/>
          <p:nvPr/>
        </p:nvSpPr>
        <p:spPr>
          <a:xfrm>
            <a:off x="8404860" y="1661159"/>
            <a:ext cx="3238500" cy="1005840"/>
          </a:xfrm>
          <a:prstGeom prst="roundRect">
            <a:avLst>
              <a:gd name="adj" fmla="val 9848"/>
            </a:avLst>
          </a:prstGeom>
          <a:solidFill>
            <a:srgbClr val="FFFFFF"/>
          </a:solidFill>
          <a:ln w="7620">
            <a:solidFill>
              <a:srgbClr val="007C78"/>
            </a:solidFill>
          </a:ln>
          <a:effectLst/>
        </p:spPr>
        <p:txBody>
          <a:bodyPr rtlCol="0" anchor="ctr"/>
          <a:lstStyle/>
          <a:p>
            <a:pPr algn="ctr"/>
          </a:p>
        </p:txBody>
      </p:sp>
      <p:sp>
        <p:nvSpPr>
          <p:cNvPr id="20" name="TextBox 19"/>
          <p:cNvSpPr txBox="1"/>
          <p:nvPr/>
        </p:nvSpPr>
        <p:spPr>
          <a:xfrm>
            <a:off x="8572500" y="1828800"/>
            <a:ext cx="290322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007C78"/>
                </a:solidFill>
                <a:latin typeface="DejaVu Sans"/>
              </a:rPr>
              <a:t>Registered signer / approval</a:t>
            </a:r>
          </a:p>
        </p:txBody>
      </p:sp>
      <p:sp>
        <p:nvSpPr>
          <p:cNvPr id="21" name="TextBox 20"/>
          <p:cNvSpPr txBox="1"/>
          <p:nvPr/>
        </p:nvSpPr>
        <p:spPr>
          <a:xfrm>
            <a:off x="8572500" y="2129332"/>
            <a:ext cx="290322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a:rPr>
              <a:t>Exact artifact, actor,</a:t>
            </a:r>
          </a:p>
        </p:txBody>
      </p:sp>
      <p:sp>
        <p:nvSpPr>
          <p:cNvPr id="22" name="TextBox 21"/>
          <p:cNvSpPr txBox="1"/>
          <p:nvPr/>
        </p:nvSpPr>
        <p:spPr>
          <a:xfrm>
            <a:off x="8572500" y="2334158"/>
            <a:ext cx="290322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a:rPr>
              <a:t>chain/genesis/profile and operation</a:t>
            </a:r>
          </a:p>
        </p:txBody>
      </p:sp>
      <p:cxnSp>
        <p:nvCxnSpPr>
          <p:cNvPr id="23" name="Connector 22"/>
          <p:cNvCxnSpPr/>
          <p:nvPr/>
        </p:nvCxnSpPr>
        <p:spPr>
          <a:xfrm>
            <a:off x="7467600" y="3284219"/>
            <a:ext cx="426720" cy="0"/>
          </a:xfrm>
          <a:prstGeom prst="line">
            <a:avLst/>
          </a:prstGeom>
          <a:ln w="15240">
            <a:solidFill>
              <a:srgbClr val="007C78"/>
            </a:solidFill>
          </a:ln>
          <a:effectLst/>
        </p:spPr>
      </p:cxnSp>
      <p:cxnSp>
        <p:nvCxnSpPr>
          <p:cNvPr id="24" name="Connector 23"/>
          <p:cNvCxnSpPr/>
          <p:nvPr/>
        </p:nvCxnSpPr>
        <p:spPr>
          <a:xfrm flipV="1">
            <a:off x="7894320" y="2164080"/>
            <a:ext cx="0" cy="1120139"/>
          </a:xfrm>
          <a:prstGeom prst="line">
            <a:avLst/>
          </a:prstGeom>
          <a:ln w="15240">
            <a:solidFill>
              <a:srgbClr val="007C78"/>
            </a:solidFill>
          </a:ln>
          <a:effectLst/>
        </p:spPr>
      </p:cxnSp>
      <p:cxnSp>
        <p:nvCxnSpPr>
          <p:cNvPr id="25" name="Connector 24"/>
          <p:cNvCxnSpPr/>
          <p:nvPr/>
        </p:nvCxnSpPr>
        <p:spPr>
          <a:xfrm>
            <a:off x="7894320" y="2164080"/>
            <a:ext cx="510540" cy="0"/>
          </a:xfrm>
          <a:prstGeom prst="line">
            <a:avLst/>
          </a:prstGeom>
          <a:ln w="15240">
            <a:solidFill>
              <a:srgbClr val="007C78"/>
            </a:solidFill>
          </a:ln>
          <a:effectLst/>
        </p:spPr>
      </p:cxnSp>
      <p:sp>
        <p:nvSpPr>
          <p:cNvPr id="26" name="Freeform 25"/>
          <p:cNvSpPr/>
          <p:nvPr/>
        </p:nvSpPr>
        <p:spPr>
          <a:xfrm>
            <a:off x="8305800" y="2125980"/>
            <a:ext cx="99060" cy="76200"/>
          </a:xfrm>
          <a:custGeom>
            <a:avLst/>
            <a:gdLst/>
            <a:ahLst/>
            <a:cxnLst/>
            <a:rect l="l" t="t" r="r" b="b"/>
            <a:pathLst>
              <a:path w="13" h="10">
                <a:moveTo>
                  <a:pt x="13" y="5"/>
                </a:moveTo>
                <a:lnTo>
                  <a:pt x="0" y="0"/>
                </a:lnTo>
                <a:lnTo>
                  <a:pt x="0" y="10"/>
                </a:lnTo>
                <a:close/>
              </a:path>
            </a:pathLst>
          </a:custGeom>
          <a:solidFill>
            <a:srgbClr val="007C78"/>
          </a:solidFill>
          <a:ln>
            <a:noFill/>
          </a:ln>
          <a:effectLst/>
        </p:spPr>
        <p:txBody>
          <a:bodyPr rtlCol="0" anchor="ctr"/>
          <a:lstStyle/>
          <a:p>
            <a:pPr algn="ctr"/>
          </a:p>
        </p:txBody>
      </p:sp>
      <p:sp>
        <p:nvSpPr>
          <p:cNvPr id="27" name="Rounded Rectangle 26"/>
          <p:cNvSpPr/>
          <p:nvPr/>
        </p:nvSpPr>
        <p:spPr>
          <a:xfrm>
            <a:off x="8404860" y="2705100"/>
            <a:ext cx="3238500" cy="1005840"/>
          </a:xfrm>
          <a:prstGeom prst="roundRect">
            <a:avLst>
              <a:gd name="adj" fmla="val 9848"/>
            </a:avLst>
          </a:prstGeom>
          <a:solidFill>
            <a:srgbClr val="FFFFFF"/>
          </a:solidFill>
          <a:ln w="7620">
            <a:solidFill>
              <a:srgbClr val="007C78"/>
            </a:solidFill>
          </a:ln>
          <a:effectLst/>
        </p:spPr>
        <p:txBody>
          <a:bodyPr rtlCol="0" anchor="ctr"/>
          <a:lstStyle/>
          <a:p>
            <a:pPr algn="ctr"/>
          </a:p>
        </p:txBody>
      </p:sp>
      <p:sp>
        <p:nvSpPr>
          <p:cNvPr id="28" name="TextBox 27"/>
          <p:cNvSpPr txBox="1"/>
          <p:nvPr/>
        </p:nvSpPr>
        <p:spPr>
          <a:xfrm>
            <a:off x="8572500" y="2872740"/>
            <a:ext cx="290322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007C78"/>
                </a:solidFill>
                <a:latin typeface="DejaVu Sans"/>
              </a:rPr>
              <a:t>Own signed-intent journal</a:t>
            </a:r>
          </a:p>
        </p:txBody>
      </p:sp>
      <p:sp>
        <p:nvSpPr>
          <p:cNvPr id="29" name="TextBox 28"/>
          <p:cNvSpPr txBox="1"/>
          <p:nvPr/>
        </p:nvSpPr>
        <p:spPr>
          <a:xfrm>
            <a:off x="8572500" y="3192779"/>
            <a:ext cx="290322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a:rPr>
              <a:t>Logical plan → signed bytes →</a:t>
            </a:r>
          </a:p>
        </p:txBody>
      </p:sp>
      <p:sp>
        <p:nvSpPr>
          <p:cNvPr id="30" name="TextBox 29"/>
          <p:cNvSpPr txBox="1"/>
          <p:nvPr/>
        </p:nvSpPr>
        <p:spPr>
          <a:xfrm>
            <a:off x="8572500" y="3397605"/>
            <a:ext cx="290322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a:rPr>
              <a:t>observations</a:t>
            </a:r>
          </a:p>
        </p:txBody>
      </p:sp>
      <p:cxnSp>
        <p:nvCxnSpPr>
          <p:cNvPr id="31" name="Connector 30"/>
          <p:cNvCxnSpPr/>
          <p:nvPr/>
        </p:nvCxnSpPr>
        <p:spPr>
          <a:xfrm>
            <a:off x="7467600" y="3284219"/>
            <a:ext cx="426720" cy="0"/>
          </a:xfrm>
          <a:prstGeom prst="line">
            <a:avLst/>
          </a:prstGeom>
          <a:ln w="15240">
            <a:solidFill>
              <a:srgbClr val="007C78"/>
            </a:solidFill>
          </a:ln>
          <a:effectLst/>
        </p:spPr>
      </p:cxnSp>
      <p:cxnSp>
        <p:nvCxnSpPr>
          <p:cNvPr id="32" name="Connector 31"/>
          <p:cNvCxnSpPr/>
          <p:nvPr/>
        </p:nvCxnSpPr>
        <p:spPr>
          <a:xfrm flipV="1">
            <a:off x="7894320" y="3208020"/>
            <a:ext cx="0" cy="76199"/>
          </a:xfrm>
          <a:prstGeom prst="line">
            <a:avLst/>
          </a:prstGeom>
          <a:ln w="15240">
            <a:solidFill>
              <a:srgbClr val="007C78"/>
            </a:solidFill>
          </a:ln>
          <a:effectLst/>
        </p:spPr>
      </p:cxnSp>
      <p:cxnSp>
        <p:nvCxnSpPr>
          <p:cNvPr id="33" name="Connector 32"/>
          <p:cNvCxnSpPr/>
          <p:nvPr/>
        </p:nvCxnSpPr>
        <p:spPr>
          <a:xfrm>
            <a:off x="7894320" y="3208020"/>
            <a:ext cx="510540" cy="0"/>
          </a:xfrm>
          <a:prstGeom prst="line">
            <a:avLst/>
          </a:prstGeom>
          <a:ln w="15240">
            <a:solidFill>
              <a:srgbClr val="007C78"/>
            </a:solidFill>
          </a:ln>
          <a:effectLst/>
        </p:spPr>
      </p:cxnSp>
      <p:sp>
        <p:nvSpPr>
          <p:cNvPr id="34" name="Freeform 33"/>
          <p:cNvSpPr/>
          <p:nvPr/>
        </p:nvSpPr>
        <p:spPr>
          <a:xfrm>
            <a:off x="8305800" y="3169920"/>
            <a:ext cx="99060" cy="76200"/>
          </a:xfrm>
          <a:custGeom>
            <a:avLst/>
            <a:gdLst/>
            <a:ahLst/>
            <a:cxnLst/>
            <a:rect l="l" t="t" r="r" b="b"/>
            <a:pathLst>
              <a:path w="13" h="10">
                <a:moveTo>
                  <a:pt x="13" y="5"/>
                </a:moveTo>
                <a:lnTo>
                  <a:pt x="0" y="0"/>
                </a:lnTo>
                <a:lnTo>
                  <a:pt x="0" y="10"/>
                </a:lnTo>
                <a:close/>
              </a:path>
            </a:pathLst>
          </a:custGeom>
          <a:solidFill>
            <a:srgbClr val="007C78"/>
          </a:solidFill>
          <a:ln>
            <a:noFill/>
          </a:ln>
          <a:effectLst/>
        </p:spPr>
        <p:txBody>
          <a:bodyPr rtlCol="0" anchor="ctr"/>
          <a:lstStyle/>
          <a:p>
            <a:pPr algn="ctr"/>
          </a:p>
        </p:txBody>
      </p:sp>
      <p:sp>
        <p:nvSpPr>
          <p:cNvPr id="35" name="Rounded Rectangle 34"/>
          <p:cNvSpPr/>
          <p:nvPr/>
        </p:nvSpPr>
        <p:spPr>
          <a:xfrm>
            <a:off x="8404860" y="3749040"/>
            <a:ext cx="3238500" cy="1005840"/>
          </a:xfrm>
          <a:prstGeom prst="roundRect">
            <a:avLst>
              <a:gd name="adj" fmla="val 9848"/>
            </a:avLst>
          </a:prstGeom>
          <a:solidFill>
            <a:srgbClr val="FFFFFF"/>
          </a:solidFill>
          <a:ln w="7620">
            <a:solidFill>
              <a:srgbClr val="007C78"/>
            </a:solidFill>
          </a:ln>
          <a:effectLst/>
        </p:spPr>
        <p:txBody>
          <a:bodyPr rtlCol="0" anchor="ctr"/>
          <a:lstStyle/>
          <a:p>
            <a:pPr algn="ctr"/>
          </a:p>
        </p:txBody>
      </p:sp>
      <p:sp>
        <p:nvSpPr>
          <p:cNvPr id="36" name="TextBox 35"/>
          <p:cNvSpPr txBox="1"/>
          <p:nvPr/>
        </p:nvSpPr>
        <p:spPr>
          <a:xfrm>
            <a:off x="8572500" y="3916679"/>
            <a:ext cx="290322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007C78"/>
                </a:solidFill>
                <a:latin typeface="DejaVu Sans"/>
              </a:rPr>
              <a:t>Pinned F1R3node adapter</a:t>
            </a:r>
          </a:p>
        </p:txBody>
      </p:sp>
      <p:sp>
        <p:nvSpPr>
          <p:cNvPr id="37" name="TextBox 36"/>
          <p:cNvSpPr txBox="1"/>
          <p:nvPr/>
        </p:nvSpPr>
        <p:spPr>
          <a:xfrm>
            <a:off x="8572500" y="4236720"/>
            <a:ext cx="290322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a:rPr>
              <a:t>Real isolated local RPC and</a:t>
            </a:r>
          </a:p>
        </p:txBody>
      </p:sp>
      <p:sp>
        <p:nvSpPr>
          <p:cNvPr id="38" name="TextBox 37"/>
          <p:cNvSpPr txBox="1"/>
          <p:nvPr/>
        </p:nvSpPr>
        <p:spPr>
          <a:xfrm>
            <a:off x="8572500" y="4441545"/>
            <a:ext cx="290322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a:rPr>
              <a:t>readback</a:t>
            </a:r>
          </a:p>
        </p:txBody>
      </p:sp>
      <p:cxnSp>
        <p:nvCxnSpPr>
          <p:cNvPr id="39" name="Connector 38"/>
          <p:cNvCxnSpPr/>
          <p:nvPr/>
        </p:nvCxnSpPr>
        <p:spPr>
          <a:xfrm>
            <a:off x="7467600" y="3284219"/>
            <a:ext cx="426720" cy="0"/>
          </a:xfrm>
          <a:prstGeom prst="line">
            <a:avLst/>
          </a:prstGeom>
          <a:ln w="15240">
            <a:solidFill>
              <a:srgbClr val="007C78"/>
            </a:solidFill>
          </a:ln>
          <a:effectLst/>
        </p:spPr>
      </p:cxnSp>
      <p:cxnSp>
        <p:nvCxnSpPr>
          <p:cNvPr id="40" name="Connector 39"/>
          <p:cNvCxnSpPr/>
          <p:nvPr/>
        </p:nvCxnSpPr>
        <p:spPr>
          <a:xfrm>
            <a:off x="7894320" y="3284219"/>
            <a:ext cx="0" cy="967741"/>
          </a:xfrm>
          <a:prstGeom prst="line">
            <a:avLst/>
          </a:prstGeom>
          <a:ln w="15240">
            <a:solidFill>
              <a:srgbClr val="007C78"/>
            </a:solidFill>
          </a:ln>
          <a:effectLst/>
        </p:spPr>
      </p:cxnSp>
      <p:cxnSp>
        <p:nvCxnSpPr>
          <p:cNvPr id="41" name="Connector 40"/>
          <p:cNvCxnSpPr/>
          <p:nvPr/>
        </p:nvCxnSpPr>
        <p:spPr>
          <a:xfrm>
            <a:off x="7894320" y="4251960"/>
            <a:ext cx="510540" cy="0"/>
          </a:xfrm>
          <a:prstGeom prst="line">
            <a:avLst/>
          </a:prstGeom>
          <a:ln w="15240">
            <a:solidFill>
              <a:srgbClr val="007C78"/>
            </a:solidFill>
          </a:ln>
          <a:effectLst/>
        </p:spPr>
      </p:cxnSp>
      <p:sp>
        <p:nvSpPr>
          <p:cNvPr id="42" name="Freeform 41"/>
          <p:cNvSpPr/>
          <p:nvPr/>
        </p:nvSpPr>
        <p:spPr>
          <a:xfrm>
            <a:off x="8305800" y="4213860"/>
            <a:ext cx="99060" cy="76200"/>
          </a:xfrm>
          <a:custGeom>
            <a:avLst/>
            <a:gdLst/>
            <a:ahLst/>
            <a:cxnLst/>
            <a:rect l="l" t="t" r="r" b="b"/>
            <a:pathLst>
              <a:path w="13" h="10">
                <a:moveTo>
                  <a:pt x="13" y="5"/>
                </a:moveTo>
                <a:lnTo>
                  <a:pt x="0" y="0"/>
                </a:lnTo>
                <a:lnTo>
                  <a:pt x="0" y="10"/>
                </a:lnTo>
                <a:close/>
              </a:path>
            </a:pathLst>
          </a:custGeom>
          <a:solidFill>
            <a:srgbClr val="007C78"/>
          </a:solidFill>
          <a:ln>
            <a:noFill/>
          </a:ln>
          <a:effectLst/>
        </p:spPr>
        <p:txBody>
          <a:bodyPr rtlCol="0" anchor="ctr"/>
          <a:lstStyle/>
          <a:p>
            <a:pPr algn="ctr"/>
          </a:p>
        </p:txBody>
      </p:sp>
      <p:sp>
        <p:nvSpPr>
          <p:cNvPr id="43" name="Rounded Rectangle 42"/>
          <p:cNvSpPr/>
          <p:nvPr/>
        </p:nvSpPr>
        <p:spPr>
          <a:xfrm>
            <a:off x="8404860" y="4792980"/>
            <a:ext cx="3238500" cy="1005840"/>
          </a:xfrm>
          <a:prstGeom prst="roundRect">
            <a:avLst>
              <a:gd name="adj" fmla="val 9848"/>
            </a:avLst>
          </a:prstGeom>
          <a:solidFill>
            <a:srgbClr val="FFFFFF"/>
          </a:solidFill>
          <a:ln w="7620">
            <a:solidFill>
              <a:srgbClr val="007C78"/>
            </a:solidFill>
          </a:ln>
          <a:effectLst/>
        </p:spPr>
        <p:txBody>
          <a:bodyPr rtlCol="0" anchor="ctr"/>
          <a:lstStyle/>
          <a:p>
            <a:pPr algn="ctr"/>
          </a:p>
        </p:txBody>
      </p:sp>
      <p:sp>
        <p:nvSpPr>
          <p:cNvPr id="44" name="TextBox 43"/>
          <p:cNvSpPr txBox="1"/>
          <p:nvPr/>
        </p:nvSpPr>
        <p:spPr>
          <a:xfrm>
            <a:off x="8572500" y="4960620"/>
            <a:ext cx="290322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1">
                <a:solidFill>
                  <a:srgbClr val="007C78"/>
                </a:solidFill>
                <a:latin typeface="DejaVu Sans"/>
              </a:rPr>
              <a:t>Current authorization</a:t>
            </a:r>
          </a:p>
        </p:txBody>
      </p:sp>
      <p:sp>
        <p:nvSpPr>
          <p:cNvPr id="45" name="TextBox 44"/>
          <p:cNvSpPr txBox="1"/>
          <p:nvPr/>
        </p:nvSpPr>
        <p:spPr>
          <a:xfrm>
            <a:off x="8572500" y="5300167"/>
            <a:ext cx="290322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Recheck new calls and replay</a:t>
            </a:r>
          </a:p>
        </p:txBody>
      </p:sp>
      <p:cxnSp>
        <p:nvCxnSpPr>
          <p:cNvPr id="46" name="Connector 45"/>
          <p:cNvCxnSpPr/>
          <p:nvPr/>
        </p:nvCxnSpPr>
        <p:spPr>
          <a:xfrm>
            <a:off x="7467600" y="3284219"/>
            <a:ext cx="426720" cy="0"/>
          </a:xfrm>
          <a:prstGeom prst="line">
            <a:avLst/>
          </a:prstGeom>
          <a:ln w="15240">
            <a:solidFill>
              <a:srgbClr val="007C78"/>
            </a:solidFill>
          </a:ln>
          <a:effectLst/>
        </p:spPr>
      </p:cxnSp>
      <p:cxnSp>
        <p:nvCxnSpPr>
          <p:cNvPr id="47" name="Connector 46"/>
          <p:cNvCxnSpPr/>
          <p:nvPr/>
        </p:nvCxnSpPr>
        <p:spPr>
          <a:xfrm>
            <a:off x="7894320" y="3284219"/>
            <a:ext cx="0" cy="2011681"/>
          </a:xfrm>
          <a:prstGeom prst="line">
            <a:avLst/>
          </a:prstGeom>
          <a:ln w="15240">
            <a:solidFill>
              <a:srgbClr val="007C78"/>
            </a:solidFill>
          </a:ln>
          <a:effectLst/>
        </p:spPr>
      </p:cxnSp>
      <p:cxnSp>
        <p:nvCxnSpPr>
          <p:cNvPr id="48" name="Connector 47"/>
          <p:cNvCxnSpPr/>
          <p:nvPr/>
        </p:nvCxnSpPr>
        <p:spPr>
          <a:xfrm>
            <a:off x="7894320" y="5295900"/>
            <a:ext cx="510540" cy="0"/>
          </a:xfrm>
          <a:prstGeom prst="line">
            <a:avLst/>
          </a:prstGeom>
          <a:ln w="15240">
            <a:solidFill>
              <a:srgbClr val="007C78"/>
            </a:solidFill>
          </a:ln>
          <a:effectLst/>
        </p:spPr>
      </p:cxnSp>
      <p:sp>
        <p:nvSpPr>
          <p:cNvPr id="49" name="Freeform 48"/>
          <p:cNvSpPr/>
          <p:nvPr/>
        </p:nvSpPr>
        <p:spPr>
          <a:xfrm>
            <a:off x="8305800" y="5257800"/>
            <a:ext cx="99060" cy="76200"/>
          </a:xfrm>
          <a:custGeom>
            <a:avLst/>
            <a:gdLst/>
            <a:ahLst/>
            <a:cxnLst/>
            <a:rect l="l" t="t" r="r" b="b"/>
            <a:pathLst>
              <a:path w="13" h="10">
                <a:moveTo>
                  <a:pt x="13" y="5"/>
                </a:moveTo>
                <a:lnTo>
                  <a:pt x="0" y="0"/>
                </a:lnTo>
                <a:lnTo>
                  <a:pt x="0" y="10"/>
                </a:lnTo>
                <a:close/>
              </a:path>
            </a:pathLst>
          </a:custGeom>
          <a:solidFill>
            <a:srgbClr val="007C78"/>
          </a:solidFill>
          <a:ln>
            <a:noFill/>
          </a:ln>
          <a:effectLst/>
        </p:spPr>
        <p:txBody>
          <a:bodyPr rtlCol="0" anchor="ctr"/>
          <a:lstStyle/>
          <a:p>
            <a:pPr algn="ctr"/>
          </a:p>
        </p:txBody>
      </p:sp>
      <p:sp>
        <p:nvSpPr>
          <p:cNvPr id="50" name="Rounded Rectangle 49"/>
          <p:cNvSpPr/>
          <p:nvPr/>
        </p:nvSpPr>
        <p:spPr>
          <a:xfrm>
            <a:off x="548640" y="5829300"/>
            <a:ext cx="11094720" cy="403859"/>
          </a:xfrm>
          <a:prstGeom prst="roundRect">
            <a:avLst>
              <a:gd name="adj" fmla="val 15094"/>
            </a:avLst>
          </a:prstGeom>
          <a:solidFill>
            <a:srgbClr val="E7ECEB"/>
          </a:solidFill>
          <a:ln>
            <a:noFill/>
          </a:ln>
          <a:effectLst/>
        </p:spPr>
        <p:txBody>
          <a:bodyPr rtlCol="0" anchor="ctr"/>
          <a:lstStyle/>
          <a:p>
            <a:pPr algn="ctr"/>
          </a:p>
        </p:txBody>
      </p:sp>
      <p:sp>
        <p:nvSpPr>
          <p:cNvPr id="51" name="TextBox 50"/>
          <p:cNvSpPr txBox="1"/>
          <p:nvPr/>
        </p:nvSpPr>
        <p:spPr>
          <a:xfrm>
            <a:off x="716280" y="5905500"/>
            <a:ext cx="1074420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102B3F"/>
                </a:solidFill>
                <a:latin typeface="DejaVu Sans"/>
              </a:rPr>
              <a:t>One responsibility does not imply one process. A dependency does not grant access to its private tables.</a:t>
            </a:r>
          </a:p>
        </p:txBody>
      </p:sp>
      <p:cxnSp>
        <p:nvCxnSpPr>
          <p:cNvPr id="52" name="Connector 51"/>
          <p:cNvCxnSpPr/>
          <p:nvPr/>
        </p:nvCxnSpPr>
        <p:spPr>
          <a:xfrm>
            <a:off x="548640" y="6393180"/>
            <a:ext cx="11094720" cy="0"/>
          </a:xfrm>
          <a:prstGeom prst="line">
            <a:avLst/>
          </a:prstGeom>
          <a:ln w="7620">
            <a:solidFill>
              <a:srgbClr val="C9D2D4"/>
            </a:solidFill>
          </a:ln>
          <a:effectLst/>
        </p:spPr>
      </p:cxnSp>
      <p:sp>
        <p:nvSpPr>
          <p:cNvPr id="53" name="TextBox 52"/>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ConsensusFinality · M5 source bfb0ec8</a:t>
            </a:r>
          </a:p>
        </p:txBody>
      </p:sp>
      <p:sp>
        <p:nvSpPr>
          <p:cNvPr id="54" name="TextBox 53"/>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03 / 12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03 / OWNERSHIP</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Responsibility, state and scope</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The owner is authoritative for its own state; other responsibilities are deliberately separate.</a:t>
            </a:r>
          </a:p>
        </p:txBody>
      </p:sp>
      <p:sp>
        <p:nvSpPr>
          <p:cNvPr id="5" name="TextBox 4"/>
          <p:cNvSpPr txBox="1"/>
          <p:nvPr/>
        </p:nvSpPr>
        <p:spPr>
          <a:xfrm>
            <a:off x="640080" y="1775459"/>
            <a:ext cx="5257800" cy="195072"/>
          </a:xfrm>
          <a:prstGeom prst="rect">
            <a:avLst/>
          </a:prstGeom>
          <a:noFill/>
        </p:spPr>
        <p:txBody>
          <a:bodyPr wrap="none" lIns="0" rIns="0" tIns="0" bIns="0" anchor="t" anchorCtr="0">
            <a:noAutofit/>
          </a:bodyPr>
          <a:lstStyle/>
          <a:p>
            <a:pPr algn="l">
              <a:lnSpc>
                <a:spcPct val="100000"/>
              </a:lnSpc>
              <a:spcBef>
                <a:spcPts val="0"/>
              </a:spcBef>
              <a:spcAft>
                <a:spcPts val="0"/>
              </a:spcAft>
            </a:pPr>
            <a:r>
              <a:rPr sz="1200" b="1">
                <a:solidFill>
                  <a:srgbClr val="315E9C"/>
                </a:solidFill>
                <a:latin typeface="DejaVu Sans"/>
              </a:rPr>
              <a:t>OWNS / GUARANTEES</a:t>
            </a:r>
          </a:p>
        </p:txBody>
      </p:sp>
      <p:sp>
        <p:nvSpPr>
          <p:cNvPr id="6" name="Rounded Rectangle 5"/>
          <p:cNvSpPr/>
          <p:nvPr/>
        </p:nvSpPr>
        <p:spPr>
          <a:xfrm>
            <a:off x="548640" y="2133600"/>
            <a:ext cx="5425440" cy="1447800"/>
          </a:xfrm>
          <a:prstGeom prst="roundRect">
            <a:avLst>
              <a:gd name="adj" fmla="val 6842"/>
            </a:avLst>
          </a:prstGeom>
          <a:solidFill>
            <a:srgbClr val="E4EBF5"/>
          </a:solidFill>
          <a:ln w="7620">
            <a:solidFill>
              <a:srgbClr val="315E9C"/>
            </a:solidFill>
          </a:ln>
          <a:effectLst/>
        </p:spPr>
        <p:txBody>
          <a:bodyPr rtlCol="0" anchor="ctr"/>
          <a:lstStyle/>
          <a:p>
            <a:pPr algn="ctr"/>
          </a:p>
        </p:txBody>
      </p:sp>
      <p:sp>
        <p:nvSpPr>
          <p:cNvPr id="7" name="TextBox 6"/>
          <p:cNvSpPr txBox="1"/>
          <p:nvPr/>
        </p:nvSpPr>
        <p:spPr>
          <a:xfrm>
            <a:off x="716280" y="2301240"/>
            <a:ext cx="509016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315E9C"/>
                </a:solidFill>
                <a:latin typeface="DejaVu Sans"/>
              </a:rPr>
              <a:t>Logical and signed intents</a:t>
            </a:r>
          </a:p>
        </p:txBody>
      </p:sp>
      <p:sp>
        <p:nvSpPr>
          <p:cNvPr id="8" name="TextBox 7"/>
          <p:cNvSpPr txBox="1"/>
          <p:nvPr/>
        </p:nvSpPr>
        <p:spPr>
          <a:xfrm>
            <a:off x="716280" y="2679801"/>
            <a:ext cx="5090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Stable timestamp, deployment identity and full</a:t>
            </a:r>
          </a:p>
        </p:txBody>
      </p:sp>
      <p:sp>
        <p:nvSpPr>
          <p:cNvPr id="9" name="TextBox 8"/>
          <p:cNvSpPr txBox="1"/>
          <p:nvPr/>
        </p:nvSpPr>
        <p:spPr>
          <a:xfrm>
            <a:off x="716280" y="2933395"/>
            <a:ext cx="5090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signed request</a:t>
            </a:r>
          </a:p>
        </p:txBody>
      </p:sp>
      <p:sp>
        <p:nvSpPr>
          <p:cNvPr id="10" name="Rounded Rectangle 9"/>
          <p:cNvSpPr/>
          <p:nvPr/>
        </p:nvSpPr>
        <p:spPr>
          <a:xfrm>
            <a:off x="548640" y="3764279"/>
            <a:ext cx="5425440" cy="1447800"/>
          </a:xfrm>
          <a:prstGeom prst="roundRect">
            <a:avLst>
              <a:gd name="adj" fmla="val 6842"/>
            </a:avLst>
          </a:prstGeom>
          <a:solidFill>
            <a:srgbClr val="E4EBF5"/>
          </a:solidFill>
          <a:ln w="7620">
            <a:solidFill>
              <a:srgbClr val="315E9C"/>
            </a:solidFill>
          </a:ln>
          <a:effectLst/>
        </p:spPr>
        <p:txBody>
          <a:bodyPr rtlCol="0" anchor="ctr"/>
          <a:lstStyle/>
          <a:p>
            <a:pPr algn="ctr"/>
          </a:p>
        </p:txBody>
      </p:sp>
      <p:sp>
        <p:nvSpPr>
          <p:cNvPr id="11" name="TextBox 10"/>
          <p:cNvSpPr txBox="1"/>
          <p:nvPr/>
        </p:nvSpPr>
        <p:spPr>
          <a:xfrm>
            <a:off x="716280" y="3931919"/>
            <a:ext cx="509016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315E9C"/>
                </a:solidFill>
                <a:latin typeface="DejaVu Sans"/>
              </a:rPr>
              <a:t>Verified observations</a:t>
            </a:r>
          </a:p>
        </p:txBody>
      </p:sp>
      <p:sp>
        <p:nvSpPr>
          <p:cNvPr id="12" name="TextBox 11"/>
          <p:cNvSpPr txBox="1"/>
          <p:nvPr/>
        </p:nvSpPr>
        <p:spPr>
          <a:xfrm>
            <a:off x="716280" y="4310481"/>
            <a:ext cx="5090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Exact approved tuple, inclusion block/post-state</a:t>
            </a:r>
          </a:p>
        </p:txBody>
      </p:sp>
      <p:sp>
        <p:nvSpPr>
          <p:cNvPr id="13" name="TextBox 12"/>
          <p:cNvSpPr txBox="1"/>
          <p:nvPr/>
        </p:nvSpPr>
        <p:spPr>
          <a:xfrm>
            <a:off x="716280" y="4564075"/>
            <a:ext cx="5090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and matching deploy effect</a:t>
            </a:r>
          </a:p>
        </p:txBody>
      </p:sp>
      <p:sp>
        <p:nvSpPr>
          <p:cNvPr id="14" name="TextBox 13"/>
          <p:cNvSpPr txBox="1"/>
          <p:nvPr/>
        </p:nvSpPr>
        <p:spPr>
          <a:xfrm>
            <a:off x="6309359" y="1775459"/>
            <a:ext cx="5257800" cy="195072"/>
          </a:xfrm>
          <a:prstGeom prst="rect">
            <a:avLst/>
          </a:prstGeom>
          <a:noFill/>
        </p:spPr>
        <p:txBody>
          <a:bodyPr wrap="none" lIns="0" rIns="0" tIns="0" bIns="0" anchor="t" anchorCtr="0">
            <a:noAutofit/>
          </a:bodyPr>
          <a:lstStyle/>
          <a:p>
            <a:pPr algn="l">
              <a:lnSpc>
                <a:spcPct val="100000"/>
              </a:lnSpc>
              <a:spcBef>
                <a:spcPts val="0"/>
              </a:spcBef>
              <a:spcAft>
                <a:spcPts val="0"/>
              </a:spcAft>
            </a:pPr>
            <a:r>
              <a:rPr sz="1200" b="1">
                <a:solidFill>
                  <a:srgbClr val="A86A15"/>
                </a:solidFill>
                <a:latin typeface="DejaVu Sans"/>
              </a:rPr>
              <a:t>OUTSIDE THIS RESPONSIBILITY</a:t>
            </a:r>
          </a:p>
        </p:txBody>
      </p:sp>
      <p:sp>
        <p:nvSpPr>
          <p:cNvPr id="15" name="Rounded Rectangle 14"/>
          <p:cNvSpPr/>
          <p:nvPr/>
        </p:nvSpPr>
        <p:spPr>
          <a:xfrm>
            <a:off x="6217920" y="2133600"/>
            <a:ext cx="5425440" cy="1447800"/>
          </a:xfrm>
          <a:prstGeom prst="roundRect">
            <a:avLst>
              <a:gd name="adj" fmla="val 6842"/>
            </a:avLst>
          </a:prstGeom>
          <a:solidFill>
            <a:srgbClr val="F3E7CE"/>
          </a:solidFill>
          <a:ln w="7620">
            <a:solidFill>
              <a:srgbClr val="A86A15"/>
            </a:solidFill>
          </a:ln>
          <a:effectLst/>
        </p:spPr>
        <p:txBody>
          <a:bodyPr rtlCol="0" anchor="ctr"/>
          <a:lstStyle/>
          <a:p>
            <a:pPr algn="ctr"/>
          </a:p>
        </p:txBody>
      </p:sp>
      <p:sp>
        <p:nvSpPr>
          <p:cNvPr id="16" name="TextBox 15"/>
          <p:cNvSpPr txBox="1"/>
          <p:nvPr/>
        </p:nvSpPr>
        <p:spPr>
          <a:xfrm>
            <a:off x="6385559" y="2301240"/>
            <a:ext cx="509016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A86A15"/>
                </a:solidFill>
                <a:latin typeface="DejaVu Sans"/>
              </a:rPr>
              <a:t>Consensus implementation</a:t>
            </a:r>
          </a:p>
        </p:txBody>
      </p:sp>
      <p:sp>
        <p:nvSpPr>
          <p:cNvPr id="17" name="TextBox 16"/>
          <p:cNvSpPr txBox="1"/>
          <p:nvPr/>
        </p:nvSpPr>
        <p:spPr>
          <a:xfrm>
            <a:off x="6385559" y="2679801"/>
            <a:ext cx="5090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No rewritten consensus, public network or new M5</a:t>
            </a:r>
          </a:p>
        </p:txBody>
      </p:sp>
      <p:sp>
        <p:nvSpPr>
          <p:cNvPr id="18" name="TextBox 17"/>
          <p:cNvSpPr txBox="1"/>
          <p:nvPr/>
        </p:nvSpPr>
        <p:spPr>
          <a:xfrm>
            <a:off x="6385559" y="2933395"/>
            <a:ext cx="5090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chain operation</a:t>
            </a:r>
          </a:p>
        </p:txBody>
      </p:sp>
      <p:sp>
        <p:nvSpPr>
          <p:cNvPr id="19" name="Rounded Rectangle 18"/>
          <p:cNvSpPr/>
          <p:nvPr/>
        </p:nvSpPr>
        <p:spPr>
          <a:xfrm>
            <a:off x="6217920" y="3764279"/>
            <a:ext cx="5425440" cy="1447800"/>
          </a:xfrm>
          <a:prstGeom prst="roundRect">
            <a:avLst>
              <a:gd name="adj" fmla="val 6842"/>
            </a:avLst>
          </a:prstGeom>
          <a:solidFill>
            <a:srgbClr val="F3E7CE"/>
          </a:solidFill>
          <a:ln w="7620">
            <a:solidFill>
              <a:srgbClr val="A86A15"/>
            </a:solidFill>
          </a:ln>
          <a:effectLst/>
        </p:spPr>
        <p:txBody>
          <a:bodyPr rtlCol="0" anchor="ctr"/>
          <a:lstStyle/>
          <a:p>
            <a:pPr algn="ctr"/>
          </a:p>
        </p:txBody>
      </p:sp>
      <p:sp>
        <p:nvSpPr>
          <p:cNvPr id="20" name="TextBox 19"/>
          <p:cNvSpPr txBox="1"/>
          <p:nvPr/>
        </p:nvSpPr>
        <p:spPr>
          <a:xfrm>
            <a:off x="6385559" y="3931919"/>
            <a:ext cx="509016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A86A15"/>
                </a:solidFill>
                <a:latin typeface="DejaVu Sans"/>
              </a:rPr>
              <a:t>Cognitive correctness</a:t>
            </a:r>
          </a:p>
        </p:txBody>
      </p:sp>
      <p:sp>
        <p:nvSpPr>
          <p:cNvPr id="21" name="TextBox 20"/>
          <p:cNvSpPr txBox="1"/>
          <p:nvPr/>
        </p:nvSpPr>
        <p:spPr>
          <a:xfrm>
            <a:off x="6385559" y="4310481"/>
            <a:ext cx="5090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Finality does not prove reasoning, belief truth or</a:t>
            </a:r>
          </a:p>
        </p:txBody>
      </p:sp>
      <p:sp>
        <p:nvSpPr>
          <p:cNvPr id="22" name="TextBox 21"/>
          <p:cNvSpPr txBox="1"/>
          <p:nvPr/>
        </p:nvSpPr>
        <p:spPr>
          <a:xfrm>
            <a:off x="6385559" y="4564075"/>
            <a:ext cx="5090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off-chain retention</a:t>
            </a:r>
          </a:p>
        </p:txBody>
      </p:sp>
      <p:sp>
        <p:nvSpPr>
          <p:cNvPr id="23" name="Rounded Rectangle 22"/>
          <p:cNvSpPr/>
          <p:nvPr/>
        </p:nvSpPr>
        <p:spPr>
          <a:xfrm>
            <a:off x="548640" y="5829300"/>
            <a:ext cx="11094720" cy="403859"/>
          </a:xfrm>
          <a:prstGeom prst="roundRect">
            <a:avLst>
              <a:gd name="adj" fmla="val 15094"/>
            </a:avLst>
          </a:prstGeom>
          <a:solidFill>
            <a:srgbClr val="E7ECEB"/>
          </a:solidFill>
          <a:ln>
            <a:noFill/>
          </a:ln>
          <a:effectLst/>
        </p:spPr>
        <p:txBody>
          <a:bodyPr rtlCol="0" anchor="ctr"/>
          <a:lstStyle/>
          <a:p>
            <a:pPr algn="ctr"/>
          </a:p>
        </p:txBody>
      </p:sp>
      <p:sp>
        <p:nvSpPr>
          <p:cNvPr id="24" name="TextBox 23"/>
          <p:cNvSpPr txBox="1"/>
          <p:nvPr/>
        </p:nvSpPr>
        <p:spPr>
          <a:xfrm>
            <a:off x="716280" y="5905500"/>
            <a:ext cx="107442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f1r3-generated-post-state/2 · clean F1R3node 9ec1096 · fresh journal</a:t>
            </a:r>
          </a:p>
        </p:txBody>
      </p:sp>
      <p:cxnSp>
        <p:nvCxnSpPr>
          <p:cNvPr id="25" name="Connector 24"/>
          <p:cNvCxnSpPr/>
          <p:nvPr/>
        </p:nvCxnSpPr>
        <p:spPr>
          <a:xfrm>
            <a:off x="548640" y="6393180"/>
            <a:ext cx="11094720" cy="0"/>
          </a:xfrm>
          <a:prstGeom prst="line">
            <a:avLst/>
          </a:prstGeom>
          <a:ln w="7620">
            <a:solidFill>
              <a:srgbClr val="C9D2D4"/>
            </a:solidFill>
          </a:ln>
          <a:effectLst/>
        </p:spPr>
      </p:cxnSp>
      <p:sp>
        <p:nvSpPr>
          <p:cNvPr id="26" name="TextBox 25"/>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ConsensusFinality · M5 source bfb0ec8</a:t>
            </a:r>
          </a:p>
        </p:txBody>
      </p:sp>
      <p:sp>
        <p:nvSpPr>
          <p:cNvPr id="27" name="TextBox 26"/>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04 / 12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04 / CONTRACT</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The executable surface</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These operations and implementation seams define the supported scope; versions and profiles remain explicit.</a:t>
            </a:r>
          </a:p>
        </p:txBody>
      </p:sp>
      <p:sp>
        <p:nvSpPr>
          <p:cNvPr id="5" name="TextBox 4"/>
          <p:cNvSpPr txBox="1"/>
          <p:nvPr/>
        </p:nvSpPr>
        <p:spPr>
          <a:xfrm>
            <a:off x="670560" y="1790700"/>
            <a:ext cx="28041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OPERATION / SEAM</a:t>
            </a:r>
          </a:p>
        </p:txBody>
      </p:sp>
      <p:sp>
        <p:nvSpPr>
          <p:cNvPr id="6" name="TextBox 5"/>
          <p:cNvSpPr txBox="1"/>
          <p:nvPr/>
        </p:nvSpPr>
        <p:spPr>
          <a:xfrm>
            <a:off x="3718560" y="1790700"/>
            <a:ext cx="38328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RESPONSIBILITY</a:t>
            </a:r>
          </a:p>
        </p:txBody>
      </p:sp>
      <p:sp>
        <p:nvSpPr>
          <p:cNvPr id="7" name="TextBox 6"/>
          <p:cNvSpPr txBox="1"/>
          <p:nvPr/>
        </p:nvSpPr>
        <p:spPr>
          <a:xfrm>
            <a:off x="7795259" y="1790700"/>
            <a:ext cx="3726179"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CONTRACT CONSEQUENCE</a:t>
            </a:r>
          </a:p>
        </p:txBody>
      </p:sp>
      <p:sp>
        <p:nvSpPr>
          <p:cNvPr id="8" name="Rounded Rectangle 7"/>
          <p:cNvSpPr/>
          <p:nvPr/>
        </p:nvSpPr>
        <p:spPr>
          <a:xfrm>
            <a:off x="548640" y="2110740"/>
            <a:ext cx="11094720" cy="792480"/>
          </a:xfrm>
          <a:prstGeom prst="roundRect">
            <a:avLst>
              <a:gd name="adj" fmla="val 5769"/>
            </a:avLst>
          </a:prstGeom>
          <a:solidFill>
            <a:srgbClr val="FFFFFF"/>
          </a:solidFill>
          <a:ln>
            <a:noFill/>
          </a:ln>
          <a:effectLst/>
        </p:spPr>
        <p:txBody>
          <a:bodyPr rtlCol="0" anchor="ctr"/>
          <a:lstStyle/>
          <a:p>
            <a:pPr algn="ctr"/>
          </a:p>
        </p:txBody>
      </p:sp>
      <p:sp>
        <p:nvSpPr>
          <p:cNvPr id="9" name="TextBox 8"/>
          <p:cNvSpPr txBox="1"/>
          <p:nvPr/>
        </p:nvSpPr>
        <p:spPr>
          <a:xfrm>
            <a:off x="670560" y="2240280"/>
            <a:ext cx="28041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submit</a:t>
            </a:r>
          </a:p>
        </p:txBody>
      </p:sp>
      <p:sp>
        <p:nvSpPr>
          <p:cNvPr id="10" name="TextBox 9"/>
          <p:cNvSpPr txBox="1"/>
          <p:nvPr/>
        </p:nvSpPr>
        <p:spPr>
          <a:xfrm>
            <a:off x="3718560" y="2240280"/>
            <a:ext cx="3832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Validate approval; persist plan before</a:t>
            </a:r>
          </a:p>
        </p:txBody>
      </p:sp>
      <p:sp>
        <p:nvSpPr>
          <p:cNvPr id="11" name="TextBox 10"/>
          <p:cNvSpPr txBox="1"/>
          <p:nvPr/>
        </p:nvSpPr>
        <p:spPr>
          <a:xfrm>
            <a:off x="3718560" y="2484120"/>
            <a:ext cx="3832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signing, bytes before send</a:t>
            </a:r>
          </a:p>
        </p:txBody>
      </p:sp>
      <p:sp>
        <p:nvSpPr>
          <p:cNvPr id="12" name="TextBox 11"/>
          <p:cNvSpPr txBox="1"/>
          <p:nvPr/>
        </p:nvSpPr>
        <p:spPr>
          <a:xfrm>
            <a:off x="7795259" y="2240280"/>
            <a:ext cx="37261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Replay reuses the exact signed</a:t>
            </a:r>
          </a:p>
        </p:txBody>
      </p:sp>
      <p:sp>
        <p:nvSpPr>
          <p:cNvPr id="13" name="TextBox 12"/>
          <p:cNvSpPr txBox="1"/>
          <p:nvPr/>
        </p:nvSpPr>
        <p:spPr>
          <a:xfrm>
            <a:off x="7795259" y="2484120"/>
            <a:ext cx="37261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deployment</a:t>
            </a:r>
          </a:p>
        </p:txBody>
      </p:sp>
      <p:sp>
        <p:nvSpPr>
          <p:cNvPr id="14" name="Rounded Rectangle 13"/>
          <p:cNvSpPr/>
          <p:nvPr/>
        </p:nvSpPr>
        <p:spPr>
          <a:xfrm>
            <a:off x="548640" y="2941320"/>
            <a:ext cx="11094720" cy="792480"/>
          </a:xfrm>
          <a:prstGeom prst="roundRect">
            <a:avLst>
              <a:gd name="adj" fmla="val 5769"/>
            </a:avLst>
          </a:prstGeom>
          <a:solidFill>
            <a:srgbClr val="FFFFFF"/>
          </a:solidFill>
          <a:ln>
            <a:noFill/>
          </a:ln>
          <a:effectLst/>
        </p:spPr>
        <p:txBody>
          <a:bodyPr rtlCol="0" anchor="ctr"/>
          <a:lstStyle/>
          <a:p>
            <a:pPr algn="ctr"/>
          </a:p>
        </p:txBody>
      </p:sp>
      <p:sp>
        <p:nvSpPr>
          <p:cNvPr id="15" name="TextBox 14"/>
          <p:cNvSpPr txBox="1"/>
          <p:nvPr/>
        </p:nvSpPr>
        <p:spPr>
          <a:xfrm>
            <a:off x="670560" y="3070860"/>
            <a:ext cx="28041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observe</a:t>
            </a:r>
          </a:p>
        </p:txBody>
      </p:sp>
      <p:sp>
        <p:nvSpPr>
          <p:cNvPr id="16" name="TextBox 15"/>
          <p:cNvSpPr txBox="1"/>
          <p:nvPr/>
        </p:nvSpPr>
        <p:spPr>
          <a:xfrm>
            <a:off x="3718560" y="3070860"/>
            <a:ext cx="3832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Check inclusion, post-state value and</a:t>
            </a:r>
          </a:p>
        </p:txBody>
      </p:sp>
      <p:sp>
        <p:nvSpPr>
          <p:cNvPr id="17" name="TextBox 16"/>
          <p:cNvSpPr txBox="1"/>
          <p:nvPr/>
        </p:nvSpPr>
        <p:spPr>
          <a:xfrm>
            <a:off x="3718560" y="3314700"/>
            <a:ext cx="3832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deploy-effect finality</a:t>
            </a:r>
          </a:p>
        </p:txBody>
      </p:sp>
      <p:sp>
        <p:nvSpPr>
          <p:cNvPr id="18" name="TextBox 17"/>
          <p:cNvSpPr txBox="1"/>
          <p:nvPr/>
        </p:nvSpPr>
        <p:spPr>
          <a:xfrm>
            <a:off x="7795259" y="3070860"/>
            <a:ext cx="37261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Finalized block alone is insufficient</a:t>
            </a:r>
          </a:p>
        </p:txBody>
      </p:sp>
      <p:sp>
        <p:nvSpPr>
          <p:cNvPr id="19" name="Rounded Rectangle 18"/>
          <p:cNvSpPr/>
          <p:nvPr/>
        </p:nvSpPr>
        <p:spPr>
          <a:xfrm>
            <a:off x="548640" y="3771900"/>
            <a:ext cx="11094720" cy="792480"/>
          </a:xfrm>
          <a:prstGeom prst="roundRect">
            <a:avLst>
              <a:gd name="adj" fmla="val 5769"/>
            </a:avLst>
          </a:prstGeom>
          <a:solidFill>
            <a:srgbClr val="FFFFFF"/>
          </a:solidFill>
          <a:ln>
            <a:noFill/>
          </a:ln>
          <a:effectLst/>
        </p:spPr>
        <p:txBody>
          <a:bodyPr rtlCol="0" anchor="ctr"/>
          <a:lstStyle/>
          <a:p>
            <a:pPr algn="ctr"/>
          </a:p>
        </p:txBody>
      </p:sp>
      <p:sp>
        <p:nvSpPr>
          <p:cNvPr id="20" name="TextBox 19"/>
          <p:cNvSpPr txBox="1"/>
          <p:nvPr/>
        </p:nvSpPr>
        <p:spPr>
          <a:xfrm>
            <a:off x="670560" y="3901440"/>
            <a:ext cx="28041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Independent readback</a:t>
            </a:r>
          </a:p>
        </p:txBody>
      </p:sp>
      <p:sp>
        <p:nvSpPr>
          <p:cNvPr id="21" name="TextBox 20"/>
          <p:cNvSpPr txBox="1"/>
          <p:nvPr/>
        </p:nvSpPr>
        <p:spPr>
          <a:xfrm>
            <a:off x="3718560" y="3901440"/>
            <a:ext cx="3832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Read same effect with read-only access</a:t>
            </a:r>
          </a:p>
        </p:txBody>
      </p:sp>
      <p:sp>
        <p:nvSpPr>
          <p:cNvPr id="22" name="TextBox 21"/>
          <p:cNvSpPr txBox="1"/>
          <p:nvPr/>
        </p:nvSpPr>
        <p:spPr>
          <a:xfrm>
            <a:off x="7795259" y="3901440"/>
            <a:ext cx="37261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Separate process; no caller journal or</a:t>
            </a:r>
          </a:p>
        </p:txBody>
      </p:sp>
      <p:sp>
        <p:nvSpPr>
          <p:cNvPr id="23" name="TextBox 22"/>
          <p:cNvSpPr txBox="1"/>
          <p:nvPr/>
        </p:nvSpPr>
        <p:spPr>
          <a:xfrm>
            <a:off x="7795259" y="4145279"/>
            <a:ext cx="37261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signing key</a:t>
            </a:r>
          </a:p>
        </p:txBody>
      </p:sp>
      <p:sp>
        <p:nvSpPr>
          <p:cNvPr id="24" name="Rounded Rectangle 23"/>
          <p:cNvSpPr/>
          <p:nvPr/>
        </p:nvSpPr>
        <p:spPr>
          <a:xfrm>
            <a:off x="548640" y="5829300"/>
            <a:ext cx="11094720" cy="403859"/>
          </a:xfrm>
          <a:prstGeom prst="roundRect">
            <a:avLst>
              <a:gd name="adj" fmla="val 15094"/>
            </a:avLst>
          </a:prstGeom>
          <a:solidFill>
            <a:srgbClr val="E7ECEB"/>
          </a:solidFill>
          <a:ln>
            <a:noFill/>
          </a:ln>
          <a:effectLst/>
        </p:spPr>
        <p:txBody>
          <a:bodyPr rtlCol="0" anchor="ctr"/>
          <a:lstStyle/>
          <a:p>
            <a:pPr algn="ctr"/>
          </a:p>
        </p:txBody>
      </p:sp>
      <p:sp>
        <p:nvSpPr>
          <p:cNvPr id="25" name="TextBox 24"/>
          <p:cNvSpPr txBox="1"/>
          <p:nvPr/>
        </p:nvSpPr>
        <p:spPr>
          <a:xfrm>
            <a:off x="716280" y="5905500"/>
            <a:ext cx="107442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One local validator; bounded call-driven observation, no public-network attachment.</a:t>
            </a:r>
          </a:p>
        </p:txBody>
      </p:sp>
      <p:cxnSp>
        <p:nvCxnSpPr>
          <p:cNvPr id="26" name="Connector 25"/>
          <p:cNvCxnSpPr/>
          <p:nvPr/>
        </p:nvCxnSpPr>
        <p:spPr>
          <a:xfrm>
            <a:off x="548640" y="6393180"/>
            <a:ext cx="11094720" cy="0"/>
          </a:xfrm>
          <a:prstGeom prst="line">
            <a:avLst/>
          </a:prstGeom>
          <a:ln w="7620">
            <a:solidFill>
              <a:srgbClr val="C9D2D4"/>
            </a:solidFill>
          </a:ln>
          <a:effectLst/>
        </p:spPr>
      </p:cxnSp>
      <p:sp>
        <p:nvSpPr>
          <p:cNvPr id="27" name="TextBox 26"/>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ConsensusFinality · M5 source bfb0ec8</a:t>
            </a:r>
          </a:p>
        </p:txBody>
      </p:sp>
      <p:sp>
        <p:nvSpPr>
          <p:cNvPr id="28" name="TextBox 27"/>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05 / 12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05 / CONCRETE BEHAVIOR</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A worked example through the boundary</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M4 REAL isolated F1R3node · generated workflow, test genesis/key and fixture counterparty</a:t>
            </a:r>
          </a:p>
        </p:txBody>
      </p:sp>
      <p:sp>
        <p:nvSpPr>
          <p:cNvPr id="5" name="Rounded Rectangle 4"/>
          <p:cNvSpPr/>
          <p:nvPr/>
        </p:nvSpPr>
        <p:spPr>
          <a:xfrm>
            <a:off x="548640" y="2011680"/>
            <a:ext cx="2636520" cy="2468880"/>
          </a:xfrm>
          <a:prstGeom prst="roundRect">
            <a:avLst>
              <a:gd name="adj" fmla="val 4012"/>
            </a:avLst>
          </a:prstGeom>
          <a:solidFill>
            <a:srgbClr val="FFFFFF"/>
          </a:solidFill>
          <a:ln w="7620">
            <a:solidFill>
              <a:srgbClr val="007C78"/>
            </a:solidFill>
          </a:ln>
          <a:effectLst/>
        </p:spPr>
        <p:txBody>
          <a:bodyPr rtlCol="0" anchor="ctr"/>
          <a:lstStyle/>
          <a:p>
            <a:pPr algn="ctr"/>
          </a:p>
        </p:txBody>
      </p:sp>
      <p:sp>
        <p:nvSpPr>
          <p:cNvPr id="6" name="TextBox 5"/>
          <p:cNvSpPr txBox="1"/>
          <p:nvPr/>
        </p:nvSpPr>
        <p:spPr>
          <a:xfrm>
            <a:off x="716280" y="2179320"/>
            <a:ext cx="2301240" cy="156057"/>
          </a:xfrm>
          <a:prstGeom prst="rect">
            <a:avLst/>
          </a:prstGeom>
          <a:noFill/>
        </p:spPr>
        <p:txBody>
          <a:bodyPr wrap="none" lIns="0" rIns="0" tIns="0" bIns="0" anchor="t" anchorCtr="0">
            <a:noAutofit/>
          </a:bodyPr>
          <a:lstStyle/>
          <a:p>
            <a:pPr algn="l">
              <a:lnSpc>
                <a:spcPct val="100000"/>
              </a:lnSpc>
              <a:spcBef>
                <a:spcPts val="0"/>
              </a:spcBef>
              <a:spcAft>
                <a:spcPts val="0"/>
              </a:spcAft>
            </a:pPr>
            <a:r>
              <a:rPr sz="960" b="1">
                <a:solidFill>
                  <a:srgbClr val="007C78"/>
                </a:solidFill>
                <a:latin typeface="DejaVu Sans"/>
              </a:rPr>
              <a:t>01 · STEP</a:t>
            </a:r>
          </a:p>
        </p:txBody>
      </p:sp>
      <p:sp>
        <p:nvSpPr>
          <p:cNvPr id="7" name="TextBox 6"/>
          <p:cNvSpPr txBox="1"/>
          <p:nvPr/>
        </p:nvSpPr>
        <p:spPr>
          <a:xfrm>
            <a:off x="716280" y="2415540"/>
            <a:ext cx="230124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007C78"/>
                </a:solidFill>
                <a:latin typeface="DejaVu Sans"/>
              </a:rPr>
              <a:t>Accept result</a:t>
            </a:r>
          </a:p>
        </p:txBody>
      </p:sp>
      <p:sp>
        <p:nvSpPr>
          <p:cNvPr id="8" name="TextBox 7"/>
          <p:cNvSpPr txBox="1"/>
          <p:nvPr/>
        </p:nvSpPr>
        <p:spPr>
          <a:xfrm>
            <a:off x="716280" y="2794101"/>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Real Hive inspect</a:t>
            </a:r>
          </a:p>
        </p:txBody>
      </p:sp>
      <p:sp>
        <p:nvSpPr>
          <p:cNvPr id="9" name="TextBox 8"/>
          <p:cNvSpPr txBox="1"/>
          <p:nvPr/>
        </p:nvSpPr>
        <p:spPr>
          <a:xfrm>
            <a:off x="716280" y="3067202"/>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finishes; retrieve</a:t>
            </a:r>
          </a:p>
        </p:txBody>
      </p:sp>
      <p:sp>
        <p:nvSpPr>
          <p:cNvPr id="10" name="TextBox 9"/>
          <p:cNvSpPr txBox="1"/>
          <p:nvPr/>
        </p:nvSpPr>
        <p:spPr>
          <a:xfrm>
            <a:off x="716280" y="3340303"/>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approved bytes.</a:t>
            </a:r>
          </a:p>
        </p:txBody>
      </p:sp>
      <p:cxnSp>
        <p:nvCxnSpPr>
          <p:cNvPr id="11" name="Connector 10"/>
          <p:cNvCxnSpPr/>
          <p:nvPr/>
        </p:nvCxnSpPr>
        <p:spPr>
          <a:xfrm>
            <a:off x="3185160" y="3238500"/>
            <a:ext cx="182880" cy="0"/>
          </a:xfrm>
          <a:prstGeom prst="line">
            <a:avLst/>
          </a:prstGeom>
          <a:ln w="15240">
            <a:solidFill>
              <a:srgbClr val="007C78"/>
            </a:solidFill>
          </a:ln>
          <a:effectLst/>
        </p:spPr>
      </p:cxnSp>
      <p:sp>
        <p:nvSpPr>
          <p:cNvPr id="12" name="Freeform 11"/>
          <p:cNvSpPr/>
          <p:nvPr/>
        </p:nvSpPr>
        <p:spPr>
          <a:xfrm>
            <a:off x="3268980" y="3200400"/>
            <a:ext cx="99060" cy="76200"/>
          </a:xfrm>
          <a:custGeom>
            <a:avLst/>
            <a:gdLst/>
            <a:ahLst/>
            <a:cxnLst/>
            <a:rect l="l" t="t" r="r" b="b"/>
            <a:pathLst>
              <a:path w="13" h="10">
                <a:moveTo>
                  <a:pt x="13" y="5"/>
                </a:moveTo>
                <a:lnTo>
                  <a:pt x="0" y="0"/>
                </a:lnTo>
                <a:lnTo>
                  <a:pt x="0" y="10"/>
                </a:lnTo>
                <a:close/>
              </a:path>
            </a:pathLst>
          </a:custGeom>
          <a:solidFill>
            <a:srgbClr val="007C78"/>
          </a:solidFill>
          <a:ln>
            <a:noFill/>
          </a:ln>
          <a:effectLst/>
        </p:spPr>
        <p:txBody>
          <a:bodyPr rtlCol="0" anchor="ctr"/>
          <a:lstStyle/>
          <a:p>
            <a:pPr algn="ctr"/>
          </a:p>
        </p:txBody>
      </p:sp>
      <p:sp>
        <p:nvSpPr>
          <p:cNvPr id="13" name="Rounded Rectangle 12"/>
          <p:cNvSpPr/>
          <p:nvPr/>
        </p:nvSpPr>
        <p:spPr>
          <a:xfrm>
            <a:off x="3368040" y="2011680"/>
            <a:ext cx="2636520" cy="2468880"/>
          </a:xfrm>
          <a:prstGeom prst="roundRect">
            <a:avLst>
              <a:gd name="adj" fmla="val 4012"/>
            </a:avLst>
          </a:prstGeom>
          <a:solidFill>
            <a:srgbClr val="FFFFFF"/>
          </a:solidFill>
          <a:ln w="7620">
            <a:solidFill>
              <a:srgbClr val="007C78"/>
            </a:solidFill>
          </a:ln>
          <a:effectLst/>
        </p:spPr>
        <p:txBody>
          <a:bodyPr rtlCol="0" anchor="ctr"/>
          <a:lstStyle/>
          <a:p>
            <a:pPr algn="ctr"/>
          </a:p>
        </p:txBody>
      </p:sp>
      <p:sp>
        <p:nvSpPr>
          <p:cNvPr id="14" name="TextBox 13"/>
          <p:cNvSpPr txBox="1"/>
          <p:nvPr/>
        </p:nvSpPr>
        <p:spPr>
          <a:xfrm>
            <a:off x="3535679" y="2179320"/>
            <a:ext cx="2301240" cy="156057"/>
          </a:xfrm>
          <a:prstGeom prst="rect">
            <a:avLst/>
          </a:prstGeom>
          <a:noFill/>
        </p:spPr>
        <p:txBody>
          <a:bodyPr wrap="none" lIns="0" rIns="0" tIns="0" bIns="0" anchor="t" anchorCtr="0">
            <a:noAutofit/>
          </a:bodyPr>
          <a:lstStyle/>
          <a:p>
            <a:pPr algn="l">
              <a:lnSpc>
                <a:spcPct val="100000"/>
              </a:lnSpc>
              <a:spcBef>
                <a:spcPts val="0"/>
              </a:spcBef>
              <a:spcAft>
                <a:spcPts val="0"/>
              </a:spcAft>
            </a:pPr>
            <a:r>
              <a:rPr sz="960" b="1">
                <a:solidFill>
                  <a:srgbClr val="007C78"/>
                </a:solidFill>
                <a:latin typeface="DejaVu Sans"/>
              </a:rPr>
              <a:t>02 · STEP</a:t>
            </a:r>
          </a:p>
        </p:txBody>
      </p:sp>
      <p:sp>
        <p:nvSpPr>
          <p:cNvPr id="15" name="TextBox 14"/>
          <p:cNvSpPr txBox="1"/>
          <p:nvPr/>
        </p:nvSpPr>
        <p:spPr>
          <a:xfrm>
            <a:off x="3535679" y="2415540"/>
            <a:ext cx="230124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007C78"/>
                </a:solidFill>
                <a:latin typeface="DejaVu Sans"/>
              </a:rPr>
              <a:t>Freeze approval</a:t>
            </a:r>
          </a:p>
        </p:txBody>
      </p:sp>
      <p:sp>
        <p:nvSpPr>
          <p:cNvPr id="16" name="TextBox 15"/>
          <p:cNvSpPr txBox="1"/>
          <p:nvPr/>
        </p:nvSpPr>
        <p:spPr>
          <a:xfrm>
            <a:off x="3535679" y="2794101"/>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Bind exact result,</a:t>
            </a:r>
          </a:p>
        </p:txBody>
      </p:sp>
      <p:sp>
        <p:nvSpPr>
          <p:cNvPr id="17" name="TextBox 16"/>
          <p:cNvSpPr txBox="1"/>
          <p:nvPr/>
        </p:nvSpPr>
        <p:spPr>
          <a:xfrm>
            <a:off x="3535679" y="3067202"/>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destination, signer</a:t>
            </a:r>
          </a:p>
        </p:txBody>
      </p:sp>
      <p:sp>
        <p:nvSpPr>
          <p:cNvPr id="18" name="TextBox 17"/>
          <p:cNvSpPr txBox="1"/>
          <p:nvPr/>
        </p:nvSpPr>
        <p:spPr>
          <a:xfrm>
            <a:off x="3535679" y="3340303"/>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and operation.</a:t>
            </a:r>
          </a:p>
        </p:txBody>
      </p:sp>
      <p:cxnSp>
        <p:nvCxnSpPr>
          <p:cNvPr id="19" name="Connector 18"/>
          <p:cNvCxnSpPr/>
          <p:nvPr/>
        </p:nvCxnSpPr>
        <p:spPr>
          <a:xfrm>
            <a:off x="6004559" y="3238500"/>
            <a:ext cx="182881" cy="0"/>
          </a:xfrm>
          <a:prstGeom prst="line">
            <a:avLst/>
          </a:prstGeom>
          <a:ln w="15240">
            <a:solidFill>
              <a:srgbClr val="007C78"/>
            </a:solidFill>
          </a:ln>
          <a:effectLst/>
        </p:spPr>
      </p:cxnSp>
      <p:sp>
        <p:nvSpPr>
          <p:cNvPr id="20" name="Freeform 19"/>
          <p:cNvSpPr/>
          <p:nvPr/>
        </p:nvSpPr>
        <p:spPr>
          <a:xfrm>
            <a:off x="6088380" y="3200400"/>
            <a:ext cx="99060" cy="76200"/>
          </a:xfrm>
          <a:custGeom>
            <a:avLst/>
            <a:gdLst/>
            <a:ahLst/>
            <a:cxnLst/>
            <a:rect l="l" t="t" r="r" b="b"/>
            <a:pathLst>
              <a:path w="13" h="10">
                <a:moveTo>
                  <a:pt x="13" y="5"/>
                </a:moveTo>
                <a:lnTo>
                  <a:pt x="0" y="0"/>
                </a:lnTo>
                <a:lnTo>
                  <a:pt x="0" y="10"/>
                </a:lnTo>
                <a:close/>
              </a:path>
            </a:pathLst>
          </a:custGeom>
          <a:solidFill>
            <a:srgbClr val="007C78"/>
          </a:solidFill>
          <a:ln>
            <a:noFill/>
          </a:ln>
          <a:effectLst/>
        </p:spPr>
        <p:txBody>
          <a:bodyPr rtlCol="0" anchor="ctr"/>
          <a:lstStyle/>
          <a:p>
            <a:pPr algn="ctr"/>
          </a:p>
        </p:txBody>
      </p:sp>
      <p:sp>
        <p:nvSpPr>
          <p:cNvPr id="21" name="Rounded Rectangle 20"/>
          <p:cNvSpPr/>
          <p:nvPr/>
        </p:nvSpPr>
        <p:spPr>
          <a:xfrm>
            <a:off x="6187440" y="2011680"/>
            <a:ext cx="2636520" cy="2468880"/>
          </a:xfrm>
          <a:prstGeom prst="roundRect">
            <a:avLst>
              <a:gd name="adj" fmla="val 4012"/>
            </a:avLst>
          </a:prstGeom>
          <a:solidFill>
            <a:srgbClr val="FFFFFF"/>
          </a:solidFill>
          <a:ln w="7620">
            <a:solidFill>
              <a:srgbClr val="007C78"/>
            </a:solidFill>
          </a:ln>
          <a:effectLst/>
        </p:spPr>
        <p:txBody>
          <a:bodyPr rtlCol="0" anchor="ctr"/>
          <a:lstStyle/>
          <a:p>
            <a:pPr algn="ctr"/>
          </a:p>
        </p:txBody>
      </p:sp>
      <p:sp>
        <p:nvSpPr>
          <p:cNvPr id="22" name="TextBox 21"/>
          <p:cNvSpPr txBox="1"/>
          <p:nvPr/>
        </p:nvSpPr>
        <p:spPr>
          <a:xfrm>
            <a:off x="6355080" y="2179320"/>
            <a:ext cx="2301240" cy="156057"/>
          </a:xfrm>
          <a:prstGeom prst="rect">
            <a:avLst/>
          </a:prstGeom>
          <a:noFill/>
        </p:spPr>
        <p:txBody>
          <a:bodyPr wrap="none" lIns="0" rIns="0" tIns="0" bIns="0" anchor="t" anchorCtr="0">
            <a:noAutofit/>
          </a:bodyPr>
          <a:lstStyle/>
          <a:p>
            <a:pPr algn="l">
              <a:lnSpc>
                <a:spcPct val="100000"/>
              </a:lnSpc>
              <a:spcBef>
                <a:spcPts val="0"/>
              </a:spcBef>
              <a:spcAft>
                <a:spcPts val="0"/>
              </a:spcAft>
            </a:pPr>
            <a:r>
              <a:rPr sz="960" b="1">
                <a:solidFill>
                  <a:srgbClr val="007C78"/>
                </a:solidFill>
                <a:latin typeface="DejaVu Sans"/>
              </a:rPr>
              <a:t>03 · STEP</a:t>
            </a:r>
          </a:p>
        </p:txBody>
      </p:sp>
      <p:sp>
        <p:nvSpPr>
          <p:cNvPr id="23" name="TextBox 22"/>
          <p:cNvSpPr txBox="1"/>
          <p:nvPr/>
        </p:nvSpPr>
        <p:spPr>
          <a:xfrm>
            <a:off x="6355080" y="2415540"/>
            <a:ext cx="230124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007C78"/>
                </a:solidFill>
                <a:latin typeface="DejaVu Sans"/>
              </a:rPr>
              <a:t>Persist / send</a:t>
            </a:r>
          </a:p>
        </p:txBody>
      </p:sp>
      <p:sp>
        <p:nvSpPr>
          <p:cNvPr id="24" name="TextBox 23"/>
          <p:cNvSpPr txBox="1"/>
          <p:nvPr/>
        </p:nvSpPr>
        <p:spPr>
          <a:xfrm>
            <a:off x="6355080" y="2794101"/>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Save intent and</a:t>
            </a:r>
          </a:p>
        </p:txBody>
      </p:sp>
      <p:sp>
        <p:nvSpPr>
          <p:cNvPr id="25" name="TextBox 24"/>
          <p:cNvSpPr txBox="1"/>
          <p:nvPr/>
        </p:nvSpPr>
        <p:spPr>
          <a:xfrm>
            <a:off x="6355080" y="3067202"/>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signed bytes, then</a:t>
            </a:r>
          </a:p>
        </p:txBody>
      </p:sp>
      <p:sp>
        <p:nvSpPr>
          <p:cNvPr id="26" name="TextBox 25"/>
          <p:cNvSpPr txBox="1"/>
          <p:nvPr/>
        </p:nvSpPr>
        <p:spPr>
          <a:xfrm>
            <a:off x="6355080" y="3340303"/>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submit locally.</a:t>
            </a:r>
          </a:p>
        </p:txBody>
      </p:sp>
      <p:cxnSp>
        <p:nvCxnSpPr>
          <p:cNvPr id="27" name="Connector 26"/>
          <p:cNvCxnSpPr/>
          <p:nvPr/>
        </p:nvCxnSpPr>
        <p:spPr>
          <a:xfrm>
            <a:off x="8823960" y="3238500"/>
            <a:ext cx="182880" cy="0"/>
          </a:xfrm>
          <a:prstGeom prst="line">
            <a:avLst/>
          </a:prstGeom>
          <a:ln w="15240">
            <a:solidFill>
              <a:srgbClr val="007C78"/>
            </a:solidFill>
          </a:ln>
          <a:effectLst/>
        </p:spPr>
      </p:cxnSp>
      <p:sp>
        <p:nvSpPr>
          <p:cNvPr id="28" name="Freeform 27"/>
          <p:cNvSpPr/>
          <p:nvPr/>
        </p:nvSpPr>
        <p:spPr>
          <a:xfrm>
            <a:off x="8907780" y="3200400"/>
            <a:ext cx="99060" cy="76200"/>
          </a:xfrm>
          <a:custGeom>
            <a:avLst/>
            <a:gdLst/>
            <a:ahLst/>
            <a:cxnLst/>
            <a:rect l="l" t="t" r="r" b="b"/>
            <a:pathLst>
              <a:path w="13" h="10">
                <a:moveTo>
                  <a:pt x="13" y="5"/>
                </a:moveTo>
                <a:lnTo>
                  <a:pt x="0" y="0"/>
                </a:lnTo>
                <a:lnTo>
                  <a:pt x="0" y="10"/>
                </a:lnTo>
                <a:close/>
              </a:path>
            </a:pathLst>
          </a:custGeom>
          <a:solidFill>
            <a:srgbClr val="007C78"/>
          </a:solidFill>
          <a:ln>
            <a:noFill/>
          </a:ln>
          <a:effectLst/>
        </p:spPr>
        <p:txBody>
          <a:bodyPr rtlCol="0" anchor="ctr"/>
          <a:lstStyle/>
          <a:p>
            <a:pPr algn="ctr"/>
          </a:p>
        </p:txBody>
      </p:sp>
      <p:sp>
        <p:nvSpPr>
          <p:cNvPr id="29" name="Rounded Rectangle 28"/>
          <p:cNvSpPr/>
          <p:nvPr/>
        </p:nvSpPr>
        <p:spPr>
          <a:xfrm>
            <a:off x="9006840" y="2011680"/>
            <a:ext cx="2636520" cy="2468880"/>
          </a:xfrm>
          <a:prstGeom prst="roundRect">
            <a:avLst>
              <a:gd name="adj" fmla="val 4012"/>
            </a:avLst>
          </a:prstGeom>
          <a:solidFill>
            <a:srgbClr val="FFFFFF"/>
          </a:solidFill>
          <a:ln w="7620">
            <a:solidFill>
              <a:srgbClr val="007C78"/>
            </a:solidFill>
          </a:ln>
          <a:effectLst/>
        </p:spPr>
        <p:txBody>
          <a:bodyPr rtlCol="0" anchor="ctr"/>
          <a:lstStyle/>
          <a:p>
            <a:pPr algn="ctr"/>
          </a:p>
        </p:txBody>
      </p:sp>
      <p:sp>
        <p:nvSpPr>
          <p:cNvPr id="30" name="TextBox 29"/>
          <p:cNvSpPr txBox="1"/>
          <p:nvPr/>
        </p:nvSpPr>
        <p:spPr>
          <a:xfrm>
            <a:off x="9174480" y="2179320"/>
            <a:ext cx="2301240" cy="156057"/>
          </a:xfrm>
          <a:prstGeom prst="rect">
            <a:avLst/>
          </a:prstGeom>
          <a:noFill/>
        </p:spPr>
        <p:txBody>
          <a:bodyPr wrap="none" lIns="0" rIns="0" tIns="0" bIns="0" anchor="t" anchorCtr="0">
            <a:noAutofit/>
          </a:bodyPr>
          <a:lstStyle/>
          <a:p>
            <a:pPr algn="l">
              <a:lnSpc>
                <a:spcPct val="100000"/>
              </a:lnSpc>
              <a:spcBef>
                <a:spcPts val="0"/>
              </a:spcBef>
              <a:spcAft>
                <a:spcPts val="0"/>
              </a:spcAft>
            </a:pPr>
            <a:r>
              <a:rPr sz="960" b="1">
                <a:solidFill>
                  <a:srgbClr val="007C78"/>
                </a:solidFill>
                <a:latin typeface="DejaVu Sans"/>
              </a:rPr>
              <a:t>04 · STEP</a:t>
            </a:r>
          </a:p>
        </p:txBody>
      </p:sp>
      <p:sp>
        <p:nvSpPr>
          <p:cNvPr id="31" name="TextBox 30"/>
          <p:cNvSpPr txBox="1"/>
          <p:nvPr/>
        </p:nvSpPr>
        <p:spPr>
          <a:xfrm>
            <a:off x="9174480" y="2415540"/>
            <a:ext cx="230124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007C78"/>
                </a:solidFill>
                <a:latin typeface="DejaVu Sans"/>
              </a:rPr>
              <a:t>Verify effect</a:t>
            </a:r>
          </a:p>
        </p:txBody>
      </p:sp>
      <p:sp>
        <p:nvSpPr>
          <p:cNvPr id="32" name="TextBox 31"/>
          <p:cNvSpPr txBox="1"/>
          <p:nvPr/>
        </p:nvSpPr>
        <p:spPr>
          <a:xfrm>
            <a:off x="9174480" y="2794101"/>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Read inclusion</a:t>
            </a:r>
          </a:p>
        </p:txBody>
      </p:sp>
      <p:sp>
        <p:nvSpPr>
          <p:cNvPr id="33" name="TextBox 32"/>
          <p:cNvSpPr txBox="1"/>
          <p:nvPr/>
        </p:nvSpPr>
        <p:spPr>
          <a:xfrm>
            <a:off x="9174480" y="3067202"/>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post-state and</a:t>
            </a:r>
          </a:p>
        </p:txBody>
      </p:sp>
      <p:sp>
        <p:nvSpPr>
          <p:cNvPr id="34" name="TextBox 33"/>
          <p:cNvSpPr txBox="1"/>
          <p:nvPr/>
        </p:nvSpPr>
        <p:spPr>
          <a:xfrm>
            <a:off x="9174480" y="3340303"/>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matching finalized</a:t>
            </a:r>
          </a:p>
        </p:txBody>
      </p:sp>
      <p:sp>
        <p:nvSpPr>
          <p:cNvPr id="35" name="TextBox 34"/>
          <p:cNvSpPr txBox="1"/>
          <p:nvPr/>
        </p:nvSpPr>
        <p:spPr>
          <a:xfrm>
            <a:off x="9174480" y="3613404"/>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deploy.</a:t>
            </a:r>
          </a:p>
        </p:txBody>
      </p:sp>
      <p:sp>
        <p:nvSpPr>
          <p:cNvPr id="36" name="Rounded Rectangle 35"/>
          <p:cNvSpPr/>
          <p:nvPr/>
        </p:nvSpPr>
        <p:spPr>
          <a:xfrm>
            <a:off x="548640" y="4861560"/>
            <a:ext cx="11094720" cy="853440"/>
          </a:xfrm>
          <a:prstGeom prst="roundRect">
            <a:avLst>
              <a:gd name="adj" fmla="val 11607"/>
            </a:avLst>
          </a:prstGeom>
          <a:solidFill>
            <a:srgbClr val="DCEFE8"/>
          </a:solidFill>
          <a:ln w="7620">
            <a:solidFill>
              <a:srgbClr val="007C78"/>
            </a:solidFill>
          </a:ln>
          <a:effectLst/>
        </p:spPr>
        <p:txBody>
          <a:bodyPr rtlCol="0" anchor="ctr"/>
          <a:lstStyle/>
          <a:p>
            <a:pPr algn="ctr"/>
          </a:p>
        </p:txBody>
      </p:sp>
      <p:sp>
        <p:nvSpPr>
          <p:cNvPr id="37" name="TextBox 36"/>
          <p:cNvSpPr txBox="1"/>
          <p:nvPr/>
        </p:nvSpPr>
        <p:spPr>
          <a:xfrm>
            <a:off x="716280" y="5029200"/>
            <a:ext cx="107594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1">
                <a:solidFill>
                  <a:srgbClr val="007C78"/>
                </a:solidFill>
                <a:latin typeface="DejaVu Sans"/>
              </a:rPr>
              <a:t>What the example establishes</a:t>
            </a:r>
          </a:p>
        </p:txBody>
      </p:sp>
      <p:sp>
        <p:nvSpPr>
          <p:cNvPr id="38" name="TextBox 37"/>
          <p:cNvSpPr txBox="1"/>
          <p:nvPr/>
        </p:nvSpPr>
        <p:spPr>
          <a:xfrm>
            <a:off x="716280" y="5378500"/>
            <a:ext cx="1075944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Verify the approved effect, not merely a successful submission.</a:t>
            </a:r>
          </a:p>
        </p:txBody>
      </p:sp>
      <p:cxnSp>
        <p:nvCxnSpPr>
          <p:cNvPr id="39" name="Connector 38"/>
          <p:cNvCxnSpPr/>
          <p:nvPr/>
        </p:nvCxnSpPr>
        <p:spPr>
          <a:xfrm>
            <a:off x="548640" y="6393180"/>
            <a:ext cx="11094720" cy="0"/>
          </a:xfrm>
          <a:prstGeom prst="line">
            <a:avLst/>
          </a:prstGeom>
          <a:ln w="7620">
            <a:solidFill>
              <a:srgbClr val="C9D2D4"/>
            </a:solidFill>
          </a:ln>
          <a:effectLst/>
        </p:spPr>
      </p:cxnSp>
      <p:sp>
        <p:nvSpPr>
          <p:cNvPr id="40" name="TextBox 39"/>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ConsensusFinality · M5 source bfb0ec8</a:t>
            </a:r>
          </a:p>
        </p:txBody>
      </p:sp>
      <p:sp>
        <p:nvSpPr>
          <p:cNvPr id="41" name="TextBox 40"/>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06 / 12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06 / BEHAVIORAL GUARANTEES</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Four invariants to preserve</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Each statement is bounded by the selected profile, authority model and tested failure model.</a:t>
            </a:r>
          </a:p>
        </p:txBody>
      </p:sp>
      <p:sp>
        <p:nvSpPr>
          <p:cNvPr id="5" name="Rounded Rectangle 4"/>
          <p:cNvSpPr/>
          <p:nvPr/>
        </p:nvSpPr>
        <p:spPr>
          <a:xfrm>
            <a:off x="548640" y="1866900"/>
            <a:ext cx="5425440" cy="1623060"/>
          </a:xfrm>
          <a:prstGeom prst="roundRect">
            <a:avLst>
              <a:gd name="adj" fmla="val 6103"/>
            </a:avLst>
          </a:prstGeom>
          <a:solidFill>
            <a:srgbClr val="FFFFFF"/>
          </a:solidFill>
          <a:ln w="7620">
            <a:solidFill>
              <a:srgbClr val="007C78"/>
            </a:solidFill>
          </a:ln>
          <a:effectLst/>
        </p:spPr>
        <p:txBody>
          <a:bodyPr rtlCol="0" anchor="ctr"/>
          <a:lstStyle/>
          <a:p>
            <a:pPr algn="ctr"/>
          </a:p>
        </p:txBody>
      </p:sp>
      <p:sp>
        <p:nvSpPr>
          <p:cNvPr id="6" name="TextBox 5"/>
          <p:cNvSpPr txBox="1"/>
          <p:nvPr/>
        </p:nvSpPr>
        <p:spPr>
          <a:xfrm>
            <a:off x="716280" y="2034539"/>
            <a:ext cx="5090160" cy="156057"/>
          </a:xfrm>
          <a:prstGeom prst="rect">
            <a:avLst/>
          </a:prstGeom>
          <a:noFill/>
        </p:spPr>
        <p:txBody>
          <a:bodyPr wrap="none" lIns="0" rIns="0" tIns="0" bIns="0" anchor="t" anchorCtr="0">
            <a:noAutofit/>
          </a:bodyPr>
          <a:lstStyle/>
          <a:p>
            <a:pPr algn="l">
              <a:lnSpc>
                <a:spcPct val="100000"/>
              </a:lnSpc>
              <a:spcBef>
                <a:spcPts val="0"/>
              </a:spcBef>
              <a:spcAft>
                <a:spcPts val="0"/>
              </a:spcAft>
            </a:pPr>
            <a:r>
              <a:rPr sz="960" b="1">
                <a:solidFill>
                  <a:srgbClr val="007C78"/>
                </a:solidFill>
                <a:latin typeface="DejaVu Sans"/>
              </a:rPr>
              <a:t>I1</a:t>
            </a:r>
          </a:p>
        </p:txBody>
      </p:sp>
      <p:sp>
        <p:nvSpPr>
          <p:cNvPr id="7" name="TextBox 6"/>
          <p:cNvSpPr txBox="1"/>
          <p:nvPr/>
        </p:nvSpPr>
        <p:spPr>
          <a:xfrm>
            <a:off x="716280" y="2270760"/>
            <a:ext cx="5090160" cy="292608"/>
          </a:xfrm>
          <a:prstGeom prst="rect">
            <a:avLst/>
          </a:prstGeom>
          <a:noFill/>
        </p:spPr>
        <p:txBody>
          <a:bodyPr wrap="none" lIns="0" rIns="0" tIns="0" bIns="0" anchor="t" anchorCtr="0">
            <a:noAutofit/>
          </a:bodyPr>
          <a:lstStyle/>
          <a:p>
            <a:pPr algn="l">
              <a:lnSpc>
                <a:spcPct val="100000"/>
              </a:lnSpc>
              <a:spcBef>
                <a:spcPts val="0"/>
              </a:spcBef>
              <a:spcAft>
                <a:spcPts val="0"/>
              </a:spcAft>
            </a:pPr>
            <a:r>
              <a:rPr sz="1800" b="1">
                <a:solidFill>
                  <a:srgbClr val="007C78"/>
                </a:solidFill>
                <a:latin typeface="DejaVu Sans"/>
              </a:rPr>
              <a:t>Exact-artifact approval</a:t>
            </a:r>
          </a:p>
        </p:txBody>
      </p:sp>
      <p:sp>
        <p:nvSpPr>
          <p:cNvPr id="8" name="TextBox 7"/>
          <p:cNvSpPr txBox="1"/>
          <p:nvPr/>
        </p:nvSpPr>
        <p:spPr>
          <a:xfrm>
            <a:off x="716280" y="2639567"/>
            <a:ext cx="509016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Mutable aliases cannot substitute another result</a:t>
            </a:r>
          </a:p>
        </p:txBody>
      </p:sp>
      <p:sp>
        <p:nvSpPr>
          <p:cNvPr id="9" name="TextBox 8"/>
          <p:cNvSpPr txBox="1"/>
          <p:nvPr/>
        </p:nvSpPr>
        <p:spPr>
          <a:xfrm>
            <a:off x="716280" y="2902915"/>
            <a:ext cx="509016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or destination.</a:t>
            </a:r>
          </a:p>
        </p:txBody>
      </p:sp>
      <p:sp>
        <p:nvSpPr>
          <p:cNvPr id="10" name="Rounded Rectangle 9"/>
          <p:cNvSpPr/>
          <p:nvPr/>
        </p:nvSpPr>
        <p:spPr>
          <a:xfrm>
            <a:off x="6217920" y="1866900"/>
            <a:ext cx="5425440" cy="1623060"/>
          </a:xfrm>
          <a:prstGeom prst="roundRect">
            <a:avLst>
              <a:gd name="adj" fmla="val 6103"/>
            </a:avLst>
          </a:prstGeom>
          <a:solidFill>
            <a:srgbClr val="FFFFFF"/>
          </a:solidFill>
          <a:ln w="7620">
            <a:solidFill>
              <a:srgbClr val="007C78"/>
            </a:solidFill>
          </a:ln>
          <a:effectLst/>
        </p:spPr>
        <p:txBody>
          <a:bodyPr rtlCol="0" anchor="ctr"/>
          <a:lstStyle/>
          <a:p>
            <a:pPr algn="ctr"/>
          </a:p>
        </p:txBody>
      </p:sp>
      <p:sp>
        <p:nvSpPr>
          <p:cNvPr id="11" name="TextBox 10"/>
          <p:cNvSpPr txBox="1"/>
          <p:nvPr/>
        </p:nvSpPr>
        <p:spPr>
          <a:xfrm>
            <a:off x="6385559" y="2034539"/>
            <a:ext cx="5090160" cy="156057"/>
          </a:xfrm>
          <a:prstGeom prst="rect">
            <a:avLst/>
          </a:prstGeom>
          <a:noFill/>
        </p:spPr>
        <p:txBody>
          <a:bodyPr wrap="none" lIns="0" rIns="0" tIns="0" bIns="0" anchor="t" anchorCtr="0">
            <a:noAutofit/>
          </a:bodyPr>
          <a:lstStyle/>
          <a:p>
            <a:pPr algn="l">
              <a:lnSpc>
                <a:spcPct val="100000"/>
              </a:lnSpc>
              <a:spcBef>
                <a:spcPts val="0"/>
              </a:spcBef>
              <a:spcAft>
                <a:spcPts val="0"/>
              </a:spcAft>
            </a:pPr>
            <a:r>
              <a:rPr sz="960" b="1">
                <a:solidFill>
                  <a:srgbClr val="007C78"/>
                </a:solidFill>
                <a:latin typeface="DejaVu Sans"/>
              </a:rPr>
              <a:t>I2</a:t>
            </a:r>
          </a:p>
        </p:txBody>
      </p:sp>
      <p:sp>
        <p:nvSpPr>
          <p:cNvPr id="12" name="TextBox 11"/>
          <p:cNvSpPr txBox="1"/>
          <p:nvPr/>
        </p:nvSpPr>
        <p:spPr>
          <a:xfrm>
            <a:off x="6385559" y="2270760"/>
            <a:ext cx="5090160" cy="292608"/>
          </a:xfrm>
          <a:prstGeom prst="rect">
            <a:avLst/>
          </a:prstGeom>
          <a:noFill/>
        </p:spPr>
        <p:txBody>
          <a:bodyPr wrap="none" lIns="0" rIns="0" tIns="0" bIns="0" anchor="t" anchorCtr="0">
            <a:noAutofit/>
          </a:bodyPr>
          <a:lstStyle/>
          <a:p>
            <a:pPr algn="l">
              <a:lnSpc>
                <a:spcPct val="100000"/>
              </a:lnSpc>
              <a:spcBef>
                <a:spcPts val="0"/>
              </a:spcBef>
              <a:spcAft>
                <a:spcPts val="0"/>
              </a:spcAft>
            </a:pPr>
            <a:r>
              <a:rPr sz="1800" b="1">
                <a:solidFill>
                  <a:srgbClr val="007C78"/>
                </a:solidFill>
                <a:latin typeface="DejaVu Sans"/>
              </a:rPr>
              <a:t>Same signed replay</a:t>
            </a:r>
          </a:p>
        </p:txBody>
      </p:sp>
      <p:sp>
        <p:nvSpPr>
          <p:cNvPr id="13" name="TextBox 12"/>
          <p:cNvSpPr txBox="1"/>
          <p:nvPr/>
        </p:nvSpPr>
        <p:spPr>
          <a:xfrm>
            <a:off x="6385559" y="2639567"/>
            <a:ext cx="509016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Lost responses do not generate a new</a:t>
            </a:r>
          </a:p>
        </p:txBody>
      </p:sp>
      <p:sp>
        <p:nvSpPr>
          <p:cNvPr id="14" name="TextBox 13"/>
          <p:cNvSpPr txBox="1"/>
          <p:nvPr/>
        </p:nvSpPr>
        <p:spPr>
          <a:xfrm>
            <a:off x="6385559" y="2902915"/>
            <a:ext cx="509016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timestamp, signature or deployment.</a:t>
            </a:r>
          </a:p>
        </p:txBody>
      </p:sp>
      <p:sp>
        <p:nvSpPr>
          <p:cNvPr id="15" name="Rounded Rectangle 14"/>
          <p:cNvSpPr/>
          <p:nvPr/>
        </p:nvSpPr>
        <p:spPr>
          <a:xfrm>
            <a:off x="548640" y="3718560"/>
            <a:ext cx="5425440" cy="1623060"/>
          </a:xfrm>
          <a:prstGeom prst="roundRect">
            <a:avLst>
              <a:gd name="adj" fmla="val 6103"/>
            </a:avLst>
          </a:prstGeom>
          <a:solidFill>
            <a:srgbClr val="FFFFFF"/>
          </a:solidFill>
          <a:ln w="7620">
            <a:solidFill>
              <a:srgbClr val="007C78"/>
            </a:solidFill>
          </a:ln>
          <a:effectLst/>
        </p:spPr>
        <p:txBody>
          <a:bodyPr rtlCol="0" anchor="ctr"/>
          <a:lstStyle/>
          <a:p>
            <a:pPr algn="ctr"/>
          </a:p>
        </p:txBody>
      </p:sp>
      <p:sp>
        <p:nvSpPr>
          <p:cNvPr id="16" name="TextBox 15"/>
          <p:cNvSpPr txBox="1"/>
          <p:nvPr/>
        </p:nvSpPr>
        <p:spPr>
          <a:xfrm>
            <a:off x="716280" y="3886200"/>
            <a:ext cx="5090160" cy="156057"/>
          </a:xfrm>
          <a:prstGeom prst="rect">
            <a:avLst/>
          </a:prstGeom>
          <a:noFill/>
        </p:spPr>
        <p:txBody>
          <a:bodyPr wrap="none" lIns="0" rIns="0" tIns="0" bIns="0" anchor="t" anchorCtr="0">
            <a:noAutofit/>
          </a:bodyPr>
          <a:lstStyle/>
          <a:p>
            <a:pPr algn="l">
              <a:lnSpc>
                <a:spcPct val="100000"/>
              </a:lnSpc>
              <a:spcBef>
                <a:spcPts val="0"/>
              </a:spcBef>
              <a:spcAft>
                <a:spcPts val="0"/>
              </a:spcAft>
            </a:pPr>
            <a:r>
              <a:rPr sz="960" b="1">
                <a:solidFill>
                  <a:srgbClr val="007C78"/>
                </a:solidFill>
                <a:latin typeface="DejaVu Sans"/>
              </a:rPr>
              <a:t>I3</a:t>
            </a:r>
          </a:p>
        </p:txBody>
      </p:sp>
      <p:sp>
        <p:nvSpPr>
          <p:cNvPr id="17" name="TextBox 16"/>
          <p:cNvSpPr txBox="1"/>
          <p:nvPr/>
        </p:nvSpPr>
        <p:spPr>
          <a:xfrm>
            <a:off x="716280" y="4122419"/>
            <a:ext cx="5090160" cy="292608"/>
          </a:xfrm>
          <a:prstGeom prst="rect">
            <a:avLst/>
          </a:prstGeom>
          <a:noFill/>
        </p:spPr>
        <p:txBody>
          <a:bodyPr wrap="none" lIns="0" rIns="0" tIns="0" bIns="0" anchor="t" anchorCtr="0">
            <a:noAutofit/>
          </a:bodyPr>
          <a:lstStyle/>
          <a:p>
            <a:pPr algn="l">
              <a:lnSpc>
                <a:spcPct val="100000"/>
              </a:lnSpc>
              <a:spcBef>
                <a:spcPts val="0"/>
              </a:spcBef>
              <a:spcAft>
                <a:spcPts val="0"/>
              </a:spcAft>
            </a:pPr>
            <a:r>
              <a:rPr sz="1800" b="1">
                <a:solidFill>
                  <a:srgbClr val="007C78"/>
                </a:solidFill>
                <a:latin typeface="DejaVu Sans"/>
              </a:rPr>
              <a:t>Effect-specific finality</a:t>
            </a:r>
          </a:p>
        </p:txBody>
      </p:sp>
      <p:sp>
        <p:nvSpPr>
          <p:cNvPr id="18" name="TextBox 17"/>
          <p:cNvSpPr txBox="1"/>
          <p:nvPr/>
        </p:nvSpPr>
        <p:spPr>
          <a:xfrm>
            <a:off x="716280" y="4491228"/>
            <a:ext cx="509016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Accepted tuple and successful target deploy</a:t>
            </a:r>
          </a:p>
        </p:txBody>
      </p:sp>
      <p:sp>
        <p:nvSpPr>
          <p:cNvPr id="19" name="TextBox 18"/>
          <p:cNvSpPr txBox="1"/>
          <p:nvPr/>
        </p:nvSpPr>
        <p:spPr>
          <a:xfrm>
            <a:off x="716280" y="4754575"/>
            <a:ext cx="509016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effect must match.</a:t>
            </a:r>
          </a:p>
        </p:txBody>
      </p:sp>
      <p:sp>
        <p:nvSpPr>
          <p:cNvPr id="20" name="Rounded Rectangle 19"/>
          <p:cNvSpPr/>
          <p:nvPr/>
        </p:nvSpPr>
        <p:spPr>
          <a:xfrm>
            <a:off x="6217920" y="3718560"/>
            <a:ext cx="5425440" cy="1623060"/>
          </a:xfrm>
          <a:prstGeom prst="roundRect">
            <a:avLst>
              <a:gd name="adj" fmla="val 6103"/>
            </a:avLst>
          </a:prstGeom>
          <a:solidFill>
            <a:srgbClr val="FFFFFF"/>
          </a:solidFill>
          <a:ln w="7620">
            <a:solidFill>
              <a:srgbClr val="007C78"/>
            </a:solidFill>
          </a:ln>
          <a:effectLst/>
        </p:spPr>
        <p:txBody>
          <a:bodyPr rtlCol="0" anchor="ctr"/>
          <a:lstStyle/>
          <a:p>
            <a:pPr algn="ctr"/>
          </a:p>
        </p:txBody>
      </p:sp>
      <p:sp>
        <p:nvSpPr>
          <p:cNvPr id="21" name="TextBox 20"/>
          <p:cNvSpPr txBox="1"/>
          <p:nvPr/>
        </p:nvSpPr>
        <p:spPr>
          <a:xfrm>
            <a:off x="6385559" y="3886200"/>
            <a:ext cx="5090160" cy="156057"/>
          </a:xfrm>
          <a:prstGeom prst="rect">
            <a:avLst/>
          </a:prstGeom>
          <a:noFill/>
        </p:spPr>
        <p:txBody>
          <a:bodyPr wrap="none" lIns="0" rIns="0" tIns="0" bIns="0" anchor="t" anchorCtr="0">
            <a:noAutofit/>
          </a:bodyPr>
          <a:lstStyle/>
          <a:p>
            <a:pPr algn="l">
              <a:lnSpc>
                <a:spcPct val="100000"/>
              </a:lnSpc>
              <a:spcBef>
                <a:spcPts val="0"/>
              </a:spcBef>
              <a:spcAft>
                <a:spcPts val="0"/>
              </a:spcAft>
            </a:pPr>
            <a:r>
              <a:rPr sz="960" b="1">
                <a:solidFill>
                  <a:srgbClr val="007C78"/>
                </a:solidFill>
                <a:latin typeface="DejaVu Sans"/>
              </a:rPr>
              <a:t>I4</a:t>
            </a:r>
          </a:p>
        </p:txBody>
      </p:sp>
      <p:sp>
        <p:nvSpPr>
          <p:cNvPr id="22" name="TextBox 21"/>
          <p:cNvSpPr txBox="1"/>
          <p:nvPr/>
        </p:nvSpPr>
        <p:spPr>
          <a:xfrm>
            <a:off x="6385559" y="4122419"/>
            <a:ext cx="5090160" cy="292608"/>
          </a:xfrm>
          <a:prstGeom prst="rect">
            <a:avLst/>
          </a:prstGeom>
          <a:noFill/>
        </p:spPr>
        <p:txBody>
          <a:bodyPr wrap="none" lIns="0" rIns="0" tIns="0" bIns="0" anchor="t" anchorCtr="0">
            <a:noAutofit/>
          </a:bodyPr>
          <a:lstStyle/>
          <a:p>
            <a:pPr algn="l">
              <a:lnSpc>
                <a:spcPct val="100000"/>
              </a:lnSpc>
              <a:spcBef>
                <a:spcPts val="0"/>
              </a:spcBef>
              <a:spcAft>
                <a:spcPts val="0"/>
              </a:spcAft>
            </a:pPr>
            <a:r>
              <a:rPr sz="1800" b="1">
                <a:solidFill>
                  <a:srgbClr val="007C78"/>
                </a:solidFill>
                <a:latin typeface="DejaVu Sans"/>
              </a:rPr>
              <a:t>Private placement</a:t>
            </a:r>
          </a:p>
        </p:txBody>
      </p:sp>
      <p:sp>
        <p:nvSpPr>
          <p:cNvPr id="23" name="TextBox 22"/>
          <p:cNvSpPr txBox="1"/>
          <p:nvPr/>
        </p:nvSpPr>
        <p:spPr>
          <a:xfrm>
            <a:off x="6385559" y="4491228"/>
            <a:ext cx="509016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Episodes, beliefs, provenance and identifying</a:t>
            </a:r>
          </a:p>
        </p:txBody>
      </p:sp>
      <p:sp>
        <p:nvSpPr>
          <p:cNvPr id="24" name="TextBox 23"/>
          <p:cNvSpPr txBox="1"/>
          <p:nvPr/>
        </p:nvSpPr>
        <p:spPr>
          <a:xfrm>
            <a:off x="6385559" y="4754575"/>
            <a:ext cx="509016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hashes stay off-chain.</a:t>
            </a:r>
          </a:p>
        </p:txBody>
      </p:sp>
      <p:cxnSp>
        <p:nvCxnSpPr>
          <p:cNvPr id="25" name="Connector 24"/>
          <p:cNvCxnSpPr/>
          <p:nvPr/>
        </p:nvCxnSpPr>
        <p:spPr>
          <a:xfrm>
            <a:off x="548640" y="6393180"/>
            <a:ext cx="11094720" cy="0"/>
          </a:xfrm>
          <a:prstGeom prst="line">
            <a:avLst/>
          </a:prstGeom>
          <a:ln w="7620">
            <a:solidFill>
              <a:srgbClr val="C9D2D4"/>
            </a:solidFill>
          </a:ln>
          <a:effectLst/>
        </p:spPr>
      </p:cxnSp>
      <p:sp>
        <p:nvSpPr>
          <p:cNvPr id="26" name="TextBox 25"/>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ConsensusFinality · M5 source bfb0ec8</a:t>
            </a:r>
          </a:p>
        </p:txBody>
      </p:sp>
      <p:sp>
        <p:nvSpPr>
          <p:cNvPr id="27" name="TextBox 26"/>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07 / 12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07 / RECOVERY AND REFUSAL</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Failure is part of the interface</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A lost response, a missing prerequisite and a deliberate refusal require different interpretations.</a:t>
            </a:r>
          </a:p>
        </p:txBody>
      </p:sp>
      <p:sp>
        <p:nvSpPr>
          <p:cNvPr id="5" name="TextBox 4"/>
          <p:cNvSpPr txBox="1"/>
          <p:nvPr/>
        </p:nvSpPr>
        <p:spPr>
          <a:xfrm>
            <a:off x="670560" y="1790700"/>
            <a:ext cx="32232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BOUNDARY / TRIGGER</a:t>
            </a:r>
          </a:p>
        </p:txBody>
      </p:sp>
      <p:sp>
        <p:nvSpPr>
          <p:cNvPr id="6" name="TextBox 5"/>
          <p:cNvSpPr txBox="1"/>
          <p:nvPr/>
        </p:nvSpPr>
        <p:spPr>
          <a:xfrm>
            <a:off x="4137660" y="1790700"/>
            <a:ext cx="42138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OWNER-AUTHORITATIVE OUTCOME</a:t>
            </a:r>
          </a:p>
        </p:txBody>
      </p:sp>
      <p:sp>
        <p:nvSpPr>
          <p:cNvPr id="7" name="TextBox 6"/>
          <p:cNvSpPr txBox="1"/>
          <p:nvPr/>
        </p:nvSpPr>
        <p:spPr>
          <a:xfrm>
            <a:off x="8595360" y="1790700"/>
            <a:ext cx="2926079"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EVIDENCE / LIMITATION</a:t>
            </a:r>
          </a:p>
        </p:txBody>
      </p:sp>
      <p:sp>
        <p:nvSpPr>
          <p:cNvPr id="8" name="Rounded Rectangle 7"/>
          <p:cNvSpPr/>
          <p:nvPr/>
        </p:nvSpPr>
        <p:spPr>
          <a:xfrm>
            <a:off x="548640" y="2110740"/>
            <a:ext cx="11094720" cy="1066800"/>
          </a:xfrm>
          <a:prstGeom prst="roundRect">
            <a:avLst>
              <a:gd name="adj" fmla="val 4285"/>
            </a:avLst>
          </a:prstGeom>
          <a:solidFill>
            <a:srgbClr val="FFFFFF"/>
          </a:solidFill>
          <a:ln>
            <a:noFill/>
          </a:ln>
          <a:effectLst/>
        </p:spPr>
        <p:txBody>
          <a:bodyPr rtlCol="0" anchor="ctr"/>
          <a:lstStyle/>
          <a:p>
            <a:pPr algn="ctr"/>
          </a:p>
        </p:txBody>
      </p:sp>
      <p:sp>
        <p:nvSpPr>
          <p:cNvPr id="9" name="TextBox 8"/>
          <p:cNvSpPr txBox="1"/>
          <p:nvPr/>
        </p:nvSpPr>
        <p:spPr>
          <a:xfrm>
            <a:off x="670560" y="2240280"/>
            <a:ext cx="32232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Caller dies after result</a:t>
            </a:r>
          </a:p>
        </p:txBody>
      </p:sp>
      <p:sp>
        <p:nvSpPr>
          <p:cNvPr id="10" name="TextBox 9"/>
          <p:cNvSpPr txBox="1"/>
          <p:nvPr/>
        </p:nvSpPr>
        <p:spPr>
          <a:xfrm>
            <a:off x="670560" y="2484120"/>
            <a:ext cx="32232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acceptance</a:t>
            </a:r>
          </a:p>
        </p:txBody>
      </p:sp>
      <p:sp>
        <p:nvSpPr>
          <p:cNvPr id="11" name="TextBox 10"/>
          <p:cNvSpPr txBox="1"/>
          <p:nvPr/>
        </p:nvSpPr>
        <p:spPr>
          <a:xfrm>
            <a:off x="4137660" y="2240280"/>
            <a:ext cx="4213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Recover accepted artifact, reauthorize and</a:t>
            </a:r>
          </a:p>
        </p:txBody>
      </p:sp>
      <p:sp>
        <p:nvSpPr>
          <p:cNvPr id="12" name="TextBox 11"/>
          <p:cNvSpPr txBox="1"/>
          <p:nvPr/>
        </p:nvSpPr>
        <p:spPr>
          <a:xfrm>
            <a:off x="4137660" y="2484120"/>
            <a:ext cx="4213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continue.</a:t>
            </a:r>
          </a:p>
        </p:txBody>
      </p:sp>
      <p:sp>
        <p:nvSpPr>
          <p:cNvPr id="13" name="TextBox 12"/>
          <p:cNvSpPr txBox="1"/>
          <p:nvPr/>
        </p:nvSpPr>
        <p:spPr>
          <a:xfrm>
            <a:off x="8595360" y="2240280"/>
            <a:ext cx="29260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No substitute artifact</a:t>
            </a:r>
          </a:p>
        </p:txBody>
      </p:sp>
      <p:sp>
        <p:nvSpPr>
          <p:cNvPr id="14" name="Rounded Rectangle 13"/>
          <p:cNvSpPr/>
          <p:nvPr/>
        </p:nvSpPr>
        <p:spPr>
          <a:xfrm>
            <a:off x="548640" y="3215640"/>
            <a:ext cx="11094720" cy="1066800"/>
          </a:xfrm>
          <a:prstGeom prst="roundRect">
            <a:avLst>
              <a:gd name="adj" fmla="val 4285"/>
            </a:avLst>
          </a:prstGeom>
          <a:solidFill>
            <a:srgbClr val="FFFFFF"/>
          </a:solidFill>
          <a:ln>
            <a:noFill/>
          </a:ln>
          <a:effectLst/>
        </p:spPr>
        <p:txBody>
          <a:bodyPr rtlCol="0" anchor="ctr"/>
          <a:lstStyle/>
          <a:p>
            <a:pPr algn="ctr"/>
          </a:p>
        </p:txBody>
      </p:sp>
      <p:sp>
        <p:nvSpPr>
          <p:cNvPr id="15" name="TextBox 14"/>
          <p:cNvSpPr txBox="1"/>
          <p:nvPr/>
        </p:nvSpPr>
        <p:spPr>
          <a:xfrm>
            <a:off x="670560" y="3345179"/>
            <a:ext cx="32232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Adapter dies before/after</a:t>
            </a:r>
          </a:p>
        </p:txBody>
      </p:sp>
      <p:sp>
        <p:nvSpPr>
          <p:cNvPr id="16" name="TextBox 15"/>
          <p:cNvSpPr txBox="1"/>
          <p:nvPr/>
        </p:nvSpPr>
        <p:spPr>
          <a:xfrm>
            <a:off x="670560" y="3589019"/>
            <a:ext cx="32232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sending</a:t>
            </a:r>
          </a:p>
        </p:txBody>
      </p:sp>
      <p:sp>
        <p:nvSpPr>
          <p:cNvPr id="17" name="TextBox 16"/>
          <p:cNvSpPr txBox="1"/>
          <p:nvPr/>
        </p:nvSpPr>
        <p:spPr>
          <a:xfrm>
            <a:off x="4137660" y="3345179"/>
            <a:ext cx="4213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Replay persisted signed bytes, even</a:t>
            </a:r>
          </a:p>
        </p:txBody>
      </p:sp>
      <p:sp>
        <p:nvSpPr>
          <p:cNvPr id="18" name="TextBox 17"/>
          <p:cNvSpPr txBox="1"/>
          <p:nvPr/>
        </p:nvSpPr>
        <p:spPr>
          <a:xfrm>
            <a:off x="4137660" y="3589019"/>
            <a:ext cx="4213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without signer access.</a:t>
            </a:r>
          </a:p>
        </p:txBody>
      </p:sp>
      <p:sp>
        <p:nvSpPr>
          <p:cNvPr id="19" name="TextBox 18"/>
          <p:cNvSpPr txBox="1"/>
          <p:nvPr/>
        </p:nvSpPr>
        <p:spPr>
          <a:xfrm>
            <a:off x="8595360" y="3345179"/>
            <a:ext cx="29260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Four total M4 caller/adapter</a:t>
            </a:r>
          </a:p>
        </p:txBody>
      </p:sp>
      <p:sp>
        <p:nvSpPr>
          <p:cNvPr id="20" name="TextBox 19"/>
          <p:cNvSpPr txBox="1"/>
          <p:nvPr/>
        </p:nvSpPr>
        <p:spPr>
          <a:xfrm>
            <a:off x="8595360" y="3589019"/>
            <a:ext cx="29260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kill boundaries</a:t>
            </a:r>
          </a:p>
        </p:txBody>
      </p:sp>
      <p:sp>
        <p:nvSpPr>
          <p:cNvPr id="21" name="Rounded Rectangle 20"/>
          <p:cNvSpPr/>
          <p:nvPr/>
        </p:nvSpPr>
        <p:spPr>
          <a:xfrm>
            <a:off x="548640" y="4320540"/>
            <a:ext cx="11094720" cy="1066800"/>
          </a:xfrm>
          <a:prstGeom prst="roundRect">
            <a:avLst>
              <a:gd name="adj" fmla="val 4285"/>
            </a:avLst>
          </a:prstGeom>
          <a:solidFill>
            <a:srgbClr val="FFFFFF"/>
          </a:solidFill>
          <a:ln>
            <a:noFill/>
          </a:ln>
          <a:effectLst/>
        </p:spPr>
        <p:txBody>
          <a:bodyPr rtlCol="0" anchor="ctr"/>
          <a:lstStyle/>
          <a:p>
            <a:pPr algn="ctr"/>
          </a:p>
        </p:txBody>
      </p:sp>
      <p:sp>
        <p:nvSpPr>
          <p:cNvPr id="22" name="TextBox 21"/>
          <p:cNvSpPr txBox="1"/>
          <p:nvPr/>
        </p:nvSpPr>
        <p:spPr>
          <a:xfrm>
            <a:off x="670560" y="4450080"/>
            <a:ext cx="32232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Node restarts / observation</a:t>
            </a:r>
          </a:p>
        </p:txBody>
      </p:sp>
      <p:sp>
        <p:nvSpPr>
          <p:cNvPr id="23" name="TextBox 22"/>
          <p:cNvSpPr txBox="1"/>
          <p:nvPr/>
        </p:nvSpPr>
        <p:spPr>
          <a:xfrm>
            <a:off x="670560" y="4693920"/>
            <a:ext cx="32232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reply lost</a:t>
            </a:r>
          </a:p>
        </p:txBody>
      </p:sp>
      <p:sp>
        <p:nvSpPr>
          <p:cNvPr id="24" name="TextBox 23"/>
          <p:cNvSpPr txBox="1"/>
          <p:nvPr/>
        </p:nvSpPr>
        <p:spPr>
          <a:xfrm>
            <a:off x="4137660" y="4450080"/>
            <a:ext cx="4213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Observe same genesis/state; independent</a:t>
            </a:r>
          </a:p>
        </p:txBody>
      </p:sp>
      <p:sp>
        <p:nvSpPr>
          <p:cNvPr id="25" name="TextBox 24"/>
          <p:cNvSpPr txBox="1"/>
          <p:nvPr/>
        </p:nvSpPr>
        <p:spPr>
          <a:xfrm>
            <a:off x="4137660" y="4693920"/>
            <a:ext cx="4213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reader confirms effect.</a:t>
            </a:r>
          </a:p>
        </p:txBody>
      </p:sp>
      <p:sp>
        <p:nvSpPr>
          <p:cNvPr id="26" name="TextBox 25"/>
          <p:cNvSpPr txBox="1"/>
          <p:nvPr/>
        </p:nvSpPr>
        <p:spPr>
          <a:xfrm>
            <a:off x="8595360" y="4450080"/>
            <a:ext cx="29260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No claim of decentralized</a:t>
            </a:r>
          </a:p>
        </p:txBody>
      </p:sp>
      <p:sp>
        <p:nvSpPr>
          <p:cNvPr id="27" name="TextBox 26"/>
          <p:cNvSpPr txBox="1"/>
          <p:nvPr/>
        </p:nvSpPr>
        <p:spPr>
          <a:xfrm>
            <a:off x="8595360" y="4693920"/>
            <a:ext cx="29260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failover</a:t>
            </a:r>
          </a:p>
        </p:txBody>
      </p:sp>
      <p:sp>
        <p:nvSpPr>
          <p:cNvPr id="28" name="Rounded Rectangle 27"/>
          <p:cNvSpPr/>
          <p:nvPr/>
        </p:nvSpPr>
        <p:spPr>
          <a:xfrm>
            <a:off x="548640" y="5829300"/>
            <a:ext cx="11094720" cy="403859"/>
          </a:xfrm>
          <a:prstGeom prst="roundRect">
            <a:avLst>
              <a:gd name="adj" fmla="val 15094"/>
            </a:avLst>
          </a:prstGeom>
          <a:solidFill>
            <a:srgbClr val="E7ECEB"/>
          </a:solidFill>
          <a:ln>
            <a:noFill/>
          </a:ln>
          <a:effectLst/>
        </p:spPr>
        <p:txBody>
          <a:bodyPr rtlCol="0" anchor="ctr"/>
          <a:lstStyle/>
          <a:p>
            <a:pPr algn="ctr"/>
          </a:p>
        </p:txBody>
      </p:sp>
      <p:sp>
        <p:nvSpPr>
          <p:cNvPr id="29" name="TextBox 28"/>
          <p:cNvSpPr txBox="1"/>
          <p:nvPr/>
        </p:nvSpPr>
        <p:spPr>
          <a:xfrm>
            <a:off x="716280" y="5905500"/>
            <a:ext cx="107442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1">
                <a:solidFill>
                  <a:srgbClr val="102B3F"/>
                </a:solidFill>
                <a:latin typeface="DejaVu Sans"/>
              </a:rPr>
              <a:t>Recovery evidence covers same-host process termination with intact files; it does not prove power-loss durability.</a:t>
            </a:r>
          </a:p>
        </p:txBody>
      </p:sp>
      <p:cxnSp>
        <p:nvCxnSpPr>
          <p:cNvPr id="30" name="Connector 29"/>
          <p:cNvCxnSpPr/>
          <p:nvPr/>
        </p:nvCxnSpPr>
        <p:spPr>
          <a:xfrm>
            <a:off x="548640" y="6393180"/>
            <a:ext cx="11094720" cy="0"/>
          </a:xfrm>
          <a:prstGeom prst="line">
            <a:avLst/>
          </a:prstGeom>
          <a:ln w="7620">
            <a:solidFill>
              <a:srgbClr val="C9D2D4"/>
            </a:solidFill>
          </a:ln>
          <a:effectLst/>
        </p:spPr>
      </p:cxnSp>
      <p:sp>
        <p:nvSpPr>
          <p:cNvPr id="31" name="TextBox 30"/>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ConsensusFinality · M5 source bfb0ec8</a:t>
            </a:r>
          </a:p>
        </p:txBody>
      </p:sp>
      <p:sp>
        <p:nvSpPr>
          <p:cNvPr id="32" name="TextBox 31"/>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08 / 12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08 / BENCHMARKS</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Measurements and benchmark gaps</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Observed values, contract limits and proposed experiments are explicitly different kinds of evidence.</a:t>
            </a:r>
          </a:p>
        </p:txBody>
      </p:sp>
      <p:sp>
        <p:nvSpPr>
          <p:cNvPr id="5" name="Rounded Rectangle 4"/>
          <p:cNvSpPr/>
          <p:nvPr/>
        </p:nvSpPr>
        <p:spPr>
          <a:xfrm>
            <a:off x="548640" y="1859280"/>
            <a:ext cx="3535679" cy="2004059"/>
          </a:xfrm>
          <a:prstGeom prst="roundRect">
            <a:avLst>
              <a:gd name="adj" fmla="val 4942"/>
            </a:avLst>
          </a:prstGeom>
          <a:solidFill>
            <a:srgbClr val="FFFFFF"/>
          </a:solidFill>
          <a:ln w="7620">
            <a:solidFill>
              <a:srgbClr val="007C78"/>
            </a:solidFill>
          </a:ln>
          <a:effectLst/>
        </p:spPr>
        <p:txBody>
          <a:bodyPr rtlCol="0" anchor="ctr"/>
          <a:lstStyle/>
          <a:p>
            <a:pPr algn="ctr"/>
          </a:p>
        </p:txBody>
      </p:sp>
      <p:sp>
        <p:nvSpPr>
          <p:cNvPr id="6" name="TextBox 5"/>
          <p:cNvSpPr txBox="1"/>
          <p:nvPr/>
        </p:nvSpPr>
        <p:spPr>
          <a:xfrm>
            <a:off x="723900" y="2019300"/>
            <a:ext cx="3185160" cy="585216"/>
          </a:xfrm>
          <a:prstGeom prst="rect">
            <a:avLst/>
          </a:prstGeom>
          <a:noFill/>
        </p:spPr>
        <p:txBody>
          <a:bodyPr wrap="none" lIns="0" rIns="0" tIns="0" bIns="0" anchor="t" anchorCtr="0">
            <a:noAutofit/>
          </a:bodyPr>
          <a:lstStyle/>
          <a:p>
            <a:pPr algn="l">
              <a:lnSpc>
                <a:spcPct val="100000"/>
              </a:lnSpc>
              <a:spcBef>
                <a:spcPts val="0"/>
              </a:spcBef>
              <a:spcAft>
                <a:spcPts val="0"/>
              </a:spcAft>
            </a:pPr>
            <a:r>
              <a:rPr sz="3600" b="1">
                <a:solidFill>
                  <a:srgbClr val="007C78"/>
                </a:solidFill>
                <a:latin typeface="DejaVu Sans"/>
              </a:rPr>
              <a:t>4.066 s</a:t>
            </a:r>
          </a:p>
        </p:txBody>
      </p:sp>
      <p:sp>
        <p:nvSpPr>
          <p:cNvPr id="7" name="TextBox 6"/>
          <p:cNvSpPr txBox="1"/>
          <p:nvPr/>
        </p:nvSpPr>
        <p:spPr>
          <a:xfrm>
            <a:off x="723900" y="2712720"/>
            <a:ext cx="3185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1">
                <a:solidFill>
                  <a:srgbClr val="102B3F"/>
                </a:solidFill>
                <a:latin typeface="DejaVu Sans"/>
              </a:rPr>
              <a:t>First finalized-effect</a:t>
            </a:r>
          </a:p>
        </p:txBody>
      </p:sp>
      <p:sp>
        <p:nvSpPr>
          <p:cNvPr id="8" name="TextBox 7"/>
          <p:cNvSpPr txBox="1"/>
          <p:nvPr/>
        </p:nvSpPr>
        <p:spPr>
          <a:xfrm>
            <a:off x="723900" y="2966313"/>
            <a:ext cx="3185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1">
                <a:solidFill>
                  <a:srgbClr val="102B3F"/>
                </a:solidFill>
                <a:latin typeface="DejaVu Sans"/>
              </a:rPr>
              <a:t>observation</a:t>
            </a:r>
          </a:p>
        </p:txBody>
      </p:sp>
      <p:sp>
        <p:nvSpPr>
          <p:cNvPr id="9" name="TextBox 8"/>
          <p:cNvSpPr txBox="1"/>
          <p:nvPr/>
        </p:nvSpPr>
        <p:spPr>
          <a:xfrm>
            <a:off x="723900" y="3284219"/>
            <a:ext cx="318516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One M4 local run; includes</a:t>
            </a:r>
          </a:p>
        </p:txBody>
      </p:sp>
      <p:sp>
        <p:nvSpPr>
          <p:cNvPr id="10" name="TextBox 9"/>
          <p:cNvSpPr txBox="1"/>
          <p:nvPr/>
        </p:nvSpPr>
        <p:spPr>
          <a:xfrm>
            <a:off x="723900" y="3498799"/>
            <a:ext cx="318516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proposal/observation overhead</a:t>
            </a:r>
          </a:p>
        </p:txBody>
      </p:sp>
      <p:sp>
        <p:nvSpPr>
          <p:cNvPr id="11" name="Rounded Rectangle 10"/>
          <p:cNvSpPr/>
          <p:nvPr/>
        </p:nvSpPr>
        <p:spPr>
          <a:xfrm>
            <a:off x="4328160" y="1859280"/>
            <a:ext cx="3535679" cy="2004059"/>
          </a:xfrm>
          <a:prstGeom prst="roundRect">
            <a:avLst>
              <a:gd name="adj" fmla="val 4942"/>
            </a:avLst>
          </a:prstGeom>
          <a:solidFill>
            <a:srgbClr val="FFFFFF"/>
          </a:solidFill>
          <a:ln w="7620">
            <a:solidFill>
              <a:srgbClr val="007C78"/>
            </a:solidFill>
          </a:ln>
          <a:effectLst/>
        </p:spPr>
        <p:txBody>
          <a:bodyPr rtlCol="0" anchor="ctr"/>
          <a:lstStyle/>
          <a:p>
            <a:pPr algn="ctr"/>
          </a:p>
        </p:txBody>
      </p:sp>
      <p:sp>
        <p:nvSpPr>
          <p:cNvPr id="12" name="TextBox 11"/>
          <p:cNvSpPr txBox="1"/>
          <p:nvPr/>
        </p:nvSpPr>
        <p:spPr>
          <a:xfrm>
            <a:off x="4503420" y="2019300"/>
            <a:ext cx="3185160" cy="585216"/>
          </a:xfrm>
          <a:prstGeom prst="rect">
            <a:avLst/>
          </a:prstGeom>
          <a:noFill/>
        </p:spPr>
        <p:txBody>
          <a:bodyPr wrap="none" lIns="0" rIns="0" tIns="0" bIns="0" anchor="t" anchorCtr="0">
            <a:noAutofit/>
          </a:bodyPr>
          <a:lstStyle/>
          <a:p>
            <a:pPr algn="l">
              <a:lnSpc>
                <a:spcPct val="100000"/>
              </a:lnSpc>
              <a:spcBef>
                <a:spcPts val="0"/>
              </a:spcBef>
              <a:spcAft>
                <a:spcPts val="0"/>
              </a:spcAft>
            </a:pPr>
            <a:r>
              <a:rPr sz="3600" b="1">
                <a:solidFill>
                  <a:srgbClr val="007C78"/>
                </a:solidFill>
                <a:latin typeface="DejaVu Sans"/>
              </a:rPr>
              <a:t>673 B</a:t>
            </a:r>
          </a:p>
        </p:txBody>
      </p:sp>
      <p:sp>
        <p:nvSpPr>
          <p:cNvPr id="13" name="TextBox 12"/>
          <p:cNvSpPr txBox="1"/>
          <p:nvPr/>
        </p:nvSpPr>
        <p:spPr>
          <a:xfrm>
            <a:off x="4503420" y="2712720"/>
            <a:ext cx="3185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1">
                <a:solidFill>
                  <a:srgbClr val="102B3F"/>
                </a:solidFill>
                <a:latin typeface="DejaVu Sans"/>
              </a:rPr>
              <a:t>Persisted signed request</a:t>
            </a:r>
          </a:p>
        </p:txBody>
      </p:sp>
      <p:sp>
        <p:nvSpPr>
          <p:cNvPr id="14" name="TextBox 13"/>
          <p:cNvSpPr txBox="1"/>
          <p:nvPr/>
        </p:nvSpPr>
        <p:spPr>
          <a:xfrm>
            <a:off x="4503420" y="3284219"/>
            <a:ext cx="318516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Same bytes survive replay</a:t>
            </a:r>
          </a:p>
        </p:txBody>
      </p:sp>
      <p:sp>
        <p:nvSpPr>
          <p:cNvPr id="15" name="Rounded Rectangle 14"/>
          <p:cNvSpPr/>
          <p:nvPr/>
        </p:nvSpPr>
        <p:spPr>
          <a:xfrm>
            <a:off x="8107680" y="1859280"/>
            <a:ext cx="3535679" cy="2004059"/>
          </a:xfrm>
          <a:prstGeom prst="roundRect">
            <a:avLst>
              <a:gd name="adj" fmla="val 4942"/>
            </a:avLst>
          </a:prstGeom>
          <a:solidFill>
            <a:srgbClr val="FFFFFF"/>
          </a:solidFill>
          <a:ln w="7620">
            <a:solidFill>
              <a:srgbClr val="007C78"/>
            </a:solidFill>
          </a:ln>
          <a:effectLst/>
        </p:spPr>
        <p:txBody>
          <a:bodyPr rtlCol="0" anchor="ctr"/>
          <a:lstStyle/>
          <a:p>
            <a:pPr algn="ctr"/>
          </a:p>
        </p:txBody>
      </p:sp>
      <p:sp>
        <p:nvSpPr>
          <p:cNvPr id="16" name="TextBox 15"/>
          <p:cNvSpPr txBox="1"/>
          <p:nvPr/>
        </p:nvSpPr>
        <p:spPr>
          <a:xfrm>
            <a:off x="8282939" y="2019300"/>
            <a:ext cx="3185160" cy="585216"/>
          </a:xfrm>
          <a:prstGeom prst="rect">
            <a:avLst/>
          </a:prstGeom>
          <a:noFill/>
        </p:spPr>
        <p:txBody>
          <a:bodyPr wrap="none" lIns="0" rIns="0" tIns="0" bIns="0" anchor="t" anchorCtr="0">
            <a:noAutofit/>
          </a:bodyPr>
          <a:lstStyle/>
          <a:p>
            <a:pPr algn="l">
              <a:lnSpc>
                <a:spcPct val="100000"/>
              </a:lnSpc>
              <a:spcBef>
                <a:spcPts val="0"/>
              </a:spcBef>
              <a:spcAft>
                <a:spcPts val="0"/>
              </a:spcAft>
            </a:pPr>
            <a:r>
              <a:rPr sz="3600" b="1">
                <a:solidFill>
                  <a:srgbClr val="007C78"/>
                </a:solidFill>
                <a:latin typeface="DejaVu Sans"/>
              </a:rPr>
              <a:t>675 phlo</a:t>
            </a:r>
          </a:p>
        </p:txBody>
      </p:sp>
      <p:sp>
        <p:nvSpPr>
          <p:cNvPr id="17" name="TextBox 16"/>
          <p:cNvSpPr txBox="1"/>
          <p:nvPr/>
        </p:nvSpPr>
        <p:spPr>
          <a:xfrm>
            <a:off x="8282939" y="2712720"/>
            <a:ext cx="3185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1">
                <a:solidFill>
                  <a:srgbClr val="102B3F"/>
                </a:solidFill>
                <a:latin typeface="DejaVu Sans"/>
              </a:rPr>
              <a:t>Recorded execution cost</a:t>
            </a:r>
          </a:p>
        </p:txBody>
      </p:sp>
      <p:sp>
        <p:nvSpPr>
          <p:cNvPr id="18" name="TextBox 17"/>
          <p:cNvSpPr txBox="1"/>
          <p:nvPr/>
        </p:nvSpPr>
        <p:spPr>
          <a:xfrm>
            <a:off x="8282939" y="3284219"/>
            <a:ext cx="318516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Local fixed workflow; not an</a:t>
            </a:r>
          </a:p>
        </p:txBody>
      </p:sp>
      <p:sp>
        <p:nvSpPr>
          <p:cNvPr id="19" name="TextBox 18"/>
          <p:cNvSpPr txBox="1"/>
          <p:nvPr/>
        </p:nvSpPr>
        <p:spPr>
          <a:xfrm>
            <a:off x="8282939" y="3498799"/>
            <a:ext cx="318516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economic estimate</a:t>
            </a:r>
          </a:p>
        </p:txBody>
      </p:sp>
      <p:sp>
        <p:nvSpPr>
          <p:cNvPr id="20" name="TextBox 19"/>
          <p:cNvSpPr txBox="1"/>
          <p:nvPr/>
        </p:nvSpPr>
        <p:spPr>
          <a:xfrm>
            <a:off x="579120" y="4091940"/>
            <a:ext cx="11003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Single local validator and one generated artifact, with concurrent regressions. No throughput distribution,</a:t>
            </a:r>
          </a:p>
        </p:txBody>
      </p:sp>
      <p:sp>
        <p:nvSpPr>
          <p:cNvPr id="21" name="TextBox 20"/>
          <p:cNvSpPr txBox="1"/>
          <p:nvPr/>
        </p:nvSpPr>
        <p:spPr>
          <a:xfrm>
            <a:off x="579120" y="4335780"/>
            <a:ext cx="11003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public-network latency, economic cost or decentralized-safety benchmark is established.</a:t>
            </a:r>
          </a:p>
        </p:txBody>
      </p:sp>
      <p:sp>
        <p:nvSpPr>
          <p:cNvPr id="22" name="Rounded Rectangle 21"/>
          <p:cNvSpPr/>
          <p:nvPr/>
        </p:nvSpPr>
        <p:spPr>
          <a:xfrm>
            <a:off x="548640" y="5067300"/>
            <a:ext cx="11094720" cy="1150620"/>
          </a:xfrm>
          <a:prstGeom prst="roundRect">
            <a:avLst>
              <a:gd name="adj" fmla="val 8609"/>
            </a:avLst>
          </a:prstGeom>
          <a:solidFill>
            <a:srgbClr val="F3E7CE"/>
          </a:solidFill>
          <a:ln w="7620">
            <a:solidFill>
              <a:srgbClr val="A86A15"/>
            </a:solidFill>
          </a:ln>
          <a:effectLst/>
        </p:spPr>
        <p:txBody>
          <a:bodyPr rtlCol="0" anchor="ctr"/>
          <a:lstStyle/>
          <a:p>
            <a:pPr algn="ctr"/>
          </a:p>
        </p:txBody>
      </p:sp>
      <p:sp>
        <p:nvSpPr>
          <p:cNvPr id="23" name="TextBox 22"/>
          <p:cNvSpPr txBox="1"/>
          <p:nvPr/>
        </p:nvSpPr>
        <p:spPr>
          <a:xfrm>
            <a:off x="716280" y="5234940"/>
            <a:ext cx="1075944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A86A15"/>
                </a:solidFill>
                <a:latin typeface="DejaVu Sans"/>
              </a:rPr>
              <a:t>PROPOSED BENCHMARK · NOT RUN</a:t>
            </a:r>
          </a:p>
        </p:txBody>
      </p:sp>
      <p:sp>
        <p:nvSpPr>
          <p:cNvPr id="24" name="TextBox 23"/>
          <p:cNvSpPr txBox="1"/>
          <p:nvPr/>
        </p:nvSpPr>
        <p:spPr>
          <a:xfrm>
            <a:off x="716280" y="5545226"/>
            <a:ext cx="1075944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0">
                <a:solidFill>
                  <a:srgbClr val="536775"/>
                </a:solidFill>
                <a:latin typeface="DejaVu Sans"/>
              </a:rPr>
              <a:t>Proposed: repeat the same isolated workload with fixed genesis/config; report inclusion and effect-finality p50/p95</a:t>
            </a:r>
          </a:p>
        </p:txBody>
      </p:sp>
      <p:sp>
        <p:nvSpPr>
          <p:cNvPr id="25" name="TextBox 24"/>
          <p:cNvSpPr txBox="1"/>
          <p:nvPr/>
        </p:nvSpPr>
        <p:spPr>
          <a:xfrm>
            <a:off x="716280" y="5779312"/>
            <a:ext cx="1075944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0">
                <a:solidFill>
                  <a:srgbClr val="536775"/>
                </a:solidFill>
                <a:latin typeface="DejaVu Sans"/>
              </a:rPr>
              <a:t>separately, signed size and execution cost, including outage cases.</a:t>
            </a:r>
          </a:p>
        </p:txBody>
      </p:sp>
      <p:cxnSp>
        <p:nvCxnSpPr>
          <p:cNvPr id="26" name="Connector 25"/>
          <p:cNvCxnSpPr/>
          <p:nvPr/>
        </p:nvCxnSpPr>
        <p:spPr>
          <a:xfrm>
            <a:off x="548640" y="6393180"/>
            <a:ext cx="11094720" cy="0"/>
          </a:xfrm>
          <a:prstGeom prst="line">
            <a:avLst/>
          </a:prstGeom>
          <a:ln w="7620">
            <a:solidFill>
              <a:srgbClr val="C9D2D4"/>
            </a:solidFill>
          </a:ln>
          <a:effectLst/>
        </p:spPr>
      </p:cxnSp>
      <p:sp>
        <p:nvSpPr>
          <p:cNvPr id="27" name="TextBox 26"/>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ConsensusFinality · M5 source bfb0ec8</a:t>
            </a:r>
          </a:p>
        </p:txBody>
      </p:sp>
      <p:sp>
        <p:nvSpPr>
          <p:cNvPr id="28" name="TextBox 27"/>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09 / 12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09 / EVIDENCE CLASSIFICATION</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Current state: what is real, what is not</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Current supported regressions pass; historical observations and unsatisfied capabilities keep their labels.</a:t>
            </a:r>
          </a:p>
        </p:txBody>
      </p:sp>
      <p:sp>
        <p:nvSpPr>
          <p:cNvPr id="5" name="TextBox 4"/>
          <p:cNvSpPr txBox="1"/>
          <p:nvPr/>
        </p:nvSpPr>
        <p:spPr>
          <a:xfrm>
            <a:off x="670560" y="1790700"/>
            <a:ext cx="26517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CLASSIFICATION</a:t>
            </a:r>
          </a:p>
        </p:txBody>
      </p:sp>
      <p:sp>
        <p:nvSpPr>
          <p:cNvPr id="6" name="TextBox 5"/>
          <p:cNvSpPr txBox="1"/>
          <p:nvPr/>
        </p:nvSpPr>
        <p:spPr>
          <a:xfrm>
            <a:off x="3566160" y="1790700"/>
            <a:ext cx="795528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MODULE-SPECIFIC STATE</a:t>
            </a:r>
          </a:p>
        </p:txBody>
      </p:sp>
      <p:sp>
        <p:nvSpPr>
          <p:cNvPr id="7" name="Rounded Rectangle 6"/>
          <p:cNvSpPr/>
          <p:nvPr/>
        </p:nvSpPr>
        <p:spPr>
          <a:xfrm>
            <a:off x="548640" y="2110740"/>
            <a:ext cx="11094720" cy="815340"/>
          </a:xfrm>
          <a:prstGeom prst="roundRect">
            <a:avLst>
              <a:gd name="adj" fmla="val 5607"/>
            </a:avLst>
          </a:prstGeom>
          <a:solidFill>
            <a:srgbClr val="FFFFFF"/>
          </a:solidFill>
          <a:ln>
            <a:noFill/>
          </a:ln>
          <a:effectLst/>
        </p:spPr>
        <p:txBody>
          <a:bodyPr rtlCol="0" anchor="ctr"/>
          <a:lstStyle/>
          <a:p>
            <a:pPr algn="ctr"/>
          </a:p>
        </p:txBody>
      </p:sp>
      <p:sp>
        <p:nvSpPr>
          <p:cNvPr id="8" name="TextBox 7"/>
          <p:cNvSpPr txBox="1"/>
          <p:nvPr/>
        </p:nvSpPr>
        <p:spPr>
          <a:xfrm>
            <a:off x="670560" y="2240280"/>
            <a:ext cx="26517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REAL / IMPLEMENTED</a:t>
            </a:r>
          </a:p>
        </p:txBody>
      </p:sp>
      <p:sp>
        <p:nvSpPr>
          <p:cNvPr id="9" name="TextBox 8"/>
          <p:cNvSpPr txBox="1"/>
          <p:nvPr/>
        </p:nvSpPr>
        <p:spPr>
          <a:xfrm>
            <a:off x="3566160" y="2240280"/>
            <a:ext cx="7955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Pinned F1R3node, actual Hive/DeTTa artifact, post-state query and independent</a:t>
            </a:r>
          </a:p>
        </p:txBody>
      </p:sp>
      <p:sp>
        <p:nvSpPr>
          <p:cNvPr id="10" name="TextBox 9"/>
          <p:cNvSpPr txBox="1"/>
          <p:nvPr/>
        </p:nvSpPr>
        <p:spPr>
          <a:xfrm>
            <a:off x="3566160" y="2484120"/>
            <a:ext cx="7955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readback.</a:t>
            </a:r>
          </a:p>
        </p:txBody>
      </p:sp>
      <p:sp>
        <p:nvSpPr>
          <p:cNvPr id="11" name="Rounded Rectangle 10"/>
          <p:cNvSpPr/>
          <p:nvPr/>
        </p:nvSpPr>
        <p:spPr>
          <a:xfrm>
            <a:off x="548640" y="2964179"/>
            <a:ext cx="11094720" cy="815340"/>
          </a:xfrm>
          <a:prstGeom prst="roundRect">
            <a:avLst>
              <a:gd name="adj" fmla="val 5607"/>
            </a:avLst>
          </a:prstGeom>
          <a:solidFill>
            <a:srgbClr val="FFFFFF"/>
          </a:solidFill>
          <a:ln>
            <a:noFill/>
          </a:ln>
          <a:effectLst/>
        </p:spPr>
        <p:txBody>
          <a:bodyPr rtlCol="0" anchor="ctr"/>
          <a:lstStyle/>
          <a:p>
            <a:pPr algn="ctr"/>
          </a:p>
        </p:txBody>
      </p:sp>
      <p:sp>
        <p:nvSpPr>
          <p:cNvPr id="12" name="TextBox 11"/>
          <p:cNvSpPr txBox="1"/>
          <p:nvPr/>
        </p:nvSpPr>
        <p:spPr>
          <a:xfrm>
            <a:off x="670560" y="3093720"/>
            <a:ext cx="26517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FIXTURE / LOCAL TEST</a:t>
            </a:r>
          </a:p>
        </p:txBody>
      </p:sp>
      <p:sp>
        <p:nvSpPr>
          <p:cNvPr id="13" name="TextBox 12"/>
          <p:cNvSpPr txBox="1"/>
          <p:nvPr/>
        </p:nvSpPr>
        <p:spPr>
          <a:xfrm>
            <a:off x="670560" y="3337560"/>
            <a:ext cx="26517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POLICY</a:t>
            </a:r>
          </a:p>
        </p:txBody>
      </p:sp>
      <p:sp>
        <p:nvSpPr>
          <p:cNvPr id="14" name="TextBox 13"/>
          <p:cNvSpPr txBox="1"/>
          <p:nvPr/>
        </p:nvSpPr>
        <p:spPr>
          <a:xfrm>
            <a:off x="3566160" y="3093720"/>
            <a:ext cx="7955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Generated input, test signer/genesis, local approval policy and message</a:t>
            </a:r>
          </a:p>
        </p:txBody>
      </p:sp>
      <p:sp>
        <p:nvSpPr>
          <p:cNvPr id="15" name="TextBox 14"/>
          <p:cNvSpPr txBox="1"/>
          <p:nvPr/>
        </p:nvSpPr>
        <p:spPr>
          <a:xfrm>
            <a:off x="3566160" y="3337560"/>
            <a:ext cx="7955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counterparty.</a:t>
            </a:r>
          </a:p>
        </p:txBody>
      </p:sp>
      <p:sp>
        <p:nvSpPr>
          <p:cNvPr id="16" name="Rounded Rectangle 15"/>
          <p:cNvSpPr/>
          <p:nvPr/>
        </p:nvSpPr>
        <p:spPr>
          <a:xfrm>
            <a:off x="548640" y="3817619"/>
            <a:ext cx="11094720" cy="815340"/>
          </a:xfrm>
          <a:prstGeom prst="roundRect">
            <a:avLst>
              <a:gd name="adj" fmla="val 5607"/>
            </a:avLst>
          </a:prstGeom>
          <a:solidFill>
            <a:srgbClr val="FFFFFF"/>
          </a:solidFill>
          <a:ln>
            <a:noFill/>
          </a:ln>
          <a:effectLst/>
        </p:spPr>
        <p:txBody>
          <a:bodyPr rtlCol="0" anchor="ctr"/>
          <a:lstStyle/>
          <a:p>
            <a:pPr algn="ctr"/>
          </a:p>
        </p:txBody>
      </p:sp>
      <p:sp>
        <p:nvSpPr>
          <p:cNvPr id="17" name="TextBox 16"/>
          <p:cNvSpPr txBox="1"/>
          <p:nvPr/>
        </p:nvSpPr>
        <p:spPr>
          <a:xfrm>
            <a:off x="670560" y="3947160"/>
            <a:ext cx="26517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BLOCKED /</a:t>
            </a:r>
          </a:p>
        </p:txBody>
      </p:sp>
      <p:sp>
        <p:nvSpPr>
          <p:cNvPr id="18" name="TextBox 17"/>
          <p:cNvSpPr txBox="1"/>
          <p:nvPr/>
        </p:nvSpPr>
        <p:spPr>
          <a:xfrm>
            <a:off x="670560" y="4191000"/>
            <a:ext cx="26517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UNSUPPORTED</a:t>
            </a:r>
          </a:p>
        </p:txBody>
      </p:sp>
      <p:sp>
        <p:nvSpPr>
          <p:cNvPr id="19" name="TextBox 18"/>
          <p:cNvSpPr txBox="1"/>
          <p:nvPr/>
        </p:nvSpPr>
        <p:spPr>
          <a:xfrm>
            <a:off x="3566160" y="3947160"/>
            <a:ext cx="7955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Exact dirty historical M1 source reproduction remains blocked; clean M4</a:t>
            </a:r>
          </a:p>
        </p:txBody>
      </p:sp>
      <p:sp>
        <p:nvSpPr>
          <p:cNvPr id="20" name="TextBox 19"/>
          <p:cNvSpPr txBox="1"/>
          <p:nvPr/>
        </p:nvSpPr>
        <p:spPr>
          <a:xfrm>
            <a:off x="3566160" y="4191000"/>
            <a:ext cx="7955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rebaseline passes separately.</a:t>
            </a:r>
          </a:p>
        </p:txBody>
      </p:sp>
      <p:sp>
        <p:nvSpPr>
          <p:cNvPr id="21" name="Rounded Rectangle 20"/>
          <p:cNvSpPr/>
          <p:nvPr/>
        </p:nvSpPr>
        <p:spPr>
          <a:xfrm>
            <a:off x="548640" y="4671060"/>
            <a:ext cx="11094720" cy="815340"/>
          </a:xfrm>
          <a:prstGeom prst="roundRect">
            <a:avLst>
              <a:gd name="adj" fmla="val 5607"/>
            </a:avLst>
          </a:prstGeom>
          <a:solidFill>
            <a:srgbClr val="FFFFFF"/>
          </a:solidFill>
          <a:ln>
            <a:noFill/>
          </a:ln>
          <a:effectLst/>
        </p:spPr>
        <p:txBody>
          <a:bodyPr rtlCol="0" anchor="ctr"/>
          <a:lstStyle/>
          <a:p>
            <a:pPr algn="ctr"/>
          </a:p>
        </p:txBody>
      </p:sp>
      <p:sp>
        <p:nvSpPr>
          <p:cNvPr id="22" name="TextBox 21"/>
          <p:cNvSpPr txBox="1"/>
          <p:nvPr/>
        </p:nvSpPr>
        <p:spPr>
          <a:xfrm>
            <a:off x="670560" y="4800600"/>
            <a:ext cx="26517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UNRUN</a:t>
            </a:r>
          </a:p>
        </p:txBody>
      </p:sp>
      <p:sp>
        <p:nvSpPr>
          <p:cNvPr id="23" name="TextBox 22"/>
          <p:cNvSpPr txBox="1"/>
          <p:nvPr/>
        </p:nvSpPr>
        <p:spPr>
          <a:xfrm>
            <a:off x="3566160" y="4800600"/>
            <a:ext cx="7955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Public networks, multi-validator safety, production keys/economics, power loss</a:t>
            </a:r>
          </a:p>
        </p:txBody>
      </p:sp>
      <p:sp>
        <p:nvSpPr>
          <p:cNvPr id="24" name="TextBox 23"/>
          <p:cNvSpPr txBox="1"/>
          <p:nvPr/>
        </p:nvSpPr>
        <p:spPr>
          <a:xfrm>
            <a:off x="3566160" y="5044440"/>
            <a:ext cx="7955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and trustless attestation.</a:t>
            </a:r>
          </a:p>
        </p:txBody>
      </p:sp>
      <p:sp>
        <p:nvSpPr>
          <p:cNvPr id="25" name="Rounded Rectangle 24"/>
          <p:cNvSpPr/>
          <p:nvPr/>
        </p:nvSpPr>
        <p:spPr>
          <a:xfrm>
            <a:off x="548640" y="5829300"/>
            <a:ext cx="11094720" cy="403859"/>
          </a:xfrm>
          <a:prstGeom prst="roundRect">
            <a:avLst>
              <a:gd name="adj" fmla="val 15094"/>
            </a:avLst>
          </a:prstGeom>
          <a:solidFill>
            <a:srgbClr val="E7ECEB"/>
          </a:solidFill>
          <a:ln>
            <a:noFill/>
          </a:ln>
          <a:effectLst/>
        </p:spPr>
        <p:txBody>
          <a:bodyPr rtlCol="0" anchor="ctr"/>
          <a:lstStyle/>
          <a:p>
            <a:pPr algn="ctr"/>
          </a:p>
        </p:txBody>
      </p:sp>
      <p:sp>
        <p:nvSpPr>
          <p:cNvPr id="26" name="TextBox 25"/>
          <p:cNvSpPr txBox="1"/>
          <p:nvPr/>
        </p:nvSpPr>
        <p:spPr>
          <a:xfrm>
            <a:off x="716280" y="5905500"/>
            <a:ext cx="1074420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102B3F"/>
                </a:solidFill>
                <a:latin typeface="DejaVu Sans"/>
              </a:rPr>
              <a:t>M5 final tested runtime: bfb0ec8 · evidence: 3dc6c11 · module representation is not product completeness.</a:t>
            </a:r>
          </a:p>
        </p:txBody>
      </p:sp>
      <p:cxnSp>
        <p:nvCxnSpPr>
          <p:cNvPr id="27" name="Connector 26"/>
          <p:cNvCxnSpPr/>
          <p:nvPr/>
        </p:nvCxnSpPr>
        <p:spPr>
          <a:xfrm>
            <a:off x="548640" y="6393180"/>
            <a:ext cx="11094720" cy="0"/>
          </a:xfrm>
          <a:prstGeom prst="line">
            <a:avLst/>
          </a:prstGeom>
          <a:ln w="7620">
            <a:solidFill>
              <a:srgbClr val="C9D2D4"/>
            </a:solidFill>
          </a:ln>
          <a:effectLst/>
        </p:spPr>
      </p:cxnSp>
      <p:sp>
        <p:nvSpPr>
          <p:cNvPr id="28" name="TextBox 27"/>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ConsensusFinality · M5 source bfb0ec8</a:t>
            </a:r>
          </a:p>
        </p:txBody>
      </p:sp>
      <p:sp>
        <p:nvSpPr>
          <p:cNvPr id="29" name="TextBox 28"/>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10 / 12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10 / PROPOSED WORK · NOT IMPLEMENTED</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Future directions need acceptance criteria</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These are discussion options, not a committed roadmap or permission to expand the current profile.</a:t>
            </a:r>
          </a:p>
        </p:txBody>
      </p:sp>
      <p:sp>
        <p:nvSpPr>
          <p:cNvPr id="5" name="TextBox 4"/>
          <p:cNvSpPr txBox="1"/>
          <p:nvPr/>
        </p:nvSpPr>
        <p:spPr>
          <a:xfrm>
            <a:off x="670560" y="1790700"/>
            <a:ext cx="28803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DIRECTION</a:t>
            </a:r>
          </a:p>
        </p:txBody>
      </p:sp>
      <p:sp>
        <p:nvSpPr>
          <p:cNvPr id="6" name="TextBox 5"/>
          <p:cNvSpPr txBox="1"/>
          <p:nvPr/>
        </p:nvSpPr>
        <p:spPr>
          <a:xfrm>
            <a:off x="3794760" y="1790700"/>
            <a:ext cx="38709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PREREQUISITE / DESIGN GATE</a:t>
            </a:r>
          </a:p>
        </p:txBody>
      </p:sp>
      <p:sp>
        <p:nvSpPr>
          <p:cNvPr id="7" name="TextBox 6"/>
          <p:cNvSpPr txBox="1"/>
          <p:nvPr/>
        </p:nvSpPr>
        <p:spPr>
          <a:xfrm>
            <a:off x="7909559" y="1790700"/>
            <a:ext cx="3611879"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MEASURE OF SUCCESS</a:t>
            </a:r>
          </a:p>
        </p:txBody>
      </p:sp>
      <p:sp>
        <p:nvSpPr>
          <p:cNvPr id="8" name="Rounded Rectangle 7"/>
          <p:cNvSpPr/>
          <p:nvPr/>
        </p:nvSpPr>
        <p:spPr>
          <a:xfrm>
            <a:off x="548640" y="2110740"/>
            <a:ext cx="11094720" cy="1059180"/>
          </a:xfrm>
          <a:prstGeom prst="roundRect">
            <a:avLst>
              <a:gd name="adj" fmla="val 4316"/>
            </a:avLst>
          </a:prstGeom>
          <a:solidFill>
            <a:srgbClr val="FFFFFF"/>
          </a:solidFill>
          <a:ln>
            <a:noFill/>
          </a:ln>
          <a:effectLst/>
        </p:spPr>
        <p:txBody>
          <a:bodyPr rtlCol="0" anchor="ctr"/>
          <a:lstStyle/>
          <a:p>
            <a:pPr algn="ctr"/>
          </a:p>
        </p:txBody>
      </p:sp>
      <p:sp>
        <p:nvSpPr>
          <p:cNvPr id="9" name="TextBox 8"/>
          <p:cNvSpPr txBox="1"/>
          <p:nvPr/>
        </p:nvSpPr>
        <p:spPr>
          <a:xfrm>
            <a:off x="670560" y="2240280"/>
            <a:ext cx="28803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Measure repeated local</a:t>
            </a:r>
          </a:p>
        </p:txBody>
      </p:sp>
      <p:sp>
        <p:nvSpPr>
          <p:cNvPr id="10" name="TextBox 9"/>
          <p:cNvSpPr txBox="1"/>
          <p:nvPr/>
        </p:nvSpPr>
        <p:spPr>
          <a:xfrm>
            <a:off x="670560" y="2484120"/>
            <a:ext cx="28803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behavior</a:t>
            </a:r>
          </a:p>
        </p:txBody>
      </p:sp>
      <p:sp>
        <p:nvSpPr>
          <p:cNvPr id="11" name="TextBox 10"/>
          <p:cNvSpPr txBox="1"/>
          <p:nvPr/>
        </p:nvSpPr>
        <p:spPr>
          <a:xfrm>
            <a:off x="3794760" y="2240280"/>
            <a:ext cx="38709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Fixed isolated config and repeated</a:t>
            </a:r>
          </a:p>
        </p:txBody>
      </p:sp>
      <p:sp>
        <p:nvSpPr>
          <p:cNvPr id="12" name="TextBox 11"/>
          <p:cNvSpPr txBox="1"/>
          <p:nvPr/>
        </p:nvSpPr>
        <p:spPr>
          <a:xfrm>
            <a:off x="3794760" y="2484120"/>
            <a:ext cx="38709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artifact trials</a:t>
            </a:r>
          </a:p>
        </p:txBody>
      </p:sp>
      <p:sp>
        <p:nvSpPr>
          <p:cNvPr id="13" name="TextBox 12"/>
          <p:cNvSpPr txBox="1"/>
          <p:nvPr/>
        </p:nvSpPr>
        <p:spPr>
          <a:xfrm>
            <a:off x="7909559" y="2240280"/>
            <a:ext cx="36118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Inclusion and effect-finality</a:t>
            </a:r>
          </a:p>
        </p:txBody>
      </p:sp>
      <p:sp>
        <p:nvSpPr>
          <p:cNvPr id="14" name="TextBox 13"/>
          <p:cNvSpPr txBox="1"/>
          <p:nvPr/>
        </p:nvSpPr>
        <p:spPr>
          <a:xfrm>
            <a:off x="7909559" y="2484120"/>
            <a:ext cx="36118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distributions separated</a:t>
            </a:r>
          </a:p>
        </p:txBody>
      </p:sp>
      <p:sp>
        <p:nvSpPr>
          <p:cNvPr id="15" name="Rounded Rectangle 14"/>
          <p:cNvSpPr/>
          <p:nvPr/>
        </p:nvSpPr>
        <p:spPr>
          <a:xfrm>
            <a:off x="548640" y="3208020"/>
            <a:ext cx="11094720" cy="1059180"/>
          </a:xfrm>
          <a:prstGeom prst="roundRect">
            <a:avLst>
              <a:gd name="adj" fmla="val 4316"/>
            </a:avLst>
          </a:prstGeom>
          <a:solidFill>
            <a:srgbClr val="FFFFFF"/>
          </a:solidFill>
          <a:ln>
            <a:noFill/>
          </a:ln>
          <a:effectLst/>
        </p:spPr>
        <p:txBody>
          <a:bodyPr rtlCol="0" anchor="ctr"/>
          <a:lstStyle/>
          <a:p>
            <a:pPr algn="ctr"/>
          </a:p>
        </p:txBody>
      </p:sp>
      <p:sp>
        <p:nvSpPr>
          <p:cNvPr id="16" name="TextBox 15"/>
          <p:cNvSpPr txBox="1"/>
          <p:nvPr/>
        </p:nvSpPr>
        <p:spPr>
          <a:xfrm>
            <a:off x="670560" y="3337560"/>
            <a:ext cx="28803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Strengthen observation</a:t>
            </a:r>
          </a:p>
        </p:txBody>
      </p:sp>
      <p:sp>
        <p:nvSpPr>
          <p:cNvPr id="17" name="TextBox 16"/>
          <p:cNvSpPr txBox="1"/>
          <p:nvPr/>
        </p:nvSpPr>
        <p:spPr>
          <a:xfrm>
            <a:off x="670560" y="3581400"/>
            <a:ext cx="28803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trust</a:t>
            </a:r>
          </a:p>
        </p:txBody>
      </p:sp>
      <p:sp>
        <p:nvSpPr>
          <p:cNvPr id="18" name="TextBox 17"/>
          <p:cNvSpPr txBox="1"/>
          <p:nvPr/>
        </p:nvSpPr>
        <p:spPr>
          <a:xfrm>
            <a:off x="3794760" y="3337560"/>
            <a:ext cx="38709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Explicit independent-proof and</a:t>
            </a:r>
          </a:p>
        </p:txBody>
      </p:sp>
      <p:sp>
        <p:nvSpPr>
          <p:cNvPr id="19" name="TextBox 18"/>
          <p:cNvSpPr txBox="1"/>
          <p:nvPr/>
        </p:nvSpPr>
        <p:spPr>
          <a:xfrm>
            <a:off x="3794760" y="3581400"/>
            <a:ext cx="38709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threat-model contract</a:t>
            </a:r>
          </a:p>
        </p:txBody>
      </p:sp>
      <p:sp>
        <p:nvSpPr>
          <p:cNvPr id="20" name="TextBox 19"/>
          <p:cNvSpPr txBox="1"/>
          <p:nvPr/>
        </p:nvSpPr>
        <p:spPr>
          <a:xfrm>
            <a:off x="7909559" y="3337560"/>
            <a:ext cx="36118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Do not confuse node assertions with</a:t>
            </a:r>
          </a:p>
        </p:txBody>
      </p:sp>
      <p:sp>
        <p:nvSpPr>
          <p:cNvPr id="21" name="TextBox 20"/>
          <p:cNvSpPr txBox="1"/>
          <p:nvPr/>
        </p:nvSpPr>
        <p:spPr>
          <a:xfrm>
            <a:off x="7909559" y="3581400"/>
            <a:ext cx="36118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trustless attestation</a:t>
            </a:r>
          </a:p>
        </p:txBody>
      </p:sp>
      <p:sp>
        <p:nvSpPr>
          <p:cNvPr id="22" name="Rounded Rectangle 21"/>
          <p:cNvSpPr/>
          <p:nvPr/>
        </p:nvSpPr>
        <p:spPr>
          <a:xfrm>
            <a:off x="548640" y="4305300"/>
            <a:ext cx="11094720" cy="1059180"/>
          </a:xfrm>
          <a:prstGeom prst="roundRect">
            <a:avLst>
              <a:gd name="adj" fmla="val 4316"/>
            </a:avLst>
          </a:prstGeom>
          <a:solidFill>
            <a:srgbClr val="FFFFFF"/>
          </a:solidFill>
          <a:ln>
            <a:noFill/>
          </a:ln>
          <a:effectLst/>
        </p:spPr>
        <p:txBody>
          <a:bodyPr rtlCol="0" anchor="ctr"/>
          <a:lstStyle/>
          <a:p>
            <a:pPr algn="ctr"/>
          </a:p>
        </p:txBody>
      </p:sp>
      <p:sp>
        <p:nvSpPr>
          <p:cNvPr id="23" name="TextBox 22"/>
          <p:cNvSpPr txBox="1"/>
          <p:nvPr/>
        </p:nvSpPr>
        <p:spPr>
          <a:xfrm>
            <a:off x="670560" y="4434840"/>
            <a:ext cx="28803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Evaluate broader</a:t>
            </a:r>
          </a:p>
        </p:txBody>
      </p:sp>
      <p:sp>
        <p:nvSpPr>
          <p:cNvPr id="24" name="TextBox 23"/>
          <p:cNvSpPr txBox="1"/>
          <p:nvPr/>
        </p:nvSpPr>
        <p:spPr>
          <a:xfrm>
            <a:off x="670560" y="4678680"/>
            <a:ext cx="28803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deployment</a:t>
            </a:r>
          </a:p>
        </p:txBody>
      </p:sp>
      <p:sp>
        <p:nvSpPr>
          <p:cNvPr id="25" name="TextBox 24"/>
          <p:cNvSpPr txBox="1"/>
          <p:nvPr/>
        </p:nvSpPr>
        <p:spPr>
          <a:xfrm>
            <a:off x="3794760" y="4434840"/>
            <a:ext cx="38709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Separate authorization, isolation and</a:t>
            </a:r>
          </a:p>
        </p:txBody>
      </p:sp>
      <p:sp>
        <p:nvSpPr>
          <p:cNvPr id="26" name="TextBox 25"/>
          <p:cNvSpPr txBox="1"/>
          <p:nvPr/>
        </p:nvSpPr>
        <p:spPr>
          <a:xfrm>
            <a:off x="3794760" y="4678680"/>
            <a:ext cx="38709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multi-validator study</a:t>
            </a:r>
          </a:p>
        </p:txBody>
      </p:sp>
      <p:sp>
        <p:nvSpPr>
          <p:cNvPr id="27" name="TextBox 26"/>
          <p:cNvSpPr txBox="1"/>
          <p:nvPr/>
        </p:nvSpPr>
        <p:spPr>
          <a:xfrm>
            <a:off x="7909559" y="4434840"/>
            <a:ext cx="36118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No silent promotion of local proof</a:t>
            </a:r>
          </a:p>
        </p:txBody>
      </p:sp>
      <p:sp>
        <p:nvSpPr>
          <p:cNvPr id="28" name="TextBox 27"/>
          <p:cNvSpPr txBox="1"/>
          <p:nvPr/>
        </p:nvSpPr>
        <p:spPr>
          <a:xfrm>
            <a:off x="7909559" y="4678680"/>
            <a:ext cx="36118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into network safety</a:t>
            </a:r>
          </a:p>
        </p:txBody>
      </p:sp>
      <p:sp>
        <p:nvSpPr>
          <p:cNvPr id="29" name="Rounded Rectangle 28"/>
          <p:cNvSpPr/>
          <p:nvPr/>
        </p:nvSpPr>
        <p:spPr>
          <a:xfrm>
            <a:off x="548640" y="5829300"/>
            <a:ext cx="11094720" cy="403859"/>
          </a:xfrm>
          <a:prstGeom prst="roundRect">
            <a:avLst>
              <a:gd name="adj" fmla="val 15094"/>
            </a:avLst>
          </a:prstGeom>
          <a:solidFill>
            <a:srgbClr val="E7ECEB"/>
          </a:solidFill>
          <a:ln>
            <a:noFill/>
          </a:ln>
          <a:effectLst/>
        </p:spPr>
        <p:txBody>
          <a:bodyPr rtlCol="0" anchor="ctr"/>
          <a:lstStyle/>
          <a:p>
            <a:pPr algn="ctr"/>
          </a:p>
        </p:txBody>
      </p:sp>
      <p:sp>
        <p:nvSpPr>
          <p:cNvPr id="30" name="TextBox 29"/>
          <p:cNvSpPr txBox="1"/>
          <p:nvPr/>
        </p:nvSpPr>
        <p:spPr>
          <a:xfrm>
            <a:off x="716280" y="5905500"/>
            <a:ext cx="107442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1">
                <a:solidFill>
                  <a:srgbClr val="102B3F"/>
                </a:solidFill>
                <a:latin typeface="DejaVu Sans"/>
              </a:rPr>
              <a:t>Keep ownership, current authorization and explicit compatibility intact; qualify new semantics with a new profile.</a:t>
            </a:r>
          </a:p>
        </p:txBody>
      </p:sp>
      <p:cxnSp>
        <p:nvCxnSpPr>
          <p:cNvPr id="31" name="Connector 30"/>
          <p:cNvCxnSpPr/>
          <p:nvPr/>
        </p:nvCxnSpPr>
        <p:spPr>
          <a:xfrm>
            <a:off x="548640" y="6393180"/>
            <a:ext cx="11094720" cy="0"/>
          </a:xfrm>
          <a:prstGeom prst="line">
            <a:avLst/>
          </a:prstGeom>
          <a:ln w="7620">
            <a:solidFill>
              <a:srgbClr val="C9D2D4"/>
            </a:solidFill>
          </a:ln>
          <a:effectLst/>
        </p:spPr>
      </p:cxnSp>
      <p:sp>
        <p:nvSpPr>
          <p:cNvPr id="32" name="TextBox 31"/>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ConsensusFinality · M5 source bfb0ec8</a:t>
            </a:r>
          </a:p>
        </p:txBody>
      </p:sp>
      <p:sp>
        <p:nvSpPr>
          <p:cNvPr id="33" name="TextBox 32"/>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11 / 12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11 / SOURCES AND TAKEAWAY</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Evidence you can inspect and reproduce</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Read the exact code, contracts and recorded run before treating a claim as a guarantee.</a:t>
            </a:r>
          </a:p>
        </p:txBody>
      </p:sp>
      <p:sp>
        <p:nvSpPr>
          <p:cNvPr id="5" name="Rounded Rectangle 4"/>
          <p:cNvSpPr/>
          <p:nvPr/>
        </p:nvSpPr>
        <p:spPr>
          <a:xfrm>
            <a:off x="548640" y="1783080"/>
            <a:ext cx="11094720" cy="853440"/>
          </a:xfrm>
          <a:prstGeom prst="roundRect">
            <a:avLst>
              <a:gd name="adj" fmla="val 11607"/>
            </a:avLst>
          </a:prstGeom>
          <a:solidFill>
            <a:srgbClr val="DCEFE8"/>
          </a:solidFill>
          <a:ln w="7620">
            <a:solidFill>
              <a:srgbClr val="007C78"/>
            </a:solidFill>
          </a:ln>
          <a:effectLst/>
        </p:spPr>
        <p:txBody>
          <a:bodyPr rtlCol="0" anchor="ctr"/>
          <a:lstStyle/>
          <a:p>
            <a:pPr algn="ctr"/>
          </a:p>
        </p:txBody>
      </p:sp>
      <p:sp>
        <p:nvSpPr>
          <p:cNvPr id="6" name="TextBox 5"/>
          <p:cNvSpPr txBox="1"/>
          <p:nvPr/>
        </p:nvSpPr>
        <p:spPr>
          <a:xfrm>
            <a:off x="716280" y="1950720"/>
            <a:ext cx="107594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1">
                <a:solidFill>
                  <a:srgbClr val="007C78"/>
                </a:solidFill>
                <a:latin typeface="DejaVu Sans"/>
              </a:rPr>
              <a:t>Takeaway</a:t>
            </a:r>
          </a:p>
        </p:txBody>
      </p:sp>
      <p:sp>
        <p:nvSpPr>
          <p:cNvPr id="7" name="TextBox 6"/>
          <p:cNvSpPr txBox="1"/>
          <p:nvPr/>
        </p:nvSpPr>
        <p:spPr>
          <a:xfrm>
            <a:off x="716280" y="2300020"/>
            <a:ext cx="107594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Verify the approved effect, not merely a successful submission.</a:t>
            </a:r>
          </a:p>
        </p:txBody>
      </p:sp>
      <p:sp>
        <p:nvSpPr>
          <p:cNvPr id="8" name="TextBox 7"/>
          <p:cNvSpPr txBox="1"/>
          <p:nvPr/>
        </p:nvSpPr>
        <p:spPr>
          <a:xfrm>
            <a:off x="609600" y="2819400"/>
            <a:ext cx="10972800" cy="175564"/>
          </a:xfrm>
          <a:prstGeom prst="rect">
            <a:avLst/>
          </a:prstGeom>
          <a:noFill/>
        </p:spPr>
        <p:txBody>
          <a:bodyPr wrap="none" lIns="0" rIns="0" tIns="0" bIns="0" anchor="t" anchorCtr="0">
            <a:noAutofit/>
          </a:bodyPr>
          <a:lstStyle/>
          <a:p>
            <a:pPr algn="l">
              <a:lnSpc>
                <a:spcPct val="100000"/>
              </a:lnSpc>
              <a:spcBef>
                <a:spcPts val="0"/>
              </a:spcBef>
              <a:spcAft>
                <a:spcPts val="0"/>
              </a:spcAft>
            </a:pPr>
            <a:r>
              <a:rPr sz="1080" b="1">
                <a:solidFill>
                  <a:srgbClr val="536775"/>
                </a:solidFill>
                <a:latin typeface="DejaVu Sans"/>
              </a:rPr>
              <a:t>SUPPORTED REPRODUCTION ENTRYPOINT · PREREQUISITES REQUIRED</a:t>
            </a:r>
          </a:p>
        </p:txBody>
      </p:sp>
      <p:sp>
        <p:nvSpPr>
          <p:cNvPr id="9" name="TextBox 8"/>
          <p:cNvSpPr txBox="1"/>
          <p:nvPr/>
        </p:nvSpPr>
        <p:spPr>
          <a:xfrm>
            <a:off x="609600" y="3124200"/>
            <a:ext cx="109347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0">
                <a:solidFill>
                  <a:srgbClr val="102B3F"/>
                </a:solidFill>
                <a:latin typeface="DejaVu Sans Mono"/>
              </a:rPr>
              <a:t>uv run --python 3.11 --locked python scripts/verify_m4.py &lt;build&gt; --output &lt;fresh&gt;</a:t>
            </a:r>
          </a:p>
        </p:txBody>
      </p:sp>
      <p:sp>
        <p:nvSpPr>
          <p:cNvPr id="10" name="TextBox 9"/>
          <p:cNvSpPr txBox="1"/>
          <p:nvPr/>
        </p:nvSpPr>
        <p:spPr>
          <a:xfrm>
            <a:off x="609600" y="3726179"/>
            <a:ext cx="108966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Use the historical tested M4 checkout 55ed540 or its intended compatible scope. M5 verifies unchanged</a:t>
            </a:r>
          </a:p>
        </p:txBody>
      </p:sp>
      <p:sp>
        <p:nvSpPr>
          <p:cNvPr id="11" name="TextBox 10"/>
          <p:cNvSpPr txBox="1"/>
          <p:nvPr/>
        </p:nvSpPr>
        <p:spPr>
          <a:xfrm>
            <a:off x="609600" y="3970019"/>
            <a:ext cx="108966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real-chain behavior via verify_m5.py; source, namespace and recipe requirements remain explicit.</a:t>
            </a:r>
          </a:p>
        </p:txBody>
      </p:sp>
      <p:sp>
        <p:nvSpPr>
          <p:cNvPr id="12" name="TextBox 11"/>
          <p:cNvSpPr txBox="1"/>
          <p:nvPr/>
        </p:nvSpPr>
        <p:spPr>
          <a:xfrm>
            <a:off x="609600" y="4716780"/>
            <a:ext cx="109347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315E9C"/>
                </a:solidFill>
                <a:latin typeface="DejaVu Sans Mono"/>
              </a:rPr>
              <a:t>fusion/adapters/f1r3_m4.py</a:t>
            </a:r>
          </a:p>
        </p:txBody>
      </p:sp>
      <p:sp>
        <p:nvSpPr>
          <p:cNvPr id="13" name="TextBox 12"/>
          <p:cNvSpPr txBox="1"/>
          <p:nvPr/>
        </p:nvSpPr>
        <p:spPr>
          <a:xfrm>
            <a:off x="609600" y="4968240"/>
            <a:ext cx="109347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315E9C"/>
                </a:solidFill>
                <a:latin typeface="DejaVu Sans Mono"/>
              </a:rPr>
              <a:t>integration/hive/commitment/program.py</a:t>
            </a:r>
          </a:p>
        </p:txBody>
      </p:sp>
      <p:sp>
        <p:nvSpPr>
          <p:cNvPr id="14" name="TextBox 13"/>
          <p:cNvSpPr txBox="1"/>
          <p:nvPr/>
        </p:nvSpPr>
        <p:spPr>
          <a:xfrm>
            <a:off x="609600" y="5219700"/>
            <a:ext cx="109347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315E9C"/>
                </a:solidFill>
                <a:latin typeface="DejaVu Sans Mono"/>
              </a:rPr>
              <a:t>evidence/m4/final/same-artifact.json</a:t>
            </a:r>
          </a:p>
        </p:txBody>
      </p:sp>
      <p:sp>
        <p:nvSpPr>
          <p:cNvPr id="15" name="TextBox 14"/>
          <p:cNvSpPr txBox="1"/>
          <p:nvPr/>
        </p:nvSpPr>
        <p:spPr>
          <a:xfrm>
            <a:off x="609600" y="5471160"/>
            <a:ext cx="109347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315E9C"/>
                </a:solidFill>
                <a:latin typeface="DejaVu Sans Mono"/>
              </a:rPr>
              <a:t>evidence/m4/final/readback.json</a:t>
            </a:r>
          </a:p>
        </p:txBody>
      </p:sp>
      <p:sp>
        <p:nvSpPr>
          <p:cNvPr id="16" name="TextBox 15"/>
          <p:cNvSpPr txBox="1"/>
          <p:nvPr/>
        </p:nvSpPr>
        <p:spPr>
          <a:xfrm>
            <a:off x="609600" y="5867400"/>
            <a:ext cx="108966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0">
                <a:solidFill>
                  <a:srgbClr val="536775"/>
                </a:solidFill>
                <a:latin typeface="DejaVu Sans"/>
              </a:rPr>
              <a:t>Source 494df69a1ac401c3d3b2cf79dbfde07f74b5e277 · all citations and full notes accompany this deck.</a:t>
            </a:r>
          </a:p>
        </p:txBody>
      </p:sp>
      <p:cxnSp>
        <p:nvCxnSpPr>
          <p:cNvPr id="17" name="Connector 16"/>
          <p:cNvCxnSpPr/>
          <p:nvPr/>
        </p:nvCxnSpPr>
        <p:spPr>
          <a:xfrm>
            <a:off x="548640" y="6393180"/>
            <a:ext cx="11094720" cy="0"/>
          </a:xfrm>
          <a:prstGeom prst="line">
            <a:avLst/>
          </a:prstGeom>
          <a:ln w="7620">
            <a:solidFill>
              <a:srgbClr val="C9D2D4"/>
            </a:solidFill>
          </a:ln>
          <a:effectLst/>
        </p:spPr>
      </p:cxnSp>
      <p:sp>
        <p:nvSpPr>
          <p:cNvPr id="18" name="TextBox 17"/>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ConsensusFinality · M5 source bfb0ec8</a:t>
            </a:r>
          </a:p>
        </p:txBody>
      </p:sp>
      <p:sp>
        <p:nvSpPr>
          <p:cNvPr id="19" name="TextBox 18"/>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12 / 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Omega × ASI — ConsensusFinality</dc:title>
  <dc:subject>Submit one approved generated-result commitment and observe matching inclusion post-state plus deploy-effect finality.</dc:subject>
  <dc:creator>Omega × ASI module-interface project</dc:creator>
  <cp:keywords>Omega, ASI, M5, ELI16, ConsensusFinality</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