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the analogy, then state the technical responsibility: Accept schema-bound ordered relations, preserve semantic identity and expose bounded incidence pages. A byte store cannot answer structural questions. Explicit ordered roles allow traversal without hiding semantics in payload conventions. Do not treat the analogy as an additional experiment. This is a standalone talk about one responsibility, not a claim that every module is a separate service or repository.</a:t>
            </a:r>
          </a:p>
          <a:p/>
          <a:p>
            <a:r>
              <a:t>Evidence and implementation: [relations.py](https://github.com/machieke/fusion-module-interfaces/blob/494df69a1ac401c3d3b2cf79dbfde07f74b5e277/fusion/relations.py), [lookup_contracts.py](https://github.com/machieke/fusion-module-interfaces/blob/494df69a1ac401c3d3b2cf79dbfde07f74b5e277/fusion/lookup_contracts.py), [lookup.py](https://github.com/machieke/fusion-module-interfaces/blob/494df69a1ac401c3d3b2cf79dbfde07f74b5e277/fusion/lookup.py), [test_m5.py](https://github.com/machieke/fusion-module-interfaces/blob/494df69a1ac401c3d3b2cf79dbfde07f74b5e277/tests/test_m5.py), [test_m5_real.py](https://github.com/machieke/fusion-module-interfaces/blob/494df69a1ac401c3d3b2cf79dbfde07f74b5e277/integration/test_m5_real.py), [lookup-trace-1.json](https://github.com/machieke/fusion-module-interfaces/blob/494df69a1ac401c3d3b2cf79dbfde07f74b5e277/evidence/m5/traces/lookup-trace-1.json).</a:t>
            </a:r>
          </a:p>
          <a:p/>
          <a:p>
            <a:r>
              <a:t>Scope: repository snapshot 494df69a1ac401c3d3b2cf79dbfde07f74b5e277; tested M5 runtime bfb0ec8856c932dc2bcbc05b8949c957da8d72cd. Historical observations keep their own milestone source. This deck build runs no runtime or benchmark. Future directions and proposed benchmark designs are not implemented work or measured results.</a:t>
            </a:r>
          </a:p>
          <a:p/>
          <a:p>
            <a:r>
              <a:t>Source: Relations · M5 source bfb0ec8</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Locate Relations in the bounded fifteen-family inventory. The grey groups are explanatory categories, not deployment units. RevisionMath, the evidence relay, native plugins and transport bindings are supporting seams rather than additional module families. Registry and Resolver are separate responsibilities even though both are implemented in registry.py. Fifteen represented families is not full Omega requirements coverage. Relations calls only declared AtomStorage methods. Its accepted ledger is independent from payload persistence and from Search. It does not require a graph database.</a:t>
            </a:r>
          </a:p>
          <a:p/>
          <a:p>
            <a:r>
              <a:t>Evidence and implementation: [relations.py](https://github.com/machieke/fusion-module-interfaces/blob/494df69a1ac401c3d3b2cf79dbfde07f74b5e277/fusion/relations.py), [lookup_contracts.py](https://github.com/machieke/fusion-module-interfaces/blob/494df69a1ac401c3d3b2cf79dbfde07f74b5e277/fusion/lookup_contracts.py), [lookup.py](https://github.com/machieke/fusion-module-interfaces/blob/494df69a1ac401c3d3b2cf79dbfde07f74b5e277/fusion/lookup.py), [test_m5.py](https://github.com/machieke/fusion-module-interfaces/blob/494df69a1ac401c3d3b2cf79dbfde07f74b5e277/tests/test_m5.py), [test_m5_real.py](https://github.com/machieke/fusion-module-interfaces/blob/494df69a1ac401c3d3b2cf79dbfde07f74b5e277/integration/test_m5_real.py), [lookup-trace-1.json](https://github.com/machieke/fusion-module-interfaces/blob/494df69a1ac401c3d3b2cf79dbfde07f74b5e277/evidence/m5/traces/lookup-trace-1.json).</a:t>
            </a:r>
          </a:p>
          <a:p/>
          <a:p>
            <a:r>
              <a:t>Scope: repository snapshot 494df69a1ac401c3d3b2cf79dbfde07f74b5e277; tested M5 runtime bfb0ec8856c932dc2bcbc05b8949c957da8d72cd. Historical observations keep their own milestone source. This deck build runs no runtime or benchmark. Future directions and proposed benchmark designs are not implemented work or measured results.</a:t>
            </a:r>
          </a:p>
          <a:p/>
          <a:p>
            <a:r>
              <a:t>Source: Relations · M5 source bfb0ec8</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Relations calls only declared AtomStorage methods. Its accepted ledger is independent from payload persistence and from Search. It does not require a graph database. The left node is a caller or caller class; the right nodes distinguish foreign ports, pure helpers, local state and runtime internals. There is no implied shared transaction. An orphan atom is not an accepted or traversable relation.</a:t>
            </a:r>
          </a:p>
          <a:p/>
          <a:p>
            <a:r>
              <a:t>Evidence and implementation: [relations.py](https://github.com/machieke/fusion-module-interfaces/blob/494df69a1ac401c3d3b2cf79dbfde07f74b5e277/fusion/relations.py), [lookup_contracts.py](https://github.com/machieke/fusion-module-interfaces/blob/494df69a1ac401c3d3b2cf79dbfde07f74b5e277/fusion/lookup_contracts.py), [lookup.py](https://github.com/machieke/fusion-module-interfaces/blob/494df69a1ac401c3d3b2cf79dbfde07f74b5e277/fusion/lookup.py), [test_m5.py](https://github.com/machieke/fusion-module-interfaces/blob/494df69a1ac401c3d3b2cf79dbfde07f74b5e277/tests/test_m5.py), [test_m5_real.py](https://github.com/machieke/fusion-module-interfaces/blob/494df69a1ac401c3d3b2cf79dbfde07f74b5e277/integration/test_m5_real.py), [lookup-trace-1.json](https://github.com/machieke/fusion-module-interfaces/blob/494df69a1ac401c3d3b2cf79dbfde07f74b5e277/evidence/m5/traces/lookup-trace-1.json).</a:t>
            </a:r>
          </a:p>
          <a:p/>
          <a:p>
            <a:r>
              <a:t>Scope: repository snapshot 494df69a1ac401c3d3b2cf79dbfde07f74b5e277; tested M5 runtime bfb0ec8856c932dc2bcbc05b8949c957da8d72cd. Historical observations keep their own milestone source. This deck build runs no runtime or benchmark. Future directions and proposed benchmark designs are not implemented work or measured results.</a:t>
            </a:r>
          </a:p>
          <a:p/>
          <a:p>
            <a:r>
              <a:t>Source: Relations · M5 source bfb0ec8</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State ownership is the key contract, not the file layout. Accepted structural ledger: Schema, direction, ordered roles and acceptance sequence. Replay + incidence: Semantic duplicate handling and fixed-head traversal. Unaccepted payloads: An orphan atom is not an accepted or traversable relation. Truth and general graph search: No inference, ontology engine, transitive query or hidden graph backend. Explicit compatibility: schema-ordered-relations/2 · contract 2.0.0 · fresh stores. Limits: 128 accepted relations; 512 replay keys; pages ≤8; finite schema set.</a:t>
            </a:r>
          </a:p>
          <a:p/>
          <a:p>
            <a:r>
              <a:t>Evidence and implementation: [relations.py](https://github.com/machieke/fusion-module-interfaces/blob/494df69a1ac401c3d3b2cf79dbfde07f74b5e277/fusion/relations.py), [lookup_contracts.py](https://github.com/machieke/fusion-module-interfaces/blob/494df69a1ac401c3d3b2cf79dbfde07f74b5e277/fusion/lookup_contracts.py), [lookup.py](https://github.com/machieke/fusion-module-interfaces/blob/494df69a1ac401c3d3b2cf79dbfde07f74b5e277/fusion/lookup.py), [test_m5.py](https://github.com/machieke/fusion-module-interfaces/blob/494df69a1ac401c3d3b2cf79dbfde07f74b5e277/tests/test_m5.py), [test_m5_real.py](https://github.com/machieke/fusion-module-interfaces/blob/494df69a1ac401c3d3b2cf79dbfde07f74b5e277/integration/test_m5_real.py), [lookup-trace-1.json](https://github.com/machieke/fusion-module-interfaces/blob/494df69a1ac401c3d3b2cf79dbfde07f74b5e277/evidence/m5/traces/lookup-trace-1.json).</a:t>
            </a:r>
          </a:p>
          <a:p/>
          <a:p>
            <a:r>
              <a:t>Scope: repository snapshot 494df69a1ac401c3d3b2cf79dbfde07f74b5e277; tested M5 runtime bfb0ec8856c932dc2bcbc05b8949c957da8d72cd. Historical observations keep their own milestone source. This deck build runs no runtime or benchmark. Future directions and proposed benchmark designs are not implemented work or measured results.</a:t>
            </a:r>
          </a:p>
          <a:p/>
          <a:p>
            <a:r>
              <a:t>Source: Relations · M5 source bfb0ec8</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contract from inputs to effects. assertRelation: Validate structure, persist payload, accept; Semantic identity excludes transport key. getRelation: Read an accepted structure; Reject orphan or malformed relation payload. outgoing: Page origin-role incidence; Fixed head and bound cursor. incoming: Page destination-role incidence; Reverse incidence; symmetric schemas explicit. Operation groups on this slide are not a new coverage denominator. The evidence ledger distinguishes new operations from inherited dependencies. Supporting internal helpers are labelled as seams and are not advertised remote services.</a:t>
            </a:r>
          </a:p>
          <a:p/>
          <a:p>
            <a:r>
              <a:t>Evidence and implementation: [relations.py](https://github.com/machieke/fusion-module-interfaces/blob/494df69a1ac401c3d3b2cf79dbfde07f74b5e277/fusion/relations.py), [lookup_contracts.py](https://github.com/machieke/fusion-module-interfaces/blob/494df69a1ac401c3d3b2cf79dbfde07f74b5e277/fusion/lookup_contracts.py), [lookup.py](https://github.com/machieke/fusion-module-interfaces/blob/494df69a1ac401c3d3b2cf79dbfde07f74b5e277/fusion/lookup.py), [test_m5.py](https://github.com/machieke/fusion-module-interfaces/blob/494df69a1ac401c3d3b2cf79dbfde07f74b5e277/tests/test_m5.py), [test_m5_real.py](https://github.com/machieke/fusion-module-interfaces/blob/494df69a1ac401c3d3b2cf79dbfde07f74b5e277/integration/test_m5_real.py), [lookup-trace-1.json](https://github.com/machieke/fusion-module-interfaces/blob/494df69a1ac401c3d3b2cf79dbfde07f74b5e277/evidence/m5/traces/lookup-trace-1.json).</a:t>
            </a:r>
          </a:p>
          <a:p/>
          <a:p>
            <a:r>
              <a:t>Scope: repository snapshot 494df69a1ac401c3d3b2cf79dbfde07f74b5e277; tested M5 runtime bfb0ec8856c932dc2bcbc05b8949c957da8d72cd. Historical observations keep their own milestone source. This deck build runs no runtime or benchmark. Future directions and proposed benchmark designs are not implemented work or measured results.</a:t>
            </a:r>
          </a:p>
          <a:p/>
          <a:p>
            <a:r>
              <a:t>Source: Relations · M5 source bfb0ec8</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example to connect the responsibility to observable behavior. 1. Discover root: Search returns a task reference. 2. Follow outgoing: Read its requires relations at a fixed head. 3. Inspect roles: Resolve dependent → prerequisite identities. 4. Verify incoming: Confirm reverse incidence; retrieve payloads. Evidence classification: ACTUAL NATIVE HIVE LOOKUP · generated private corpus. Do not infer performance, broad production readiness or extra runtime integrations from this example.</a:t>
            </a:r>
          </a:p>
          <a:p/>
          <a:p>
            <a:r>
              <a:t>Evidence and implementation: [relations.py](https://github.com/machieke/fusion-module-interfaces/blob/494df69a1ac401c3d3b2cf79dbfde07f74b5e277/fusion/relations.py), [lookup_contracts.py](https://github.com/machieke/fusion-module-interfaces/blob/494df69a1ac401c3d3b2cf79dbfde07f74b5e277/fusion/lookup_contracts.py), [lookup.py](https://github.com/machieke/fusion-module-interfaces/blob/494df69a1ac401c3d3b2cf79dbfde07f74b5e277/fusion/lookup.py), [test_m5.py](https://github.com/machieke/fusion-module-interfaces/blob/494df69a1ac401c3d3b2cf79dbfde07f74b5e277/tests/test_m5.py), [test_m5_real.py](https://github.com/machieke/fusion-module-interfaces/blob/494df69a1ac401c3d3b2cf79dbfde07f74b5e277/integration/test_m5_real.py), [lookup-trace-1.json](https://github.com/machieke/fusion-module-interfaces/blob/494df69a1ac401c3d3b2cf79dbfde07f74b5e277/evidence/m5/traces/lookup-trace-1.json).</a:t>
            </a:r>
          </a:p>
          <a:p/>
          <a:p>
            <a:r>
              <a:t>Scope: repository snapshot 494df69a1ac401c3d3b2cf79dbfde07f74b5e277; tested M5 runtime bfb0ec8856c932dc2bcbc05b8949c957da8d72cd. Historical observations keep their own milestone source. This deck build runs no runtime or benchmark. Future directions and proposed benchmark designs are not implemented work or measured results.</a:t>
            </a:r>
          </a:p>
          <a:p/>
          <a:p>
            <a:r>
              <a:t>Source: Relations · M5 source bfb0ec8</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invariants should survive provider substitution and future optimization. Structural identity: Type/schema/direction/ordered roles/scope define meaning. One incidence: Self-links and repeated endpoints do not duplicate the same incidence. Snapshot pagination: Cursor binds principal, scope, endpoint, direction and accepted head. Independent acceptance: Payload creation and relation acceptance remain separate commits. The supporting tests and runtime evidence are in the linked sources; this slide does not claim a formal proof or a production security audit.</a:t>
            </a:r>
          </a:p>
          <a:p/>
          <a:p>
            <a:r>
              <a:t>Evidence and implementation: [relations.py](https://github.com/machieke/fusion-module-interfaces/blob/494df69a1ac401c3d3b2cf79dbfde07f74b5e277/fusion/relations.py), [lookup_contracts.py](https://github.com/machieke/fusion-module-interfaces/blob/494df69a1ac401c3d3b2cf79dbfde07f74b5e277/fusion/lookup_contracts.py), [lookup.py](https://github.com/machieke/fusion-module-interfaces/blob/494df69a1ac401c3d3b2cf79dbfde07f74b5e277/fusion/lookup.py), [test_m5.py](https://github.com/machieke/fusion-module-interfaces/blob/494df69a1ac401c3d3b2cf79dbfde07f74b5e277/tests/test_m5.py), [test_m5_real.py](https://github.com/machieke/fusion-module-interfaces/blob/494df69a1ac401c3d3b2cf79dbfde07f74b5e277/integration/test_m5_real.py), [lookup-trace-1.json](https://github.com/machieke/fusion-module-interfaces/blob/494df69a1ac401c3d3b2cf79dbfde07f74b5e277/evidence/m5/traces/lookup-trace-1.json).</a:t>
            </a:r>
          </a:p>
          <a:p/>
          <a:p>
            <a:r>
              <a:t>Scope: repository snapshot 494df69a1ac401c3d3b2cf79dbfde07f74b5e277; tested M5 runtime bfb0ec8856c932dc2bcbc05b8949c957da8d72cd. Historical observations keep their own milestone source. This deck build runs no runtime or benchmark. Future directions and proposed benchmark designs are not implemented work or measured results.</a:t>
            </a:r>
          </a:p>
          <a:p/>
          <a:p>
            <a:r>
              <a:t>Source: Relations · M5 source bfb0ec8</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State the owner boundary before the recovery claim. Crash after payload, before acceptance: Orphan stays invisible; retry may accept it. One real process-kill case. Crash after acceptance, before reply: Recover the accepted relation once. One real process-kill case. Changed cursor / revoked authority: Fail explicitly; no cross-scope continuation. Malformed/cursor/auth tests. A fixture can position the failure while a real process is killed. Local replay semantics do not imply exactly-once physical execution, a distributed transaction, or global failover. For pure/static modules the relevant failure is selection/refusal, not invented journal recovery.</a:t>
            </a:r>
          </a:p>
          <a:p/>
          <a:p>
            <a:r>
              <a:t>Evidence and implementation: [relations.py](https://github.com/machieke/fusion-module-interfaces/blob/494df69a1ac401c3d3b2cf79dbfde07f74b5e277/fusion/relations.py), [lookup_contracts.py](https://github.com/machieke/fusion-module-interfaces/blob/494df69a1ac401c3d3b2cf79dbfde07f74b5e277/fusion/lookup_contracts.py), [lookup.py](https://github.com/machieke/fusion-module-interfaces/blob/494df69a1ac401c3d3b2cf79dbfde07f74b5e277/fusion/lookup.py), [test_m5.py](https://github.com/machieke/fusion-module-interfaces/blob/494df69a1ac401c3d3b2cf79dbfde07f74b5e277/tests/test_m5.py), [test_m5_real.py](https://github.com/machieke/fusion-module-interfaces/blob/494df69a1ac401c3d3b2cf79dbfde07f74b5e277/integration/test_m5_real.py), [lookup-trace-1.json](https://github.com/machieke/fusion-module-interfaces/blob/494df69a1ac401c3d3b2cf79dbfde07f74b5e277/evidence/m5/traces/lookup-trace-1.json).</a:t>
            </a:r>
          </a:p>
          <a:p/>
          <a:p>
            <a:r>
              <a:t>Scope: repository snapshot 494df69a1ac401c3d3b2cf79dbfde07f74b5e277; tested M5 runtime bfb0ec8856c932dc2bcbc05b8949c957da8d72cd. Historical observations keep their own milestone source. This deck build runs no runtime or benchmark. Future directions and proposed benchmark designs are not implemented work or measured results.</a:t>
            </a:r>
          </a:p>
          <a:p/>
          <a:p>
            <a:r>
              <a:t>Source: Relations · M5 source bfb0ec8</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every number with its unit and source class. 4 / 4 Logical operations exercised: Contract + real-provider + native consumer. 15 Requires edges in native demo: Five roots connected to three prerequisites. 128 Accepted relations per fresh store: Declared cap; no throughput claim. The 15-edge example demonstrates one-hop traversal and reverse incidence. No isolated relation throughput, latency or large-graph scaling benchmark has been run. Proposed: vary fan-out, schema arity, repeated endpoints and page size; measure append and traversal p50/p95 with fixed-head correctness under concurrent appends. No new benchmark is executed for this presentation. Do not compare overlapping suite times or use a one-run workflow measurement as a latency percentile.</a:t>
            </a:r>
          </a:p>
          <a:p/>
          <a:p>
            <a:r>
              <a:t>Evidence and implementation: [relations.py](https://github.com/machieke/fusion-module-interfaces/blob/494df69a1ac401c3d3b2cf79dbfde07f74b5e277/fusion/relations.py), [lookup_contracts.py](https://github.com/machieke/fusion-module-interfaces/blob/494df69a1ac401c3d3b2cf79dbfde07f74b5e277/fusion/lookup_contracts.py), [lookup.py](https://github.com/machieke/fusion-module-interfaces/blob/494df69a1ac401c3d3b2cf79dbfde07f74b5e277/fusion/lookup.py), [test_m5.py](https://github.com/machieke/fusion-module-interfaces/blob/494df69a1ac401c3d3b2cf79dbfde07f74b5e277/tests/test_m5.py), [test_m5_real.py](https://github.com/machieke/fusion-module-interfaces/blob/494df69a1ac401c3d3b2cf79dbfde07f74b5e277/integration/test_m5_real.py), [lookup-trace-1.json](https://github.com/machieke/fusion-module-interfaces/blob/494df69a1ac401c3d3b2cf79dbfde07f74b5e277/evidence/m5/traces/lookup-trace-1.json).</a:t>
            </a:r>
          </a:p>
          <a:p/>
          <a:p>
            <a:r>
              <a:t>Scope: repository snapshot 494df69a1ac401c3d3b2cf79dbfde07f74b5e277; tested M5 runtime bfb0ec8856c932dc2bcbc05b8949c957da8d72cd. Historical observations keep their own milestone source. This deck build runs no runtime or benchmark. Future directions and proposed benchmark designs are not implemented work or measured results.</a:t>
            </a:r>
          </a:p>
          <a:p/>
          <a:p>
            <a:r>
              <a:t>Source: Relations · M5 source bfb0ec8</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Implemented local code is not automatically a production provider. Real: SQLite RelationOwner over real local DeTTa; actual authenticated Hive traversal. Fixture: Generated schemas/corpus, malformed responses and injected faults; independent storage alternative. Blocked or unsupported: No required M5 gate blocked; historical tuple Relations declaration is not silently upgraded. Unrun: Large graphs, distributed writers, multi-hop query planning, migration and graph-database substitution. All required M5 gates passed in the recorded final run, including legacy M1–M4 behavior; this presentation does not rerun those integrations. Human maintainers remain unassigned.</a:t>
            </a:r>
          </a:p>
          <a:p/>
          <a:p>
            <a:r>
              <a:t>Evidence and implementation: [relations.py](https://github.com/machieke/fusion-module-interfaces/blob/494df69a1ac401c3d3b2cf79dbfde07f74b5e277/fusion/relations.py), [lookup_contracts.py](https://github.com/machieke/fusion-module-interfaces/blob/494df69a1ac401c3d3b2cf79dbfde07f74b5e277/fusion/lookup_contracts.py), [lookup.py](https://github.com/machieke/fusion-module-interfaces/blob/494df69a1ac401c3d3b2cf79dbfde07f74b5e277/fusion/lookup.py), [test_m5.py](https://github.com/machieke/fusion-module-interfaces/blob/494df69a1ac401c3d3b2cf79dbfde07f74b5e277/tests/test_m5.py), [test_m5_real.py](https://github.com/machieke/fusion-module-interfaces/blob/494df69a1ac401c3d3b2cf79dbfde07f74b5e277/integration/test_m5_real.py), [lookup-trace-1.json](https://github.com/machieke/fusion-module-interfaces/blob/494df69a1ac401c3d3b2cf79dbfde07f74b5e277/evidence/m5/traces/lookup-trace-1.json).</a:t>
            </a:r>
          </a:p>
          <a:p/>
          <a:p>
            <a:r>
              <a:t>Scope: repository snapshot 494df69a1ac401c3d3b2cf79dbfde07f74b5e277; tested M5 runtime bfb0ec8856c932dc2bcbc05b8949c957da8d72cd. Historical observations keep their own milestone source. This deck build runs no runtime or benchmark. Future directions and proposed benchmark designs are not implemented work or measured results.</a:t>
            </a:r>
          </a:p>
          <a:p/>
          <a:p>
            <a:r>
              <a:t>Source: Relations · M5 source bfb0ec8</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Discuss future work as conditional engineering proposals. Extend schema vocabulary requires Versioned role semantics and negative tests; success means No ambiguous direction or structural identity. Measure fan-out costs requires Controlled degree/arity/page matrix; success means Stable pagination with bounded memory. Explore a second provider requires Independent accepted-state implementation; success means Same contract outcomes through unchanged consumer. No new cognition, scheduler, migration or chain capability is implemented by this series. Any changed numerical semantics, placement or replay lifetime requires separate design and verification rather than a presentation claim.</a:t>
            </a:r>
          </a:p>
          <a:p/>
          <a:p>
            <a:r>
              <a:t>Evidence and implementation: [relations.py](https://github.com/machieke/fusion-module-interfaces/blob/494df69a1ac401c3d3b2cf79dbfde07f74b5e277/fusion/relations.py), [lookup_contracts.py](https://github.com/machieke/fusion-module-interfaces/blob/494df69a1ac401c3d3b2cf79dbfde07f74b5e277/fusion/lookup_contracts.py), [lookup.py](https://github.com/machieke/fusion-module-interfaces/blob/494df69a1ac401c3d3b2cf79dbfde07f74b5e277/fusion/lookup.py), [test_m5.py](https://github.com/machieke/fusion-module-interfaces/blob/494df69a1ac401c3d3b2cf79dbfde07f74b5e277/tests/test_m5.py), [test_m5_real.py](https://github.com/machieke/fusion-module-interfaces/blob/494df69a1ac401c3d3b2cf79dbfde07f74b5e277/integration/test_m5_real.py), [lookup-trace-1.json](https://github.com/machieke/fusion-module-interfaces/blob/494df69a1ac401c3d3b2cf79dbfde07f74b5e277/evidence/m5/traces/lookup-trace-1.json).</a:t>
            </a:r>
          </a:p>
          <a:p/>
          <a:p>
            <a:r>
              <a:t>Scope: repository snapshot 494df69a1ac401c3d3b2cf79dbfde07f74b5e277; tested M5 runtime bfb0ec8856c932dc2bcbc05b8949c957da8d72cd. Historical observations keep their own milestone source. This deck build runs no runtime or benchmark. Future directions and proposed benchmark designs are not implemented work or measured results.</a:t>
            </a:r>
          </a:p>
          <a:p/>
          <a:p>
            <a:r>
              <a:t>Source: Relations · M5 source bfb0ec8</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Conclude with: A relation becomes visible when its owner accepts it. The reproduction entrypoint is uv run --python 3.11 --locked python scripts/verify_m5.py --environment &lt;env&gt; --chain-build &lt;chain&gt; --output &lt;fresh&gt;. The all-gates run separates fixtures, real storage, native Hive and legacy regressions. Keep generated private corpus and journals private. Build/export checks for this series are separate from runtime tests. Exact upstream pins remain in integration/hive/sources.json, integration/pln/sources.json, integration/pln/deduction-sources.json and the M4/M5 source manifests. Commands use fresh output/state; raw provider environments, credentials, journals and private IDs should not be published.</a:t>
            </a:r>
          </a:p>
          <a:p/>
          <a:p>
            <a:r>
              <a:t>Evidence and implementation: [relations.py](https://github.com/machieke/fusion-module-interfaces/blob/494df69a1ac401c3d3b2cf79dbfde07f74b5e277/fusion/relations.py), [lookup_contracts.py](https://github.com/machieke/fusion-module-interfaces/blob/494df69a1ac401c3d3b2cf79dbfde07f74b5e277/fusion/lookup_contracts.py), [lookup.py](https://github.com/machieke/fusion-module-interfaces/blob/494df69a1ac401c3d3b2cf79dbfde07f74b5e277/fusion/lookup.py), [test_m5.py](https://github.com/machieke/fusion-module-interfaces/blob/494df69a1ac401c3d3b2cf79dbfde07f74b5e277/tests/test_m5.py), [test_m5_real.py](https://github.com/machieke/fusion-module-interfaces/blob/494df69a1ac401c3d3b2cf79dbfde07f74b5e277/integration/test_m5_real.py), [lookup-trace-1.json](https://github.com/machieke/fusion-module-interfaces/blob/494df69a1ac401c3d3b2cf79dbfde07f74b5e277/evidence/m5/traces/lookup-trace-1.json).</a:t>
            </a:r>
          </a:p>
          <a:p/>
          <a:p>
            <a:r>
              <a:t>Scope: repository snapshot 494df69a1ac401c3d3b2cf79dbfde07f74b5e277; tested M5 runtime bfb0ec8856c932dc2bcbc05b8949c957da8d72cd. Historical observations keep their own milestone source. This deck build runs no runtime or benchmark. Future directions and proposed benchmark designs are not implemented work or measured results.</a:t>
            </a:r>
          </a:p>
          <a:p/>
          <a:p>
            <a:r>
              <a:t>Source: Relations · M5 source bfb0ec8</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2233"/>
        </a:solidFill>
        <a:effectLst/>
      </p:bgPr>
    </p:bg>
    <p:spTree>
      <p:nvGrpSpPr>
        <p:cNvPr id="1" name=""/>
        <p:cNvGrpSpPr/>
        <p:nvPr/>
      </p:nvGrpSpPr>
      <p:grpSpPr/>
      <p:sp>
        <p:nvSpPr>
          <p:cNvPr id="2" name="TextBox 1"/>
          <p:cNvSpPr txBox="1"/>
          <p:nvPr/>
        </p:nvSpPr>
        <p:spPr>
          <a:xfrm>
            <a:off x="548640" y="327660"/>
            <a:ext cx="108204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1">
                <a:solidFill>
                  <a:srgbClr val="AAC0CC"/>
                </a:solidFill>
                <a:latin typeface="DejaVu Sans"/>
              </a:rPr>
              <a:t>OMEGA × ASI / STANDALONE MODULE SERIES</a:t>
            </a:r>
          </a:p>
        </p:txBody>
      </p:sp>
      <p:sp>
        <p:nvSpPr>
          <p:cNvPr id="3" name="TextBox 2"/>
          <p:cNvSpPr txBox="1"/>
          <p:nvPr/>
        </p:nvSpPr>
        <p:spPr>
          <a:xfrm>
            <a:off x="533400" y="723900"/>
            <a:ext cx="11125200" cy="507187"/>
          </a:xfrm>
          <a:prstGeom prst="rect">
            <a:avLst/>
          </a:prstGeom>
          <a:noFill/>
        </p:spPr>
        <p:txBody>
          <a:bodyPr wrap="none" lIns="0" rIns="0" tIns="0" bIns="0" anchor="t" anchorCtr="0">
            <a:noAutofit/>
          </a:bodyPr>
          <a:lstStyle/>
          <a:p>
            <a:pPr algn="l">
              <a:lnSpc>
                <a:spcPct val="100000"/>
              </a:lnSpc>
              <a:spcBef>
                <a:spcPts val="0"/>
              </a:spcBef>
              <a:spcAft>
                <a:spcPts val="0"/>
              </a:spcAft>
            </a:pPr>
            <a:r>
              <a:rPr sz="3120" b="1">
                <a:solidFill>
                  <a:srgbClr val="FFFFFF"/>
                </a:solidFill>
                <a:latin typeface="DejaVu Sans"/>
              </a:rPr>
              <a:t>Relations</a:t>
            </a:r>
          </a:p>
        </p:txBody>
      </p:sp>
      <p:sp>
        <p:nvSpPr>
          <p:cNvPr id="4" name="TextBox 3"/>
          <p:cNvSpPr txBox="1"/>
          <p:nvPr/>
        </p:nvSpPr>
        <p:spPr>
          <a:xfrm>
            <a:off x="548640" y="1783080"/>
            <a:ext cx="11049000" cy="560832"/>
          </a:xfrm>
          <a:prstGeom prst="rect">
            <a:avLst/>
          </a:prstGeom>
          <a:noFill/>
        </p:spPr>
        <p:txBody>
          <a:bodyPr wrap="none" lIns="0" rIns="0" tIns="0" bIns="0" anchor="t" anchorCtr="0">
            <a:noAutofit/>
          </a:bodyPr>
          <a:lstStyle/>
          <a:p>
            <a:pPr algn="l">
              <a:lnSpc>
                <a:spcPct val="100000"/>
              </a:lnSpc>
              <a:spcBef>
                <a:spcPts val="0"/>
              </a:spcBef>
              <a:spcAft>
                <a:spcPts val="0"/>
              </a:spcAft>
            </a:pPr>
            <a:r>
              <a:rPr sz="3840" b="1">
                <a:solidFill>
                  <a:srgbClr val="FFFFFF"/>
                </a:solidFill>
                <a:latin typeface="DejaVu Sans"/>
              </a:rPr>
              <a:t>Make structure explicit.</a:t>
            </a:r>
          </a:p>
        </p:txBody>
      </p:sp>
      <p:sp>
        <p:nvSpPr>
          <p:cNvPr id="5" name="TextBox 4"/>
          <p:cNvSpPr txBox="1"/>
          <p:nvPr/>
        </p:nvSpPr>
        <p:spPr>
          <a:xfrm>
            <a:off x="548640" y="2343912"/>
            <a:ext cx="11049000" cy="560832"/>
          </a:xfrm>
          <a:prstGeom prst="rect">
            <a:avLst/>
          </a:prstGeom>
          <a:noFill/>
        </p:spPr>
        <p:txBody>
          <a:bodyPr wrap="none" lIns="0" rIns="0" tIns="0" bIns="0" anchor="t" anchorCtr="0">
            <a:noAutofit/>
          </a:bodyPr>
          <a:lstStyle/>
          <a:p>
            <a:pPr algn="l">
              <a:lnSpc>
                <a:spcPct val="100000"/>
              </a:lnSpc>
              <a:spcBef>
                <a:spcPts val="0"/>
              </a:spcBef>
              <a:spcAft>
                <a:spcPts val="0"/>
              </a:spcAft>
            </a:pPr>
            <a:r>
              <a:rPr sz="3840" b="1">
                <a:solidFill>
                  <a:srgbClr val="FFFFFF"/>
                </a:solidFill>
                <a:latin typeface="DejaVu Sans"/>
              </a:rPr>
              <a:t>Accept it independently.</a:t>
            </a:r>
          </a:p>
        </p:txBody>
      </p:sp>
      <p:sp>
        <p:nvSpPr>
          <p:cNvPr id="6" name="Rounded Rectangle 5"/>
          <p:cNvSpPr/>
          <p:nvPr/>
        </p:nvSpPr>
        <p:spPr>
          <a:xfrm>
            <a:off x="579120" y="3208020"/>
            <a:ext cx="3112204" cy="274320"/>
          </a:xfrm>
          <a:prstGeom prst="roundRect">
            <a:avLst>
              <a:gd name="adj" fmla="val 19444"/>
            </a:avLst>
          </a:prstGeom>
          <a:solidFill>
            <a:srgbClr val="E4EBF5"/>
          </a:solidFill>
          <a:ln>
            <a:noFill/>
          </a:ln>
          <a:effectLst/>
        </p:spPr>
        <p:txBody>
          <a:bodyPr rtlCol="0" anchor="ctr"/>
          <a:lstStyle/>
          <a:p>
            <a:pPr algn="ctr"/>
          </a:p>
        </p:txBody>
      </p:sp>
      <p:sp>
        <p:nvSpPr>
          <p:cNvPr id="7" name="TextBox 6"/>
          <p:cNvSpPr txBox="1"/>
          <p:nvPr/>
        </p:nvSpPr>
        <p:spPr>
          <a:xfrm>
            <a:off x="685800" y="3261360"/>
            <a:ext cx="2921704" cy="175564"/>
          </a:xfrm>
          <a:prstGeom prst="rect">
            <a:avLst/>
          </a:prstGeom>
          <a:noFill/>
        </p:spPr>
        <p:txBody>
          <a:bodyPr wrap="none" lIns="0" rIns="0" tIns="0" bIns="0" anchor="t" anchorCtr="0">
            <a:noAutofit/>
          </a:bodyPr>
          <a:lstStyle/>
          <a:p>
            <a:pPr algn="l">
              <a:lnSpc>
                <a:spcPct val="100000"/>
              </a:lnSpc>
              <a:spcBef>
                <a:spcPts val="0"/>
              </a:spcBef>
              <a:spcAft>
                <a:spcPts val="0"/>
              </a:spcAft>
            </a:pPr>
            <a:r>
              <a:rPr sz="1080" b="1">
                <a:solidFill>
                  <a:srgbClr val="315E9C"/>
                </a:solidFill>
                <a:latin typeface="DejaVu Sans"/>
              </a:rPr>
              <a:t>ELI16 · THE IDEA IN PLAIN LANGUAGE</a:t>
            </a:r>
          </a:p>
        </p:txBody>
      </p:sp>
      <p:sp>
        <p:nvSpPr>
          <p:cNvPr id="8" name="TextBox 7"/>
          <p:cNvSpPr txBox="1"/>
          <p:nvPr/>
        </p:nvSpPr>
        <p:spPr>
          <a:xfrm>
            <a:off x="579120" y="3649979"/>
            <a:ext cx="10744200" cy="312115"/>
          </a:xfrm>
          <a:prstGeom prst="rect">
            <a:avLst/>
          </a:prstGeom>
          <a:noFill/>
        </p:spPr>
        <p:txBody>
          <a:bodyPr wrap="none" lIns="0" rIns="0" tIns="0" bIns="0" anchor="t" anchorCtr="0">
            <a:noAutofit/>
          </a:bodyPr>
          <a:lstStyle/>
          <a:p>
            <a:pPr algn="l">
              <a:lnSpc>
                <a:spcPct val="100000"/>
              </a:lnSpc>
              <a:spcBef>
                <a:spcPts val="0"/>
              </a:spcBef>
              <a:spcAft>
                <a:spcPts val="0"/>
              </a:spcAft>
            </a:pPr>
            <a:r>
              <a:rPr sz="1920" b="0">
                <a:solidFill>
                  <a:srgbClr val="FFFFFF"/>
                </a:solidFill>
                <a:latin typeface="DejaVu Sans"/>
              </a:rPr>
              <a:t>Labelled links between records: who depends on what, which role each endpoint plays,</a:t>
            </a:r>
          </a:p>
        </p:txBody>
      </p:sp>
      <p:sp>
        <p:nvSpPr>
          <p:cNvPr id="9" name="TextBox 8"/>
          <p:cNvSpPr txBox="1"/>
          <p:nvPr/>
        </p:nvSpPr>
        <p:spPr>
          <a:xfrm>
            <a:off x="579120" y="3962095"/>
            <a:ext cx="10744200" cy="312115"/>
          </a:xfrm>
          <a:prstGeom prst="rect">
            <a:avLst/>
          </a:prstGeom>
          <a:noFill/>
        </p:spPr>
        <p:txBody>
          <a:bodyPr wrap="none" lIns="0" rIns="0" tIns="0" bIns="0" anchor="t" anchorCtr="0">
            <a:noAutofit/>
          </a:bodyPr>
          <a:lstStyle/>
          <a:p>
            <a:pPr algn="l">
              <a:lnSpc>
                <a:spcPct val="100000"/>
              </a:lnSpc>
              <a:spcBef>
                <a:spcPts val="0"/>
              </a:spcBef>
              <a:spcAft>
                <a:spcPts val="0"/>
              </a:spcAft>
            </a:pPr>
            <a:r>
              <a:rPr sz="1920" b="0">
                <a:solidFill>
                  <a:srgbClr val="FFFFFF"/>
                </a:solidFill>
                <a:latin typeface="DejaVu Sans"/>
              </a:rPr>
              <a:t>and which links were accepted.</a:t>
            </a:r>
          </a:p>
        </p:txBody>
      </p:sp>
      <p:sp>
        <p:nvSpPr>
          <p:cNvPr id="10" name="TextBox 9"/>
          <p:cNvSpPr txBox="1"/>
          <p:nvPr/>
        </p:nvSpPr>
        <p:spPr>
          <a:xfrm>
            <a:off x="579120" y="4732020"/>
            <a:ext cx="1074420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0">
                <a:solidFill>
                  <a:srgbClr val="AAC0CC"/>
                </a:solidFill>
                <a:latin typeface="DejaVu Sans"/>
              </a:rPr>
              <a:t>Why it matters: A byte store cannot answer structural questions. Explicit ordered roles allow</a:t>
            </a:r>
          </a:p>
        </p:txBody>
      </p:sp>
      <p:sp>
        <p:nvSpPr>
          <p:cNvPr id="11" name="TextBox 10"/>
          <p:cNvSpPr txBox="1"/>
          <p:nvPr/>
        </p:nvSpPr>
        <p:spPr>
          <a:xfrm>
            <a:off x="579120" y="5005120"/>
            <a:ext cx="1074420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0">
                <a:solidFill>
                  <a:srgbClr val="AAC0CC"/>
                </a:solidFill>
                <a:latin typeface="DejaVu Sans"/>
              </a:rPr>
              <a:t>traversal without hiding semantics in payload conventions.</a:t>
            </a:r>
          </a:p>
        </p:txBody>
      </p:sp>
      <p:sp>
        <p:nvSpPr>
          <p:cNvPr id="12" name="TextBox 11"/>
          <p:cNvSpPr txBox="1"/>
          <p:nvPr/>
        </p:nvSpPr>
        <p:spPr>
          <a:xfrm>
            <a:off x="579120" y="6019800"/>
            <a:ext cx="104394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0">
                <a:solidFill>
                  <a:srgbClr val="AAC0CC"/>
                </a:solidFill>
                <a:latin typeface="DejaVu Sans"/>
              </a:rPr>
              <a:t>Through M5 · 17 October 2026 · 12–15 minute talk · evidence and proposals kept separate</a:t>
            </a:r>
          </a:p>
        </p:txBody>
      </p:sp>
      <p:cxnSp>
        <p:nvCxnSpPr>
          <p:cNvPr id="13" name="Connector 12"/>
          <p:cNvCxnSpPr/>
          <p:nvPr/>
        </p:nvCxnSpPr>
        <p:spPr>
          <a:xfrm>
            <a:off x="548640" y="6393180"/>
            <a:ext cx="11094720" cy="0"/>
          </a:xfrm>
          <a:prstGeom prst="line">
            <a:avLst/>
          </a:prstGeom>
          <a:ln w="7620">
            <a:solidFill>
              <a:srgbClr val="536775"/>
            </a:solidFill>
          </a:ln>
          <a:effectLst/>
        </p:spPr>
      </p:cxnSp>
      <p:sp>
        <p:nvSpPr>
          <p:cNvPr id="14" name="TextBox 13"/>
          <p:cNvSpPr txBox="1"/>
          <p:nvPr/>
        </p:nvSpPr>
        <p:spPr>
          <a:xfrm>
            <a:off x="548640" y="6499859"/>
            <a:ext cx="9906000" cy="146304"/>
          </a:xfrm>
          <a:prstGeom prst="rect">
            <a:avLst/>
          </a:prstGeom>
          <a:noFill/>
        </p:spPr>
        <p:txBody>
          <a:bodyPr wrap="none" lIns="0" rIns="0" tIns="0" bIns="0" anchor="t" anchorCtr="0">
            <a:noAutofit/>
          </a:bodyPr>
          <a:lstStyle/>
          <a:p>
            <a:pPr algn="l">
              <a:lnSpc>
                <a:spcPct val="100000"/>
              </a:lnSpc>
              <a:spcBef>
                <a:spcPts val="0"/>
              </a:spcBef>
              <a:spcAft>
                <a:spcPts val="0"/>
              </a:spcAft>
            </a:pPr>
            <a:r>
              <a:rPr sz="900" b="0">
                <a:solidFill>
                  <a:srgbClr val="AAC0CC"/>
                </a:solidFill>
                <a:latin typeface="DejaVu Sans"/>
              </a:rPr>
              <a:t>OMEGA × ASI / THROUGH M5 / Relations · M5 source bfb0ec8</a:t>
            </a:r>
          </a:p>
        </p:txBody>
      </p:sp>
      <p:sp>
        <p:nvSpPr>
          <p:cNvPr id="15" name="TextBox 14"/>
          <p:cNvSpPr txBox="1"/>
          <p:nvPr/>
        </p:nvSpPr>
        <p:spPr>
          <a:xfrm>
            <a:off x="10744200" y="6469380"/>
            <a:ext cx="9144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AAC0CC"/>
                </a:solidFill>
                <a:latin typeface="DejaVu Sans Mono"/>
              </a:rPr>
              <a:t>01 / 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4F2EB"/>
        </a:solidFill>
        <a:effectLst/>
      </p:bgPr>
    </p:bg>
    <p:spTree>
      <p:nvGrpSpPr>
        <p:cNvPr id="1" name=""/>
        <p:cNvGrpSpPr/>
        <p:nvPr/>
      </p:nvGrpSpPr>
      <p:grpSpPr/>
      <p:sp>
        <p:nvSpPr>
          <p:cNvPr id="2" name="TextBox 1"/>
          <p:cNvSpPr txBox="1"/>
          <p:nvPr/>
        </p:nvSpPr>
        <p:spPr>
          <a:xfrm>
            <a:off x="548640" y="327660"/>
            <a:ext cx="108204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1">
                <a:solidFill>
                  <a:srgbClr val="007C78"/>
                </a:solidFill>
                <a:latin typeface="DejaVu Sans"/>
              </a:rPr>
              <a:t>01 / HELICOPTER VIEW</a:t>
            </a:r>
          </a:p>
        </p:txBody>
      </p:sp>
      <p:sp>
        <p:nvSpPr>
          <p:cNvPr id="3" name="TextBox 2"/>
          <p:cNvSpPr txBox="1"/>
          <p:nvPr/>
        </p:nvSpPr>
        <p:spPr>
          <a:xfrm>
            <a:off x="533400" y="723900"/>
            <a:ext cx="11125200" cy="507187"/>
          </a:xfrm>
          <a:prstGeom prst="rect">
            <a:avLst/>
          </a:prstGeom>
          <a:noFill/>
        </p:spPr>
        <p:txBody>
          <a:bodyPr wrap="none" lIns="0" rIns="0" tIns="0" bIns="0" anchor="t" anchorCtr="0">
            <a:noAutofit/>
          </a:bodyPr>
          <a:lstStyle/>
          <a:p>
            <a:pPr algn="l">
              <a:lnSpc>
                <a:spcPct val="100000"/>
              </a:lnSpc>
              <a:spcBef>
                <a:spcPts val="0"/>
              </a:spcBef>
              <a:spcAft>
                <a:spcPts val="0"/>
              </a:spcAft>
            </a:pPr>
            <a:r>
              <a:rPr sz="3120" b="1">
                <a:solidFill>
                  <a:srgbClr val="102B3F"/>
                </a:solidFill>
                <a:latin typeface="DejaVu Sans"/>
              </a:rPr>
              <a:t>One module in a system of fifteen</a:t>
            </a:r>
          </a:p>
        </p:txBody>
      </p:sp>
      <p:sp>
        <p:nvSpPr>
          <p:cNvPr id="4" name="TextBox 3"/>
          <p:cNvSpPr txBox="1"/>
          <p:nvPr/>
        </p:nvSpPr>
        <p:spPr>
          <a:xfrm>
            <a:off x="556260" y="1257300"/>
            <a:ext cx="110490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The highlighted responsibility is the subject of this talk; placement and process count are separate decisions.</a:t>
            </a:r>
          </a:p>
        </p:txBody>
      </p:sp>
      <p:sp>
        <p:nvSpPr>
          <p:cNvPr id="5" name="Rounded Rectangle 4"/>
          <p:cNvSpPr/>
          <p:nvPr/>
        </p:nvSpPr>
        <p:spPr>
          <a:xfrm>
            <a:off x="548640" y="1798320"/>
            <a:ext cx="2636520" cy="3566160"/>
          </a:xfrm>
          <a:prstGeom prst="roundRect">
            <a:avLst>
              <a:gd name="adj" fmla="val 4046"/>
            </a:avLst>
          </a:prstGeom>
          <a:solidFill>
            <a:srgbClr val="E7ECEB"/>
          </a:solidFill>
          <a:ln>
            <a:noFill/>
          </a:ln>
          <a:effectLst/>
        </p:spPr>
        <p:txBody>
          <a:bodyPr rtlCol="0" anchor="ctr"/>
          <a:lstStyle/>
          <a:p>
            <a:pPr algn="ctr"/>
          </a:p>
        </p:txBody>
      </p:sp>
      <p:sp>
        <p:nvSpPr>
          <p:cNvPr id="6" name="TextBox 5"/>
          <p:cNvSpPr txBox="1"/>
          <p:nvPr/>
        </p:nvSpPr>
        <p:spPr>
          <a:xfrm>
            <a:off x="685800" y="1943100"/>
            <a:ext cx="236220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1">
                <a:solidFill>
                  <a:srgbClr val="536775"/>
                </a:solidFill>
                <a:latin typeface="DejaVu Sans"/>
              </a:rPr>
              <a:t>Persistence</a:t>
            </a:r>
          </a:p>
        </p:txBody>
      </p:sp>
      <p:sp>
        <p:nvSpPr>
          <p:cNvPr id="7" name="Rounded Rectangle 6"/>
          <p:cNvSpPr/>
          <p:nvPr/>
        </p:nvSpPr>
        <p:spPr>
          <a:xfrm>
            <a:off x="662940" y="2354580"/>
            <a:ext cx="2407920" cy="449580"/>
          </a:xfrm>
          <a:prstGeom prst="roundRect">
            <a:avLst>
              <a:gd name="adj" fmla="val 13559"/>
            </a:avLst>
          </a:prstGeom>
          <a:solidFill>
            <a:srgbClr val="FFFFFF"/>
          </a:solidFill>
          <a:ln>
            <a:noFill/>
          </a:ln>
          <a:effectLst/>
        </p:spPr>
        <p:txBody>
          <a:bodyPr rtlCol="0" anchor="ctr"/>
          <a:lstStyle/>
          <a:p>
            <a:pPr algn="ctr"/>
          </a:p>
        </p:txBody>
      </p:sp>
      <p:sp>
        <p:nvSpPr>
          <p:cNvPr id="8" name="TextBox 7"/>
          <p:cNvSpPr txBox="1"/>
          <p:nvPr/>
        </p:nvSpPr>
        <p:spPr>
          <a:xfrm>
            <a:off x="762000" y="2468880"/>
            <a:ext cx="22098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102B3F"/>
                </a:solidFill>
                <a:latin typeface="DejaVu Sans"/>
              </a:rPr>
              <a:t>DA storage</a:t>
            </a:r>
          </a:p>
        </p:txBody>
      </p:sp>
      <p:sp>
        <p:nvSpPr>
          <p:cNvPr id="9" name="Rounded Rectangle 8"/>
          <p:cNvSpPr/>
          <p:nvPr/>
        </p:nvSpPr>
        <p:spPr>
          <a:xfrm>
            <a:off x="662940" y="2910840"/>
            <a:ext cx="2407920" cy="449580"/>
          </a:xfrm>
          <a:prstGeom prst="roundRect">
            <a:avLst>
              <a:gd name="adj" fmla="val 13559"/>
            </a:avLst>
          </a:prstGeom>
          <a:solidFill>
            <a:srgbClr val="FFFFFF"/>
          </a:solidFill>
          <a:ln>
            <a:noFill/>
          </a:ln>
          <a:effectLst/>
        </p:spPr>
        <p:txBody>
          <a:bodyPr rtlCol="0" anchor="ctr"/>
          <a:lstStyle/>
          <a:p>
            <a:pPr algn="ctr"/>
          </a:p>
        </p:txBody>
      </p:sp>
      <p:sp>
        <p:nvSpPr>
          <p:cNvPr id="10" name="TextBox 9"/>
          <p:cNvSpPr txBox="1"/>
          <p:nvPr/>
        </p:nvSpPr>
        <p:spPr>
          <a:xfrm>
            <a:off x="762000" y="3025140"/>
            <a:ext cx="22098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102B3F"/>
                </a:solidFill>
                <a:latin typeface="DejaVu Sans"/>
              </a:rPr>
              <a:t>AtomStorage · C0</a:t>
            </a:r>
          </a:p>
        </p:txBody>
      </p:sp>
      <p:sp>
        <p:nvSpPr>
          <p:cNvPr id="11" name="Rounded Rectangle 10"/>
          <p:cNvSpPr/>
          <p:nvPr/>
        </p:nvSpPr>
        <p:spPr>
          <a:xfrm>
            <a:off x="662940" y="3467100"/>
            <a:ext cx="2407920" cy="449580"/>
          </a:xfrm>
          <a:prstGeom prst="roundRect">
            <a:avLst>
              <a:gd name="adj" fmla="val 13559"/>
            </a:avLst>
          </a:prstGeom>
          <a:solidFill>
            <a:srgbClr val="FFFFFF"/>
          </a:solidFill>
          <a:ln>
            <a:noFill/>
          </a:ln>
          <a:effectLst/>
        </p:spPr>
        <p:txBody>
          <a:bodyPr rtlCol="0" anchor="ctr"/>
          <a:lstStyle/>
          <a:p>
            <a:pPr algn="ctr"/>
          </a:p>
        </p:txBody>
      </p:sp>
      <p:sp>
        <p:nvSpPr>
          <p:cNvPr id="12" name="TextBox 11"/>
          <p:cNvSpPr txBox="1"/>
          <p:nvPr/>
        </p:nvSpPr>
        <p:spPr>
          <a:xfrm>
            <a:off x="762000" y="3581400"/>
            <a:ext cx="22098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102B3F"/>
                </a:solidFill>
                <a:latin typeface="DejaVu Sans"/>
              </a:rPr>
              <a:t>ConsensusFinality</a:t>
            </a:r>
          </a:p>
        </p:txBody>
      </p:sp>
      <p:sp>
        <p:nvSpPr>
          <p:cNvPr id="13" name="Rounded Rectangle 12"/>
          <p:cNvSpPr/>
          <p:nvPr/>
        </p:nvSpPr>
        <p:spPr>
          <a:xfrm>
            <a:off x="3368040" y="1798320"/>
            <a:ext cx="2636520" cy="3566160"/>
          </a:xfrm>
          <a:prstGeom prst="roundRect">
            <a:avLst>
              <a:gd name="adj" fmla="val 4046"/>
            </a:avLst>
          </a:prstGeom>
          <a:solidFill>
            <a:srgbClr val="E7ECEB"/>
          </a:solidFill>
          <a:ln>
            <a:noFill/>
          </a:ln>
          <a:effectLst/>
        </p:spPr>
        <p:txBody>
          <a:bodyPr rtlCol="0" anchor="ctr"/>
          <a:lstStyle/>
          <a:p>
            <a:pPr algn="ctr"/>
          </a:p>
        </p:txBody>
      </p:sp>
      <p:sp>
        <p:nvSpPr>
          <p:cNvPr id="14" name="TextBox 13"/>
          <p:cNvSpPr txBox="1"/>
          <p:nvPr/>
        </p:nvSpPr>
        <p:spPr>
          <a:xfrm>
            <a:off x="3505200" y="1943100"/>
            <a:ext cx="236220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1">
                <a:solidFill>
                  <a:srgbClr val="536775"/>
                </a:solidFill>
                <a:latin typeface="DejaVu Sans"/>
              </a:rPr>
              <a:t>Knowledge access</a:t>
            </a:r>
          </a:p>
        </p:txBody>
      </p:sp>
      <p:sp>
        <p:nvSpPr>
          <p:cNvPr id="15" name="Rounded Rectangle 14"/>
          <p:cNvSpPr/>
          <p:nvPr/>
        </p:nvSpPr>
        <p:spPr>
          <a:xfrm>
            <a:off x="3482340" y="2354580"/>
            <a:ext cx="2407920" cy="449580"/>
          </a:xfrm>
          <a:prstGeom prst="roundRect">
            <a:avLst>
              <a:gd name="adj" fmla="val 13559"/>
            </a:avLst>
          </a:prstGeom>
          <a:solidFill>
            <a:srgbClr val="315E9C"/>
          </a:solidFill>
          <a:ln>
            <a:noFill/>
          </a:ln>
          <a:effectLst/>
        </p:spPr>
        <p:txBody>
          <a:bodyPr rtlCol="0" anchor="ctr"/>
          <a:lstStyle/>
          <a:p>
            <a:pPr algn="ctr"/>
          </a:p>
        </p:txBody>
      </p:sp>
      <p:sp>
        <p:nvSpPr>
          <p:cNvPr id="16" name="TextBox 15"/>
          <p:cNvSpPr txBox="1"/>
          <p:nvPr/>
        </p:nvSpPr>
        <p:spPr>
          <a:xfrm>
            <a:off x="3581400" y="2468880"/>
            <a:ext cx="22098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FFFFFF"/>
                </a:solidFill>
                <a:latin typeface="DejaVu Sans"/>
              </a:rPr>
              <a:t>Relations</a:t>
            </a:r>
          </a:p>
        </p:txBody>
      </p:sp>
      <p:sp>
        <p:nvSpPr>
          <p:cNvPr id="17" name="Rounded Rectangle 16"/>
          <p:cNvSpPr/>
          <p:nvPr/>
        </p:nvSpPr>
        <p:spPr>
          <a:xfrm>
            <a:off x="3482340" y="2910840"/>
            <a:ext cx="2407920" cy="449580"/>
          </a:xfrm>
          <a:prstGeom prst="roundRect">
            <a:avLst>
              <a:gd name="adj" fmla="val 13559"/>
            </a:avLst>
          </a:prstGeom>
          <a:solidFill>
            <a:srgbClr val="FFFFFF"/>
          </a:solidFill>
          <a:ln>
            <a:noFill/>
          </a:ln>
          <a:effectLst/>
        </p:spPr>
        <p:txBody>
          <a:bodyPr rtlCol="0" anchor="ctr"/>
          <a:lstStyle/>
          <a:p>
            <a:pPr algn="ctr"/>
          </a:p>
        </p:txBody>
      </p:sp>
      <p:sp>
        <p:nvSpPr>
          <p:cNvPr id="18" name="TextBox 17"/>
          <p:cNvSpPr txBox="1"/>
          <p:nvPr/>
        </p:nvSpPr>
        <p:spPr>
          <a:xfrm>
            <a:off x="3581400" y="3025140"/>
            <a:ext cx="22098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102B3F"/>
                </a:solidFill>
                <a:latin typeface="DejaVu Sans"/>
              </a:rPr>
              <a:t>Search projection</a:t>
            </a:r>
          </a:p>
        </p:txBody>
      </p:sp>
      <p:sp>
        <p:nvSpPr>
          <p:cNvPr id="19" name="Rounded Rectangle 18"/>
          <p:cNvSpPr/>
          <p:nvPr/>
        </p:nvSpPr>
        <p:spPr>
          <a:xfrm>
            <a:off x="6187440" y="1798320"/>
            <a:ext cx="2636520" cy="3566160"/>
          </a:xfrm>
          <a:prstGeom prst="roundRect">
            <a:avLst>
              <a:gd name="adj" fmla="val 4046"/>
            </a:avLst>
          </a:prstGeom>
          <a:solidFill>
            <a:srgbClr val="E7ECEB"/>
          </a:solidFill>
          <a:ln>
            <a:noFill/>
          </a:ln>
          <a:effectLst/>
        </p:spPr>
        <p:txBody>
          <a:bodyPr rtlCol="0" anchor="ctr"/>
          <a:lstStyle/>
          <a:p>
            <a:pPr algn="ctr"/>
          </a:p>
        </p:txBody>
      </p:sp>
      <p:sp>
        <p:nvSpPr>
          <p:cNvPr id="20" name="TextBox 19"/>
          <p:cNvSpPr txBox="1"/>
          <p:nvPr/>
        </p:nvSpPr>
        <p:spPr>
          <a:xfrm>
            <a:off x="6324600" y="1943100"/>
            <a:ext cx="236220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1">
                <a:solidFill>
                  <a:srgbClr val="536775"/>
                </a:solidFill>
                <a:latin typeface="DejaVu Sans"/>
              </a:rPr>
              <a:t>Cognition</a:t>
            </a:r>
          </a:p>
        </p:txBody>
      </p:sp>
      <p:sp>
        <p:nvSpPr>
          <p:cNvPr id="21" name="Rounded Rectangle 20"/>
          <p:cNvSpPr/>
          <p:nvPr/>
        </p:nvSpPr>
        <p:spPr>
          <a:xfrm>
            <a:off x="6301740" y="2354580"/>
            <a:ext cx="2407920" cy="449580"/>
          </a:xfrm>
          <a:prstGeom prst="roundRect">
            <a:avLst>
              <a:gd name="adj" fmla="val 13559"/>
            </a:avLst>
          </a:prstGeom>
          <a:solidFill>
            <a:srgbClr val="FFFFFF"/>
          </a:solidFill>
          <a:ln>
            <a:noFill/>
          </a:ln>
          <a:effectLst/>
        </p:spPr>
        <p:txBody>
          <a:bodyPr rtlCol="0" anchor="ctr"/>
          <a:lstStyle/>
          <a:p>
            <a:pPr algn="ctr"/>
          </a:p>
        </p:txBody>
      </p:sp>
      <p:sp>
        <p:nvSpPr>
          <p:cNvPr id="22" name="TextBox 21"/>
          <p:cNvSpPr txBox="1"/>
          <p:nvPr/>
        </p:nvSpPr>
        <p:spPr>
          <a:xfrm>
            <a:off x="6400800" y="2468880"/>
            <a:ext cx="22098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102B3F"/>
                </a:solidFill>
                <a:latin typeface="DejaVu Sans"/>
              </a:rPr>
              <a:t>Episodes · C1</a:t>
            </a:r>
          </a:p>
        </p:txBody>
      </p:sp>
      <p:sp>
        <p:nvSpPr>
          <p:cNvPr id="23" name="Rounded Rectangle 22"/>
          <p:cNvSpPr/>
          <p:nvPr/>
        </p:nvSpPr>
        <p:spPr>
          <a:xfrm>
            <a:off x="6301740" y="2910840"/>
            <a:ext cx="2407920" cy="449580"/>
          </a:xfrm>
          <a:prstGeom prst="roundRect">
            <a:avLst>
              <a:gd name="adj" fmla="val 13559"/>
            </a:avLst>
          </a:prstGeom>
          <a:solidFill>
            <a:srgbClr val="FFFFFF"/>
          </a:solidFill>
          <a:ln>
            <a:noFill/>
          </a:ln>
          <a:effectLst/>
        </p:spPr>
        <p:txBody>
          <a:bodyPr rtlCol="0" anchor="ctr"/>
          <a:lstStyle/>
          <a:p>
            <a:pPr algn="ctr"/>
          </a:p>
        </p:txBody>
      </p:sp>
      <p:sp>
        <p:nvSpPr>
          <p:cNvPr id="24" name="TextBox 23"/>
          <p:cNvSpPr txBox="1"/>
          <p:nvPr/>
        </p:nvSpPr>
        <p:spPr>
          <a:xfrm>
            <a:off x="6400800" y="3025140"/>
            <a:ext cx="22098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102B3F"/>
                </a:solidFill>
                <a:latin typeface="DejaVu Sans"/>
              </a:rPr>
              <a:t>Beliefs · C2</a:t>
            </a:r>
          </a:p>
        </p:txBody>
      </p:sp>
      <p:sp>
        <p:nvSpPr>
          <p:cNvPr id="25" name="Rounded Rectangle 24"/>
          <p:cNvSpPr/>
          <p:nvPr/>
        </p:nvSpPr>
        <p:spPr>
          <a:xfrm>
            <a:off x="6301740" y="3467100"/>
            <a:ext cx="2407920" cy="449580"/>
          </a:xfrm>
          <a:prstGeom prst="roundRect">
            <a:avLst>
              <a:gd name="adj" fmla="val 13559"/>
            </a:avLst>
          </a:prstGeom>
          <a:solidFill>
            <a:srgbClr val="FFFFFF"/>
          </a:solidFill>
          <a:ln>
            <a:noFill/>
          </a:ln>
          <a:effectLst/>
        </p:spPr>
        <p:txBody>
          <a:bodyPr rtlCol="0" anchor="ctr"/>
          <a:lstStyle/>
          <a:p>
            <a:pPr algn="ctr"/>
          </a:p>
        </p:txBody>
      </p:sp>
      <p:sp>
        <p:nvSpPr>
          <p:cNvPr id="26" name="TextBox 25"/>
          <p:cNvSpPr txBox="1"/>
          <p:nvPr/>
        </p:nvSpPr>
        <p:spPr>
          <a:xfrm>
            <a:off x="6400800" y="3581400"/>
            <a:ext cx="22098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102B3F"/>
                </a:solidFill>
                <a:latin typeface="DejaVu Sans"/>
              </a:rPr>
              <a:t>PLNKernel</a:t>
            </a:r>
          </a:p>
        </p:txBody>
      </p:sp>
      <p:sp>
        <p:nvSpPr>
          <p:cNvPr id="27" name="Rounded Rectangle 26"/>
          <p:cNvSpPr/>
          <p:nvPr/>
        </p:nvSpPr>
        <p:spPr>
          <a:xfrm>
            <a:off x="6301740" y="4023360"/>
            <a:ext cx="2407920" cy="449580"/>
          </a:xfrm>
          <a:prstGeom prst="roundRect">
            <a:avLst>
              <a:gd name="adj" fmla="val 13559"/>
            </a:avLst>
          </a:prstGeom>
          <a:solidFill>
            <a:srgbClr val="FFFFFF"/>
          </a:solidFill>
          <a:ln>
            <a:noFill/>
          </a:ln>
          <a:effectLst/>
        </p:spPr>
        <p:txBody>
          <a:bodyPr rtlCol="0" anchor="ctr"/>
          <a:lstStyle/>
          <a:p>
            <a:pPr algn="ctr"/>
          </a:p>
        </p:txBody>
      </p:sp>
      <p:sp>
        <p:nvSpPr>
          <p:cNvPr id="28" name="TextBox 27"/>
          <p:cNvSpPr txBox="1"/>
          <p:nvPr/>
        </p:nvSpPr>
        <p:spPr>
          <a:xfrm>
            <a:off x="6400800" y="4137660"/>
            <a:ext cx="22098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102B3F"/>
                </a:solidFill>
                <a:latin typeface="DejaVu Sans"/>
              </a:rPr>
              <a:t>Attention · C3</a:t>
            </a:r>
          </a:p>
        </p:txBody>
      </p:sp>
      <p:sp>
        <p:nvSpPr>
          <p:cNvPr id="29" name="Rounded Rectangle 28"/>
          <p:cNvSpPr/>
          <p:nvPr/>
        </p:nvSpPr>
        <p:spPr>
          <a:xfrm>
            <a:off x="6301740" y="4579620"/>
            <a:ext cx="2407920" cy="449580"/>
          </a:xfrm>
          <a:prstGeom prst="roundRect">
            <a:avLst>
              <a:gd name="adj" fmla="val 13559"/>
            </a:avLst>
          </a:prstGeom>
          <a:solidFill>
            <a:srgbClr val="FFFFFF"/>
          </a:solidFill>
          <a:ln>
            <a:noFill/>
          </a:ln>
          <a:effectLst/>
        </p:spPr>
        <p:txBody>
          <a:bodyPr rtlCol="0" anchor="ctr"/>
          <a:lstStyle/>
          <a:p>
            <a:pPr algn="ctr"/>
          </a:p>
        </p:txBody>
      </p:sp>
      <p:sp>
        <p:nvSpPr>
          <p:cNvPr id="30" name="TextBox 29"/>
          <p:cNvSpPr txBox="1"/>
          <p:nvPr/>
        </p:nvSpPr>
        <p:spPr>
          <a:xfrm>
            <a:off x="6400800" y="4693920"/>
            <a:ext cx="22098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102B3F"/>
                </a:solidFill>
                <a:latin typeface="DejaVu Sans"/>
              </a:rPr>
              <a:t>Inference · C4</a:t>
            </a:r>
          </a:p>
        </p:txBody>
      </p:sp>
      <p:sp>
        <p:nvSpPr>
          <p:cNvPr id="31" name="Rounded Rectangle 30"/>
          <p:cNvSpPr/>
          <p:nvPr/>
        </p:nvSpPr>
        <p:spPr>
          <a:xfrm>
            <a:off x="9006840" y="1798320"/>
            <a:ext cx="2636520" cy="3566160"/>
          </a:xfrm>
          <a:prstGeom prst="roundRect">
            <a:avLst>
              <a:gd name="adj" fmla="val 4046"/>
            </a:avLst>
          </a:prstGeom>
          <a:solidFill>
            <a:srgbClr val="E7ECEB"/>
          </a:solidFill>
          <a:ln>
            <a:noFill/>
          </a:ln>
          <a:effectLst/>
        </p:spPr>
        <p:txBody>
          <a:bodyPr rtlCol="0" anchor="ctr"/>
          <a:lstStyle/>
          <a:p>
            <a:pPr algn="ctr"/>
          </a:p>
        </p:txBody>
      </p:sp>
      <p:sp>
        <p:nvSpPr>
          <p:cNvPr id="32" name="TextBox 31"/>
          <p:cNvSpPr txBox="1"/>
          <p:nvPr/>
        </p:nvSpPr>
        <p:spPr>
          <a:xfrm>
            <a:off x="9144000" y="1943100"/>
            <a:ext cx="236220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1">
                <a:solidFill>
                  <a:srgbClr val="536775"/>
                </a:solidFill>
                <a:latin typeface="DejaVu Sans"/>
              </a:rPr>
              <a:t>Coordination + policy</a:t>
            </a:r>
          </a:p>
        </p:txBody>
      </p:sp>
      <p:sp>
        <p:nvSpPr>
          <p:cNvPr id="33" name="Rounded Rectangle 32"/>
          <p:cNvSpPr/>
          <p:nvPr/>
        </p:nvSpPr>
        <p:spPr>
          <a:xfrm>
            <a:off x="9121140" y="2354580"/>
            <a:ext cx="2407920" cy="449580"/>
          </a:xfrm>
          <a:prstGeom prst="roundRect">
            <a:avLst>
              <a:gd name="adj" fmla="val 13559"/>
            </a:avLst>
          </a:prstGeom>
          <a:solidFill>
            <a:srgbClr val="FFFFFF"/>
          </a:solidFill>
          <a:ln>
            <a:noFill/>
          </a:ln>
          <a:effectLst/>
        </p:spPr>
        <p:txBody>
          <a:bodyPr rtlCol="0" anchor="ctr"/>
          <a:lstStyle/>
          <a:p>
            <a:pPr algn="ctr"/>
          </a:p>
        </p:txBody>
      </p:sp>
      <p:sp>
        <p:nvSpPr>
          <p:cNvPr id="34" name="TextBox 33"/>
          <p:cNvSpPr txBox="1"/>
          <p:nvPr/>
        </p:nvSpPr>
        <p:spPr>
          <a:xfrm>
            <a:off x="9220200" y="2468880"/>
            <a:ext cx="22098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102B3F"/>
                </a:solidFill>
                <a:latin typeface="DejaVu Sans"/>
              </a:rPr>
              <a:t>Messaging</a:t>
            </a:r>
          </a:p>
        </p:txBody>
      </p:sp>
      <p:sp>
        <p:nvSpPr>
          <p:cNvPr id="35" name="Rounded Rectangle 34"/>
          <p:cNvSpPr/>
          <p:nvPr/>
        </p:nvSpPr>
        <p:spPr>
          <a:xfrm>
            <a:off x="9121140" y="2910840"/>
            <a:ext cx="2407920" cy="449580"/>
          </a:xfrm>
          <a:prstGeom prst="roundRect">
            <a:avLst>
              <a:gd name="adj" fmla="val 13559"/>
            </a:avLst>
          </a:prstGeom>
          <a:solidFill>
            <a:srgbClr val="FFFFFF"/>
          </a:solidFill>
          <a:ln>
            <a:noFill/>
          </a:ln>
          <a:effectLst/>
        </p:spPr>
        <p:txBody>
          <a:bodyPr rtlCol="0" anchor="ctr"/>
          <a:lstStyle/>
          <a:p>
            <a:pPr algn="ctr"/>
          </a:p>
        </p:txBody>
      </p:sp>
      <p:sp>
        <p:nvSpPr>
          <p:cNvPr id="36" name="TextBox 35"/>
          <p:cNvSpPr txBox="1"/>
          <p:nvPr/>
        </p:nvSpPr>
        <p:spPr>
          <a:xfrm>
            <a:off x="9220200" y="3025140"/>
            <a:ext cx="22098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102B3F"/>
                </a:solidFill>
                <a:latin typeface="DejaVu Sans"/>
              </a:rPr>
              <a:t>Execution</a:t>
            </a:r>
          </a:p>
        </p:txBody>
      </p:sp>
      <p:sp>
        <p:nvSpPr>
          <p:cNvPr id="37" name="Rounded Rectangle 36"/>
          <p:cNvSpPr/>
          <p:nvPr/>
        </p:nvSpPr>
        <p:spPr>
          <a:xfrm>
            <a:off x="9121140" y="3467100"/>
            <a:ext cx="2407920" cy="449580"/>
          </a:xfrm>
          <a:prstGeom prst="roundRect">
            <a:avLst>
              <a:gd name="adj" fmla="val 13559"/>
            </a:avLst>
          </a:prstGeom>
          <a:solidFill>
            <a:srgbClr val="FFFFFF"/>
          </a:solidFill>
          <a:ln>
            <a:noFill/>
          </a:ln>
          <a:effectLst/>
        </p:spPr>
        <p:txBody>
          <a:bodyPr rtlCol="0" anchor="ctr"/>
          <a:lstStyle/>
          <a:p>
            <a:pPr algn="ctr"/>
          </a:p>
        </p:txBody>
      </p:sp>
      <p:sp>
        <p:nvSpPr>
          <p:cNvPr id="38" name="TextBox 37"/>
          <p:cNvSpPr txBox="1"/>
          <p:nvPr/>
        </p:nvSpPr>
        <p:spPr>
          <a:xfrm>
            <a:off x="9220200" y="3581400"/>
            <a:ext cx="22098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102B3F"/>
                </a:solidFill>
                <a:latin typeface="DejaVu Sans"/>
              </a:rPr>
              <a:t>Registry</a:t>
            </a:r>
          </a:p>
        </p:txBody>
      </p:sp>
      <p:sp>
        <p:nvSpPr>
          <p:cNvPr id="39" name="Rounded Rectangle 38"/>
          <p:cNvSpPr/>
          <p:nvPr/>
        </p:nvSpPr>
        <p:spPr>
          <a:xfrm>
            <a:off x="9121140" y="4023360"/>
            <a:ext cx="2407920" cy="449580"/>
          </a:xfrm>
          <a:prstGeom prst="roundRect">
            <a:avLst>
              <a:gd name="adj" fmla="val 13559"/>
            </a:avLst>
          </a:prstGeom>
          <a:solidFill>
            <a:srgbClr val="FFFFFF"/>
          </a:solidFill>
          <a:ln>
            <a:noFill/>
          </a:ln>
          <a:effectLst/>
        </p:spPr>
        <p:txBody>
          <a:bodyPr rtlCol="0" anchor="ctr"/>
          <a:lstStyle/>
          <a:p>
            <a:pPr algn="ctr"/>
          </a:p>
        </p:txBody>
      </p:sp>
      <p:sp>
        <p:nvSpPr>
          <p:cNvPr id="40" name="TextBox 39"/>
          <p:cNvSpPr txBox="1"/>
          <p:nvPr/>
        </p:nvSpPr>
        <p:spPr>
          <a:xfrm>
            <a:off x="9220200" y="4137660"/>
            <a:ext cx="22098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102B3F"/>
                </a:solidFill>
                <a:latin typeface="DejaVu Sans"/>
              </a:rPr>
              <a:t>Resolver</a:t>
            </a:r>
          </a:p>
        </p:txBody>
      </p:sp>
      <p:sp>
        <p:nvSpPr>
          <p:cNvPr id="41" name="Rounded Rectangle 40"/>
          <p:cNvSpPr/>
          <p:nvPr/>
        </p:nvSpPr>
        <p:spPr>
          <a:xfrm>
            <a:off x="9121140" y="4579620"/>
            <a:ext cx="2407920" cy="449580"/>
          </a:xfrm>
          <a:prstGeom prst="roundRect">
            <a:avLst>
              <a:gd name="adj" fmla="val 13559"/>
            </a:avLst>
          </a:prstGeom>
          <a:solidFill>
            <a:srgbClr val="FFFFFF"/>
          </a:solidFill>
          <a:ln>
            <a:noFill/>
          </a:ln>
          <a:effectLst/>
        </p:spPr>
        <p:txBody>
          <a:bodyPr rtlCol="0" anchor="ctr"/>
          <a:lstStyle/>
          <a:p>
            <a:pPr algn="ctr"/>
          </a:p>
        </p:txBody>
      </p:sp>
      <p:sp>
        <p:nvSpPr>
          <p:cNvPr id="42" name="TextBox 41"/>
          <p:cNvSpPr txBox="1"/>
          <p:nvPr/>
        </p:nvSpPr>
        <p:spPr>
          <a:xfrm>
            <a:off x="9220200" y="4693920"/>
            <a:ext cx="22098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102B3F"/>
                </a:solidFill>
                <a:latin typeface="DejaVu Sans"/>
              </a:rPr>
              <a:t>Authorization</a:t>
            </a:r>
          </a:p>
        </p:txBody>
      </p:sp>
      <p:sp>
        <p:nvSpPr>
          <p:cNvPr id="43" name="TextBox 42"/>
          <p:cNvSpPr txBox="1"/>
          <p:nvPr/>
        </p:nvSpPr>
        <p:spPr>
          <a:xfrm>
            <a:off x="609600" y="5547360"/>
            <a:ext cx="1089660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0">
                <a:solidFill>
                  <a:srgbClr val="102B3F"/>
                </a:solidFill>
                <a:latin typeface="DejaVu Sans"/>
              </a:rPr>
              <a:t>Accept schema-bound ordered relations, preserve semantic identity and expose bounded incidence</a:t>
            </a:r>
          </a:p>
        </p:txBody>
      </p:sp>
      <p:sp>
        <p:nvSpPr>
          <p:cNvPr id="44" name="TextBox 43"/>
          <p:cNvSpPr txBox="1"/>
          <p:nvPr/>
        </p:nvSpPr>
        <p:spPr>
          <a:xfrm>
            <a:off x="609600" y="5810707"/>
            <a:ext cx="1089660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0">
                <a:solidFill>
                  <a:srgbClr val="102B3F"/>
                </a:solidFill>
                <a:latin typeface="DejaVu Sans"/>
              </a:rPr>
              <a:t>pages.</a:t>
            </a:r>
          </a:p>
        </p:txBody>
      </p:sp>
      <p:cxnSp>
        <p:nvCxnSpPr>
          <p:cNvPr id="45" name="Connector 44"/>
          <p:cNvCxnSpPr/>
          <p:nvPr/>
        </p:nvCxnSpPr>
        <p:spPr>
          <a:xfrm>
            <a:off x="548640" y="6393180"/>
            <a:ext cx="11094720" cy="0"/>
          </a:xfrm>
          <a:prstGeom prst="line">
            <a:avLst/>
          </a:prstGeom>
          <a:ln w="7620">
            <a:solidFill>
              <a:srgbClr val="C9D2D4"/>
            </a:solidFill>
          </a:ln>
          <a:effectLst/>
        </p:spPr>
      </p:cxnSp>
      <p:sp>
        <p:nvSpPr>
          <p:cNvPr id="46" name="TextBox 45"/>
          <p:cNvSpPr txBox="1"/>
          <p:nvPr/>
        </p:nvSpPr>
        <p:spPr>
          <a:xfrm>
            <a:off x="548640" y="6499859"/>
            <a:ext cx="9906000" cy="146304"/>
          </a:xfrm>
          <a:prstGeom prst="rect">
            <a:avLst/>
          </a:prstGeom>
          <a:noFill/>
        </p:spPr>
        <p:txBody>
          <a:bodyPr wrap="none" lIns="0" rIns="0" tIns="0" bIns="0" anchor="t" anchorCtr="0">
            <a:noAutofit/>
          </a:bodyPr>
          <a:lstStyle/>
          <a:p>
            <a:pPr algn="l">
              <a:lnSpc>
                <a:spcPct val="100000"/>
              </a:lnSpc>
              <a:spcBef>
                <a:spcPts val="0"/>
              </a:spcBef>
              <a:spcAft>
                <a:spcPts val="0"/>
              </a:spcAft>
            </a:pPr>
            <a:r>
              <a:rPr sz="900" b="0">
                <a:solidFill>
                  <a:srgbClr val="536775"/>
                </a:solidFill>
                <a:latin typeface="DejaVu Sans"/>
              </a:rPr>
              <a:t>OMEGA × ASI / THROUGH M5 / Relations · M5 source bfb0ec8</a:t>
            </a:r>
          </a:p>
        </p:txBody>
      </p:sp>
      <p:sp>
        <p:nvSpPr>
          <p:cNvPr id="47" name="TextBox 46"/>
          <p:cNvSpPr txBox="1"/>
          <p:nvPr/>
        </p:nvSpPr>
        <p:spPr>
          <a:xfrm>
            <a:off x="10744200" y="6469380"/>
            <a:ext cx="9144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Mono"/>
              </a:rPr>
              <a:t>02 / 12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4F2EB"/>
        </a:solidFill>
        <a:effectLst/>
      </p:bgPr>
    </p:bg>
    <p:spTree>
      <p:nvGrpSpPr>
        <p:cNvPr id="1" name=""/>
        <p:cNvGrpSpPr/>
        <p:nvPr/>
      </p:nvGrpSpPr>
      <p:grpSpPr/>
      <p:sp>
        <p:nvSpPr>
          <p:cNvPr id="2" name="TextBox 1"/>
          <p:cNvSpPr txBox="1"/>
          <p:nvPr/>
        </p:nvSpPr>
        <p:spPr>
          <a:xfrm>
            <a:off x="548640" y="327660"/>
            <a:ext cx="108204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1">
                <a:solidFill>
                  <a:srgbClr val="007C78"/>
                </a:solidFill>
                <a:latin typeface="DejaVu Sans"/>
              </a:rPr>
              <a:t>02 / FUNCTION DEPENDENCIES</a:t>
            </a:r>
          </a:p>
        </p:txBody>
      </p:sp>
      <p:sp>
        <p:nvSpPr>
          <p:cNvPr id="3" name="TextBox 2"/>
          <p:cNvSpPr txBox="1"/>
          <p:nvPr/>
        </p:nvSpPr>
        <p:spPr>
          <a:xfrm>
            <a:off x="533400" y="723900"/>
            <a:ext cx="11125200" cy="507187"/>
          </a:xfrm>
          <a:prstGeom prst="rect">
            <a:avLst/>
          </a:prstGeom>
          <a:noFill/>
        </p:spPr>
        <p:txBody>
          <a:bodyPr wrap="none" lIns="0" rIns="0" tIns="0" bIns="0" anchor="t" anchorCtr="0">
            <a:noAutofit/>
          </a:bodyPr>
          <a:lstStyle/>
          <a:p>
            <a:pPr algn="l">
              <a:lnSpc>
                <a:spcPct val="100000"/>
              </a:lnSpc>
              <a:spcBef>
                <a:spcPts val="0"/>
              </a:spcBef>
              <a:spcAft>
                <a:spcPts val="0"/>
              </a:spcAft>
            </a:pPr>
            <a:r>
              <a:rPr sz="3120" b="1">
                <a:solidFill>
                  <a:srgbClr val="102B3F"/>
                </a:solidFill>
                <a:latin typeface="DejaVu Sans"/>
              </a:rPr>
              <a:t>Dependencies explain the boundary</a:t>
            </a:r>
          </a:p>
        </p:txBody>
      </p:sp>
      <p:sp>
        <p:nvSpPr>
          <p:cNvPr id="4" name="TextBox 3"/>
          <p:cNvSpPr txBox="1"/>
          <p:nvPr/>
        </p:nvSpPr>
        <p:spPr>
          <a:xfrm>
            <a:off x="556260" y="1257300"/>
            <a:ext cx="110490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Arrows point from caller to dependency. Stores and runtime internals are labelled explicitly.</a:t>
            </a:r>
          </a:p>
        </p:txBody>
      </p:sp>
      <p:sp>
        <p:nvSpPr>
          <p:cNvPr id="5" name="Rounded Rectangle 4"/>
          <p:cNvSpPr/>
          <p:nvPr/>
        </p:nvSpPr>
        <p:spPr>
          <a:xfrm>
            <a:off x="548640" y="2453640"/>
            <a:ext cx="2857500" cy="1668780"/>
          </a:xfrm>
          <a:prstGeom prst="roundRect">
            <a:avLst>
              <a:gd name="adj" fmla="val 5936"/>
            </a:avLst>
          </a:prstGeom>
          <a:solidFill>
            <a:srgbClr val="FFFFFF"/>
          </a:solidFill>
          <a:ln w="7620">
            <a:solidFill>
              <a:srgbClr val="315E9C"/>
            </a:solidFill>
          </a:ln>
          <a:effectLst/>
        </p:spPr>
        <p:txBody>
          <a:bodyPr rtlCol="0" anchor="ctr"/>
          <a:lstStyle/>
          <a:p>
            <a:pPr algn="ctr"/>
          </a:p>
        </p:txBody>
      </p:sp>
      <p:sp>
        <p:nvSpPr>
          <p:cNvPr id="6" name="TextBox 5"/>
          <p:cNvSpPr txBox="1"/>
          <p:nvPr/>
        </p:nvSpPr>
        <p:spPr>
          <a:xfrm>
            <a:off x="716280" y="2621280"/>
            <a:ext cx="2522220" cy="282854"/>
          </a:xfrm>
          <a:prstGeom prst="rect">
            <a:avLst/>
          </a:prstGeom>
          <a:noFill/>
        </p:spPr>
        <p:txBody>
          <a:bodyPr wrap="none" lIns="0" rIns="0" tIns="0" bIns="0" anchor="t" anchorCtr="0">
            <a:noAutofit/>
          </a:bodyPr>
          <a:lstStyle/>
          <a:p>
            <a:pPr algn="l">
              <a:lnSpc>
                <a:spcPct val="100000"/>
              </a:lnSpc>
              <a:spcBef>
                <a:spcPts val="0"/>
              </a:spcBef>
              <a:spcAft>
                <a:spcPts val="0"/>
              </a:spcAft>
            </a:pPr>
            <a:r>
              <a:rPr sz="1739" b="1">
                <a:solidFill>
                  <a:srgbClr val="315E9C"/>
                </a:solidFill>
                <a:latin typeface="DejaVu Sans"/>
              </a:rPr>
              <a:t>Generated writer /</a:t>
            </a:r>
          </a:p>
        </p:txBody>
      </p:sp>
      <p:sp>
        <p:nvSpPr>
          <p:cNvPr id="7" name="TextBox 6"/>
          <p:cNvSpPr txBox="1"/>
          <p:nvPr/>
        </p:nvSpPr>
        <p:spPr>
          <a:xfrm>
            <a:off x="716280" y="2904134"/>
            <a:ext cx="2522220" cy="282854"/>
          </a:xfrm>
          <a:prstGeom prst="rect">
            <a:avLst/>
          </a:prstGeom>
          <a:noFill/>
        </p:spPr>
        <p:txBody>
          <a:bodyPr wrap="none" lIns="0" rIns="0" tIns="0" bIns="0" anchor="t" anchorCtr="0">
            <a:noAutofit/>
          </a:bodyPr>
          <a:lstStyle/>
          <a:p>
            <a:pPr algn="l">
              <a:lnSpc>
                <a:spcPct val="100000"/>
              </a:lnSpc>
              <a:spcBef>
                <a:spcPts val="0"/>
              </a:spcBef>
              <a:spcAft>
                <a:spcPts val="0"/>
              </a:spcAft>
            </a:pPr>
            <a:r>
              <a:rPr sz="1739" b="1">
                <a:solidFill>
                  <a:srgbClr val="315E9C"/>
                </a:solidFill>
                <a:latin typeface="DejaVu Sans"/>
              </a:rPr>
              <a:t>LookupConsumer</a:t>
            </a:r>
          </a:p>
        </p:txBody>
      </p:sp>
      <p:sp>
        <p:nvSpPr>
          <p:cNvPr id="8" name="TextBox 7"/>
          <p:cNvSpPr txBox="1"/>
          <p:nvPr/>
        </p:nvSpPr>
        <p:spPr>
          <a:xfrm>
            <a:off x="716280" y="3263188"/>
            <a:ext cx="252222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assertRelation ·</a:t>
            </a:r>
          </a:p>
        </p:txBody>
      </p:sp>
      <p:sp>
        <p:nvSpPr>
          <p:cNvPr id="9" name="TextBox 8"/>
          <p:cNvSpPr txBox="1"/>
          <p:nvPr/>
        </p:nvSpPr>
        <p:spPr>
          <a:xfrm>
            <a:off x="716280" y="3507028"/>
            <a:ext cx="252222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getRelation · outgoing ·</a:t>
            </a:r>
          </a:p>
        </p:txBody>
      </p:sp>
      <p:sp>
        <p:nvSpPr>
          <p:cNvPr id="10" name="TextBox 9"/>
          <p:cNvSpPr txBox="1"/>
          <p:nvPr/>
        </p:nvSpPr>
        <p:spPr>
          <a:xfrm>
            <a:off x="716280" y="3750868"/>
            <a:ext cx="252222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incoming</a:t>
            </a:r>
          </a:p>
        </p:txBody>
      </p:sp>
      <p:sp>
        <p:nvSpPr>
          <p:cNvPr id="11" name="Rounded Rectangle 10"/>
          <p:cNvSpPr/>
          <p:nvPr/>
        </p:nvSpPr>
        <p:spPr>
          <a:xfrm>
            <a:off x="4229100" y="2453640"/>
            <a:ext cx="3238500" cy="1668780"/>
          </a:xfrm>
          <a:prstGeom prst="roundRect">
            <a:avLst>
              <a:gd name="adj" fmla="val 5936"/>
            </a:avLst>
          </a:prstGeom>
          <a:solidFill>
            <a:srgbClr val="E4EBF5"/>
          </a:solidFill>
          <a:ln w="7620">
            <a:solidFill>
              <a:srgbClr val="315E9C"/>
            </a:solidFill>
          </a:ln>
          <a:effectLst/>
        </p:spPr>
        <p:txBody>
          <a:bodyPr rtlCol="0" anchor="ctr"/>
          <a:lstStyle/>
          <a:p>
            <a:pPr algn="ctr"/>
          </a:p>
        </p:txBody>
      </p:sp>
      <p:sp>
        <p:nvSpPr>
          <p:cNvPr id="12" name="TextBox 11"/>
          <p:cNvSpPr txBox="1"/>
          <p:nvPr/>
        </p:nvSpPr>
        <p:spPr>
          <a:xfrm>
            <a:off x="4396740" y="2621280"/>
            <a:ext cx="2903220" cy="321868"/>
          </a:xfrm>
          <a:prstGeom prst="rect">
            <a:avLst/>
          </a:prstGeom>
          <a:noFill/>
        </p:spPr>
        <p:txBody>
          <a:bodyPr wrap="none" lIns="0" rIns="0" tIns="0" bIns="0" anchor="t" anchorCtr="0">
            <a:noAutofit/>
          </a:bodyPr>
          <a:lstStyle/>
          <a:p>
            <a:pPr algn="l">
              <a:lnSpc>
                <a:spcPct val="100000"/>
              </a:lnSpc>
              <a:spcBef>
                <a:spcPts val="0"/>
              </a:spcBef>
              <a:spcAft>
                <a:spcPts val="0"/>
              </a:spcAft>
            </a:pPr>
            <a:r>
              <a:rPr sz="1980" b="1">
                <a:solidFill>
                  <a:srgbClr val="315E9C"/>
                </a:solidFill>
                <a:latin typeface="DejaVu Sans"/>
              </a:rPr>
              <a:t>Relations</a:t>
            </a:r>
          </a:p>
        </p:txBody>
      </p:sp>
      <p:sp>
        <p:nvSpPr>
          <p:cNvPr id="13" name="TextBox 12"/>
          <p:cNvSpPr txBox="1"/>
          <p:nvPr/>
        </p:nvSpPr>
        <p:spPr>
          <a:xfrm>
            <a:off x="4396740" y="3019348"/>
            <a:ext cx="290322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Accept schema-bound</a:t>
            </a:r>
          </a:p>
        </p:txBody>
      </p:sp>
      <p:sp>
        <p:nvSpPr>
          <p:cNvPr id="14" name="TextBox 13"/>
          <p:cNvSpPr txBox="1"/>
          <p:nvPr/>
        </p:nvSpPr>
        <p:spPr>
          <a:xfrm>
            <a:off x="4396740" y="3263188"/>
            <a:ext cx="290322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ordered relations, preserve</a:t>
            </a:r>
          </a:p>
        </p:txBody>
      </p:sp>
      <p:sp>
        <p:nvSpPr>
          <p:cNvPr id="15" name="TextBox 14"/>
          <p:cNvSpPr txBox="1"/>
          <p:nvPr/>
        </p:nvSpPr>
        <p:spPr>
          <a:xfrm>
            <a:off x="4396740" y="3507028"/>
            <a:ext cx="290322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semantic identity and expose</a:t>
            </a:r>
          </a:p>
        </p:txBody>
      </p:sp>
      <p:sp>
        <p:nvSpPr>
          <p:cNvPr id="16" name="TextBox 15"/>
          <p:cNvSpPr txBox="1"/>
          <p:nvPr/>
        </p:nvSpPr>
        <p:spPr>
          <a:xfrm>
            <a:off x="4396740" y="3750868"/>
            <a:ext cx="290322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bounded incidence pages.</a:t>
            </a:r>
          </a:p>
        </p:txBody>
      </p:sp>
      <p:cxnSp>
        <p:nvCxnSpPr>
          <p:cNvPr id="17" name="Connector 16"/>
          <p:cNvCxnSpPr/>
          <p:nvPr/>
        </p:nvCxnSpPr>
        <p:spPr>
          <a:xfrm>
            <a:off x="3406140" y="3284219"/>
            <a:ext cx="822960" cy="0"/>
          </a:xfrm>
          <a:prstGeom prst="line">
            <a:avLst/>
          </a:prstGeom>
          <a:ln w="15240">
            <a:solidFill>
              <a:srgbClr val="315E9C"/>
            </a:solidFill>
          </a:ln>
          <a:effectLst/>
        </p:spPr>
      </p:cxnSp>
      <p:sp>
        <p:nvSpPr>
          <p:cNvPr id="18" name="Freeform 17"/>
          <p:cNvSpPr/>
          <p:nvPr/>
        </p:nvSpPr>
        <p:spPr>
          <a:xfrm>
            <a:off x="4130040" y="3246120"/>
            <a:ext cx="99060" cy="76200"/>
          </a:xfrm>
          <a:custGeom>
            <a:avLst/>
            <a:gdLst/>
            <a:ahLst/>
            <a:cxnLst/>
            <a:rect l="l" t="t" r="r" b="b"/>
            <a:pathLst>
              <a:path w="13" h="10">
                <a:moveTo>
                  <a:pt x="13" y="5"/>
                </a:moveTo>
                <a:lnTo>
                  <a:pt x="0" y="0"/>
                </a:lnTo>
                <a:lnTo>
                  <a:pt x="0" y="10"/>
                </a:lnTo>
                <a:close/>
              </a:path>
            </a:pathLst>
          </a:custGeom>
          <a:solidFill>
            <a:srgbClr val="315E9C"/>
          </a:solidFill>
          <a:ln>
            <a:noFill/>
          </a:ln>
          <a:effectLst/>
        </p:spPr>
        <p:txBody>
          <a:bodyPr rtlCol="0" anchor="ctr"/>
          <a:lstStyle/>
          <a:p>
            <a:pPr algn="ctr"/>
          </a:p>
        </p:txBody>
      </p:sp>
      <p:sp>
        <p:nvSpPr>
          <p:cNvPr id="19" name="Rounded Rectangle 18"/>
          <p:cNvSpPr/>
          <p:nvPr/>
        </p:nvSpPr>
        <p:spPr>
          <a:xfrm>
            <a:off x="8404860" y="1981200"/>
            <a:ext cx="3238500" cy="1005840"/>
          </a:xfrm>
          <a:prstGeom prst="roundRect">
            <a:avLst>
              <a:gd name="adj" fmla="val 9848"/>
            </a:avLst>
          </a:prstGeom>
          <a:solidFill>
            <a:srgbClr val="FFFFFF"/>
          </a:solidFill>
          <a:ln w="7620">
            <a:solidFill>
              <a:srgbClr val="315E9C"/>
            </a:solidFill>
          </a:ln>
          <a:effectLst/>
        </p:spPr>
        <p:txBody>
          <a:bodyPr rtlCol="0" anchor="ctr"/>
          <a:lstStyle/>
          <a:p>
            <a:pPr algn="ctr"/>
          </a:p>
        </p:txBody>
      </p:sp>
      <p:sp>
        <p:nvSpPr>
          <p:cNvPr id="20" name="TextBox 19"/>
          <p:cNvSpPr txBox="1"/>
          <p:nvPr/>
        </p:nvSpPr>
        <p:spPr>
          <a:xfrm>
            <a:off x="8572500" y="2148840"/>
            <a:ext cx="290322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1">
                <a:solidFill>
                  <a:srgbClr val="315E9C"/>
                </a:solidFill>
                <a:latin typeface="DejaVu Sans"/>
              </a:rPr>
              <a:t>AtomStorage</a:t>
            </a:r>
          </a:p>
        </p:txBody>
      </p:sp>
      <p:sp>
        <p:nvSpPr>
          <p:cNvPr id="21" name="TextBox 20"/>
          <p:cNvSpPr txBox="1"/>
          <p:nvPr/>
        </p:nvSpPr>
        <p:spPr>
          <a:xfrm>
            <a:off x="8572500" y="2488387"/>
            <a:ext cx="2903220" cy="214579"/>
          </a:xfrm>
          <a:prstGeom prst="rect">
            <a:avLst/>
          </a:prstGeom>
          <a:noFill/>
        </p:spPr>
        <p:txBody>
          <a:bodyPr wrap="none" lIns="0" rIns="0" tIns="0" bIns="0" anchor="t" anchorCtr="0">
            <a:noAutofit/>
          </a:bodyPr>
          <a:lstStyle/>
          <a:p>
            <a:pPr algn="l">
              <a:lnSpc>
                <a:spcPct val="100000"/>
              </a:lnSpc>
              <a:spcBef>
                <a:spcPts val="0"/>
              </a:spcBef>
              <a:spcAft>
                <a:spcPts val="0"/>
              </a:spcAft>
            </a:pPr>
            <a:r>
              <a:rPr sz="1320" b="0">
                <a:solidFill>
                  <a:srgbClr val="536775"/>
                </a:solidFill>
                <a:latin typeface="DejaVu Sans"/>
              </a:rPr>
              <a:t>Read endpoints and persist/read</a:t>
            </a:r>
          </a:p>
        </p:txBody>
      </p:sp>
      <p:sp>
        <p:nvSpPr>
          <p:cNvPr id="22" name="TextBox 21"/>
          <p:cNvSpPr txBox="1"/>
          <p:nvPr/>
        </p:nvSpPr>
        <p:spPr>
          <a:xfrm>
            <a:off x="8572500" y="2702966"/>
            <a:ext cx="2903220" cy="214579"/>
          </a:xfrm>
          <a:prstGeom prst="rect">
            <a:avLst/>
          </a:prstGeom>
          <a:noFill/>
        </p:spPr>
        <p:txBody>
          <a:bodyPr wrap="none" lIns="0" rIns="0" tIns="0" bIns="0" anchor="t" anchorCtr="0">
            <a:noAutofit/>
          </a:bodyPr>
          <a:lstStyle/>
          <a:p>
            <a:pPr algn="l">
              <a:lnSpc>
                <a:spcPct val="100000"/>
              </a:lnSpc>
              <a:spcBef>
                <a:spcPts val="0"/>
              </a:spcBef>
              <a:spcAft>
                <a:spcPts val="0"/>
              </a:spcAft>
            </a:pPr>
            <a:r>
              <a:rPr sz="1320" b="0">
                <a:solidFill>
                  <a:srgbClr val="536775"/>
                </a:solidFill>
                <a:latin typeface="DejaVu Sans"/>
              </a:rPr>
              <a:t>relation payloads</a:t>
            </a:r>
          </a:p>
        </p:txBody>
      </p:sp>
      <p:cxnSp>
        <p:nvCxnSpPr>
          <p:cNvPr id="23" name="Connector 22"/>
          <p:cNvCxnSpPr/>
          <p:nvPr/>
        </p:nvCxnSpPr>
        <p:spPr>
          <a:xfrm>
            <a:off x="7467600" y="3284219"/>
            <a:ext cx="426720" cy="0"/>
          </a:xfrm>
          <a:prstGeom prst="line">
            <a:avLst/>
          </a:prstGeom>
          <a:ln w="15240">
            <a:solidFill>
              <a:srgbClr val="315E9C"/>
            </a:solidFill>
          </a:ln>
          <a:effectLst/>
        </p:spPr>
      </p:cxnSp>
      <p:cxnSp>
        <p:nvCxnSpPr>
          <p:cNvPr id="24" name="Connector 23"/>
          <p:cNvCxnSpPr/>
          <p:nvPr/>
        </p:nvCxnSpPr>
        <p:spPr>
          <a:xfrm flipV="1">
            <a:off x="7894320" y="2484120"/>
            <a:ext cx="0" cy="800099"/>
          </a:xfrm>
          <a:prstGeom prst="line">
            <a:avLst/>
          </a:prstGeom>
          <a:ln w="15240">
            <a:solidFill>
              <a:srgbClr val="315E9C"/>
            </a:solidFill>
          </a:ln>
          <a:effectLst/>
        </p:spPr>
      </p:cxnSp>
      <p:cxnSp>
        <p:nvCxnSpPr>
          <p:cNvPr id="25" name="Connector 24"/>
          <p:cNvCxnSpPr/>
          <p:nvPr/>
        </p:nvCxnSpPr>
        <p:spPr>
          <a:xfrm>
            <a:off x="7894320" y="2484120"/>
            <a:ext cx="510540" cy="0"/>
          </a:xfrm>
          <a:prstGeom prst="line">
            <a:avLst/>
          </a:prstGeom>
          <a:ln w="15240">
            <a:solidFill>
              <a:srgbClr val="315E9C"/>
            </a:solidFill>
          </a:ln>
          <a:effectLst/>
        </p:spPr>
      </p:cxnSp>
      <p:sp>
        <p:nvSpPr>
          <p:cNvPr id="26" name="Freeform 25"/>
          <p:cNvSpPr/>
          <p:nvPr/>
        </p:nvSpPr>
        <p:spPr>
          <a:xfrm>
            <a:off x="8305800" y="2446020"/>
            <a:ext cx="99060" cy="76200"/>
          </a:xfrm>
          <a:custGeom>
            <a:avLst/>
            <a:gdLst/>
            <a:ahLst/>
            <a:cxnLst/>
            <a:rect l="l" t="t" r="r" b="b"/>
            <a:pathLst>
              <a:path w="13" h="10">
                <a:moveTo>
                  <a:pt x="13" y="5"/>
                </a:moveTo>
                <a:lnTo>
                  <a:pt x="0" y="0"/>
                </a:lnTo>
                <a:lnTo>
                  <a:pt x="0" y="10"/>
                </a:lnTo>
                <a:close/>
              </a:path>
            </a:pathLst>
          </a:custGeom>
          <a:solidFill>
            <a:srgbClr val="315E9C"/>
          </a:solidFill>
          <a:ln>
            <a:noFill/>
          </a:ln>
          <a:effectLst/>
        </p:spPr>
        <p:txBody>
          <a:bodyPr rtlCol="0" anchor="ctr"/>
          <a:lstStyle/>
          <a:p>
            <a:pPr algn="ctr"/>
          </a:p>
        </p:txBody>
      </p:sp>
      <p:sp>
        <p:nvSpPr>
          <p:cNvPr id="27" name="Rounded Rectangle 26"/>
          <p:cNvSpPr/>
          <p:nvPr/>
        </p:nvSpPr>
        <p:spPr>
          <a:xfrm>
            <a:off x="8404860" y="3177540"/>
            <a:ext cx="3238500" cy="1005840"/>
          </a:xfrm>
          <a:prstGeom prst="roundRect">
            <a:avLst>
              <a:gd name="adj" fmla="val 9848"/>
            </a:avLst>
          </a:prstGeom>
          <a:solidFill>
            <a:srgbClr val="FFFFFF"/>
          </a:solidFill>
          <a:ln w="7620">
            <a:solidFill>
              <a:srgbClr val="315E9C"/>
            </a:solidFill>
          </a:ln>
          <a:effectLst/>
        </p:spPr>
        <p:txBody>
          <a:bodyPr rtlCol="0" anchor="ctr"/>
          <a:lstStyle/>
          <a:p>
            <a:pPr algn="ctr"/>
          </a:p>
        </p:txBody>
      </p:sp>
      <p:sp>
        <p:nvSpPr>
          <p:cNvPr id="28" name="TextBox 27"/>
          <p:cNvSpPr txBox="1"/>
          <p:nvPr/>
        </p:nvSpPr>
        <p:spPr>
          <a:xfrm>
            <a:off x="8572500" y="3345179"/>
            <a:ext cx="290322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1">
                <a:solidFill>
                  <a:srgbClr val="315E9C"/>
                </a:solidFill>
                <a:latin typeface="DejaVu Sans"/>
              </a:rPr>
              <a:t>Current authorization</a:t>
            </a:r>
          </a:p>
        </p:txBody>
      </p:sp>
      <p:sp>
        <p:nvSpPr>
          <p:cNvPr id="29" name="TextBox 28"/>
          <p:cNvSpPr txBox="1"/>
          <p:nvPr/>
        </p:nvSpPr>
        <p:spPr>
          <a:xfrm>
            <a:off x="8572500" y="3684727"/>
            <a:ext cx="290322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0">
                <a:solidFill>
                  <a:srgbClr val="536775"/>
                </a:solidFill>
                <a:latin typeface="DejaVu Sans"/>
              </a:rPr>
              <a:t>Caller and private scope</a:t>
            </a:r>
          </a:p>
        </p:txBody>
      </p:sp>
      <p:cxnSp>
        <p:nvCxnSpPr>
          <p:cNvPr id="30" name="Connector 29"/>
          <p:cNvCxnSpPr/>
          <p:nvPr/>
        </p:nvCxnSpPr>
        <p:spPr>
          <a:xfrm>
            <a:off x="7467600" y="3284219"/>
            <a:ext cx="426720" cy="0"/>
          </a:xfrm>
          <a:prstGeom prst="line">
            <a:avLst/>
          </a:prstGeom>
          <a:ln w="15240">
            <a:solidFill>
              <a:srgbClr val="315E9C"/>
            </a:solidFill>
          </a:ln>
          <a:effectLst/>
        </p:spPr>
      </p:cxnSp>
      <p:cxnSp>
        <p:nvCxnSpPr>
          <p:cNvPr id="31" name="Connector 30"/>
          <p:cNvCxnSpPr/>
          <p:nvPr/>
        </p:nvCxnSpPr>
        <p:spPr>
          <a:xfrm>
            <a:off x="7894320" y="3284219"/>
            <a:ext cx="0" cy="396241"/>
          </a:xfrm>
          <a:prstGeom prst="line">
            <a:avLst/>
          </a:prstGeom>
          <a:ln w="15240">
            <a:solidFill>
              <a:srgbClr val="315E9C"/>
            </a:solidFill>
          </a:ln>
          <a:effectLst/>
        </p:spPr>
      </p:cxnSp>
      <p:cxnSp>
        <p:nvCxnSpPr>
          <p:cNvPr id="32" name="Connector 31"/>
          <p:cNvCxnSpPr/>
          <p:nvPr/>
        </p:nvCxnSpPr>
        <p:spPr>
          <a:xfrm>
            <a:off x="7894320" y="3680460"/>
            <a:ext cx="510540" cy="0"/>
          </a:xfrm>
          <a:prstGeom prst="line">
            <a:avLst/>
          </a:prstGeom>
          <a:ln w="15240">
            <a:solidFill>
              <a:srgbClr val="315E9C"/>
            </a:solidFill>
          </a:ln>
          <a:effectLst/>
        </p:spPr>
      </p:cxnSp>
      <p:sp>
        <p:nvSpPr>
          <p:cNvPr id="33" name="Freeform 32"/>
          <p:cNvSpPr/>
          <p:nvPr/>
        </p:nvSpPr>
        <p:spPr>
          <a:xfrm>
            <a:off x="8305800" y="3642360"/>
            <a:ext cx="99060" cy="76200"/>
          </a:xfrm>
          <a:custGeom>
            <a:avLst/>
            <a:gdLst/>
            <a:ahLst/>
            <a:cxnLst/>
            <a:rect l="l" t="t" r="r" b="b"/>
            <a:pathLst>
              <a:path w="13" h="10">
                <a:moveTo>
                  <a:pt x="13" y="5"/>
                </a:moveTo>
                <a:lnTo>
                  <a:pt x="0" y="0"/>
                </a:lnTo>
                <a:lnTo>
                  <a:pt x="0" y="10"/>
                </a:lnTo>
                <a:close/>
              </a:path>
            </a:pathLst>
          </a:custGeom>
          <a:solidFill>
            <a:srgbClr val="315E9C"/>
          </a:solidFill>
          <a:ln>
            <a:noFill/>
          </a:ln>
          <a:effectLst/>
        </p:spPr>
        <p:txBody>
          <a:bodyPr rtlCol="0" anchor="ctr"/>
          <a:lstStyle/>
          <a:p>
            <a:pPr algn="ctr"/>
          </a:p>
        </p:txBody>
      </p:sp>
      <p:sp>
        <p:nvSpPr>
          <p:cNvPr id="34" name="Rounded Rectangle 33"/>
          <p:cNvSpPr/>
          <p:nvPr/>
        </p:nvSpPr>
        <p:spPr>
          <a:xfrm>
            <a:off x="8404860" y="4373880"/>
            <a:ext cx="3238500" cy="1005840"/>
          </a:xfrm>
          <a:prstGeom prst="roundRect">
            <a:avLst>
              <a:gd name="adj" fmla="val 9848"/>
            </a:avLst>
          </a:prstGeom>
          <a:solidFill>
            <a:srgbClr val="FFFFFF"/>
          </a:solidFill>
          <a:ln w="7620">
            <a:solidFill>
              <a:srgbClr val="315E9C"/>
            </a:solidFill>
          </a:ln>
          <a:effectLst/>
        </p:spPr>
        <p:txBody>
          <a:bodyPr rtlCol="0" anchor="ctr"/>
          <a:lstStyle/>
          <a:p>
            <a:pPr algn="ctr"/>
          </a:p>
        </p:txBody>
      </p:sp>
      <p:sp>
        <p:nvSpPr>
          <p:cNvPr id="35" name="TextBox 34"/>
          <p:cNvSpPr txBox="1"/>
          <p:nvPr/>
        </p:nvSpPr>
        <p:spPr>
          <a:xfrm>
            <a:off x="8572500" y="4541520"/>
            <a:ext cx="290322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1">
                <a:solidFill>
                  <a:srgbClr val="315E9C"/>
                </a:solidFill>
                <a:latin typeface="DejaVu Sans"/>
              </a:rPr>
              <a:t>Own relation journal</a:t>
            </a:r>
          </a:p>
        </p:txBody>
      </p:sp>
      <p:sp>
        <p:nvSpPr>
          <p:cNvPr id="36" name="TextBox 35"/>
          <p:cNvSpPr txBox="1"/>
          <p:nvPr/>
        </p:nvSpPr>
        <p:spPr>
          <a:xfrm>
            <a:off x="8572500" y="4881067"/>
            <a:ext cx="2903220" cy="214579"/>
          </a:xfrm>
          <a:prstGeom prst="rect">
            <a:avLst/>
          </a:prstGeom>
          <a:noFill/>
        </p:spPr>
        <p:txBody>
          <a:bodyPr wrap="none" lIns="0" rIns="0" tIns="0" bIns="0" anchor="t" anchorCtr="0">
            <a:noAutofit/>
          </a:bodyPr>
          <a:lstStyle/>
          <a:p>
            <a:pPr algn="l">
              <a:lnSpc>
                <a:spcPct val="100000"/>
              </a:lnSpc>
              <a:spcBef>
                <a:spcPts val="0"/>
              </a:spcBef>
              <a:spcAft>
                <a:spcPts val="0"/>
              </a:spcAft>
            </a:pPr>
            <a:r>
              <a:rPr sz="1320" b="0">
                <a:solidFill>
                  <a:srgbClr val="536775"/>
                </a:solidFill>
                <a:latin typeface="DejaVu Sans"/>
              </a:rPr>
              <a:t>Accepted structures, replay keys</a:t>
            </a:r>
          </a:p>
        </p:txBody>
      </p:sp>
      <p:sp>
        <p:nvSpPr>
          <p:cNvPr id="37" name="TextBox 36"/>
          <p:cNvSpPr txBox="1"/>
          <p:nvPr/>
        </p:nvSpPr>
        <p:spPr>
          <a:xfrm>
            <a:off x="8572500" y="5095646"/>
            <a:ext cx="2903220" cy="214579"/>
          </a:xfrm>
          <a:prstGeom prst="rect">
            <a:avLst/>
          </a:prstGeom>
          <a:noFill/>
        </p:spPr>
        <p:txBody>
          <a:bodyPr wrap="none" lIns="0" rIns="0" tIns="0" bIns="0" anchor="t" anchorCtr="0">
            <a:noAutofit/>
          </a:bodyPr>
          <a:lstStyle/>
          <a:p>
            <a:pPr algn="l">
              <a:lnSpc>
                <a:spcPct val="100000"/>
              </a:lnSpc>
              <a:spcBef>
                <a:spcPts val="0"/>
              </a:spcBef>
              <a:spcAft>
                <a:spcPts val="0"/>
              </a:spcAft>
            </a:pPr>
            <a:r>
              <a:rPr sz="1320" b="0">
                <a:solidFill>
                  <a:srgbClr val="536775"/>
                </a:solidFill>
                <a:latin typeface="DejaVu Sans"/>
              </a:rPr>
              <a:t>and incidence</a:t>
            </a:r>
          </a:p>
        </p:txBody>
      </p:sp>
      <p:cxnSp>
        <p:nvCxnSpPr>
          <p:cNvPr id="38" name="Connector 37"/>
          <p:cNvCxnSpPr/>
          <p:nvPr/>
        </p:nvCxnSpPr>
        <p:spPr>
          <a:xfrm>
            <a:off x="7467600" y="3284219"/>
            <a:ext cx="426720" cy="0"/>
          </a:xfrm>
          <a:prstGeom prst="line">
            <a:avLst/>
          </a:prstGeom>
          <a:ln w="15240">
            <a:solidFill>
              <a:srgbClr val="315E9C"/>
            </a:solidFill>
          </a:ln>
          <a:effectLst/>
        </p:spPr>
      </p:cxnSp>
      <p:cxnSp>
        <p:nvCxnSpPr>
          <p:cNvPr id="39" name="Connector 38"/>
          <p:cNvCxnSpPr/>
          <p:nvPr/>
        </p:nvCxnSpPr>
        <p:spPr>
          <a:xfrm>
            <a:off x="7894320" y="3284219"/>
            <a:ext cx="0" cy="1592581"/>
          </a:xfrm>
          <a:prstGeom prst="line">
            <a:avLst/>
          </a:prstGeom>
          <a:ln w="15240">
            <a:solidFill>
              <a:srgbClr val="315E9C"/>
            </a:solidFill>
          </a:ln>
          <a:effectLst/>
        </p:spPr>
      </p:cxnSp>
      <p:cxnSp>
        <p:nvCxnSpPr>
          <p:cNvPr id="40" name="Connector 39"/>
          <p:cNvCxnSpPr/>
          <p:nvPr/>
        </p:nvCxnSpPr>
        <p:spPr>
          <a:xfrm>
            <a:off x="7894320" y="4876800"/>
            <a:ext cx="510540" cy="0"/>
          </a:xfrm>
          <a:prstGeom prst="line">
            <a:avLst/>
          </a:prstGeom>
          <a:ln w="15240">
            <a:solidFill>
              <a:srgbClr val="315E9C"/>
            </a:solidFill>
          </a:ln>
          <a:effectLst/>
        </p:spPr>
      </p:cxnSp>
      <p:sp>
        <p:nvSpPr>
          <p:cNvPr id="41" name="Freeform 40"/>
          <p:cNvSpPr/>
          <p:nvPr/>
        </p:nvSpPr>
        <p:spPr>
          <a:xfrm>
            <a:off x="8305800" y="4838700"/>
            <a:ext cx="99060" cy="76200"/>
          </a:xfrm>
          <a:custGeom>
            <a:avLst/>
            <a:gdLst/>
            <a:ahLst/>
            <a:cxnLst/>
            <a:rect l="l" t="t" r="r" b="b"/>
            <a:pathLst>
              <a:path w="13" h="10">
                <a:moveTo>
                  <a:pt x="13" y="5"/>
                </a:moveTo>
                <a:lnTo>
                  <a:pt x="0" y="0"/>
                </a:lnTo>
                <a:lnTo>
                  <a:pt x="0" y="10"/>
                </a:lnTo>
                <a:close/>
              </a:path>
            </a:pathLst>
          </a:custGeom>
          <a:solidFill>
            <a:srgbClr val="315E9C"/>
          </a:solidFill>
          <a:ln>
            <a:noFill/>
          </a:ln>
          <a:effectLst/>
        </p:spPr>
        <p:txBody>
          <a:bodyPr rtlCol="0" anchor="ctr"/>
          <a:lstStyle/>
          <a:p>
            <a:pPr algn="ctr"/>
          </a:p>
        </p:txBody>
      </p:sp>
      <p:sp>
        <p:nvSpPr>
          <p:cNvPr id="42" name="Rounded Rectangle 41"/>
          <p:cNvSpPr/>
          <p:nvPr/>
        </p:nvSpPr>
        <p:spPr>
          <a:xfrm>
            <a:off x="548640" y="5829300"/>
            <a:ext cx="11094720" cy="403859"/>
          </a:xfrm>
          <a:prstGeom prst="roundRect">
            <a:avLst>
              <a:gd name="adj" fmla="val 15094"/>
            </a:avLst>
          </a:prstGeom>
          <a:solidFill>
            <a:srgbClr val="E7ECEB"/>
          </a:solidFill>
          <a:ln>
            <a:noFill/>
          </a:ln>
          <a:effectLst/>
        </p:spPr>
        <p:txBody>
          <a:bodyPr rtlCol="0" anchor="ctr"/>
          <a:lstStyle/>
          <a:p>
            <a:pPr algn="ctr"/>
          </a:p>
        </p:txBody>
      </p:sp>
      <p:sp>
        <p:nvSpPr>
          <p:cNvPr id="43" name="TextBox 42"/>
          <p:cNvSpPr txBox="1"/>
          <p:nvPr/>
        </p:nvSpPr>
        <p:spPr>
          <a:xfrm>
            <a:off x="716280" y="5905500"/>
            <a:ext cx="1074420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1">
                <a:solidFill>
                  <a:srgbClr val="102B3F"/>
                </a:solidFill>
                <a:latin typeface="DejaVu Sans"/>
              </a:rPr>
              <a:t>One responsibility does not imply one process. A dependency does not grant access to its private tables.</a:t>
            </a:r>
          </a:p>
        </p:txBody>
      </p:sp>
      <p:cxnSp>
        <p:nvCxnSpPr>
          <p:cNvPr id="44" name="Connector 43"/>
          <p:cNvCxnSpPr/>
          <p:nvPr/>
        </p:nvCxnSpPr>
        <p:spPr>
          <a:xfrm>
            <a:off x="548640" y="6393180"/>
            <a:ext cx="11094720" cy="0"/>
          </a:xfrm>
          <a:prstGeom prst="line">
            <a:avLst/>
          </a:prstGeom>
          <a:ln w="7620">
            <a:solidFill>
              <a:srgbClr val="C9D2D4"/>
            </a:solidFill>
          </a:ln>
          <a:effectLst/>
        </p:spPr>
      </p:cxnSp>
      <p:sp>
        <p:nvSpPr>
          <p:cNvPr id="45" name="TextBox 44"/>
          <p:cNvSpPr txBox="1"/>
          <p:nvPr/>
        </p:nvSpPr>
        <p:spPr>
          <a:xfrm>
            <a:off x="548640" y="6499859"/>
            <a:ext cx="9906000" cy="146304"/>
          </a:xfrm>
          <a:prstGeom prst="rect">
            <a:avLst/>
          </a:prstGeom>
          <a:noFill/>
        </p:spPr>
        <p:txBody>
          <a:bodyPr wrap="none" lIns="0" rIns="0" tIns="0" bIns="0" anchor="t" anchorCtr="0">
            <a:noAutofit/>
          </a:bodyPr>
          <a:lstStyle/>
          <a:p>
            <a:pPr algn="l">
              <a:lnSpc>
                <a:spcPct val="100000"/>
              </a:lnSpc>
              <a:spcBef>
                <a:spcPts val="0"/>
              </a:spcBef>
              <a:spcAft>
                <a:spcPts val="0"/>
              </a:spcAft>
            </a:pPr>
            <a:r>
              <a:rPr sz="900" b="0">
                <a:solidFill>
                  <a:srgbClr val="536775"/>
                </a:solidFill>
                <a:latin typeface="DejaVu Sans"/>
              </a:rPr>
              <a:t>OMEGA × ASI / THROUGH M5 / Relations · M5 source bfb0ec8</a:t>
            </a:r>
          </a:p>
        </p:txBody>
      </p:sp>
      <p:sp>
        <p:nvSpPr>
          <p:cNvPr id="46" name="TextBox 45"/>
          <p:cNvSpPr txBox="1"/>
          <p:nvPr/>
        </p:nvSpPr>
        <p:spPr>
          <a:xfrm>
            <a:off x="10744200" y="6469380"/>
            <a:ext cx="9144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Mono"/>
              </a:rPr>
              <a:t>03 / 12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4F2EB"/>
        </a:solidFill>
        <a:effectLst/>
      </p:bgPr>
    </p:bg>
    <p:spTree>
      <p:nvGrpSpPr>
        <p:cNvPr id="1" name=""/>
        <p:cNvGrpSpPr/>
        <p:nvPr/>
      </p:nvGrpSpPr>
      <p:grpSpPr/>
      <p:sp>
        <p:nvSpPr>
          <p:cNvPr id="2" name="TextBox 1"/>
          <p:cNvSpPr txBox="1"/>
          <p:nvPr/>
        </p:nvSpPr>
        <p:spPr>
          <a:xfrm>
            <a:off x="548640" y="327660"/>
            <a:ext cx="108204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1">
                <a:solidFill>
                  <a:srgbClr val="007C78"/>
                </a:solidFill>
                <a:latin typeface="DejaVu Sans"/>
              </a:rPr>
              <a:t>03 / OWNERSHIP</a:t>
            </a:r>
          </a:p>
        </p:txBody>
      </p:sp>
      <p:sp>
        <p:nvSpPr>
          <p:cNvPr id="3" name="TextBox 2"/>
          <p:cNvSpPr txBox="1"/>
          <p:nvPr/>
        </p:nvSpPr>
        <p:spPr>
          <a:xfrm>
            <a:off x="533400" y="723900"/>
            <a:ext cx="11125200" cy="507187"/>
          </a:xfrm>
          <a:prstGeom prst="rect">
            <a:avLst/>
          </a:prstGeom>
          <a:noFill/>
        </p:spPr>
        <p:txBody>
          <a:bodyPr wrap="none" lIns="0" rIns="0" tIns="0" bIns="0" anchor="t" anchorCtr="0">
            <a:noAutofit/>
          </a:bodyPr>
          <a:lstStyle/>
          <a:p>
            <a:pPr algn="l">
              <a:lnSpc>
                <a:spcPct val="100000"/>
              </a:lnSpc>
              <a:spcBef>
                <a:spcPts val="0"/>
              </a:spcBef>
              <a:spcAft>
                <a:spcPts val="0"/>
              </a:spcAft>
            </a:pPr>
            <a:r>
              <a:rPr sz="3120" b="1">
                <a:solidFill>
                  <a:srgbClr val="102B3F"/>
                </a:solidFill>
                <a:latin typeface="DejaVu Sans"/>
              </a:rPr>
              <a:t>Responsibility, state and scope</a:t>
            </a:r>
          </a:p>
        </p:txBody>
      </p:sp>
      <p:sp>
        <p:nvSpPr>
          <p:cNvPr id="4" name="TextBox 3"/>
          <p:cNvSpPr txBox="1"/>
          <p:nvPr/>
        </p:nvSpPr>
        <p:spPr>
          <a:xfrm>
            <a:off x="556260" y="1257300"/>
            <a:ext cx="110490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The owner is authoritative for its own state; other responsibilities are deliberately separate.</a:t>
            </a:r>
          </a:p>
        </p:txBody>
      </p:sp>
      <p:sp>
        <p:nvSpPr>
          <p:cNvPr id="5" name="TextBox 4"/>
          <p:cNvSpPr txBox="1"/>
          <p:nvPr/>
        </p:nvSpPr>
        <p:spPr>
          <a:xfrm>
            <a:off x="640080" y="1775459"/>
            <a:ext cx="5257800" cy="195072"/>
          </a:xfrm>
          <a:prstGeom prst="rect">
            <a:avLst/>
          </a:prstGeom>
          <a:noFill/>
        </p:spPr>
        <p:txBody>
          <a:bodyPr wrap="none" lIns="0" rIns="0" tIns="0" bIns="0" anchor="t" anchorCtr="0">
            <a:noAutofit/>
          </a:bodyPr>
          <a:lstStyle/>
          <a:p>
            <a:pPr algn="l">
              <a:lnSpc>
                <a:spcPct val="100000"/>
              </a:lnSpc>
              <a:spcBef>
                <a:spcPts val="0"/>
              </a:spcBef>
              <a:spcAft>
                <a:spcPts val="0"/>
              </a:spcAft>
            </a:pPr>
            <a:r>
              <a:rPr sz="1200" b="1">
                <a:solidFill>
                  <a:srgbClr val="315E9C"/>
                </a:solidFill>
                <a:latin typeface="DejaVu Sans"/>
              </a:rPr>
              <a:t>OWNS / GUARANTEES</a:t>
            </a:r>
          </a:p>
        </p:txBody>
      </p:sp>
      <p:sp>
        <p:nvSpPr>
          <p:cNvPr id="6" name="Rounded Rectangle 5"/>
          <p:cNvSpPr/>
          <p:nvPr/>
        </p:nvSpPr>
        <p:spPr>
          <a:xfrm>
            <a:off x="548640" y="2133600"/>
            <a:ext cx="5425440" cy="1447800"/>
          </a:xfrm>
          <a:prstGeom prst="roundRect">
            <a:avLst>
              <a:gd name="adj" fmla="val 6842"/>
            </a:avLst>
          </a:prstGeom>
          <a:solidFill>
            <a:srgbClr val="E4EBF5"/>
          </a:solidFill>
          <a:ln w="7620">
            <a:solidFill>
              <a:srgbClr val="315E9C"/>
            </a:solidFill>
          </a:ln>
          <a:effectLst/>
        </p:spPr>
        <p:txBody>
          <a:bodyPr rtlCol="0" anchor="ctr"/>
          <a:lstStyle/>
          <a:p>
            <a:pPr algn="ctr"/>
          </a:p>
        </p:txBody>
      </p:sp>
      <p:sp>
        <p:nvSpPr>
          <p:cNvPr id="7" name="TextBox 6"/>
          <p:cNvSpPr txBox="1"/>
          <p:nvPr/>
        </p:nvSpPr>
        <p:spPr>
          <a:xfrm>
            <a:off x="716280" y="2301240"/>
            <a:ext cx="5090160" cy="302361"/>
          </a:xfrm>
          <a:prstGeom prst="rect">
            <a:avLst/>
          </a:prstGeom>
          <a:noFill/>
        </p:spPr>
        <p:txBody>
          <a:bodyPr wrap="none" lIns="0" rIns="0" tIns="0" bIns="0" anchor="t" anchorCtr="0">
            <a:noAutofit/>
          </a:bodyPr>
          <a:lstStyle/>
          <a:p>
            <a:pPr algn="l">
              <a:lnSpc>
                <a:spcPct val="100000"/>
              </a:lnSpc>
              <a:spcBef>
                <a:spcPts val="0"/>
              </a:spcBef>
              <a:spcAft>
                <a:spcPts val="0"/>
              </a:spcAft>
            </a:pPr>
            <a:r>
              <a:rPr sz="1859" b="1">
                <a:solidFill>
                  <a:srgbClr val="315E9C"/>
                </a:solidFill>
                <a:latin typeface="DejaVu Sans"/>
              </a:rPr>
              <a:t>Accepted structural ledger</a:t>
            </a:r>
          </a:p>
        </p:txBody>
      </p:sp>
      <p:sp>
        <p:nvSpPr>
          <p:cNvPr id="8" name="TextBox 7"/>
          <p:cNvSpPr txBox="1"/>
          <p:nvPr/>
        </p:nvSpPr>
        <p:spPr>
          <a:xfrm>
            <a:off x="716280" y="2679801"/>
            <a:ext cx="509016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0">
                <a:solidFill>
                  <a:srgbClr val="536775"/>
                </a:solidFill>
                <a:latin typeface="DejaVu Sans"/>
              </a:rPr>
              <a:t>Schema, direction, ordered roles and acceptance</a:t>
            </a:r>
          </a:p>
        </p:txBody>
      </p:sp>
      <p:sp>
        <p:nvSpPr>
          <p:cNvPr id="9" name="TextBox 8"/>
          <p:cNvSpPr txBox="1"/>
          <p:nvPr/>
        </p:nvSpPr>
        <p:spPr>
          <a:xfrm>
            <a:off x="716280" y="2933395"/>
            <a:ext cx="509016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0">
                <a:solidFill>
                  <a:srgbClr val="536775"/>
                </a:solidFill>
                <a:latin typeface="DejaVu Sans"/>
              </a:rPr>
              <a:t>sequence</a:t>
            </a:r>
          </a:p>
        </p:txBody>
      </p:sp>
      <p:sp>
        <p:nvSpPr>
          <p:cNvPr id="10" name="Rounded Rectangle 9"/>
          <p:cNvSpPr/>
          <p:nvPr/>
        </p:nvSpPr>
        <p:spPr>
          <a:xfrm>
            <a:off x="548640" y="3764279"/>
            <a:ext cx="5425440" cy="1447800"/>
          </a:xfrm>
          <a:prstGeom prst="roundRect">
            <a:avLst>
              <a:gd name="adj" fmla="val 6842"/>
            </a:avLst>
          </a:prstGeom>
          <a:solidFill>
            <a:srgbClr val="E4EBF5"/>
          </a:solidFill>
          <a:ln w="7620">
            <a:solidFill>
              <a:srgbClr val="315E9C"/>
            </a:solidFill>
          </a:ln>
          <a:effectLst/>
        </p:spPr>
        <p:txBody>
          <a:bodyPr rtlCol="0" anchor="ctr"/>
          <a:lstStyle/>
          <a:p>
            <a:pPr algn="ctr"/>
          </a:p>
        </p:txBody>
      </p:sp>
      <p:sp>
        <p:nvSpPr>
          <p:cNvPr id="11" name="TextBox 10"/>
          <p:cNvSpPr txBox="1"/>
          <p:nvPr/>
        </p:nvSpPr>
        <p:spPr>
          <a:xfrm>
            <a:off x="716280" y="3931919"/>
            <a:ext cx="5090160" cy="302361"/>
          </a:xfrm>
          <a:prstGeom prst="rect">
            <a:avLst/>
          </a:prstGeom>
          <a:noFill/>
        </p:spPr>
        <p:txBody>
          <a:bodyPr wrap="none" lIns="0" rIns="0" tIns="0" bIns="0" anchor="t" anchorCtr="0">
            <a:noAutofit/>
          </a:bodyPr>
          <a:lstStyle/>
          <a:p>
            <a:pPr algn="l">
              <a:lnSpc>
                <a:spcPct val="100000"/>
              </a:lnSpc>
              <a:spcBef>
                <a:spcPts val="0"/>
              </a:spcBef>
              <a:spcAft>
                <a:spcPts val="0"/>
              </a:spcAft>
            </a:pPr>
            <a:r>
              <a:rPr sz="1859" b="1">
                <a:solidFill>
                  <a:srgbClr val="315E9C"/>
                </a:solidFill>
                <a:latin typeface="DejaVu Sans"/>
              </a:rPr>
              <a:t>Replay + incidence</a:t>
            </a:r>
          </a:p>
        </p:txBody>
      </p:sp>
      <p:sp>
        <p:nvSpPr>
          <p:cNvPr id="12" name="TextBox 11"/>
          <p:cNvSpPr txBox="1"/>
          <p:nvPr/>
        </p:nvSpPr>
        <p:spPr>
          <a:xfrm>
            <a:off x="716280" y="4310481"/>
            <a:ext cx="509016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0">
                <a:solidFill>
                  <a:srgbClr val="536775"/>
                </a:solidFill>
                <a:latin typeface="DejaVu Sans"/>
              </a:rPr>
              <a:t>Semantic duplicate handling and fixed-head</a:t>
            </a:r>
          </a:p>
        </p:txBody>
      </p:sp>
      <p:sp>
        <p:nvSpPr>
          <p:cNvPr id="13" name="TextBox 12"/>
          <p:cNvSpPr txBox="1"/>
          <p:nvPr/>
        </p:nvSpPr>
        <p:spPr>
          <a:xfrm>
            <a:off x="716280" y="4564075"/>
            <a:ext cx="509016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0">
                <a:solidFill>
                  <a:srgbClr val="536775"/>
                </a:solidFill>
                <a:latin typeface="DejaVu Sans"/>
              </a:rPr>
              <a:t>traversal</a:t>
            </a:r>
          </a:p>
        </p:txBody>
      </p:sp>
      <p:sp>
        <p:nvSpPr>
          <p:cNvPr id="14" name="TextBox 13"/>
          <p:cNvSpPr txBox="1"/>
          <p:nvPr/>
        </p:nvSpPr>
        <p:spPr>
          <a:xfrm>
            <a:off x="6309359" y="1775459"/>
            <a:ext cx="5257800" cy="195072"/>
          </a:xfrm>
          <a:prstGeom prst="rect">
            <a:avLst/>
          </a:prstGeom>
          <a:noFill/>
        </p:spPr>
        <p:txBody>
          <a:bodyPr wrap="none" lIns="0" rIns="0" tIns="0" bIns="0" anchor="t" anchorCtr="0">
            <a:noAutofit/>
          </a:bodyPr>
          <a:lstStyle/>
          <a:p>
            <a:pPr algn="l">
              <a:lnSpc>
                <a:spcPct val="100000"/>
              </a:lnSpc>
              <a:spcBef>
                <a:spcPts val="0"/>
              </a:spcBef>
              <a:spcAft>
                <a:spcPts val="0"/>
              </a:spcAft>
            </a:pPr>
            <a:r>
              <a:rPr sz="1200" b="1">
                <a:solidFill>
                  <a:srgbClr val="A86A15"/>
                </a:solidFill>
                <a:latin typeface="DejaVu Sans"/>
              </a:rPr>
              <a:t>OUTSIDE THIS RESPONSIBILITY</a:t>
            </a:r>
          </a:p>
        </p:txBody>
      </p:sp>
      <p:sp>
        <p:nvSpPr>
          <p:cNvPr id="15" name="Rounded Rectangle 14"/>
          <p:cNvSpPr/>
          <p:nvPr/>
        </p:nvSpPr>
        <p:spPr>
          <a:xfrm>
            <a:off x="6217920" y="2133600"/>
            <a:ext cx="5425440" cy="1447800"/>
          </a:xfrm>
          <a:prstGeom prst="roundRect">
            <a:avLst>
              <a:gd name="adj" fmla="val 6842"/>
            </a:avLst>
          </a:prstGeom>
          <a:solidFill>
            <a:srgbClr val="F3E7CE"/>
          </a:solidFill>
          <a:ln w="7620">
            <a:solidFill>
              <a:srgbClr val="A86A15"/>
            </a:solidFill>
          </a:ln>
          <a:effectLst/>
        </p:spPr>
        <p:txBody>
          <a:bodyPr rtlCol="0" anchor="ctr"/>
          <a:lstStyle/>
          <a:p>
            <a:pPr algn="ctr"/>
          </a:p>
        </p:txBody>
      </p:sp>
      <p:sp>
        <p:nvSpPr>
          <p:cNvPr id="16" name="TextBox 15"/>
          <p:cNvSpPr txBox="1"/>
          <p:nvPr/>
        </p:nvSpPr>
        <p:spPr>
          <a:xfrm>
            <a:off x="6385559" y="2301240"/>
            <a:ext cx="5090160" cy="302361"/>
          </a:xfrm>
          <a:prstGeom prst="rect">
            <a:avLst/>
          </a:prstGeom>
          <a:noFill/>
        </p:spPr>
        <p:txBody>
          <a:bodyPr wrap="none" lIns="0" rIns="0" tIns="0" bIns="0" anchor="t" anchorCtr="0">
            <a:noAutofit/>
          </a:bodyPr>
          <a:lstStyle/>
          <a:p>
            <a:pPr algn="l">
              <a:lnSpc>
                <a:spcPct val="100000"/>
              </a:lnSpc>
              <a:spcBef>
                <a:spcPts val="0"/>
              </a:spcBef>
              <a:spcAft>
                <a:spcPts val="0"/>
              </a:spcAft>
            </a:pPr>
            <a:r>
              <a:rPr sz="1859" b="1">
                <a:solidFill>
                  <a:srgbClr val="A86A15"/>
                </a:solidFill>
                <a:latin typeface="DejaVu Sans"/>
              </a:rPr>
              <a:t>Unaccepted payloads</a:t>
            </a:r>
          </a:p>
        </p:txBody>
      </p:sp>
      <p:sp>
        <p:nvSpPr>
          <p:cNvPr id="17" name="TextBox 16"/>
          <p:cNvSpPr txBox="1"/>
          <p:nvPr/>
        </p:nvSpPr>
        <p:spPr>
          <a:xfrm>
            <a:off x="6385559" y="2679801"/>
            <a:ext cx="509016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0">
                <a:solidFill>
                  <a:srgbClr val="536775"/>
                </a:solidFill>
                <a:latin typeface="DejaVu Sans"/>
              </a:rPr>
              <a:t>An orphan atom is not an accepted or traversable</a:t>
            </a:r>
          </a:p>
        </p:txBody>
      </p:sp>
      <p:sp>
        <p:nvSpPr>
          <p:cNvPr id="18" name="TextBox 17"/>
          <p:cNvSpPr txBox="1"/>
          <p:nvPr/>
        </p:nvSpPr>
        <p:spPr>
          <a:xfrm>
            <a:off x="6385559" y="2933395"/>
            <a:ext cx="509016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0">
                <a:solidFill>
                  <a:srgbClr val="536775"/>
                </a:solidFill>
                <a:latin typeface="DejaVu Sans"/>
              </a:rPr>
              <a:t>relation</a:t>
            </a:r>
          </a:p>
        </p:txBody>
      </p:sp>
      <p:sp>
        <p:nvSpPr>
          <p:cNvPr id="19" name="Rounded Rectangle 18"/>
          <p:cNvSpPr/>
          <p:nvPr/>
        </p:nvSpPr>
        <p:spPr>
          <a:xfrm>
            <a:off x="6217920" y="3764279"/>
            <a:ext cx="5425440" cy="1447800"/>
          </a:xfrm>
          <a:prstGeom prst="roundRect">
            <a:avLst>
              <a:gd name="adj" fmla="val 6842"/>
            </a:avLst>
          </a:prstGeom>
          <a:solidFill>
            <a:srgbClr val="F3E7CE"/>
          </a:solidFill>
          <a:ln w="7620">
            <a:solidFill>
              <a:srgbClr val="A86A15"/>
            </a:solidFill>
          </a:ln>
          <a:effectLst/>
        </p:spPr>
        <p:txBody>
          <a:bodyPr rtlCol="0" anchor="ctr"/>
          <a:lstStyle/>
          <a:p>
            <a:pPr algn="ctr"/>
          </a:p>
        </p:txBody>
      </p:sp>
      <p:sp>
        <p:nvSpPr>
          <p:cNvPr id="20" name="TextBox 19"/>
          <p:cNvSpPr txBox="1"/>
          <p:nvPr/>
        </p:nvSpPr>
        <p:spPr>
          <a:xfrm>
            <a:off x="6385559" y="3931919"/>
            <a:ext cx="5090160" cy="302361"/>
          </a:xfrm>
          <a:prstGeom prst="rect">
            <a:avLst/>
          </a:prstGeom>
          <a:noFill/>
        </p:spPr>
        <p:txBody>
          <a:bodyPr wrap="none" lIns="0" rIns="0" tIns="0" bIns="0" anchor="t" anchorCtr="0">
            <a:noAutofit/>
          </a:bodyPr>
          <a:lstStyle/>
          <a:p>
            <a:pPr algn="l">
              <a:lnSpc>
                <a:spcPct val="100000"/>
              </a:lnSpc>
              <a:spcBef>
                <a:spcPts val="0"/>
              </a:spcBef>
              <a:spcAft>
                <a:spcPts val="0"/>
              </a:spcAft>
            </a:pPr>
            <a:r>
              <a:rPr sz="1859" b="1">
                <a:solidFill>
                  <a:srgbClr val="A86A15"/>
                </a:solidFill>
                <a:latin typeface="DejaVu Sans"/>
              </a:rPr>
              <a:t>Truth and general graph search</a:t>
            </a:r>
          </a:p>
        </p:txBody>
      </p:sp>
      <p:sp>
        <p:nvSpPr>
          <p:cNvPr id="21" name="TextBox 20"/>
          <p:cNvSpPr txBox="1"/>
          <p:nvPr/>
        </p:nvSpPr>
        <p:spPr>
          <a:xfrm>
            <a:off x="6385559" y="4310481"/>
            <a:ext cx="509016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0">
                <a:solidFill>
                  <a:srgbClr val="536775"/>
                </a:solidFill>
                <a:latin typeface="DejaVu Sans"/>
              </a:rPr>
              <a:t>No inference, ontology engine, transitive query or</a:t>
            </a:r>
          </a:p>
        </p:txBody>
      </p:sp>
      <p:sp>
        <p:nvSpPr>
          <p:cNvPr id="22" name="TextBox 21"/>
          <p:cNvSpPr txBox="1"/>
          <p:nvPr/>
        </p:nvSpPr>
        <p:spPr>
          <a:xfrm>
            <a:off x="6385559" y="4564075"/>
            <a:ext cx="509016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0">
                <a:solidFill>
                  <a:srgbClr val="536775"/>
                </a:solidFill>
                <a:latin typeface="DejaVu Sans"/>
              </a:rPr>
              <a:t>hidden graph backend</a:t>
            </a:r>
          </a:p>
        </p:txBody>
      </p:sp>
      <p:sp>
        <p:nvSpPr>
          <p:cNvPr id="23" name="Rounded Rectangle 22"/>
          <p:cNvSpPr/>
          <p:nvPr/>
        </p:nvSpPr>
        <p:spPr>
          <a:xfrm>
            <a:off x="548640" y="5829300"/>
            <a:ext cx="11094720" cy="403859"/>
          </a:xfrm>
          <a:prstGeom prst="roundRect">
            <a:avLst>
              <a:gd name="adj" fmla="val 15094"/>
            </a:avLst>
          </a:prstGeom>
          <a:solidFill>
            <a:srgbClr val="E7ECEB"/>
          </a:solidFill>
          <a:ln>
            <a:noFill/>
          </a:ln>
          <a:effectLst/>
        </p:spPr>
        <p:txBody>
          <a:bodyPr rtlCol="0" anchor="ctr"/>
          <a:lstStyle/>
          <a:p>
            <a:pPr algn="ctr"/>
          </a:p>
        </p:txBody>
      </p:sp>
      <p:sp>
        <p:nvSpPr>
          <p:cNvPr id="24" name="TextBox 23"/>
          <p:cNvSpPr txBox="1"/>
          <p:nvPr/>
        </p:nvSpPr>
        <p:spPr>
          <a:xfrm>
            <a:off x="716280" y="5905500"/>
            <a:ext cx="107442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schema-ordered-relations/2 · contract 2.0.0 · fresh stores</a:t>
            </a:r>
          </a:p>
        </p:txBody>
      </p:sp>
      <p:cxnSp>
        <p:nvCxnSpPr>
          <p:cNvPr id="25" name="Connector 24"/>
          <p:cNvCxnSpPr/>
          <p:nvPr/>
        </p:nvCxnSpPr>
        <p:spPr>
          <a:xfrm>
            <a:off x="548640" y="6393180"/>
            <a:ext cx="11094720" cy="0"/>
          </a:xfrm>
          <a:prstGeom prst="line">
            <a:avLst/>
          </a:prstGeom>
          <a:ln w="7620">
            <a:solidFill>
              <a:srgbClr val="C9D2D4"/>
            </a:solidFill>
          </a:ln>
          <a:effectLst/>
        </p:spPr>
      </p:cxnSp>
      <p:sp>
        <p:nvSpPr>
          <p:cNvPr id="26" name="TextBox 25"/>
          <p:cNvSpPr txBox="1"/>
          <p:nvPr/>
        </p:nvSpPr>
        <p:spPr>
          <a:xfrm>
            <a:off x="548640" y="6499859"/>
            <a:ext cx="9906000" cy="146304"/>
          </a:xfrm>
          <a:prstGeom prst="rect">
            <a:avLst/>
          </a:prstGeom>
          <a:noFill/>
        </p:spPr>
        <p:txBody>
          <a:bodyPr wrap="none" lIns="0" rIns="0" tIns="0" bIns="0" anchor="t" anchorCtr="0">
            <a:noAutofit/>
          </a:bodyPr>
          <a:lstStyle/>
          <a:p>
            <a:pPr algn="l">
              <a:lnSpc>
                <a:spcPct val="100000"/>
              </a:lnSpc>
              <a:spcBef>
                <a:spcPts val="0"/>
              </a:spcBef>
              <a:spcAft>
                <a:spcPts val="0"/>
              </a:spcAft>
            </a:pPr>
            <a:r>
              <a:rPr sz="900" b="0">
                <a:solidFill>
                  <a:srgbClr val="536775"/>
                </a:solidFill>
                <a:latin typeface="DejaVu Sans"/>
              </a:rPr>
              <a:t>OMEGA × ASI / THROUGH M5 / Relations · M5 source bfb0ec8</a:t>
            </a:r>
          </a:p>
        </p:txBody>
      </p:sp>
      <p:sp>
        <p:nvSpPr>
          <p:cNvPr id="27" name="TextBox 26"/>
          <p:cNvSpPr txBox="1"/>
          <p:nvPr/>
        </p:nvSpPr>
        <p:spPr>
          <a:xfrm>
            <a:off x="10744200" y="6469380"/>
            <a:ext cx="9144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Mono"/>
              </a:rPr>
              <a:t>04 / 12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4F2EB"/>
        </a:solidFill>
        <a:effectLst/>
      </p:bgPr>
    </p:bg>
    <p:spTree>
      <p:nvGrpSpPr>
        <p:cNvPr id="1" name=""/>
        <p:cNvGrpSpPr/>
        <p:nvPr/>
      </p:nvGrpSpPr>
      <p:grpSpPr/>
      <p:sp>
        <p:nvSpPr>
          <p:cNvPr id="2" name="TextBox 1"/>
          <p:cNvSpPr txBox="1"/>
          <p:nvPr/>
        </p:nvSpPr>
        <p:spPr>
          <a:xfrm>
            <a:off x="548640" y="327660"/>
            <a:ext cx="108204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1">
                <a:solidFill>
                  <a:srgbClr val="007C78"/>
                </a:solidFill>
                <a:latin typeface="DejaVu Sans"/>
              </a:rPr>
              <a:t>04 / CONTRACT</a:t>
            </a:r>
          </a:p>
        </p:txBody>
      </p:sp>
      <p:sp>
        <p:nvSpPr>
          <p:cNvPr id="3" name="TextBox 2"/>
          <p:cNvSpPr txBox="1"/>
          <p:nvPr/>
        </p:nvSpPr>
        <p:spPr>
          <a:xfrm>
            <a:off x="533400" y="723900"/>
            <a:ext cx="11125200" cy="507187"/>
          </a:xfrm>
          <a:prstGeom prst="rect">
            <a:avLst/>
          </a:prstGeom>
          <a:noFill/>
        </p:spPr>
        <p:txBody>
          <a:bodyPr wrap="none" lIns="0" rIns="0" tIns="0" bIns="0" anchor="t" anchorCtr="0">
            <a:noAutofit/>
          </a:bodyPr>
          <a:lstStyle/>
          <a:p>
            <a:pPr algn="l">
              <a:lnSpc>
                <a:spcPct val="100000"/>
              </a:lnSpc>
              <a:spcBef>
                <a:spcPts val="0"/>
              </a:spcBef>
              <a:spcAft>
                <a:spcPts val="0"/>
              </a:spcAft>
            </a:pPr>
            <a:r>
              <a:rPr sz="3120" b="1">
                <a:solidFill>
                  <a:srgbClr val="102B3F"/>
                </a:solidFill>
                <a:latin typeface="DejaVu Sans"/>
              </a:rPr>
              <a:t>The executable surface</a:t>
            </a:r>
          </a:p>
        </p:txBody>
      </p:sp>
      <p:sp>
        <p:nvSpPr>
          <p:cNvPr id="4" name="TextBox 3"/>
          <p:cNvSpPr txBox="1"/>
          <p:nvPr/>
        </p:nvSpPr>
        <p:spPr>
          <a:xfrm>
            <a:off x="556260" y="1257300"/>
            <a:ext cx="110490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These operations and implementation seams define the supported scope; versions and profiles remain explicit.</a:t>
            </a:r>
          </a:p>
        </p:txBody>
      </p:sp>
      <p:sp>
        <p:nvSpPr>
          <p:cNvPr id="5" name="TextBox 4"/>
          <p:cNvSpPr txBox="1"/>
          <p:nvPr/>
        </p:nvSpPr>
        <p:spPr>
          <a:xfrm>
            <a:off x="670560" y="1790700"/>
            <a:ext cx="2804160" cy="165811"/>
          </a:xfrm>
          <a:prstGeom prst="rect">
            <a:avLst/>
          </a:prstGeom>
          <a:noFill/>
        </p:spPr>
        <p:txBody>
          <a:bodyPr wrap="none" lIns="0" rIns="0" tIns="0" bIns="0" anchor="t" anchorCtr="0">
            <a:noAutofit/>
          </a:bodyPr>
          <a:lstStyle/>
          <a:p>
            <a:pPr algn="l">
              <a:lnSpc>
                <a:spcPct val="100000"/>
              </a:lnSpc>
              <a:spcBef>
                <a:spcPts val="0"/>
              </a:spcBef>
              <a:spcAft>
                <a:spcPts val="0"/>
              </a:spcAft>
            </a:pPr>
            <a:r>
              <a:rPr sz="1019" b="1">
                <a:solidFill>
                  <a:srgbClr val="536775"/>
                </a:solidFill>
                <a:latin typeface="DejaVu Sans"/>
              </a:rPr>
              <a:t>OPERATION / SEAM</a:t>
            </a:r>
          </a:p>
        </p:txBody>
      </p:sp>
      <p:sp>
        <p:nvSpPr>
          <p:cNvPr id="6" name="TextBox 5"/>
          <p:cNvSpPr txBox="1"/>
          <p:nvPr/>
        </p:nvSpPr>
        <p:spPr>
          <a:xfrm>
            <a:off x="3718560" y="1790700"/>
            <a:ext cx="3832860" cy="165811"/>
          </a:xfrm>
          <a:prstGeom prst="rect">
            <a:avLst/>
          </a:prstGeom>
          <a:noFill/>
        </p:spPr>
        <p:txBody>
          <a:bodyPr wrap="none" lIns="0" rIns="0" tIns="0" bIns="0" anchor="t" anchorCtr="0">
            <a:noAutofit/>
          </a:bodyPr>
          <a:lstStyle/>
          <a:p>
            <a:pPr algn="l">
              <a:lnSpc>
                <a:spcPct val="100000"/>
              </a:lnSpc>
              <a:spcBef>
                <a:spcPts val="0"/>
              </a:spcBef>
              <a:spcAft>
                <a:spcPts val="0"/>
              </a:spcAft>
            </a:pPr>
            <a:r>
              <a:rPr sz="1019" b="1">
                <a:solidFill>
                  <a:srgbClr val="536775"/>
                </a:solidFill>
                <a:latin typeface="DejaVu Sans"/>
              </a:rPr>
              <a:t>RESPONSIBILITY</a:t>
            </a:r>
          </a:p>
        </p:txBody>
      </p:sp>
      <p:sp>
        <p:nvSpPr>
          <p:cNvPr id="7" name="TextBox 6"/>
          <p:cNvSpPr txBox="1"/>
          <p:nvPr/>
        </p:nvSpPr>
        <p:spPr>
          <a:xfrm>
            <a:off x="7795259" y="1790700"/>
            <a:ext cx="3726179" cy="165811"/>
          </a:xfrm>
          <a:prstGeom prst="rect">
            <a:avLst/>
          </a:prstGeom>
          <a:noFill/>
        </p:spPr>
        <p:txBody>
          <a:bodyPr wrap="none" lIns="0" rIns="0" tIns="0" bIns="0" anchor="t" anchorCtr="0">
            <a:noAutofit/>
          </a:bodyPr>
          <a:lstStyle/>
          <a:p>
            <a:pPr algn="l">
              <a:lnSpc>
                <a:spcPct val="100000"/>
              </a:lnSpc>
              <a:spcBef>
                <a:spcPts val="0"/>
              </a:spcBef>
              <a:spcAft>
                <a:spcPts val="0"/>
              </a:spcAft>
            </a:pPr>
            <a:r>
              <a:rPr sz="1019" b="1">
                <a:solidFill>
                  <a:srgbClr val="536775"/>
                </a:solidFill>
                <a:latin typeface="DejaVu Sans"/>
              </a:rPr>
              <a:t>CONTRACT CONSEQUENCE</a:t>
            </a:r>
          </a:p>
        </p:txBody>
      </p:sp>
      <p:sp>
        <p:nvSpPr>
          <p:cNvPr id="8" name="Rounded Rectangle 7"/>
          <p:cNvSpPr/>
          <p:nvPr/>
        </p:nvSpPr>
        <p:spPr>
          <a:xfrm>
            <a:off x="548640" y="2110740"/>
            <a:ext cx="11094720" cy="792480"/>
          </a:xfrm>
          <a:prstGeom prst="roundRect">
            <a:avLst>
              <a:gd name="adj" fmla="val 5769"/>
            </a:avLst>
          </a:prstGeom>
          <a:solidFill>
            <a:srgbClr val="FFFFFF"/>
          </a:solidFill>
          <a:ln>
            <a:noFill/>
          </a:ln>
          <a:effectLst/>
        </p:spPr>
        <p:txBody>
          <a:bodyPr rtlCol="0" anchor="ctr"/>
          <a:lstStyle/>
          <a:p>
            <a:pPr algn="ctr"/>
          </a:p>
        </p:txBody>
      </p:sp>
      <p:sp>
        <p:nvSpPr>
          <p:cNvPr id="9" name="TextBox 8"/>
          <p:cNvSpPr txBox="1"/>
          <p:nvPr/>
        </p:nvSpPr>
        <p:spPr>
          <a:xfrm>
            <a:off x="670560" y="2240280"/>
            <a:ext cx="28041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assertRelation</a:t>
            </a:r>
          </a:p>
        </p:txBody>
      </p:sp>
      <p:sp>
        <p:nvSpPr>
          <p:cNvPr id="10" name="TextBox 9"/>
          <p:cNvSpPr txBox="1"/>
          <p:nvPr/>
        </p:nvSpPr>
        <p:spPr>
          <a:xfrm>
            <a:off x="3718560" y="2240280"/>
            <a:ext cx="38328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Validate structure, persist payload,</a:t>
            </a:r>
          </a:p>
        </p:txBody>
      </p:sp>
      <p:sp>
        <p:nvSpPr>
          <p:cNvPr id="11" name="TextBox 10"/>
          <p:cNvSpPr txBox="1"/>
          <p:nvPr/>
        </p:nvSpPr>
        <p:spPr>
          <a:xfrm>
            <a:off x="3718560" y="2484120"/>
            <a:ext cx="38328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accept</a:t>
            </a:r>
          </a:p>
        </p:txBody>
      </p:sp>
      <p:sp>
        <p:nvSpPr>
          <p:cNvPr id="12" name="TextBox 11"/>
          <p:cNvSpPr txBox="1"/>
          <p:nvPr/>
        </p:nvSpPr>
        <p:spPr>
          <a:xfrm>
            <a:off x="7795259" y="2240280"/>
            <a:ext cx="37261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Semantic identity excludes transport</a:t>
            </a:r>
          </a:p>
        </p:txBody>
      </p:sp>
      <p:sp>
        <p:nvSpPr>
          <p:cNvPr id="13" name="TextBox 12"/>
          <p:cNvSpPr txBox="1"/>
          <p:nvPr/>
        </p:nvSpPr>
        <p:spPr>
          <a:xfrm>
            <a:off x="7795259" y="2484120"/>
            <a:ext cx="37261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key</a:t>
            </a:r>
          </a:p>
        </p:txBody>
      </p:sp>
      <p:sp>
        <p:nvSpPr>
          <p:cNvPr id="14" name="Rounded Rectangle 13"/>
          <p:cNvSpPr/>
          <p:nvPr/>
        </p:nvSpPr>
        <p:spPr>
          <a:xfrm>
            <a:off x="548640" y="2941320"/>
            <a:ext cx="11094720" cy="792480"/>
          </a:xfrm>
          <a:prstGeom prst="roundRect">
            <a:avLst>
              <a:gd name="adj" fmla="val 5769"/>
            </a:avLst>
          </a:prstGeom>
          <a:solidFill>
            <a:srgbClr val="FFFFFF"/>
          </a:solidFill>
          <a:ln>
            <a:noFill/>
          </a:ln>
          <a:effectLst/>
        </p:spPr>
        <p:txBody>
          <a:bodyPr rtlCol="0" anchor="ctr"/>
          <a:lstStyle/>
          <a:p>
            <a:pPr algn="ctr"/>
          </a:p>
        </p:txBody>
      </p:sp>
      <p:sp>
        <p:nvSpPr>
          <p:cNvPr id="15" name="TextBox 14"/>
          <p:cNvSpPr txBox="1"/>
          <p:nvPr/>
        </p:nvSpPr>
        <p:spPr>
          <a:xfrm>
            <a:off x="670560" y="3070860"/>
            <a:ext cx="28041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getRelation</a:t>
            </a:r>
          </a:p>
        </p:txBody>
      </p:sp>
      <p:sp>
        <p:nvSpPr>
          <p:cNvPr id="16" name="TextBox 15"/>
          <p:cNvSpPr txBox="1"/>
          <p:nvPr/>
        </p:nvSpPr>
        <p:spPr>
          <a:xfrm>
            <a:off x="3718560" y="3070860"/>
            <a:ext cx="38328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Read an accepted structure</a:t>
            </a:r>
          </a:p>
        </p:txBody>
      </p:sp>
      <p:sp>
        <p:nvSpPr>
          <p:cNvPr id="17" name="TextBox 16"/>
          <p:cNvSpPr txBox="1"/>
          <p:nvPr/>
        </p:nvSpPr>
        <p:spPr>
          <a:xfrm>
            <a:off x="7795259" y="3070860"/>
            <a:ext cx="37261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Reject orphan or malformed relation</a:t>
            </a:r>
          </a:p>
        </p:txBody>
      </p:sp>
      <p:sp>
        <p:nvSpPr>
          <p:cNvPr id="18" name="TextBox 17"/>
          <p:cNvSpPr txBox="1"/>
          <p:nvPr/>
        </p:nvSpPr>
        <p:spPr>
          <a:xfrm>
            <a:off x="7795259" y="3314700"/>
            <a:ext cx="37261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payload</a:t>
            </a:r>
          </a:p>
        </p:txBody>
      </p:sp>
      <p:sp>
        <p:nvSpPr>
          <p:cNvPr id="19" name="Rounded Rectangle 18"/>
          <p:cNvSpPr/>
          <p:nvPr/>
        </p:nvSpPr>
        <p:spPr>
          <a:xfrm>
            <a:off x="548640" y="3771900"/>
            <a:ext cx="11094720" cy="792480"/>
          </a:xfrm>
          <a:prstGeom prst="roundRect">
            <a:avLst>
              <a:gd name="adj" fmla="val 5769"/>
            </a:avLst>
          </a:prstGeom>
          <a:solidFill>
            <a:srgbClr val="FFFFFF"/>
          </a:solidFill>
          <a:ln>
            <a:noFill/>
          </a:ln>
          <a:effectLst/>
        </p:spPr>
        <p:txBody>
          <a:bodyPr rtlCol="0" anchor="ctr"/>
          <a:lstStyle/>
          <a:p>
            <a:pPr algn="ctr"/>
          </a:p>
        </p:txBody>
      </p:sp>
      <p:sp>
        <p:nvSpPr>
          <p:cNvPr id="20" name="TextBox 19"/>
          <p:cNvSpPr txBox="1"/>
          <p:nvPr/>
        </p:nvSpPr>
        <p:spPr>
          <a:xfrm>
            <a:off x="670560" y="3901440"/>
            <a:ext cx="28041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outgoing</a:t>
            </a:r>
          </a:p>
        </p:txBody>
      </p:sp>
      <p:sp>
        <p:nvSpPr>
          <p:cNvPr id="21" name="TextBox 20"/>
          <p:cNvSpPr txBox="1"/>
          <p:nvPr/>
        </p:nvSpPr>
        <p:spPr>
          <a:xfrm>
            <a:off x="3718560" y="3901440"/>
            <a:ext cx="38328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Page origin-role incidence</a:t>
            </a:r>
          </a:p>
        </p:txBody>
      </p:sp>
      <p:sp>
        <p:nvSpPr>
          <p:cNvPr id="22" name="TextBox 21"/>
          <p:cNvSpPr txBox="1"/>
          <p:nvPr/>
        </p:nvSpPr>
        <p:spPr>
          <a:xfrm>
            <a:off x="7795259" y="3901440"/>
            <a:ext cx="37261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Fixed head and bound cursor</a:t>
            </a:r>
          </a:p>
        </p:txBody>
      </p:sp>
      <p:sp>
        <p:nvSpPr>
          <p:cNvPr id="23" name="Rounded Rectangle 22"/>
          <p:cNvSpPr/>
          <p:nvPr/>
        </p:nvSpPr>
        <p:spPr>
          <a:xfrm>
            <a:off x="548640" y="4602480"/>
            <a:ext cx="11094720" cy="792480"/>
          </a:xfrm>
          <a:prstGeom prst="roundRect">
            <a:avLst>
              <a:gd name="adj" fmla="val 5769"/>
            </a:avLst>
          </a:prstGeom>
          <a:solidFill>
            <a:srgbClr val="FFFFFF"/>
          </a:solidFill>
          <a:ln>
            <a:noFill/>
          </a:ln>
          <a:effectLst/>
        </p:spPr>
        <p:txBody>
          <a:bodyPr rtlCol="0" anchor="ctr"/>
          <a:lstStyle/>
          <a:p>
            <a:pPr algn="ctr"/>
          </a:p>
        </p:txBody>
      </p:sp>
      <p:sp>
        <p:nvSpPr>
          <p:cNvPr id="24" name="TextBox 23"/>
          <p:cNvSpPr txBox="1"/>
          <p:nvPr/>
        </p:nvSpPr>
        <p:spPr>
          <a:xfrm>
            <a:off x="670560" y="4732020"/>
            <a:ext cx="28041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incoming</a:t>
            </a:r>
          </a:p>
        </p:txBody>
      </p:sp>
      <p:sp>
        <p:nvSpPr>
          <p:cNvPr id="25" name="TextBox 24"/>
          <p:cNvSpPr txBox="1"/>
          <p:nvPr/>
        </p:nvSpPr>
        <p:spPr>
          <a:xfrm>
            <a:off x="3718560" y="4732020"/>
            <a:ext cx="38328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Page destination-role incidence</a:t>
            </a:r>
          </a:p>
        </p:txBody>
      </p:sp>
      <p:sp>
        <p:nvSpPr>
          <p:cNvPr id="26" name="TextBox 25"/>
          <p:cNvSpPr txBox="1"/>
          <p:nvPr/>
        </p:nvSpPr>
        <p:spPr>
          <a:xfrm>
            <a:off x="7795259" y="4732020"/>
            <a:ext cx="37261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Reverse incidence; symmetric</a:t>
            </a:r>
          </a:p>
        </p:txBody>
      </p:sp>
      <p:sp>
        <p:nvSpPr>
          <p:cNvPr id="27" name="TextBox 26"/>
          <p:cNvSpPr txBox="1"/>
          <p:nvPr/>
        </p:nvSpPr>
        <p:spPr>
          <a:xfrm>
            <a:off x="7795259" y="4975860"/>
            <a:ext cx="37261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schemas explicit</a:t>
            </a:r>
          </a:p>
        </p:txBody>
      </p:sp>
      <p:sp>
        <p:nvSpPr>
          <p:cNvPr id="28" name="Rounded Rectangle 27"/>
          <p:cNvSpPr/>
          <p:nvPr/>
        </p:nvSpPr>
        <p:spPr>
          <a:xfrm>
            <a:off x="548640" y="5829300"/>
            <a:ext cx="11094720" cy="403859"/>
          </a:xfrm>
          <a:prstGeom prst="roundRect">
            <a:avLst>
              <a:gd name="adj" fmla="val 15094"/>
            </a:avLst>
          </a:prstGeom>
          <a:solidFill>
            <a:srgbClr val="E7ECEB"/>
          </a:solidFill>
          <a:ln>
            <a:noFill/>
          </a:ln>
          <a:effectLst/>
        </p:spPr>
        <p:txBody>
          <a:bodyPr rtlCol="0" anchor="ctr"/>
          <a:lstStyle/>
          <a:p>
            <a:pPr algn="ctr"/>
          </a:p>
        </p:txBody>
      </p:sp>
      <p:sp>
        <p:nvSpPr>
          <p:cNvPr id="29" name="TextBox 28"/>
          <p:cNvSpPr txBox="1"/>
          <p:nvPr/>
        </p:nvSpPr>
        <p:spPr>
          <a:xfrm>
            <a:off x="716280" y="5905500"/>
            <a:ext cx="107442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128 accepted relations; 512 replay keys; pages ≤8; finite schema set.</a:t>
            </a:r>
          </a:p>
        </p:txBody>
      </p:sp>
      <p:cxnSp>
        <p:nvCxnSpPr>
          <p:cNvPr id="30" name="Connector 29"/>
          <p:cNvCxnSpPr/>
          <p:nvPr/>
        </p:nvCxnSpPr>
        <p:spPr>
          <a:xfrm>
            <a:off x="548640" y="6393180"/>
            <a:ext cx="11094720" cy="0"/>
          </a:xfrm>
          <a:prstGeom prst="line">
            <a:avLst/>
          </a:prstGeom>
          <a:ln w="7620">
            <a:solidFill>
              <a:srgbClr val="C9D2D4"/>
            </a:solidFill>
          </a:ln>
          <a:effectLst/>
        </p:spPr>
      </p:cxnSp>
      <p:sp>
        <p:nvSpPr>
          <p:cNvPr id="31" name="TextBox 30"/>
          <p:cNvSpPr txBox="1"/>
          <p:nvPr/>
        </p:nvSpPr>
        <p:spPr>
          <a:xfrm>
            <a:off x="548640" y="6499859"/>
            <a:ext cx="9906000" cy="146304"/>
          </a:xfrm>
          <a:prstGeom prst="rect">
            <a:avLst/>
          </a:prstGeom>
          <a:noFill/>
        </p:spPr>
        <p:txBody>
          <a:bodyPr wrap="none" lIns="0" rIns="0" tIns="0" bIns="0" anchor="t" anchorCtr="0">
            <a:noAutofit/>
          </a:bodyPr>
          <a:lstStyle/>
          <a:p>
            <a:pPr algn="l">
              <a:lnSpc>
                <a:spcPct val="100000"/>
              </a:lnSpc>
              <a:spcBef>
                <a:spcPts val="0"/>
              </a:spcBef>
              <a:spcAft>
                <a:spcPts val="0"/>
              </a:spcAft>
            </a:pPr>
            <a:r>
              <a:rPr sz="900" b="0">
                <a:solidFill>
                  <a:srgbClr val="536775"/>
                </a:solidFill>
                <a:latin typeface="DejaVu Sans"/>
              </a:rPr>
              <a:t>OMEGA × ASI / THROUGH M5 / Relations · M5 source bfb0ec8</a:t>
            </a:r>
          </a:p>
        </p:txBody>
      </p:sp>
      <p:sp>
        <p:nvSpPr>
          <p:cNvPr id="32" name="TextBox 31"/>
          <p:cNvSpPr txBox="1"/>
          <p:nvPr/>
        </p:nvSpPr>
        <p:spPr>
          <a:xfrm>
            <a:off x="10744200" y="6469380"/>
            <a:ext cx="9144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Mono"/>
              </a:rPr>
              <a:t>05 / 12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4F2EB"/>
        </a:solidFill>
        <a:effectLst/>
      </p:bgPr>
    </p:bg>
    <p:spTree>
      <p:nvGrpSpPr>
        <p:cNvPr id="1" name=""/>
        <p:cNvGrpSpPr/>
        <p:nvPr/>
      </p:nvGrpSpPr>
      <p:grpSpPr/>
      <p:sp>
        <p:nvSpPr>
          <p:cNvPr id="2" name="TextBox 1"/>
          <p:cNvSpPr txBox="1"/>
          <p:nvPr/>
        </p:nvSpPr>
        <p:spPr>
          <a:xfrm>
            <a:off x="548640" y="327660"/>
            <a:ext cx="108204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1">
                <a:solidFill>
                  <a:srgbClr val="007C78"/>
                </a:solidFill>
                <a:latin typeface="DejaVu Sans"/>
              </a:rPr>
              <a:t>05 / CONCRETE BEHAVIOR</a:t>
            </a:r>
          </a:p>
        </p:txBody>
      </p:sp>
      <p:sp>
        <p:nvSpPr>
          <p:cNvPr id="3" name="TextBox 2"/>
          <p:cNvSpPr txBox="1"/>
          <p:nvPr/>
        </p:nvSpPr>
        <p:spPr>
          <a:xfrm>
            <a:off x="533400" y="723900"/>
            <a:ext cx="11125200" cy="507187"/>
          </a:xfrm>
          <a:prstGeom prst="rect">
            <a:avLst/>
          </a:prstGeom>
          <a:noFill/>
        </p:spPr>
        <p:txBody>
          <a:bodyPr wrap="none" lIns="0" rIns="0" tIns="0" bIns="0" anchor="t" anchorCtr="0">
            <a:noAutofit/>
          </a:bodyPr>
          <a:lstStyle/>
          <a:p>
            <a:pPr algn="l">
              <a:lnSpc>
                <a:spcPct val="100000"/>
              </a:lnSpc>
              <a:spcBef>
                <a:spcPts val="0"/>
              </a:spcBef>
              <a:spcAft>
                <a:spcPts val="0"/>
              </a:spcAft>
            </a:pPr>
            <a:r>
              <a:rPr sz="3120" b="1">
                <a:solidFill>
                  <a:srgbClr val="102B3F"/>
                </a:solidFill>
                <a:latin typeface="DejaVu Sans"/>
              </a:rPr>
              <a:t>A worked example through the boundary</a:t>
            </a:r>
          </a:p>
        </p:txBody>
      </p:sp>
      <p:sp>
        <p:nvSpPr>
          <p:cNvPr id="4" name="TextBox 3"/>
          <p:cNvSpPr txBox="1"/>
          <p:nvPr/>
        </p:nvSpPr>
        <p:spPr>
          <a:xfrm>
            <a:off x="556260" y="1257300"/>
            <a:ext cx="110490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ACTUAL NATIVE HIVE LOOKUP · generated private corpus</a:t>
            </a:r>
          </a:p>
        </p:txBody>
      </p:sp>
      <p:sp>
        <p:nvSpPr>
          <p:cNvPr id="5" name="Rounded Rectangle 4"/>
          <p:cNvSpPr/>
          <p:nvPr/>
        </p:nvSpPr>
        <p:spPr>
          <a:xfrm>
            <a:off x="548640" y="2011680"/>
            <a:ext cx="2636520" cy="2468880"/>
          </a:xfrm>
          <a:prstGeom prst="roundRect">
            <a:avLst>
              <a:gd name="adj" fmla="val 4012"/>
            </a:avLst>
          </a:prstGeom>
          <a:solidFill>
            <a:srgbClr val="FFFFFF"/>
          </a:solidFill>
          <a:ln w="7620">
            <a:solidFill>
              <a:srgbClr val="315E9C"/>
            </a:solidFill>
          </a:ln>
          <a:effectLst/>
        </p:spPr>
        <p:txBody>
          <a:bodyPr rtlCol="0" anchor="ctr"/>
          <a:lstStyle/>
          <a:p>
            <a:pPr algn="ctr"/>
          </a:p>
        </p:txBody>
      </p:sp>
      <p:sp>
        <p:nvSpPr>
          <p:cNvPr id="6" name="TextBox 5"/>
          <p:cNvSpPr txBox="1"/>
          <p:nvPr/>
        </p:nvSpPr>
        <p:spPr>
          <a:xfrm>
            <a:off x="716280" y="2179320"/>
            <a:ext cx="2301240" cy="156057"/>
          </a:xfrm>
          <a:prstGeom prst="rect">
            <a:avLst/>
          </a:prstGeom>
          <a:noFill/>
        </p:spPr>
        <p:txBody>
          <a:bodyPr wrap="none" lIns="0" rIns="0" tIns="0" bIns="0" anchor="t" anchorCtr="0">
            <a:noAutofit/>
          </a:bodyPr>
          <a:lstStyle/>
          <a:p>
            <a:pPr algn="l">
              <a:lnSpc>
                <a:spcPct val="100000"/>
              </a:lnSpc>
              <a:spcBef>
                <a:spcPts val="0"/>
              </a:spcBef>
              <a:spcAft>
                <a:spcPts val="0"/>
              </a:spcAft>
            </a:pPr>
            <a:r>
              <a:rPr sz="960" b="1">
                <a:solidFill>
                  <a:srgbClr val="315E9C"/>
                </a:solidFill>
                <a:latin typeface="DejaVu Sans"/>
              </a:rPr>
              <a:t>01 · STEP</a:t>
            </a:r>
          </a:p>
        </p:txBody>
      </p:sp>
      <p:sp>
        <p:nvSpPr>
          <p:cNvPr id="7" name="TextBox 6"/>
          <p:cNvSpPr txBox="1"/>
          <p:nvPr/>
        </p:nvSpPr>
        <p:spPr>
          <a:xfrm>
            <a:off x="716280" y="2415540"/>
            <a:ext cx="2301240" cy="302361"/>
          </a:xfrm>
          <a:prstGeom prst="rect">
            <a:avLst/>
          </a:prstGeom>
          <a:noFill/>
        </p:spPr>
        <p:txBody>
          <a:bodyPr wrap="none" lIns="0" rIns="0" tIns="0" bIns="0" anchor="t" anchorCtr="0">
            <a:noAutofit/>
          </a:bodyPr>
          <a:lstStyle/>
          <a:p>
            <a:pPr algn="l">
              <a:lnSpc>
                <a:spcPct val="100000"/>
              </a:lnSpc>
              <a:spcBef>
                <a:spcPts val="0"/>
              </a:spcBef>
              <a:spcAft>
                <a:spcPts val="0"/>
              </a:spcAft>
            </a:pPr>
            <a:r>
              <a:rPr sz="1859" b="1">
                <a:solidFill>
                  <a:srgbClr val="315E9C"/>
                </a:solidFill>
                <a:latin typeface="DejaVu Sans"/>
              </a:rPr>
              <a:t>Discover root</a:t>
            </a:r>
          </a:p>
        </p:txBody>
      </p:sp>
      <p:sp>
        <p:nvSpPr>
          <p:cNvPr id="8" name="TextBox 7"/>
          <p:cNvSpPr txBox="1"/>
          <p:nvPr/>
        </p:nvSpPr>
        <p:spPr>
          <a:xfrm>
            <a:off x="716280" y="2794101"/>
            <a:ext cx="230124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0">
                <a:solidFill>
                  <a:srgbClr val="536775"/>
                </a:solidFill>
                <a:latin typeface="DejaVu Sans"/>
              </a:rPr>
              <a:t>Search returns a task</a:t>
            </a:r>
          </a:p>
        </p:txBody>
      </p:sp>
      <p:sp>
        <p:nvSpPr>
          <p:cNvPr id="9" name="TextBox 8"/>
          <p:cNvSpPr txBox="1"/>
          <p:nvPr/>
        </p:nvSpPr>
        <p:spPr>
          <a:xfrm>
            <a:off x="716280" y="3067202"/>
            <a:ext cx="230124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0">
                <a:solidFill>
                  <a:srgbClr val="536775"/>
                </a:solidFill>
                <a:latin typeface="DejaVu Sans"/>
              </a:rPr>
              <a:t>reference.</a:t>
            </a:r>
          </a:p>
        </p:txBody>
      </p:sp>
      <p:cxnSp>
        <p:nvCxnSpPr>
          <p:cNvPr id="10" name="Connector 9"/>
          <p:cNvCxnSpPr/>
          <p:nvPr/>
        </p:nvCxnSpPr>
        <p:spPr>
          <a:xfrm>
            <a:off x="3185160" y="3238500"/>
            <a:ext cx="182880" cy="0"/>
          </a:xfrm>
          <a:prstGeom prst="line">
            <a:avLst/>
          </a:prstGeom>
          <a:ln w="15240">
            <a:solidFill>
              <a:srgbClr val="315E9C"/>
            </a:solidFill>
          </a:ln>
          <a:effectLst/>
        </p:spPr>
      </p:cxnSp>
      <p:sp>
        <p:nvSpPr>
          <p:cNvPr id="11" name="Freeform 10"/>
          <p:cNvSpPr/>
          <p:nvPr/>
        </p:nvSpPr>
        <p:spPr>
          <a:xfrm>
            <a:off x="3268980" y="3200400"/>
            <a:ext cx="99060" cy="76200"/>
          </a:xfrm>
          <a:custGeom>
            <a:avLst/>
            <a:gdLst/>
            <a:ahLst/>
            <a:cxnLst/>
            <a:rect l="l" t="t" r="r" b="b"/>
            <a:pathLst>
              <a:path w="13" h="10">
                <a:moveTo>
                  <a:pt x="13" y="5"/>
                </a:moveTo>
                <a:lnTo>
                  <a:pt x="0" y="0"/>
                </a:lnTo>
                <a:lnTo>
                  <a:pt x="0" y="10"/>
                </a:lnTo>
                <a:close/>
              </a:path>
            </a:pathLst>
          </a:custGeom>
          <a:solidFill>
            <a:srgbClr val="315E9C"/>
          </a:solidFill>
          <a:ln>
            <a:noFill/>
          </a:ln>
          <a:effectLst/>
        </p:spPr>
        <p:txBody>
          <a:bodyPr rtlCol="0" anchor="ctr"/>
          <a:lstStyle/>
          <a:p>
            <a:pPr algn="ctr"/>
          </a:p>
        </p:txBody>
      </p:sp>
      <p:sp>
        <p:nvSpPr>
          <p:cNvPr id="12" name="Rounded Rectangle 11"/>
          <p:cNvSpPr/>
          <p:nvPr/>
        </p:nvSpPr>
        <p:spPr>
          <a:xfrm>
            <a:off x="3368040" y="2011680"/>
            <a:ext cx="2636520" cy="2468880"/>
          </a:xfrm>
          <a:prstGeom prst="roundRect">
            <a:avLst>
              <a:gd name="adj" fmla="val 4012"/>
            </a:avLst>
          </a:prstGeom>
          <a:solidFill>
            <a:srgbClr val="FFFFFF"/>
          </a:solidFill>
          <a:ln w="7620">
            <a:solidFill>
              <a:srgbClr val="315E9C"/>
            </a:solidFill>
          </a:ln>
          <a:effectLst/>
        </p:spPr>
        <p:txBody>
          <a:bodyPr rtlCol="0" anchor="ctr"/>
          <a:lstStyle/>
          <a:p>
            <a:pPr algn="ctr"/>
          </a:p>
        </p:txBody>
      </p:sp>
      <p:sp>
        <p:nvSpPr>
          <p:cNvPr id="13" name="TextBox 12"/>
          <p:cNvSpPr txBox="1"/>
          <p:nvPr/>
        </p:nvSpPr>
        <p:spPr>
          <a:xfrm>
            <a:off x="3535679" y="2179320"/>
            <a:ext cx="2301240" cy="156057"/>
          </a:xfrm>
          <a:prstGeom prst="rect">
            <a:avLst/>
          </a:prstGeom>
          <a:noFill/>
        </p:spPr>
        <p:txBody>
          <a:bodyPr wrap="none" lIns="0" rIns="0" tIns="0" bIns="0" anchor="t" anchorCtr="0">
            <a:noAutofit/>
          </a:bodyPr>
          <a:lstStyle/>
          <a:p>
            <a:pPr algn="l">
              <a:lnSpc>
                <a:spcPct val="100000"/>
              </a:lnSpc>
              <a:spcBef>
                <a:spcPts val="0"/>
              </a:spcBef>
              <a:spcAft>
                <a:spcPts val="0"/>
              </a:spcAft>
            </a:pPr>
            <a:r>
              <a:rPr sz="960" b="1">
                <a:solidFill>
                  <a:srgbClr val="315E9C"/>
                </a:solidFill>
                <a:latin typeface="DejaVu Sans"/>
              </a:rPr>
              <a:t>02 · STEP</a:t>
            </a:r>
          </a:p>
        </p:txBody>
      </p:sp>
      <p:sp>
        <p:nvSpPr>
          <p:cNvPr id="14" name="TextBox 13"/>
          <p:cNvSpPr txBox="1"/>
          <p:nvPr/>
        </p:nvSpPr>
        <p:spPr>
          <a:xfrm>
            <a:off x="3535679" y="2415540"/>
            <a:ext cx="2301240" cy="302361"/>
          </a:xfrm>
          <a:prstGeom prst="rect">
            <a:avLst/>
          </a:prstGeom>
          <a:noFill/>
        </p:spPr>
        <p:txBody>
          <a:bodyPr wrap="none" lIns="0" rIns="0" tIns="0" bIns="0" anchor="t" anchorCtr="0">
            <a:noAutofit/>
          </a:bodyPr>
          <a:lstStyle/>
          <a:p>
            <a:pPr algn="l">
              <a:lnSpc>
                <a:spcPct val="100000"/>
              </a:lnSpc>
              <a:spcBef>
                <a:spcPts val="0"/>
              </a:spcBef>
              <a:spcAft>
                <a:spcPts val="0"/>
              </a:spcAft>
            </a:pPr>
            <a:r>
              <a:rPr sz="1859" b="1">
                <a:solidFill>
                  <a:srgbClr val="315E9C"/>
                </a:solidFill>
                <a:latin typeface="DejaVu Sans"/>
              </a:rPr>
              <a:t>Follow outgoing</a:t>
            </a:r>
          </a:p>
        </p:txBody>
      </p:sp>
      <p:sp>
        <p:nvSpPr>
          <p:cNvPr id="15" name="TextBox 14"/>
          <p:cNvSpPr txBox="1"/>
          <p:nvPr/>
        </p:nvSpPr>
        <p:spPr>
          <a:xfrm>
            <a:off x="3535679" y="2794101"/>
            <a:ext cx="230124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0">
                <a:solidFill>
                  <a:srgbClr val="536775"/>
                </a:solidFill>
                <a:latin typeface="DejaVu Sans"/>
              </a:rPr>
              <a:t>Read its requires</a:t>
            </a:r>
          </a:p>
        </p:txBody>
      </p:sp>
      <p:sp>
        <p:nvSpPr>
          <p:cNvPr id="16" name="TextBox 15"/>
          <p:cNvSpPr txBox="1"/>
          <p:nvPr/>
        </p:nvSpPr>
        <p:spPr>
          <a:xfrm>
            <a:off x="3535679" y="3067202"/>
            <a:ext cx="230124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0">
                <a:solidFill>
                  <a:srgbClr val="536775"/>
                </a:solidFill>
                <a:latin typeface="DejaVu Sans"/>
              </a:rPr>
              <a:t>relations at a fixed</a:t>
            </a:r>
          </a:p>
        </p:txBody>
      </p:sp>
      <p:sp>
        <p:nvSpPr>
          <p:cNvPr id="17" name="TextBox 16"/>
          <p:cNvSpPr txBox="1"/>
          <p:nvPr/>
        </p:nvSpPr>
        <p:spPr>
          <a:xfrm>
            <a:off x="3535679" y="3340303"/>
            <a:ext cx="230124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0">
                <a:solidFill>
                  <a:srgbClr val="536775"/>
                </a:solidFill>
                <a:latin typeface="DejaVu Sans"/>
              </a:rPr>
              <a:t>head.</a:t>
            </a:r>
          </a:p>
        </p:txBody>
      </p:sp>
      <p:cxnSp>
        <p:nvCxnSpPr>
          <p:cNvPr id="18" name="Connector 17"/>
          <p:cNvCxnSpPr/>
          <p:nvPr/>
        </p:nvCxnSpPr>
        <p:spPr>
          <a:xfrm>
            <a:off x="6004559" y="3238500"/>
            <a:ext cx="182881" cy="0"/>
          </a:xfrm>
          <a:prstGeom prst="line">
            <a:avLst/>
          </a:prstGeom>
          <a:ln w="15240">
            <a:solidFill>
              <a:srgbClr val="315E9C"/>
            </a:solidFill>
          </a:ln>
          <a:effectLst/>
        </p:spPr>
      </p:cxnSp>
      <p:sp>
        <p:nvSpPr>
          <p:cNvPr id="19" name="Freeform 18"/>
          <p:cNvSpPr/>
          <p:nvPr/>
        </p:nvSpPr>
        <p:spPr>
          <a:xfrm>
            <a:off x="6088380" y="3200400"/>
            <a:ext cx="99060" cy="76200"/>
          </a:xfrm>
          <a:custGeom>
            <a:avLst/>
            <a:gdLst/>
            <a:ahLst/>
            <a:cxnLst/>
            <a:rect l="l" t="t" r="r" b="b"/>
            <a:pathLst>
              <a:path w="13" h="10">
                <a:moveTo>
                  <a:pt x="13" y="5"/>
                </a:moveTo>
                <a:lnTo>
                  <a:pt x="0" y="0"/>
                </a:lnTo>
                <a:lnTo>
                  <a:pt x="0" y="10"/>
                </a:lnTo>
                <a:close/>
              </a:path>
            </a:pathLst>
          </a:custGeom>
          <a:solidFill>
            <a:srgbClr val="315E9C"/>
          </a:solidFill>
          <a:ln>
            <a:noFill/>
          </a:ln>
          <a:effectLst/>
        </p:spPr>
        <p:txBody>
          <a:bodyPr rtlCol="0" anchor="ctr"/>
          <a:lstStyle/>
          <a:p>
            <a:pPr algn="ctr"/>
          </a:p>
        </p:txBody>
      </p:sp>
      <p:sp>
        <p:nvSpPr>
          <p:cNvPr id="20" name="Rounded Rectangle 19"/>
          <p:cNvSpPr/>
          <p:nvPr/>
        </p:nvSpPr>
        <p:spPr>
          <a:xfrm>
            <a:off x="6187440" y="2011680"/>
            <a:ext cx="2636520" cy="2468880"/>
          </a:xfrm>
          <a:prstGeom prst="roundRect">
            <a:avLst>
              <a:gd name="adj" fmla="val 4012"/>
            </a:avLst>
          </a:prstGeom>
          <a:solidFill>
            <a:srgbClr val="FFFFFF"/>
          </a:solidFill>
          <a:ln w="7620">
            <a:solidFill>
              <a:srgbClr val="315E9C"/>
            </a:solidFill>
          </a:ln>
          <a:effectLst/>
        </p:spPr>
        <p:txBody>
          <a:bodyPr rtlCol="0" anchor="ctr"/>
          <a:lstStyle/>
          <a:p>
            <a:pPr algn="ctr"/>
          </a:p>
        </p:txBody>
      </p:sp>
      <p:sp>
        <p:nvSpPr>
          <p:cNvPr id="21" name="TextBox 20"/>
          <p:cNvSpPr txBox="1"/>
          <p:nvPr/>
        </p:nvSpPr>
        <p:spPr>
          <a:xfrm>
            <a:off x="6355080" y="2179320"/>
            <a:ext cx="2301240" cy="156057"/>
          </a:xfrm>
          <a:prstGeom prst="rect">
            <a:avLst/>
          </a:prstGeom>
          <a:noFill/>
        </p:spPr>
        <p:txBody>
          <a:bodyPr wrap="none" lIns="0" rIns="0" tIns="0" bIns="0" anchor="t" anchorCtr="0">
            <a:noAutofit/>
          </a:bodyPr>
          <a:lstStyle/>
          <a:p>
            <a:pPr algn="l">
              <a:lnSpc>
                <a:spcPct val="100000"/>
              </a:lnSpc>
              <a:spcBef>
                <a:spcPts val="0"/>
              </a:spcBef>
              <a:spcAft>
                <a:spcPts val="0"/>
              </a:spcAft>
            </a:pPr>
            <a:r>
              <a:rPr sz="960" b="1">
                <a:solidFill>
                  <a:srgbClr val="315E9C"/>
                </a:solidFill>
                <a:latin typeface="DejaVu Sans"/>
              </a:rPr>
              <a:t>03 · STEP</a:t>
            </a:r>
          </a:p>
        </p:txBody>
      </p:sp>
      <p:sp>
        <p:nvSpPr>
          <p:cNvPr id="22" name="TextBox 21"/>
          <p:cNvSpPr txBox="1"/>
          <p:nvPr/>
        </p:nvSpPr>
        <p:spPr>
          <a:xfrm>
            <a:off x="6355080" y="2415540"/>
            <a:ext cx="2301240" cy="302361"/>
          </a:xfrm>
          <a:prstGeom prst="rect">
            <a:avLst/>
          </a:prstGeom>
          <a:noFill/>
        </p:spPr>
        <p:txBody>
          <a:bodyPr wrap="none" lIns="0" rIns="0" tIns="0" bIns="0" anchor="t" anchorCtr="0">
            <a:noAutofit/>
          </a:bodyPr>
          <a:lstStyle/>
          <a:p>
            <a:pPr algn="l">
              <a:lnSpc>
                <a:spcPct val="100000"/>
              </a:lnSpc>
              <a:spcBef>
                <a:spcPts val="0"/>
              </a:spcBef>
              <a:spcAft>
                <a:spcPts val="0"/>
              </a:spcAft>
            </a:pPr>
            <a:r>
              <a:rPr sz="1859" b="1">
                <a:solidFill>
                  <a:srgbClr val="315E9C"/>
                </a:solidFill>
                <a:latin typeface="DejaVu Sans"/>
              </a:rPr>
              <a:t>Inspect roles</a:t>
            </a:r>
          </a:p>
        </p:txBody>
      </p:sp>
      <p:sp>
        <p:nvSpPr>
          <p:cNvPr id="23" name="TextBox 22"/>
          <p:cNvSpPr txBox="1"/>
          <p:nvPr/>
        </p:nvSpPr>
        <p:spPr>
          <a:xfrm>
            <a:off x="6355080" y="2794101"/>
            <a:ext cx="230124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0">
                <a:solidFill>
                  <a:srgbClr val="536775"/>
                </a:solidFill>
                <a:latin typeface="DejaVu Sans"/>
              </a:rPr>
              <a:t>Resolve dependent</a:t>
            </a:r>
          </a:p>
        </p:txBody>
      </p:sp>
      <p:sp>
        <p:nvSpPr>
          <p:cNvPr id="24" name="TextBox 23"/>
          <p:cNvSpPr txBox="1"/>
          <p:nvPr/>
        </p:nvSpPr>
        <p:spPr>
          <a:xfrm>
            <a:off x="6355080" y="3067202"/>
            <a:ext cx="230124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0">
                <a:solidFill>
                  <a:srgbClr val="536775"/>
                </a:solidFill>
                <a:latin typeface="DejaVu Sans"/>
              </a:rPr>
              <a:t>→ prerequisite</a:t>
            </a:r>
          </a:p>
        </p:txBody>
      </p:sp>
      <p:sp>
        <p:nvSpPr>
          <p:cNvPr id="25" name="TextBox 24"/>
          <p:cNvSpPr txBox="1"/>
          <p:nvPr/>
        </p:nvSpPr>
        <p:spPr>
          <a:xfrm>
            <a:off x="6355080" y="3340303"/>
            <a:ext cx="230124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0">
                <a:solidFill>
                  <a:srgbClr val="536775"/>
                </a:solidFill>
                <a:latin typeface="DejaVu Sans"/>
              </a:rPr>
              <a:t>identities.</a:t>
            </a:r>
          </a:p>
        </p:txBody>
      </p:sp>
      <p:cxnSp>
        <p:nvCxnSpPr>
          <p:cNvPr id="26" name="Connector 25"/>
          <p:cNvCxnSpPr/>
          <p:nvPr/>
        </p:nvCxnSpPr>
        <p:spPr>
          <a:xfrm>
            <a:off x="8823960" y="3238500"/>
            <a:ext cx="182880" cy="0"/>
          </a:xfrm>
          <a:prstGeom prst="line">
            <a:avLst/>
          </a:prstGeom>
          <a:ln w="15240">
            <a:solidFill>
              <a:srgbClr val="315E9C"/>
            </a:solidFill>
          </a:ln>
          <a:effectLst/>
        </p:spPr>
      </p:cxnSp>
      <p:sp>
        <p:nvSpPr>
          <p:cNvPr id="27" name="Freeform 26"/>
          <p:cNvSpPr/>
          <p:nvPr/>
        </p:nvSpPr>
        <p:spPr>
          <a:xfrm>
            <a:off x="8907780" y="3200400"/>
            <a:ext cx="99060" cy="76200"/>
          </a:xfrm>
          <a:custGeom>
            <a:avLst/>
            <a:gdLst/>
            <a:ahLst/>
            <a:cxnLst/>
            <a:rect l="l" t="t" r="r" b="b"/>
            <a:pathLst>
              <a:path w="13" h="10">
                <a:moveTo>
                  <a:pt x="13" y="5"/>
                </a:moveTo>
                <a:lnTo>
                  <a:pt x="0" y="0"/>
                </a:lnTo>
                <a:lnTo>
                  <a:pt x="0" y="10"/>
                </a:lnTo>
                <a:close/>
              </a:path>
            </a:pathLst>
          </a:custGeom>
          <a:solidFill>
            <a:srgbClr val="315E9C"/>
          </a:solidFill>
          <a:ln>
            <a:noFill/>
          </a:ln>
          <a:effectLst/>
        </p:spPr>
        <p:txBody>
          <a:bodyPr rtlCol="0" anchor="ctr"/>
          <a:lstStyle/>
          <a:p>
            <a:pPr algn="ctr"/>
          </a:p>
        </p:txBody>
      </p:sp>
      <p:sp>
        <p:nvSpPr>
          <p:cNvPr id="28" name="Rounded Rectangle 27"/>
          <p:cNvSpPr/>
          <p:nvPr/>
        </p:nvSpPr>
        <p:spPr>
          <a:xfrm>
            <a:off x="9006840" y="2011680"/>
            <a:ext cx="2636520" cy="2468880"/>
          </a:xfrm>
          <a:prstGeom prst="roundRect">
            <a:avLst>
              <a:gd name="adj" fmla="val 4012"/>
            </a:avLst>
          </a:prstGeom>
          <a:solidFill>
            <a:srgbClr val="FFFFFF"/>
          </a:solidFill>
          <a:ln w="7620">
            <a:solidFill>
              <a:srgbClr val="315E9C"/>
            </a:solidFill>
          </a:ln>
          <a:effectLst/>
        </p:spPr>
        <p:txBody>
          <a:bodyPr rtlCol="0" anchor="ctr"/>
          <a:lstStyle/>
          <a:p>
            <a:pPr algn="ctr"/>
          </a:p>
        </p:txBody>
      </p:sp>
      <p:sp>
        <p:nvSpPr>
          <p:cNvPr id="29" name="TextBox 28"/>
          <p:cNvSpPr txBox="1"/>
          <p:nvPr/>
        </p:nvSpPr>
        <p:spPr>
          <a:xfrm>
            <a:off x="9174480" y="2179320"/>
            <a:ext cx="2301240" cy="156057"/>
          </a:xfrm>
          <a:prstGeom prst="rect">
            <a:avLst/>
          </a:prstGeom>
          <a:noFill/>
        </p:spPr>
        <p:txBody>
          <a:bodyPr wrap="none" lIns="0" rIns="0" tIns="0" bIns="0" anchor="t" anchorCtr="0">
            <a:noAutofit/>
          </a:bodyPr>
          <a:lstStyle/>
          <a:p>
            <a:pPr algn="l">
              <a:lnSpc>
                <a:spcPct val="100000"/>
              </a:lnSpc>
              <a:spcBef>
                <a:spcPts val="0"/>
              </a:spcBef>
              <a:spcAft>
                <a:spcPts val="0"/>
              </a:spcAft>
            </a:pPr>
            <a:r>
              <a:rPr sz="960" b="1">
                <a:solidFill>
                  <a:srgbClr val="315E9C"/>
                </a:solidFill>
                <a:latin typeface="DejaVu Sans"/>
              </a:rPr>
              <a:t>04 · STEP</a:t>
            </a:r>
          </a:p>
        </p:txBody>
      </p:sp>
      <p:sp>
        <p:nvSpPr>
          <p:cNvPr id="30" name="TextBox 29"/>
          <p:cNvSpPr txBox="1"/>
          <p:nvPr/>
        </p:nvSpPr>
        <p:spPr>
          <a:xfrm>
            <a:off x="9174480" y="2415540"/>
            <a:ext cx="2301240" cy="302361"/>
          </a:xfrm>
          <a:prstGeom prst="rect">
            <a:avLst/>
          </a:prstGeom>
          <a:noFill/>
        </p:spPr>
        <p:txBody>
          <a:bodyPr wrap="none" lIns="0" rIns="0" tIns="0" bIns="0" anchor="t" anchorCtr="0">
            <a:noAutofit/>
          </a:bodyPr>
          <a:lstStyle/>
          <a:p>
            <a:pPr algn="l">
              <a:lnSpc>
                <a:spcPct val="100000"/>
              </a:lnSpc>
              <a:spcBef>
                <a:spcPts val="0"/>
              </a:spcBef>
              <a:spcAft>
                <a:spcPts val="0"/>
              </a:spcAft>
            </a:pPr>
            <a:r>
              <a:rPr sz="1859" b="1">
                <a:solidFill>
                  <a:srgbClr val="315E9C"/>
                </a:solidFill>
                <a:latin typeface="DejaVu Sans"/>
              </a:rPr>
              <a:t>Verify incoming</a:t>
            </a:r>
          </a:p>
        </p:txBody>
      </p:sp>
      <p:sp>
        <p:nvSpPr>
          <p:cNvPr id="31" name="TextBox 30"/>
          <p:cNvSpPr txBox="1"/>
          <p:nvPr/>
        </p:nvSpPr>
        <p:spPr>
          <a:xfrm>
            <a:off x="9174480" y="2794101"/>
            <a:ext cx="230124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0">
                <a:solidFill>
                  <a:srgbClr val="536775"/>
                </a:solidFill>
                <a:latin typeface="DejaVu Sans"/>
              </a:rPr>
              <a:t>Confirm reverse</a:t>
            </a:r>
          </a:p>
        </p:txBody>
      </p:sp>
      <p:sp>
        <p:nvSpPr>
          <p:cNvPr id="32" name="TextBox 31"/>
          <p:cNvSpPr txBox="1"/>
          <p:nvPr/>
        </p:nvSpPr>
        <p:spPr>
          <a:xfrm>
            <a:off x="9174480" y="3067202"/>
            <a:ext cx="230124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0">
                <a:solidFill>
                  <a:srgbClr val="536775"/>
                </a:solidFill>
                <a:latin typeface="DejaVu Sans"/>
              </a:rPr>
              <a:t>incidence; retrieve</a:t>
            </a:r>
          </a:p>
        </p:txBody>
      </p:sp>
      <p:sp>
        <p:nvSpPr>
          <p:cNvPr id="33" name="TextBox 32"/>
          <p:cNvSpPr txBox="1"/>
          <p:nvPr/>
        </p:nvSpPr>
        <p:spPr>
          <a:xfrm>
            <a:off x="9174480" y="3340303"/>
            <a:ext cx="230124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0">
                <a:solidFill>
                  <a:srgbClr val="536775"/>
                </a:solidFill>
                <a:latin typeface="DejaVu Sans"/>
              </a:rPr>
              <a:t>payloads.</a:t>
            </a:r>
          </a:p>
        </p:txBody>
      </p:sp>
      <p:sp>
        <p:nvSpPr>
          <p:cNvPr id="34" name="Rounded Rectangle 33"/>
          <p:cNvSpPr/>
          <p:nvPr/>
        </p:nvSpPr>
        <p:spPr>
          <a:xfrm>
            <a:off x="548640" y="4861560"/>
            <a:ext cx="11094720" cy="853440"/>
          </a:xfrm>
          <a:prstGeom prst="roundRect">
            <a:avLst>
              <a:gd name="adj" fmla="val 11607"/>
            </a:avLst>
          </a:prstGeom>
          <a:solidFill>
            <a:srgbClr val="E4EBF5"/>
          </a:solidFill>
          <a:ln w="7620">
            <a:solidFill>
              <a:srgbClr val="315E9C"/>
            </a:solidFill>
          </a:ln>
          <a:effectLst/>
        </p:spPr>
        <p:txBody>
          <a:bodyPr rtlCol="0" anchor="ctr"/>
          <a:lstStyle/>
          <a:p>
            <a:pPr algn="ctr"/>
          </a:p>
        </p:txBody>
      </p:sp>
      <p:sp>
        <p:nvSpPr>
          <p:cNvPr id="35" name="TextBox 34"/>
          <p:cNvSpPr txBox="1"/>
          <p:nvPr/>
        </p:nvSpPr>
        <p:spPr>
          <a:xfrm>
            <a:off x="716280" y="5029200"/>
            <a:ext cx="1075944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1">
                <a:solidFill>
                  <a:srgbClr val="315E9C"/>
                </a:solidFill>
                <a:latin typeface="DejaVu Sans"/>
              </a:rPr>
              <a:t>What the example establishes</a:t>
            </a:r>
          </a:p>
        </p:txBody>
      </p:sp>
      <p:sp>
        <p:nvSpPr>
          <p:cNvPr id="36" name="TextBox 35"/>
          <p:cNvSpPr txBox="1"/>
          <p:nvPr/>
        </p:nvSpPr>
        <p:spPr>
          <a:xfrm>
            <a:off x="716280" y="5378500"/>
            <a:ext cx="1075944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0">
                <a:solidFill>
                  <a:srgbClr val="536775"/>
                </a:solidFill>
                <a:latin typeface="DejaVu Sans"/>
              </a:rPr>
              <a:t>A relation becomes visible when its owner accepts it.</a:t>
            </a:r>
          </a:p>
        </p:txBody>
      </p:sp>
      <p:cxnSp>
        <p:nvCxnSpPr>
          <p:cNvPr id="37" name="Connector 36"/>
          <p:cNvCxnSpPr/>
          <p:nvPr/>
        </p:nvCxnSpPr>
        <p:spPr>
          <a:xfrm>
            <a:off x="548640" y="6393180"/>
            <a:ext cx="11094720" cy="0"/>
          </a:xfrm>
          <a:prstGeom prst="line">
            <a:avLst/>
          </a:prstGeom>
          <a:ln w="7620">
            <a:solidFill>
              <a:srgbClr val="C9D2D4"/>
            </a:solidFill>
          </a:ln>
          <a:effectLst/>
        </p:spPr>
      </p:cxnSp>
      <p:sp>
        <p:nvSpPr>
          <p:cNvPr id="38" name="TextBox 37"/>
          <p:cNvSpPr txBox="1"/>
          <p:nvPr/>
        </p:nvSpPr>
        <p:spPr>
          <a:xfrm>
            <a:off x="548640" y="6499859"/>
            <a:ext cx="9906000" cy="146304"/>
          </a:xfrm>
          <a:prstGeom prst="rect">
            <a:avLst/>
          </a:prstGeom>
          <a:noFill/>
        </p:spPr>
        <p:txBody>
          <a:bodyPr wrap="none" lIns="0" rIns="0" tIns="0" bIns="0" anchor="t" anchorCtr="0">
            <a:noAutofit/>
          </a:bodyPr>
          <a:lstStyle/>
          <a:p>
            <a:pPr algn="l">
              <a:lnSpc>
                <a:spcPct val="100000"/>
              </a:lnSpc>
              <a:spcBef>
                <a:spcPts val="0"/>
              </a:spcBef>
              <a:spcAft>
                <a:spcPts val="0"/>
              </a:spcAft>
            </a:pPr>
            <a:r>
              <a:rPr sz="900" b="0">
                <a:solidFill>
                  <a:srgbClr val="536775"/>
                </a:solidFill>
                <a:latin typeface="DejaVu Sans"/>
              </a:rPr>
              <a:t>OMEGA × ASI / THROUGH M5 / Relations · M5 source bfb0ec8</a:t>
            </a:r>
          </a:p>
        </p:txBody>
      </p:sp>
      <p:sp>
        <p:nvSpPr>
          <p:cNvPr id="39" name="TextBox 38"/>
          <p:cNvSpPr txBox="1"/>
          <p:nvPr/>
        </p:nvSpPr>
        <p:spPr>
          <a:xfrm>
            <a:off x="10744200" y="6469380"/>
            <a:ext cx="9144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Mono"/>
              </a:rPr>
              <a:t>06 / 12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4F2EB"/>
        </a:solidFill>
        <a:effectLst/>
      </p:bgPr>
    </p:bg>
    <p:spTree>
      <p:nvGrpSpPr>
        <p:cNvPr id="1" name=""/>
        <p:cNvGrpSpPr/>
        <p:nvPr/>
      </p:nvGrpSpPr>
      <p:grpSpPr/>
      <p:sp>
        <p:nvSpPr>
          <p:cNvPr id="2" name="TextBox 1"/>
          <p:cNvSpPr txBox="1"/>
          <p:nvPr/>
        </p:nvSpPr>
        <p:spPr>
          <a:xfrm>
            <a:off x="548640" y="327660"/>
            <a:ext cx="108204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1">
                <a:solidFill>
                  <a:srgbClr val="007C78"/>
                </a:solidFill>
                <a:latin typeface="DejaVu Sans"/>
              </a:rPr>
              <a:t>06 / BEHAVIORAL GUARANTEES</a:t>
            </a:r>
          </a:p>
        </p:txBody>
      </p:sp>
      <p:sp>
        <p:nvSpPr>
          <p:cNvPr id="3" name="TextBox 2"/>
          <p:cNvSpPr txBox="1"/>
          <p:nvPr/>
        </p:nvSpPr>
        <p:spPr>
          <a:xfrm>
            <a:off x="533400" y="723900"/>
            <a:ext cx="11125200" cy="507187"/>
          </a:xfrm>
          <a:prstGeom prst="rect">
            <a:avLst/>
          </a:prstGeom>
          <a:noFill/>
        </p:spPr>
        <p:txBody>
          <a:bodyPr wrap="none" lIns="0" rIns="0" tIns="0" bIns="0" anchor="t" anchorCtr="0">
            <a:noAutofit/>
          </a:bodyPr>
          <a:lstStyle/>
          <a:p>
            <a:pPr algn="l">
              <a:lnSpc>
                <a:spcPct val="100000"/>
              </a:lnSpc>
              <a:spcBef>
                <a:spcPts val="0"/>
              </a:spcBef>
              <a:spcAft>
                <a:spcPts val="0"/>
              </a:spcAft>
            </a:pPr>
            <a:r>
              <a:rPr sz="3120" b="1">
                <a:solidFill>
                  <a:srgbClr val="102B3F"/>
                </a:solidFill>
                <a:latin typeface="DejaVu Sans"/>
              </a:rPr>
              <a:t>Four invariants to preserve</a:t>
            </a:r>
          </a:p>
        </p:txBody>
      </p:sp>
      <p:sp>
        <p:nvSpPr>
          <p:cNvPr id="4" name="TextBox 3"/>
          <p:cNvSpPr txBox="1"/>
          <p:nvPr/>
        </p:nvSpPr>
        <p:spPr>
          <a:xfrm>
            <a:off x="556260" y="1257300"/>
            <a:ext cx="110490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Each statement is bounded by the selected profile, authority model and tested failure model.</a:t>
            </a:r>
          </a:p>
        </p:txBody>
      </p:sp>
      <p:sp>
        <p:nvSpPr>
          <p:cNvPr id="5" name="Rounded Rectangle 4"/>
          <p:cNvSpPr/>
          <p:nvPr/>
        </p:nvSpPr>
        <p:spPr>
          <a:xfrm>
            <a:off x="548640" y="1866900"/>
            <a:ext cx="5425440" cy="1623060"/>
          </a:xfrm>
          <a:prstGeom prst="roundRect">
            <a:avLst>
              <a:gd name="adj" fmla="val 6103"/>
            </a:avLst>
          </a:prstGeom>
          <a:solidFill>
            <a:srgbClr val="FFFFFF"/>
          </a:solidFill>
          <a:ln w="7620">
            <a:solidFill>
              <a:srgbClr val="315E9C"/>
            </a:solidFill>
          </a:ln>
          <a:effectLst/>
        </p:spPr>
        <p:txBody>
          <a:bodyPr rtlCol="0" anchor="ctr"/>
          <a:lstStyle/>
          <a:p>
            <a:pPr algn="ctr"/>
          </a:p>
        </p:txBody>
      </p:sp>
      <p:sp>
        <p:nvSpPr>
          <p:cNvPr id="6" name="TextBox 5"/>
          <p:cNvSpPr txBox="1"/>
          <p:nvPr/>
        </p:nvSpPr>
        <p:spPr>
          <a:xfrm>
            <a:off x="716280" y="2034539"/>
            <a:ext cx="5090160" cy="156057"/>
          </a:xfrm>
          <a:prstGeom prst="rect">
            <a:avLst/>
          </a:prstGeom>
          <a:noFill/>
        </p:spPr>
        <p:txBody>
          <a:bodyPr wrap="none" lIns="0" rIns="0" tIns="0" bIns="0" anchor="t" anchorCtr="0">
            <a:noAutofit/>
          </a:bodyPr>
          <a:lstStyle/>
          <a:p>
            <a:pPr algn="l">
              <a:lnSpc>
                <a:spcPct val="100000"/>
              </a:lnSpc>
              <a:spcBef>
                <a:spcPts val="0"/>
              </a:spcBef>
              <a:spcAft>
                <a:spcPts val="0"/>
              </a:spcAft>
            </a:pPr>
            <a:r>
              <a:rPr sz="960" b="1">
                <a:solidFill>
                  <a:srgbClr val="315E9C"/>
                </a:solidFill>
                <a:latin typeface="DejaVu Sans"/>
              </a:rPr>
              <a:t>I1</a:t>
            </a:r>
          </a:p>
        </p:txBody>
      </p:sp>
      <p:sp>
        <p:nvSpPr>
          <p:cNvPr id="7" name="TextBox 6"/>
          <p:cNvSpPr txBox="1"/>
          <p:nvPr/>
        </p:nvSpPr>
        <p:spPr>
          <a:xfrm>
            <a:off x="716280" y="2270760"/>
            <a:ext cx="5090160" cy="292608"/>
          </a:xfrm>
          <a:prstGeom prst="rect">
            <a:avLst/>
          </a:prstGeom>
          <a:noFill/>
        </p:spPr>
        <p:txBody>
          <a:bodyPr wrap="none" lIns="0" rIns="0" tIns="0" bIns="0" anchor="t" anchorCtr="0">
            <a:noAutofit/>
          </a:bodyPr>
          <a:lstStyle/>
          <a:p>
            <a:pPr algn="l">
              <a:lnSpc>
                <a:spcPct val="100000"/>
              </a:lnSpc>
              <a:spcBef>
                <a:spcPts val="0"/>
              </a:spcBef>
              <a:spcAft>
                <a:spcPts val="0"/>
              </a:spcAft>
            </a:pPr>
            <a:r>
              <a:rPr sz="1800" b="1">
                <a:solidFill>
                  <a:srgbClr val="315E9C"/>
                </a:solidFill>
                <a:latin typeface="DejaVu Sans"/>
              </a:rPr>
              <a:t>Structural identity</a:t>
            </a:r>
          </a:p>
        </p:txBody>
      </p:sp>
      <p:sp>
        <p:nvSpPr>
          <p:cNvPr id="8" name="TextBox 7"/>
          <p:cNvSpPr txBox="1"/>
          <p:nvPr/>
        </p:nvSpPr>
        <p:spPr>
          <a:xfrm>
            <a:off x="716280" y="2639567"/>
            <a:ext cx="509016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0">
                <a:solidFill>
                  <a:srgbClr val="536775"/>
                </a:solidFill>
                <a:latin typeface="DejaVu Sans"/>
              </a:rPr>
              <a:t>Type/schema/direction/ordered roles/scope</a:t>
            </a:r>
          </a:p>
        </p:txBody>
      </p:sp>
      <p:sp>
        <p:nvSpPr>
          <p:cNvPr id="9" name="TextBox 8"/>
          <p:cNvSpPr txBox="1"/>
          <p:nvPr/>
        </p:nvSpPr>
        <p:spPr>
          <a:xfrm>
            <a:off x="716280" y="2902915"/>
            <a:ext cx="509016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0">
                <a:solidFill>
                  <a:srgbClr val="536775"/>
                </a:solidFill>
                <a:latin typeface="DejaVu Sans"/>
              </a:rPr>
              <a:t>define meaning.</a:t>
            </a:r>
          </a:p>
        </p:txBody>
      </p:sp>
      <p:sp>
        <p:nvSpPr>
          <p:cNvPr id="10" name="Rounded Rectangle 9"/>
          <p:cNvSpPr/>
          <p:nvPr/>
        </p:nvSpPr>
        <p:spPr>
          <a:xfrm>
            <a:off x="6217920" y="1866900"/>
            <a:ext cx="5425440" cy="1623060"/>
          </a:xfrm>
          <a:prstGeom prst="roundRect">
            <a:avLst>
              <a:gd name="adj" fmla="val 6103"/>
            </a:avLst>
          </a:prstGeom>
          <a:solidFill>
            <a:srgbClr val="FFFFFF"/>
          </a:solidFill>
          <a:ln w="7620">
            <a:solidFill>
              <a:srgbClr val="315E9C"/>
            </a:solidFill>
          </a:ln>
          <a:effectLst/>
        </p:spPr>
        <p:txBody>
          <a:bodyPr rtlCol="0" anchor="ctr"/>
          <a:lstStyle/>
          <a:p>
            <a:pPr algn="ctr"/>
          </a:p>
        </p:txBody>
      </p:sp>
      <p:sp>
        <p:nvSpPr>
          <p:cNvPr id="11" name="TextBox 10"/>
          <p:cNvSpPr txBox="1"/>
          <p:nvPr/>
        </p:nvSpPr>
        <p:spPr>
          <a:xfrm>
            <a:off x="6385559" y="2034539"/>
            <a:ext cx="5090160" cy="156057"/>
          </a:xfrm>
          <a:prstGeom prst="rect">
            <a:avLst/>
          </a:prstGeom>
          <a:noFill/>
        </p:spPr>
        <p:txBody>
          <a:bodyPr wrap="none" lIns="0" rIns="0" tIns="0" bIns="0" anchor="t" anchorCtr="0">
            <a:noAutofit/>
          </a:bodyPr>
          <a:lstStyle/>
          <a:p>
            <a:pPr algn="l">
              <a:lnSpc>
                <a:spcPct val="100000"/>
              </a:lnSpc>
              <a:spcBef>
                <a:spcPts val="0"/>
              </a:spcBef>
              <a:spcAft>
                <a:spcPts val="0"/>
              </a:spcAft>
            </a:pPr>
            <a:r>
              <a:rPr sz="960" b="1">
                <a:solidFill>
                  <a:srgbClr val="315E9C"/>
                </a:solidFill>
                <a:latin typeface="DejaVu Sans"/>
              </a:rPr>
              <a:t>I2</a:t>
            </a:r>
          </a:p>
        </p:txBody>
      </p:sp>
      <p:sp>
        <p:nvSpPr>
          <p:cNvPr id="12" name="TextBox 11"/>
          <p:cNvSpPr txBox="1"/>
          <p:nvPr/>
        </p:nvSpPr>
        <p:spPr>
          <a:xfrm>
            <a:off x="6385559" y="2270760"/>
            <a:ext cx="5090160" cy="292608"/>
          </a:xfrm>
          <a:prstGeom prst="rect">
            <a:avLst/>
          </a:prstGeom>
          <a:noFill/>
        </p:spPr>
        <p:txBody>
          <a:bodyPr wrap="none" lIns="0" rIns="0" tIns="0" bIns="0" anchor="t" anchorCtr="0">
            <a:noAutofit/>
          </a:bodyPr>
          <a:lstStyle/>
          <a:p>
            <a:pPr algn="l">
              <a:lnSpc>
                <a:spcPct val="100000"/>
              </a:lnSpc>
              <a:spcBef>
                <a:spcPts val="0"/>
              </a:spcBef>
              <a:spcAft>
                <a:spcPts val="0"/>
              </a:spcAft>
            </a:pPr>
            <a:r>
              <a:rPr sz="1800" b="1">
                <a:solidFill>
                  <a:srgbClr val="315E9C"/>
                </a:solidFill>
                <a:latin typeface="DejaVu Sans"/>
              </a:rPr>
              <a:t>One incidence</a:t>
            </a:r>
          </a:p>
        </p:txBody>
      </p:sp>
      <p:sp>
        <p:nvSpPr>
          <p:cNvPr id="13" name="TextBox 12"/>
          <p:cNvSpPr txBox="1"/>
          <p:nvPr/>
        </p:nvSpPr>
        <p:spPr>
          <a:xfrm>
            <a:off x="6385559" y="2639567"/>
            <a:ext cx="509016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0">
                <a:solidFill>
                  <a:srgbClr val="536775"/>
                </a:solidFill>
                <a:latin typeface="DejaVu Sans"/>
              </a:rPr>
              <a:t>Self-links and repeated endpoints do not</a:t>
            </a:r>
          </a:p>
        </p:txBody>
      </p:sp>
      <p:sp>
        <p:nvSpPr>
          <p:cNvPr id="14" name="TextBox 13"/>
          <p:cNvSpPr txBox="1"/>
          <p:nvPr/>
        </p:nvSpPr>
        <p:spPr>
          <a:xfrm>
            <a:off x="6385559" y="2902915"/>
            <a:ext cx="509016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0">
                <a:solidFill>
                  <a:srgbClr val="536775"/>
                </a:solidFill>
                <a:latin typeface="DejaVu Sans"/>
              </a:rPr>
              <a:t>duplicate the same incidence.</a:t>
            </a:r>
          </a:p>
        </p:txBody>
      </p:sp>
      <p:sp>
        <p:nvSpPr>
          <p:cNvPr id="15" name="Rounded Rectangle 14"/>
          <p:cNvSpPr/>
          <p:nvPr/>
        </p:nvSpPr>
        <p:spPr>
          <a:xfrm>
            <a:off x="548640" y="3718560"/>
            <a:ext cx="5425440" cy="1623060"/>
          </a:xfrm>
          <a:prstGeom prst="roundRect">
            <a:avLst>
              <a:gd name="adj" fmla="val 6103"/>
            </a:avLst>
          </a:prstGeom>
          <a:solidFill>
            <a:srgbClr val="FFFFFF"/>
          </a:solidFill>
          <a:ln w="7620">
            <a:solidFill>
              <a:srgbClr val="315E9C"/>
            </a:solidFill>
          </a:ln>
          <a:effectLst/>
        </p:spPr>
        <p:txBody>
          <a:bodyPr rtlCol="0" anchor="ctr"/>
          <a:lstStyle/>
          <a:p>
            <a:pPr algn="ctr"/>
          </a:p>
        </p:txBody>
      </p:sp>
      <p:sp>
        <p:nvSpPr>
          <p:cNvPr id="16" name="TextBox 15"/>
          <p:cNvSpPr txBox="1"/>
          <p:nvPr/>
        </p:nvSpPr>
        <p:spPr>
          <a:xfrm>
            <a:off x="716280" y="3886200"/>
            <a:ext cx="5090160" cy="156057"/>
          </a:xfrm>
          <a:prstGeom prst="rect">
            <a:avLst/>
          </a:prstGeom>
          <a:noFill/>
        </p:spPr>
        <p:txBody>
          <a:bodyPr wrap="none" lIns="0" rIns="0" tIns="0" bIns="0" anchor="t" anchorCtr="0">
            <a:noAutofit/>
          </a:bodyPr>
          <a:lstStyle/>
          <a:p>
            <a:pPr algn="l">
              <a:lnSpc>
                <a:spcPct val="100000"/>
              </a:lnSpc>
              <a:spcBef>
                <a:spcPts val="0"/>
              </a:spcBef>
              <a:spcAft>
                <a:spcPts val="0"/>
              </a:spcAft>
            </a:pPr>
            <a:r>
              <a:rPr sz="960" b="1">
                <a:solidFill>
                  <a:srgbClr val="315E9C"/>
                </a:solidFill>
                <a:latin typeface="DejaVu Sans"/>
              </a:rPr>
              <a:t>I3</a:t>
            </a:r>
          </a:p>
        </p:txBody>
      </p:sp>
      <p:sp>
        <p:nvSpPr>
          <p:cNvPr id="17" name="TextBox 16"/>
          <p:cNvSpPr txBox="1"/>
          <p:nvPr/>
        </p:nvSpPr>
        <p:spPr>
          <a:xfrm>
            <a:off x="716280" y="4122419"/>
            <a:ext cx="5090160" cy="292608"/>
          </a:xfrm>
          <a:prstGeom prst="rect">
            <a:avLst/>
          </a:prstGeom>
          <a:noFill/>
        </p:spPr>
        <p:txBody>
          <a:bodyPr wrap="none" lIns="0" rIns="0" tIns="0" bIns="0" anchor="t" anchorCtr="0">
            <a:noAutofit/>
          </a:bodyPr>
          <a:lstStyle/>
          <a:p>
            <a:pPr algn="l">
              <a:lnSpc>
                <a:spcPct val="100000"/>
              </a:lnSpc>
              <a:spcBef>
                <a:spcPts val="0"/>
              </a:spcBef>
              <a:spcAft>
                <a:spcPts val="0"/>
              </a:spcAft>
            </a:pPr>
            <a:r>
              <a:rPr sz="1800" b="1">
                <a:solidFill>
                  <a:srgbClr val="315E9C"/>
                </a:solidFill>
                <a:latin typeface="DejaVu Sans"/>
              </a:rPr>
              <a:t>Snapshot pagination</a:t>
            </a:r>
          </a:p>
        </p:txBody>
      </p:sp>
      <p:sp>
        <p:nvSpPr>
          <p:cNvPr id="18" name="TextBox 17"/>
          <p:cNvSpPr txBox="1"/>
          <p:nvPr/>
        </p:nvSpPr>
        <p:spPr>
          <a:xfrm>
            <a:off x="716280" y="4491228"/>
            <a:ext cx="509016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0">
                <a:solidFill>
                  <a:srgbClr val="536775"/>
                </a:solidFill>
                <a:latin typeface="DejaVu Sans"/>
              </a:rPr>
              <a:t>Cursor binds principal, scope, endpoint, direction</a:t>
            </a:r>
          </a:p>
        </p:txBody>
      </p:sp>
      <p:sp>
        <p:nvSpPr>
          <p:cNvPr id="19" name="TextBox 18"/>
          <p:cNvSpPr txBox="1"/>
          <p:nvPr/>
        </p:nvSpPr>
        <p:spPr>
          <a:xfrm>
            <a:off x="716280" y="4754575"/>
            <a:ext cx="509016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0">
                <a:solidFill>
                  <a:srgbClr val="536775"/>
                </a:solidFill>
                <a:latin typeface="DejaVu Sans"/>
              </a:rPr>
              <a:t>and accepted head.</a:t>
            </a:r>
          </a:p>
        </p:txBody>
      </p:sp>
      <p:sp>
        <p:nvSpPr>
          <p:cNvPr id="20" name="Rounded Rectangle 19"/>
          <p:cNvSpPr/>
          <p:nvPr/>
        </p:nvSpPr>
        <p:spPr>
          <a:xfrm>
            <a:off x="6217920" y="3718560"/>
            <a:ext cx="5425440" cy="1623060"/>
          </a:xfrm>
          <a:prstGeom prst="roundRect">
            <a:avLst>
              <a:gd name="adj" fmla="val 6103"/>
            </a:avLst>
          </a:prstGeom>
          <a:solidFill>
            <a:srgbClr val="FFFFFF"/>
          </a:solidFill>
          <a:ln w="7620">
            <a:solidFill>
              <a:srgbClr val="315E9C"/>
            </a:solidFill>
          </a:ln>
          <a:effectLst/>
        </p:spPr>
        <p:txBody>
          <a:bodyPr rtlCol="0" anchor="ctr"/>
          <a:lstStyle/>
          <a:p>
            <a:pPr algn="ctr"/>
          </a:p>
        </p:txBody>
      </p:sp>
      <p:sp>
        <p:nvSpPr>
          <p:cNvPr id="21" name="TextBox 20"/>
          <p:cNvSpPr txBox="1"/>
          <p:nvPr/>
        </p:nvSpPr>
        <p:spPr>
          <a:xfrm>
            <a:off x="6385559" y="3886200"/>
            <a:ext cx="5090160" cy="156057"/>
          </a:xfrm>
          <a:prstGeom prst="rect">
            <a:avLst/>
          </a:prstGeom>
          <a:noFill/>
        </p:spPr>
        <p:txBody>
          <a:bodyPr wrap="none" lIns="0" rIns="0" tIns="0" bIns="0" anchor="t" anchorCtr="0">
            <a:noAutofit/>
          </a:bodyPr>
          <a:lstStyle/>
          <a:p>
            <a:pPr algn="l">
              <a:lnSpc>
                <a:spcPct val="100000"/>
              </a:lnSpc>
              <a:spcBef>
                <a:spcPts val="0"/>
              </a:spcBef>
              <a:spcAft>
                <a:spcPts val="0"/>
              </a:spcAft>
            </a:pPr>
            <a:r>
              <a:rPr sz="960" b="1">
                <a:solidFill>
                  <a:srgbClr val="315E9C"/>
                </a:solidFill>
                <a:latin typeface="DejaVu Sans"/>
              </a:rPr>
              <a:t>I4</a:t>
            </a:r>
          </a:p>
        </p:txBody>
      </p:sp>
      <p:sp>
        <p:nvSpPr>
          <p:cNvPr id="22" name="TextBox 21"/>
          <p:cNvSpPr txBox="1"/>
          <p:nvPr/>
        </p:nvSpPr>
        <p:spPr>
          <a:xfrm>
            <a:off x="6385559" y="4122419"/>
            <a:ext cx="5090160" cy="292608"/>
          </a:xfrm>
          <a:prstGeom prst="rect">
            <a:avLst/>
          </a:prstGeom>
          <a:noFill/>
        </p:spPr>
        <p:txBody>
          <a:bodyPr wrap="none" lIns="0" rIns="0" tIns="0" bIns="0" anchor="t" anchorCtr="0">
            <a:noAutofit/>
          </a:bodyPr>
          <a:lstStyle/>
          <a:p>
            <a:pPr algn="l">
              <a:lnSpc>
                <a:spcPct val="100000"/>
              </a:lnSpc>
              <a:spcBef>
                <a:spcPts val="0"/>
              </a:spcBef>
              <a:spcAft>
                <a:spcPts val="0"/>
              </a:spcAft>
            </a:pPr>
            <a:r>
              <a:rPr sz="1800" b="1">
                <a:solidFill>
                  <a:srgbClr val="315E9C"/>
                </a:solidFill>
                <a:latin typeface="DejaVu Sans"/>
              </a:rPr>
              <a:t>Independent acceptance</a:t>
            </a:r>
          </a:p>
        </p:txBody>
      </p:sp>
      <p:sp>
        <p:nvSpPr>
          <p:cNvPr id="23" name="TextBox 22"/>
          <p:cNvSpPr txBox="1"/>
          <p:nvPr/>
        </p:nvSpPr>
        <p:spPr>
          <a:xfrm>
            <a:off x="6385559" y="4491228"/>
            <a:ext cx="509016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0">
                <a:solidFill>
                  <a:srgbClr val="536775"/>
                </a:solidFill>
                <a:latin typeface="DejaVu Sans"/>
              </a:rPr>
              <a:t>Payload creation and relation acceptance remain</a:t>
            </a:r>
          </a:p>
        </p:txBody>
      </p:sp>
      <p:sp>
        <p:nvSpPr>
          <p:cNvPr id="24" name="TextBox 23"/>
          <p:cNvSpPr txBox="1"/>
          <p:nvPr/>
        </p:nvSpPr>
        <p:spPr>
          <a:xfrm>
            <a:off x="6385559" y="4754575"/>
            <a:ext cx="509016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0">
                <a:solidFill>
                  <a:srgbClr val="536775"/>
                </a:solidFill>
                <a:latin typeface="DejaVu Sans"/>
              </a:rPr>
              <a:t>separate commits.</a:t>
            </a:r>
          </a:p>
        </p:txBody>
      </p:sp>
      <p:cxnSp>
        <p:nvCxnSpPr>
          <p:cNvPr id="25" name="Connector 24"/>
          <p:cNvCxnSpPr/>
          <p:nvPr/>
        </p:nvCxnSpPr>
        <p:spPr>
          <a:xfrm>
            <a:off x="548640" y="6393180"/>
            <a:ext cx="11094720" cy="0"/>
          </a:xfrm>
          <a:prstGeom prst="line">
            <a:avLst/>
          </a:prstGeom>
          <a:ln w="7620">
            <a:solidFill>
              <a:srgbClr val="C9D2D4"/>
            </a:solidFill>
          </a:ln>
          <a:effectLst/>
        </p:spPr>
      </p:cxnSp>
      <p:sp>
        <p:nvSpPr>
          <p:cNvPr id="26" name="TextBox 25"/>
          <p:cNvSpPr txBox="1"/>
          <p:nvPr/>
        </p:nvSpPr>
        <p:spPr>
          <a:xfrm>
            <a:off x="548640" y="6499859"/>
            <a:ext cx="9906000" cy="146304"/>
          </a:xfrm>
          <a:prstGeom prst="rect">
            <a:avLst/>
          </a:prstGeom>
          <a:noFill/>
        </p:spPr>
        <p:txBody>
          <a:bodyPr wrap="none" lIns="0" rIns="0" tIns="0" bIns="0" anchor="t" anchorCtr="0">
            <a:noAutofit/>
          </a:bodyPr>
          <a:lstStyle/>
          <a:p>
            <a:pPr algn="l">
              <a:lnSpc>
                <a:spcPct val="100000"/>
              </a:lnSpc>
              <a:spcBef>
                <a:spcPts val="0"/>
              </a:spcBef>
              <a:spcAft>
                <a:spcPts val="0"/>
              </a:spcAft>
            </a:pPr>
            <a:r>
              <a:rPr sz="900" b="0">
                <a:solidFill>
                  <a:srgbClr val="536775"/>
                </a:solidFill>
                <a:latin typeface="DejaVu Sans"/>
              </a:rPr>
              <a:t>OMEGA × ASI / THROUGH M5 / Relations · M5 source bfb0ec8</a:t>
            </a:r>
          </a:p>
        </p:txBody>
      </p:sp>
      <p:sp>
        <p:nvSpPr>
          <p:cNvPr id="27" name="TextBox 26"/>
          <p:cNvSpPr txBox="1"/>
          <p:nvPr/>
        </p:nvSpPr>
        <p:spPr>
          <a:xfrm>
            <a:off x="10744200" y="6469380"/>
            <a:ext cx="9144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Mono"/>
              </a:rPr>
              <a:t>07 / 12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4F2EB"/>
        </a:solidFill>
        <a:effectLst/>
      </p:bgPr>
    </p:bg>
    <p:spTree>
      <p:nvGrpSpPr>
        <p:cNvPr id="1" name=""/>
        <p:cNvGrpSpPr/>
        <p:nvPr/>
      </p:nvGrpSpPr>
      <p:grpSpPr/>
      <p:sp>
        <p:nvSpPr>
          <p:cNvPr id="2" name="TextBox 1"/>
          <p:cNvSpPr txBox="1"/>
          <p:nvPr/>
        </p:nvSpPr>
        <p:spPr>
          <a:xfrm>
            <a:off x="548640" y="327660"/>
            <a:ext cx="108204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1">
                <a:solidFill>
                  <a:srgbClr val="007C78"/>
                </a:solidFill>
                <a:latin typeface="DejaVu Sans"/>
              </a:rPr>
              <a:t>07 / RECOVERY AND REFUSAL</a:t>
            </a:r>
          </a:p>
        </p:txBody>
      </p:sp>
      <p:sp>
        <p:nvSpPr>
          <p:cNvPr id="3" name="TextBox 2"/>
          <p:cNvSpPr txBox="1"/>
          <p:nvPr/>
        </p:nvSpPr>
        <p:spPr>
          <a:xfrm>
            <a:off x="533400" y="723900"/>
            <a:ext cx="11125200" cy="507187"/>
          </a:xfrm>
          <a:prstGeom prst="rect">
            <a:avLst/>
          </a:prstGeom>
          <a:noFill/>
        </p:spPr>
        <p:txBody>
          <a:bodyPr wrap="none" lIns="0" rIns="0" tIns="0" bIns="0" anchor="t" anchorCtr="0">
            <a:noAutofit/>
          </a:bodyPr>
          <a:lstStyle/>
          <a:p>
            <a:pPr algn="l">
              <a:lnSpc>
                <a:spcPct val="100000"/>
              </a:lnSpc>
              <a:spcBef>
                <a:spcPts val="0"/>
              </a:spcBef>
              <a:spcAft>
                <a:spcPts val="0"/>
              </a:spcAft>
            </a:pPr>
            <a:r>
              <a:rPr sz="3120" b="1">
                <a:solidFill>
                  <a:srgbClr val="102B3F"/>
                </a:solidFill>
                <a:latin typeface="DejaVu Sans"/>
              </a:rPr>
              <a:t>Failure is part of the interface</a:t>
            </a:r>
          </a:p>
        </p:txBody>
      </p:sp>
      <p:sp>
        <p:nvSpPr>
          <p:cNvPr id="4" name="TextBox 3"/>
          <p:cNvSpPr txBox="1"/>
          <p:nvPr/>
        </p:nvSpPr>
        <p:spPr>
          <a:xfrm>
            <a:off x="556260" y="1257300"/>
            <a:ext cx="110490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A lost response, a missing prerequisite and a deliberate refusal require different interpretations.</a:t>
            </a:r>
          </a:p>
        </p:txBody>
      </p:sp>
      <p:sp>
        <p:nvSpPr>
          <p:cNvPr id="5" name="TextBox 4"/>
          <p:cNvSpPr txBox="1"/>
          <p:nvPr/>
        </p:nvSpPr>
        <p:spPr>
          <a:xfrm>
            <a:off x="670560" y="1790700"/>
            <a:ext cx="3223260" cy="165811"/>
          </a:xfrm>
          <a:prstGeom prst="rect">
            <a:avLst/>
          </a:prstGeom>
          <a:noFill/>
        </p:spPr>
        <p:txBody>
          <a:bodyPr wrap="none" lIns="0" rIns="0" tIns="0" bIns="0" anchor="t" anchorCtr="0">
            <a:noAutofit/>
          </a:bodyPr>
          <a:lstStyle/>
          <a:p>
            <a:pPr algn="l">
              <a:lnSpc>
                <a:spcPct val="100000"/>
              </a:lnSpc>
              <a:spcBef>
                <a:spcPts val="0"/>
              </a:spcBef>
              <a:spcAft>
                <a:spcPts val="0"/>
              </a:spcAft>
            </a:pPr>
            <a:r>
              <a:rPr sz="1019" b="1">
                <a:solidFill>
                  <a:srgbClr val="536775"/>
                </a:solidFill>
                <a:latin typeface="DejaVu Sans"/>
              </a:rPr>
              <a:t>BOUNDARY / TRIGGER</a:t>
            </a:r>
          </a:p>
        </p:txBody>
      </p:sp>
      <p:sp>
        <p:nvSpPr>
          <p:cNvPr id="6" name="TextBox 5"/>
          <p:cNvSpPr txBox="1"/>
          <p:nvPr/>
        </p:nvSpPr>
        <p:spPr>
          <a:xfrm>
            <a:off x="4137660" y="1790700"/>
            <a:ext cx="4213860" cy="165811"/>
          </a:xfrm>
          <a:prstGeom prst="rect">
            <a:avLst/>
          </a:prstGeom>
          <a:noFill/>
        </p:spPr>
        <p:txBody>
          <a:bodyPr wrap="none" lIns="0" rIns="0" tIns="0" bIns="0" anchor="t" anchorCtr="0">
            <a:noAutofit/>
          </a:bodyPr>
          <a:lstStyle/>
          <a:p>
            <a:pPr algn="l">
              <a:lnSpc>
                <a:spcPct val="100000"/>
              </a:lnSpc>
              <a:spcBef>
                <a:spcPts val="0"/>
              </a:spcBef>
              <a:spcAft>
                <a:spcPts val="0"/>
              </a:spcAft>
            </a:pPr>
            <a:r>
              <a:rPr sz="1019" b="1">
                <a:solidFill>
                  <a:srgbClr val="536775"/>
                </a:solidFill>
                <a:latin typeface="DejaVu Sans"/>
              </a:rPr>
              <a:t>OWNER-AUTHORITATIVE OUTCOME</a:t>
            </a:r>
          </a:p>
        </p:txBody>
      </p:sp>
      <p:sp>
        <p:nvSpPr>
          <p:cNvPr id="7" name="TextBox 6"/>
          <p:cNvSpPr txBox="1"/>
          <p:nvPr/>
        </p:nvSpPr>
        <p:spPr>
          <a:xfrm>
            <a:off x="8595360" y="1790700"/>
            <a:ext cx="2926079" cy="165811"/>
          </a:xfrm>
          <a:prstGeom prst="rect">
            <a:avLst/>
          </a:prstGeom>
          <a:noFill/>
        </p:spPr>
        <p:txBody>
          <a:bodyPr wrap="none" lIns="0" rIns="0" tIns="0" bIns="0" anchor="t" anchorCtr="0">
            <a:noAutofit/>
          </a:bodyPr>
          <a:lstStyle/>
          <a:p>
            <a:pPr algn="l">
              <a:lnSpc>
                <a:spcPct val="100000"/>
              </a:lnSpc>
              <a:spcBef>
                <a:spcPts val="0"/>
              </a:spcBef>
              <a:spcAft>
                <a:spcPts val="0"/>
              </a:spcAft>
            </a:pPr>
            <a:r>
              <a:rPr sz="1019" b="1">
                <a:solidFill>
                  <a:srgbClr val="536775"/>
                </a:solidFill>
                <a:latin typeface="DejaVu Sans"/>
              </a:rPr>
              <a:t>EVIDENCE / LIMITATION</a:t>
            </a:r>
          </a:p>
        </p:txBody>
      </p:sp>
      <p:sp>
        <p:nvSpPr>
          <p:cNvPr id="8" name="Rounded Rectangle 7"/>
          <p:cNvSpPr/>
          <p:nvPr/>
        </p:nvSpPr>
        <p:spPr>
          <a:xfrm>
            <a:off x="548640" y="2110740"/>
            <a:ext cx="11094720" cy="1066800"/>
          </a:xfrm>
          <a:prstGeom prst="roundRect">
            <a:avLst>
              <a:gd name="adj" fmla="val 4285"/>
            </a:avLst>
          </a:prstGeom>
          <a:solidFill>
            <a:srgbClr val="FFFFFF"/>
          </a:solidFill>
          <a:ln>
            <a:noFill/>
          </a:ln>
          <a:effectLst/>
        </p:spPr>
        <p:txBody>
          <a:bodyPr rtlCol="0" anchor="ctr"/>
          <a:lstStyle/>
          <a:p>
            <a:pPr algn="ctr"/>
          </a:p>
        </p:txBody>
      </p:sp>
      <p:sp>
        <p:nvSpPr>
          <p:cNvPr id="9" name="TextBox 8"/>
          <p:cNvSpPr txBox="1"/>
          <p:nvPr/>
        </p:nvSpPr>
        <p:spPr>
          <a:xfrm>
            <a:off x="670560" y="2240280"/>
            <a:ext cx="32232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Crash after payload, before</a:t>
            </a:r>
          </a:p>
        </p:txBody>
      </p:sp>
      <p:sp>
        <p:nvSpPr>
          <p:cNvPr id="10" name="TextBox 9"/>
          <p:cNvSpPr txBox="1"/>
          <p:nvPr/>
        </p:nvSpPr>
        <p:spPr>
          <a:xfrm>
            <a:off x="670560" y="2484120"/>
            <a:ext cx="32232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acceptance</a:t>
            </a:r>
          </a:p>
        </p:txBody>
      </p:sp>
      <p:sp>
        <p:nvSpPr>
          <p:cNvPr id="11" name="TextBox 10"/>
          <p:cNvSpPr txBox="1"/>
          <p:nvPr/>
        </p:nvSpPr>
        <p:spPr>
          <a:xfrm>
            <a:off x="4137660" y="2240280"/>
            <a:ext cx="42138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Orphan stays invisible; retry may accept it.</a:t>
            </a:r>
          </a:p>
        </p:txBody>
      </p:sp>
      <p:sp>
        <p:nvSpPr>
          <p:cNvPr id="12" name="TextBox 11"/>
          <p:cNvSpPr txBox="1"/>
          <p:nvPr/>
        </p:nvSpPr>
        <p:spPr>
          <a:xfrm>
            <a:off x="8595360" y="2240280"/>
            <a:ext cx="29260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One real process-kill case</a:t>
            </a:r>
          </a:p>
        </p:txBody>
      </p:sp>
      <p:sp>
        <p:nvSpPr>
          <p:cNvPr id="13" name="Rounded Rectangle 12"/>
          <p:cNvSpPr/>
          <p:nvPr/>
        </p:nvSpPr>
        <p:spPr>
          <a:xfrm>
            <a:off x="548640" y="3215640"/>
            <a:ext cx="11094720" cy="1066800"/>
          </a:xfrm>
          <a:prstGeom prst="roundRect">
            <a:avLst>
              <a:gd name="adj" fmla="val 4285"/>
            </a:avLst>
          </a:prstGeom>
          <a:solidFill>
            <a:srgbClr val="FFFFFF"/>
          </a:solidFill>
          <a:ln>
            <a:noFill/>
          </a:ln>
          <a:effectLst/>
        </p:spPr>
        <p:txBody>
          <a:bodyPr rtlCol="0" anchor="ctr"/>
          <a:lstStyle/>
          <a:p>
            <a:pPr algn="ctr"/>
          </a:p>
        </p:txBody>
      </p:sp>
      <p:sp>
        <p:nvSpPr>
          <p:cNvPr id="14" name="TextBox 13"/>
          <p:cNvSpPr txBox="1"/>
          <p:nvPr/>
        </p:nvSpPr>
        <p:spPr>
          <a:xfrm>
            <a:off x="670560" y="3345179"/>
            <a:ext cx="32232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Crash after acceptance,</a:t>
            </a:r>
          </a:p>
        </p:txBody>
      </p:sp>
      <p:sp>
        <p:nvSpPr>
          <p:cNvPr id="15" name="TextBox 14"/>
          <p:cNvSpPr txBox="1"/>
          <p:nvPr/>
        </p:nvSpPr>
        <p:spPr>
          <a:xfrm>
            <a:off x="670560" y="3589019"/>
            <a:ext cx="32232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before reply</a:t>
            </a:r>
          </a:p>
        </p:txBody>
      </p:sp>
      <p:sp>
        <p:nvSpPr>
          <p:cNvPr id="16" name="TextBox 15"/>
          <p:cNvSpPr txBox="1"/>
          <p:nvPr/>
        </p:nvSpPr>
        <p:spPr>
          <a:xfrm>
            <a:off x="4137660" y="3345179"/>
            <a:ext cx="42138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Recover the accepted relation once.</a:t>
            </a:r>
          </a:p>
        </p:txBody>
      </p:sp>
      <p:sp>
        <p:nvSpPr>
          <p:cNvPr id="17" name="TextBox 16"/>
          <p:cNvSpPr txBox="1"/>
          <p:nvPr/>
        </p:nvSpPr>
        <p:spPr>
          <a:xfrm>
            <a:off x="8595360" y="3345179"/>
            <a:ext cx="29260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One real process-kill case</a:t>
            </a:r>
          </a:p>
        </p:txBody>
      </p:sp>
      <p:sp>
        <p:nvSpPr>
          <p:cNvPr id="18" name="Rounded Rectangle 17"/>
          <p:cNvSpPr/>
          <p:nvPr/>
        </p:nvSpPr>
        <p:spPr>
          <a:xfrm>
            <a:off x="548640" y="4320540"/>
            <a:ext cx="11094720" cy="1066800"/>
          </a:xfrm>
          <a:prstGeom prst="roundRect">
            <a:avLst>
              <a:gd name="adj" fmla="val 4285"/>
            </a:avLst>
          </a:prstGeom>
          <a:solidFill>
            <a:srgbClr val="FFFFFF"/>
          </a:solidFill>
          <a:ln>
            <a:noFill/>
          </a:ln>
          <a:effectLst/>
        </p:spPr>
        <p:txBody>
          <a:bodyPr rtlCol="0" anchor="ctr"/>
          <a:lstStyle/>
          <a:p>
            <a:pPr algn="ctr"/>
          </a:p>
        </p:txBody>
      </p:sp>
      <p:sp>
        <p:nvSpPr>
          <p:cNvPr id="19" name="TextBox 18"/>
          <p:cNvSpPr txBox="1"/>
          <p:nvPr/>
        </p:nvSpPr>
        <p:spPr>
          <a:xfrm>
            <a:off x="670560" y="4450080"/>
            <a:ext cx="32232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Changed cursor / revoked</a:t>
            </a:r>
          </a:p>
        </p:txBody>
      </p:sp>
      <p:sp>
        <p:nvSpPr>
          <p:cNvPr id="20" name="TextBox 19"/>
          <p:cNvSpPr txBox="1"/>
          <p:nvPr/>
        </p:nvSpPr>
        <p:spPr>
          <a:xfrm>
            <a:off x="670560" y="4693920"/>
            <a:ext cx="32232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authority</a:t>
            </a:r>
          </a:p>
        </p:txBody>
      </p:sp>
      <p:sp>
        <p:nvSpPr>
          <p:cNvPr id="21" name="TextBox 20"/>
          <p:cNvSpPr txBox="1"/>
          <p:nvPr/>
        </p:nvSpPr>
        <p:spPr>
          <a:xfrm>
            <a:off x="4137660" y="4450080"/>
            <a:ext cx="42138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Fail explicitly; no cross-scope continuation.</a:t>
            </a:r>
          </a:p>
        </p:txBody>
      </p:sp>
      <p:sp>
        <p:nvSpPr>
          <p:cNvPr id="22" name="TextBox 21"/>
          <p:cNvSpPr txBox="1"/>
          <p:nvPr/>
        </p:nvSpPr>
        <p:spPr>
          <a:xfrm>
            <a:off x="8595360" y="4450080"/>
            <a:ext cx="29260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Malformed/cursor/auth tests</a:t>
            </a:r>
          </a:p>
        </p:txBody>
      </p:sp>
      <p:sp>
        <p:nvSpPr>
          <p:cNvPr id="23" name="Rounded Rectangle 22"/>
          <p:cNvSpPr/>
          <p:nvPr/>
        </p:nvSpPr>
        <p:spPr>
          <a:xfrm>
            <a:off x="548640" y="5829300"/>
            <a:ext cx="11094720" cy="403859"/>
          </a:xfrm>
          <a:prstGeom prst="roundRect">
            <a:avLst>
              <a:gd name="adj" fmla="val 15094"/>
            </a:avLst>
          </a:prstGeom>
          <a:solidFill>
            <a:srgbClr val="E7ECEB"/>
          </a:solidFill>
          <a:ln>
            <a:noFill/>
          </a:ln>
          <a:effectLst/>
        </p:spPr>
        <p:txBody>
          <a:bodyPr rtlCol="0" anchor="ctr"/>
          <a:lstStyle/>
          <a:p>
            <a:pPr algn="ctr"/>
          </a:p>
        </p:txBody>
      </p:sp>
      <p:sp>
        <p:nvSpPr>
          <p:cNvPr id="24" name="TextBox 23"/>
          <p:cNvSpPr txBox="1"/>
          <p:nvPr/>
        </p:nvSpPr>
        <p:spPr>
          <a:xfrm>
            <a:off x="716280" y="5905500"/>
            <a:ext cx="107442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1">
                <a:solidFill>
                  <a:srgbClr val="102B3F"/>
                </a:solidFill>
                <a:latin typeface="DejaVu Sans"/>
              </a:rPr>
              <a:t>Recovery evidence covers same-host process termination with intact files; it does not prove power-loss durability.</a:t>
            </a:r>
          </a:p>
        </p:txBody>
      </p:sp>
      <p:cxnSp>
        <p:nvCxnSpPr>
          <p:cNvPr id="25" name="Connector 24"/>
          <p:cNvCxnSpPr/>
          <p:nvPr/>
        </p:nvCxnSpPr>
        <p:spPr>
          <a:xfrm>
            <a:off x="548640" y="6393180"/>
            <a:ext cx="11094720" cy="0"/>
          </a:xfrm>
          <a:prstGeom prst="line">
            <a:avLst/>
          </a:prstGeom>
          <a:ln w="7620">
            <a:solidFill>
              <a:srgbClr val="C9D2D4"/>
            </a:solidFill>
          </a:ln>
          <a:effectLst/>
        </p:spPr>
      </p:cxnSp>
      <p:sp>
        <p:nvSpPr>
          <p:cNvPr id="26" name="TextBox 25"/>
          <p:cNvSpPr txBox="1"/>
          <p:nvPr/>
        </p:nvSpPr>
        <p:spPr>
          <a:xfrm>
            <a:off x="548640" y="6499859"/>
            <a:ext cx="9906000" cy="146304"/>
          </a:xfrm>
          <a:prstGeom prst="rect">
            <a:avLst/>
          </a:prstGeom>
          <a:noFill/>
        </p:spPr>
        <p:txBody>
          <a:bodyPr wrap="none" lIns="0" rIns="0" tIns="0" bIns="0" anchor="t" anchorCtr="0">
            <a:noAutofit/>
          </a:bodyPr>
          <a:lstStyle/>
          <a:p>
            <a:pPr algn="l">
              <a:lnSpc>
                <a:spcPct val="100000"/>
              </a:lnSpc>
              <a:spcBef>
                <a:spcPts val="0"/>
              </a:spcBef>
              <a:spcAft>
                <a:spcPts val="0"/>
              </a:spcAft>
            </a:pPr>
            <a:r>
              <a:rPr sz="900" b="0">
                <a:solidFill>
                  <a:srgbClr val="536775"/>
                </a:solidFill>
                <a:latin typeface="DejaVu Sans"/>
              </a:rPr>
              <a:t>OMEGA × ASI / THROUGH M5 / Relations · M5 source bfb0ec8</a:t>
            </a:r>
          </a:p>
        </p:txBody>
      </p:sp>
      <p:sp>
        <p:nvSpPr>
          <p:cNvPr id="27" name="TextBox 26"/>
          <p:cNvSpPr txBox="1"/>
          <p:nvPr/>
        </p:nvSpPr>
        <p:spPr>
          <a:xfrm>
            <a:off x="10744200" y="6469380"/>
            <a:ext cx="9144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Mono"/>
              </a:rPr>
              <a:t>08 / 12</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4F2EB"/>
        </a:solidFill>
        <a:effectLst/>
      </p:bgPr>
    </p:bg>
    <p:spTree>
      <p:nvGrpSpPr>
        <p:cNvPr id="1" name=""/>
        <p:cNvGrpSpPr/>
        <p:nvPr/>
      </p:nvGrpSpPr>
      <p:grpSpPr/>
      <p:sp>
        <p:nvSpPr>
          <p:cNvPr id="2" name="TextBox 1"/>
          <p:cNvSpPr txBox="1"/>
          <p:nvPr/>
        </p:nvSpPr>
        <p:spPr>
          <a:xfrm>
            <a:off x="548640" y="327660"/>
            <a:ext cx="108204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1">
                <a:solidFill>
                  <a:srgbClr val="007C78"/>
                </a:solidFill>
                <a:latin typeface="DejaVu Sans"/>
              </a:rPr>
              <a:t>08 / BENCHMARKS</a:t>
            </a:r>
          </a:p>
        </p:txBody>
      </p:sp>
      <p:sp>
        <p:nvSpPr>
          <p:cNvPr id="3" name="TextBox 2"/>
          <p:cNvSpPr txBox="1"/>
          <p:nvPr/>
        </p:nvSpPr>
        <p:spPr>
          <a:xfrm>
            <a:off x="533400" y="723900"/>
            <a:ext cx="11125200" cy="507187"/>
          </a:xfrm>
          <a:prstGeom prst="rect">
            <a:avLst/>
          </a:prstGeom>
          <a:noFill/>
        </p:spPr>
        <p:txBody>
          <a:bodyPr wrap="none" lIns="0" rIns="0" tIns="0" bIns="0" anchor="t" anchorCtr="0">
            <a:noAutofit/>
          </a:bodyPr>
          <a:lstStyle/>
          <a:p>
            <a:pPr algn="l">
              <a:lnSpc>
                <a:spcPct val="100000"/>
              </a:lnSpc>
              <a:spcBef>
                <a:spcPts val="0"/>
              </a:spcBef>
              <a:spcAft>
                <a:spcPts val="0"/>
              </a:spcAft>
            </a:pPr>
            <a:r>
              <a:rPr sz="3120" b="1">
                <a:solidFill>
                  <a:srgbClr val="102B3F"/>
                </a:solidFill>
                <a:latin typeface="DejaVu Sans"/>
              </a:rPr>
              <a:t>Measurements and benchmark gaps</a:t>
            </a:r>
          </a:p>
        </p:txBody>
      </p:sp>
      <p:sp>
        <p:nvSpPr>
          <p:cNvPr id="4" name="TextBox 3"/>
          <p:cNvSpPr txBox="1"/>
          <p:nvPr/>
        </p:nvSpPr>
        <p:spPr>
          <a:xfrm>
            <a:off x="556260" y="1257300"/>
            <a:ext cx="110490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Observed values, contract limits and proposed experiments are explicitly different kinds of evidence.</a:t>
            </a:r>
          </a:p>
        </p:txBody>
      </p:sp>
      <p:sp>
        <p:nvSpPr>
          <p:cNvPr id="5" name="Rounded Rectangle 4"/>
          <p:cNvSpPr/>
          <p:nvPr/>
        </p:nvSpPr>
        <p:spPr>
          <a:xfrm>
            <a:off x="548640" y="1859280"/>
            <a:ext cx="3535679" cy="2004059"/>
          </a:xfrm>
          <a:prstGeom prst="roundRect">
            <a:avLst>
              <a:gd name="adj" fmla="val 4942"/>
            </a:avLst>
          </a:prstGeom>
          <a:solidFill>
            <a:srgbClr val="FFFFFF"/>
          </a:solidFill>
          <a:ln w="7620">
            <a:solidFill>
              <a:srgbClr val="315E9C"/>
            </a:solidFill>
          </a:ln>
          <a:effectLst/>
        </p:spPr>
        <p:txBody>
          <a:bodyPr rtlCol="0" anchor="ctr"/>
          <a:lstStyle/>
          <a:p>
            <a:pPr algn="ctr"/>
          </a:p>
        </p:txBody>
      </p:sp>
      <p:sp>
        <p:nvSpPr>
          <p:cNvPr id="6" name="TextBox 5"/>
          <p:cNvSpPr txBox="1"/>
          <p:nvPr/>
        </p:nvSpPr>
        <p:spPr>
          <a:xfrm>
            <a:off x="723900" y="2019300"/>
            <a:ext cx="3185160" cy="585216"/>
          </a:xfrm>
          <a:prstGeom prst="rect">
            <a:avLst/>
          </a:prstGeom>
          <a:noFill/>
        </p:spPr>
        <p:txBody>
          <a:bodyPr wrap="none" lIns="0" rIns="0" tIns="0" bIns="0" anchor="t" anchorCtr="0">
            <a:noAutofit/>
          </a:bodyPr>
          <a:lstStyle/>
          <a:p>
            <a:pPr algn="l">
              <a:lnSpc>
                <a:spcPct val="100000"/>
              </a:lnSpc>
              <a:spcBef>
                <a:spcPts val="0"/>
              </a:spcBef>
              <a:spcAft>
                <a:spcPts val="0"/>
              </a:spcAft>
            </a:pPr>
            <a:r>
              <a:rPr sz="3600" b="1">
                <a:solidFill>
                  <a:srgbClr val="315E9C"/>
                </a:solidFill>
                <a:latin typeface="DejaVu Sans"/>
              </a:rPr>
              <a:t>4 / 4</a:t>
            </a:r>
          </a:p>
        </p:txBody>
      </p:sp>
      <p:sp>
        <p:nvSpPr>
          <p:cNvPr id="7" name="TextBox 6"/>
          <p:cNvSpPr txBox="1"/>
          <p:nvPr/>
        </p:nvSpPr>
        <p:spPr>
          <a:xfrm>
            <a:off x="723900" y="2712720"/>
            <a:ext cx="318516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1">
                <a:solidFill>
                  <a:srgbClr val="102B3F"/>
                </a:solidFill>
                <a:latin typeface="DejaVu Sans"/>
              </a:rPr>
              <a:t>Logical operations</a:t>
            </a:r>
          </a:p>
        </p:txBody>
      </p:sp>
      <p:sp>
        <p:nvSpPr>
          <p:cNvPr id="8" name="TextBox 7"/>
          <p:cNvSpPr txBox="1"/>
          <p:nvPr/>
        </p:nvSpPr>
        <p:spPr>
          <a:xfrm>
            <a:off x="723900" y="2966313"/>
            <a:ext cx="318516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1">
                <a:solidFill>
                  <a:srgbClr val="102B3F"/>
                </a:solidFill>
                <a:latin typeface="DejaVu Sans"/>
              </a:rPr>
              <a:t>exercised</a:t>
            </a:r>
          </a:p>
        </p:txBody>
      </p:sp>
      <p:sp>
        <p:nvSpPr>
          <p:cNvPr id="9" name="TextBox 8"/>
          <p:cNvSpPr txBox="1"/>
          <p:nvPr/>
        </p:nvSpPr>
        <p:spPr>
          <a:xfrm>
            <a:off x="723900" y="3284219"/>
            <a:ext cx="3185160" cy="214579"/>
          </a:xfrm>
          <a:prstGeom prst="rect">
            <a:avLst/>
          </a:prstGeom>
          <a:noFill/>
        </p:spPr>
        <p:txBody>
          <a:bodyPr wrap="none" lIns="0" rIns="0" tIns="0" bIns="0" anchor="t" anchorCtr="0">
            <a:noAutofit/>
          </a:bodyPr>
          <a:lstStyle/>
          <a:p>
            <a:pPr algn="l">
              <a:lnSpc>
                <a:spcPct val="100000"/>
              </a:lnSpc>
              <a:spcBef>
                <a:spcPts val="0"/>
              </a:spcBef>
              <a:spcAft>
                <a:spcPts val="0"/>
              </a:spcAft>
            </a:pPr>
            <a:r>
              <a:rPr sz="1320" b="0">
                <a:solidFill>
                  <a:srgbClr val="536775"/>
                </a:solidFill>
                <a:latin typeface="DejaVu Sans"/>
              </a:rPr>
              <a:t>Contract + real-provider + native</a:t>
            </a:r>
          </a:p>
        </p:txBody>
      </p:sp>
      <p:sp>
        <p:nvSpPr>
          <p:cNvPr id="10" name="TextBox 9"/>
          <p:cNvSpPr txBox="1"/>
          <p:nvPr/>
        </p:nvSpPr>
        <p:spPr>
          <a:xfrm>
            <a:off x="723900" y="3498799"/>
            <a:ext cx="3185160" cy="214579"/>
          </a:xfrm>
          <a:prstGeom prst="rect">
            <a:avLst/>
          </a:prstGeom>
          <a:noFill/>
        </p:spPr>
        <p:txBody>
          <a:bodyPr wrap="none" lIns="0" rIns="0" tIns="0" bIns="0" anchor="t" anchorCtr="0">
            <a:noAutofit/>
          </a:bodyPr>
          <a:lstStyle/>
          <a:p>
            <a:pPr algn="l">
              <a:lnSpc>
                <a:spcPct val="100000"/>
              </a:lnSpc>
              <a:spcBef>
                <a:spcPts val="0"/>
              </a:spcBef>
              <a:spcAft>
                <a:spcPts val="0"/>
              </a:spcAft>
            </a:pPr>
            <a:r>
              <a:rPr sz="1320" b="0">
                <a:solidFill>
                  <a:srgbClr val="536775"/>
                </a:solidFill>
                <a:latin typeface="DejaVu Sans"/>
              </a:rPr>
              <a:t>consumer</a:t>
            </a:r>
          </a:p>
        </p:txBody>
      </p:sp>
      <p:sp>
        <p:nvSpPr>
          <p:cNvPr id="11" name="Rounded Rectangle 10"/>
          <p:cNvSpPr/>
          <p:nvPr/>
        </p:nvSpPr>
        <p:spPr>
          <a:xfrm>
            <a:off x="4328160" y="1859280"/>
            <a:ext cx="3535679" cy="2004059"/>
          </a:xfrm>
          <a:prstGeom prst="roundRect">
            <a:avLst>
              <a:gd name="adj" fmla="val 4942"/>
            </a:avLst>
          </a:prstGeom>
          <a:solidFill>
            <a:srgbClr val="FFFFFF"/>
          </a:solidFill>
          <a:ln w="7620">
            <a:solidFill>
              <a:srgbClr val="315E9C"/>
            </a:solidFill>
          </a:ln>
          <a:effectLst/>
        </p:spPr>
        <p:txBody>
          <a:bodyPr rtlCol="0" anchor="ctr"/>
          <a:lstStyle/>
          <a:p>
            <a:pPr algn="ctr"/>
          </a:p>
        </p:txBody>
      </p:sp>
      <p:sp>
        <p:nvSpPr>
          <p:cNvPr id="12" name="TextBox 11"/>
          <p:cNvSpPr txBox="1"/>
          <p:nvPr/>
        </p:nvSpPr>
        <p:spPr>
          <a:xfrm>
            <a:off x="4503420" y="2019300"/>
            <a:ext cx="3185160" cy="585216"/>
          </a:xfrm>
          <a:prstGeom prst="rect">
            <a:avLst/>
          </a:prstGeom>
          <a:noFill/>
        </p:spPr>
        <p:txBody>
          <a:bodyPr wrap="none" lIns="0" rIns="0" tIns="0" bIns="0" anchor="t" anchorCtr="0">
            <a:noAutofit/>
          </a:bodyPr>
          <a:lstStyle/>
          <a:p>
            <a:pPr algn="l">
              <a:lnSpc>
                <a:spcPct val="100000"/>
              </a:lnSpc>
              <a:spcBef>
                <a:spcPts val="0"/>
              </a:spcBef>
              <a:spcAft>
                <a:spcPts val="0"/>
              </a:spcAft>
            </a:pPr>
            <a:r>
              <a:rPr sz="3600" b="1">
                <a:solidFill>
                  <a:srgbClr val="315E9C"/>
                </a:solidFill>
                <a:latin typeface="DejaVu Sans"/>
              </a:rPr>
              <a:t>15</a:t>
            </a:r>
          </a:p>
        </p:txBody>
      </p:sp>
      <p:sp>
        <p:nvSpPr>
          <p:cNvPr id="13" name="TextBox 12"/>
          <p:cNvSpPr txBox="1"/>
          <p:nvPr/>
        </p:nvSpPr>
        <p:spPr>
          <a:xfrm>
            <a:off x="4503420" y="2712720"/>
            <a:ext cx="318516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1">
                <a:solidFill>
                  <a:srgbClr val="102B3F"/>
                </a:solidFill>
                <a:latin typeface="DejaVu Sans"/>
              </a:rPr>
              <a:t>Requires edges in native</a:t>
            </a:r>
          </a:p>
        </p:txBody>
      </p:sp>
      <p:sp>
        <p:nvSpPr>
          <p:cNvPr id="14" name="TextBox 13"/>
          <p:cNvSpPr txBox="1"/>
          <p:nvPr/>
        </p:nvSpPr>
        <p:spPr>
          <a:xfrm>
            <a:off x="4503420" y="2966313"/>
            <a:ext cx="318516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1">
                <a:solidFill>
                  <a:srgbClr val="102B3F"/>
                </a:solidFill>
                <a:latin typeface="DejaVu Sans"/>
              </a:rPr>
              <a:t>demo</a:t>
            </a:r>
          </a:p>
        </p:txBody>
      </p:sp>
      <p:sp>
        <p:nvSpPr>
          <p:cNvPr id="15" name="TextBox 14"/>
          <p:cNvSpPr txBox="1"/>
          <p:nvPr/>
        </p:nvSpPr>
        <p:spPr>
          <a:xfrm>
            <a:off x="4503420" y="3284219"/>
            <a:ext cx="3185160" cy="214579"/>
          </a:xfrm>
          <a:prstGeom prst="rect">
            <a:avLst/>
          </a:prstGeom>
          <a:noFill/>
        </p:spPr>
        <p:txBody>
          <a:bodyPr wrap="none" lIns="0" rIns="0" tIns="0" bIns="0" anchor="t" anchorCtr="0">
            <a:noAutofit/>
          </a:bodyPr>
          <a:lstStyle/>
          <a:p>
            <a:pPr algn="l">
              <a:lnSpc>
                <a:spcPct val="100000"/>
              </a:lnSpc>
              <a:spcBef>
                <a:spcPts val="0"/>
              </a:spcBef>
              <a:spcAft>
                <a:spcPts val="0"/>
              </a:spcAft>
            </a:pPr>
            <a:r>
              <a:rPr sz="1320" b="0">
                <a:solidFill>
                  <a:srgbClr val="536775"/>
                </a:solidFill>
                <a:latin typeface="DejaVu Sans"/>
              </a:rPr>
              <a:t>Five roots connected to three</a:t>
            </a:r>
          </a:p>
        </p:txBody>
      </p:sp>
      <p:sp>
        <p:nvSpPr>
          <p:cNvPr id="16" name="TextBox 15"/>
          <p:cNvSpPr txBox="1"/>
          <p:nvPr/>
        </p:nvSpPr>
        <p:spPr>
          <a:xfrm>
            <a:off x="4503420" y="3498799"/>
            <a:ext cx="3185160" cy="214579"/>
          </a:xfrm>
          <a:prstGeom prst="rect">
            <a:avLst/>
          </a:prstGeom>
          <a:noFill/>
        </p:spPr>
        <p:txBody>
          <a:bodyPr wrap="none" lIns="0" rIns="0" tIns="0" bIns="0" anchor="t" anchorCtr="0">
            <a:noAutofit/>
          </a:bodyPr>
          <a:lstStyle/>
          <a:p>
            <a:pPr algn="l">
              <a:lnSpc>
                <a:spcPct val="100000"/>
              </a:lnSpc>
              <a:spcBef>
                <a:spcPts val="0"/>
              </a:spcBef>
              <a:spcAft>
                <a:spcPts val="0"/>
              </a:spcAft>
            </a:pPr>
            <a:r>
              <a:rPr sz="1320" b="0">
                <a:solidFill>
                  <a:srgbClr val="536775"/>
                </a:solidFill>
                <a:latin typeface="DejaVu Sans"/>
              </a:rPr>
              <a:t>prerequisites</a:t>
            </a:r>
          </a:p>
        </p:txBody>
      </p:sp>
      <p:sp>
        <p:nvSpPr>
          <p:cNvPr id="17" name="Rounded Rectangle 16"/>
          <p:cNvSpPr/>
          <p:nvPr/>
        </p:nvSpPr>
        <p:spPr>
          <a:xfrm>
            <a:off x="8107680" y="1859280"/>
            <a:ext cx="3535679" cy="2004059"/>
          </a:xfrm>
          <a:prstGeom prst="roundRect">
            <a:avLst>
              <a:gd name="adj" fmla="val 4942"/>
            </a:avLst>
          </a:prstGeom>
          <a:solidFill>
            <a:srgbClr val="FFFFFF"/>
          </a:solidFill>
          <a:ln w="7620">
            <a:solidFill>
              <a:srgbClr val="315E9C"/>
            </a:solidFill>
          </a:ln>
          <a:effectLst/>
        </p:spPr>
        <p:txBody>
          <a:bodyPr rtlCol="0" anchor="ctr"/>
          <a:lstStyle/>
          <a:p>
            <a:pPr algn="ctr"/>
          </a:p>
        </p:txBody>
      </p:sp>
      <p:sp>
        <p:nvSpPr>
          <p:cNvPr id="18" name="TextBox 17"/>
          <p:cNvSpPr txBox="1"/>
          <p:nvPr/>
        </p:nvSpPr>
        <p:spPr>
          <a:xfrm>
            <a:off x="8282939" y="2019300"/>
            <a:ext cx="3185160" cy="585216"/>
          </a:xfrm>
          <a:prstGeom prst="rect">
            <a:avLst/>
          </a:prstGeom>
          <a:noFill/>
        </p:spPr>
        <p:txBody>
          <a:bodyPr wrap="none" lIns="0" rIns="0" tIns="0" bIns="0" anchor="t" anchorCtr="0">
            <a:noAutofit/>
          </a:bodyPr>
          <a:lstStyle/>
          <a:p>
            <a:pPr algn="l">
              <a:lnSpc>
                <a:spcPct val="100000"/>
              </a:lnSpc>
              <a:spcBef>
                <a:spcPts val="0"/>
              </a:spcBef>
              <a:spcAft>
                <a:spcPts val="0"/>
              </a:spcAft>
            </a:pPr>
            <a:r>
              <a:rPr sz="3600" b="1">
                <a:solidFill>
                  <a:srgbClr val="315E9C"/>
                </a:solidFill>
                <a:latin typeface="DejaVu Sans"/>
              </a:rPr>
              <a:t>128</a:t>
            </a:r>
          </a:p>
        </p:txBody>
      </p:sp>
      <p:sp>
        <p:nvSpPr>
          <p:cNvPr id="19" name="TextBox 18"/>
          <p:cNvSpPr txBox="1"/>
          <p:nvPr/>
        </p:nvSpPr>
        <p:spPr>
          <a:xfrm>
            <a:off x="8282939" y="2712720"/>
            <a:ext cx="318516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1">
                <a:solidFill>
                  <a:srgbClr val="102B3F"/>
                </a:solidFill>
                <a:latin typeface="DejaVu Sans"/>
              </a:rPr>
              <a:t>Accepted relations per fresh</a:t>
            </a:r>
          </a:p>
        </p:txBody>
      </p:sp>
      <p:sp>
        <p:nvSpPr>
          <p:cNvPr id="20" name="TextBox 19"/>
          <p:cNvSpPr txBox="1"/>
          <p:nvPr/>
        </p:nvSpPr>
        <p:spPr>
          <a:xfrm>
            <a:off x="8282939" y="2966313"/>
            <a:ext cx="318516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1">
                <a:solidFill>
                  <a:srgbClr val="102B3F"/>
                </a:solidFill>
                <a:latin typeface="DejaVu Sans"/>
              </a:rPr>
              <a:t>store</a:t>
            </a:r>
          </a:p>
        </p:txBody>
      </p:sp>
      <p:sp>
        <p:nvSpPr>
          <p:cNvPr id="21" name="TextBox 20"/>
          <p:cNvSpPr txBox="1"/>
          <p:nvPr/>
        </p:nvSpPr>
        <p:spPr>
          <a:xfrm>
            <a:off x="8282939" y="3284219"/>
            <a:ext cx="3185160" cy="214579"/>
          </a:xfrm>
          <a:prstGeom prst="rect">
            <a:avLst/>
          </a:prstGeom>
          <a:noFill/>
        </p:spPr>
        <p:txBody>
          <a:bodyPr wrap="none" lIns="0" rIns="0" tIns="0" bIns="0" anchor="t" anchorCtr="0">
            <a:noAutofit/>
          </a:bodyPr>
          <a:lstStyle/>
          <a:p>
            <a:pPr algn="l">
              <a:lnSpc>
                <a:spcPct val="100000"/>
              </a:lnSpc>
              <a:spcBef>
                <a:spcPts val="0"/>
              </a:spcBef>
              <a:spcAft>
                <a:spcPts val="0"/>
              </a:spcAft>
            </a:pPr>
            <a:r>
              <a:rPr sz="1320" b="0">
                <a:solidFill>
                  <a:srgbClr val="536775"/>
                </a:solidFill>
                <a:latin typeface="DejaVu Sans"/>
              </a:rPr>
              <a:t>Declared cap; no throughput claim</a:t>
            </a:r>
          </a:p>
        </p:txBody>
      </p:sp>
      <p:sp>
        <p:nvSpPr>
          <p:cNvPr id="22" name="TextBox 21"/>
          <p:cNvSpPr txBox="1"/>
          <p:nvPr/>
        </p:nvSpPr>
        <p:spPr>
          <a:xfrm>
            <a:off x="579120" y="4091940"/>
            <a:ext cx="1100328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The 15-edge example demonstrates one-hop traversal and reverse incidence. No isolated relation throughput,</a:t>
            </a:r>
          </a:p>
        </p:txBody>
      </p:sp>
      <p:sp>
        <p:nvSpPr>
          <p:cNvPr id="23" name="TextBox 22"/>
          <p:cNvSpPr txBox="1"/>
          <p:nvPr/>
        </p:nvSpPr>
        <p:spPr>
          <a:xfrm>
            <a:off x="579120" y="4335780"/>
            <a:ext cx="1100328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latency or large-graph scaling benchmark has been run.</a:t>
            </a:r>
          </a:p>
        </p:txBody>
      </p:sp>
      <p:sp>
        <p:nvSpPr>
          <p:cNvPr id="24" name="Rounded Rectangle 23"/>
          <p:cNvSpPr/>
          <p:nvPr/>
        </p:nvSpPr>
        <p:spPr>
          <a:xfrm>
            <a:off x="548640" y="5067300"/>
            <a:ext cx="11094720" cy="1150620"/>
          </a:xfrm>
          <a:prstGeom prst="roundRect">
            <a:avLst>
              <a:gd name="adj" fmla="val 8609"/>
            </a:avLst>
          </a:prstGeom>
          <a:solidFill>
            <a:srgbClr val="F3E7CE"/>
          </a:solidFill>
          <a:ln w="7620">
            <a:solidFill>
              <a:srgbClr val="A86A15"/>
            </a:solidFill>
          </a:ln>
          <a:effectLst/>
        </p:spPr>
        <p:txBody>
          <a:bodyPr rtlCol="0" anchor="ctr"/>
          <a:lstStyle/>
          <a:p>
            <a:pPr algn="ctr"/>
          </a:p>
        </p:txBody>
      </p:sp>
      <p:sp>
        <p:nvSpPr>
          <p:cNvPr id="25" name="TextBox 24"/>
          <p:cNvSpPr txBox="1"/>
          <p:nvPr/>
        </p:nvSpPr>
        <p:spPr>
          <a:xfrm>
            <a:off x="716280" y="5234940"/>
            <a:ext cx="1075944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A86A15"/>
                </a:solidFill>
                <a:latin typeface="DejaVu Sans"/>
              </a:rPr>
              <a:t>PROPOSED BENCHMARK · NOT RUN</a:t>
            </a:r>
          </a:p>
        </p:txBody>
      </p:sp>
      <p:sp>
        <p:nvSpPr>
          <p:cNvPr id="26" name="TextBox 25"/>
          <p:cNvSpPr txBox="1"/>
          <p:nvPr/>
        </p:nvSpPr>
        <p:spPr>
          <a:xfrm>
            <a:off x="716280" y="5545226"/>
            <a:ext cx="1075944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0">
                <a:solidFill>
                  <a:srgbClr val="536775"/>
                </a:solidFill>
                <a:latin typeface="DejaVu Sans"/>
              </a:rPr>
              <a:t>Proposed: vary fan-out, schema arity, repeated endpoints and page size; measure append and traversal p50/p95</a:t>
            </a:r>
          </a:p>
        </p:txBody>
      </p:sp>
      <p:sp>
        <p:nvSpPr>
          <p:cNvPr id="27" name="TextBox 26"/>
          <p:cNvSpPr txBox="1"/>
          <p:nvPr/>
        </p:nvSpPr>
        <p:spPr>
          <a:xfrm>
            <a:off x="716280" y="5779312"/>
            <a:ext cx="1075944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0">
                <a:solidFill>
                  <a:srgbClr val="536775"/>
                </a:solidFill>
                <a:latin typeface="DejaVu Sans"/>
              </a:rPr>
              <a:t>with fixed-head correctness under concurrent appends.</a:t>
            </a:r>
          </a:p>
        </p:txBody>
      </p:sp>
      <p:cxnSp>
        <p:nvCxnSpPr>
          <p:cNvPr id="28" name="Connector 27"/>
          <p:cNvCxnSpPr/>
          <p:nvPr/>
        </p:nvCxnSpPr>
        <p:spPr>
          <a:xfrm>
            <a:off x="548640" y="6393180"/>
            <a:ext cx="11094720" cy="0"/>
          </a:xfrm>
          <a:prstGeom prst="line">
            <a:avLst/>
          </a:prstGeom>
          <a:ln w="7620">
            <a:solidFill>
              <a:srgbClr val="C9D2D4"/>
            </a:solidFill>
          </a:ln>
          <a:effectLst/>
        </p:spPr>
      </p:cxnSp>
      <p:sp>
        <p:nvSpPr>
          <p:cNvPr id="29" name="TextBox 28"/>
          <p:cNvSpPr txBox="1"/>
          <p:nvPr/>
        </p:nvSpPr>
        <p:spPr>
          <a:xfrm>
            <a:off x="548640" y="6499859"/>
            <a:ext cx="9906000" cy="146304"/>
          </a:xfrm>
          <a:prstGeom prst="rect">
            <a:avLst/>
          </a:prstGeom>
          <a:noFill/>
        </p:spPr>
        <p:txBody>
          <a:bodyPr wrap="none" lIns="0" rIns="0" tIns="0" bIns="0" anchor="t" anchorCtr="0">
            <a:noAutofit/>
          </a:bodyPr>
          <a:lstStyle/>
          <a:p>
            <a:pPr algn="l">
              <a:lnSpc>
                <a:spcPct val="100000"/>
              </a:lnSpc>
              <a:spcBef>
                <a:spcPts val="0"/>
              </a:spcBef>
              <a:spcAft>
                <a:spcPts val="0"/>
              </a:spcAft>
            </a:pPr>
            <a:r>
              <a:rPr sz="900" b="0">
                <a:solidFill>
                  <a:srgbClr val="536775"/>
                </a:solidFill>
                <a:latin typeface="DejaVu Sans"/>
              </a:rPr>
              <a:t>OMEGA × ASI / THROUGH M5 / Relations · M5 source bfb0ec8</a:t>
            </a:r>
          </a:p>
        </p:txBody>
      </p:sp>
      <p:sp>
        <p:nvSpPr>
          <p:cNvPr id="30" name="TextBox 29"/>
          <p:cNvSpPr txBox="1"/>
          <p:nvPr/>
        </p:nvSpPr>
        <p:spPr>
          <a:xfrm>
            <a:off x="10744200" y="6469380"/>
            <a:ext cx="9144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Mono"/>
              </a:rPr>
              <a:t>09 / 12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4F2EB"/>
        </a:solidFill>
        <a:effectLst/>
      </p:bgPr>
    </p:bg>
    <p:spTree>
      <p:nvGrpSpPr>
        <p:cNvPr id="1" name=""/>
        <p:cNvGrpSpPr/>
        <p:nvPr/>
      </p:nvGrpSpPr>
      <p:grpSpPr/>
      <p:sp>
        <p:nvSpPr>
          <p:cNvPr id="2" name="TextBox 1"/>
          <p:cNvSpPr txBox="1"/>
          <p:nvPr/>
        </p:nvSpPr>
        <p:spPr>
          <a:xfrm>
            <a:off x="548640" y="327660"/>
            <a:ext cx="108204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1">
                <a:solidFill>
                  <a:srgbClr val="007C78"/>
                </a:solidFill>
                <a:latin typeface="DejaVu Sans"/>
              </a:rPr>
              <a:t>09 / EVIDENCE CLASSIFICATION</a:t>
            </a:r>
          </a:p>
        </p:txBody>
      </p:sp>
      <p:sp>
        <p:nvSpPr>
          <p:cNvPr id="3" name="TextBox 2"/>
          <p:cNvSpPr txBox="1"/>
          <p:nvPr/>
        </p:nvSpPr>
        <p:spPr>
          <a:xfrm>
            <a:off x="533400" y="723900"/>
            <a:ext cx="11125200" cy="507187"/>
          </a:xfrm>
          <a:prstGeom prst="rect">
            <a:avLst/>
          </a:prstGeom>
          <a:noFill/>
        </p:spPr>
        <p:txBody>
          <a:bodyPr wrap="none" lIns="0" rIns="0" tIns="0" bIns="0" anchor="t" anchorCtr="0">
            <a:noAutofit/>
          </a:bodyPr>
          <a:lstStyle/>
          <a:p>
            <a:pPr algn="l">
              <a:lnSpc>
                <a:spcPct val="100000"/>
              </a:lnSpc>
              <a:spcBef>
                <a:spcPts val="0"/>
              </a:spcBef>
              <a:spcAft>
                <a:spcPts val="0"/>
              </a:spcAft>
            </a:pPr>
            <a:r>
              <a:rPr sz="3120" b="1">
                <a:solidFill>
                  <a:srgbClr val="102B3F"/>
                </a:solidFill>
                <a:latin typeface="DejaVu Sans"/>
              </a:rPr>
              <a:t>Current state: what is real, what is not</a:t>
            </a:r>
          </a:p>
        </p:txBody>
      </p:sp>
      <p:sp>
        <p:nvSpPr>
          <p:cNvPr id="4" name="TextBox 3"/>
          <p:cNvSpPr txBox="1"/>
          <p:nvPr/>
        </p:nvSpPr>
        <p:spPr>
          <a:xfrm>
            <a:off x="556260" y="1257300"/>
            <a:ext cx="110490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Current supported regressions pass; historical observations and unsatisfied capabilities keep their labels.</a:t>
            </a:r>
          </a:p>
        </p:txBody>
      </p:sp>
      <p:sp>
        <p:nvSpPr>
          <p:cNvPr id="5" name="TextBox 4"/>
          <p:cNvSpPr txBox="1"/>
          <p:nvPr/>
        </p:nvSpPr>
        <p:spPr>
          <a:xfrm>
            <a:off x="670560" y="1790700"/>
            <a:ext cx="2651760" cy="165811"/>
          </a:xfrm>
          <a:prstGeom prst="rect">
            <a:avLst/>
          </a:prstGeom>
          <a:noFill/>
        </p:spPr>
        <p:txBody>
          <a:bodyPr wrap="none" lIns="0" rIns="0" tIns="0" bIns="0" anchor="t" anchorCtr="0">
            <a:noAutofit/>
          </a:bodyPr>
          <a:lstStyle/>
          <a:p>
            <a:pPr algn="l">
              <a:lnSpc>
                <a:spcPct val="100000"/>
              </a:lnSpc>
              <a:spcBef>
                <a:spcPts val="0"/>
              </a:spcBef>
              <a:spcAft>
                <a:spcPts val="0"/>
              </a:spcAft>
            </a:pPr>
            <a:r>
              <a:rPr sz="1019" b="1">
                <a:solidFill>
                  <a:srgbClr val="536775"/>
                </a:solidFill>
                <a:latin typeface="DejaVu Sans"/>
              </a:rPr>
              <a:t>CLASSIFICATION</a:t>
            </a:r>
          </a:p>
        </p:txBody>
      </p:sp>
      <p:sp>
        <p:nvSpPr>
          <p:cNvPr id="6" name="TextBox 5"/>
          <p:cNvSpPr txBox="1"/>
          <p:nvPr/>
        </p:nvSpPr>
        <p:spPr>
          <a:xfrm>
            <a:off x="3566160" y="1790700"/>
            <a:ext cx="7955280" cy="165811"/>
          </a:xfrm>
          <a:prstGeom prst="rect">
            <a:avLst/>
          </a:prstGeom>
          <a:noFill/>
        </p:spPr>
        <p:txBody>
          <a:bodyPr wrap="none" lIns="0" rIns="0" tIns="0" bIns="0" anchor="t" anchorCtr="0">
            <a:noAutofit/>
          </a:bodyPr>
          <a:lstStyle/>
          <a:p>
            <a:pPr algn="l">
              <a:lnSpc>
                <a:spcPct val="100000"/>
              </a:lnSpc>
              <a:spcBef>
                <a:spcPts val="0"/>
              </a:spcBef>
              <a:spcAft>
                <a:spcPts val="0"/>
              </a:spcAft>
            </a:pPr>
            <a:r>
              <a:rPr sz="1019" b="1">
                <a:solidFill>
                  <a:srgbClr val="536775"/>
                </a:solidFill>
                <a:latin typeface="DejaVu Sans"/>
              </a:rPr>
              <a:t>MODULE-SPECIFIC STATE</a:t>
            </a:r>
          </a:p>
        </p:txBody>
      </p:sp>
      <p:sp>
        <p:nvSpPr>
          <p:cNvPr id="7" name="Rounded Rectangle 6"/>
          <p:cNvSpPr/>
          <p:nvPr/>
        </p:nvSpPr>
        <p:spPr>
          <a:xfrm>
            <a:off x="548640" y="2110740"/>
            <a:ext cx="11094720" cy="815340"/>
          </a:xfrm>
          <a:prstGeom prst="roundRect">
            <a:avLst>
              <a:gd name="adj" fmla="val 5607"/>
            </a:avLst>
          </a:prstGeom>
          <a:solidFill>
            <a:srgbClr val="FFFFFF"/>
          </a:solidFill>
          <a:ln>
            <a:noFill/>
          </a:ln>
          <a:effectLst/>
        </p:spPr>
        <p:txBody>
          <a:bodyPr rtlCol="0" anchor="ctr"/>
          <a:lstStyle/>
          <a:p>
            <a:pPr algn="ctr"/>
          </a:p>
        </p:txBody>
      </p:sp>
      <p:sp>
        <p:nvSpPr>
          <p:cNvPr id="8" name="TextBox 7"/>
          <p:cNvSpPr txBox="1"/>
          <p:nvPr/>
        </p:nvSpPr>
        <p:spPr>
          <a:xfrm>
            <a:off x="670560" y="2240280"/>
            <a:ext cx="26517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REAL / IMPLEMENTED</a:t>
            </a:r>
          </a:p>
        </p:txBody>
      </p:sp>
      <p:sp>
        <p:nvSpPr>
          <p:cNvPr id="9" name="TextBox 8"/>
          <p:cNvSpPr txBox="1"/>
          <p:nvPr/>
        </p:nvSpPr>
        <p:spPr>
          <a:xfrm>
            <a:off x="3566160" y="2240280"/>
            <a:ext cx="795528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SQLite RelationOwner over real local DeTTa; actual authenticated Hive traversal.</a:t>
            </a:r>
          </a:p>
        </p:txBody>
      </p:sp>
      <p:sp>
        <p:nvSpPr>
          <p:cNvPr id="10" name="Rounded Rectangle 9"/>
          <p:cNvSpPr/>
          <p:nvPr/>
        </p:nvSpPr>
        <p:spPr>
          <a:xfrm>
            <a:off x="548640" y="2964179"/>
            <a:ext cx="11094720" cy="815340"/>
          </a:xfrm>
          <a:prstGeom prst="roundRect">
            <a:avLst>
              <a:gd name="adj" fmla="val 5607"/>
            </a:avLst>
          </a:prstGeom>
          <a:solidFill>
            <a:srgbClr val="FFFFFF"/>
          </a:solidFill>
          <a:ln>
            <a:noFill/>
          </a:ln>
          <a:effectLst/>
        </p:spPr>
        <p:txBody>
          <a:bodyPr rtlCol="0" anchor="ctr"/>
          <a:lstStyle/>
          <a:p>
            <a:pPr algn="ctr"/>
          </a:p>
        </p:txBody>
      </p:sp>
      <p:sp>
        <p:nvSpPr>
          <p:cNvPr id="11" name="TextBox 10"/>
          <p:cNvSpPr txBox="1"/>
          <p:nvPr/>
        </p:nvSpPr>
        <p:spPr>
          <a:xfrm>
            <a:off x="670560" y="3093720"/>
            <a:ext cx="26517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FIXTURE / LOCAL TEST</a:t>
            </a:r>
          </a:p>
        </p:txBody>
      </p:sp>
      <p:sp>
        <p:nvSpPr>
          <p:cNvPr id="12" name="TextBox 11"/>
          <p:cNvSpPr txBox="1"/>
          <p:nvPr/>
        </p:nvSpPr>
        <p:spPr>
          <a:xfrm>
            <a:off x="670560" y="3337560"/>
            <a:ext cx="26517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POLICY</a:t>
            </a:r>
          </a:p>
        </p:txBody>
      </p:sp>
      <p:sp>
        <p:nvSpPr>
          <p:cNvPr id="13" name="TextBox 12"/>
          <p:cNvSpPr txBox="1"/>
          <p:nvPr/>
        </p:nvSpPr>
        <p:spPr>
          <a:xfrm>
            <a:off x="3566160" y="3093720"/>
            <a:ext cx="795528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Generated schemas/corpus, malformed responses and injected faults;</a:t>
            </a:r>
          </a:p>
        </p:txBody>
      </p:sp>
      <p:sp>
        <p:nvSpPr>
          <p:cNvPr id="14" name="TextBox 13"/>
          <p:cNvSpPr txBox="1"/>
          <p:nvPr/>
        </p:nvSpPr>
        <p:spPr>
          <a:xfrm>
            <a:off x="3566160" y="3337560"/>
            <a:ext cx="795528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independent storage alternative.</a:t>
            </a:r>
          </a:p>
        </p:txBody>
      </p:sp>
      <p:sp>
        <p:nvSpPr>
          <p:cNvPr id="15" name="Rounded Rectangle 14"/>
          <p:cNvSpPr/>
          <p:nvPr/>
        </p:nvSpPr>
        <p:spPr>
          <a:xfrm>
            <a:off x="548640" y="3817619"/>
            <a:ext cx="11094720" cy="815340"/>
          </a:xfrm>
          <a:prstGeom prst="roundRect">
            <a:avLst>
              <a:gd name="adj" fmla="val 5607"/>
            </a:avLst>
          </a:prstGeom>
          <a:solidFill>
            <a:srgbClr val="FFFFFF"/>
          </a:solidFill>
          <a:ln>
            <a:noFill/>
          </a:ln>
          <a:effectLst/>
        </p:spPr>
        <p:txBody>
          <a:bodyPr rtlCol="0" anchor="ctr"/>
          <a:lstStyle/>
          <a:p>
            <a:pPr algn="ctr"/>
          </a:p>
        </p:txBody>
      </p:sp>
      <p:sp>
        <p:nvSpPr>
          <p:cNvPr id="16" name="TextBox 15"/>
          <p:cNvSpPr txBox="1"/>
          <p:nvPr/>
        </p:nvSpPr>
        <p:spPr>
          <a:xfrm>
            <a:off x="670560" y="3947160"/>
            <a:ext cx="26517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BLOCKED /</a:t>
            </a:r>
          </a:p>
        </p:txBody>
      </p:sp>
      <p:sp>
        <p:nvSpPr>
          <p:cNvPr id="17" name="TextBox 16"/>
          <p:cNvSpPr txBox="1"/>
          <p:nvPr/>
        </p:nvSpPr>
        <p:spPr>
          <a:xfrm>
            <a:off x="670560" y="4191000"/>
            <a:ext cx="26517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UNSUPPORTED</a:t>
            </a:r>
          </a:p>
        </p:txBody>
      </p:sp>
      <p:sp>
        <p:nvSpPr>
          <p:cNvPr id="18" name="TextBox 17"/>
          <p:cNvSpPr txBox="1"/>
          <p:nvPr/>
        </p:nvSpPr>
        <p:spPr>
          <a:xfrm>
            <a:off x="3566160" y="3947160"/>
            <a:ext cx="795528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No required M5 gate blocked; historical tuple Relations declaration is not silently</a:t>
            </a:r>
          </a:p>
        </p:txBody>
      </p:sp>
      <p:sp>
        <p:nvSpPr>
          <p:cNvPr id="19" name="TextBox 18"/>
          <p:cNvSpPr txBox="1"/>
          <p:nvPr/>
        </p:nvSpPr>
        <p:spPr>
          <a:xfrm>
            <a:off x="3566160" y="4191000"/>
            <a:ext cx="795528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upgraded.</a:t>
            </a:r>
          </a:p>
        </p:txBody>
      </p:sp>
      <p:sp>
        <p:nvSpPr>
          <p:cNvPr id="20" name="Rounded Rectangle 19"/>
          <p:cNvSpPr/>
          <p:nvPr/>
        </p:nvSpPr>
        <p:spPr>
          <a:xfrm>
            <a:off x="548640" y="4671060"/>
            <a:ext cx="11094720" cy="815340"/>
          </a:xfrm>
          <a:prstGeom prst="roundRect">
            <a:avLst>
              <a:gd name="adj" fmla="val 5607"/>
            </a:avLst>
          </a:prstGeom>
          <a:solidFill>
            <a:srgbClr val="FFFFFF"/>
          </a:solidFill>
          <a:ln>
            <a:noFill/>
          </a:ln>
          <a:effectLst/>
        </p:spPr>
        <p:txBody>
          <a:bodyPr rtlCol="0" anchor="ctr"/>
          <a:lstStyle/>
          <a:p>
            <a:pPr algn="ctr"/>
          </a:p>
        </p:txBody>
      </p:sp>
      <p:sp>
        <p:nvSpPr>
          <p:cNvPr id="21" name="TextBox 20"/>
          <p:cNvSpPr txBox="1"/>
          <p:nvPr/>
        </p:nvSpPr>
        <p:spPr>
          <a:xfrm>
            <a:off x="670560" y="4800600"/>
            <a:ext cx="26517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UNRUN</a:t>
            </a:r>
          </a:p>
        </p:txBody>
      </p:sp>
      <p:sp>
        <p:nvSpPr>
          <p:cNvPr id="22" name="TextBox 21"/>
          <p:cNvSpPr txBox="1"/>
          <p:nvPr/>
        </p:nvSpPr>
        <p:spPr>
          <a:xfrm>
            <a:off x="3566160" y="4800600"/>
            <a:ext cx="795528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Large graphs, distributed writers, multi-hop query planning, migration and</a:t>
            </a:r>
          </a:p>
        </p:txBody>
      </p:sp>
      <p:sp>
        <p:nvSpPr>
          <p:cNvPr id="23" name="TextBox 22"/>
          <p:cNvSpPr txBox="1"/>
          <p:nvPr/>
        </p:nvSpPr>
        <p:spPr>
          <a:xfrm>
            <a:off x="3566160" y="5044440"/>
            <a:ext cx="795528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graph-database substitution.</a:t>
            </a:r>
          </a:p>
        </p:txBody>
      </p:sp>
      <p:sp>
        <p:nvSpPr>
          <p:cNvPr id="24" name="Rounded Rectangle 23"/>
          <p:cNvSpPr/>
          <p:nvPr/>
        </p:nvSpPr>
        <p:spPr>
          <a:xfrm>
            <a:off x="548640" y="5829300"/>
            <a:ext cx="11094720" cy="403859"/>
          </a:xfrm>
          <a:prstGeom prst="roundRect">
            <a:avLst>
              <a:gd name="adj" fmla="val 15094"/>
            </a:avLst>
          </a:prstGeom>
          <a:solidFill>
            <a:srgbClr val="E7ECEB"/>
          </a:solidFill>
          <a:ln>
            <a:noFill/>
          </a:ln>
          <a:effectLst/>
        </p:spPr>
        <p:txBody>
          <a:bodyPr rtlCol="0" anchor="ctr"/>
          <a:lstStyle/>
          <a:p>
            <a:pPr algn="ctr"/>
          </a:p>
        </p:txBody>
      </p:sp>
      <p:sp>
        <p:nvSpPr>
          <p:cNvPr id="25" name="TextBox 24"/>
          <p:cNvSpPr txBox="1"/>
          <p:nvPr/>
        </p:nvSpPr>
        <p:spPr>
          <a:xfrm>
            <a:off x="716280" y="5905500"/>
            <a:ext cx="1074420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1">
                <a:solidFill>
                  <a:srgbClr val="102B3F"/>
                </a:solidFill>
                <a:latin typeface="DejaVu Sans"/>
              </a:rPr>
              <a:t>M5 final tested runtime: bfb0ec8 · evidence: 3dc6c11 · module representation is not product completeness.</a:t>
            </a:r>
          </a:p>
        </p:txBody>
      </p:sp>
      <p:cxnSp>
        <p:nvCxnSpPr>
          <p:cNvPr id="26" name="Connector 25"/>
          <p:cNvCxnSpPr/>
          <p:nvPr/>
        </p:nvCxnSpPr>
        <p:spPr>
          <a:xfrm>
            <a:off x="548640" y="6393180"/>
            <a:ext cx="11094720" cy="0"/>
          </a:xfrm>
          <a:prstGeom prst="line">
            <a:avLst/>
          </a:prstGeom>
          <a:ln w="7620">
            <a:solidFill>
              <a:srgbClr val="C9D2D4"/>
            </a:solidFill>
          </a:ln>
          <a:effectLst/>
        </p:spPr>
      </p:cxnSp>
      <p:sp>
        <p:nvSpPr>
          <p:cNvPr id="27" name="TextBox 26"/>
          <p:cNvSpPr txBox="1"/>
          <p:nvPr/>
        </p:nvSpPr>
        <p:spPr>
          <a:xfrm>
            <a:off x="548640" y="6499859"/>
            <a:ext cx="9906000" cy="146304"/>
          </a:xfrm>
          <a:prstGeom prst="rect">
            <a:avLst/>
          </a:prstGeom>
          <a:noFill/>
        </p:spPr>
        <p:txBody>
          <a:bodyPr wrap="none" lIns="0" rIns="0" tIns="0" bIns="0" anchor="t" anchorCtr="0">
            <a:noAutofit/>
          </a:bodyPr>
          <a:lstStyle/>
          <a:p>
            <a:pPr algn="l">
              <a:lnSpc>
                <a:spcPct val="100000"/>
              </a:lnSpc>
              <a:spcBef>
                <a:spcPts val="0"/>
              </a:spcBef>
              <a:spcAft>
                <a:spcPts val="0"/>
              </a:spcAft>
            </a:pPr>
            <a:r>
              <a:rPr sz="900" b="0">
                <a:solidFill>
                  <a:srgbClr val="536775"/>
                </a:solidFill>
                <a:latin typeface="DejaVu Sans"/>
              </a:rPr>
              <a:t>OMEGA × ASI / THROUGH M5 / Relations · M5 source bfb0ec8</a:t>
            </a:r>
          </a:p>
        </p:txBody>
      </p:sp>
      <p:sp>
        <p:nvSpPr>
          <p:cNvPr id="28" name="TextBox 27"/>
          <p:cNvSpPr txBox="1"/>
          <p:nvPr/>
        </p:nvSpPr>
        <p:spPr>
          <a:xfrm>
            <a:off x="10744200" y="6469380"/>
            <a:ext cx="9144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Mono"/>
              </a:rPr>
              <a:t>10 / 12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4F2EB"/>
        </a:solidFill>
        <a:effectLst/>
      </p:bgPr>
    </p:bg>
    <p:spTree>
      <p:nvGrpSpPr>
        <p:cNvPr id="1" name=""/>
        <p:cNvGrpSpPr/>
        <p:nvPr/>
      </p:nvGrpSpPr>
      <p:grpSpPr/>
      <p:sp>
        <p:nvSpPr>
          <p:cNvPr id="2" name="TextBox 1"/>
          <p:cNvSpPr txBox="1"/>
          <p:nvPr/>
        </p:nvSpPr>
        <p:spPr>
          <a:xfrm>
            <a:off x="548640" y="327660"/>
            <a:ext cx="108204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1">
                <a:solidFill>
                  <a:srgbClr val="007C78"/>
                </a:solidFill>
                <a:latin typeface="DejaVu Sans"/>
              </a:rPr>
              <a:t>10 / PROPOSED WORK · NOT IMPLEMENTED</a:t>
            </a:r>
          </a:p>
        </p:txBody>
      </p:sp>
      <p:sp>
        <p:nvSpPr>
          <p:cNvPr id="3" name="TextBox 2"/>
          <p:cNvSpPr txBox="1"/>
          <p:nvPr/>
        </p:nvSpPr>
        <p:spPr>
          <a:xfrm>
            <a:off x="533400" y="723900"/>
            <a:ext cx="11125200" cy="507187"/>
          </a:xfrm>
          <a:prstGeom prst="rect">
            <a:avLst/>
          </a:prstGeom>
          <a:noFill/>
        </p:spPr>
        <p:txBody>
          <a:bodyPr wrap="none" lIns="0" rIns="0" tIns="0" bIns="0" anchor="t" anchorCtr="0">
            <a:noAutofit/>
          </a:bodyPr>
          <a:lstStyle/>
          <a:p>
            <a:pPr algn="l">
              <a:lnSpc>
                <a:spcPct val="100000"/>
              </a:lnSpc>
              <a:spcBef>
                <a:spcPts val="0"/>
              </a:spcBef>
              <a:spcAft>
                <a:spcPts val="0"/>
              </a:spcAft>
            </a:pPr>
            <a:r>
              <a:rPr sz="3120" b="1">
                <a:solidFill>
                  <a:srgbClr val="102B3F"/>
                </a:solidFill>
                <a:latin typeface="DejaVu Sans"/>
              </a:rPr>
              <a:t>Future directions need acceptance criteria</a:t>
            </a:r>
          </a:p>
        </p:txBody>
      </p:sp>
      <p:sp>
        <p:nvSpPr>
          <p:cNvPr id="4" name="TextBox 3"/>
          <p:cNvSpPr txBox="1"/>
          <p:nvPr/>
        </p:nvSpPr>
        <p:spPr>
          <a:xfrm>
            <a:off x="556260" y="1257300"/>
            <a:ext cx="110490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These are discussion options, not a committed roadmap or permission to expand the current profile.</a:t>
            </a:r>
          </a:p>
        </p:txBody>
      </p:sp>
      <p:sp>
        <p:nvSpPr>
          <p:cNvPr id="5" name="TextBox 4"/>
          <p:cNvSpPr txBox="1"/>
          <p:nvPr/>
        </p:nvSpPr>
        <p:spPr>
          <a:xfrm>
            <a:off x="670560" y="1790700"/>
            <a:ext cx="2880360" cy="165811"/>
          </a:xfrm>
          <a:prstGeom prst="rect">
            <a:avLst/>
          </a:prstGeom>
          <a:noFill/>
        </p:spPr>
        <p:txBody>
          <a:bodyPr wrap="none" lIns="0" rIns="0" tIns="0" bIns="0" anchor="t" anchorCtr="0">
            <a:noAutofit/>
          </a:bodyPr>
          <a:lstStyle/>
          <a:p>
            <a:pPr algn="l">
              <a:lnSpc>
                <a:spcPct val="100000"/>
              </a:lnSpc>
              <a:spcBef>
                <a:spcPts val="0"/>
              </a:spcBef>
              <a:spcAft>
                <a:spcPts val="0"/>
              </a:spcAft>
            </a:pPr>
            <a:r>
              <a:rPr sz="1019" b="1">
                <a:solidFill>
                  <a:srgbClr val="536775"/>
                </a:solidFill>
                <a:latin typeface="DejaVu Sans"/>
              </a:rPr>
              <a:t>DIRECTION</a:t>
            </a:r>
          </a:p>
        </p:txBody>
      </p:sp>
      <p:sp>
        <p:nvSpPr>
          <p:cNvPr id="6" name="TextBox 5"/>
          <p:cNvSpPr txBox="1"/>
          <p:nvPr/>
        </p:nvSpPr>
        <p:spPr>
          <a:xfrm>
            <a:off x="3794760" y="1790700"/>
            <a:ext cx="3870960" cy="165811"/>
          </a:xfrm>
          <a:prstGeom prst="rect">
            <a:avLst/>
          </a:prstGeom>
          <a:noFill/>
        </p:spPr>
        <p:txBody>
          <a:bodyPr wrap="none" lIns="0" rIns="0" tIns="0" bIns="0" anchor="t" anchorCtr="0">
            <a:noAutofit/>
          </a:bodyPr>
          <a:lstStyle/>
          <a:p>
            <a:pPr algn="l">
              <a:lnSpc>
                <a:spcPct val="100000"/>
              </a:lnSpc>
              <a:spcBef>
                <a:spcPts val="0"/>
              </a:spcBef>
              <a:spcAft>
                <a:spcPts val="0"/>
              </a:spcAft>
            </a:pPr>
            <a:r>
              <a:rPr sz="1019" b="1">
                <a:solidFill>
                  <a:srgbClr val="536775"/>
                </a:solidFill>
                <a:latin typeface="DejaVu Sans"/>
              </a:rPr>
              <a:t>PREREQUISITE / DESIGN GATE</a:t>
            </a:r>
          </a:p>
        </p:txBody>
      </p:sp>
      <p:sp>
        <p:nvSpPr>
          <p:cNvPr id="7" name="TextBox 6"/>
          <p:cNvSpPr txBox="1"/>
          <p:nvPr/>
        </p:nvSpPr>
        <p:spPr>
          <a:xfrm>
            <a:off x="7909559" y="1790700"/>
            <a:ext cx="3611879" cy="165811"/>
          </a:xfrm>
          <a:prstGeom prst="rect">
            <a:avLst/>
          </a:prstGeom>
          <a:noFill/>
        </p:spPr>
        <p:txBody>
          <a:bodyPr wrap="none" lIns="0" rIns="0" tIns="0" bIns="0" anchor="t" anchorCtr="0">
            <a:noAutofit/>
          </a:bodyPr>
          <a:lstStyle/>
          <a:p>
            <a:pPr algn="l">
              <a:lnSpc>
                <a:spcPct val="100000"/>
              </a:lnSpc>
              <a:spcBef>
                <a:spcPts val="0"/>
              </a:spcBef>
              <a:spcAft>
                <a:spcPts val="0"/>
              </a:spcAft>
            </a:pPr>
            <a:r>
              <a:rPr sz="1019" b="1">
                <a:solidFill>
                  <a:srgbClr val="536775"/>
                </a:solidFill>
                <a:latin typeface="DejaVu Sans"/>
              </a:rPr>
              <a:t>MEASURE OF SUCCESS</a:t>
            </a:r>
          </a:p>
        </p:txBody>
      </p:sp>
      <p:sp>
        <p:nvSpPr>
          <p:cNvPr id="8" name="Rounded Rectangle 7"/>
          <p:cNvSpPr/>
          <p:nvPr/>
        </p:nvSpPr>
        <p:spPr>
          <a:xfrm>
            <a:off x="548640" y="2110740"/>
            <a:ext cx="11094720" cy="1059180"/>
          </a:xfrm>
          <a:prstGeom prst="roundRect">
            <a:avLst>
              <a:gd name="adj" fmla="val 4316"/>
            </a:avLst>
          </a:prstGeom>
          <a:solidFill>
            <a:srgbClr val="FFFFFF"/>
          </a:solidFill>
          <a:ln>
            <a:noFill/>
          </a:ln>
          <a:effectLst/>
        </p:spPr>
        <p:txBody>
          <a:bodyPr rtlCol="0" anchor="ctr"/>
          <a:lstStyle/>
          <a:p>
            <a:pPr algn="ctr"/>
          </a:p>
        </p:txBody>
      </p:sp>
      <p:sp>
        <p:nvSpPr>
          <p:cNvPr id="9" name="TextBox 8"/>
          <p:cNvSpPr txBox="1"/>
          <p:nvPr/>
        </p:nvSpPr>
        <p:spPr>
          <a:xfrm>
            <a:off x="670560" y="2240280"/>
            <a:ext cx="28803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Extend schema vocabulary</a:t>
            </a:r>
          </a:p>
        </p:txBody>
      </p:sp>
      <p:sp>
        <p:nvSpPr>
          <p:cNvPr id="10" name="TextBox 9"/>
          <p:cNvSpPr txBox="1"/>
          <p:nvPr/>
        </p:nvSpPr>
        <p:spPr>
          <a:xfrm>
            <a:off x="3794760" y="2240280"/>
            <a:ext cx="38709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Versioned role semantics and negative</a:t>
            </a:r>
          </a:p>
        </p:txBody>
      </p:sp>
      <p:sp>
        <p:nvSpPr>
          <p:cNvPr id="11" name="TextBox 10"/>
          <p:cNvSpPr txBox="1"/>
          <p:nvPr/>
        </p:nvSpPr>
        <p:spPr>
          <a:xfrm>
            <a:off x="3794760" y="2484120"/>
            <a:ext cx="38709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tests</a:t>
            </a:r>
          </a:p>
        </p:txBody>
      </p:sp>
      <p:sp>
        <p:nvSpPr>
          <p:cNvPr id="12" name="TextBox 11"/>
          <p:cNvSpPr txBox="1"/>
          <p:nvPr/>
        </p:nvSpPr>
        <p:spPr>
          <a:xfrm>
            <a:off x="7909559" y="2240280"/>
            <a:ext cx="36118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No ambiguous direction or structural</a:t>
            </a:r>
          </a:p>
        </p:txBody>
      </p:sp>
      <p:sp>
        <p:nvSpPr>
          <p:cNvPr id="13" name="TextBox 12"/>
          <p:cNvSpPr txBox="1"/>
          <p:nvPr/>
        </p:nvSpPr>
        <p:spPr>
          <a:xfrm>
            <a:off x="7909559" y="2484120"/>
            <a:ext cx="36118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identity</a:t>
            </a:r>
          </a:p>
        </p:txBody>
      </p:sp>
      <p:sp>
        <p:nvSpPr>
          <p:cNvPr id="14" name="Rounded Rectangle 13"/>
          <p:cNvSpPr/>
          <p:nvPr/>
        </p:nvSpPr>
        <p:spPr>
          <a:xfrm>
            <a:off x="548640" y="3208020"/>
            <a:ext cx="11094720" cy="1059180"/>
          </a:xfrm>
          <a:prstGeom prst="roundRect">
            <a:avLst>
              <a:gd name="adj" fmla="val 4316"/>
            </a:avLst>
          </a:prstGeom>
          <a:solidFill>
            <a:srgbClr val="FFFFFF"/>
          </a:solidFill>
          <a:ln>
            <a:noFill/>
          </a:ln>
          <a:effectLst/>
        </p:spPr>
        <p:txBody>
          <a:bodyPr rtlCol="0" anchor="ctr"/>
          <a:lstStyle/>
          <a:p>
            <a:pPr algn="ctr"/>
          </a:p>
        </p:txBody>
      </p:sp>
      <p:sp>
        <p:nvSpPr>
          <p:cNvPr id="15" name="TextBox 14"/>
          <p:cNvSpPr txBox="1"/>
          <p:nvPr/>
        </p:nvSpPr>
        <p:spPr>
          <a:xfrm>
            <a:off x="670560" y="3337560"/>
            <a:ext cx="28803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Measure fan-out costs</a:t>
            </a:r>
          </a:p>
        </p:txBody>
      </p:sp>
      <p:sp>
        <p:nvSpPr>
          <p:cNvPr id="16" name="TextBox 15"/>
          <p:cNvSpPr txBox="1"/>
          <p:nvPr/>
        </p:nvSpPr>
        <p:spPr>
          <a:xfrm>
            <a:off x="3794760" y="3337560"/>
            <a:ext cx="38709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Controlled degree/arity/page matrix</a:t>
            </a:r>
          </a:p>
        </p:txBody>
      </p:sp>
      <p:sp>
        <p:nvSpPr>
          <p:cNvPr id="17" name="TextBox 16"/>
          <p:cNvSpPr txBox="1"/>
          <p:nvPr/>
        </p:nvSpPr>
        <p:spPr>
          <a:xfrm>
            <a:off x="7909559" y="3337560"/>
            <a:ext cx="36118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Stable pagination with bounded</a:t>
            </a:r>
          </a:p>
        </p:txBody>
      </p:sp>
      <p:sp>
        <p:nvSpPr>
          <p:cNvPr id="18" name="TextBox 17"/>
          <p:cNvSpPr txBox="1"/>
          <p:nvPr/>
        </p:nvSpPr>
        <p:spPr>
          <a:xfrm>
            <a:off x="7909559" y="3581400"/>
            <a:ext cx="36118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memory</a:t>
            </a:r>
          </a:p>
        </p:txBody>
      </p:sp>
      <p:sp>
        <p:nvSpPr>
          <p:cNvPr id="19" name="Rounded Rectangle 18"/>
          <p:cNvSpPr/>
          <p:nvPr/>
        </p:nvSpPr>
        <p:spPr>
          <a:xfrm>
            <a:off x="548640" y="4305300"/>
            <a:ext cx="11094720" cy="1059180"/>
          </a:xfrm>
          <a:prstGeom prst="roundRect">
            <a:avLst>
              <a:gd name="adj" fmla="val 4316"/>
            </a:avLst>
          </a:prstGeom>
          <a:solidFill>
            <a:srgbClr val="FFFFFF"/>
          </a:solidFill>
          <a:ln>
            <a:noFill/>
          </a:ln>
          <a:effectLst/>
        </p:spPr>
        <p:txBody>
          <a:bodyPr rtlCol="0" anchor="ctr"/>
          <a:lstStyle/>
          <a:p>
            <a:pPr algn="ctr"/>
          </a:p>
        </p:txBody>
      </p:sp>
      <p:sp>
        <p:nvSpPr>
          <p:cNvPr id="20" name="TextBox 19"/>
          <p:cNvSpPr txBox="1"/>
          <p:nvPr/>
        </p:nvSpPr>
        <p:spPr>
          <a:xfrm>
            <a:off x="670560" y="4434840"/>
            <a:ext cx="28803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Explore a second provider</a:t>
            </a:r>
          </a:p>
        </p:txBody>
      </p:sp>
      <p:sp>
        <p:nvSpPr>
          <p:cNvPr id="21" name="TextBox 20"/>
          <p:cNvSpPr txBox="1"/>
          <p:nvPr/>
        </p:nvSpPr>
        <p:spPr>
          <a:xfrm>
            <a:off x="3794760" y="4434840"/>
            <a:ext cx="38709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Independent accepted-state</a:t>
            </a:r>
          </a:p>
        </p:txBody>
      </p:sp>
      <p:sp>
        <p:nvSpPr>
          <p:cNvPr id="22" name="TextBox 21"/>
          <p:cNvSpPr txBox="1"/>
          <p:nvPr/>
        </p:nvSpPr>
        <p:spPr>
          <a:xfrm>
            <a:off x="3794760" y="4678680"/>
            <a:ext cx="38709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implementation</a:t>
            </a:r>
          </a:p>
        </p:txBody>
      </p:sp>
      <p:sp>
        <p:nvSpPr>
          <p:cNvPr id="23" name="TextBox 22"/>
          <p:cNvSpPr txBox="1"/>
          <p:nvPr/>
        </p:nvSpPr>
        <p:spPr>
          <a:xfrm>
            <a:off x="7909559" y="4434840"/>
            <a:ext cx="36118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Same contract outcomes through</a:t>
            </a:r>
          </a:p>
        </p:txBody>
      </p:sp>
      <p:sp>
        <p:nvSpPr>
          <p:cNvPr id="24" name="TextBox 23"/>
          <p:cNvSpPr txBox="1"/>
          <p:nvPr/>
        </p:nvSpPr>
        <p:spPr>
          <a:xfrm>
            <a:off x="7909559" y="4678680"/>
            <a:ext cx="36118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unchanged consumer</a:t>
            </a:r>
          </a:p>
        </p:txBody>
      </p:sp>
      <p:sp>
        <p:nvSpPr>
          <p:cNvPr id="25" name="Rounded Rectangle 24"/>
          <p:cNvSpPr/>
          <p:nvPr/>
        </p:nvSpPr>
        <p:spPr>
          <a:xfrm>
            <a:off x="548640" y="5829300"/>
            <a:ext cx="11094720" cy="403859"/>
          </a:xfrm>
          <a:prstGeom prst="roundRect">
            <a:avLst>
              <a:gd name="adj" fmla="val 15094"/>
            </a:avLst>
          </a:prstGeom>
          <a:solidFill>
            <a:srgbClr val="E7ECEB"/>
          </a:solidFill>
          <a:ln>
            <a:noFill/>
          </a:ln>
          <a:effectLst/>
        </p:spPr>
        <p:txBody>
          <a:bodyPr rtlCol="0" anchor="ctr"/>
          <a:lstStyle/>
          <a:p>
            <a:pPr algn="ctr"/>
          </a:p>
        </p:txBody>
      </p:sp>
      <p:sp>
        <p:nvSpPr>
          <p:cNvPr id="26" name="TextBox 25"/>
          <p:cNvSpPr txBox="1"/>
          <p:nvPr/>
        </p:nvSpPr>
        <p:spPr>
          <a:xfrm>
            <a:off x="716280" y="5905500"/>
            <a:ext cx="107442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1">
                <a:solidFill>
                  <a:srgbClr val="102B3F"/>
                </a:solidFill>
                <a:latin typeface="DejaVu Sans"/>
              </a:rPr>
              <a:t>Keep ownership, current authorization and explicit compatibility intact; qualify new semantics with a new profile.</a:t>
            </a:r>
          </a:p>
        </p:txBody>
      </p:sp>
      <p:cxnSp>
        <p:nvCxnSpPr>
          <p:cNvPr id="27" name="Connector 26"/>
          <p:cNvCxnSpPr/>
          <p:nvPr/>
        </p:nvCxnSpPr>
        <p:spPr>
          <a:xfrm>
            <a:off x="548640" y="6393180"/>
            <a:ext cx="11094720" cy="0"/>
          </a:xfrm>
          <a:prstGeom prst="line">
            <a:avLst/>
          </a:prstGeom>
          <a:ln w="7620">
            <a:solidFill>
              <a:srgbClr val="C9D2D4"/>
            </a:solidFill>
          </a:ln>
          <a:effectLst/>
        </p:spPr>
      </p:cxnSp>
      <p:sp>
        <p:nvSpPr>
          <p:cNvPr id="28" name="TextBox 27"/>
          <p:cNvSpPr txBox="1"/>
          <p:nvPr/>
        </p:nvSpPr>
        <p:spPr>
          <a:xfrm>
            <a:off x="548640" y="6499859"/>
            <a:ext cx="9906000" cy="146304"/>
          </a:xfrm>
          <a:prstGeom prst="rect">
            <a:avLst/>
          </a:prstGeom>
          <a:noFill/>
        </p:spPr>
        <p:txBody>
          <a:bodyPr wrap="none" lIns="0" rIns="0" tIns="0" bIns="0" anchor="t" anchorCtr="0">
            <a:noAutofit/>
          </a:bodyPr>
          <a:lstStyle/>
          <a:p>
            <a:pPr algn="l">
              <a:lnSpc>
                <a:spcPct val="100000"/>
              </a:lnSpc>
              <a:spcBef>
                <a:spcPts val="0"/>
              </a:spcBef>
              <a:spcAft>
                <a:spcPts val="0"/>
              </a:spcAft>
            </a:pPr>
            <a:r>
              <a:rPr sz="900" b="0">
                <a:solidFill>
                  <a:srgbClr val="536775"/>
                </a:solidFill>
                <a:latin typeface="DejaVu Sans"/>
              </a:rPr>
              <a:t>OMEGA × ASI / THROUGH M5 / Relations · M5 source bfb0ec8</a:t>
            </a:r>
          </a:p>
        </p:txBody>
      </p:sp>
      <p:sp>
        <p:nvSpPr>
          <p:cNvPr id="29" name="TextBox 28"/>
          <p:cNvSpPr txBox="1"/>
          <p:nvPr/>
        </p:nvSpPr>
        <p:spPr>
          <a:xfrm>
            <a:off x="10744200" y="6469380"/>
            <a:ext cx="9144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Mono"/>
              </a:rPr>
              <a:t>11 / 12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4F2EB"/>
        </a:solidFill>
        <a:effectLst/>
      </p:bgPr>
    </p:bg>
    <p:spTree>
      <p:nvGrpSpPr>
        <p:cNvPr id="1" name=""/>
        <p:cNvGrpSpPr/>
        <p:nvPr/>
      </p:nvGrpSpPr>
      <p:grpSpPr/>
      <p:sp>
        <p:nvSpPr>
          <p:cNvPr id="2" name="TextBox 1"/>
          <p:cNvSpPr txBox="1"/>
          <p:nvPr/>
        </p:nvSpPr>
        <p:spPr>
          <a:xfrm>
            <a:off x="548640" y="327660"/>
            <a:ext cx="108204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1">
                <a:solidFill>
                  <a:srgbClr val="007C78"/>
                </a:solidFill>
                <a:latin typeface="DejaVu Sans"/>
              </a:rPr>
              <a:t>11 / SOURCES AND TAKEAWAY</a:t>
            </a:r>
          </a:p>
        </p:txBody>
      </p:sp>
      <p:sp>
        <p:nvSpPr>
          <p:cNvPr id="3" name="TextBox 2"/>
          <p:cNvSpPr txBox="1"/>
          <p:nvPr/>
        </p:nvSpPr>
        <p:spPr>
          <a:xfrm>
            <a:off x="533400" y="723900"/>
            <a:ext cx="11125200" cy="507187"/>
          </a:xfrm>
          <a:prstGeom prst="rect">
            <a:avLst/>
          </a:prstGeom>
          <a:noFill/>
        </p:spPr>
        <p:txBody>
          <a:bodyPr wrap="none" lIns="0" rIns="0" tIns="0" bIns="0" anchor="t" anchorCtr="0">
            <a:noAutofit/>
          </a:bodyPr>
          <a:lstStyle/>
          <a:p>
            <a:pPr algn="l">
              <a:lnSpc>
                <a:spcPct val="100000"/>
              </a:lnSpc>
              <a:spcBef>
                <a:spcPts val="0"/>
              </a:spcBef>
              <a:spcAft>
                <a:spcPts val="0"/>
              </a:spcAft>
            </a:pPr>
            <a:r>
              <a:rPr sz="3120" b="1">
                <a:solidFill>
                  <a:srgbClr val="102B3F"/>
                </a:solidFill>
                <a:latin typeface="DejaVu Sans"/>
              </a:rPr>
              <a:t>Evidence you can inspect and reproduce</a:t>
            </a:r>
          </a:p>
        </p:txBody>
      </p:sp>
      <p:sp>
        <p:nvSpPr>
          <p:cNvPr id="4" name="TextBox 3"/>
          <p:cNvSpPr txBox="1"/>
          <p:nvPr/>
        </p:nvSpPr>
        <p:spPr>
          <a:xfrm>
            <a:off x="556260" y="1257300"/>
            <a:ext cx="110490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Read the exact code, contracts and recorded run before treating a claim as a guarantee.</a:t>
            </a:r>
          </a:p>
        </p:txBody>
      </p:sp>
      <p:sp>
        <p:nvSpPr>
          <p:cNvPr id="5" name="Rounded Rectangle 4"/>
          <p:cNvSpPr/>
          <p:nvPr/>
        </p:nvSpPr>
        <p:spPr>
          <a:xfrm>
            <a:off x="548640" y="1783080"/>
            <a:ext cx="11094720" cy="853440"/>
          </a:xfrm>
          <a:prstGeom prst="roundRect">
            <a:avLst>
              <a:gd name="adj" fmla="val 11607"/>
            </a:avLst>
          </a:prstGeom>
          <a:solidFill>
            <a:srgbClr val="E4EBF5"/>
          </a:solidFill>
          <a:ln w="7620">
            <a:solidFill>
              <a:srgbClr val="315E9C"/>
            </a:solidFill>
          </a:ln>
          <a:effectLst/>
        </p:spPr>
        <p:txBody>
          <a:bodyPr rtlCol="0" anchor="ctr"/>
          <a:lstStyle/>
          <a:p>
            <a:pPr algn="ctr"/>
          </a:p>
        </p:txBody>
      </p:sp>
      <p:sp>
        <p:nvSpPr>
          <p:cNvPr id="6" name="TextBox 5"/>
          <p:cNvSpPr txBox="1"/>
          <p:nvPr/>
        </p:nvSpPr>
        <p:spPr>
          <a:xfrm>
            <a:off x="716280" y="1950720"/>
            <a:ext cx="1075944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1">
                <a:solidFill>
                  <a:srgbClr val="315E9C"/>
                </a:solidFill>
                <a:latin typeface="DejaVu Sans"/>
              </a:rPr>
              <a:t>Takeaway</a:t>
            </a:r>
          </a:p>
        </p:txBody>
      </p:sp>
      <p:sp>
        <p:nvSpPr>
          <p:cNvPr id="7" name="TextBox 6"/>
          <p:cNvSpPr txBox="1"/>
          <p:nvPr/>
        </p:nvSpPr>
        <p:spPr>
          <a:xfrm>
            <a:off x="716280" y="2300020"/>
            <a:ext cx="1075944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0">
                <a:solidFill>
                  <a:srgbClr val="536775"/>
                </a:solidFill>
                <a:latin typeface="DejaVu Sans"/>
              </a:rPr>
              <a:t>A relation becomes visible when its owner accepts it.</a:t>
            </a:r>
          </a:p>
        </p:txBody>
      </p:sp>
      <p:sp>
        <p:nvSpPr>
          <p:cNvPr id="8" name="TextBox 7"/>
          <p:cNvSpPr txBox="1"/>
          <p:nvPr/>
        </p:nvSpPr>
        <p:spPr>
          <a:xfrm>
            <a:off x="609600" y="2819400"/>
            <a:ext cx="10972800" cy="175564"/>
          </a:xfrm>
          <a:prstGeom prst="rect">
            <a:avLst/>
          </a:prstGeom>
          <a:noFill/>
        </p:spPr>
        <p:txBody>
          <a:bodyPr wrap="none" lIns="0" rIns="0" tIns="0" bIns="0" anchor="t" anchorCtr="0">
            <a:noAutofit/>
          </a:bodyPr>
          <a:lstStyle/>
          <a:p>
            <a:pPr algn="l">
              <a:lnSpc>
                <a:spcPct val="100000"/>
              </a:lnSpc>
              <a:spcBef>
                <a:spcPts val="0"/>
              </a:spcBef>
              <a:spcAft>
                <a:spcPts val="0"/>
              </a:spcAft>
            </a:pPr>
            <a:r>
              <a:rPr sz="1080" b="1">
                <a:solidFill>
                  <a:srgbClr val="536775"/>
                </a:solidFill>
                <a:latin typeface="DejaVu Sans"/>
              </a:rPr>
              <a:t>SUPPORTED REPRODUCTION ENTRYPOINT · PREREQUISITES REQUIRED</a:t>
            </a:r>
          </a:p>
        </p:txBody>
      </p:sp>
      <p:sp>
        <p:nvSpPr>
          <p:cNvPr id="9" name="TextBox 8"/>
          <p:cNvSpPr txBox="1"/>
          <p:nvPr/>
        </p:nvSpPr>
        <p:spPr>
          <a:xfrm>
            <a:off x="609600" y="3124200"/>
            <a:ext cx="109347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0">
                <a:solidFill>
                  <a:srgbClr val="102B3F"/>
                </a:solidFill>
                <a:latin typeface="DejaVu Sans Mono"/>
              </a:rPr>
              <a:t>uv run --python 3.11 --locked python scripts/verify_m5.py --environment &lt;env&gt; --chain-build &lt;chain&gt;</a:t>
            </a:r>
          </a:p>
        </p:txBody>
      </p:sp>
      <p:sp>
        <p:nvSpPr>
          <p:cNvPr id="10" name="TextBox 9"/>
          <p:cNvSpPr txBox="1"/>
          <p:nvPr/>
        </p:nvSpPr>
        <p:spPr>
          <a:xfrm>
            <a:off x="609600" y="3358286"/>
            <a:ext cx="109347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0">
                <a:solidFill>
                  <a:srgbClr val="102B3F"/>
                </a:solidFill>
                <a:latin typeface="DejaVu Sans Mono"/>
              </a:rPr>
              <a:t>--output &lt;fresh&gt;</a:t>
            </a:r>
          </a:p>
        </p:txBody>
      </p:sp>
      <p:sp>
        <p:nvSpPr>
          <p:cNvPr id="11" name="TextBox 10"/>
          <p:cNvSpPr txBox="1"/>
          <p:nvPr/>
        </p:nvSpPr>
        <p:spPr>
          <a:xfrm>
            <a:off x="609600" y="3726179"/>
            <a:ext cx="108966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The all-gates run separates fixtures, real storage, native Hive and legacy regressions. Keep generated private</a:t>
            </a:r>
          </a:p>
        </p:txBody>
      </p:sp>
      <p:sp>
        <p:nvSpPr>
          <p:cNvPr id="12" name="TextBox 11"/>
          <p:cNvSpPr txBox="1"/>
          <p:nvPr/>
        </p:nvSpPr>
        <p:spPr>
          <a:xfrm>
            <a:off x="609600" y="3970019"/>
            <a:ext cx="108966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corpus and journals private.</a:t>
            </a:r>
          </a:p>
        </p:txBody>
      </p:sp>
      <p:sp>
        <p:nvSpPr>
          <p:cNvPr id="13" name="TextBox 12"/>
          <p:cNvSpPr txBox="1"/>
          <p:nvPr/>
        </p:nvSpPr>
        <p:spPr>
          <a:xfrm>
            <a:off x="609600" y="4716780"/>
            <a:ext cx="109347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315E9C"/>
                </a:solidFill>
                <a:latin typeface="DejaVu Sans Mono"/>
              </a:rPr>
              <a:t>fusion/relations.py</a:t>
            </a:r>
          </a:p>
        </p:txBody>
      </p:sp>
      <p:sp>
        <p:nvSpPr>
          <p:cNvPr id="14" name="TextBox 13"/>
          <p:cNvSpPr txBox="1"/>
          <p:nvPr/>
        </p:nvSpPr>
        <p:spPr>
          <a:xfrm>
            <a:off x="609600" y="4968240"/>
            <a:ext cx="109347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315E9C"/>
                </a:solidFill>
                <a:latin typeface="DejaVu Sans Mono"/>
              </a:rPr>
              <a:t>fusion/lookup_contracts.py</a:t>
            </a:r>
          </a:p>
        </p:txBody>
      </p:sp>
      <p:sp>
        <p:nvSpPr>
          <p:cNvPr id="15" name="TextBox 14"/>
          <p:cNvSpPr txBox="1"/>
          <p:nvPr/>
        </p:nvSpPr>
        <p:spPr>
          <a:xfrm>
            <a:off x="609600" y="5219700"/>
            <a:ext cx="109347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315E9C"/>
                </a:solidFill>
                <a:latin typeface="DejaVu Sans Mono"/>
              </a:rPr>
              <a:t>fusion/lookup.py</a:t>
            </a:r>
          </a:p>
        </p:txBody>
      </p:sp>
      <p:sp>
        <p:nvSpPr>
          <p:cNvPr id="16" name="TextBox 15"/>
          <p:cNvSpPr txBox="1"/>
          <p:nvPr/>
        </p:nvSpPr>
        <p:spPr>
          <a:xfrm>
            <a:off x="609600" y="5471160"/>
            <a:ext cx="109347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315E9C"/>
                </a:solidFill>
                <a:latin typeface="DejaVu Sans Mono"/>
              </a:rPr>
              <a:t>tests/test_m5.py</a:t>
            </a:r>
          </a:p>
        </p:txBody>
      </p:sp>
      <p:sp>
        <p:nvSpPr>
          <p:cNvPr id="17" name="TextBox 16"/>
          <p:cNvSpPr txBox="1"/>
          <p:nvPr/>
        </p:nvSpPr>
        <p:spPr>
          <a:xfrm>
            <a:off x="609600" y="5867400"/>
            <a:ext cx="108966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0">
                <a:solidFill>
                  <a:srgbClr val="536775"/>
                </a:solidFill>
                <a:latin typeface="DejaVu Sans"/>
              </a:rPr>
              <a:t>Source 494df69a1ac401c3d3b2cf79dbfde07f74b5e277 · all citations and full notes accompany this deck.</a:t>
            </a:r>
          </a:p>
        </p:txBody>
      </p:sp>
      <p:cxnSp>
        <p:nvCxnSpPr>
          <p:cNvPr id="18" name="Connector 17"/>
          <p:cNvCxnSpPr/>
          <p:nvPr/>
        </p:nvCxnSpPr>
        <p:spPr>
          <a:xfrm>
            <a:off x="548640" y="6393180"/>
            <a:ext cx="11094720" cy="0"/>
          </a:xfrm>
          <a:prstGeom prst="line">
            <a:avLst/>
          </a:prstGeom>
          <a:ln w="7620">
            <a:solidFill>
              <a:srgbClr val="C9D2D4"/>
            </a:solidFill>
          </a:ln>
          <a:effectLst/>
        </p:spPr>
      </p:cxnSp>
      <p:sp>
        <p:nvSpPr>
          <p:cNvPr id="19" name="TextBox 18"/>
          <p:cNvSpPr txBox="1"/>
          <p:nvPr/>
        </p:nvSpPr>
        <p:spPr>
          <a:xfrm>
            <a:off x="548640" y="6499859"/>
            <a:ext cx="9906000" cy="146304"/>
          </a:xfrm>
          <a:prstGeom prst="rect">
            <a:avLst/>
          </a:prstGeom>
          <a:noFill/>
        </p:spPr>
        <p:txBody>
          <a:bodyPr wrap="none" lIns="0" rIns="0" tIns="0" bIns="0" anchor="t" anchorCtr="0">
            <a:noAutofit/>
          </a:bodyPr>
          <a:lstStyle/>
          <a:p>
            <a:pPr algn="l">
              <a:lnSpc>
                <a:spcPct val="100000"/>
              </a:lnSpc>
              <a:spcBef>
                <a:spcPts val="0"/>
              </a:spcBef>
              <a:spcAft>
                <a:spcPts val="0"/>
              </a:spcAft>
            </a:pPr>
            <a:r>
              <a:rPr sz="900" b="0">
                <a:solidFill>
                  <a:srgbClr val="536775"/>
                </a:solidFill>
                <a:latin typeface="DejaVu Sans"/>
              </a:rPr>
              <a:t>OMEGA × ASI / THROUGH M5 / Relations · M5 source bfb0ec8</a:t>
            </a:r>
          </a:p>
        </p:txBody>
      </p:sp>
      <p:sp>
        <p:nvSpPr>
          <p:cNvPr id="20" name="TextBox 19"/>
          <p:cNvSpPr txBox="1"/>
          <p:nvPr/>
        </p:nvSpPr>
        <p:spPr>
          <a:xfrm>
            <a:off x="10744200" y="6469380"/>
            <a:ext cx="9144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Mono"/>
              </a:rPr>
              <a:t>12 / 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Omega × ASI — Relations</dc:title>
  <dc:subject>Accept schema-bound ordered relations, preserve semantic identity and expose bounded incidence pages.</dc:subject>
  <dc:creator>Omega × ASI module-interface project</dc:creator>
  <cp:keywords>Omega, ASI, M5, ELI16, Relations</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