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Bind authenticated principals to current operation/scope/route requirements and private selected contexts. Replay, cached receipts and provider selection must not bypass current scope, method, route or approval policy. Identity must come from trusted authentication. Do not treat the analogy as an additional experiment. This is a standalone talk about one responsibility, not a claim that every module is a separate service or repository.</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Authorization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Hive supplies trusted actor context; operator configuration maps it to scoped Fusion authority. User fields, descriptor names and reference hashes do not confer permission. Policy is explicitly local test policy.</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Hive supplies trusted actor context; operator configuration maps it to scoped Fusion authority. User fields, descriptor names and reference hashes do not confer permission. Policy is explicitly local test policy. The left node is a caller or caller class; the right nodes distinguish foreign ports, pure helpers, local state and runtime internals. There is no implied shared transaction. No sender field, scope name or parameter bundle can grant itself authority.</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Current policy configuration: Credentials, grants, routes, origin mappings and selected contexts. No business-effect journal: Each domain owner checks authority around its own effects and replay. Caller-selected identity: No sender field, scope name or parameter bundle can grant itself authority. Production identity system: No claim of remote attestation, secrecy from administrators or full IAM. Explicit compatibility: local-test-policy/1; private authority/selection ports; exact M4 approval constraints. Limits: Trusted local host/operator; directory placement is not encryption or administrator secrecy.</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authenticate: Validate credential; derive registered principal; Trusted transport, not user body identity. check / authorize: Require current scope and operation grant; Recheck cached replay and sensitive owner commits. route: Validate scope and route owner; Only owner polls/acks; worker route checked. Private selection / approval: Bind profile, placement and exact eligible result; Descriptor consistency is separate from permission.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Authenticate: Hive supplies actor and command from native context. 2. Bind privately: Operator mapping selects scope, credential and provider. 3. Revoke: Policy changes while an intent is pending. 4. Replay refuses: Saved success does not bypass current authority. Evidence classification: REAL Hive authentication · explicitly local operator policy and generated grants. Do not infer performance, broad production readiness or extra runtime integrations from this example.</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Trusted identity source: The request body never overrides authenticated principal. Current authority: Replay is not an authorization cache. Least owner access: Scope/method/route checks remain at declared boundaries. Private-by-placement: Public receipts/log parameters avoid private values and identifying hashes. The supporting tests and runtime evidence are in the linked sources; this slide does not claim a formal proof or a production security audit.</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Worker permission revoked before restart: Recheck at work/recovery; no unauthorized result success. Legacy worker-revocation tests. Route revoked after job completion: Retain outbox until authorized delivery can proceed. No dropped completion. Private/chain approval changed before replay: Reject altered selection or ineligible intent. Current checks and exact-result refusal tests.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4 Worker-revocation matrix cases: Two storage providers × two bindings, historical focused recheck. LIVE Policy read on current checks: Implementation behavior; no cached grant. NO SLO Production authorization benchmark: Security properties require adversarial validation, not only speed. Current evidence is refusal, revocation, canary/privacy and trusted-identity testing. No production attack audit, authorization latency distribution or remote security certification exists. Proposed: measure authenticate/check/route p50/p95 across policy size and revocation churn; pair every timing run with unauthorized/replay/identity-spoof refusal checks. No new benchmark is executed for this presentation. Do not compare overlapping suite times or use a one-run workflow measurement as a latency percentile.</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Authenticated native Hive dispatch and executed current-policy checks in local owners. Fixture: Local test credentials/grants/routes, operator mappings, canaries and malformed requests. Blocked or unsupported: No required supported gate blocked; absent grants or revoked access are deliberate denials. Unrun: Production IAM, adversarial host compromise, remote attestation, distributed revocation and security audit. All required M5 gates passed in the recorded final run, including legacy M1–M4 behavior; this presentation does not rerun those integrations. Human maintainers remain unassigned.</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Harden identity integration requires Explicit production threat model and trust roots; success means No body-field impersonation or stale-grant replay. Measure revocation behavior requires Controlled churn with concurrent reads/retries; success means Denial timing and false-acceptance checks together. Add audit views carefully requires Authorized redacted event policy; success means Explain denials without leaking private data or credentials. No new cognition, scheduler, migration or chain capability is implemented by this series. Any changed numerical semantics, placement or replay lifetime requires separate design and verification rather than a presentation claim.</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 valid old receipt can still require a current denial. The reproduction entrypoint is uv run --python 3.11 --locked python scripts/verify_m5.py --environment &lt;env&gt; --chain-build &lt;chain&gt; --output &lt;fresh&gt;. The complete supported regression covers current authority across legacy and new lookup paths. Native authentication and local policy remain separately labelled.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[policy.py](https://github.com/machieke/fusion-module-interfaces/blob/494df69a1ac401c3d3b2cf79dbfde07f74b5e277/fusion/policy.py), [private.py](https://github.com/machieke/fusion-module-interfaces/blob/494df69a1ac401c3d3b2cf79dbfde07f74b5e277/fusion/private.py), [service.py](https://github.com/machieke/fusion-module-interfaces/blob/494df69a1ac401c3d3b2cf79dbfde07f74b5e277/fusion/service.py), [test_m11.py](https://github.com/machieke/fusion-module-interfaces/blob/494df69a1ac401c3d3b2cf79dbfde07f74b5e277/tests/test_m11.py), [test_m2.py](https://github.com/machieke/fusion-module-interfaces/blob/494df69a1ac401c3d3b2cf79dbfde07f74b5e277/tests/test_m2.py), [test_m5_integration.py](https://github.com/machieke/fusion-module-interfaces/blob/494df69a1ac401c3d3b2cf79dbfde07f74b5e277/integration/hive/test_m5_integration.py), [m1_1-evidence.md](https://github.com/machieke/fusion-module-interfaces/blob/494df69a1ac401c3d3b2cf79dbfde07f74b5e277/docs/module-interfaces/m1_1-evidence.md).</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Authorization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Authorization</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Trust the caller context.</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Recheck authority on replay.</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venue badge checked at each controlled door: a past entry receipt does not restore</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permission after the badge is revoked.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Replay, cached receipts and provider selection must not bypass current scope,</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method, route or approval policy. Identity must come from trusted authentication.</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Authorization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315E9C"/>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Bind authenticated principals to current operation/scope/route requirements and private selected</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contexts.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Native/wire</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bindings and every</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state owner</a:t>
            </a:r>
          </a:p>
        </p:txBody>
      </p:sp>
      <p:sp>
        <p:nvSpPr>
          <p:cNvPr id="9" name="TextBox 8"/>
          <p:cNvSpPr txBox="1"/>
          <p:nvPr/>
        </p:nvSpPr>
        <p:spPr>
          <a:xfrm>
            <a:off x="716280" y="3546043"/>
            <a:ext cx="2522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authenticate · authorize/check</a:t>
            </a:r>
          </a:p>
        </p:txBody>
      </p:sp>
      <p:sp>
        <p:nvSpPr>
          <p:cNvPr id="10" name="TextBox 9"/>
          <p:cNvSpPr txBox="1"/>
          <p:nvPr/>
        </p:nvSpPr>
        <p:spPr>
          <a:xfrm>
            <a:off x="716280" y="3750868"/>
            <a:ext cx="2522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 route · selection</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Authorization</a:t>
            </a:r>
          </a:p>
        </p:txBody>
      </p:sp>
      <p:sp>
        <p:nvSpPr>
          <p:cNvPr id="13" name="TextBox 12"/>
          <p:cNvSpPr txBox="1"/>
          <p:nvPr/>
        </p:nvSpPr>
        <p:spPr>
          <a:xfrm>
            <a:off x="4396740" y="3019348"/>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Bind authenticated principals to</a:t>
            </a:r>
          </a:p>
        </p:txBody>
      </p:sp>
      <p:sp>
        <p:nvSpPr>
          <p:cNvPr id="14" name="TextBox 13"/>
          <p:cNvSpPr txBox="1"/>
          <p:nvPr/>
        </p:nvSpPr>
        <p:spPr>
          <a:xfrm>
            <a:off x="4396740" y="3243681"/>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current operation/scope/route</a:t>
            </a:r>
          </a:p>
        </p:txBody>
      </p:sp>
      <p:sp>
        <p:nvSpPr>
          <p:cNvPr id="15" name="TextBox 14"/>
          <p:cNvSpPr txBox="1"/>
          <p:nvPr/>
        </p:nvSpPr>
        <p:spPr>
          <a:xfrm>
            <a:off x="4396740" y="3468014"/>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requirements and private</a:t>
            </a:r>
          </a:p>
        </p:txBody>
      </p:sp>
      <p:sp>
        <p:nvSpPr>
          <p:cNvPr id="16" name="TextBox 15"/>
          <p:cNvSpPr txBox="1"/>
          <p:nvPr/>
        </p:nvSpPr>
        <p:spPr>
          <a:xfrm>
            <a:off x="4396740" y="369234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selected contexts.</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2148840"/>
            <a:ext cx="29032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315E9C"/>
                </a:solidFill>
                <a:latin typeface="DejaVu Sans"/>
              </a:rPr>
              <a:t>Trusted transport context</a:t>
            </a:r>
          </a:p>
        </p:txBody>
      </p:sp>
      <p:sp>
        <p:nvSpPr>
          <p:cNvPr id="21" name="TextBox 20"/>
          <p:cNvSpPr txBox="1"/>
          <p:nvPr/>
        </p:nvSpPr>
        <p:spPr>
          <a:xfrm>
            <a:off x="8572500" y="2478633"/>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Credential or authenticated Hive</a:t>
            </a:r>
          </a:p>
        </p:txBody>
      </p:sp>
      <p:sp>
        <p:nvSpPr>
          <p:cNvPr id="22" name="TextBox 21"/>
          <p:cNvSpPr txBox="1"/>
          <p:nvPr/>
        </p:nvSpPr>
        <p:spPr>
          <a:xfrm>
            <a:off x="8572500" y="2683459"/>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actor/command</a:t>
            </a:r>
          </a:p>
        </p:txBody>
      </p:sp>
      <p:cxnSp>
        <p:nvCxnSpPr>
          <p:cNvPr id="23" name="Connector 22"/>
          <p:cNvCxnSpPr/>
          <p:nvPr/>
        </p:nvCxnSpPr>
        <p:spPr>
          <a:xfrm>
            <a:off x="7467600" y="3284219"/>
            <a:ext cx="426720" cy="0"/>
          </a:xfrm>
          <a:prstGeom prst="line">
            <a:avLst/>
          </a:prstGeom>
          <a:ln w="15240">
            <a:solidFill>
              <a:srgbClr val="315E9C"/>
            </a:solidFill>
          </a:ln>
          <a:effectLst/>
        </p:spPr>
      </p:cxnSp>
      <p:cxnSp>
        <p:nvCxnSpPr>
          <p:cNvPr id="24" name="Connector 23"/>
          <p:cNvCxnSpPr/>
          <p:nvPr/>
        </p:nvCxnSpPr>
        <p:spPr>
          <a:xfrm flipV="1">
            <a:off x="7894320" y="2484120"/>
            <a:ext cx="0" cy="800099"/>
          </a:xfrm>
          <a:prstGeom prst="line">
            <a:avLst/>
          </a:prstGeom>
          <a:ln w="15240">
            <a:solidFill>
              <a:srgbClr val="315E9C"/>
            </a:solidFill>
          </a:ln>
          <a:effectLst/>
        </p:spPr>
      </p:cxnSp>
      <p:cxnSp>
        <p:nvCxnSpPr>
          <p:cNvPr id="25" name="Connector 24"/>
          <p:cNvCxnSpPr/>
          <p:nvPr/>
        </p:nvCxnSpPr>
        <p:spPr>
          <a:xfrm>
            <a:off x="7894320" y="2484120"/>
            <a:ext cx="510540" cy="0"/>
          </a:xfrm>
          <a:prstGeom prst="line">
            <a:avLst/>
          </a:prstGeom>
          <a:ln w="15240">
            <a:solidFill>
              <a:srgbClr val="315E9C"/>
            </a:solidFill>
          </a:ln>
          <a:effectLst/>
        </p:spPr>
      </p:cxnSp>
      <p:sp>
        <p:nvSpPr>
          <p:cNvPr id="26" name="Freeform 25"/>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8572500" y="3345179"/>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315E9C"/>
                </a:solidFill>
                <a:latin typeface="DejaVu Sans"/>
              </a:rPr>
              <a:t>Operator-owned live policy</a:t>
            </a:r>
          </a:p>
        </p:txBody>
      </p:sp>
      <p:sp>
        <p:nvSpPr>
          <p:cNvPr id="29" name="TextBox 28"/>
          <p:cNvSpPr txBox="1"/>
          <p:nvPr/>
        </p:nvSpPr>
        <p:spPr>
          <a:xfrm>
            <a:off x="8572500" y="3655466"/>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Scope/method grants, routes and</a:t>
            </a:r>
          </a:p>
        </p:txBody>
      </p:sp>
      <p:sp>
        <p:nvSpPr>
          <p:cNvPr id="30" name="TextBox 29"/>
          <p:cNvSpPr txBox="1"/>
          <p:nvPr/>
        </p:nvSpPr>
        <p:spPr>
          <a:xfrm>
            <a:off x="8572500" y="3860291"/>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private placement</a:t>
            </a:r>
          </a:p>
        </p:txBody>
      </p:sp>
      <p:cxnSp>
        <p:nvCxnSpPr>
          <p:cNvPr id="31" name="Connector 30"/>
          <p:cNvCxnSpPr/>
          <p:nvPr/>
        </p:nvCxnSpPr>
        <p:spPr>
          <a:xfrm>
            <a:off x="7467600" y="3284219"/>
            <a:ext cx="426720" cy="0"/>
          </a:xfrm>
          <a:prstGeom prst="line">
            <a:avLst/>
          </a:prstGeom>
          <a:ln w="15240">
            <a:solidFill>
              <a:srgbClr val="315E9C"/>
            </a:solidFill>
          </a:ln>
          <a:effectLst/>
        </p:spPr>
      </p:cxnSp>
      <p:cxnSp>
        <p:nvCxnSpPr>
          <p:cNvPr id="32" name="Connector 31"/>
          <p:cNvCxnSpPr/>
          <p:nvPr/>
        </p:nvCxnSpPr>
        <p:spPr>
          <a:xfrm>
            <a:off x="7894320" y="3284219"/>
            <a:ext cx="0" cy="396241"/>
          </a:xfrm>
          <a:prstGeom prst="line">
            <a:avLst/>
          </a:prstGeom>
          <a:ln w="15240">
            <a:solidFill>
              <a:srgbClr val="315E9C"/>
            </a:solidFill>
          </a:ln>
          <a:effectLst/>
        </p:spPr>
      </p:cxnSp>
      <p:cxnSp>
        <p:nvCxnSpPr>
          <p:cNvPr id="33" name="Connector 32"/>
          <p:cNvCxnSpPr/>
          <p:nvPr/>
        </p:nvCxnSpPr>
        <p:spPr>
          <a:xfrm>
            <a:off x="7894320" y="3680460"/>
            <a:ext cx="510540" cy="0"/>
          </a:xfrm>
          <a:prstGeom prst="line">
            <a:avLst/>
          </a:prstGeom>
          <a:ln w="15240">
            <a:solidFill>
              <a:srgbClr val="315E9C"/>
            </a:solidFill>
          </a:ln>
          <a:effectLst/>
        </p:spPr>
      </p:cxnSp>
      <p:sp>
        <p:nvSpPr>
          <p:cNvPr id="34" name="Freeform 33"/>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5" name="Rounded Rectangle 34"/>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6" name="TextBox 35"/>
          <p:cNvSpPr txBox="1"/>
          <p:nvPr/>
        </p:nvSpPr>
        <p:spPr>
          <a:xfrm>
            <a:off x="8572500" y="4541520"/>
            <a:ext cx="2903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315E9C"/>
                </a:solidFill>
                <a:latin typeface="DejaVu Sans"/>
              </a:rPr>
              <a:t>Registered exact approval</a:t>
            </a:r>
          </a:p>
        </p:txBody>
      </p:sp>
      <p:sp>
        <p:nvSpPr>
          <p:cNvPr id="37" name="TextBox 36"/>
          <p:cNvSpPr txBox="1"/>
          <p:nvPr/>
        </p:nvSpPr>
        <p:spPr>
          <a:xfrm>
            <a:off x="8572500" y="4861560"/>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Additional M4</a:t>
            </a:r>
          </a:p>
        </p:txBody>
      </p:sp>
      <p:sp>
        <p:nvSpPr>
          <p:cNvPr id="38" name="TextBox 37"/>
          <p:cNvSpPr txBox="1"/>
          <p:nvPr/>
        </p:nvSpPr>
        <p:spPr>
          <a:xfrm>
            <a:off x="8572500" y="506638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result/destination/signer constraints</a:t>
            </a:r>
          </a:p>
        </p:txBody>
      </p:sp>
      <p:cxnSp>
        <p:nvCxnSpPr>
          <p:cNvPr id="39" name="Connector 38"/>
          <p:cNvCxnSpPr/>
          <p:nvPr/>
        </p:nvCxnSpPr>
        <p:spPr>
          <a:xfrm>
            <a:off x="7467600" y="3284219"/>
            <a:ext cx="426720" cy="0"/>
          </a:xfrm>
          <a:prstGeom prst="line">
            <a:avLst/>
          </a:prstGeom>
          <a:ln w="15240">
            <a:solidFill>
              <a:srgbClr val="315E9C"/>
            </a:solidFill>
          </a:ln>
          <a:effectLst/>
        </p:spPr>
      </p:cxnSp>
      <p:cxnSp>
        <p:nvCxnSpPr>
          <p:cNvPr id="40" name="Connector 39"/>
          <p:cNvCxnSpPr/>
          <p:nvPr/>
        </p:nvCxnSpPr>
        <p:spPr>
          <a:xfrm>
            <a:off x="7894320" y="3284219"/>
            <a:ext cx="0" cy="1592581"/>
          </a:xfrm>
          <a:prstGeom prst="line">
            <a:avLst/>
          </a:prstGeom>
          <a:ln w="15240">
            <a:solidFill>
              <a:srgbClr val="315E9C"/>
            </a:solidFill>
          </a:ln>
          <a:effectLst/>
        </p:spPr>
      </p:cxnSp>
      <p:cxnSp>
        <p:nvCxnSpPr>
          <p:cNvPr id="41" name="Connector 40"/>
          <p:cNvCxnSpPr/>
          <p:nvPr/>
        </p:nvCxnSpPr>
        <p:spPr>
          <a:xfrm>
            <a:off x="7894320" y="4876800"/>
            <a:ext cx="510540" cy="0"/>
          </a:xfrm>
          <a:prstGeom prst="line">
            <a:avLst/>
          </a:prstGeom>
          <a:ln w="15240">
            <a:solidFill>
              <a:srgbClr val="315E9C"/>
            </a:solidFill>
          </a:ln>
          <a:effectLst/>
        </p:spPr>
      </p:cxnSp>
      <p:sp>
        <p:nvSpPr>
          <p:cNvPr id="42" name="Freeform 41"/>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3" name="Rounded Rectangle 4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4" name="TextBox 4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Current policy configuration</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Credentials, grants, routes, origin mappings and</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selected contexts</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No business-effect journal</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Each domain owner checks authority around its</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own effects and replay</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Caller-selected identity</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sender field, scope name or parameter bundle</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can grant itself authority</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Production identity system</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claim of remote attestation, secrecy from</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administrators or full IAM</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local-test-policy/1; private authority/selection ports; exact M4 approval constraints</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authenticate</a:t>
            </a:r>
          </a:p>
        </p:txBody>
      </p:sp>
      <p:sp>
        <p:nvSpPr>
          <p:cNvPr id="10" name="TextBox 9"/>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credential; derive registered</a:t>
            </a:r>
          </a:p>
        </p:txBody>
      </p:sp>
      <p:sp>
        <p:nvSpPr>
          <p:cNvPr id="11" name="TextBox 10"/>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principal</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Trusted transport, not user body</a:t>
            </a:r>
          </a:p>
        </p:txBody>
      </p:sp>
      <p:sp>
        <p:nvSpPr>
          <p:cNvPr id="13" name="TextBox 12"/>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identity</a:t>
            </a:r>
          </a:p>
        </p:txBody>
      </p:sp>
      <p:sp>
        <p:nvSpPr>
          <p:cNvPr id="14" name="Rounded Rectangle 13"/>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5" name="TextBox 14"/>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check / authorize</a:t>
            </a:r>
          </a:p>
        </p:txBody>
      </p:sp>
      <p:sp>
        <p:nvSpPr>
          <p:cNvPr id="16" name="TextBox 15"/>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Require current scope and operation</a:t>
            </a:r>
          </a:p>
        </p:txBody>
      </p:sp>
      <p:sp>
        <p:nvSpPr>
          <p:cNvPr id="17" name="TextBox 16"/>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grant</a:t>
            </a:r>
          </a:p>
        </p:txBody>
      </p:sp>
      <p:sp>
        <p:nvSpPr>
          <p:cNvPr id="18" name="TextBox 17"/>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Recheck cached replay and sensitive</a:t>
            </a:r>
          </a:p>
        </p:txBody>
      </p:sp>
      <p:sp>
        <p:nvSpPr>
          <p:cNvPr id="19" name="TextBox 18"/>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owner commits</a:t>
            </a:r>
          </a:p>
        </p:txBody>
      </p:sp>
      <p:sp>
        <p:nvSpPr>
          <p:cNvPr id="20" name="Rounded Rectangle 19"/>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1" name="TextBox 20"/>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route</a:t>
            </a:r>
          </a:p>
        </p:txBody>
      </p:sp>
      <p:sp>
        <p:nvSpPr>
          <p:cNvPr id="22" name="TextBox 21"/>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Validate scope and route owner</a:t>
            </a:r>
          </a:p>
        </p:txBody>
      </p:sp>
      <p:sp>
        <p:nvSpPr>
          <p:cNvPr id="23" name="TextBox 22"/>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Only owner polls/acks; worker route</a:t>
            </a:r>
          </a:p>
        </p:txBody>
      </p:sp>
      <p:sp>
        <p:nvSpPr>
          <p:cNvPr id="24" name="TextBox 23"/>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checked</a:t>
            </a:r>
          </a:p>
        </p:txBody>
      </p:sp>
      <p:sp>
        <p:nvSpPr>
          <p:cNvPr id="25" name="Rounded Rectangle 24"/>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6" name="TextBox 25"/>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Private selection /</a:t>
            </a:r>
          </a:p>
        </p:txBody>
      </p:sp>
      <p:sp>
        <p:nvSpPr>
          <p:cNvPr id="27" name="TextBox 26"/>
          <p:cNvSpPr txBox="1"/>
          <p:nvPr/>
        </p:nvSpPr>
        <p:spPr>
          <a:xfrm>
            <a:off x="670560" y="4975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approval</a:t>
            </a:r>
          </a:p>
        </p:txBody>
      </p:sp>
      <p:sp>
        <p:nvSpPr>
          <p:cNvPr id="28" name="TextBox 27"/>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Bind profile, placement and exact</a:t>
            </a:r>
          </a:p>
        </p:txBody>
      </p:sp>
      <p:sp>
        <p:nvSpPr>
          <p:cNvPr id="29" name="TextBox 28"/>
          <p:cNvSpPr txBox="1"/>
          <p:nvPr/>
        </p:nvSpPr>
        <p:spPr>
          <a:xfrm>
            <a:off x="3718560" y="4975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eligible result</a:t>
            </a:r>
          </a:p>
        </p:txBody>
      </p:sp>
      <p:sp>
        <p:nvSpPr>
          <p:cNvPr id="30" name="TextBox 29"/>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Descriptor consistency is separate</a:t>
            </a:r>
          </a:p>
        </p:txBody>
      </p:sp>
      <p:sp>
        <p:nvSpPr>
          <p:cNvPr id="31" name="TextBox 30"/>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from permission</a:t>
            </a:r>
          </a:p>
        </p:txBody>
      </p:sp>
      <p:sp>
        <p:nvSpPr>
          <p:cNvPr id="32" name="Rounded Rectangle 3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3" name="TextBox 3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Trusted local host/operator; directory placement is not encryption or administrator secrecy.</a:t>
            </a:r>
          </a:p>
        </p:txBody>
      </p:sp>
      <p:cxnSp>
        <p:nvCxnSpPr>
          <p:cNvPr id="34" name="Connector 33"/>
          <p:cNvCxnSpPr/>
          <p:nvPr/>
        </p:nvCxnSpPr>
        <p:spPr>
          <a:xfrm>
            <a:off x="548640" y="6393180"/>
            <a:ext cx="11094720" cy="0"/>
          </a:xfrm>
          <a:prstGeom prst="line">
            <a:avLst/>
          </a:prstGeom>
          <a:ln w="7620">
            <a:solidFill>
              <a:srgbClr val="C9D2D4"/>
            </a:solidFill>
          </a:ln>
          <a:effectLst/>
        </p:spPr>
      </p:cxnSp>
      <p:sp>
        <p:nvSpPr>
          <p:cNvPr id="35" name="TextBox 3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36" name="TextBox 3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 Hive authentication · explicitly local operator policy and generated grants</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Authenticate</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Hive supplies actor</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and command from</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native context.</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Bind privately</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Operator mapping</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selects scope,</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credential and</a:t>
            </a:r>
          </a:p>
        </p:txBody>
      </p:sp>
      <p:sp>
        <p:nvSpPr>
          <p:cNvPr id="19" name="TextBox 18"/>
          <p:cNvSpPr txBox="1"/>
          <p:nvPr/>
        </p:nvSpPr>
        <p:spPr>
          <a:xfrm>
            <a:off x="3535679" y="3613404"/>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provider.</a:t>
            </a:r>
          </a:p>
        </p:txBody>
      </p:sp>
      <p:cxnSp>
        <p:nvCxnSpPr>
          <p:cNvPr id="20" name="Connector 19"/>
          <p:cNvCxnSpPr/>
          <p:nvPr/>
        </p:nvCxnSpPr>
        <p:spPr>
          <a:xfrm>
            <a:off x="6004559" y="3238500"/>
            <a:ext cx="182881" cy="0"/>
          </a:xfrm>
          <a:prstGeom prst="line">
            <a:avLst/>
          </a:prstGeom>
          <a:ln w="15240">
            <a:solidFill>
              <a:srgbClr val="315E9C"/>
            </a:solidFill>
          </a:ln>
          <a:effectLst/>
        </p:spPr>
      </p:cxnSp>
      <p:sp>
        <p:nvSpPr>
          <p:cNvPr id="21" name="Freeform 20"/>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2" name="Rounded Rectangle 21"/>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3" name="TextBox 22"/>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4" name="TextBox 23"/>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Revoke</a:t>
            </a:r>
          </a:p>
        </p:txBody>
      </p:sp>
      <p:sp>
        <p:nvSpPr>
          <p:cNvPr id="25" name="TextBox 24"/>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Policy changes while</a:t>
            </a:r>
          </a:p>
        </p:txBody>
      </p:sp>
      <p:sp>
        <p:nvSpPr>
          <p:cNvPr id="26" name="TextBox 25"/>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 intent is pending.</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Replay refuses</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Saved success does</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not bypass current</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authority.</a:t>
            </a:r>
          </a:p>
        </p:txBody>
      </p:sp>
      <p:sp>
        <p:nvSpPr>
          <p:cNvPr id="35" name="Rounded Rectangle 34"/>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valid old receipt can still require a current denial.</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Trusted identity source</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request body never overrides authenticated</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principal.</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Current authority</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Replay is not an authorization cache.</a:t>
            </a:r>
          </a:p>
        </p:txBody>
      </p:sp>
      <p:sp>
        <p:nvSpPr>
          <p:cNvPr id="14" name="Rounded Rectangle 13"/>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5" name="TextBox 14"/>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6" name="TextBox 15"/>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Least owner access</a:t>
            </a:r>
          </a:p>
        </p:txBody>
      </p:sp>
      <p:sp>
        <p:nvSpPr>
          <p:cNvPr id="17" name="TextBox 16"/>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Scope/method/route checks remain at declared</a:t>
            </a:r>
          </a:p>
        </p:txBody>
      </p:sp>
      <p:sp>
        <p:nvSpPr>
          <p:cNvPr id="18" name="TextBox 17"/>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boundaries.</a:t>
            </a:r>
          </a:p>
        </p:txBody>
      </p:sp>
      <p:sp>
        <p:nvSpPr>
          <p:cNvPr id="19" name="Rounded Rectangle 18"/>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1" name="TextBox 20"/>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Private-by-placement</a:t>
            </a:r>
          </a:p>
        </p:txBody>
      </p:sp>
      <p:sp>
        <p:nvSpPr>
          <p:cNvPr id="22" name="TextBox 21"/>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Public receipts/log parameters avoid private</a:t>
            </a:r>
          </a:p>
        </p:txBody>
      </p:sp>
      <p:sp>
        <p:nvSpPr>
          <p:cNvPr id="23" name="TextBox 22"/>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values and identifying hashes.</a:t>
            </a:r>
          </a:p>
        </p:txBody>
      </p:sp>
      <p:cxnSp>
        <p:nvCxnSpPr>
          <p:cNvPr id="24" name="Connector 23"/>
          <p:cNvCxnSpPr/>
          <p:nvPr/>
        </p:nvCxnSpPr>
        <p:spPr>
          <a:xfrm>
            <a:off x="548640" y="6393180"/>
            <a:ext cx="11094720" cy="0"/>
          </a:xfrm>
          <a:prstGeom prst="line">
            <a:avLst/>
          </a:prstGeom>
          <a:ln w="7620">
            <a:solidFill>
              <a:srgbClr val="C9D2D4"/>
            </a:solidFill>
          </a:ln>
          <a:effectLst/>
        </p:spPr>
      </p:cxnSp>
      <p:sp>
        <p:nvSpPr>
          <p:cNvPr id="25" name="TextBox 2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26" name="TextBox 2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Worker permission revoked</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before restart</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Recheck at work/recovery; no unauthorized</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result success.</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Legacy worker-revocation</a:t>
            </a:r>
          </a:p>
        </p:txBody>
      </p:sp>
      <p:sp>
        <p:nvSpPr>
          <p:cNvPr id="14" name="TextBox 13"/>
          <p:cNvSpPr txBox="1"/>
          <p:nvPr/>
        </p:nvSpPr>
        <p:spPr>
          <a:xfrm>
            <a:off x="8595360" y="24841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tests</a:t>
            </a:r>
          </a:p>
        </p:txBody>
      </p:sp>
      <p:sp>
        <p:nvSpPr>
          <p:cNvPr id="15" name="Rounded Rectangle 14"/>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6" name="TextBox 15"/>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Route revoked after job</a:t>
            </a:r>
          </a:p>
        </p:txBody>
      </p:sp>
      <p:sp>
        <p:nvSpPr>
          <p:cNvPr id="17" name="TextBox 16"/>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completion</a:t>
            </a:r>
          </a:p>
        </p:txBody>
      </p:sp>
      <p:sp>
        <p:nvSpPr>
          <p:cNvPr id="18" name="TextBox 17"/>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Retain outbox until authorized delivery can</a:t>
            </a:r>
          </a:p>
        </p:txBody>
      </p:sp>
      <p:sp>
        <p:nvSpPr>
          <p:cNvPr id="19" name="TextBox 18"/>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proceed.</a:t>
            </a:r>
          </a:p>
        </p:txBody>
      </p:sp>
      <p:sp>
        <p:nvSpPr>
          <p:cNvPr id="20" name="TextBox 19"/>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dropped completion</a:t>
            </a:r>
          </a:p>
        </p:txBody>
      </p:sp>
      <p:sp>
        <p:nvSpPr>
          <p:cNvPr id="21" name="Rounded Rectangle 20"/>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2" name="TextBox 21"/>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Private/chain approval</a:t>
            </a:r>
          </a:p>
        </p:txBody>
      </p:sp>
      <p:sp>
        <p:nvSpPr>
          <p:cNvPr id="23" name="TextBox 22"/>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changed before replay</a:t>
            </a:r>
          </a:p>
        </p:txBody>
      </p:sp>
      <p:sp>
        <p:nvSpPr>
          <p:cNvPr id="24" name="TextBox 23"/>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 altered selection or ineligible intent.</a:t>
            </a:r>
          </a:p>
        </p:txBody>
      </p:sp>
      <p:sp>
        <p:nvSpPr>
          <p:cNvPr id="25" name="TextBox 24"/>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checks and</a:t>
            </a:r>
          </a:p>
        </p:txBody>
      </p:sp>
      <p:sp>
        <p:nvSpPr>
          <p:cNvPr id="26" name="TextBox 25"/>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exact-result refusal tests</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4</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Worker-revocation matrix</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cases</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Two storage providers × two</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bindings, historical focused recheck</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LIVE</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Policy read on current</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checks</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Implementation behavior; no cached</a:t>
            </a:r>
          </a:p>
        </p:txBody>
      </p:sp>
      <p:sp>
        <p:nvSpPr>
          <p:cNvPr id="16" name="TextBox 15"/>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grant</a:t>
            </a:r>
          </a:p>
        </p:txBody>
      </p:sp>
      <p:sp>
        <p:nvSpPr>
          <p:cNvPr id="17" name="Rounded Rectangle 16"/>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8" name="TextBox 17"/>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NO SLO</a:t>
            </a:r>
          </a:p>
        </p:txBody>
      </p:sp>
      <p:sp>
        <p:nvSpPr>
          <p:cNvPr id="19" name="TextBox 18"/>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Production authorization</a:t>
            </a:r>
          </a:p>
        </p:txBody>
      </p:sp>
      <p:sp>
        <p:nvSpPr>
          <p:cNvPr id="20" name="TextBox 19"/>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benchmark</a:t>
            </a:r>
          </a:p>
        </p:txBody>
      </p:sp>
      <p:sp>
        <p:nvSpPr>
          <p:cNvPr id="21" name="TextBox 20"/>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Security properties require</a:t>
            </a:r>
          </a:p>
        </p:txBody>
      </p:sp>
      <p:sp>
        <p:nvSpPr>
          <p:cNvPr id="22" name="TextBox 21"/>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adversarial validation, not only speed</a:t>
            </a:r>
          </a:p>
        </p:txBody>
      </p:sp>
      <p:sp>
        <p:nvSpPr>
          <p:cNvPr id="23" name="TextBox 22"/>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evidence is refusal, revocation, canary/privacy and trusted-identity testing. No production attack audit,</a:t>
            </a:r>
          </a:p>
        </p:txBody>
      </p:sp>
      <p:sp>
        <p:nvSpPr>
          <p:cNvPr id="24" name="TextBox 23"/>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authorization latency distribution or remote security certification exists.</a:t>
            </a:r>
          </a:p>
        </p:txBody>
      </p:sp>
      <p:sp>
        <p:nvSpPr>
          <p:cNvPr id="25" name="Rounded Rectangle 24"/>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6" name="TextBox 25"/>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7" name="TextBox 26"/>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measure authenticate/check/route p50/p95 across policy size and revocation churn; pair every timing run</a:t>
            </a:r>
          </a:p>
        </p:txBody>
      </p:sp>
      <p:sp>
        <p:nvSpPr>
          <p:cNvPr id="28" name="TextBox 27"/>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with unauthorized/replay/identity-spoof refusal checks.</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Authenticated native Hive dispatch and executed current-policy checks in local</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owners.</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Local test credentials/grants/routes, operator mappings, canaries and malformed</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requests.</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supported gate blocked; absent grants or revoked access are</a:t>
            </a:r>
          </a:p>
        </p:txBody>
      </p:sp>
      <p:sp>
        <p:nvSpPr>
          <p:cNvPr id="20" name="TextBox 19"/>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deliberate denials.</a:t>
            </a:r>
          </a:p>
        </p:txBody>
      </p:sp>
      <p:sp>
        <p:nvSpPr>
          <p:cNvPr id="21" name="Rounded Rectangle 20"/>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2" name="TextBox 21"/>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3" name="TextBox 22"/>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Production IAM, adversarial host compromise, remote attestation, distributed</a:t>
            </a:r>
          </a:p>
        </p:txBody>
      </p:sp>
      <p:sp>
        <p:nvSpPr>
          <p:cNvPr id="24" name="TextBox 23"/>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revocation and security audit.</a:t>
            </a:r>
          </a:p>
        </p:txBody>
      </p:sp>
      <p:sp>
        <p:nvSpPr>
          <p:cNvPr id="25" name="Rounded Rectangle 2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6" name="TextBox 2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Harden identity</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integration</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production threat model and</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trust roots</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body-field impersonation or</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stale-grant replay</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revocation</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behavior</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Controlled churn with concurrent</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reads/retries</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Denial timing and false-acceptance</a:t>
            </a:r>
          </a:p>
        </p:txBody>
      </p:sp>
      <p:sp>
        <p:nvSpPr>
          <p:cNvPr id="21" name="TextBox 20"/>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checks together</a:t>
            </a:r>
          </a:p>
        </p:txBody>
      </p:sp>
      <p:sp>
        <p:nvSpPr>
          <p:cNvPr id="22" name="Rounded Rectangle 21"/>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3" name="TextBox 22"/>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Add audit views carefully</a:t>
            </a:r>
          </a:p>
        </p:txBody>
      </p:sp>
      <p:sp>
        <p:nvSpPr>
          <p:cNvPr id="24" name="TextBox 23"/>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Authorized redacted event policy</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Explain denials without leaking</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private data or credentials</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 valid old receipt can still require a current denial.</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scripts/verify_m5.py --environment &lt;env&gt; --chain-build &lt;chain&gt;</a:t>
            </a:r>
          </a:p>
        </p:txBody>
      </p:sp>
      <p:sp>
        <p:nvSpPr>
          <p:cNvPr id="10" name="TextBox 9"/>
          <p:cNvSpPr txBox="1"/>
          <p:nvPr/>
        </p:nvSpPr>
        <p:spPr>
          <a:xfrm>
            <a:off x="609600" y="3358286"/>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--output &lt;fresh&gt;</a:t>
            </a:r>
          </a:p>
        </p:txBody>
      </p:sp>
      <p:sp>
        <p:nvSpPr>
          <p:cNvPr id="11" name="TextBox 10"/>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complete supported regression covers current authority across legacy and new lookup paths. Native</a:t>
            </a:r>
          </a:p>
        </p:txBody>
      </p:sp>
      <p:sp>
        <p:nvSpPr>
          <p:cNvPr id="12" name="TextBox 11"/>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authentication and local policy remain separately labelled.</a:t>
            </a:r>
          </a:p>
        </p:txBody>
      </p:sp>
      <p:sp>
        <p:nvSpPr>
          <p:cNvPr id="13" name="TextBox 12"/>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fusion/policy.py</a:t>
            </a:r>
          </a:p>
        </p:txBody>
      </p:sp>
      <p:sp>
        <p:nvSpPr>
          <p:cNvPr id="14" name="TextBox 13"/>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fusion/private.py</a:t>
            </a:r>
          </a:p>
        </p:txBody>
      </p:sp>
      <p:sp>
        <p:nvSpPr>
          <p:cNvPr id="15" name="TextBox 14"/>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fusion/service.py</a:t>
            </a:r>
          </a:p>
        </p:txBody>
      </p:sp>
      <p:sp>
        <p:nvSpPr>
          <p:cNvPr id="16" name="TextBox 15"/>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tests/test_m11.py</a:t>
            </a:r>
          </a:p>
        </p:txBody>
      </p:sp>
      <p:sp>
        <p:nvSpPr>
          <p:cNvPr id="17" name="TextBox 16"/>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8" name="Connector 17"/>
          <p:cNvCxnSpPr/>
          <p:nvPr/>
        </p:nvCxnSpPr>
        <p:spPr>
          <a:xfrm>
            <a:off x="548640" y="6393180"/>
            <a:ext cx="11094720" cy="0"/>
          </a:xfrm>
          <a:prstGeom prst="line">
            <a:avLst/>
          </a:prstGeom>
          <a:ln w="7620">
            <a:solidFill>
              <a:srgbClr val="C9D2D4"/>
            </a:solidFill>
          </a:ln>
          <a:effectLst/>
        </p:spPr>
      </p:cxnSp>
      <p:sp>
        <p:nvSpPr>
          <p:cNvPr id="19" name="TextBox 1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Authorization · M5 source bfb0ec8</a:t>
            </a:r>
          </a:p>
        </p:txBody>
      </p:sp>
      <p:sp>
        <p:nvSpPr>
          <p:cNvPr id="20" name="TextBox 1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Authorization</dc:title>
  <dc:subject>Bind authenticated principals to current operation/scope/route requirements and private selected contexts.</dc:subject>
  <dc:creator>Omega × ASI module-interface project</dc:creator>
  <cp:keywords>Omega, ASI, M5, ELI16, Authorization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