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analogy, then state the technical responsibility: Accept the allowlisted inspect_atom operation, persist terminal state/result references and deliver correlated completion. Delegated work crosses storage and messaging boundaries. Explicit jobs and an outbox allow recovery without a transaction spanning all three owners. Do not treat the analogy as an additional experiment. This is a standalone talk about one responsibility, not a claim that every module is a separate service or repository.</a:t>
            </a:r>
          </a:p>
          <a:p/>
          <a:p>
            <a:r>
              <a:t>Evidence and implementation: [execution.py](https://github.com/machieke/fusion-module-interfaces/blob/494df69a1ac401c3d3b2cf79dbfde07f74b5e277/fusion/execution.py), [service.py](https://github.com/machieke/fusion-module-interfaces/blob/494df69a1ac401c3d3b2cf79dbfde07f74b5e277/fusion/service.py), [test_m11.py](https://github.com/machieke/fusion-module-interfaces/blob/494df69a1ac401c3d3b2cf79dbfde07f74b5e277/tests/test_m11.py), [test_integration.py](https://github.com/machieke/fusion-module-interfaces/blob/494df69a1ac401c3d3b2cf79dbfde07f74b5e277/integration/hive/test_integration.py), [m1_2-evidence.md](https://github.com/machieke/fusion-module-interfaces/blob/494df69a1ac401c3d3b2cf79dbfde07f74b5e277/docs/module-interfaces/m1_2-evidence.md), [same-artifact.json](https://github.com/machieke/fusion-module-interfaces/blob/494df69a1ac401c3d3b2cf79dbfde07f74b5e277/evidence/m4/final/same-artifact.json).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Delegated execution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Locate Delegated execution in the bounded fifteen-family inventory. The grey groups are explanatory categories, not deployment units. RevisionMath, the evidence relay, native plugins and transport bindings are supporting seams rather than additional module families. Registry and Resolver are separate responsibilities even though both are implemented in registry.py. Fifteen represented families is not full Omega requirements coverage. Result atoms commit first. Terminal job state and outbox commit together in Execution; mailbox acceptance is another owner commit. Worker entry is trusted and separate from public dispatch.</a:t>
            </a:r>
          </a:p>
          <a:p/>
          <a:p>
            <a:r>
              <a:t>Evidence and implementation: [execution.py](https://github.com/machieke/fusion-module-interfaces/blob/494df69a1ac401c3d3b2cf79dbfde07f74b5e277/fusion/execution.py), [service.py](https://github.com/machieke/fusion-module-interfaces/blob/494df69a1ac401c3d3b2cf79dbfde07f74b5e277/fusion/service.py), [test_m11.py](https://github.com/machieke/fusion-module-interfaces/blob/494df69a1ac401c3d3b2cf79dbfde07f74b5e277/tests/test_m11.py), [test_integration.py](https://github.com/machieke/fusion-module-interfaces/blob/494df69a1ac401c3d3b2cf79dbfde07f74b5e277/integration/hive/test_integration.py), [m1_2-evidence.md](https://github.com/machieke/fusion-module-interfaces/blob/494df69a1ac401c3d3b2cf79dbfde07f74b5e277/docs/module-interfaces/m1_2-evidence.md), [same-artifact.json](https://github.com/machieke/fusion-module-interfaces/blob/494df69a1ac401c3d3b2cf79dbfde07f74b5e277/evidence/m4/final/same-artifact.json).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Delegated execution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 atoms commit first. Terminal job state and outbox commit together in Execution; mailbox acceptance is another owner commit. Worker entry is trusted and separate from public dispatch. The left node is a caller or caller class; the right nodes distinguish foreign ports, pure helpers, local state and runtime internals. There is no implied shared transaction. Calls declared ports; no foreign tables or cross-owner SQL transaction.</a:t>
            </a:r>
          </a:p>
          <a:p/>
          <a:p>
            <a:r>
              <a:t>Evidence and implementation: [execution.py](https://github.com/machieke/fusion-module-interfaces/blob/494df69a1ac401c3d3b2cf79dbfde07f74b5e277/fusion/execution.py), [service.py](https://github.com/machieke/fusion-module-interfaces/blob/494df69a1ac401c3d3b2cf79dbfde07f74b5e277/fusion/service.py), [test_m11.py](https://github.com/machieke/fusion-module-interfaces/blob/494df69a1ac401c3d3b2cf79dbfde07f74b5e277/tests/test_m11.py), [test_integration.py](https://github.com/machieke/fusion-module-interfaces/blob/494df69a1ac401c3d3b2cf79dbfde07f74b5e277/integration/hive/test_integration.py), [m1_2-evidence.md](https://github.com/machieke/fusion-module-interfaces/blob/494df69a1ac401c3d3b2cf79dbfde07f74b5e277/docs/module-interfaces/m1_2-evidence.md), [same-artifact.json](https://github.com/machieke/fusion-module-interfaces/blob/494df69a1ac401c3d3b2cf79dbfde07f74b5e277/evidence/m4/final/same-artifact.json).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Delegated execution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ownership is the key contract, not the file layout. Job + terminal decision: Queued/succeeded/failed and result/error correlation. Completion outbox: Delivery intent and recorded mailbox-acceptance progress. Storage or mailbox mutation authority: Calls declared ports; no foreign tables or cross-owner SQL transaction. Reasoning/process migration: Only inspect_atom; no arbitrary code execution or cognition. Explicit compatibility: inspect-atom/2 · operation algorithm 0.1.0 · public wire 1.0.0. Limits: One bounded worker writer; finite configured queued-job + unsent-outbox capacity.</a:t>
            </a:r>
          </a:p>
          <a:p/>
          <a:p>
            <a:r>
              <a:t>Evidence and implementation: [execution.py](https://github.com/machieke/fusion-module-interfaces/blob/494df69a1ac401c3d3b2cf79dbfde07f74b5e277/fusion/execution.py), [service.py](https://github.com/machieke/fusion-module-interfaces/blob/494df69a1ac401c3d3b2cf79dbfde07f74b5e277/fusion/service.py), [test_m11.py](https://github.com/machieke/fusion-module-interfaces/blob/494df69a1ac401c3d3b2cf79dbfde07f74b5e277/tests/test_m11.py), [test_integration.py](https://github.com/machieke/fusion-module-interfaces/blob/494df69a1ac401c3d3b2cf79dbfde07f74b5e277/integration/hive/test_integration.py), [m1_2-evidence.md](https://github.com/machieke/fusion-module-interfaces/blob/494df69a1ac401c3d3b2cf79dbfde07f74b5e277/docs/module-interfaces/m1_2-evidence.md), [same-artifact.json](https://github.com/machieke/fusion-module-interfaces/blob/494df69a1ac401c3d3b2cf79dbfde07f74b5e277/evidence/m4/final/same-artifact.json).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Delegated execution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contract from inputs to effects. submit: Validate caller/worker read permissions and input; Durable queued acceptance, not completion. status: Read caller-owned job and delivery observations; Execution and delivery remain distinct. result: Return accepted result reference after success; Reauthorize read; failed/pending outcomes explicit. Trusted worker / flush: Compute bounded result, persist and deliver; Not exposed as arbitrary client commands. Operation groups on this slide are not a new coverage denominator. The evidence ledger distinguishes new operations from inherited dependencies. Supporting internal helpers are labelled as seams and are not advertised remote services.</a:t>
            </a:r>
          </a:p>
          <a:p/>
          <a:p>
            <a:r>
              <a:t>Evidence and implementation: [execution.py](https://github.com/machieke/fusion-module-interfaces/blob/494df69a1ac401c3d3b2cf79dbfde07f74b5e277/fusion/execution.py), [service.py](https://github.com/machieke/fusion-module-interfaces/blob/494df69a1ac401c3d3b2cf79dbfde07f74b5e277/fusion/service.py), [test_m11.py](https://github.com/machieke/fusion-module-interfaces/blob/494df69a1ac401c3d3b2cf79dbfde07f74b5e277/tests/test_m11.py), [test_integration.py](https://github.com/machieke/fusion-module-interfaces/blob/494df69a1ac401c3d3b2cf79dbfde07f74b5e277/integration/hive/test_integration.py), [m1_2-evidence.md](https://github.com/machieke/fusion-module-interfaces/blob/494df69a1ac401c3d3b2cf79dbfde07f74b5e277/docs/module-interfaces/m1_2-evidence.md), [same-artifact.json](https://github.com/machieke/fusion-module-interfaces/blob/494df69a1ac401c3d3b2cf79dbfde07f74b5e277/evidence/m4/final/same-artifact.json).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Delegated execution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responsibility to observable behavior. 1. Accept input: Read the generated atom and accept inspect_atom. 2. Persist result: Store digest, byte length and algorithm version. 3. Commit terminal: Save result reference + outbox in one owner commit. 4. Deliver / recover: Mailbox accepts; caller verifies and acknowledges. Evidence classification: ACTUAL native Hive inspect + real DeTTa · deterministic worker; fixture counterparty. Do not infer performance, broad production readiness or extra runtime integrations from this example.</a:t>
            </a:r>
          </a:p>
          <a:p/>
          <a:p>
            <a:r>
              <a:t>Evidence and implementation: [execution.py](https://github.com/machieke/fusion-module-interfaces/blob/494df69a1ac401c3d3b2cf79dbfde07f74b5e277/fusion/execution.py), [service.py](https://github.com/machieke/fusion-module-interfaces/blob/494df69a1ac401c3d3b2cf79dbfde07f74b5e277/fusion/service.py), [test_m11.py](https://github.com/machieke/fusion-module-interfaces/blob/494df69a1ac401c3d3b2cf79dbfde07f74b5e277/tests/test_m11.py), [test_integration.py](https://github.com/machieke/fusion-module-interfaces/blob/494df69a1ac401c3d3b2cf79dbfde07f74b5e277/integration/hive/test_integration.py), [m1_2-evidence.md](https://github.com/machieke/fusion-module-interfaces/blob/494df69a1ac401c3d3b2cf79dbfde07f74b5e277/docs/module-interfaces/m1_2-evidence.md), [same-artifact.json](https://github.com/machieke/fusion-module-interfaces/blob/494df69a1ac401c3d3b2cf79dbfde07f74b5e277/evidence/m4/final/same-artifact.json).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Delegated execution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invariants should survive provider substitution and future optimization. Allowlisted work: Only the named operation is accepted; no caller-supplied code. Result before terminal: A terminal success references already persisted result bytes. Atomic outbox intent: Terminal state and completion intent commit together. Live authority/deadline: Restart rechecks caller/worker permissions; no new work after start deadline. The supporting tests and runtime evidence are in the linked sources; this slide does not claim a formal proof or a production security audit.</a:t>
            </a:r>
          </a:p>
          <a:p/>
          <a:p>
            <a:r>
              <a:t>Evidence and implementation: [execution.py](https://github.com/machieke/fusion-module-interfaces/blob/494df69a1ac401c3d3b2cf79dbfde07f74b5e277/fusion/execution.py), [service.py](https://github.com/machieke/fusion-module-interfaces/blob/494df69a1ac401c3d3b2cf79dbfde07f74b5e277/fusion/service.py), [test_m11.py](https://github.com/machieke/fusion-module-interfaces/blob/494df69a1ac401c3d3b2cf79dbfde07f74b5e277/tests/test_m11.py), [test_integration.py](https://github.com/machieke/fusion-module-interfaces/blob/494df69a1ac401c3d3b2cf79dbfde07f74b5e277/integration/hive/test_integration.py), [m1_2-evidence.md](https://github.com/machieke/fusion-module-interfaces/blob/494df69a1ac401c3d3b2cf79dbfde07f74b5e277/docs/module-interfaces/m1_2-evidence.md), [same-artifact.json](https://github.com/machieke/fusion-module-interfaces/blob/494df69a1ac401c3d3b2cf79dbfde07f74b5e277/evidence/m4/final/same-artifact.json).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Delegated execution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owner boundary before the recovery claim. Result persisted; terminal commit lost: Retry immutable result creation, then commit terminal/outbox. Stable result identity. Mailbox accepted; sent flag lost: Retry handoff through CompletionDelivery. Mailbox owns deduplication. Unavailable input / revoked worker: Keep recoverable work or record explicit terminal failure as specified. No unauthorized success. A fixture can position the failure while a real process is killed. Local replay semantics do not imply exactly-once physical execution, a distributed transaction, or global failover. For pure/static modules the relevant failure is selection/refusal, not invented journal recovery.</a:t>
            </a:r>
          </a:p>
          <a:p/>
          <a:p>
            <a:r>
              <a:t>Evidence and implementation: [execution.py](https://github.com/machieke/fusion-module-interfaces/blob/494df69a1ac401c3d3b2cf79dbfde07f74b5e277/fusion/execution.py), [service.py](https://github.com/machieke/fusion-module-interfaces/blob/494df69a1ac401c3d3b2cf79dbfde07f74b5e277/fusion/service.py), [test_m11.py](https://github.com/machieke/fusion-module-interfaces/blob/494df69a1ac401c3d3b2cf79dbfde07f74b5e277/tests/test_m11.py), [test_integration.py](https://github.com/machieke/fusion-module-interfaces/blob/494df69a1ac401c3d3b2cf79dbfde07f74b5e277/integration/hive/test_integration.py), [m1_2-evidence.md](https://github.com/machieke/fusion-module-interfaces/blob/494df69a1ac401c3d3b2cf79dbfde07f74b5e277/docs/module-interfaces/m1_2-evidence.md), [same-artifact.json](https://github.com/machieke/fusion-module-interfaces/blob/494df69a1ac401c3d3b2cf79dbfde07f74b5e277/evidence/m4/final/same-artifact.json).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Delegated execution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every number with its unit and source class. 1 / 1 Job / outbox in preserved workflow: Stable across recovery matrix. 143 B Generated M4 result payload: Exact accepted artifact, not a throughput figure. 13 Original native inspect cases: Preserved M1.2 suite; not 13 unique new M5 cases. The fixed inspect operation demonstrates orchestration and recovery, not compute efficiency. No standalone job-admission latency, worker throughput or fairness benchmark is recorded. Proposed: vary input size, queue depth and downstream failure; measure admission/result/notification separately, including duplicate physical attempts and pending outbox age. No new benchmark is executed for this presentation. Do not compare overlapping suite times or use a one-run workflow measurement as a latency percentile.</a:t>
            </a:r>
          </a:p>
          <a:p/>
          <a:p>
            <a:r>
              <a:t>Evidence and implementation: [execution.py](https://github.com/machieke/fusion-module-interfaces/blob/494df69a1ac401c3d3b2cf79dbfde07f74b5e277/fusion/execution.py), [service.py](https://github.com/machieke/fusion-module-interfaces/blob/494df69a1ac401c3d3b2cf79dbfde07f74b5e277/fusion/service.py), [test_m11.py](https://github.com/machieke/fusion-module-interfaces/blob/494df69a1ac401c3d3b2cf79dbfde07f74b5e277/tests/test_m11.py), [test_integration.py](https://github.com/machieke/fusion-module-interfaces/blob/494df69a1ac401c3d3b2cf79dbfde07f74b5e277/integration/hive/test_integration.py), [m1_2-evidence.md](https://github.com/machieke/fusion-module-interfaces/blob/494df69a1ac401c3d3b2cf79dbfde07f74b5e277/docs/module-interfaces/m1_2-evidence.md), [same-artifact.json](https://github.com/machieke/fusion-module-interfaces/blob/494df69a1ac401c3d3b2cf79dbfde07f74b5e277/evidence/m4/final/same-artifact.json).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Delegated execution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Implemented local code is not automatically a production provider. Real: Local persistent job/outbox, separate worker process, actual native Hive and real DeTTa. Fixture: Generated inspect workload, protocol counterparty, local grants and deterministic fault placement. Blocked or unsupported: No required current gate blocked; unavailable input or full/revoked route may leave progress pending. Unrun: Arbitrary workloads, remote worker scheduling, distributed failover and exactly-once physical execution. All required M5 gates passed in the recorded final run, including legacy M1–M4 behavior; this presentation does not rerun those integrations. Human maintainers remain unassigned.</a:t>
            </a:r>
          </a:p>
          <a:p/>
          <a:p>
            <a:r>
              <a:t>Evidence and implementation: [execution.py](https://github.com/machieke/fusion-module-interfaces/blob/494df69a1ac401c3d3b2cf79dbfde07f74b5e277/fusion/execution.py), [service.py](https://github.com/machieke/fusion-module-interfaces/blob/494df69a1ac401c3d3b2cf79dbfde07f74b5e277/fusion/service.py), [test_m11.py](https://github.com/machieke/fusion-module-interfaces/blob/494df69a1ac401c3d3b2cf79dbfde07f74b5e277/tests/test_m11.py), [test_integration.py](https://github.com/machieke/fusion-module-interfaces/blob/494df69a1ac401c3d3b2cf79dbfde07f74b5e277/integration/hive/test_integration.py), [m1_2-evidence.md](https://github.com/machieke/fusion-module-interfaces/blob/494df69a1ac401c3d3b2cf79dbfde07f74b5e277/docs/module-interfaces/m1_2-evidence.md), [same-artifact.json](https://github.com/machieke/fusion-module-interfaces/blob/494df69a1ac401c3d3b2cf79dbfde07f74b5e277/evidence/m4/final/same-artifact.json).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Delegated execution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future work as conditional engineering proposals. Benchmark each lifecycle stage requires Independent timestamps for acceptance/result/delivery; success means Do not report notification delay as execution time. Add an operation explicitly requires Determinism, resource bounds and authorization review; success means New conformance and crash boundary tests. Explore remote workers requires Placement and failure contract before transport; success means Keep independent owner commits and stable replay. No new cognition, scheduler, migration or chain capability is implemented by this series. Any changed numerical semantics, placement or replay lifetime requires separate design and verification rather than a presentation claim.</a:t>
            </a:r>
          </a:p>
          <a:p/>
          <a:p>
            <a:r>
              <a:t>Evidence and implementation: [execution.py](https://github.com/machieke/fusion-module-interfaces/blob/494df69a1ac401c3d3b2cf79dbfde07f74b5e277/fusion/execution.py), [service.py](https://github.com/machieke/fusion-module-interfaces/blob/494df69a1ac401c3d3b2cf79dbfde07f74b5e277/fusion/service.py), [test_m11.py](https://github.com/machieke/fusion-module-interfaces/blob/494df69a1ac401c3d3b2cf79dbfde07f74b5e277/tests/test_m11.py), [test_integration.py](https://github.com/machieke/fusion-module-interfaces/blob/494df69a1ac401c3d3b2cf79dbfde07f74b5e277/integration/hive/test_integration.py), [m1_2-evidence.md](https://github.com/machieke/fusion-module-interfaces/blob/494df69a1ac401c3d3b2cf79dbfde07f74b5e277/docs/module-interfaces/m1_2-evidence.md), [same-artifact.json](https://github.com/machieke/fusion-module-interfaces/blob/494df69a1ac401c3d3b2cf79dbfde07f74b5e277/evidence/m4/final/same-artifact.json).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Delegated execution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with: Execution completion and completion delivery have different owners. The reproduction entrypoint is uv run --python 3.11 --locked python scripts/verify_m11.py. For actual Hive, use the pinned M1.2 build/run recipe or the current full legacy verifier; the M1.1 command alone is not a native-caller gate. Build/export checks for this series are separate from runtime tests. Exact upstream pins remain in integration/hive/sources.json, integration/pln/sources.json, integration/pln/deduction-sources.json and the M4/M5 source manifests. Commands use fresh output/state; raw provider environments, credentials, journals and private IDs should not be published.</a:t>
            </a:r>
          </a:p>
          <a:p/>
          <a:p>
            <a:r>
              <a:t>Evidence and implementation: [execution.py](https://github.com/machieke/fusion-module-interfaces/blob/494df69a1ac401c3d3b2cf79dbfde07f74b5e277/fusion/execution.py), [service.py](https://github.com/machieke/fusion-module-interfaces/blob/494df69a1ac401c3d3b2cf79dbfde07f74b5e277/fusion/service.py), [test_m11.py](https://github.com/machieke/fusion-module-interfaces/blob/494df69a1ac401c3d3b2cf79dbfde07f74b5e277/tests/test_m11.py), [test_integration.py](https://github.com/machieke/fusion-module-interfaces/blob/494df69a1ac401c3d3b2cf79dbfde07f74b5e277/integration/hive/test_integration.py), [m1_2-evidence.md](https://github.com/machieke/fusion-module-interfaces/blob/494df69a1ac401c3d3b2cf79dbfde07f74b5e277/docs/module-interfaces/m1_2-evidence.md), [same-artifact.json](https://github.com/machieke/fusion-module-interfaces/blob/494df69a1ac401c3d3b2cf79dbfde07f74b5e277/evidence/m4/final/same-artifact.json).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Delegated execution · M5 source bfb0ec8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233"/>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AAC0CC"/>
                </a:solidFill>
                <a:latin typeface="DejaVu Sans"/>
              </a:rPr>
              <a:t>OMEGA × ASI / STANDALONE MODULE SERIES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FFFFFF"/>
                </a:solidFill>
                <a:latin typeface="DejaVu Sans"/>
              </a:rPr>
              <a:t>Delegated execution</a:t>
            </a:r>
          </a:p>
        </p:txBody>
      </p:sp>
      <p:sp>
        <p:nvSpPr>
          <p:cNvPr id="4" name="TextBox 3"/>
          <p:cNvSpPr txBox="1"/>
          <p:nvPr/>
        </p:nvSpPr>
        <p:spPr>
          <a:xfrm>
            <a:off x="548640" y="1783080"/>
            <a:ext cx="11049000" cy="560832"/>
          </a:xfrm>
          <a:prstGeom prst="rect">
            <a:avLst/>
          </a:prstGeom>
          <a:noFill/>
        </p:spPr>
        <p:txBody>
          <a:bodyPr wrap="none" lIns="0" rIns="0" tIns="0" bIns="0" anchor="t" anchorCtr="0">
            <a:noAutofit/>
          </a:bodyPr>
          <a:lstStyle/>
          <a:p>
            <a:pPr algn="l">
              <a:lnSpc>
                <a:spcPct val="100000"/>
              </a:lnSpc>
              <a:spcBef>
                <a:spcPts val="0"/>
              </a:spcBef>
              <a:spcAft>
                <a:spcPts val="0"/>
              </a:spcAft>
            </a:pPr>
            <a:r>
              <a:rPr sz="3840" b="1">
                <a:solidFill>
                  <a:srgbClr val="FFFFFF"/>
                </a:solidFill>
                <a:latin typeface="DejaVu Sans"/>
              </a:rPr>
              <a:t>Own the job and its outbox.</a:t>
            </a:r>
          </a:p>
        </p:txBody>
      </p:sp>
      <p:sp>
        <p:nvSpPr>
          <p:cNvPr id="5" name="TextBox 4"/>
          <p:cNvSpPr txBox="1"/>
          <p:nvPr/>
        </p:nvSpPr>
        <p:spPr>
          <a:xfrm>
            <a:off x="548640" y="2343912"/>
            <a:ext cx="11049000" cy="560832"/>
          </a:xfrm>
          <a:prstGeom prst="rect">
            <a:avLst/>
          </a:prstGeom>
          <a:noFill/>
        </p:spPr>
        <p:txBody>
          <a:bodyPr wrap="none" lIns="0" rIns="0" tIns="0" bIns="0" anchor="t" anchorCtr="0">
            <a:noAutofit/>
          </a:bodyPr>
          <a:lstStyle/>
          <a:p>
            <a:pPr algn="l">
              <a:lnSpc>
                <a:spcPct val="100000"/>
              </a:lnSpc>
              <a:spcBef>
                <a:spcPts val="0"/>
              </a:spcBef>
              <a:spcAft>
                <a:spcPts val="0"/>
              </a:spcAft>
            </a:pPr>
            <a:r>
              <a:rPr sz="3840" b="1">
                <a:solidFill>
                  <a:srgbClr val="FFFFFF"/>
                </a:solidFill>
                <a:latin typeface="DejaVu Sans"/>
              </a:rPr>
              <a:t>Let other owners commit their effects.</a:t>
            </a:r>
          </a:p>
        </p:txBody>
      </p:sp>
      <p:sp>
        <p:nvSpPr>
          <p:cNvPr id="6" name="Rounded Rectangle 5"/>
          <p:cNvSpPr/>
          <p:nvPr/>
        </p:nvSpPr>
        <p:spPr>
          <a:xfrm>
            <a:off x="579120" y="3208020"/>
            <a:ext cx="3112204" cy="274320"/>
          </a:xfrm>
          <a:prstGeom prst="roundRect">
            <a:avLst>
              <a:gd name="adj" fmla="val 19444"/>
            </a:avLst>
          </a:prstGeom>
          <a:solidFill>
            <a:srgbClr val="E4EBF5"/>
          </a:solidFill>
          <a:ln>
            <a:noFill/>
          </a:ln>
          <a:effectLst/>
        </p:spPr>
        <p:txBody>
          <a:bodyPr rtlCol="0" anchor="ctr"/>
          <a:lstStyle/>
          <a:p>
            <a:pPr algn="ctr"/>
          </a:p>
        </p:txBody>
      </p:sp>
      <p:sp>
        <p:nvSpPr>
          <p:cNvPr id="7" name="TextBox 6"/>
          <p:cNvSpPr txBox="1"/>
          <p:nvPr/>
        </p:nvSpPr>
        <p:spPr>
          <a:xfrm>
            <a:off x="685800" y="3261360"/>
            <a:ext cx="2921704"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315E9C"/>
                </a:solidFill>
                <a:latin typeface="DejaVu Sans"/>
              </a:rPr>
              <a:t>ELI16 · THE IDEA IN PLAIN LANGUAGE</a:t>
            </a:r>
          </a:p>
        </p:txBody>
      </p:sp>
      <p:sp>
        <p:nvSpPr>
          <p:cNvPr id="8" name="TextBox 7"/>
          <p:cNvSpPr txBox="1"/>
          <p:nvPr/>
        </p:nvSpPr>
        <p:spPr>
          <a:xfrm>
            <a:off x="579120" y="3649979"/>
            <a:ext cx="10744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0">
                <a:solidFill>
                  <a:srgbClr val="FFFFFF"/>
                </a:solidFill>
                <a:latin typeface="DejaVu Sans"/>
              </a:rPr>
              <a:t>A service desk with a job ticket: “accepted,” “finished” and “customer notified” have</a:t>
            </a:r>
          </a:p>
        </p:txBody>
      </p:sp>
      <p:sp>
        <p:nvSpPr>
          <p:cNvPr id="9" name="TextBox 8"/>
          <p:cNvSpPr txBox="1"/>
          <p:nvPr/>
        </p:nvSpPr>
        <p:spPr>
          <a:xfrm>
            <a:off x="579120" y="3962095"/>
            <a:ext cx="10744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0">
                <a:solidFill>
                  <a:srgbClr val="FFFFFF"/>
                </a:solidFill>
                <a:latin typeface="DejaVu Sans"/>
              </a:rPr>
              <a:t>separate receipts.</a:t>
            </a:r>
          </a:p>
        </p:txBody>
      </p:sp>
      <p:sp>
        <p:nvSpPr>
          <p:cNvPr id="10" name="TextBox 9"/>
          <p:cNvSpPr txBox="1"/>
          <p:nvPr/>
        </p:nvSpPr>
        <p:spPr>
          <a:xfrm>
            <a:off x="579120" y="473202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AAC0CC"/>
                </a:solidFill>
                <a:latin typeface="DejaVu Sans"/>
              </a:rPr>
              <a:t>Why it matters: Delegated work crosses storage and messaging boundaries. Explicit jobs and an</a:t>
            </a:r>
          </a:p>
        </p:txBody>
      </p:sp>
      <p:sp>
        <p:nvSpPr>
          <p:cNvPr id="11" name="TextBox 10"/>
          <p:cNvSpPr txBox="1"/>
          <p:nvPr/>
        </p:nvSpPr>
        <p:spPr>
          <a:xfrm>
            <a:off x="579120" y="500512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AAC0CC"/>
                </a:solidFill>
                <a:latin typeface="DejaVu Sans"/>
              </a:rPr>
              <a:t>outbox allow recovery without a transaction spanning all three owners.</a:t>
            </a:r>
          </a:p>
        </p:txBody>
      </p:sp>
      <p:sp>
        <p:nvSpPr>
          <p:cNvPr id="12" name="TextBox 11"/>
          <p:cNvSpPr txBox="1"/>
          <p:nvPr/>
        </p:nvSpPr>
        <p:spPr>
          <a:xfrm>
            <a:off x="579120" y="6019800"/>
            <a:ext cx="10439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AAC0CC"/>
                </a:solidFill>
                <a:latin typeface="DejaVu Sans"/>
              </a:rPr>
              <a:t>Through M5 · 17 October 2026 · 12–15 minute talk · evidence and proposals kept separate</a:t>
            </a:r>
          </a:p>
        </p:txBody>
      </p:sp>
      <p:cxnSp>
        <p:nvCxnSpPr>
          <p:cNvPr id="13" name="Connector 12"/>
          <p:cNvCxnSpPr/>
          <p:nvPr/>
        </p:nvCxnSpPr>
        <p:spPr>
          <a:xfrm>
            <a:off x="548640" y="6393180"/>
            <a:ext cx="11094720" cy="0"/>
          </a:xfrm>
          <a:prstGeom prst="line">
            <a:avLst/>
          </a:prstGeom>
          <a:ln w="7620">
            <a:solidFill>
              <a:srgbClr val="536775"/>
            </a:solidFill>
          </a:ln>
          <a:effectLst/>
        </p:spPr>
      </p:cxnSp>
      <p:sp>
        <p:nvSpPr>
          <p:cNvPr id="14" name="TextBox 13"/>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AAC0CC"/>
                </a:solidFill>
                <a:latin typeface="DejaVu Sans"/>
              </a:rPr>
              <a:t>OMEGA × ASI / THROUGH M5 / Delegated execution · M5 source bfb0ec8</a:t>
            </a:r>
          </a:p>
        </p:txBody>
      </p:sp>
      <p:sp>
        <p:nvSpPr>
          <p:cNvPr id="15" name="TextBox 14"/>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AAC0CC"/>
                </a:solidFill>
                <a:latin typeface="DejaVu Sans Mono"/>
              </a:rPr>
              <a:t>01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01 / HELICOPTER VIEW</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One module in a system of fifteen</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highlighted responsibility is the subject of this talk; placement and process count are separate decisions.</a:t>
            </a:r>
          </a:p>
        </p:txBody>
      </p:sp>
      <p:sp>
        <p:nvSpPr>
          <p:cNvPr id="5" name="Rounded Rectangle 4"/>
          <p:cNvSpPr/>
          <p:nvPr/>
        </p:nvSpPr>
        <p:spPr>
          <a:xfrm>
            <a:off x="5486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6" name="TextBox 5"/>
          <p:cNvSpPr txBox="1"/>
          <p:nvPr/>
        </p:nvSpPr>
        <p:spPr>
          <a:xfrm>
            <a:off x="6858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Persistence</a:t>
            </a:r>
          </a:p>
        </p:txBody>
      </p:sp>
      <p:sp>
        <p:nvSpPr>
          <p:cNvPr id="7" name="Rounded Rectangle 6"/>
          <p:cNvSpPr/>
          <p:nvPr/>
        </p:nvSpPr>
        <p:spPr>
          <a:xfrm>
            <a:off x="6629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8" name="TextBox 7"/>
          <p:cNvSpPr txBox="1"/>
          <p:nvPr/>
        </p:nvSpPr>
        <p:spPr>
          <a:xfrm>
            <a:off x="7620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DA storage</a:t>
            </a:r>
          </a:p>
        </p:txBody>
      </p:sp>
      <p:sp>
        <p:nvSpPr>
          <p:cNvPr id="9" name="Rounded Rectangle 8"/>
          <p:cNvSpPr/>
          <p:nvPr/>
        </p:nvSpPr>
        <p:spPr>
          <a:xfrm>
            <a:off x="6629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10" name="TextBox 9"/>
          <p:cNvSpPr txBox="1"/>
          <p:nvPr/>
        </p:nvSpPr>
        <p:spPr>
          <a:xfrm>
            <a:off x="7620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AtomStorage · C0</a:t>
            </a:r>
          </a:p>
        </p:txBody>
      </p:sp>
      <p:sp>
        <p:nvSpPr>
          <p:cNvPr id="11" name="Rounded Rectangle 10"/>
          <p:cNvSpPr/>
          <p:nvPr/>
        </p:nvSpPr>
        <p:spPr>
          <a:xfrm>
            <a:off x="6629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12" name="TextBox 11"/>
          <p:cNvSpPr txBox="1"/>
          <p:nvPr/>
        </p:nvSpPr>
        <p:spPr>
          <a:xfrm>
            <a:off x="7620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ConsensusFinality</a:t>
            </a:r>
          </a:p>
        </p:txBody>
      </p:sp>
      <p:sp>
        <p:nvSpPr>
          <p:cNvPr id="13" name="Rounded Rectangle 12"/>
          <p:cNvSpPr/>
          <p:nvPr/>
        </p:nvSpPr>
        <p:spPr>
          <a:xfrm>
            <a:off x="33680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14" name="TextBox 13"/>
          <p:cNvSpPr txBox="1"/>
          <p:nvPr/>
        </p:nvSpPr>
        <p:spPr>
          <a:xfrm>
            <a:off x="35052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Knowledge access</a:t>
            </a:r>
          </a:p>
        </p:txBody>
      </p:sp>
      <p:sp>
        <p:nvSpPr>
          <p:cNvPr id="15" name="Rounded Rectangle 14"/>
          <p:cNvSpPr/>
          <p:nvPr/>
        </p:nvSpPr>
        <p:spPr>
          <a:xfrm>
            <a:off x="34823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16" name="TextBox 15"/>
          <p:cNvSpPr txBox="1"/>
          <p:nvPr/>
        </p:nvSpPr>
        <p:spPr>
          <a:xfrm>
            <a:off x="35814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Relations</a:t>
            </a:r>
          </a:p>
        </p:txBody>
      </p:sp>
      <p:sp>
        <p:nvSpPr>
          <p:cNvPr id="17" name="Rounded Rectangle 16"/>
          <p:cNvSpPr/>
          <p:nvPr/>
        </p:nvSpPr>
        <p:spPr>
          <a:xfrm>
            <a:off x="34823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18" name="TextBox 17"/>
          <p:cNvSpPr txBox="1"/>
          <p:nvPr/>
        </p:nvSpPr>
        <p:spPr>
          <a:xfrm>
            <a:off x="35814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Search projection</a:t>
            </a:r>
          </a:p>
        </p:txBody>
      </p:sp>
      <p:sp>
        <p:nvSpPr>
          <p:cNvPr id="19" name="Rounded Rectangle 18"/>
          <p:cNvSpPr/>
          <p:nvPr/>
        </p:nvSpPr>
        <p:spPr>
          <a:xfrm>
            <a:off x="61874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20" name="TextBox 19"/>
          <p:cNvSpPr txBox="1"/>
          <p:nvPr/>
        </p:nvSpPr>
        <p:spPr>
          <a:xfrm>
            <a:off x="63246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Cognition</a:t>
            </a:r>
          </a:p>
        </p:txBody>
      </p:sp>
      <p:sp>
        <p:nvSpPr>
          <p:cNvPr id="21" name="Rounded Rectangle 20"/>
          <p:cNvSpPr/>
          <p:nvPr/>
        </p:nvSpPr>
        <p:spPr>
          <a:xfrm>
            <a:off x="63017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22" name="TextBox 21"/>
          <p:cNvSpPr txBox="1"/>
          <p:nvPr/>
        </p:nvSpPr>
        <p:spPr>
          <a:xfrm>
            <a:off x="64008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Episodes · C1</a:t>
            </a:r>
          </a:p>
        </p:txBody>
      </p:sp>
      <p:sp>
        <p:nvSpPr>
          <p:cNvPr id="23" name="Rounded Rectangle 22"/>
          <p:cNvSpPr/>
          <p:nvPr/>
        </p:nvSpPr>
        <p:spPr>
          <a:xfrm>
            <a:off x="63017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24" name="TextBox 23"/>
          <p:cNvSpPr txBox="1"/>
          <p:nvPr/>
        </p:nvSpPr>
        <p:spPr>
          <a:xfrm>
            <a:off x="64008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Beliefs · C2</a:t>
            </a:r>
          </a:p>
        </p:txBody>
      </p:sp>
      <p:sp>
        <p:nvSpPr>
          <p:cNvPr id="25" name="Rounded Rectangle 24"/>
          <p:cNvSpPr/>
          <p:nvPr/>
        </p:nvSpPr>
        <p:spPr>
          <a:xfrm>
            <a:off x="63017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26" name="TextBox 25"/>
          <p:cNvSpPr txBox="1"/>
          <p:nvPr/>
        </p:nvSpPr>
        <p:spPr>
          <a:xfrm>
            <a:off x="64008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PLNKernel</a:t>
            </a:r>
          </a:p>
        </p:txBody>
      </p:sp>
      <p:sp>
        <p:nvSpPr>
          <p:cNvPr id="27" name="Rounded Rectangle 26"/>
          <p:cNvSpPr/>
          <p:nvPr/>
        </p:nvSpPr>
        <p:spPr>
          <a:xfrm>
            <a:off x="6301740" y="4023360"/>
            <a:ext cx="2407920" cy="449580"/>
          </a:xfrm>
          <a:prstGeom prst="roundRect">
            <a:avLst>
              <a:gd name="adj" fmla="val 13559"/>
            </a:avLst>
          </a:prstGeom>
          <a:solidFill>
            <a:srgbClr val="FFFFFF"/>
          </a:solidFill>
          <a:ln>
            <a:noFill/>
          </a:ln>
          <a:effectLst/>
        </p:spPr>
        <p:txBody>
          <a:bodyPr rtlCol="0" anchor="ctr"/>
          <a:lstStyle/>
          <a:p>
            <a:pPr algn="ctr"/>
          </a:p>
        </p:txBody>
      </p:sp>
      <p:sp>
        <p:nvSpPr>
          <p:cNvPr id="28" name="TextBox 27"/>
          <p:cNvSpPr txBox="1"/>
          <p:nvPr/>
        </p:nvSpPr>
        <p:spPr>
          <a:xfrm>
            <a:off x="6400800" y="413766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Attention · C3</a:t>
            </a:r>
          </a:p>
        </p:txBody>
      </p:sp>
      <p:sp>
        <p:nvSpPr>
          <p:cNvPr id="29" name="Rounded Rectangle 28"/>
          <p:cNvSpPr/>
          <p:nvPr/>
        </p:nvSpPr>
        <p:spPr>
          <a:xfrm>
            <a:off x="6301740" y="4579620"/>
            <a:ext cx="2407920" cy="449580"/>
          </a:xfrm>
          <a:prstGeom prst="roundRect">
            <a:avLst>
              <a:gd name="adj" fmla="val 13559"/>
            </a:avLst>
          </a:prstGeom>
          <a:solidFill>
            <a:srgbClr val="FFFFFF"/>
          </a:solidFill>
          <a:ln>
            <a:noFill/>
          </a:ln>
          <a:effectLst/>
        </p:spPr>
        <p:txBody>
          <a:bodyPr rtlCol="0" anchor="ctr"/>
          <a:lstStyle/>
          <a:p>
            <a:pPr algn="ctr"/>
          </a:p>
        </p:txBody>
      </p:sp>
      <p:sp>
        <p:nvSpPr>
          <p:cNvPr id="30" name="TextBox 29"/>
          <p:cNvSpPr txBox="1"/>
          <p:nvPr/>
        </p:nvSpPr>
        <p:spPr>
          <a:xfrm>
            <a:off x="6400800" y="469392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Inference · C4</a:t>
            </a:r>
          </a:p>
        </p:txBody>
      </p:sp>
      <p:sp>
        <p:nvSpPr>
          <p:cNvPr id="31" name="Rounded Rectangle 30"/>
          <p:cNvSpPr/>
          <p:nvPr/>
        </p:nvSpPr>
        <p:spPr>
          <a:xfrm>
            <a:off x="90068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32" name="TextBox 31"/>
          <p:cNvSpPr txBox="1"/>
          <p:nvPr/>
        </p:nvSpPr>
        <p:spPr>
          <a:xfrm>
            <a:off x="91440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Coordination + policy</a:t>
            </a:r>
          </a:p>
        </p:txBody>
      </p:sp>
      <p:sp>
        <p:nvSpPr>
          <p:cNvPr id="33" name="Rounded Rectangle 32"/>
          <p:cNvSpPr/>
          <p:nvPr/>
        </p:nvSpPr>
        <p:spPr>
          <a:xfrm>
            <a:off x="91211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34" name="TextBox 33"/>
          <p:cNvSpPr txBox="1"/>
          <p:nvPr/>
        </p:nvSpPr>
        <p:spPr>
          <a:xfrm>
            <a:off x="92202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Messaging</a:t>
            </a:r>
          </a:p>
        </p:txBody>
      </p:sp>
      <p:sp>
        <p:nvSpPr>
          <p:cNvPr id="35" name="Rounded Rectangle 34"/>
          <p:cNvSpPr/>
          <p:nvPr/>
        </p:nvSpPr>
        <p:spPr>
          <a:xfrm>
            <a:off x="9121140" y="2910840"/>
            <a:ext cx="2407920" cy="449580"/>
          </a:xfrm>
          <a:prstGeom prst="roundRect">
            <a:avLst>
              <a:gd name="adj" fmla="val 13559"/>
            </a:avLst>
          </a:prstGeom>
          <a:solidFill>
            <a:srgbClr val="315E9C"/>
          </a:solidFill>
          <a:ln>
            <a:noFill/>
          </a:ln>
          <a:effectLst/>
        </p:spPr>
        <p:txBody>
          <a:bodyPr rtlCol="0" anchor="ctr"/>
          <a:lstStyle/>
          <a:p>
            <a:pPr algn="ctr"/>
          </a:p>
        </p:txBody>
      </p:sp>
      <p:sp>
        <p:nvSpPr>
          <p:cNvPr id="36" name="TextBox 35"/>
          <p:cNvSpPr txBox="1"/>
          <p:nvPr/>
        </p:nvSpPr>
        <p:spPr>
          <a:xfrm>
            <a:off x="92202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FFFFFF"/>
                </a:solidFill>
                <a:latin typeface="DejaVu Sans"/>
              </a:rPr>
              <a:t>Execution</a:t>
            </a:r>
          </a:p>
        </p:txBody>
      </p:sp>
      <p:sp>
        <p:nvSpPr>
          <p:cNvPr id="37" name="Rounded Rectangle 36"/>
          <p:cNvSpPr/>
          <p:nvPr/>
        </p:nvSpPr>
        <p:spPr>
          <a:xfrm>
            <a:off x="91211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38" name="TextBox 37"/>
          <p:cNvSpPr txBox="1"/>
          <p:nvPr/>
        </p:nvSpPr>
        <p:spPr>
          <a:xfrm>
            <a:off x="92202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Registry</a:t>
            </a:r>
          </a:p>
        </p:txBody>
      </p:sp>
      <p:sp>
        <p:nvSpPr>
          <p:cNvPr id="39" name="Rounded Rectangle 38"/>
          <p:cNvSpPr/>
          <p:nvPr/>
        </p:nvSpPr>
        <p:spPr>
          <a:xfrm>
            <a:off x="9121140" y="4023360"/>
            <a:ext cx="2407920" cy="449580"/>
          </a:xfrm>
          <a:prstGeom prst="roundRect">
            <a:avLst>
              <a:gd name="adj" fmla="val 13559"/>
            </a:avLst>
          </a:prstGeom>
          <a:solidFill>
            <a:srgbClr val="FFFFFF"/>
          </a:solidFill>
          <a:ln>
            <a:noFill/>
          </a:ln>
          <a:effectLst/>
        </p:spPr>
        <p:txBody>
          <a:bodyPr rtlCol="0" anchor="ctr"/>
          <a:lstStyle/>
          <a:p>
            <a:pPr algn="ctr"/>
          </a:p>
        </p:txBody>
      </p:sp>
      <p:sp>
        <p:nvSpPr>
          <p:cNvPr id="40" name="TextBox 39"/>
          <p:cNvSpPr txBox="1"/>
          <p:nvPr/>
        </p:nvSpPr>
        <p:spPr>
          <a:xfrm>
            <a:off x="9220200" y="413766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Resolver</a:t>
            </a:r>
          </a:p>
        </p:txBody>
      </p:sp>
      <p:sp>
        <p:nvSpPr>
          <p:cNvPr id="41" name="Rounded Rectangle 40"/>
          <p:cNvSpPr/>
          <p:nvPr/>
        </p:nvSpPr>
        <p:spPr>
          <a:xfrm>
            <a:off x="9121140" y="4579620"/>
            <a:ext cx="2407920" cy="449580"/>
          </a:xfrm>
          <a:prstGeom prst="roundRect">
            <a:avLst>
              <a:gd name="adj" fmla="val 13559"/>
            </a:avLst>
          </a:prstGeom>
          <a:solidFill>
            <a:srgbClr val="FFFFFF"/>
          </a:solidFill>
          <a:ln>
            <a:noFill/>
          </a:ln>
          <a:effectLst/>
        </p:spPr>
        <p:txBody>
          <a:bodyPr rtlCol="0" anchor="ctr"/>
          <a:lstStyle/>
          <a:p>
            <a:pPr algn="ctr"/>
          </a:p>
        </p:txBody>
      </p:sp>
      <p:sp>
        <p:nvSpPr>
          <p:cNvPr id="42" name="TextBox 41"/>
          <p:cNvSpPr txBox="1"/>
          <p:nvPr/>
        </p:nvSpPr>
        <p:spPr>
          <a:xfrm>
            <a:off x="9220200" y="469392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Authorization</a:t>
            </a:r>
          </a:p>
        </p:txBody>
      </p:sp>
      <p:sp>
        <p:nvSpPr>
          <p:cNvPr id="43" name="TextBox 42"/>
          <p:cNvSpPr txBox="1"/>
          <p:nvPr/>
        </p:nvSpPr>
        <p:spPr>
          <a:xfrm>
            <a:off x="609600" y="5547360"/>
            <a:ext cx="10896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102B3F"/>
                </a:solidFill>
                <a:latin typeface="DejaVu Sans"/>
              </a:rPr>
              <a:t>Accept the allowlisted inspect_atom operation, persist terminal state/result references and deliver</a:t>
            </a:r>
          </a:p>
        </p:txBody>
      </p:sp>
      <p:sp>
        <p:nvSpPr>
          <p:cNvPr id="44" name="TextBox 43"/>
          <p:cNvSpPr txBox="1"/>
          <p:nvPr/>
        </p:nvSpPr>
        <p:spPr>
          <a:xfrm>
            <a:off x="609600" y="5810707"/>
            <a:ext cx="10896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102B3F"/>
                </a:solidFill>
                <a:latin typeface="DejaVu Sans"/>
              </a:rPr>
              <a:t>correlated completion.</a:t>
            </a:r>
          </a:p>
        </p:txBody>
      </p:sp>
      <p:cxnSp>
        <p:nvCxnSpPr>
          <p:cNvPr id="45" name="Connector 44"/>
          <p:cNvCxnSpPr/>
          <p:nvPr/>
        </p:nvCxnSpPr>
        <p:spPr>
          <a:xfrm>
            <a:off x="548640" y="6393180"/>
            <a:ext cx="11094720" cy="0"/>
          </a:xfrm>
          <a:prstGeom prst="line">
            <a:avLst/>
          </a:prstGeom>
          <a:ln w="7620">
            <a:solidFill>
              <a:srgbClr val="C9D2D4"/>
            </a:solidFill>
          </a:ln>
          <a:effectLst/>
        </p:spPr>
      </p:cxnSp>
      <p:sp>
        <p:nvSpPr>
          <p:cNvPr id="46" name="TextBox 4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Delegated execution · M5 source bfb0ec8</a:t>
            </a:r>
          </a:p>
        </p:txBody>
      </p:sp>
      <p:sp>
        <p:nvSpPr>
          <p:cNvPr id="47" name="TextBox 4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02 / FUNCTION DEPENDENCIES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Dependencies explain the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Arrows point from caller to dependency. Stores and runtime internals are labelled explicitly.</a:t>
            </a:r>
          </a:p>
        </p:txBody>
      </p:sp>
      <p:sp>
        <p:nvSpPr>
          <p:cNvPr id="5" name="Rounded Rectangle 4"/>
          <p:cNvSpPr/>
          <p:nvPr/>
        </p:nvSpPr>
        <p:spPr>
          <a:xfrm>
            <a:off x="548640" y="2453640"/>
            <a:ext cx="2857500" cy="1668780"/>
          </a:xfrm>
          <a:prstGeom prst="roundRect">
            <a:avLst>
              <a:gd name="adj" fmla="val 5936"/>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621280"/>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Native</a:t>
            </a:r>
          </a:p>
        </p:txBody>
      </p:sp>
      <p:sp>
        <p:nvSpPr>
          <p:cNvPr id="7" name="TextBox 6"/>
          <p:cNvSpPr txBox="1"/>
          <p:nvPr/>
        </p:nvSpPr>
        <p:spPr>
          <a:xfrm>
            <a:off x="716280" y="2904134"/>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fusion-inspect /</a:t>
            </a:r>
          </a:p>
        </p:txBody>
      </p:sp>
      <p:sp>
        <p:nvSpPr>
          <p:cNvPr id="8" name="TextBox 7"/>
          <p:cNvSpPr txBox="1"/>
          <p:nvPr/>
        </p:nvSpPr>
        <p:spPr>
          <a:xfrm>
            <a:off x="716280" y="3186988"/>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protocol peer</a:t>
            </a:r>
          </a:p>
        </p:txBody>
      </p:sp>
      <p:sp>
        <p:nvSpPr>
          <p:cNvPr id="9" name="TextBox 8"/>
          <p:cNvSpPr txBox="1"/>
          <p:nvPr/>
        </p:nvSpPr>
        <p:spPr>
          <a:xfrm>
            <a:off x="716280" y="3546043"/>
            <a:ext cx="2522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submit · status · result</a:t>
            </a:r>
          </a:p>
        </p:txBody>
      </p:sp>
      <p:sp>
        <p:nvSpPr>
          <p:cNvPr id="10" name="Rounded Rectangle 9"/>
          <p:cNvSpPr/>
          <p:nvPr/>
        </p:nvSpPr>
        <p:spPr>
          <a:xfrm>
            <a:off x="4229100" y="2453640"/>
            <a:ext cx="3238500" cy="1668780"/>
          </a:xfrm>
          <a:prstGeom prst="roundRect">
            <a:avLst>
              <a:gd name="adj" fmla="val 5936"/>
            </a:avLst>
          </a:prstGeom>
          <a:solidFill>
            <a:srgbClr val="E4EBF5"/>
          </a:solidFill>
          <a:ln w="7620">
            <a:solidFill>
              <a:srgbClr val="315E9C"/>
            </a:solidFill>
          </a:ln>
          <a:effectLst/>
        </p:spPr>
        <p:txBody>
          <a:bodyPr rtlCol="0" anchor="ctr"/>
          <a:lstStyle/>
          <a:p>
            <a:pPr algn="ctr"/>
          </a:p>
        </p:txBody>
      </p:sp>
      <p:sp>
        <p:nvSpPr>
          <p:cNvPr id="11" name="TextBox 10"/>
          <p:cNvSpPr txBox="1"/>
          <p:nvPr/>
        </p:nvSpPr>
        <p:spPr>
          <a:xfrm>
            <a:off x="4396740" y="2621280"/>
            <a:ext cx="290322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1">
                <a:solidFill>
                  <a:srgbClr val="315E9C"/>
                </a:solidFill>
                <a:latin typeface="DejaVu Sans"/>
              </a:rPr>
              <a:t>Delegated execution</a:t>
            </a:r>
          </a:p>
        </p:txBody>
      </p:sp>
      <p:sp>
        <p:nvSpPr>
          <p:cNvPr id="12" name="TextBox 11"/>
          <p:cNvSpPr txBox="1"/>
          <p:nvPr/>
        </p:nvSpPr>
        <p:spPr>
          <a:xfrm>
            <a:off x="4396740" y="3009595"/>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Accept the allowlisted inspect_atom</a:t>
            </a:r>
          </a:p>
        </p:txBody>
      </p:sp>
      <p:sp>
        <p:nvSpPr>
          <p:cNvPr id="13" name="TextBox 12"/>
          <p:cNvSpPr txBox="1"/>
          <p:nvPr/>
        </p:nvSpPr>
        <p:spPr>
          <a:xfrm>
            <a:off x="4396740" y="3214420"/>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operation, persist terminal</a:t>
            </a:r>
          </a:p>
        </p:txBody>
      </p:sp>
      <p:sp>
        <p:nvSpPr>
          <p:cNvPr id="14" name="TextBox 13"/>
          <p:cNvSpPr txBox="1"/>
          <p:nvPr/>
        </p:nvSpPr>
        <p:spPr>
          <a:xfrm>
            <a:off x="4396740" y="3419246"/>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state/result references and deliver</a:t>
            </a:r>
          </a:p>
        </p:txBody>
      </p:sp>
      <p:sp>
        <p:nvSpPr>
          <p:cNvPr id="15" name="TextBox 14"/>
          <p:cNvSpPr txBox="1"/>
          <p:nvPr/>
        </p:nvSpPr>
        <p:spPr>
          <a:xfrm>
            <a:off x="4396740" y="3624071"/>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correlated completion.</a:t>
            </a:r>
          </a:p>
        </p:txBody>
      </p:sp>
      <p:cxnSp>
        <p:nvCxnSpPr>
          <p:cNvPr id="16" name="Connector 15"/>
          <p:cNvCxnSpPr/>
          <p:nvPr/>
        </p:nvCxnSpPr>
        <p:spPr>
          <a:xfrm>
            <a:off x="3406140" y="3284219"/>
            <a:ext cx="822960" cy="0"/>
          </a:xfrm>
          <a:prstGeom prst="line">
            <a:avLst/>
          </a:prstGeom>
          <a:ln w="15240">
            <a:solidFill>
              <a:srgbClr val="315E9C"/>
            </a:solidFill>
          </a:ln>
          <a:effectLst/>
        </p:spPr>
      </p:cxnSp>
      <p:sp>
        <p:nvSpPr>
          <p:cNvPr id="17" name="Freeform 16"/>
          <p:cNvSpPr/>
          <p:nvPr/>
        </p:nvSpPr>
        <p:spPr>
          <a:xfrm>
            <a:off x="4130040" y="324612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18" name="Rounded Rectangle 17"/>
          <p:cNvSpPr/>
          <p:nvPr/>
        </p:nvSpPr>
        <p:spPr>
          <a:xfrm>
            <a:off x="8404860" y="1661159"/>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19" name="TextBox 18"/>
          <p:cNvSpPr txBox="1"/>
          <p:nvPr/>
        </p:nvSpPr>
        <p:spPr>
          <a:xfrm>
            <a:off x="8572500" y="1828800"/>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AtomStorage</a:t>
            </a:r>
          </a:p>
        </p:txBody>
      </p:sp>
      <p:sp>
        <p:nvSpPr>
          <p:cNvPr id="20" name="TextBox 19"/>
          <p:cNvSpPr txBox="1"/>
          <p:nvPr/>
        </p:nvSpPr>
        <p:spPr>
          <a:xfrm>
            <a:off x="8572500" y="216834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Read input; create immutable</a:t>
            </a:r>
          </a:p>
        </p:txBody>
      </p:sp>
      <p:sp>
        <p:nvSpPr>
          <p:cNvPr id="21" name="TextBox 20"/>
          <p:cNvSpPr txBox="1"/>
          <p:nvPr/>
        </p:nvSpPr>
        <p:spPr>
          <a:xfrm>
            <a:off x="8572500" y="2382926"/>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result</a:t>
            </a:r>
          </a:p>
        </p:txBody>
      </p:sp>
      <p:cxnSp>
        <p:nvCxnSpPr>
          <p:cNvPr id="22" name="Connector 21"/>
          <p:cNvCxnSpPr/>
          <p:nvPr/>
        </p:nvCxnSpPr>
        <p:spPr>
          <a:xfrm>
            <a:off x="7467600" y="3284219"/>
            <a:ext cx="426720" cy="0"/>
          </a:xfrm>
          <a:prstGeom prst="line">
            <a:avLst/>
          </a:prstGeom>
          <a:ln w="15240">
            <a:solidFill>
              <a:srgbClr val="315E9C"/>
            </a:solidFill>
          </a:ln>
          <a:effectLst/>
        </p:spPr>
      </p:cxnSp>
      <p:cxnSp>
        <p:nvCxnSpPr>
          <p:cNvPr id="23" name="Connector 22"/>
          <p:cNvCxnSpPr/>
          <p:nvPr/>
        </p:nvCxnSpPr>
        <p:spPr>
          <a:xfrm flipV="1">
            <a:off x="7894320" y="2164080"/>
            <a:ext cx="0" cy="1120139"/>
          </a:xfrm>
          <a:prstGeom prst="line">
            <a:avLst/>
          </a:prstGeom>
          <a:ln w="15240">
            <a:solidFill>
              <a:srgbClr val="315E9C"/>
            </a:solidFill>
          </a:ln>
          <a:effectLst/>
        </p:spPr>
      </p:cxnSp>
      <p:cxnSp>
        <p:nvCxnSpPr>
          <p:cNvPr id="24" name="Connector 23"/>
          <p:cNvCxnSpPr/>
          <p:nvPr/>
        </p:nvCxnSpPr>
        <p:spPr>
          <a:xfrm>
            <a:off x="7894320" y="2164080"/>
            <a:ext cx="510540" cy="0"/>
          </a:xfrm>
          <a:prstGeom prst="line">
            <a:avLst/>
          </a:prstGeom>
          <a:ln w="15240">
            <a:solidFill>
              <a:srgbClr val="315E9C"/>
            </a:solidFill>
          </a:ln>
          <a:effectLst/>
        </p:spPr>
      </p:cxnSp>
      <p:sp>
        <p:nvSpPr>
          <p:cNvPr id="25" name="Freeform 24"/>
          <p:cNvSpPr/>
          <p:nvPr/>
        </p:nvSpPr>
        <p:spPr>
          <a:xfrm>
            <a:off x="8305800" y="212598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6" name="Rounded Rectangle 25"/>
          <p:cNvSpPr/>
          <p:nvPr/>
        </p:nvSpPr>
        <p:spPr>
          <a:xfrm>
            <a:off x="8404860" y="2705100"/>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27" name="TextBox 26"/>
          <p:cNvSpPr txBox="1"/>
          <p:nvPr/>
        </p:nvSpPr>
        <p:spPr>
          <a:xfrm>
            <a:off x="8572500" y="2872740"/>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CompletionDelivery</a:t>
            </a:r>
          </a:p>
        </p:txBody>
      </p:sp>
      <p:sp>
        <p:nvSpPr>
          <p:cNvPr id="28" name="TextBox 27"/>
          <p:cNvSpPr txBox="1"/>
          <p:nvPr/>
        </p:nvSpPr>
        <p:spPr>
          <a:xfrm>
            <a:off x="8572500" y="321228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Durable mailbox acceptance</a:t>
            </a:r>
          </a:p>
        </p:txBody>
      </p:sp>
      <p:sp>
        <p:nvSpPr>
          <p:cNvPr id="29" name="TextBox 28"/>
          <p:cNvSpPr txBox="1"/>
          <p:nvPr/>
        </p:nvSpPr>
        <p:spPr>
          <a:xfrm>
            <a:off x="8572500" y="3426866"/>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through trusted port</a:t>
            </a:r>
          </a:p>
        </p:txBody>
      </p:sp>
      <p:cxnSp>
        <p:nvCxnSpPr>
          <p:cNvPr id="30" name="Connector 29"/>
          <p:cNvCxnSpPr/>
          <p:nvPr/>
        </p:nvCxnSpPr>
        <p:spPr>
          <a:xfrm>
            <a:off x="7467600" y="3284219"/>
            <a:ext cx="426720" cy="0"/>
          </a:xfrm>
          <a:prstGeom prst="line">
            <a:avLst/>
          </a:prstGeom>
          <a:ln w="15240">
            <a:solidFill>
              <a:srgbClr val="315E9C"/>
            </a:solidFill>
          </a:ln>
          <a:effectLst/>
        </p:spPr>
      </p:cxnSp>
      <p:cxnSp>
        <p:nvCxnSpPr>
          <p:cNvPr id="31" name="Connector 30"/>
          <p:cNvCxnSpPr/>
          <p:nvPr/>
        </p:nvCxnSpPr>
        <p:spPr>
          <a:xfrm flipV="1">
            <a:off x="7894320" y="3208020"/>
            <a:ext cx="0" cy="76199"/>
          </a:xfrm>
          <a:prstGeom prst="line">
            <a:avLst/>
          </a:prstGeom>
          <a:ln w="15240">
            <a:solidFill>
              <a:srgbClr val="315E9C"/>
            </a:solidFill>
          </a:ln>
          <a:effectLst/>
        </p:spPr>
      </p:cxnSp>
      <p:cxnSp>
        <p:nvCxnSpPr>
          <p:cNvPr id="32" name="Connector 31"/>
          <p:cNvCxnSpPr/>
          <p:nvPr/>
        </p:nvCxnSpPr>
        <p:spPr>
          <a:xfrm>
            <a:off x="7894320" y="3208020"/>
            <a:ext cx="510540" cy="0"/>
          </a:xfrm>
          <a:prstGeom prst="line">
            <a:avLst/>
          </a:prstGeom>
          <a:ln w="15240">
            <a:solidFill>
              <a:srgbClr val="315E9C"/>
            </a:solidFill>
          </a:ln>
          <a:effectLst/>
        </p:spPr>
      </p:cxnSp>
      <p:sp>
        <p:nvSpPr>
          <p:cNvPr id="33" name="Freeform 32"/>
          <p:cNvSpPr/>
          <p:nvPr/>
        </p:nvSpPr>
        <p:spPr>
          <a:xfrm>
            <a:off x="8305800" y="316992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34" name="Rounded Rectangle 33"/>
          <p:cNvSpPr/>
          <p:nvPr/>
        </p:nvSpPr>
        <p:spPr>
          <a:xfrm>
            <a:off x="8404860" y="3749040"/>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35" name="TextBox 34"/>
          <p:cNvSpPr txBox="1"/>
          <p:nvPr/>
        </p:nvSpPr>
        <p:spPr>
          <a:xfrm>
            <a:off x="8572500" y="3916679"/>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Live policy</a:t>
            </a:r>
          </a:p>
        </p:txBody>
      </p:sp>
      <p:sp>
        <p:nvSpPr>
          <p:cNvPr id="36" name="TextBox 35"/>
          <p:cNvSpPr txBox="1"/>
          <p:nvPr/>
        </p:nvSpPr>
        <p:spPr>
          <a:xfrm>
            <a:off x="8572500" y="425622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Caller/worker permissions and</a:t>
            </a:r>
          </a:p>
        </p:txBody>
      </p:sp>
      <p:sp>
        <p:nvSpPr>
          <p:cNvPr id="37" name="TextBox 36"/>
          <p:cNvSpPr txBox="1"/>
          <p:nvPr/>
        </p:nvSpPr>
        <p:spPr>
          <a:xfrm>
            <a:off x="8572500" y="4470806"/>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reply route</a:t>
            </a:r>
          </a:p>
        </p:txBody>
      </p:sp>
      <p:cxnSp>
        <p:nvCxnSpPr>
          <p:cNvPr id="38" name="Connector 37"/>
          <p:cNvCxnSpPr/>
          <p:nvPr/>
        </p:nvCxnSpPr>
        <p:spPr>
          <a:xfrm>
            <a:off x="7467600" y="3284219"/>
            <a:ext cx="426720" cy="0"/>
          </a:xfrm>
          <a:prstGeom prst="line">
            <a:avLst/>
          </a:prstGeom>
          <a:ln w="15240">
            <a:solidFill>
              <a:srgbClr val="315E9C"/>
            </a:solidFill>
          </a:ln>
          <a:effectLst/>
        </p:spPr>
      </p:cxnSp>
      <p:cxnSp>
        <p:nvCxnSpPr>
          <p:cNvPr id="39" name="Connector 38"/>
          <p:cNvCxnSpPr/>
          <p:nvPr/>
        </p:nvCxnSpPr>
        <p:spPr>
          <a:xfrm>
            <a:off x="7894320" y="3284219"/>
            <a:ext cx="0" cy="967741"/>
          </a:xfrm>
          <a:prstGeom prst="line">
            <a:avLst/>
          </a:prstGeom>
          <a:ln w="15240">
            <a:solidFill>
              <a:srgbClr val="315E9C"/>
            </a:solidFill>
          </a:ln>
          <a:effectLst/>
        </p:spPr>
      </p:cxnSp>
      <p:cxnSp>
        <p:nvCxnSpPr>
          <p:cNvPr id="40" name="Connector 39"/>
          <p:cNvCxnSpPr/>
          <p:nvPr/>
        </p:nvCxnSpPr>
        <p:spPr>
          <a:xfrm>
            <a:off x="7894320" y="4251960"/>
            <a:ext cx="510540" cy="0"/>
          </a:xfrm>
          <a:prstGeom prst="line">
            <a:avLst/>
          </a:prstGeom>
          <a:ln w="15240">
            <a:solidFill>
              <a:srgbClr val="315E9C"/>
            </a:solidFill>
          </a:ln>
          <a:effectLst/>
        </p:spPr>
      </p:cxnSp>
      <p:sp>
        <p:nvSpPr>
          <p:cNvPr id="41" name="Freeform 40"/>
          <p:cNvSpPr/>
          <p:nvPr/>
        </p:nvSpPr>
        <p:spPr>
          <a:xfrm>
            <a:off x="8305800" y="421386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42" name="Rounded Rectangle 41"/>
          <p:cNvSpPr/>
          <p:nvPr/>
        </p:nvSpPr>
        <p:spPr>
          <a:xfrm>
            <a:off x="8404860" y="4792980"/>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43" name="TextBox 42"/>
          <p:cNvSpPr txBox="1"/>
          <p:nvPr/>
        </p:nvSpPr>
        <p:spPr>
          <a:xfrm>
            <a:off x="8572500" y="4960620"/>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Own execution journal</a:t>
            </a:r>
          </a:p>
        </p:txBody>
      </p:sp>
      <p:sp>
        <p:nvSpPr>
          <p:cNvPr id="44" name="TextBox 43"/>
          <p:cNvSpPr txBox="1"/>
          <p:nvPr/>
        </p:nvSpPr>
        <p:spPr>
          <a:xfrm>
            <a:off x="8572500" y="530016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Job admission, terminal state and</a:t>
            </a:r>
          </a:p>
        </p:txBody>
      </p:sp>
      <p:sp>
        <p:nvSpPr>
          <p:cNvPr id="45" name="TextBox 44"/>
          <p:cNvSpPr txBox="1"/>
          <p:nvPr/>
        </p:nvSpPr>
        <p:spPr>
          <a:xfrm>
            <a:off x="8572500" y="5514746"/>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completion outbox</a:t>
            </a:r>
          </a:p>
        </p:txBody>
      </p:sp>
      <p:cxnSp>
        <p:nvCxnSpPr>
          <p:cNvPr id="46" name="Connector 45"/>
          <p:cNvCxnSpPr/>
          <p:nvPr/>
        </p:nvCxnSpPr>
        <p:spPr>
          <a:xfrm>
            <a:off x="7467600" y="3284219"/>
            <a:ext cx="426720" cy="0"/>
          </a:xfrm>
          <a:prstGeom prst="line">
            <a:avLst/>
          </a:prstGeom>
          <a:ln w="15240">
            <a:solidFill>
              <a:srgbClr val="315E9C"/>
            </a:solidFill>
          </a:ln>
          <a:effectLst/>
        </p:spPr>
      </p:cxnSp>
      <p:cxnSp>
        <p:nvCxnSpPr>
          <p:cNvPr id="47" name="Connector 46"/>
          <p:cNvCxnSpPr/>
          <p:nvPr/>
        </p:nvCxnSpPr>
        <p:spPr>
          <a:xfrm>
            <a:off x="7894320" y="3284219"/>
            <a:ext cx="0" cy="2011681"/>
          </a:xfrm>
          <a:prstGeom prst="line">
            <a:avLst/>
          </a:prstGeom>
          <a:ln w="15240">
            <a:solidFill>
              <a:srgbClr val="315E9C"/>
            </a:solidFill>
          </a:ln>
          <a:effectLst/>
        </p:spPr>
      </p:cxnSp>
      <p:cxnSp>
        <p:nvCxnSpPr>
          <p:cNvPr id="48" name="Connector 47"/>
          <p:cNvCxnSpPr/>
          <p:nvPr/>
        </p:nvCxnSpPr>
        <p:spPr>
          <a:xfrm>
            <a:off x="7894320" y="5295900"/>
            <a:ext cx="510540" cy="0"/>
          </a:xfrm>
          <a:prstGeom prst="line">
            <a:avLst/>
          </a:prstGeom>
          <a:ln w="15240">
            <a:solidFill>
              <a:srgbClr val="315E9C"/>
            </a:solidFill>
          </a:ln>
          <a:effectLst/>
        </p:spPr>
      </p:cxnSp>
      <p:sp>
        <p:nvSpPr>
          <p:cNvPr id="49" name="Freeform 48"/>
          <p:cNvSpPr/>
          <p:nvPr/>
        </p:nvSpPr>
        <p:spPr>
          <a:xfrm>
            <a:off x="8305800" y="52578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50" name="Rounded Rectangle 49"/>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51" name="TextBox 50"/>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One responsibility does not imply one process. A dependency does not grant access to its private tables.</a:t>
            </a:r>
          </a:p>
        </p:txBody>
      </p:sp>
      <p:cxnSp>
        <p:nvCxnSpPr>
          <p:cNvPr id="52" name="Connector 51"/>
          <p:cNvCxnSpPr/>
          <p:nvPr/>
        </p:nvCxnSpPr>
        <p:spPr>
          <a:xfrm>
            <a:off x="548640" y="6393180"/>
            <a:ext cx="11094720" cy="0"/>
          </a:xfrm>
          <a:prstGeom prst="line">
            <a:avLst/>
          </a:prstGeom>
          <a:ln w="7620">
            <a:solidFill>
              <a:srgbClr val="C9D2D4"/>
            </a:solidFill>
          </a:ln>
          <a:effectLst/>
        </p:spPr>
      </p:cxnSp>
      <p:sp>
        <p:nvSpPr>
          <p:cNvPr id="53" name="TextBox 52"/>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Delegated execution · M5 source bfb0ec8</a:t>
            </a:r>
          </a:p>
        </p:txBody>
      </p:sp>
      <p:sp>
        <p:nvSpPr>
          <p:cNvPr id="54" name="TextBox 53"/>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03 / OWNERSHIP</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Responsibility, state and scope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owner is authoritative for its own state; other responsibilities are deliberately separate.</a:t>
            </a:r>
          </a:p>
        </p:txBody>
      </p:sp>
      <p:sp>
        <p:nvSpPr>
          <p:cNvPr id="5" name="TextBox 4"/>
          <p:cNvSpPr txBox="1"/>
          <p:nvPr/>
        </p:nvSpPr>
        <p:spPr>
          <a:xfrm>
            <a:off x="640080" y="1775459"/>
            <a:ext cx="5257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315E9C"/>
                </a:solidFill>
                <a:latin typeface="DejaVu Sans"/>
              </a:rPr>
              <a:t>OWNS / GUARANTEES</a:t>
            </a:r>
          </a:p>
        </p:txBody>
      </p:sp>
      <p:sp>
        <p:nvSpPr>
          <p:cNvPr id="6" name="Rounded Rectangle 5"/>
          <p:cNvSpPr/>
          <p:nvPr/>
        </p:nvSpPr>
        <p:spPr>
          <a:xfrm>
            <a:off x="548640" y="2133600"/>
            <a:ext cx="542544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7" name="TextBox 6"/>
          <p:cNvSpPr txBox="1"/>
          <p:nvPr/>
        </p:nvSpPr>
        <p:spPr>
          <a:xfrm>
            <a:off x="716280" y="2301240"/>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Job + terminal decision</a:t>
            </a:r>
          </a:p>
        </p:txBody>
      </p:sp>
      <p:sp>
        <p:nvSpPr>
          <p:cNvPr id="8" name="TextBox 7"/>
          <p:cNvSpPr txBox="1"/>
          <p:nvPr/>
        </p:nvSpPr>
        <p:spPr>
          <a:xfrm>
            <a:off x="716280" y="267980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Queued/succeeded/failed and result/error</a:t>
            </a:r>
          </a:p>
        </p:txBody>
      </p:sp>
      <p:sp>
        <p:nvSpPr>
          <p:cNvPr id="9" name="TextBox 8"/>
          <p:cNvSpPr txBox="1"/>
          <p:nvPr/>
        </p:nvSpPr>
        <p:spPr>
          <a:xfrm>
            <a:off x="716280" y="293339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correlation</a:t>
            </a:r>
          </a:p>
        </p:txBody>
      </p:sp>
      <p:sp>
        <p:nvSpPr>
          <p:cNvPr id="10" name="Rounded Rectangle 9"/>
          <p:cNvSpPr/>
          <p:nvPr/>
        </p:nvSpPr>
        <p:spPr>
          <a:xfrm>
            <a:off x="548640" y="3764279"/>
            <a:ext cx="542544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11" name="TextBox 10"/>
          <p:cNvSpPr txBox="1"/>
          <p:nvPr/>
        </p:nvSpPr>
        <p:spPr>
          <a:xfrm>
            <a:off x="716280" y="3931919"/>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Completion outbox</a:t>
            </a:r>
          </a:p>
        </p:txBody>
      </p:sp>
      <p:sp>
        <p:nvSpPr>
          <p:cNvPr id="12" name="TextBox 11"/>
          <p:cNvSpPr txBox="1"/>
          <p:nvPr/>
        </p:nvSpPr>
        <p:spPr>
          <a:xfrm>
            <a:off x="716280" y="431048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Delivery intent and recorded mailbox-acceptance</a:t>
            </a:r>
          </a:p>
        </p:txBody>
      </p:sp>
      <p:sp>
        <p:nvSpPr>
          <p:cNvPr id="13" name="TextBox 12"/>
          <p:cNvSpPr txBox="1"/>
          <p:nvPr/>
        </p:nvSpPr>
        <p:spPr>
          <a:xfrm>
            <a:off x="716280" y="456407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progress</a:t>
            </a:r>
          </a:p>
        </p:txBody>
      </p:sp>
      <p:sp>
        <p:nvSpPr>
          <p:cNvPr id="14" name="TextBox 13"/>
          <p:cNvSpPr txBox="1"/>
          <p:nvPr/>
        </p:nvSpPr>
        <p:spPr>
          <a:xfrm>
            <a:off x="6309359" y="1775459"/>
            <a:ext cx="5257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A86A15"/>
                </a:solidFill>
                <a:latin typeface="DejaVu Sans"/>
              </a:rPr>
              <a:t>OUTSIDE THIS RESPONSIBILITY</a:t>
            </a:r>
          </a:p>
        </p:txBody>
      </p:sp>
      <p:sp>
        <p:nvSpPr>
          <p:cNvPr id="15" name="Rounded Rectangle 14"/>
          <p:cNvSpPr/>
          <p:nvPr/>
        </p:nvSpPr>
        <p:spPr>
          <a:xfrm>
            <a:off x="6217920" y="2133600"/>
            <a:ext cx="5425440" cy="1447800"/>
          </a:xfrm>
          <a:prstGeom prst="roundRect">
            <a:avLst>
              <a:gd name="adj" fmla="val 6842"/>
            </a:avLst>
          </a:prstGeom>
          <a:solidFill>
            <a:srgbClr val="F3E7CE"/>
          </a:solidFill>
          <a:ln w="7620">
            <a:solidFill>
              <a:srgbClr val="A86A15"/>
            </a:solidFill>
          </a:ln>
          <a:effectLst/>
        </p:spPr>
        <p:txBody>
          <a:bodyPr rtlCol="0" anchor="ctr"/>
          <a:lstStyle/>
          <a:p>
            <a:pPr algn="ctr"/>
          </a:p>
        </p:txBody>
      </p:sp>
      <p:sp>
        <p:nvSpPr>
          <p:cNvPr id="16" name="TextBox 15"/>
          <p:cNvSpPr txBox="1"/>
          <p:nvPr/>
        </p:nvSpPr>
        <p:spPr>
          <a:xfrm>
            <a:off x="6385559" y="2301240"/>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Storage or mailbox mutation</a:t>
            </a:r>
          </a:p>
        </p:txBody>
      </p:sp>
      <p:sp>
        <p:nvSpPr>
          <p:cNvPr id="17" name="TextBox 16"/>
          <p:cNvSpPr txBox="1"/>
          <p:nvPr/>
        </p:nvSpPr>
        <p:spPr>
          <a:xfrm>
            <a:off x="6385559" y="2603601"/>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authority</a:t>
            </a:r>
          </a:p>
        </p:txBody>
      </p:sp>
      <p:sp>
        <p:nvSpPr>
          <p:cNvPr id="18" name="TextBox 17"/>
          <p:cNvSpPr txBox="1"/>
          <p:nvPr/>
        </p:nvSpPr>
        <p:spPr>
          <a:xfrm>
            <a:off x="6385559" y="2982163"/>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Calls declared ports; no foreign tables or</a:t>
            </a:r>
          </a:p>
        </p:txBody>
      </p:sp>
      <p:sp>
        <p:nvSpPr>
          <p:cNvPr id="19" name="TextBox 18"/>
          <p:cNvSpPr txBox="1"/>
          <p:nvPr/>
        </p:nvSpPr>
        <p:spPr>
          <a:xfrm>
            <a:off x="6385559" y="3235756"/>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cross-owner SQL transaction</a:t>
            </a:r>
          </a:p>
        </p:txBody>
      </p:sp>
      <p:sp>
        <p:nvSpPr>
          <p:cNvPr id="20" name="Rounded Rectangle 19"/>
          <p:cNvSpPr/>
          <p:nvPr/>
        </p:nvSpPr>
        <p:spPr>
          <a:xfrm>
            <a:off x="6217920" y="3764279"/>
            <a:ext cx="5425440" cy="1447800"/>
          </a:xfrm>
          <a:prstGeom prst="roundRect">
            <a:avLst>
              <a:gd name="adj" fmla="val 6842"/>
            </a:avLst>
          </a:prstGeom>
          <a:solidFill>
            <a:srgbClr val="F3E7CE"/>
          </a:solidFill>
          <a:ln w="7620">
            <a:solidFill>
              <a:srgbClr val="A86A15"/>
            </a:solidFill>
          </a:ln>
          <a:effectLst/>
        </p:spPr>
        <p:txBody>
          <a:bodyPr rtlCol="0" anchor="ctr"/>
          <a:lstStyle/>
          <a:p>
            <a:pPr algn="ctr"/>
          </a:p>
        </p:txBody>
      </p:sp>
      <p:sp>
        <p:nvSpPr>
          <p:cNvPr id="21" name="TextBox 20"/>
          <p:cNvSpPr txBox="1"/>
          <p:nvPr/>
        </p:nvSpPr>
        <p:spPr>
          <a:xfrm>
            <a:off x="6385559" y="3931919"/>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Reasoning/process migration</a:t>
            </a:r>
          </a:p>
        </p:txBody>
      </p:sp>
      <p:sp>
        <p:nvSpPr>
          <p:cNvPr id="22" name="TextBox 21"/>
          <p:cNvSpPr txBox="1"/>
          <p:nvPr/>
        </p:nvSpPr>
        <p:spPr>
          <a:xfrm>
            <a:off x="6385559" y="431048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Only inspect_atom; no arbitrary code execution or</a:t>
            </a:r>
          </a:p>
        </p:txBody>
      </p:sp>
      <p:sp>
        <p:nvSpPr>
          <p:cNvPr id="23" name="TextBox 22"/>
          <p:cNvSpPr txBox="1"/>
          <p:nvPr/>
        </p:nvSpPr>
        <p:spPr>
          <a:xfrm>
            <a:off x="6385559" y="456407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cognition</a:t>
            </a:r>
          </a:p>
        </p:txBody>
      </p:sp>
      <p:sp>
        <p:nvSpPr>
          <p:cNvPr id="24" name="Rounded Rectangle 23"/>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5" name="TextBox 24"/>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inspect-atom/2 · operation algorithm 0.1.0 · public wire 1.0.0</a:t>
            </a:r>
          </a:p>
        </p:txBody>
      </p:sp>
      <p:cxnSp>
        <p:nvCxnSpPr>
          <p:cNvPr id="26" name="Connector 25"/>
          <p:cNvCxnSpPr/>
          <p:nvPr/>
        </p:nvCxnSpPr>
        <p:spPr>
          <a:xfrm>
            <a:off x="548640" y="6393180"/>
            <a:ext cx="11094720" cy="0"/>
          </a:xfrm>
          <a:prstGeom prst="line">
            <a:avLst/>
          </a:prstGeom>
          <a:ln w="7620">
            <a:solidFill>
              <a:srgbClr val="C9D2D4"/>
            </a:solidFill>
          </a:ln>
          <a:effectLst/>
        </p:spPr>
      </p:cxnSp>
      <p:sp>
        <p:nvSpPr>
          <p:cNvPr id="27" name="TextBox 26"/>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Delegated execution · M5 source bfb0ec8</a:t>
            </a:r>
          </a:p>
        </p:txBody>
      </p:sp>
      <p:sp>
        <p:nvSpPr>
          <p:cNvPr id="28" name="TextBox 27"/>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04 / CONTRACT</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The executable surface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operations and implementation seams define the supported scope; versions and profiles remain explicit.</a:t>
            </a:r>
          </a:p>
        </p:txBody>
      </p:sp>
      <p:sp>
        <p:nvSpPr>
          <p:cNvPr id="5" name="TextBox 4"/>
          <p:cNvSpPr txBox="1"/>
          <p:nvPr/>
        </p:nvSpPr>
        <p:spPr>
          <a:xfrm>
            <a:off x="670560" y="1790700"/>
            <a:ext cx="28041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OPERATION / SEAM</a:t>
            </a:r>
          </a:p>
        </p:txBody>
      </p:sp>
      <p:sp>
        <p:nvSpPr>
          <p:cNvPr id="6" name="TextBox 5"/>
          <p:cNvSpPr txBox="1"/>
          <p:nvPr/>
        </p:nvSpPr>
        <p:spPr>
          <a:xfrm>
            <a:off x="3718560" y="1790700"/>
            <a:ext cx="38328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RESPONSIBILITY</a:t>
            </a:r>
          </a:p>
        </p:txBody>
      </p:sp>
      <p:sp>
        <p:nvSpPr>
          <p:cNvPr id="7" name="TextBox 6"/>
          <p:cNvSpPr txBox="1"/>
          <p:nvPr/>
        </p:nvSpPr>
        <p:spPr>
          <a:xfrm>
            <a:off x="7795259" y="1790700"/>
            <a:ext cx="37261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CONTRACT CONSEQUENCE</a:t>
            </a:r>
          </a:p>
        </p:txBody>
      </p:sp>
      <p:sp>
        <p:nvSpPr>
          <p:cNvPr id="8" name="Rounded Rectangle 7"/>
          <p:cNvSpPr/>
          <p:nvPr/>
        </p:nvSpPr>
        <p:spPr>
          <a:xfrm>
            <a:off x="548640" y="2110740"/>
            <a:ext cx="11094720" cy="792480"/>
          </a:xfrm>
          <a:prstGeom prst="roundRect">
            <a:avLst>
              <a:gd name="adj" fmla="val 5769"/>
            </a:avLst>
          </a:prstGeom>
          <a:solidFill>
            <a:srgbClr val="FFFFFF"/>
          </a:solidFill>
          <a:ln>
            <a:noFill/>
          </a:ln>
          <a:effectLst/>
        </p:spPr>
        <p:txBody>
          <a:bodyPr rtlCol="0" anchor="ctr"/>
          <a:lstStyle/>
          <a:p>
            <a:pPr algn="ctr"/>
          </a:p>
        </p:txBody>
      </p:sp>
      <p:sp>
        <p:nvSpPr>
          <p:cNvPr id="9" name="TextBox 8"/>
          <p:cNvSpPr txBox="1"/>
          <p:nvPr/>
        </p:nvSpPr>
        <p:spPr>
          <a:xfrm>
            <a:off x="670560" y="224028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submit</a:t>
            </a:r>
          </a:p>
        </p:txBody>
      </p:sp>
      <p:sp>
        <p:nvSpPr>
          <p:cNvPr id="10" name="TextBox 9"/>
          <p:cNvSpPr txBox="1"/>
          <p:nvPr/>
        </p:nvSpPr>
        <p:spPr>
          <a:xfrm>
            <a:off x="3718560" y="224028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Validate caller/worker read permissions</a:t>
            </a:r>
          </a:p>
        </p:txBody>
      </p:sp>
      <p:sp>
        <p:nvSpPr>
          <p:cNvPr id="11" name="TextBox 10"/>
          <p:cNvSpPr txBox="1"/>
          <p:nvPr/>
        </p:nvSpPr>
        <p:spPr>
          <a:xfrm>
            <a:off x="3718560" y="248412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and input</a:t>
            </a:r>
          </a:p>
        </p:txBody>
      </p:sp>
      <p:sp>
        <p:nvSpPr>
          <p:cNvPr id="12" name="TextBox 11"/>
          <p:cNvSpPr txBox="1"/>
          <p:nvPr/>
        </p:nvSpPr>
        <p:spPr>
          <a:xfrm>
            <a:off x="7795259" y="224028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Durable queued acceptance, not</a:t>
            </a:r>
          </a:p>
        </p:txBody>
      </p:sp>
      <p:sp>
        <p:nvSpPr>
          <p:cNvPr id="13" name="TextBox 12"/>
          <p:cNvSpPr txBox="1"/>
          <p:nvPr/>
        </p:nvSpPr>
        <p:spPr>
          <a:xfrm>
            <a:off x="7795259" y="248412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completion</a:t>
            </a:r>
          </a:p>
        </p:txBody>
      </p:sp>
      <p:sp>
        <p:nvSpPr>
          <p:cNvPr id="14" name="Rounded Rectangle 13"/>
          <p:cNvSpPr/>
          <p:nvPr/>
        </p:nvSpPr>
        <p:spPr>
          <a:xfrm>
            <a:off x="548640" y="2941320"/>
            <a:ext cx="11094720" cy="792480"/>
          </a:xfrm>
          <a:prstGeom prst="roundRect">
            <a:avLst>
              <a:gd name="adj" fmla="val 5769"/>
            </a:avLst>
          </a:prstGeom>
          <a:solidFill>
            <a:srgbClr val="FFFFFF"/>
          </a:solidFill>
          <a:ln>
            <a:noFill/>
          </a:ln>
          <a:effectLst/>
        </p:spPr>
        <p:txBody>
          <a:bodyPr rtlCol="0" anchor="ctr"/>
          <a:lstStyle/>
          <a:p>
            <a:pPr algn="ctr"/>
          </a:p>
        </p:txBody>
      </p:sp>
      <p:sp>
        <p:nvSpPr>
          <p:cNvPr id="15" name="TextBox 14"/>
          <p:cNvSpPr txBox="1"/>
          <p:nvPr/>
        </p:nvSpPr>
        <p:spPr>
          <a:xfrm>
            <a:off x="670560" y="307086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status</a:t>
            </a:r>
          </a:p>
        </p:txBody>
      </p:sp>
      <p:sp>
        <p:nvSpPr>
          <p:cNvPr id="16" name="TextBox 15"/>
          <p:cNvSpPr txBox="1"/>
          <p:nvPr/>
        </p:nvSpPr>
        <p:spPr>
          <a:xfrm>
            <a:off x="3718560" y="307086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Read caller-owned job and delivery</a:t>
            </a:r>
          </a:p>
        </p:txBody>
      </p:sp>
      <p:sp>
        <p:nvSpPr>
          <p:cNvPr id="17" name="TextBox 16"/>
          <p:cNvSpPr txBox="1"/>
          <p:nvPr/>
        </p:nvSpPr>
        <p:spPr>
          <a:xfrm>
            <a:off x="3718560" y="331470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observations</a:t>
            </a:r>
          </a:p>
        </p:txBody>
      </p:sp>
      <p:sp>
        <p:nvSpPr>
          <p:cNvPr id="18" name="TextBox 17"/>
          <p:cNvSpPr txBox="1"/>
          <p:nvPr/>
        </p:nvSpPr>
        <p:spPr>
          <a:xfrm>
            <a:off x="7795259" y="307086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Execution and delivery remain distinct</a:t>
            </a:r>
          </a:p>
        </p:txBody>
      </p:sp>
      <p:sp>
        <p:nvSpPr>
          <p:cNvPr id="19" name="Rounded Rectangle 18"/>
          <p:cNvSpPr/>
          <p:nvPr/>
        </p:nvSpPr>
        <p:spPr>
          <a:xfrm>
            <a:off x="548640" y="3771900"/>
            <a:ext cx="11094720" cy="792480"/>
          </a:xfrm>
          <a:prstGeom prst="roundRect">
            <a:avLst>
              <a:gd name="adj" fmla="val 5769"/>
            </a:avLst>
          </a:prstGeom>
          <a:solidFill>
            <a:srgbClr val="FFFFFF"/>
          </a:solidFill>
          <a:ln>
            <a:noFill/>
          </a:ln>
          <a:effectLst/>
        </p:spPr>
        <p:txBody>
          <a:bodyPr rtlCol="0" anchor="ctr"/>
          <a:lstStyle/>
          <a:p>
            <a:pPr algn="ctr"/>
          </a:p>
        </p:txBody>
      </p:sp>
      <p:sp>
        <p:nvSpPr>
          <p:cNvPr id="20" name="TextBox 19"/>
          <p:cNvSpPr txBox="1"/>
          <p:nvPr/>
        </p:nvSpPr>
        <p:spPr>
          <a:xfrm>
            <a:off x="670560" y="390144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result</a:t>
            </a:r>
          </a:p>
        </p:txBody>
      </p:sp>
      <p:sp>
        <p:nvSpPr>
          <p:cNvPr id="21" name="TextBox 20"/>
          <p:cNvSpPr txBox="1"/>
          <p:nvPr/>
        </p:nvSpPr>
        <p:spPr>
          <a:xfrm>
            <a:off x="3718560" y="390144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Return accepted result reference after</a:t>
            </a:r>
          </a:p>
        </p:txBody>
      </p:sp>
      <p:sp>
        <p:nvSpPr>
          <p:cNvPr id="22" name="TextBox 21"/>
          <p:cNvSpPr txBox="1"/>
          <p:nvPr/>
        </p:nvSpPr>
        <p:spPr>
          <a:xfrm>
            <a:off x="3718560" y="4145279"/>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success</a:t>
            </a:r>
          </a:p>
        </p:txBody>
      </p:sp>
      <p:sp>
        <p:nvSpPr>
          <p:cNvPr id="23" name="TextBox 22"/>
          <p:cNvSpPr txBox="1"/>
          <p:nvPr/>
        </p:nvSpPr>
        <p:spPr>
          <a:xfrm>
            <a:off x="7795259" y="390144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Reauthorize read; failed/pending</a:t>
            </a:r>
          </a:p>
        </p:txBody>
      </p:sp>
      <p:sp>
        <p:nvSpPr>
          <p:cNvPr id="24" name="TextBox 23"/>
          <p:cNvSpPr txBox="1"/>
          <p:nvPr/>
        </p:nvSpPr>
        <p:spPr>
          <a:xfrm>
            <a:off x="7795259" y="4145279"/>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outcomes explicit</a:t>
            </a:r>
          </a:p>
        </p:txBody>
      </p:sp>
      <p:sp>
        <p:nvSpPr>
          <p:cNvPr id="25" name="Rounded Rectangle 24"/>
          <p:cNvSpPr/>
          <p:nvPr/>
        </p:nvSpPr>
        <p:spPr>
          <a:xfrm>
            <a:off x="548640" y="4602480"/>
            <a:ext cx="11094720" cy="792480"/>
          </a:xfrm>
          <a:prstGeom prst="roundRect">
            <a:avLst>
              <a:gd name="adj" fmla="val 5769"/>
            </a:avLst>
          </a:prstGeom>
          <a:solidFill>
            <a:srgbClr val="FFFFFF"/>
          </a:solidFill>
          <a:ln>
            <a:noFill/>
          </a:ln>
          <a:effectLst/>
        </p:spPr>
        <p:txBody>
          <a:bodyPr rtlCol="0" anchor="ctr"/>
          <a:lstStyle/>
          <a:p>
            <a:pPr algn="ctr"/>
          </a:p>
        </p:txBody>
      </p:sp>
      <p:sp>
        <p:nvSpPr>
          <p:cNvPr id="26" name="TextBox 25"/>
          <p:cNvSpPr txBox="1"/>
          <p:nvPr/>
        </p:nvSpPr>
        <p:spPr>
          <a:xfrm>
            <a:off x="670560" y="473202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Trusted worker / flush</a:t>
            </a:r>
          </a:p>
        </p:txBody>
      </p:sp>
      <p:sp>
        <p:nvSpPr>
          <p:cNvPr id="27" name="TextBox 26"/>
          <p:cNvSpPr txBox="1"/>
          <p:nvPr/>
        </p:nvSpPr>
        <p:spPr>
          <a:xfrm>
            <a:off x="3718560" y="473202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Compute bounded result, persist and</a:t>
            </a:r>
          </a:p>
        </p:txBody>
      </p:sp>
      <p:sp>
        <p:nvSpPr>
          <p:cNvPr id="28" name="TextBox 27"/>
          <p:cNvSpPr txBox="1"/>
          <p:nvPr/>
        </p:nvSpPr>
        <p:spPr>
          <a:xfrm>
            <a:off x="3718560" y="497586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deliver</a:t>
            </a:r>
          </a:p>
        </p:txBody>
      </p:sp>
      <p:sp>
        <p:nvSpPr>
          <p:cNvPr id="29" name="TextBox 28"/>
          <p:cNvSpPr txBox="1"/>
          <p:nvPr/>
        </p:nvSpPr>
        <p:spPr>
          <a:xfrm>
            <a:off x="7795259" y="473202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Not exposed as arbitrary client</a:t>
            </a:r>
          </a:p>
        </p:txBody>
      </p:sp>
      <p:sp>
        <p:nvSpPr>
          <p:cNvPr id="30" name="TextBox 29"/>
          <p:cNvSpPr txBox="1"/>
          <p:nvPr/>
        </p:nvSpPr>
        <p:spPr>
          <a:xfrm>
            <a:off x="7795259" y="497586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commands</a:t>
            </a:r>
          </a:p>
        </p:txBody>
      </p:sp>
      <p:sp>
        <p:nvSpPr>
          <p:cNvPr id="31" name="Rounded Rectangle 30"/>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32" name="TextBox 31"/>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One bounded worker writer; finite configured queued-job + unsent-outbox capacity.</a:t>
            </a:r>
          </a:p>
        </p:txBody>
      </p:sp>
      <p:cxnSp>
        <p:nvCxnSpPr>
          <p:cNvPr id="33" name="Connector 32"/>
          <p:cNvCxnSpPr/>
          <p:nvPr/>
        </p:nvCxnSpPr>
        <p:spPr>
          <a:xfrm>
            <a:off x="548640" y="6393180"/>
            <a:ext cx="11094720" cy="0"/>
          </a:xfrm>
          <a:prstGeom prst="line">
            <a:avLst/>
          </a:prstGeom>
          <a:ln w="7620">
            <a:solidFill>
              <a:srgbClr val="C9D2D4"/>
            </a:solidFill>
          </a:ln>
          <a:effectLst/>
        </p:spPr>
      </p:cxnSp>
      <p:sp>
        <p:nvSpPr>
          <p:cNvPr id="34" name="TextBox 33"/>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Delegated execution · M5 source bfb0ec8</a:t>
            </a:r>
          </a:p>
        </p:txBody>
      </p:sp>
      <p:sp>
        <p:nvSpPr>
          <p:cNvPr id="35" name="TextBox 34"/>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05 / CONCRETE BEHAVIOR</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A worked example through the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ACTUAL native Hive inspect + real DeTTa · deterministic worker; fixture counterparty</a:t>
            </a:r>
          </a:p>
        </p:txBody>
      </p:sp>
      <p:sp>
        <p:nvSpPr>
          <p:cNvPr id="5" name="Rounded Rectangle 4"/>
          <p:cNvSpPr/>
          <p:nvPr/>
        </p:nvSpPr>
        <p:spPr>
          <a:xfrm>
            <a:off x="5486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01 · STEP</a:t>
            </a:r>
          </a:p>
        </p:txBody>
      </p:sp>
      <p:sp>
        <p:nvSpPr>
          <p:cNvPr id="7" name="TextBox 6"/>
          <p:cNvSpPr txBox="1"/>
          <p:nvPr/>
        </p:nvSpPr>
        <p:spPr>
          <a:xfrm>
            <a:off x="7162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Accept input</a:t>
            </a:r>
          </a:p>
        </p:txBody>
      </p:sp>
      <p:sp>
        <p:nvSpPr>
          <p:cNvPr id="8" name="TextBox 7"/>
          <p:cNvSpPr txBox="1"/>
          <p:nvPr/>
        </p:nvSpPr>
        <p:spPr>
          <a:xfrm>
            <a:off x="7162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Read the generated</a:t>
            </a:r>
          </a:p>
        </p:txBody>
      </p:sp>
      <p:sp>
        <p:nvSpPr>
          <p:cNvPr id="9" name="TextBox 8"/>
          <p:cNvSpPr txBox="1"/>
          <p:nvPr/>
        </p:nvSpPr>
        <p:spPr>
          <a:xfrm>
            <a:off x="7162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atom and accept</a:t>
            </a:r>
          </a:p>
        </p:txBody>
      </p:sp>
      <p:sp>
        <p:nvSpPr>
          <p:cNvPr id="10" name="TextBox 9"/>
          <p:cNvSpPr txBox="1"/>
          <p:nvPr/>
        </p:nvSpPr>
        <p:spPr>
          <a:xfrm>
            <a:off x="7162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inspect_atom.</a:t>
            </a:r>
          </a:p>
        </p:txBody>
      </p:sp>
      <p:cxnSp>
        <p:nvCxnSpPr>
          <p:cNvPr id="11" name="Connector 10"/>
          <p:cNvCxnSpPr/>
          <p:nvPr/>
        </p:nvCxnSpPr>
        <p:spPr>
          <a:xfrm>
            <a:off x="3185160" y="3238500"/>
            <a:ext cx="182880" cy="0"/>
          </a:xfrm>
          <a:prstGeom prst="line">
            <a:avLst/>
          </a:prstGeom>
          <a:ln w="15240">
            <a:solidFill>
              <a:srgbClr val="315E9C"/>
            </a:solidFill>
          </a:ln>
          <a:effectLst/>
        </p:spPr>
      </p:cxnSp>
      <p:sp>
        <p:nvSpPr>
          <p:cNvPr id="12" name="Freeform 11"/>
          <p:cNvSpPr/>
          <p:nvPr/>
        </p:nvSpPr>
        <p:spPr>
          <a:xfrm>
            <a:off x="3268980" y="32004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13" name="Rounded Rectangle 12"/>
          <p:cNvSpPr/>
          <p:nvPr/>
        </p:nvSpPr>
        <p:spPr>
          <a:xfrm>
            <a:off x="33680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14" name="TextBox 13"/>
          <p:cNvSpPr txBox="1"/>
          <p:nvPr/>
        </p:nvSpPr>
        <p:spPr>
          <a:xfrm>
            <a:off x="3535679"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02 · STEP</a:t>
            </a:r>
          </a:p>
        </p:txBody>
      </p:sp>
      <p:sp>
        <p:nvSpPr>
          <p:cNvPr id="15" name="TextBox 14"/>
          <p:cNvSpPr txBox="1"/>
          <p:nvPr/>
        </p:nvSpPr>
        <p:spPr>
          <a:xfrm>
            <a:off x="3535679"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Persist result</a:t>
            </a:r>
          </a:p>
        </p:txBody>
      </p:sp>
      <p:sp>
        <p:nvSpPr>
          <p:cNvPr id="16" name="TextBox 15"/>
          <p:cNvSpPr txBox="1"/>
          <p:nvPr/>
        </p:nvSpPr>
        <p:spPr>
          <a:xfrm>
            <a:off x="3535679"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Store digest, byte</a:t>
            </a:r>
          </a:p>
        </p:txBody>
      </p:sp>
      <p:sp>
        <p:nvSpPr>
          <p:cNvPr id="17" name="TextBox 16"/>
          <p:cNvSpPr txBox="1"/>
          <p:nvPr/>
        </p:nvSpPr>
        <p:spPr>
          <a:xfrm>
            <a:off x="3535679"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length and algorithm</a:t>
            </a:r>
          </a:p>
        </p:txBody>
      </p:sp>
      <p:sp>
        <p:nvSpPr>
          <p:cNvPr id="18" name="TextBox 17"/>
          <p:cNvSpPr txBox="1"/>
          <p:nvPr/>
        </p:nvSpPr>
        <p:spPr>
          <a:xfrm>
            <a:off x="3535679"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version.</a:t>
            </a:r>
          </a:p>
        </p:txBody>
      </p:sp>
      <p:cxnSp>
        <p:nvCxnSpPr>
          <p:cNvPr id="19" name="Connector 18"/>
          <p:cNvCxnSpPr/>
          <p:nvPr/>
        </p:nvCxnSpPr>
        <p:spPr>
          <a:xfrm>
            <a:off x="6004559" y="3238500"/>
            <a:ext cx="182881" cy="0"/>
          </a:xfrm>
          <a:prstGeom prst="line">
            <a:avLst/>
          </a:prstGeom>
          <a:ln w="15240">
            <a:solidFill>
              <a:srgbClr val="315E9C"/>
            </a:solidFill>
          </a:ln>
          <a:effectLst/>
        </p:spPr>
      </p:cxnSp>
      <p:sp>
        <p:nvSpPr>
          <p:cNvPr id="20" name="Freeform 19"/>
          <p:cNvSpPr/>
          <p:nvPr/>
        </p:nvSpPr>
        <p:spPr>
          <a:xfrm>
            <a:off x="6088380" y="32004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1" name="Rounded Rectangle 20"/>
          <p:cNvSpPr/>
          <p:nvPr/>
        </p:nvSpPr>
        <p:spPr>
          <a:xfrm>
            <a:off x="61874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22" name="TextBox 21"/>
          <p:cNvSpPr txBox="1"/>
          <p:nvPr/>
        </p:nvSpPr>
        <p:spPr>
          <a:xfrm>
            <a:off x="63550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03 · STEP</a:t>
            </a:r>
          </a:p>
        </p:txBody>
      </p:sp>
      <p:sp>
        <p:nvSpPr>
          <p:cNvPr id="23" name="TextBox 22"/>
          <p:cNvSpPr txBox="1"/>
          <p:nvPr/>
        </p:nvSpPr>
        <p:spPr>
          <a:xfrm>
            <a:off x="63550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Commit terminal</a:t>
            </a:r>
          </a:p>
        </p:txBody>
      </p:sp>
      <p:sp>
        <p:nvSpPr>
          <p:cNvPr id="24" name="TextBox 23"/>
          <p:cNvSpPr txBox="1"/>
          <p:nvPr/>
        </p:nvSpPr>
        <p:spPr>
          <a:xfrm>
            <a:off x="63550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Save result reference</a:t>
            </a:r>
          </a:p>
        </p:txBody>
      </p:sp>
      <p:sp>
        <p:nvSpPr>
          <p:cNvPr id="25" name="TextBox 24"/>
          <p:cNvSpPr txBox="1"/>
          <p:nvPr/>
        </p:nvSpPr>
        <p:spPr>
          <a:xfrm>
            <a:off x="63550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 outbox in one</a:t>
            </a:r>
          </a:p>
        </p:txBody>
      </p:sp>
      <p:sp>
        <p:nvSpPr>
          <p:cNvPr id="26" name="TextBox 25"/>
          <p:cNvSpPr txBox="1"/>
          <p:nvPr/>
        </p:nvSpPr>
        <p:spPr>
          <a:xfrm>
            <a:off x="63550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owner commit.</a:t>
            </a:r>
          </a:p>
        </p:txBody>
      </p:sp>
      <p:cxnSp>
        <p:nvCxnSpPr>
          <p:cNvPr id="27" name="Connector 26"/>
          <p:cNvCxnSpPr/>
          <p:nvPr/>
        </p:nvCxnSpPr>
        <p:spPr>
          <a:xfrm>
            <a:off x="8823960" y="3238500"/>
            <a:ext cx="182880" cy="0"/>
          </a:xfrm>
          <a:prstGeom prst="line">
            <a:avLst/>
          </a:prstGeom>
          <a:ln w="15240">
            <a:solidFill>
              <a:srgbClr val="315E9C"/>
            </a:solidFill>
          </a:ln>
          <a:effectLst/>
        </p:spPr>
      </p:cxnSp>
      <p:sp>
        <p:nvSpPr>
          <p:cNvPr id="28" name="Freeform 27"/>
          <p:cNvSpPr/>
          <p:nvPr/>
        </p:nvSpPr>
        <p:spPr>
          <a:xfrm>
            <a:off x="8907780" y="32004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9" name="Rounded Rectangle 28"/>
          <p:cNvSpPr/>
          <p:nvPr/>
        </p:nvSpPr>
        <p:spPr>
          <a:xfrm>
            <a:off x="90068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30" name="TextBox 29"/>
          <p:cNvSpPr txBox="1"/>
          <p:nvPr/>
        </p:nvSpPr>
        <p:spPr>
          <a:xfrm>
            <a:off x="91744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04 · STEP</a:t>
            </a:r>
          </a:p>
        </p:txBody>
      </p:sp>
      <p:sp>
        <p:nvSpPr>
          <p:cNvPr id="31" name="TextBox 30"/>
          <p:cNvSpPr txBox="1"/>
          <p:nvPr/>
        </p:nvSpPr>
        <p:spPr>
          <a:xfrm>
            <a:off x="91744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Deliver / recover</a:t>
            </a:r>
          </a:p>
        </p:txBody>
      </p:sp>
      <p:sp>
        <p:nvSpPr>
          <p:cNvPr id="32" name="TextBox 31"/>
          <p:cNvSpPr txBox="1"/>
          <p:nvPr/>
        </p:nvSpPr>
        <p:spPr>
          <a:xfrm>
            <a:off x="91744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Mailbox accepts;</a:t>
            </a:r>
          </a:p>
        </p:txBody>
      </p:sp>
      <p:sp>
        <p:nvSpPr>
          <p:cNvPr id="33" name="TextBox 32"/>
          <p:cNvSpPr txBox="1"/>
          <p:nvPr/>
        </p:nvSpPr>
        <p:spPr>
          <a:xfrm>
            <a:off x="91744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caller verifies and</a:t>
            </a:r>
          </a:p>
        </p:txBody>
      </p:sp>
      <p:sp>
        <p:nvSpPr>
          <p:cNvPr id="34" name="TextBox 33"/>
          <p:cNvSpPr txBox="1"/>
          <p:nvPr/>
        </p:nvSpPr>
        <p:spPr>
          <a:xfrm>
            <a:off x="91744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acknowledges.</a:t>
            </a:r>
          </a:p>
        </p:txBody>
      </p:sp>
      <p:sp>
        <p:nvSpPr>
          <p:cNvPr id="35" name="Rounded Rectangle 34"/>
          <p:cNvSpPr/>
          <p:nvPr/>
        </p:nvSpPr>
        <p:spPr>
          <a:xfrm>
            <a:off x="548640" y="4861560"/>
            <a:ext cx="11094720" cy="853440"/>
          </a:xfrm>
          <a:prstGeom prst="roundRect">
            <a:avLst>
              <a:gd name="adj" fmla="val 11607"/>
            </a:avLst>
          </a:prstGeom>
          <a:solidFill>
            <a:srgbClr val="E4EBF5"/>
          </a:solidFill>
          <a:ln w="7620">
            <a:solidFill>
              <a:srgbClr val="315E9C"/>
            </a:solidFill>
          </a:ln>
          <a:effectLst/>
        </p:spPr>
        <p:txBody>
          <a:bodyPr rtlCol="0" anchor="ctr"/>
          <a:lstStyle/>
          <a:p>
            <a:pPr algn="ctr"/>
          </a:p>
        </p:txBody>
      </p:sp>
      <p:sp>
        <p:nvSpPr>
          <p:cNvPr id="36" name="TextBox 35"/>
          <p:cNvSpPr txBox="1"/>
          <p:nvPr/>
        </p:nvSpPr>
        <p:spPr>
          <a:xfrm>
            <a:off x="716280" y="502920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315E9C"/>
                </a:solidFill>
                <a:latin typeface="DejaVu Sans"/>
              </a:rPr>
              <a:t>What the example establishes</a:t>
            </a:r>
          </a:p>
        </p:txBody>
      </p:sp>
      <p:sp>
        <p:nvSpPr>
          <p:cNvPr id="37" name="TextBox 36"/>
          <p:cNvSpPr txBox="1"/>
          <p:nvPr/>
        </p:nvSpPr>
        <p:spPr>
          <a:xfrm>
            <a:off x="716280" y="5378500"/>
            <a:ext cx="1075944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Execution completion and completion delivery have different owners.</a:t>
            </a:r>
          </a:p>
        </p:txBody>
      </p:sp>
      <p:cxnSp>
        <p:nvCxnSpPr>
          <p:cNvPr id="38" name="Connector 37"/>
          <p:cNvCxnSpPr/>
          <p:nvPr/>
        </p:nvCxnSpPr>
        <p:spPr>
          <a:xfrm>
            <a:off x="548640" y="6393180"/>
            <a:ext cx="11094720" cy="0"/>
          </a:xfrm>
          <a:prstGeom prst="line">
            <a:avLst/>
          </a:prstGeom>
          <a:ln w="7620">
            <a:solidFill>
              <a:srgbClr val="C9D2D4"/>
            </a:solidFill>
          </a:ln>
          <a:effectLst/>
        </p:spPr>
      </p:cxnSp>
      <p:sp>
        <p:nvSpPr>
          <p:cNvPr id="39" name="TextBox 38"/>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Delegated execution · M5 source bfb0ec8</a:t>
            </a:r>
          </a:p>
        </p:txBody>
      </p:sp>
      <p:sp>
        <p:nvSpPr>
          <p:cNvPr id="40" name="TextBox 39"/>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06 / BEHAVIORAL GUARANTEES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Four invariants to preserve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Each statement is bounded by the selected profile, authority model and tested failure model.</a:t>
            </a:r>
          </a:p>
        </p:txBody>
      </p:sp>
      <p:sp>
        <p:nvSpPr>
          <p:cNvPr id="5" name="Rounded Rectangle 4"/>
          <p:cNvSpPr/>
          <p:nvPr/>
        </p:nvSpPr>
        <p:spPr>
          <a:xfrm>
            <a:off x="548640" y="186690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034539"/>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I1</a:t>
            </a:r>
          </a:p>
        </p:txBody>
      </p:sp>
      <p:sp>
        <p:nvSpPr>
          <p:cNvPr id="7" name="TextBox 6"/>
          <p:cNvSpPr txBox="1"/>
          <p:nvPr/>
        </p:nvSpPr>
        <p:spPr>
          <a:xfrm>
            <a:off x="716280" y="2270760"/>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Allowlisted work</a:t>
            </a:r>
          </a:p>
        </p:txBody>
      </p:sp>
      <p:sp>
        <p:nvSpPr>
          <p:cNvPr id="8" name="TextBox 7"/>
          <p:cNvSpPr txBox="1"/>
          <p:nvPr/>
        </p:nvSpPr>
        <p:spPr>
          <a:xfrm>
            <a:off x="716280" y="2639567"/>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Only the named operation is accepted; no</a:t>
            </a:r>
          </a:p>
        </p:txBody>
      </p:sp>
      <p:sp>
        <p:nvSpPr>
          <p:cNvPr id="9" name="TextBox 8"/>
          <p:cNvSpPr txBox="1"/>
          <p:nvPr/>
        </p:nvSpPr>
        <p:spPr>
          <a:xfrm>
            <a:off x="716280" y="290291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caller-supplied code.</a:t>
            </a:r>
          </a:p>
        </p:txBody>
      </p:sp>
      <p:sp>
        <p:nvSpPr>
          <p:cNvPr id="10" name="Rounded Rectangle 9"/>
          <p:cNvSpPr/>
          <p:nvPr/>
        </p:nvSpPr>
        <p:spPr>
          <a:xfrm>
            <a:off x="6217920" y="186690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11" name="TextBox 10"/>
          <p:cNvSpPr txBox="1"/>
          <p:nvPr/>
        </p:nvSpPr>
        <p:spPr>
          <a:xfrm>
            <a:off x="6385559" y="2034539"/>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I2</a:t>
            </a:r>
          </a:p>
        </p:txBody>
      </p:sp>
      <p:sp>
        <p:nvSpPr>
          <p:cNvPr id="12" name="TextBox 11"/>
          <p:cNvSpPr txBox="1"/>
          <p:nvPr/>
        </p:nvSpPr>
        <p:spPr>
          <a:xfrm>
            <a:off x="6385559" y="2270760"/>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Result before terminal</a:t>
            </a:r>
          </a:p>
        </p:txBody>
      </p:sp>
      <p:sp>
        <p:nvSpPr>
          <p:cNvPr id="13" name="TextBox 12"/>
          <p:cNvSpPr txBox="1"/>
          <p:nvPr/>
        </p:nvSpPr>
        <p:spPr>
          <a:xfrm>
            <a:off x="6385559" y="2639567"/>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 terminal success references already persisted</a:t>
            </a:r>
          </a:p>
        </p:txBody>
      </p:sp>
      <p:sp>
        <p:nvSpPr>
          <p:cNvPr id="14" name="TextBox 13"/>
          <p:cNvSpPr txBox="1"/>
          <p:nvPr/>
        </p:nvSpPr>
        <p:spPr>
          <a:xfrm>
            <a:off x="6385559" y="290291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result bytes.</a:t>
            </a:r>
          </a:p>
        </p:txBody>
      </p:sp>
      <p:sp>
        <p:nvSpPr>
          <p:cNvPr id="15" name="Rounded Rectangle 14"/>
          <p:cNvSpPr/>
          <p:nvPr/>
        </p:nvSpPr>
        <p:spPr>
          <a:xfrm>
            <a:off x="548640" y="371856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16" name="TextBox 15"/>
          <p:cNvSpPr txBox="1"/>
          <p:nvPr/>
        </p:nvSpPr>
        <p:spPr>
          <a:xfrm>
            <a:off x="716280" y="3886200"/>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I3</a:t>
            </a:r>
          </a:p>
        </p:txBody>
      </p:sp>
      <p:sp>
        <p:nvSpPr>
          <p:cNvPr id="17" name="TextBox 16"/>
          <p:cNvSpPr txBox="1"/>
          <p:nvPr/>
        </p:nvSpPr>
        <p:spPr>
          <a:xfrm>
            <a:off x="716280" y="4122419"/>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Atomic outbox intent</a:t>
            </a:r>
          </a:p>
        </p:txBody>
      </p:sp>
      <p:sp>
        <p:nvSpPr>
          <p:cNvPr id="18" name="TextBox 17"/>
          <p:cNvSpPr txBox="1"/>
          <p:nvPr/>
        </p:nvSpPr>
        <p:spPr>
          <a:xfrm>
            <a:off x="716280" y="4491228"/>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Terminal state and completion intent commit</a:t>
            </a:r>
          </a:p>
        </p:txBody>
      </p:sp>
      <p:sp>
        <p:nvSpPr>
          <p:cNvPr id="19" name="TextBox 18"/>
          <p:cNvSpPr txBox="1"/>
          <p:nvPr/>
        </p:nvSpPr>
        <p:spPr>
          <a:xfrm>
            <a:off x="716280" y="475457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together.</a:t>
            </a:r>
          </a:p>
        </p:txBody>
      </p:sp>
      <p:sp>
        <p:nvSpPr>
          <p:cNvPr id="20" name="Rounded Rectangle 19"/>
          <p:cNvSpPr/>
          <p:nvPr/>
        </p:nvSpPr>
        <p:spPr>
          <a:xfrm>
            <a:off x="6217920" y="371856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21" name="TextBox 20"/>
          <p:cNvSpPr txBox="1"/>
          <p:nvPr/>
        </p:nvSpPr>
        <p:spPr>
          <a:xfrm>
            <a:off x="6385559" y="3886200"/>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I4</a:t>
            </a:r>
          </a:p>
        </p:txBody>
      </p:sp>
      <p:sp>
        <p:nvSpPr>
          <p:cNvPr id="22" name="TextBox 21"/>
          <p:cNvSpPr txBox="1"/>
          <p:nvPr/>
        </p:nvSpPr>
        <p:spPr>
          <a:xfrm>
            <a:off x="6385559" y="4122419"/>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Live authority/deadline</a:t>
            </a:r>
          </a:p>
        </p:txBody>
      </p:sp>
      <p:sp>
        <p:nvSpPr>
          <p:cNvPr id="23" name="TextBox 22"/>
          <p:cNvSpPr txBox="1"/>
          <p:nvPr/>
        </p:nvSpPr>
        <p:spPr>
          <a:xfrm>
            <a:off x="6385559" y="4491228"/>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Restart rechecks caller/worker permissions; no</a:t>
            </a:r>
          </a:p>
        </p:txBody>
      </p:sp>
      <p:sp>
        <p:nvSpPr>
          <p:cNvPr id="24" name="TextBox 23"/>
          <p:cNvSpPr txBox="1"/>
          <p:nvPr/>
        </p:nvSpPr>
        <p:spPr>
          <a:xfrm>
            <a:off x="6385559" y="475457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new work after start deadline.</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Delegated execution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07 / RECOVERY AND REFUSAL</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Failure is part of the interface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 lost response, a missing prerequisite and a deliberate refusal require different interpretations.</a:t>
            </a:r>
          </a:p>
        </p:txBody>
      </p:sp>
      <p:sp>
        <p:nvSpPr>
          <p:cNvPr id="5" name="TextBox 4"/>
          <p:cNvSpPr txBox="1"/>
          <p:nvPr/>
        </p:nvSpPr>
        <p:spPr>
          <a:xfrm>
            <a:off x="670560" y="1790700"/>
            <a:ext cx="32232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BOUNDARY / TRIGGER</a:t>
            </a:r>
          </a:p>
        </p:txBody>
      </p:sp>
      <p:sp>
        <p:nvSpPr>
          <p:cNvPr id="6" name="TextBox 5"/>
          <p:cNvSpPr txBox="1"/>
          <p:nvPr/>
        </p:nvSpPr>
        <p:spPr>
          <a:xfrm>
            <a:off x="4137660" y="1790700"/>
            <a:ext cx="42138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OWNER-AUTHORITATIVE OUTCOME</a:t>
            </a:r>
          </a:p>
        </p:txBody>
      </p:sp>
      <p:sp>
        <p:nvSpPr>
          <p:cNvPr id="7" name="TextBox 6"/>
          <p:cNvSpPr txBox="1"/>
          <p:nvPr/>
        </p:nvSpPr>
        <p:spPr>
          <a:xfrm>
            <a:off x="8595360" y="1790700"/>
            <a:ext cx="29260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EVIDENCE / LIMITATION</a:t>
            </a:r>
          </a:p>
        </p:txBody>
      </p:sp>
      <p:sp>
        <p:nvSpPr>
          <p:cNvPr id="8" name="Rounded Rectangle 7"/>
          <p:cNvSpPr/>
          <p:nvPr/>
        </p:nvSpPr>
        <p:spPr>
          <a:xfrm>
            <a:off x="548640" y="2110740"/>
            <a:ext cx="11094720" cy="1066800"/>
          </a:xfrm>
          <a:prstGeom prst="roundRect">
            <a:avLst>
              <a:gd name="adj" fmla="val 4285"/>
            </a:avLst>
          </a:prstGeom>
          <a:solidFill>
            <a:srgbClr val="FFFFFF"/>
          </a:solidFill>
          <a:ln>
            <a:noFill/>
          </a:ln>
          <a:effectLst/>
        </p:spPr>
        <p:txBody>
          <a:bodyPr rtlCol="0" anchor="ctr"/>
          <a:lstStyle/>
          <a:p>
            <a:pPr algn="ctr"/>
          </a:p>
        </p:txBody>
      </p:sp>
      <p:sp>
        <p:nvSpPr>
          <p:cNvPr id="9" name="TextBox 8"/>
          <p:cNvSpPr txBox="1"/>
          <p:nvPr/>
        </p:nvSpPr>
        <p:spPr>
          <a:xfrm>
            <a:off x="670560" y="224028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Result persisted; terminal</a:t>
            </a:r>
          </a:p>
        </p:txBody>
      </p:sp>
      <p:sp>
        <p:nvSpPr>
          <p:cNvPr id="10" name="TextBox 9"/>
          <p:cNvSpPr txBox="1"/>
          <p:nvPr/>
        </p:nvSpPr>
        <p:spPr>
          <a:xfrm>
            <a:off x="670560" y="248412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commit lost</a:t>
            </a:r>
          </a:p>
        </p:txBody>
      </p:sp>
      <p:sp>
        <p:nvSpPr>
          <p:cNvPr id="11" name="TextBox 10"/>
          <p:cNvSpPr txBox="1"/>
          <p:nvPr/>
        </p:nvSpPr>
        <p:spPr>
          <a:xfrm>
            <a:off x="4137660" y="224028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Retry immutable result creation, then</a:t>
            </a:r>
          </a:p>
        </p:txBody>
      </p:sp>
      <p:sp>
        <p:nvSpPr>
          <p:cNvPr id="12" name="TextBox 11"/>
          <p:cNvSpPr txBox="1"/>
          <p:nvPr/>
        </p:nvSpPr>
        <p:spPr>
          <a:xfrm>
            <a:off x="4137660" y="248412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commit terminal/outbox.</a:t>
            </a:r>
          </a:p>
        </p:txBody>
      </p:sp>
      <p:sp>
        <p:nvSpPr>
          <p:cNvPr id="13" name="TextBox 12"/>
          <p:cNvSpPr txBox="1"/>
          <p:nvPr/>
        </p:nvSpPr>
        <p:spPr>
          <a:xfrm>
            <a:off x="8595360" y="224028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Stable result identity</a:t>
            </a:r>
          </a:p>
        </p:txBody>
      </p:sp>
      <p:sp>
        <p:nvSpPr>
          <p:cNvPr id="14" name="Rounded Rectangle 13"/>
          <p:cNvSpPr/>
          <p:nvPr/>
        </p:nvSpPr>
        <p:spPr>
          <a:xfrm>
            <a:off x="548640" y="3215640"/>
            <a:ext cx="11094720" cy="1066800"/>
          </a:xfrm>
          <a:prstGeom prst="roundRect">
            <a:avLst>
              <a:gd name="adj" fmla="val 4285"/>
            </a:avLst>
          </a:prstGeom>
          <a:solidFill>
            <a:srgbClr val="FFFFFF"/>
          </a:solidFill>
          <a:ln>
            <a:noFill/>
          </a:ln>
          <a:effectLst/>
        </p:spPr>
        <p:txBody>
          <a:bodyPr rtlCol="0" anchor="ctr"/>
          <a:lstStyle/>
          <a:p>
            <a:pPr algn="ctr"/>
          </a:p>
        </p:txBody>
      </p:sp>
      <p:sp>
        <p:nvSpPr>
          <p:cNvPr id="15" name="TextBox 14"/>
          <p:cNvSpPr txBox="1"/>
          <p:nvPr/>
        </p:nvSpPr>
        <p:spPr>
          <a:xfrm>
            <a:off x="670560" y="3345179"/>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Mailbox accepted; sent flag</a:t>
            </a:r>
          </a:p>
        </p:txBody>
      </p:sp>
      <p:sp>
        <p:nvSpPr>
          <p:cNvPr id="16" name="TextBox 15"/>
          <p:cNvSpPr txBox="1"/>
          <p:nvPr/>
        </p:nvSpPr>
        <p:spPr>
          <a:xfrm>
            <a:off x="670560" y="3589019"/>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lost</a:t>
            </a:r>
          </a:p>
        </p:txBody>
      </p:sp>
      <p:sp>
        <p:nvSpPr>
          <p:cNvPr id="17" name="TextBox 16"/>
          <p:cNvSpPr txBox="1"/>
          <p:nvPr/>
        </p:nvSpPr>
        <p:spPr>
          <a:xfrm>
            <a:off x="4137660" y="3345179"/>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Retry handoff through CompletionDelivery.</a:t>
            </a:r>
          </a:p>
        </p:txBody>
      </p:sp>
      <p:sp>
        <p:nvSpPr>
          <p:cNvPr id="18" name="TextBox 17"/>
          <p:cNvSpPr txBox="1"/>
          <p:nvPr/>
        </p:nvSpPr>
        <p:spPr>
          <a:xfrm>
            <a:off x="8595360" y="3345179"/>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Mailbox owns deduplication</a:t>
            </a:r>
          </a:p>
        </p:txBody>
      </p:sp>
      <p:sp>
        <p:nvSpPr>
          <p:cNvPr id="19" name="Rounded Rectangle 18"/>
          <p:cNvSpPr/>
          <p:nvPr/>
        </p:nvSpPr>
        <p:spPr>
          <a:xfrm>
            <a:off x="548640" y="4320540"/>
            <a:ext cx="11094720" cy="1066800"/>
          </a:xfrm>
          <a:prstGeom prst="roundRect">
            <a:avLst>
              <a:gd name="adj" fmla="val 4285"/>
            </a:avLst>
          </a:prstGeom>
          <a:solidFill>
            <a:srgbClr val="FFFFFF"/>
          </a:solidFill>
          <a:ln>
            <a:noFill/>
          </a:ln>
          <a:effectLst/>
        </p:spPr>
        <p:txBody>
          <a:bodyPr rtlCol="0" anchor="ctr"/>
          <a:lstStyle/>
          <a:p>
            <a:pPr algn="ctr"/>
          </a:p>
        </p:txBody>
      </p:sp>
      <p:sp>
        <p:nvSpPr>
          <p:cNvPr id="20" name="TextBox 19"/>
          <p:cNvSpPr txBox="1"/>
          <p:nvPr/>
        </p:nvSpPr>
        <p:spPr>
          <a:xfrm>
            <a:off x="670560" y="445008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Unavailable input / revoked</a:t>
            </a:r>
          </a:p>
        </p:txBody>
      </p:sp>
      <p:sp>
        <p:nvSpPr>
          <p:cNvPr id="21" name="TextBox 20"/>
          <p:cNvSpPr txBox="1"/>
          <p:nvPr/>
        </p:nvSpPr>
        <p:spPr>
          <a:xfrm>
            <a:off x="670560" y="469392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worker</a:t>
            </a:r>
          </a:p>
        </p:txBody>
      </p:sp>
      <p:sp>
        <p:nvSpPr>
          <p:cNvPr id="22" name="TextBox 21"/>
          <p:cNvSpPr txBox="1"/>
          <p:nvPr/>
        </p:nvSpPr>
        <p:spPr>
          <a:xfrm>
            <a:off x="4137660" y="445008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Keep recoverable work or record explicit</a:t>
            </a:r>
          </a:p>
        </p:txBody>
      </p:sp>
      <p:sp>
        <p:nvSpPr>
          <p:cNvPr id="23" name="TextBox 22"/>
          <p:cNvSpPr txBox="1"/>
          <p:nvPr/>
        </p:nvSpPr>
        <p:spPr>
          <a:xfrm>
            <a:off x="4137660" y="469392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terminal failure as specified.</a:t>
            </a:r>
          </a:p>
        </p:txBody>
      </p:sp>
      <p:sp>
        <p:nvSpPr>
          <p:cNvPr id="24" name="TextBox 23"/>
          <p:cNvSpPr txBox="1"/>
          <p:nvPr/>
        </p:nvSpPr>
        <p:spPr>
          <a:xfrm>
            <a:off x="8595360" y="445008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unauthorized success</a:t>
            </a:r>
          </a:p>
        </p:txBody>
      </p:sp>
      <p:sp>
        <p:nvSpPr>
          <p:cNvPr id="25" name="Rounded Rectangle 24"/>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6" name="TextBox 25"/>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Recovery evidence covers same-host process termination with intact files; it does not prove power-loss durability.</a:t>
            </a:r>
          </a:p>
        </p:txBody>
      </p:sp>
      <p:cxnSp>
        <p:nvCxnSpPr>
          <p:cNvPr id="27" name="Connector 26"/>
          <p:cNvCxnSpPr/>
          <p:nvPr/>
        </p:nvCxnSpPr>
        <p:spPr>
          <a:xfrm>
            <a:off x="548640" y="6393180"/>
            <a:ext cx="11094720" cy="0"/>
          </a:xfrm>
          <a:prstGeom prst="line">
            <a:avLst/>
          </a:prstGeom>
          <a:ln w="7620">
            <a:solidFill>
              <a:srgbClr val="C9D2D4"/>
            </a:solidFill>
          </a:ln>
          <a:effectLst/>
        </p:spPr>
      </p:cxnSp>
      <p:sp>
        <p:nvSpPr>
          <p:cNvPr id="28" name="TextBox 2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Delegated execution · M5 source bfb0ec8</a:t>
            </a:r>
          </a:p>
        </p:txBody>
      </p:sp>
      <p:sp>
        <p:nvSpPr>
          <p:cNvPr id="29" name="TextBox 2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08 / BENCHMARKS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Measurements and benchmark gaps</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Observed values, contract limits and proposed experiments are explicitly different kinds of evidence.</a:t>
            </a:r>
          </a:p>
        </p:txBody>
      </p:sp>
      <p:sp>
        <p:nvSpPr>
          <p:cNvPr id="5" name="Rounded Rectangle 4"/>
          <p:cNvSpPr/>
          <p:nvPr/>
        </p:nvSpPr>
        <p:spPr>
          <a:xfrm>
            <a:off x="548640" y="1859280"/>
            <a:ext cx="3535679" cy="2004059"/>
          </a:xfrm>
          <a:prstGeom prst="roundRect">
            <a:avLst>
              <a:gd name="adj" fmla="val 4942"/>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23900"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315E9C"/>
                </a:solidFill>
                <a:latin typeface="DejaVu Sans"/>
              </a:rPr>
              <a:t>1 / 1</a:t>
            </a:r>
          </a:p>
        </p:txBody>
      </p:sp>
      <p:sp>
        <p:nvSpPr>
          <p:cNvPr id="7" name="TextBox 6"/>
          <p:cNvSpPr txBox="1"/>
          <p:nvPr/>
        </p:nvSpPr>
        <p:spPr>
          <a:xfrm>
            <a:off x="723900"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Job / outbox in preserved</a:t>
            </a:r>
          </a:p>
        </p:txBody>
      </p:sp>
      <p:sp>
        <p:nvSpPr>
          <p:cNvPr id="8" name="TextBox 7"/>
          <p:cNvSpPr txBox="1"/>
          <p:nvPr/>
        </p:nvSpPr>
        <p:spPr>
          <a:xfrm>
            <a:off x="723900"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workflow</a:t>
            </a:r>
          </a:p>
        </p:txBody>
      </p:sp>
      <p:sp>
        <p:nvSpPr>
          <p:cNvPr id="9" name="TextBox 8"/>
          <p:cNvSpPr txBox="1"/>
          <p:nvPr/>
        </p:nvSpPr>
        <p:spPr>
          <a:xfrm>
            <a:off x="723900"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Stable across recovery matrix</a:t>
            </a:r>
          </a:p>
        </p:txBody>
      </p:sp>
      <p:sp>
        <p:nvSpPr>
          <p:cNvPr id="10" name="Rounded Rectangle 9"/>
          <p:cNvSpPr/>
          <p:nvPr/>
        </p:nvSpPr>
        <p:spPr>
          <a:xfrm>
            <a:off x="4328160" y="1859280"/>
            <a:ext cx="3535679" cy="2004059"/>
          </a:xfrm>
          <a:prstGeom prst="roundRect">
            <a:avLst>
              <a:gd name="adj" fmla="val 4942"/>
            </a:avLst>
          </a:prstGeom>
          <a:solidFill>
            <a:srgbClr val="FFFFFF"/>
          </a:solidFill>
          <a:ln w="7620">
            <a:solidFill>
              <a:srgbClr val="315E9C"/>
            </a:solidFill>
          </a:ln>
          <a:effectLst/>
        </p:spPr>
        <p:txBody>
          <a:bodyPr rtlCol="0" anchor="ctr"/>
          <a:lstStyle/>
          <a:p>
            <a:pPr algn="ctr"/>
          </a:p>
        </p:txBody>
      </p:sp>
      <p:sp>
        <p:nvSpPr>
          <p:cNvPr id="11" name="TextBox 10"/>
          <p:cNvSpPr txBox="1"/>
          <p:nvPr/>
        </p:nvSpPr>
        <p:spPr>
          <a:xfrm>
            <a:off x="4503420"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315E9C"/>
                </a:solidFill>
                <a:latin typeface="DejaVu Sans"/>
              </a:rPr>
              <a:t>143 B</a:t>
            </a:r>
          </a:p>
        </p:txBody>
      </p:sp>
      <p:sp>
        <p:nvSpPr>
          <p:cNvPr id="12" name="TextBox 11"/>
          <p:cNvSpPr txBox="1"/>
          <p:nvPr/>
        </p:nvSpPr>
        <p:spPr>
          <a:xfrm>
            <a:off x="4503420"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Generated M4 result</a:t>
            </a:r>
          </a:p>
        </p:txBody>
      </p:sp>
      <p:sp>
        <p:nvSpPr>
          <p:cNvPr id="13" name="TextBox 12"/>
          <p:cNvSpPr txBox="1"/>
          <p:nvPr/>
        </p:nvSpPr>
        <p:spPr>
          <a:xfrm>
            <a:off x="4503420"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payload</a:t>
            </a:r>
          </a:p>
        </p:txBody>
      </p:sp>
      <p:sp>
        <p:nvSpPr>
          <p:cNvPr id="14" name="TextBox 13"/>
          <p:cNvSpPr txBox="1"/>
          <p:nvPr/>
        </p:nvSpPr>
        <p:spPr>
          <a:xfrm>
            <a:off x="4503420"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Exact accepted artifact, not a</a:t>
            </a:r>
          </a:p>
        </p:txBody>
      </p:sp>
      <p:sp>
        <p:nvSpPr>
          <p:cNvPr id="15" name="TextBox 14"/>
          <p:cNvSpPr txBox="1"/>
          <p:nvPr/>
        </p:nvSpPr>
        <p:spPr>
          <a:xfrm>
            <a:off x="4503420" y="349879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throughput figure</a:t>
            </a:r>
          </a:p>
        </p:txBody>
      </p:sp>
      <p:sp>
        <p:nvSpPr>
          <p:cNvPr id="16" name="Rounded Rectangle 15"/>
          <p:cNvSpPr/>
          <p:nvPr/>
        </p:nvSpPr>
        <p:spPr>
          <a:xfrm>
            <a:off x="8107680" y="1859280"/>
            <a:ext cx="3535679" cy="2004059"/>
          </a:xfrm>
          <a:prstGeom prst="roundRect">
            <a:avLst>
              <a:gd name="adj" fmla="val 4942"/>
            </a:avLst>
          </a:prstGeom>
          <a:solidFill>
            <a:srgbClr val="FFFFFF"/>
          </a:solidFill>
          <a:ln w="7620">
            <a:solidFill>
              <a:srgbClr val="315E9C"/>
            </a:solidFill>
          </a:ln>
          <a:effectLst/>
        </p:spPr>
        <p:txBody>
          <a:bodyPr rtlCol="0" anchor="ctr"/>
          <a:lstStyle/>
          <a:p>
            <a:pPr algn="ctr"/>
          </a:p>
        </p:txBody>
      </p:sp>
      <p:sp>
        <p:nvSpPr>
          <p:cNvPr id="17" name="TextBox 16"/>
          <p:cNvSpPr txBox="1"/>
          <p:nvPr/>
        </p:nvSpPr>
        <p:spPr>
          <a:xfrm>
            <a:off x="8282939"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315E9C"/>
                </a:solidFill>
                <a:latin typeface="DejaVu Sans"/>
              </a:rPr>
              <a:t>13</a:t>
            </a:r>
          </a:p>
        </p:txBody>
      </p:sp>
      <p:sp>
        <p:nvSpPr>
          <p:cNvPr id="18" name="TextBox 17"/>
          <p:cNvSpPr txBox="1"/>
          <p:nvPr/>
        </p:nvSpPr>
        <p:spPr>
          <a:xfrm>
            <a:off x="8282939"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Original native inspect</a:t>
            </a:r>
          </a:p>
        </p:txBody>
      </p:sp>
      <p:sp>
        <p:nvSpPr>
          <p:cNvPr id="19" name="TextBox 18"/>
          <p:cNvSpPr txBox="1"/>
          <p:nvPr/>
        </p:nvSpPr>
        <p:spPr>
          <a:xfrm>
            <a:off x="8282939"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cases</a:t>
            </a:r>
          </a:p>
        </p:txBody>
      </p:sp>
      <p:sp>
        <p:nvSpPr>
          <p:cNvPr id="20" name="TextBox 19"/>
          <p:cNvSpPr txBox="1"/>
          <p:nvPr/>
        </p:nvSpPr>
        <p:spPr>
          <a:xfrm>
            <a:off x="8282939"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Preserved M1.2 suite; not 13 unique</a:t>
            </a:r>
          </a:p>
        </p:txBody>
      </p:sp>
      <p:sp>
        <p:nvSpPr>
          <p:cNvPr id="21" name="TextBox 20"/>
          <p:cNvSpPr txBox="1"/>
          <p:nvPr/>
        </p:nvSpPr>
        <p:spPr>
          <a:xfrm>
            <a:off x="8282939" y="349879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new M5 cases</a:t>
            </a:r>
          </a:p>
        </p:txBody>
      </p:sp>
      <p:sp>
        <p:nvSpPr>
          <p:cNvPr id="22" name="TextBox 21"/>
          <p:cNvSpPr txBox="1"/>
          <p:nvPr/>
        </p:nvSpPr>
        <p:spPr>
          <a:xfrm>
            <a:off x="579120" y="4091940"/>
            <a:ext cx="11003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fixed inspect operation demonstrates orchestration and recovery, not compute efficiency. No standalone</a:t>
            </a:r>
          </a:p>
        </p:txBody>
      </p:sp>
      <p:sp>
        <p:nvSpPr>
          <p:cNvPr id="23" name="TextBox 22"/>
          <p:cNvSpPr txBox="1"/>
          <p:nvPr/>
        </p:nvSpPr>
        <p:spPr>
          <a:xfrm>
            <a:off x="579120" y="4335780"/>
            <a:ext cx="11003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job-admission latency, worker throughput or fairness benchmark is recorded.</a:t>
            </a:r>
          </a:p>
        </p:txBody>
      </p:sp>
      <p:sp>
        <p:nvSpPr>
          <p:cNvPr id="24" name="Rounded Rectangle 23"/>
          <p:cNvSpPr/>
          <p:nvPr/>
        </p:nvSpPr>
        <p:spPr>
          <a:xfrm>
            <a:off x="548640" y="5067300"/>
            <a:ext cx="11094720" cy="1150620"/>
          </a:xfrm>
          <a:prstGeom prst="roundRect">
            <a:avLst>
              <a:gd name="adj" fmla="val 8609"/>
            </a:avLst>
          </a:prstGeom>
          <a:solidFill>
            <a:srgbClr val="F3E7CE"/>
          </a:solidFill>
          <a:ln w="7620">
            <a:solidFill>
              <a:srgbClr val="A86A15"/>
            </a:solidFill>
          </a:ln>
          <a:effectLst/>
        </p:spPr>
        <p:txBody>
          <a:bodyPr rtlCol="0" anchor="ctr"/>
          <a:lstStyle/>
          <a:p>
            <a:pPr algn="ctr"/>
          </a:p>
        </p:txBody>
      </p:sp>
      <p:sp>
        <p:nvSpPr>
          <p:cNvPr id="25" name="TextBox 24"/>
          <p:cNvSpPr txBox="1"/>
          <p:nvPr/>
        </p:nvSpPr>
        <p:spPr>
          <a:xfrm>
            <a:off x="716280" y="5234940"/>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A86A15"/>
                </a:solidFill>
                <a:latin typeface="DejaVu Sans"/>
              </a:rPr>
              <a:t>PROPOSED BENCHMARK · NOT RUN</a:t>
            </a:r>
          </a:p>
        </p:txBody>
      </p:sp>
      <p:sp>
        <p:nvSpPr>
          <p:cNvPr id="26" name="TextBox 25"/>
          <p:cNvSpPr txBox="1"/>
          <p:nvPr/>
        </p:nvSpPr>
        <p:spPr>
          <a:xfrm>
            <a:off x="716280" y="5545226"/>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Proposed: vary input size, queue depth and downstream failure; measure admission/result/notification separately,</a:t>
            </a:r>
          </a:p>
        </p:txBody>
      </p:sp>
      <p:sp>
        <p:nvSpPr>
          <p:cNvPr id="27" name="TextBox 26"/>
          <p:cNvSpPr txBox="1"/>
          <p:nvPr/>
        </p:nvSpPr>
        <p:spPr>
          <a:xfrm>
            <a:off x="716280" y="5779312"/>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including duplicate physical attempts and pending outbox age.</a:t>
            </a:r>
          </a:p>
        </p:txBody>
      </p:sp>
      <p:cxnSp>
        <p:nvCxnSpPr>
          <p:cNvPr id="28" name="Connector 27"/>
          <p:cNvCxnSpPr/>
          <p:nvPr/>
        </p:nvCxnSpPr>
        <p:spPr>
          <a:xfrm>
            <a:off x="548640" y="6393180"/>
            <a:ext cx="11094720" cy="0"/>
          </a:xfrm>
          <a:prstGeom prst="line">
            <a:avLst/>
          </a:prstGeom>
          <a:ln w="7620">
            <a:solidFill>
              <a:srgbClr val="C9D2D4"/>
            </a:solidFill>
          </a:ln>
          <a:effectLst/>
        </p:spPr>
      </p:cxnSp>
      <p:sp>
        <p:nvSpPr>
          <p:cNvPr id="29" name="TextBox 28"/>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Delegated execution · M5 source bfb0ec8</a:t>
            </a:r>
          </a:p>
        </p:txBody>
      </p:sp>
      <p:sp>
        <p:nvSpPr>
          <p:cNvPr id="30" name="TextBox 29"/>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09 / EVIDENCE CLASSIFICATION</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Current state: what is real, what is not</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Current supported regressions pass; historical observations and unsatisfied capabilities keep their labels.</a:t>
            </a:r>
          </a:p>
        </p:txBody>
      </p:sp>
      <p:sp>
        <p:nvSpPr>
          <p:cNvPr id="5" name="TextBox 4"/>
          <p:cNvSpPr txBox="1"/>
          <p:nvPr/>
        </p:nvSpPr>
        <p:spPr>
          <a:xfrm>
            <a:off x="670560" y="1790700"/>
            <a:ext cx="26517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CLASSIFICATION</a:t>
            </a:r>
          </a:p>
        </p:txBody>
      </p:sp>
      <p:sp>
        <p:nvSpPr>
          <p:cNvPr id="6" name="TextBox 5"/>
          <p:cNvSpPr txBox="1"/>
          <p:nvPr/>
        </p:nvSpPr>
        <p:spPr>
          <a:xfrm>
            <a:off x="3566160" y="1790700"/>
            <a:ext cx="795528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MODULE-SPECIFIC STATE</a:t>
            </a:r>
          </a:p>
        </p:txBody>
      </p:sp>
      <p:sp>
        <p:nvSpPr>
          <p:cNvPr id="7" name="Rounded Rectangle 6"/>
          <p:cNvSpPr/>
          <p:nvPr/>
        </p:nvSpPr>
        <p:spPr>
          <a:xfrm>
            <a:off x="548640" y="2110740"/>
            <a:ext cx="11094720" cy="815340"/>
          </a:xfrm>
          <a:prstGeom prst="roundRect">
            <a:avLst>
              <a:gd name="adj" fmla="val 5607"/>
            </a:avLst>
          </a:prstGeom>
          <a:solidFill>
            <a:srgbClr val="FFFFFF"/>
          </a:solidFill>
          <a:ln>
            <a:noFill/>
          </a:ln>
          <a:effectLst/>
        </p:spPr>
        <p:txBody>
          <a:bodyPr rtlCol="0" anchor="ctr"/>
          <a:lstStyle/>
          <a:p>
            <a:pPr algn="ctr"/>
          </a:p>
        </p:txBody>
      </p:sp>
      <p:sp>
        <p:nvSpPr>
          <p:cNvPr id="8" name="TextBox 7"/>
          <p:cNvSpPr txBox="1"/>
          <p:nvPr/>
        </p:nvSpPr>
        <p:spPr>
          <a:xfrm>
            <a:off x="670560" y="224028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REAL / IMPLEMENTED</a:t>
            </a:r>
          </a:p>
        </p:txBody>
      </p:sp>
      <p:sp>
        <p:nvSpPr>
          <p:cNvPr id="9" name="TextBox 8"/>
          <p:cNvSpPr txBox="1"/>
          <p:nvPr/>
        </p:nvSpPr>
        <p:spPr>
          <a:xfrm>
            <a:off x="3566160" y="224028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Local persistent job/outbox, separate worker process, actual native Hive and real</a:t>
            </a:r>
          </a:p>
        </p:txBody>
      </p:sp>
      <p:sp>
        <p:nvSpPr>
          <p:cNvPr id="10" name="TextBox 9"/>
          <p:cNvSpPr txBox="1"/>
          <p:nvPr/>
        </p:nvSpPr>
        <p:spPr>
          <a:xfrm>
            <a:off x="3566160" y="248412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DeTTa.</a:t>
            </a:r>
          </a:p>
        </p:txBody>
      </p:sp>
      <p:sp>
        <p:nvSpPr>
          <p:cNvPr id="11" name="Rounded Rectangle 10"/>
          <p:cNvSpPr/>
          <p:nvPr/>
        </p:nvSpPr>
        <p:spPr>
          <a:xfrm>
            <a:off x="548640" y="2964179"/>
            <a:ext cx="11094720" cy="815340"/>
          </a:xfrm>
          <a:prstGeom prst="roundRect">
            <a:avLst>
              <a:gd name="adj" fmla="val 5607"/>
            </a:avLst>
          </a:prstGeom>
          <a:solidFill>
            <a:srgbClr val="FFFFFF"/>
          </a:solidFill>
          <a:ln>
            <a:noFill/>
          </a:ln>
          <a:effectLst/>
        </p:spPr>
        <p:txBody>
          <a:bodyPr rtlCol="0" anchor="ctr"/>
          <a:lstStyle/>
          <a:p>
            <a:pPr algn="ctr"/>
          </a:p>
        </p:txBody>
      </p:sp>
      <p:sp>
        <p:nvSpPr>
          <p:cNvPr id="12" name="TextBox 11"/>
          <p:cNvSpPr txBox="1"/>
          <p:nvPr/>
        </p:nvSpPr>
        <p:spPr>
          <a:xfrm>
            <a:off x="670560" y="309372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FIXTURE / LOCAL TEST</a:t>
            </a:r>
          </a:p>
        </p:txBody>
      </p:sp>
      <p:sp>
        <p:nvSpPr>
          <p:cNvPr id="13" name="TextBox 12"/>
          <p:cNvSpPr txBox="1"/>
          <p:nvPr/>
        </p:nvSpPr>
        <p:spPr>
          <a:xfrm>
            <a:off x="670560" y="333756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POLICY</a:t>
            </a:r>
          </a:p>
        </p:txBody>
      </p:sp>
      <p:sp>
        <p:nvSpPr>
          <p:cNvPr id="14" name="TextBox 13"/>
          <p:cNvSpPr txBox="1"/>
          <p:nvPr/>
        </p:nvSpPr>
        <p:spPr>
          <a:xfrm>
            <a:off x="3566160" y="309372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Generated inspect workload, protocol counterparty, local grants and deterministic</a:t>
            </a:r>
          </a:p>
        </p:txBody>
      </p:sp>
      <p:sp>
        <p:nvSpPr>
          <p:cNvPr id="15" name="TextBox 14"/>
          <p:cNvSpPr txBox="1"/>
          <p:nvPr/>
        </p:nvSpPr>
        <p:spPr>
          <a:xfrm>
            <a:off x="3566160" y="333756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fault placement.</a:t>
            </a:r>
          </a:p>
        </p:txBody>
      </p:sp>
      <p:sp>
        <p:nvSpPr>
          <p:cNvPr id="16" name="Rounded Rectangle 15"/>
          <p:cNvSpPr/>
          <p:nvPr/>
        </p:nvSpPr>
        <p:spPr>
          <a:xfrm>
            <a:off x="548640" y="3817619"/>
            <a:ext cx="11094720" cy="815340"/>
          </a:xfrm>
          <a:prstGeom prst="roundRect">
            <a:avLst>
              <a:gd name="adj" fmla="val 5607"/>
            </a:avLst>
          </a:prstGeom>
          <a:solidFill>
            <a:srgbClr val="FFFFFF"/>
          </a:solidFill>
          <a:ln>
            <a:noFill/>
          </a:ln>
          <a:effectLst/>
        </p:spPr>
        <p:txBody>
          <a:bodyPr rtlCol="0" anchor="ctr"/>
          <a:lstStyle/>
          <a:p>
            <a:pPr algn="ctr"/>
          </a:p>
        </p:txBody>
      </p:sp>
      <p:sp>
        <p:nvSpPr>
          <p:cNvPr id="17" name="TextBox 16"/>
          <p:cNvSpPr txBox="1"/>
          <p:nvPr/>
        </p:nvSpPr>
        <p:spPr>
          <a:xfrm>
            <a:off x="670560" y="394716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BLOCKED /</a:t>
            </a:r>
          </a:p>
        </p:txBody>
      </p:sp>
      <p:sp>
        <p:nvSpPr>
          <p:cNvPr id="18" name="TextBox 17"/>
          <p:cNvSpPr txBox="1"/>
          <p:nvPr/>
        </p:nvSpPr>
        <p:spPr>
          <a:xfrm>
            <a:off x="670560" y="419100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UNSUPPORTED</a:t>
            </a:r>
          </a:p>
        </p:txBody>
      </p:sp>
      <p:sp>
        <p:nvSpPr>
          <p:cNvPr id="19" name="TextBox 18"/>
          <p:cNvSpPr txBox="1"/>
          <p:nvPr/>
        </p:nvSpPr>
        <p:spPr>
          <a:xfrm>
            <a:off x="3566160" y="394716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required current gate blocked; unavailable input or full/revoked route may</a:t>
            </a:r>
          </a:p>
        </p:txBody>
      </p:sp>
      <p:sp>
        <p:nvSpPr>
          <p:cNvPr id="20" name="TextBox 19"/>
          <p:cNvSpPr txBox="1"/>
          <p:nvPr/>
        </p:nvSpPr>
        <p:spPr>
          <a:xfrm>
            <a:off x="3566160" y="419100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leave progress pending.</a:t>
            </a:r>
          </a:p>
        </p:txBody>
      </p:sp>
      <p:sp>
        <p:nvSpPr>
          <p:cNvPr id="21" name="Rounded Rectangle 20"/>
          <p:cNvSpPr/>
          <p:nvPr/>
        </p:nvSpPr>
        <p:spPr>
          <a:xfrm>
            <a:off x="548640" y="4671060"/>
            <a:ext cx="11094720" cy="815340"/>
          </a:xfrm>
          <a:prstGeom prst="roundRect">
            <a:avLst>
              <a:gd name="adj" fmla="val 5607"/>
            </a:avLst>
          </a:prstGeom>
          <a:solidFill>
            <a:srgbClr val="FFFFFF"/>
          </a:solidFill>
          <a:ln>
            <a:noFill/>
          </a:ln>
          <a:effectLst/>
        </p:spPr>
        <p:txBody>
          <a:bodyPr rtlCol="0" anchor="ctr"/>
          <a:lstStyle/>
          <a:p>
            <a:pPr algn="ctr"/>
          </a:p>
        </p:txBody>
      </p:sp>
      <p:sp>
        <p:nvSpPr>
          <p:cNvPr id="22" name="TextBox 21"/>
          <p:cNvSpPr txBox="1"/>
          <p:nvPr/>
        </p:nvSpPr>
        <p:spPr>
          <a:xfrm>
            <a:off x="670560" y="480060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UNRUN</a:t>
            </a:r>
          </a:p>
        </p:txBody>
      </p:sp>
      <p:sp>
        <p:nvSpPr>
          <p:cNvPr id="23" name="TextBox 22"/>
          <p:cNvSpPr txBox="1"/>
          <p:nvPr/>
        </p:nvSpPr>
        <p:spPr>
          <a:xfrm>
            <a:off x="3566160" y="480060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Arbitrary workloads, remote worker scheduling, distributed failover and</a:t>
            </a:r>
          </a:p>
        </p:txBody>
      </p:sp>
      <p:sp>
        <p:nvSpPr>
          <p:cNvPr id="24" name="TextBox 23"/>
          <p:cNvSpPr txBox="1"/>
          <p:nvPr/>
        </p:nvSpPr>
        <p:spPr>
          <a:xfrm>
            <a:off x="3566160" y="504444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exactly-once physical execution.</a:t>
            </a:r>
          </a:p>
        </p:txBody>
      </p:sp>
      <p:sp>
        <p:nvSpPr>
          <p:cNvPr id="25" name="Rounded Rectangle 24"/>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6" name="TextBox 25"/>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M5 final tested runtime: bfb0ec8 · evidence: 3dc6c11 · module representation is not product completeness.</a:t>
            </a:r>
          </a:p>
        </p:txBody>
      </p:sp>
      <p:cxnSp>
        <p:nvCxnSpPr>
          <p:cNvPr id="27" name="Connector 26"/>
          <p:cNvCxnSpPr/>
          <p:nvPr/>
        </p:nvCxnSpPr>
        <p:spPr>
          <a:xfrm>
            <a:off x="548640" y="6393180"/>
            <a:ext cx="11094720" cy="0"/>
          </a:xfrm>
          <a:prstGeom prst="line">
            <a:avLst/>
          </a:prstGeom>
          <a:ln w="7620">
            <a:solidFill>
              <a:srgbClr val="C9D2D4"/>
            </a:solidFill>
          </a:ln>
          <a:effectLst/>
        </p:spPr>
      </p:cxnSp>
      <p:sp>
        <p:nvSpPr>
          <p:cNvPr id="28" name="TextBox 2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Delegated execution · M5 source bfb0ec8</a:t>
            </a:r>
          </a:p>
        </p:txBody>
      </p:sp>
      <p:sp>
        <p:nvSpPr>
          <p:cNvPr id="29" name="TextBox 2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10 / PROPOSED WORK · NOT IMPLEMENTED</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Future directions need acceptance criteria</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are discussion options, not a committed roadmap or permission to expand the current profile.</a:t>
            </a:r>
          </a:p>
        </p:txBody>
      </p:sp>
      <p:sp>
        <p:nvSpPr>
          <p:cNvPr id="5" name="TextBox 4"/>
          <p:cNvSpPr txBox="1"/>
          <p:nvPr/>
        </p:nvSpPr>
        <p:spPr>
          <a:xfrm>
            <a:off x="670560" y="1790700"/>
            <a:ext cx="28803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DIRECTION</a:t>
            </a:r>
          </a:p>
        </p:txBody>
      </p:sp>
      <p:sp>
        <p:nvSpPr>
          <p:cNvPr id="6" name="TextBox 5"/>
          <p:cNvSpPr txBox="1"/>
          <p:nvPr/>
        </p:nvSpPr>
        <p:spPr>
          <a:xfrm>
            <a:off x="3794760" y="1790700"/>
            <a:ext cx="38709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PREREQUISITE / DESIGN GATE</a:t>
            </a:r>
          </a:p>
        </p:txBody>
      </p:sp>
      <p:sp>
        <p:nvSpPr>
          <p:cNvPr id="7" name="TextBox 6"/>
          <p:cNvSpPr txBox="1"/>
          <p:nvPr/>
        </p:nvSpPr>
        <p:spPr>
          <a:xfrm>
            <a:off x="7909559" y="1790700"/>
            <a:ext cx="36118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MEASURE OF SUCCESS</a:t>
            </a:r>
          </a:p>
        </p:txBody>
      </p:sp>
      <p:sp>
        <p:nvSpPr>
          <p:cNvPr id="8" name="Rounded Rectangle 7"/>
          <p:cNvSpPr/>
          <p:nvPr/>
        </p:nvSpPr>
        <p:spPr>
          <a:xfrm>
            <a:off x="548640" y="2110740"/>
            <a:ext cx="11094720" cy="1059180"/>
          </a:xfrm>
          <a:prstGeom prst="roundRect">
            <a:avLst>
              <a:gd name="adj" fmla="val 4316"/>
            </a:avLst>
          </a:prstGeom>
          <a:solidFill>
            <a:srgbClr val="FFFFFF"/>
          </a:solidFill>
          <a:ln>
            <a:noFill/>
          </a:ln>
          <a:effectLst/>
        </p:spPr>
        <p:txBody>
          <a:bodyPr rtlCol="0" anchor="ctr"/>
          <a:lstStyle/>
          <a:p>
            <a:pPr algn="ctr"/>
          </a:p>
        </p:txBody>
      </p:sp>
      <p:sp>
        <p:nvSpPr>
          <p:cNvPr id="9" name="TextBox 8"/>
          <p:cNvSpPr txBox="1"/>
          <p:nvPr/>
        </p:nvSpPr>
        <p:spPr>
          <a:xfrm>
            <a:off x="670560" y="224028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Benchmark each lifecycle</a:t>
            </a:r>
          </a:p>
        </p:txBody>
      </p:sp>
      <p:sp>
        <p:nvSpPr>
          <p:cNvPr id="10" name="TextBox 9"/>
          <p:cNvSpPr txBox="1"/>
          <p:nvPr/>
        </p:nvSpPr>
        <p:spPr>
          <a:xfrm>
            <a:off x="670560" y="248412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stage</a:t>
            </a:r>
          </a:p>
        </p:txBody>
      </p:sp>
      <p:sp>
        <p:nvSpPr>
          <p:cNvPr id="11" name="TextBox 10"/>
          <p:cNvSpPr txBox="1"/>
          <p:nvPr/>
        </p:nvSpPr>
        <p:spPr>
          <a:xfrm>
            <a:off x="3794760" y="224028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Independent timestamps for</a:t>
            </a:r>
          </a:p>
        </p:txBody>
      </p:sp>
      <p:sp>
        <p:nvSpPr>
          <p:cNvPr id="12" name="TextBox 11"/>
          <p:cNvSpPr txBox="1"/>
          <p:nvPr/>
        </p:nvSpPr>
        <p:spPr>
          <a:xfrm>
            <a:off x="3794760" y="248412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acceptance/result/delivery</a:t>
            </a:r>
          </a:p>
        </p:txBody>
      </p:sp>
      <p:sp>
        <p:nvSpPr>
          <p:cNvPr id="13" name="TextBox 12"/>
          <p:cNvSpPr txBox="1"/>
          <p:nvPr/>
        </p:nvSpPr>
        <p:spPr>
          <a:xfrm>
            <a:off x="7909559" y="224028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Do not report notification delay as</a:t>
            </a:r>
          </a:p>
        </p:txBody>
      </p:sp>
      <p:sp>
        <p:nvSpPr>
          <p:cNvPr id="14" name="TextBox 13"/>
          <p:cNvSpPr txBox="1"/>
          <p:nvPr/>
        </p:nvSpPr>
        <p:spPr>
          <a:xfrm>
            <a:off x="7909559" y="248412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execution time</a:t>
            </a:r>
          </a:p>
        </p:txBody>
      </p:sp>
      <p:sp>
        <p:nvSpPr>
          <p:cNvPr id="15" name="Rounded Rectangle 14"/>
          <p:cNvSpPr/>
          <p:nvPr/>
        </p:nvSpPr>
        <p:spPr>
          <a:xfrm>
            <a:off x="548640" y="3208020"/>
            <a:ext cx="11094720" cy="1059180"/>
          </a:xfrm>
          <a:prstGeom prst="roundRect">
            <a:avLst>
              <a:gd name="adj" fmla="val 4316"/>
            </a:avLst>
          </a:prstGeom>
          <a:solidFill>
            <a:srgbClr val="FFFFFF"/>
          </a:solidFill>
          <a:ln>
            <a:noFill/>
          </a:ln>
          <a:effectLst/>
        </p:spPr>
        <p:txBody>
          <a:bodyPr rtlCol="0" anchor="ctr"/>
          <a:lstStyle/>
          <a:p>
            <a:pPr algn="ctr"/>
          </a:p>
        </p:txBody>
      </p:sp>
      <p:sp>
        <p:nvSpPr>
          <p:cNvPr id="16" name="TextBox 15"/>
          <p:cNvSpPr txBox="1"/>
          <p:nvPr/>
        </p:nvSpPr>
        <p:spPr>
          <a:xfrm>
            <a:off x="670560" y="333756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Add an operation</a:t>
            </a:r>
          </a:p>
        </p:txBody>
      </p:sp>
      <p:sp>
        <p:nvSpPr>
          <p:cNvPr id="17" name="TextBox 16"/>
          <p:cNvSpPr txBox="1"/>
          <p:nvPr/>
        </p:nvSpPr>
        <p:spPr>
          <a:xfrm>
            <a:off x="670560" y="358140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explicitly</a:t>
            </a:r>
          </a:p>
        </p:txBody>
      </p:sp>
      <p:sp>
        <p:nvSpPr>
          <p:cNvPr id="18" name="TextBox 17"/>
          <p:cNvSpPr txBox="1"/>
          <p:nvPr/>
        </p:nvSpPr>
        <p:spPr>
          <a:xfrm>
            <a:off x="3794760" y="333756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Determinism, resource bounds and</a:t>
            </a:r>
          </a:p>
        </p:txBody>
      </p:sp>
      <p:sp>
        <p:nvSpPr>
          <p:cNvPr id="19" name="TextBox 18"/>
          <p:cNvSpPr txBox="1"/>
          <p:nvPr/>
        </p:nvSpPr>
        <p:spPr>
          <a:xfrm>
            <a:off x="3794760" y="358140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authorization review</a:t>
            </a:r>
          </a:p>
        </p:txBody>
      </p:sp>
      <p:sp>
        <p:nvSpPr>
          <p:cNvPr id="20" name="TextBox 19"/>
          <p:cNvSpPr txBox="1"/>
          <p:nvPr/>
        </p:nvSpPr>
        <p:spPr>
          <a:xfrm>
            <a:off x="7909559" y="333756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New conformance and crash</a:t>
            </a:r>
          </a:p>
        </p:txBody>
      </p:sp>
      <p:sp>
        <p:nvSpPr>
          <p:cNvPr id="21" name="TextBox 20"/>
          <p:cNvSpPr txBox="1"/>
          <p:nvPr/>
        </p:nvSpPr>
        <p:spPr>
          <a:xfrm>
            <a:off x="7909559" y="358140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boundary tests</a:t>
            </a:r>
          </a:p>
        </p:txBody>
      </p:sp>
      <p:sp>
        <p:nvSpPr>
          <p:cNvPr id="22" name="Rounded Rectangle 21"/>
          <p:cNvSpPr/>
          <p:nvPr/>
        </p:nvSpPr>
        <p:spPr>
          <a:xfrm>
            <a:off x="548640" y="4305300"/>
            <a:ext cx="11094720" cy="1059180"/>
          </a:xfrm>
          <a:prstGeom prst="roundRect">
            <a:avLst>
              <a:gd name="adj" fmla="val 4316"/>
            </a:avLst>
          </a:prstGeom>
          <a:solidFill>
            <a:srgbClr val="FFFFFF"/>
          </a:solidFill>
          <a:ln>
            <a:noFill/>
          </a:ln>
          <a:effectLst/>
        </p:spPr>
        <p:txBody>
          <a:bodyPr rtlCol="0" anchor="ctr"/>
          <a:lstStyle/>
          <a:p>
            <a:pPr algn="ctr"/>
          </a:p>
        </p:txBody>
      </p:sp>
      <p:sp>
        <p:nvSpPr>
          <p:cNvPr id="23" name="TextBox 22"/>
          <p:cNvSpPr txBox="1"/>
          <p:nvPr/>
        </p:nvSpPr>
        <p:spPr>
          <a:xfrm>
            <a:off x="670560" y="443484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Explore remote workers</a:t>
            </a:r>
          </a:p>
        </p:txBody>
      </p:sp>
      <p:sp>
        <p:nvSpPr>
          <p:cNvPr id="24" name="TextBox 23"/>
          <p:cNvSpPr txBox="1"/>
          <p:nvPr/>
        </p:nvSpPr>
        <p:spPr>
          <a:xfrm>
            <a:off x="3794760" y="443484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Placement and failure contract before</a:t>
            </a:r>
          </a:p>
        </p:txBody>
      </p:sp>
      <p:sp>
        <p:nvSpPr>
          <p:cNvPr id="25" name="TextBox 24"/>
          <p:cNvSpPr txBox="1"/>
          <p:nvPr/>
        </p:nvSpPr>
        <p:spPr>
          <a:xfrm>
            <a:off x="3794760" y="467868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transport</a:t>
            </a:r>
          </a:p>
        </p:txBody>
      </p:sp>
      <p:sp>
        <p:nvSpPr>
          <p:cNvPr id="26" name="TextBox 25"/>
          <p:cNvSpPr txBox="1"/>
          <p:nvPr/>
        </p:nvSpPr>
        <p:spPr>
          <a:xfrm>
            <a:off x="7909559" y="443484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Keep independent owner commits</a:t>
            </a:r>
          </a:p>
        </p:txBody>
      </p:sp>
      <p:sp>
        <p:nvSpPr>
          <p:cNvPr id="27" name="TextBox 26"/>
          <p:cNvSpPr txBox="1"/>
          <p:nvPr/>
        </p:nvSpPr>
        <p:spPr>
          <a:xfrm>
            <a:off x="7909559" y="467868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and stable replay</a:t>
            </a:r>
          </a:p>
        </p:txBody>
      </p:sp>
      <p:sp>
        <p:nvSpPr>
          <p:cNvPr id="28" name="Rounded Rectangle 27"/>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9" name="TextBox 28"/>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Keep ownership, current authorization and explicit compatibility intact; qualify new semantics with a new profile.</a:t>
            </a:r>
          </a:p>
        </p:txBody>
      </p:sp>
      <p:cxnSp>
        <p:nvCxnSpPr>
          <p:cNvPr id="30" name="Connector 29"/>
          <p:cNvCxnSpPr/>
          <p:nvPr/>
        </p:nvCxnSpPr>
        <p:spPr>
          <a:xfrm>
            <a:off x="548640" y="6393180"/>
            <a:ext cx="11094720" cy="0"/>
          </a:xfrm>
          <a:prstGeom prst="line">
            <a:avLst/>
          </a:prstGeom>
          <a:ln w="7620">
            <a:solidFill>
              <a:srgbClr val="C9D2D4"/>
            </a:solidFill>
          </a:ln>
          <a:effectLst/>
        </p:spPr>
      </p:cxnSp>
      <p:sp>
        <p:nvSpPr>
          <p:cNvPr id="31" name="TextBox 30"/>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Delegated execution · M5 source bfb0ec8</a:t>
            </a:r>
          </a:p>
        </p:txBody>
      </p:sp>
      <p:sp>
        <p:nvSpPr>
          <p:cNvPr id="32" name="TextBox 31"/>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11 / SOURCES AND TAKEAWAY</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Evidence you can inspect and reproduce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Read the exact code, contracts and recorded run before treating a claim as a guarantee.</a:t>
            </a:r>
          </a:p>
        </p:txBody>
      </p:sp>
      <p:sp>
        <p:nvSpPr>
          <p:cNvPr id="5" name="Rounded Rectangle 4"/>
          <p:cNvSpPr/>
          <p:nvPr/>
        </p:nvSpPr>
        <p:spPr>
          <a:xfrm>
            <a:off x="548640" y="1783080"/>
            <a:ext cx="11094720" cy="853440"/>
          </a:xfrm>
          <a:prstGeom prst="roundRect">
            <a:avLst>
              <a:gd name="adj" fmla="val 11607"/>
            </a:avLst>
          </a:prstGeom>
          <a:solidFill>
            <a:srgbClr val="E4EBF5"/>
          </a:solidFill>
          <a:ln w="7620">
            <a:solidFill>
              <a:srgbClr val="315E9C"/>
            </a:solidFill>
          </a:ln>
          <a:effectLst/>
        </p:spPr>
        <p:txBody>
          <a:bodyPr rtlCol="0" anchor="ctr"/>
          <a:lstStyle/>
          <a:p>
            <a:pPr algn="ctr"/>
          </a:p>
        </p:txBody>
      </p:sp>
      <p:sp>
        <p:nvSpPr>
          <p:cNvPr id="6" name="TextBox 5"/>
          <p:cNvSpPr txBox="1"/>
          <p:nvPr/>
        </p:nvSpPr>
        <p:spPr>
          <a:xfrm>
            <a:off x="716280" y="195072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315E9C"/>
                </a:solidFill>
                <a:latin typeface="DejaVu Sans"/>
              </a:rPr>
              <a:t>Takeaway</a:t>
            </a:r>
          </a:p>
        </p:txBody>
      </p:sp>
      <p:sp>
        <p:nvSpPr>
          <p:cNvPr id="7" name="TextBox 6"/>
          <p:cNvSpPr txBox="1"/>
          <p:nvPr/>
        </p:nvSpPr>
        <p:spPr>
          <a:xfrm>
            <a:off x="716280" y="230002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Execution completion and completion delivery have different owners.</a:t>
            </a:r>
          </a:p>
        </p:txBody>
      </p:sp>
      <p:sp>
        <p:nvSpPr>
          <p:cNvPr id="8" name="TextBox 7"/>
          <p:cNvSpPr txBox="1"/>
          <p:nvPr/>
        </p:nvSpPr>
        <p:spPr>
          <a:xfrm>
            <a:off x="609600" y="2819400"/>
            <a:ext cx="10972800"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536775"/>
                </a:solidFill>
                <a:latin typeface="DejaVu Sans"/>
              </a:rPr>
              <a:t>SUPPORTED REPRODUCTION ENTRYPOINT · PREREQUISITES REQUIRED</a:t>
            </a:r>
          </a:p>
        </p:txBody>
      </p:sp>
      <p:sp>
        <p:nvSpPr>
          <p:cNvPr id="9" name="TextBox 8"/>
          <p:cNvSpPr txBox="1"/>
          <p:nvPr/>
        </p:nvSpPr>
        <p:spPr>
          <a:xfrm>
            <a:off x="609600" y="3124200"/>
            <a:ext cx="109347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102B3F"/>
                </a:solidFill>
                <a:latin typeface="DejaVu Sans Mono"/>
              </a:rPr>
              <a:t>uv run --python 3.11 --locked python scripts/verify_m11.py</a:t>
            </a:r>
          </a:p>
        </p:txBody>
      </p:sp>
      <p:sp>
        <p:nvSpPr>
          <p:cNvPr id="10" name="TextBox 9"/>
          <p:cNvSpPr txBox="1"/>
          <p:nvPr/>
        </p:nvSpPr>
        <p:spPr>
          <a:xfrm>
            <a:off x="609600" y="3726179"/>
            <a:ext cx="108966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For actual Hive, use the pinned M1.2 build/run recipe or the current full legacy verifier; the M1.1 command alone</a:t>
            </a:r>
          </a:p>
        </p:txBody>
      </p:sp>
      <p:sp>
        <p:nvSpPr>
          <p:cNvPr id="11" name="TextBox 10"/>
          <p:cNvSpPr txBox="1"/>
          <p:nvPr/>
        </p:nvSpPr>
        <p:spPr>
          <a:xfrm>
            <a:off x="609600" y="3970019"/>
            <a:ext cx="108966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is not a native-caller gate.</a:t>
            </a:r>
          </a:p>
        </p:txBody>
      </p:sp>
      <p:sp>
        <p:nvSpPr>
          <p:cNvPr id="12" name="TextBox 11"/>
          <p:cNvSpPr txBox="1"/>
          <p:nvPr/>
        </p:nvSpPr>
        <p:spPr>
          <a:xfrm>
            <a:off x="609600" y="471678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fusion/execution.py</a:t>
            </a:r>
          </a:p>
        </p:txBody>
      </p:sp>
      <p:sp>
        <p:nvSpPr>
          <p:cNvPr id="13" name="TextBox 12"/>
          <p:cNvSpPr txBox="1"/>
          <p:nvPr/>
        </p:nvSpPr>
        <p:spPr>
          <a:xfrm>
            <a:off x="609600" y="496824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fusion/service.py</a:t>
            </a:r>
          </a:p>
        </p:txBody>
      </p:sp>
      <p:sp>
        <p:nvSpPr>
          <p:cNvPr id="14" name="TextBox 13"/>
          <p:cNvSpPr txBox="1"/>
          <p:nvPr/>
        </p:nvSpPr>
        <p:spPr>
          <a:xfrm>
            <a:off x="609600" y="521970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tests/test_m11.py</a:t>
            </a:r>
          </a:p>
        </p:txBody>
      </p:sp>
      <p:sp>
        <p:nvSpPr>
          <p:cNvPr id="15" name="TextBox 14"/>
          <p:cNvSpPr txBox="1"/>
          <p:nvPr/>
        </p:nvSpPr>
        <p:spPr>
          <a:xfrm>
            <a:off x="609600" y="547116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integration/hive/test_integration.py</a:t>
            </a:r>
          </a:p>
        </p:txBody>
      </p:sp>
      <p:sp>
        <p:nvSpPr>
          <p:cNvPr id="16" name="TextBox 15"/>
          <p:cNvSpPr txBox="1"/>
          <p:nvPr/>
        </p:nvSpPr>
        <p:spPr>
          <a:xfrm>
            <a:off x="609600" y="5867400"/>
            <a:ext cx="108966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536775"/>
                </a:solidFill>
                <a:latin typeface="DejaVu Sans"/>
              </a:rPr>
              <a:t>Source 494df69a1ac401c3d3b2cf79dbfde07f74b5e277 · all citations and full notes accompany this deck.</a:t>
            </a:r>
          </a:p>
        </p:txBody>
      </p:sp>
      <p:cxnSp>
        <p:nvCxnSpPr>
          <p:cNvPr id="17" name="Connector 16"/>
          <p:cNvCxnSpPr/>
          <p:nvPr/>
        </p:nvCxnSpPr>
        <p:spPr>
          <a:xfrm>
            <a:off x="548640" y="6393180"/>
            <a:ext cx="11094720" cy="0"/>
          </a:xfrm>
          <a:prstGeom prst="line">
            <a:avLst/>
          </a:prstGeom>
          <a:ln w="7620">
            <a:solidFill>
              <a:srgbClr val="C9D2D4"/>
            </a:solidFill>
          </a:ln>
          <a:effectLst/>
        </p:spPr>
      </p:cxnSp>
      <p:sp>
        <p:nvSpPr>
          <p:cNvPr id="18" name="TextBox 1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Delegated execution · M5 source bfb0ec8</a:t>
            </a:r>
          </a:p>
        </p:txBody>
      </p:sp>
      <p:sp>
        <p:nvSpPr>
          <p:cNvPr id="19" name="TextBox 1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Omega × ASI — Delegated execution</dc:title>
  <dc:subject>Accept the allowlisted inspect_atom operation, persist terminal state/result references and deliver correlated completion.</dc:subject>
  <dc:creator>Omega × ASI module-interface project</dc:creator>
  <cp:keywords>Omega, ASI, M5, ELI16, Delegated execution</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