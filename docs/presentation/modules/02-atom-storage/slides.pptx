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Scoped immutable typed envelopes, mutation replay and the M5 accepted commit feed. Consumers can retry, swap providers and rebuild indexes only if reference identity and accepted-source order remain explicit. Do not treat the analogy as an additional experiment. This is a standalone talk about one responsibility, not a claim that every module is a separate service or repository.</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AtomStorage · C0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AtomStorage owns reference metadata above opaque DA. The M5 feed belongs to the same owner; Search does not create source truth. An atomic-file alternative is a fixture.</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AtomStorage owns reference metadata above opaque DA. The M5 feed belongs to the same owner; Search does not create source truth. An atomic-file alternative is a fixture. The left node is a caller or caller class; the right nodes distinguish foreign ports, pure helpers, local state and runtime internals. There is no implied shared transaction. No query interpretation, belief admission or relation acceptance.</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Envelope + replay identity: Immutable reference, content type and request semantics. Accepted source feed: Source UUID, scope and contiguous sequence in the M5 profile. Knowledge meaning: No query interpretation, belief admission or relation acceptance. Cross-owner transaction: DA bytes may commit before envelope acceptance; clients recover through ports. Explicit compatibility: Historical immutable-bytes/1; fresh immutable-commit-feed/1 · contract 1.1.0. Limits: M5 caps 512 accepted atoms and 4096 bytes/atom; legacy limits remain profile-specific.</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create: Accept one scoped immutable envelope; Same intent replays; changed intent conflicts. get / getMany: Retrieve exact typed bytes for references; Live authority and integrity checks. availability: Report selected provider evidence; Preserve provider/durability distinctions. head / readCommits: Enumerate accepted source prefix; Fresh immutable-commit-feed/1 profile.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Persist bytes: Write through the opaque storage port. 2. Accept: Commit envelope and feed metadata together. 3. Lose reply: Kill after acceptance, before caller acknowledgment. 4. Replay: Recover one reference and one source sequence. Evidence classification: M5 REAL DeTTa + OWNER JOURNAL · one deliberate feed-acceptance kill. Do not infer performance, broad production readiness or extra runtime integrations from this example.</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Immutable identity: An accepted reference binds scope, revision and exact content. Replay semantics: Same principal/scope/key with changed meaning conflicts. Contiguous accepted feed: Acceptance and sequence metadata commit together; orphans do not enter the feed. Provider neutrality: The consumer does not inspect concrete provider internals. The supporting tests and runtime evidence are in the linked sources; this slide does not claim a formal proof or a production security audit.</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Bytes persist; acceptance not yet committed: Retry recovers bytes, then completes owner acceptance. Independent commit boundary. Acceptance commits; reply lost: Replay returns the same logical acceptance. M5 feed kill case. Provider substitution: Select an independent same-profile implementation on a fresh store. No populated-state migration.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2 × 2 Providers × bindings: M1.1/M1.2 workflow substitution matrix. 1 M5 feed SIGKILL case: Acceptance before response. 512 / 4096 B M5 atoms / per-atom limit: Contract bounds, not demonstrated scale capacity. The substitution matrix establishes matching logical outcomes. Existing whole-workflow timings include storage, messaging, workers and retries; they are not AtomStorage latency. Proposed: create/get/getMany across provider, payload and batch size; separate cold open, warm read and replay, with p50/p95 plus storage amplification. No new benchmark is executed for this presentation. Do not compare overlapping suite times or use a one-run workflow measurement as a latency percentile.</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DeTTa-backed AtomOwner and fresh FeedAtomOwner with their own journals. Fixture: Independent atomic-file AtomStorage and feed; generated bytes and hostile ports. Blocked or unsupported: No required M5 gate blocked. Replacement of an already populated namespace is unsupported. Unrun: Power loss, distributed consistency, pruning/compaction and live namespace migration. All required M5 gates passed in the recorded final run, including legacy M1–M4 behavior; this presentation does not rerun those integrations. Human maintainers remain unassigned.</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Quantify provider overhead requires Fixed corpus and equivalent durability labels; success means Separate lookup latency from DA reconstruction. Design retention/pruning requires Source-prefix and cursor invalidation contract first; success means No silent holes in accepted history. Add a production replacement requires Independent owner transitions + conformance; success means Same consumer, explicit profile, no hidden migration. No new cognition, scheduler, migration or chain capability is implemented by this series. Any changed numerical semantics, placement or replay lifetime requires separate design and verification rather than a presentation claim.</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Accepted identity is authoritative; indexing is derived. The reproduction entrypoint is uv run --python 3.11 --locked python scripts/verify_m5.py --gates storage --environment &lt;env&gt; --output &lt;fresh&gt;. Build pinned native providers first. Storage gate uses real DeTTa; fixture passes cannot substitute for it.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[atoms.py](https://github.com/machieke/fusion-module-interfaces/blob/494df69a1ac401c3d3b2cf79dbfde07f74b5e277/fusion/atoms.py), [atom_feed.py](https://github.com/machieke/fusion-module-interfaces/blob/494df69a1ac401c3d3b2cf79dbfde07f74b5e277/fusion/atom_feed.py), [fixture_feed.py](https://github.com/machieke/fusion-module-interfaces/blob/494df69a1ac401c3d3b2cf79dbfde07f74b5e277/fusion/adapters/fixture_feed.py), [m5-contracts.md](https://github.com/machieke/fusion-module-interfaces/blob/494df69a1ac401c3d3b2cf79dbfde07f74b5e277/docs/module-interfaces/m5-contracts.md), [m11-swap-demo.json](https://github.com/machieke/fusion-module-interfaces/blob/494df69a1ac401c3d3b2cf79dbfde07f74b5e277/docs/module-interfaces/evidence/m1_2/m11-swap-demo.json), [manifest.json](https://github.com/machieke/fusion-module-interfaces/blob/494df69a1ac401c3d3b2cf79dbfde07f74b5e277/evidence/m5/manifest.json).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AtomStorage · C0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AtomStorage · C0</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Give bytes stable identity.</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Own their acceptance.</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library accession desk: it assigns an immutable reference and records which items</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were actually accepted.</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Consumers can retry, swap providers and rebuild indexes only if reference identity</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and accepted-source order remain explicit.</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AtomStorage · C0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315E9C"/>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Scoped immutable typed envelopes, mutation replay and the M5 accepted commit feed.</a:t>
            </a:r>
          </a:p>
        </p:txBody>
      </p:sp>
      <p:cxnSp>
        <p:nvCxnSpPr>
          <p:cNvPr id="44" name="Connector 43"/>
          <p:cNvCxnSpPr/>
          <p:nvPr/>
        </p:nvCxnSpPr>
        <p:spPr>
          <a:xfrm>
            <a:off x="548640" y="6393180"/>
            <a:ext cx="11094720" cy="0"/>
          </a:xfrm>
          <a:prstGeom prst="line">
            <a:avLst/>
          </a:prstGeom>
          <a:ln w="7620">
            <a:solidFill>
              <a:srgbClr val="C9D2D4"/>
            </a:solidFill>
          </a:ln>
          <a:effectLst/>
        </p:spPr>
      </p:cxnSp>
      <p:sp>
        <p:nvSpPr>
          <p:cNvPr id="45" name="TextBox 4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46" name="TextBox 4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C1 / C2 / Execution /</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Relations / Search</a:t>
            </a:r>
          </a:p>
        </p:txBody>
      </p:sp>
      <p:sp>
        <p:nvSpPr>
          <p:cNvPr id="8" name="TextBox 7"/>
          <p:cNvSpPr txBox="1"/>
          <p:nvPr/>
        </p:nvSpPr>
        <p:spPr>
          <a:xfrm>
            <a:off x="716280" y="326318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create · get/getMany ·</a:t>
            </a:r>
          </a:p>
        </p:txBody>
      </p:sp>
      <p:sp>
        <p:nvSpPr>
          <p:cNvPr id="9" name="TextBox 8"/>
          <p:cNvSpPr txBox="1"/>
          <p:nvPr/>
        </p:nvSpPr>
        <p:spPr>
          <a:xfrm>
            <a:off x="716280" y="350702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availability · feed</a:t>
            </a:r>
          </a:p>
        </p:txBody>
      </p:sp>
      <p:sp>
        <p:nvSpPr>
          <p:cNvPr id="10" name="Rounded Rectangle 9"/>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315E9C"/>
                </a:solidFill>
                <a:latin typeface="DejaVu Sans"/>
              </a:rPr>
              <a:t>AtomStorage · C0</a:t>
            </a:r>
          </a:p>
        </p:txBody>
      </p:sp>
      <p:sp>
        <p:nvSpPr>
          <p:cNvPr id="12" name="TextBox 11"/>
          <p:cNvSpPr txBox="1"/>
          <p:nvPr/>
        </p:nvSpPr>
        <p:spPr>
          <a:xfrm>
            <a:off x="4396740" y="301934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Scoped immutable typed</a:t>
            </a:r>
          </a:p>
        </p:txBody>
      </p:sp>
      <p:sp>
        <p:nvSpPr>
          <p:cNvPr id="13" name="TextBox 12"/>
          <p:cNvSpPr txBox="1"/>
          <p:nvPr/>
        </p:nvSpPr>
        <p:spPr>
          <a:xfrm>
            <a:off x="4396740" y="326318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envelopes, mutation replay</a:t>
            </a:r>
          </a:p>
        </p:txBody>
      </p:sp>
      <p:sp>
        <p:nvSpPr>
          <p:cNvPr id="14" name="TextBox 13"/>
          <p:cNvSpPr txBox="1"/>
          <p:nvPr/>
        </p:nvSpPr>
        <p:spPr>
          <a:xfrm>
            <a:off x="4396740" y="350702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and the M5 accepted commit</a:t>
            </a:r>
          </a:p>
        </p:txBody>
      </p:sp>
      <p:sp>
        <p:nvSpPr>
          <p:cNvPr id="15" name="TextBox 14"/>
          <p:cNvSpPr txBox="1"/>
          <p:nvPr/>
        </p:nvSpPr>
        <p:spPr>
          <a:xfrm>
            <a:off x="4396740" y="375086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feed.</a:t>
            </a:r>
          </a:p>
        </p:txBody>
      </p:sp>
      <p:cxnSp>
        <p:nvCxnSpPr>
          <p:cNvPr id="16" name="Connector 15"/>
          <p:cNvCxnSpPr/>
          <p:nvPr/>
        </p:nvCxnSpPr>
        <p:spPr>
          <a:xfrm>
            <a:off x="3406140" y="3284219"/>
            <a:ext cx="822960" cy="0"/>
          </a:xfrm>
          <a:prstGeom prst="line">
            <a:avLst/>
          </a:prstGeom>
          <a:ln w="15240">
            <a:solidFill>
              <a:srgbClr val="315E9C"/>
            </a:solidFill>
          </a:ln>
          <a:effectLst/>
        </p:spPr>
      </p:cxnSp>
      <p:sp>
        <p:nvSpPr>
          <p:cNvPr id="17" name="Freeform 16"/>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8" name="Rounded Rectangle 17"/>
          <p:cNvSpPr/>
          <p:nvPr/>
        </p:nvSpPr>
        <p:spPr>
          <a:xfrm>
            <a:off x="8404860" y="19812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19" name="TextBox 18"/>
          <p:cNvSpPr txBox="1"/>
          <p:nvPr/>
        </p:nvSpPr>
        <p:spPr>
          <a:xfrm>
            <a:off x="8572500" y="21488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Storage port</a:t>
            </a:r>
          </a:p>
        </p:txBody>
      </p:sp>
      <p:sp>
        <p:nvSpPr>
          <p:cNvPr id="20" name="TextBox 19"/>
          <p:cNvSpPr txBox="1"/>
          <p:nvPr/>
        </p:nvSpPr>
        <p:spPr>
          <a:xfrm>
            <a:off x="8572500" y="248838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Persist/retrieve opaque bytes</a:t>
            </a:r>
          </a:p>
        </p:txBody>
      </p:sp>
      <p:cxnSp>
        <p:nvCxnSpPr>
          <p:cNvPr id="21" name="Connector 20"/>
          <p:cNvCxnSpPr/>
          <p:nvPr/>
        </p:nvCxnSpPr>
        <p:spPr>
          <a:xfrm>
            <a:off x="7467600" y="3284219"/>
            <a:ext cx="426720" cy="0"/>
          </a:xfrm>
          <a:prstGeom prst="line">
            <a:avLst/>
          </a:prstGeom>
          <a:ln w="15240">
            <a:solidFill>
              <a:srgbClr val="315E9C"/>
            </a:solidFill>
          </a:ln>
          <a:effectLst/>
        </p:spPr>
      </p:cxnSp>
      <p:cxnSp>
        <p:nvCxnSpPr>
          <p:cNvPr id="22" name="Connector 21"/>
          <p:cNvCxnSpPr/>
          <p:nvPr/>
        </p:nvCxnSpPr>
        <p:spPr>
          <a:xfrm flipV="1">
            <a:off x="7894320" y="2484120"/>
            <a:ext cx="0" cy="800099"/>
          </a:xfrm>
          <a:prstGeom prst="line">
            <a:avLst/>
          </a:prstGeom>
          <a:ln w="15240">
            <a:solidFill>
              <a:srgbClr val="315E9C"/>
            </a:solidFill>
          </a:ln>
          <a:effectLst/>
        </p:spPr>
      </p:cxnSp>
      <p:cxnSp>
        <p:nvCxnSpPr>
          <p:cNvPr id="23" name="Connector 22"/>
          <p:cNvCxnSpPr/>
          <p:nvPr/>
        </p:nvCxnSpPr>
        <p:spPr>
          <a:xfrm>
            <a:off x="7894320" y="2484120"/>
            <a:ext cx="510540" cy="0"/>
          </a:xfrm>
          <a:prstGeom prst="line">
            <a:avLst/>
          </a:prstGeom>
          <a:ln w="15240">
            <a:solidFill>
              <a:srgbClr val="315E9C"/>
            </a:solidFill>
          </a:ln>
          <a:effectLst/>
        </p:spPr>
      </p:cxnSp>
      <p:sp>
        <p:nvSpPr>
          <p:cNvPr id="24" name="Freeform 23"/>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5" name="Rounded Rectangle 24"/>
          <p:cNvSpPr/>
          <p:nvPr/>
        </p:nvSpPr>
        <p:spPr>
          <a:xfrm>
            <a:off x="8404860" y="31775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6" name="TextBox 25"/>
          <p:cNvSpPr txBox="1"/>
          <p:nvPr/>
        </p:nvSpPr>
        <p:spPr>
          <a:xfrm>
            <a:off x="8572500" y="33451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Current authorization</a:t>
            </a:r>
          </a:p>
        </p:txBody>
      </p:sp>
      <p:sp>
        <p:nvSpPr>
          <p:cNvPr id="27" name="TextBox 26"/>
          <p:cNvSpPr txBox="1"/>
          <p:nvPr/>
        </p:nvSpPr>
        <p:spPr>
          <a:xfrm>
            <a:off x="8572500" y="368472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Scope + principal + operation</a:t>
            </a:r>
          </a:p>
        </p:txBody>
      </p:sp>
      <p:cxnSp>
        <p:nvCxnSpPr>
          <p:cNvPr id="28" name="Connector 27"/>
          <p:cNvCxnSpPr/>
          <p:nvPr/>
        </p:nvCxnSpPr>
        <p:spPr>
          <a:xfrm>
            <a:off x="7467600" y="3284219"/>
            <a:ext cx="426720" cy="0"/>
          </a:xfrm>
          <a:prstGeom prst="line">
            <a:avLst/>
          </a:prstGeom>
          <a:ln w="15240">
            <a:solidFill>
              <a:srgbClr val="315E9C"/>
            </a:solidFill>
          </a:ln>
          <a:effectLst/>
        </p:spPr>
      </p:cxnSp>
      <p:cxnSp>
        <p:nvCxnSpPr>
          <p:cNvPr id="29" name="Connector 28"/>
          <p:cNvCxnSpPr/>
          <p:nvPr/>
        </p:nvCxnSpPr>
        <p:spPr>
          <a:xfrm>
            <a:off x="7894320" y="3284219"/>
            <a:ext cx="0" cy="396241"/>
          </a:xfrm>
          <a:prstGeom prst="line">
            <a:avLst/>
          </a:prstGeom>
          <a:ln w="15240">
            <a:solidFill>
              <a:srgbClr val="315E9C"/>
            </a:solidFill>
          </a:ln>
          <a:effectLst/>
        </p:spPr>
      </p:cxnSp>
      <p:cxnSp>
        <p:nvCxnSpPr>
          <p:cNvPr id="30" name="Connector 29"/>
          <p:cNvCxnSpPr/>
          <p:nvPr/>
        </p:nvCxnSpPr>
        <p:spPr>
          <a:xfrm>
            <a:off x="7894320" y="3680460"/>
            <a:ext cx="510540" cy="0"/>
          </a:xfrm>
          <a:prstGeom prst="line">
            <a:avLst/>
          </a:prstGeom>
          <a:ln w="15240">
            <a:solidFill>
              <a:srgbClr val="315E9C"/>
            </a:solidFill>
          </a:ln>
          <a:effectLst/>
        </p:spPr>
      </p:cxnSp>
      <p:sp>
        <p:nvSpPr>
          <p:cNvPr id="31" name="Freeform 30"/>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2" name="Rounded Rectangle 31"/>
          <p:cNvSpPr/>
          <p:nvPr/>
        </p:nvSpPr>
        <p:spPr>
          <a:xfrm>
            <a:off x="8404860" y="43738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3" name="TextBox 32"/>
          <p:cNvSpPr txBox="1"/>
          <p:nvPr/>
        </p:nvSpPr>
        <p:spPr>
          <a:xfrm>
            <a:off x="8572500" y="45415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Own journal</a:t>
            </a:r>
          </a:p>
        </p:txBody>
      </p:sp>
      <p:sp>
        <p:nvSpPr>
          <p:cNvPr id="34" name="TextBox 33"/>
          <p:cNvSpPr txBox="1"/>
          <p:nvPr/>
        </p:nvSpPr>
        <p:spPr>
          <a:xfrm>
            <a:off x="8572500" y="48810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Envelope acceptance, replay and</a:t>
            </a:r>
          </a:p>
        </p:txBody>
      </p:sp>
      <p:sp>
        <p:nvSpPr>
          <p:cNvPr id="35" name="TextBox 34"/>
          <p:cNvSpPr txBox="1"/>
          <p:nvPr/>
        </p:nvSpPr>
        <p:spPr>
          <a:xfrm>
            <a:off x="8572500" y="509564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source sequence</a:t>
            </a:r>
          </a:p>
        </p:txBody>
      </p:sp>
      <p:cxnSp>
        <p:nvCxnSpPr>
          <p:cNvPr id="36" name="Connector 35"/>
          <p:cNvCxnSpPr/>
          <p:nvPr/>
        </p:nvCxnSpPr>
        <p:spPr>
          <a:xfrm>
            <a:off x="7467600" y="3284219"/>
            <a:ext cx="426720" cy="0"/>
          </a:xfrm>
          <a:prstGeom prst="line">
            <a:avLst/>
          </a:prstGeom>
          <a:ln w="15240">
            <a:solidFill>
              <a:srgbClr val="315E9C"/>
            </a:solidFill>
          </a:ln>
          <a:effectLst/>
        </p:spPr>
      </p:cxnSp>
      <p:cxnSp>
        <p:nvCxnSpPr>
          <p:cNvPr id="37" name="Connector 36"/>
          <p:cNvCxnSpPr/>
          <p:nvPr/>
        </p:nvCxnSpPr>
        <p:spPr>
          <a:xfrm>
            <a:off x="7894320" y="3284219"/>
            <a:ext cx="0" cy="1592581"/>
          </a:xfrm>
          <a:prstGeom prst="line">
            <a:avLst/>
          </a:prstGeom>
          <a:ln w="15240">
            <a:solidFill>
              <a:srgbClr val="315E9C"/>
            </a:solidFill>
          </a:ln>
          <a:effectLst/>
        </p:spPr>
      </p:cxnSp>
      <p:cxnSp>
        <p:nvCxnSpPr>
          <p:cNvPr id="38" name="Connector 37"/>
          <p:cNvCxnSpPr/>
          <p:nvPr/>
        </p:nvCxnSpPr>
        <p:spPr>
          <a:xfrm>
            <a:off x="7894320" y="4876800"/>
            <a:ext cx="510540" cy="0"/>
          </a:xfrm>
          <a:prstGeom prst="line">
            <a:avLst/>
          </a:prstGeom>
          <a:ln w="15240">
            <a:solidFill>
              <a:srgbClr val="315E9C"/>
            </a:solidFill>
          </a:ln>
          <a:effectLst/>
        </p:spPr>
      </p:cxnSp>
      <p:sp>
        <p:nvSpPr>
          <p:cNvPr id="39" name="Freeform 38"/>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0" name="Rounded Rectangle 3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1" name="TextBox 40"/>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2" name="Connector 41"/>
          <p:cNvCxnSpPr/>
          <p:nvPr/>
        </p:nvCxnSpPr>
        <p:spPr>
          <a:xfrm>
            <a:off x="548640" y="6393180"/>
            <a:ext cx="11094720" cy="0"/>
          </a:xfrm>
          <a:prstGeom prst="line">
            <a:avLst/>
          </a:prstGeom>
          <a:ln w="7620">
            <a:solidFill>
              <a:srgbClr val="C9D2D4"/>
            </a:solidFill>
          </a:ln>
          <a:effectLst/>
        </p:spPr>
      </p:cxnSp>
      <p:sp>
        <p:nvSpPr>
          <p:cNvPr id="43" name="TextBox 4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44" name="TextBox 4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Envelope + replay identity</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Immutable reference, content type and request</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semantics</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Accepted source feed</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Source UUID, scope and contiguous sequence in</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the M5 profile</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Knowledge meaning</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query interpretation, belief admission or</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relation acceptance</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Cross-owner transaction</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DA bytes may commit before envelope</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acceptance; clients recover through ports</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Historical immutable-bytes/1; fresh immutable-commit-feed/1 · contract 1.1.0</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create</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 one scoped immutable envelope</a:t>
            </a:r>
          </a:p>
        </p:txBody>
      </p:sp>
      <p:sp>
        <p:nvSpPr>
          <p:cNvPr id="11" name="TextBox 10"/>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Same intent replays; changed intent</a:t>
            </a:r>
          </a:p>
        </p:txBody>
      </p:sp>
      <p:sp>
        <p:nvSpPr>
          <p:cNvPr id="12" name="TextBox 11"/>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conflicts</a:t>
            </a:r>
          </a:p>
        </p:txBody>
      </p:sp>
      <p:sp>
        <p:nvSpPr>
          <p:cNvPr id="13" name="Rounded Rectangle 12"/>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4" name="TextBox 13"/>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get / getMany</a:t>
            </a:r>
          </a:p>
        </p:txBody>
      </p:sp>
      <p:sp>
        <p:nvSpPr>
          <p:cNvPr id="15" name="TextBox 14"/>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Retrieve exact typed bytes for</a:t>
            </a:r>
          </a:p>
        </p:txBody>
      </p:sp>
      <p:sp>
        <p:nvSpPr>
          <p:cNvPr id="16" name="TextBox 15"/>
          <p:cNvSpPr txBox="1"/>
          <p:nvPr/>
        </p:nvSpPr>
        <p:spPr>
          <a:xfrm>
            <a:off x="3718560" y="331470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references</a:t>
            </a:r>
          </a:p>
        </p:txBody>
      </p:sp>
      <p:sp>
        <p:nvSpPr>
          <p:cNvPr id="17" name="TextBox 16"/>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Live authority and integrity checks</a:t>
            </a:r>
          </a:p>
        </p:txBody>
      </p:sp>
      <p:sp>
        <p:nvSpPr>
          <p:cNvPr id="18" name="Rounded Rectangle 17"/>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19" name="TextBox 18"/>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availability</a:t>
            </a:r>
          </a:p>
        </p:txBody>
      </p:sp>
      <p:sp>
        <p:nvSpPr>
          <p:cNvPr id="20" name="TextBox 19"/>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Report selected provider evidence</a:t>
            </a:r>
          </a:p>
        </p:txBody>
      </p:sp>
      <p:sp>
        <p:nvSpPr>
          <p:cNvPr id="21" name="TextBox 20"/>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Preserve provider/durability</a:t>
            </a:r>
          </a:p>
        </p:txBody>
      </p:sp>
      <p:sp>
        <p:nvSpPr>
          <p:cNvPr id="22" name="TextBox 21"/>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distinctions</a:t>
            </a:r>
          </a:p>
        </p:txBody>
      </p:sp>
      <p:sp>
        <p:nvSpPr>
          <p:cNvPr id="23" name="Rounded Rectangle 22"/>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4" name="TextBox 23"/>
          <p:cNvSpPr txBox="1"/>
          <p:nvPr/>
        </p:nvSpPr>
        <p:spPr>
          <a:xfrm>
            <a:off x="670560" y="47320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head / readCommits</a:t>
            </a:r>
          </a:p>
        </p:txBody>
      </p:sp>
      <p:sp>
        <p:nvSpPr>
          <p:cNvPr id="25" name="TextBox 24"/>
          <p:cNvSpPr txBox="1"/>
          <p:nvPr/>
        </p:nvSpPr>
        <p:spPr>
          <a:xfrm>
            <a:off x="3718560" y="47320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Enumerate accepted source prefix</a:t>
            </a:r>
          </a:p>
        </p:txBody>
      </p:sp>
      <p:sp>
        <p:nvSpPr>
          <p:cNvPr id="26" name="TextBox 25"/>
          <p:cNvSpPr txBox="1"/>
          <p:nvPr/>
        </p:nvSpPr>
        <p:spPr>
          <a:xfrm>
            <a:off x="7795259" y="47320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Fresh immutable-commit-feed/1</a:t>
            </a:r>
          </a:p>
        </p:txBody>
      </p:sp>
      <p:sp>
        <p:nvSpPr>
          <p:cNvPr id="27" name="TextBox 26"/>
          <p:cNvSpPr txBox="1"/>
          <p:nvPr/>
        </p:nvSpPr>
        <p:spPr>
          <a:xfrm>
            <a:off x="7795259" y="4975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profile</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M5 caps 512 accepted atoms and 4096 bytes/atom; legacy limits remain profile-specific.</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M5 REAL DeTTa + OWNER JOURNAL · one deliberate feed-acceptance kill</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Persist bytes</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Write through the</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opaque storage port.</a:t>
            </a:r>
          </a:p>
        </p:txBody>
      </p:sp>
      <p:cxnSp>
        <p:nvCxnSpPr>
          <p:cNvPr id="10" name="Connector 9"/>
          <p:cNvCxnSpPr/>
          <p:nvPr/>
        </p:nvCxnSpPr>
        <p:spPr>
          <a:xfrm>
            <a:off x="3185160" y="3238500"/>
            <a:ext cx="182880" cy="0"/>
          </a:xfrm>
          <a:prstGeom prst="line">
            <a:avLst/>
          </a:prstGeom>
          <a:ln w="15240">
            <a:solidFill>
              <a:srgbClr val="315E9C"/>
            </a:solidFill>
          </a:ln>
          <a:effectLst/>
        </p:spPr>
      </p:cxnSp>
      <p:sp>
        <p:nvSpPr>
          <p:cNvPr id="11" name="Freeform 10"/>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2" name="Rounded Rectangle 11"/>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3" name="TextBox 12"/>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4" name="TextBox 13"/>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Accept</a:t>
            </a:r>
          </a:p>
        </p:txBody>
      </p:sp>
      <p:sp>
        <p:nvSpPr>
          <p:cNvPr id="15" name="TextBox 14"/>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Commit envelope</a:t>
            </a:r>
          </a:p>
        </p:txBody>
      </p:sp>
      <p:sp>
        <p:nvSpPr>
          <p:cNvPr id="16" name="TextBox 15"/>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and feed metadata</a:t>
            </a:r>
          </a:p>
        </p:txBody>
      </p:sp>
      <p:sp>
        <p:nvSpPr>
          <p:cNvPr id="17" name="TextBox 16"/>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together.</a:t>
            </a:r>
          </a:p>
        </p:txBody>
      </p:sp>
      <p:cxnSp>
        <p:nvCxnSpPr>
          <p:cNvPr id="18" name="Connector 17"/>
          <p:cNvCxnSpPr/>
          <p:nvPr/>
        </p:nvCxnSpPr>
        <p:spPr>
          <a:xfrm>
            <a:off x="6004559" y="3238500"/>
            <a:ext cx="182881" cy="0"/>
          </a:xfrm>
          <a:prstGeom prst="line">
            <a:avLst/>
          </a:prstGeom>
          <a:ln w="15240">
            <a:solidFill>
              <a:srgbClr val="315E9C"/>
            </a:solidFill>
          </a:ln>
          <a:effectLst/>
        </p:spPr>
      </p:cxnSp>
      <p:sp>
        <p:nvSpPr>
          <p:cNvPr id="19" name="Freeform 18"/>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0" name="Rounded Rectangle 19"/>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2" name="TextBox 21"/>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Lose reply</a:t>
            </a:r>
          </a:p>
        </p:txBody>
      </p:sp>
      <p:sp>
        <p:nvSpPr>
          <p:cNvPr id="23" name="TextBox 22"/>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Kill after acceptance,</a:t>
            </a:r>
          </a:p>
        </p:txBody>
      </p:sp>
      <p:sp>
        <p:nvSpPr>
          <p:cNvPr id="24" name="TextBox 23"/>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before caller</a:t>
            </a:r>
          </a:p>
        </p:txBody>
      </p:sp>
      <p:sp>
        <p:nvSpPr>
          <p:cNvPr id="25" name="TextBox 24"/>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acknowledgment.</a:t>
            </a:r>
          </a:p>
        </p:txBody>
      </p:sp>
      <p:cxnSp>
        <p:nvCxnSpPr>
          <p:cNvPr id="26" name="Connector 25"/>
          <p:cNvCxnSpPr/>
          <p:nvPr/>
        </p:nvCxnSpPr>
        <p:spPr>
          <a:xfrm>
            <a:off x="8823960" y="3238500"/>
            <a:ext cx="182880" cy="0"/>
          </a:xfrm>
          <a:prstGeom prst="line">
            <a:avLst/>
          </a:prstGeom>
          <a:ln w="15240">
            <a:solidFill>
              <a:srgbClr val="315E9C"/>
            </a:solidFill>
          </a:ln>
          <a:effectLst/>
        </p:spPr>
      </p:cxnSp>
      <p:sp>
        <p:nvSpPr>
          <p:cNvPr id="27" name="Freeform 26"/>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8" name="Rounded Rectangle 27"/>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9" name="TextBox 28"/>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30" name="TextBox 29"/>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Replay</a:t>
            </a:r>
          </a:p>
        </p:txBody>
      </p:sp>
      <p:sp>
        <p:nvSpPr>
          <p:cNvPr id="31" name="TextBox 30"/>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Recover one</a:t>
            </a:r>
          </a:p>
        </p:txBody>
      </p:sp>
      <p:sp>
        <p:nvSpPr>
          <p:cNvPr id="32" name="TextBox 31"/>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reference and one</a:t>
            </a:r>
          </a:p>
        </p:txBody>
      </p:sp>
      <p:sp>
        <p:nvSpPr>
          <p:cNvPr id="33" name="TextBox 32"/>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source sequence.</a:t>
            </a:r>
          </a:p>
        </p:txBody>
      </p:sp>
      <p:sp>
        <p:nvSpPr>
          <p:cNvPr id="34" name="Rounded Rectangle 33"/>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5" name="TextBox 34"/>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6" name="TextBox 35"/>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Accepted identity is authoritative; indexing is derived.</a:t>
            </a:r>
          </a:p>
        </p:txBody>
      </p:sp>
      <p:cxnSp>
        <p:nvCxnSpPr>
          <p:cNvPr id="37" name="Connector 36"/>
          <p:cNvCxnSpPr/>
          <p:nvPr/>
        </p:nvCxnSpPr>
        <p:spPr>
          <a:xfrm>
            <a:off x="548640" y="6393180"/>
            <a:ext cx="11094720" cy="0"/>
          </a:xfrm>
          <a:prstGeom prst="line">
            <a:avLst/>
          </a:prstGeom>
          <a:ln w="7620">
            <a:solidFill>
              <a:srgbClr val="C9D2D4"/>
            </a:solidFill>
          </a:ln>
          <a:effectLst/>
        </p:spPr>
      </p:cxnSp>
      <p:sp>
        <p:nvSpPr>
          <p:cNvPr id="38" name="TextBox 3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39" name="TextBox 3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Immutable identity</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An accepted reference binds scope, revision and</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exact content.</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Replay semantics</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Same principal/scope/key with changed meaning</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conflicts.</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Contiguous accepted feed</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Acceptance and sequence metadata commit</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together; orphans do not enter the feed.</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Provider neutrality</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The consumer does not inspect concrete</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provider internals.</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Bytes persist; acceptance not</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yet committed</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Retry recovers bytes, then completes</a:t>
            </a:r>
          </a:p>
        </p:txBody>
      </p:sp>
      <p:sp>
        <p:nvSpPr>
          <p:cNvPr id="12" name="TextBox 11"/>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owner acceptance.</a:t>
            </a:r>
          </a:p>
        </p:txBody>
      </p:sp>
      <p:sp>
        <p:nvSpPr>
          <p:cNvPr id="13" name="TextBox 12"/>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commit</a:t>
            </a:r>
          </a:p>
        </p:txBody>
      </p:sp>
      <p:sp>
        <p:nvSpPr>
          <p:cNvPr id="14" name="TextBox 13"/>
          <p:cNvSpPr txBox="1"/>
          <p:nvPr/>
        </p:nvSpPr>
        <p:spPr>
          <a:xfrm>
            <a:off x="8595360" y="24841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boundary</a:t>
            </a:r>
          </a:p>
        </p:txBody>
      </p:sp>
      <p:sp>
        <p:nvSpPr>
          <p:cNvPr id="15" name="Rounded Rectangle 14"/>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6" name="TextBox 15"/>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Acceptance commits; reply</a:t>
            </a:r>
          </a:p>
        </p:txBody>
      </p:sp>
      <p:sp>
        <p:nvSpPr>
          <p:cNvPr id="17" name="TextBox 16"/>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lost</a:t>
            </a:r>
          </a:p>
        </p:txBody>
      </p:sp>
      <p:sp>
        <p:nvSpPr>
          <p:cNvPr id="18" name="TextBox 17"/>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Replay returns the same logical</a:t>
            </a:r>
          </a:p>
        </p:txBody>
      </p:sp>
      <p:sp>
        <p:nvSpPr>
          <p:cNvPr id="19" name="TextBox 18"/>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acceptance.</a:t>
            </a:r>
          </a:p>
        </p:txBody>
      </p:sp>
      <p:sp>
        <p:nvSpPr>
          <p:cNvPr id="20" name="TextBox 19"/>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M5 feed kill case</a:t>
            </a:r>
          </a:p>
        </p:txBody>
      </p:sp>
      <p:sp>
        <p:nvSpPr>
          <p:cNvPr id="21" name="Rounded Rectangle 20"/>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2" name="TextBox 21"/>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Provider substitution</a:t>
            </a:r>
          </a:p>
        </p:txBody>
      </p:sp>
      <p:sp>
        <p:nvSpPr>
          <p:cNvPr id="23" name="TextBox 22"/>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Select an independent same-profile</a:t>
            </a:r>
          </a:p>
        </p:txBody>
      </p:sp>
      <p:sp>
        <p:nvSpPr>
          <p:cNvPr id="24" name="TextBox 23"/>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implementation on a fresh store.</a:t>
            </a:r>
          </a:p>
        </p:txBody>
      </p:sp>
      <p:sp>
        <p:nvSpPr>
          <p:cNvPr id="25" name="TextBox 24"/>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populated-state migration</a:t>
            </a:r>
          </a:p>
        </p:txBody>
      </p:sp>
      <p:sp>
        <p:nvSpPr>
          <p:cNvPr id="26" name="Rounded Rectangle 25"/>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7" name="TextBox 26"/>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2 × 2</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Providers × bindings</a:t>
            </a:r>
          </a:p>
        </p:txBody>
      </p:sp>
      <p:sp>
        <p:nvSpPr>
          <p:cNvPr id="8" name="TextBox 7"/>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M1.1/M1.2 workflow substitution</a:t>
            </a:r>
          </a:p>
        </p:txBody>
      </p:sp>
      <p:sp>
        <p:nvSpPr>
          <p:cNvPr id="9" name="TextBox 8"/>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matrix</a:t>
            </a:r>
          </a:p>
        </p:txBody>
      </p:sp>
      <p:sp>
        <p:nvSpPr>
          <p:cNvPr id="10" name="Rounded Rectangle 9"/>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a:t>
            </a:r>
          </a:p>
        </p:txBody>
      </p:sp>
      <p:sp>
        <p:nvSpPr>
          <p:cNvPr id="12" name="TextBox 11"/>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M5 feed SIGKILL case</a:t>
            </a:r>
          </a:p>
        </p:txBody>
      </p:sp>
      <p:sp>
        <p:nvSpPr>
          <p:cNvPr id="13" name="TextBox 12"/>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Acceptance before response</a:t>
            </a:r>
          </a:p>
        </p:txBody>
      </p:sp>
      <p:sp>
        <p:nvSpPr>
          <p:cNvPr id="14" name="Rounded Rectangle 13"/>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5" name="TextBox 14"/>
          <p:cNvSpPr txBox="1"/>
          <p:nvPr/>
        </p:nvSpPr>
        <p:spPr>
          <a:xfrm>
            <a:off x="8282939" y="2019300"/>
            <a:ext cx="3185160" cy="575462"/>
          </a:xfrm>
          <a:prstGeom prst="rect">
            <a:avLst/>
          </a:prstGeom>
          <a:noFill/>
        </p:spPr>
        <p:txBody>
          <a:bodyPr wrap="none" lIns="0" rIns="0" tIns="0" bIns="0" anchor="t" anchorCtr="0">
            <a:noAutofit/>
          </a:bodyPr>
          <a:lstStyle/>
          <a:p>
            <a:pPr algn="l">
              <a:lnSpc>
                <a:spcPct val="100000"/>
              </a:lnSpc>
              <a:spcBef>
                <a:spcPts val="0"/>
              </a:spcBef>
              <a:spcAft>
                <a:spcPts val="0"/>
              </a:spcAft>
            </a:pPr>
            <a:r>
              <a:rPr sz="3540" b="1">
                <a:solidFill>
                  <a:srgbClr val="315E9C"/>
                </a:solidFill>
                <a:latin typeface="DejaVu Sans"/>
              </a:rPr>
              <a:t>512 / 4096 B</a:t>
            </a:r>
          </a:p>
        </p:txBody>
      </p:sp>
      <p:sp>
        <p:nvSpPr>
          <p:cNvPr id="16" name="TextBox 15"/>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M5 atoms / per-atom limit</a:t>
            </a:r>
          </a:p>
        </p:txBody>
      </p:sp>
      <p:sp>
        <p:nvSpPr>
          <p:cNvPr id="17" name="TextBox 16"/>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Contract bounds, not demonstrated</a:t>
            </a:r>
          </a:p>
        </p:txBody>
      </p:sp>
      <p:sp>
        <p:nvSpPr>
          <p:cNvPr id="18" name="TextBox 17"/>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scale capacity</a:t>
            </a:r>
          </a:p>
        </p:txBody>
      </p:sp>
      <p:sp>
        <p:nvSpPr>
          <p:cNvPr id="19" name="TextBox 18"/>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substitution matrix establishes matching logical outcomes. Existing whole-workflow timings include storage,</a:t>
            </a:r>
          </a:p>
        </p:txBody>
      </p:sp>
      <p:sp>
        <p:nvSpPr>
          <p:cNvPr id="20" name="TextBox 19"/>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messaging, workers and retries; they are not AtomStorage latency.</a:t>
            </a:r>
          </a:p>
        </p:txBody>
      </p:sp>
      <p:sp>
        <p:nvSpPr>
          <p:cNvPr id="21" name="Rounded Rectangle 20"/>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2" name="TextBox 21"/>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3" name="TextBox 22"/>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create/get/getMany across provider, payload and batch size; separate cold open, warm read and replay,</a:t>
            </a:r>
          </a:p>
        </p:txBody>
      </p:sp>
      <p:sp>
        <p:nvSpPr>
          <p:cNvPr id="24" name="TextBox 23"/>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with p50/p95 plus storage amplification.</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DeTTa-backed AtomOwner and fresh FeedAtomOwner with their own journals.</a:t>
            </a:r>
          </a:p>
        </p:txBody>
      </p:sp>
      <p:sp>
        <p:nvSpPr>
          <p:cNvPr id="10" name="Rounded Rectangle 9"/>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1" name="TextBox 10"/>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2" name="TextBox 11"/>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3" name="TextBox 12"/>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atomic-file AtomStorage and feed; generated bytes and hostile ports.</a:t>
            </a:r>
          </a:p>
        </p:txBody>
      </p:sp>
      <p:sp>
        <p:nvSpPr>
          <p:cNvPr id="14" name="Rounded Rectangle 13"/>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5" name="TextBox 14"/>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6" name="TextBox 15"/>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7" name="TextBox 16"/>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M5 gate blocked. Replacement of an already populated namespace is</a:t>
            </a:r>
          </a:p>
        </p:txBody>
      </p:sp>
      <p:sp>
        <p:nvSpPr>
          <p:cNvPr id="18" name="TextBox 17"/>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unsupported.</a:t>
            </a:r>
          </a:p>
        </p:txBody>
      </p:sp>
      <p:sp>
        <p:nvSpPr>
          <p:cNvPr id="19" name="Rounded Rectangle 18"/>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0" name="TextBox 19"/>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1" name="TextBox 20"/>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Power loss, distributed consistency, pruning/compaction and live namespace</a:t>
            </a:r>
          </a:p>
        </p:txBody>
      </p:sp>
      <p:sp>
        <p:nvSpPr>
          <p:cNvPr id="22" name="TextBox 21"/>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migration.</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Quantify provider</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overhead</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Fixed corpus and equivalent durability</a:t>
            </a:r>
          </a:p>
        </p:txBody>
      </p:sp>
      <p:sp>
        <p:nvSpPr>
          <p:cNvPr id="12" name="TextBox 11"/>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labels</a:t>
            </a:r>
          </a:p>
        </p:txBody>
      </p:sp>
      <p:sp>
        <p:nvSpPr>
          <p:cNvPr id="13" name="TextBox 12"/>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Separate lookup latency from DA</a:t>
            </a:r>
          </a:p>
        </p:txBody>
      </p:sp>
      <p:sp>
        <p:nvSpPr>
          <p:cNvPr id="14" name="TextBox 13"/>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reconstruction</a:t>
            </a:r>
          </a:p>
        </p:txBody>
      </p:sp>
      <p:sp>
        <p:nvSpPr>
          <p:cNvPr id="15" name="Rounded Rectangle 14"/>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6" name="TextBox 15"/>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Design retention/pruning</a:t>
            </a:r>
          </a:p>
        </p:txBody>
      </p:sp>
      <p:sp>
        <p:nvSpPr>
          <p:cNvPr id="17" name="TextBox 16"/>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Source-prefix and cursor invalidation</a:t>
            </a:r>
          </a:p>
        </p:txBody>
      </p:sp>
      <p:sp>
        <p:nvSpPr>
          <p:cNvPr id="18" name="TextBox 17"/>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contract first</a:t>
            </a:r>
          </a:p>
        </p:txBody>
      </p:sp>
      <p:sp>
        <p:nvSpPr>
          <p:cNvPr id="19" name="TextBox 18"/>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silent holes in accepted history</a:t>
            </a:r>
          </a:p>
        </p:txBody>
      </p:sp>
      <p:sp>
        <p:nvSpPr>
          <p:cNvPr id="20" name="Rounded Rectangle 19"/>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1" name="TextBox 20"/>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Add a production</a:t>
            </a:r>
          </a:p>
        </p:txBody>
      </p:sp>
      <p:sp>
        <p:nvSpPr>
          <p:cNvPr id="22" name="TextBox 21"/>
          <p:cNvSpPr txBox="1"/>
          <p:nvPr/>
        </p:nvSpPr>
        <p:spPr>
          <a:xfrm>
            <a:off x="670560" y="46786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replacement</a:t>
            </a:r>
          </a:p>
        </p:txBody>
      </p:sp>
      <p:sp>
        <p:nvSpPr>
          <p:cNvPr id="23" name="TextBox 22"/>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owner transitions +</a:t>
            </a:r>
          </a:p>
        </p:txBody>
      </p:sp>
      <p:sp>
        <p:nvSpPr>
          <p:cNvPr id="24" name="TextBox 23"/>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conformance</a:t>
            </a:r>
          </a:p>
        </p:txBody>
      </p:sp>
      <p:sp>
        <p:nvSpPr>
          <p:cNvPr id="25" name="TextBox 24"/>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Same consumer, explicit profile, no</a:t>
            </a:r>
          </a:p>
        </p:txBody>
      </p:sp>
      <p:sp>
        <p:nvSpPr>
          <p:cNvPr id="26" name="TextBox 25"/>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hidden migration</a:t>
            </a:r>
          </a:p>
        </p:txBody>
      </p:sp>
      <p:sp>
        <p:nvSpPr>
          <p:cNvPr id="27" name="Rounded Rectangle 26"/>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8" name="TextBox 27"/>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9" name="Connector 28"/>
          <p:cNvCxnSpPr/>
          <p:nvPr/>
        </p:nvCxnSpPr>
        <p:spPr>
          <a:xfrm>
            <a:off x="548640" y="6393180"/>
            <a:ext cx="11094720" cy="0"/>
          </a:xfrm>
          <a:prstGeom prst="line">
            <a:avLst/>
          </a:prstGeom>
          <a:ln w="7620">
            <a:solidFill>
              <a:srgbClr val="C9D2D4"/>
            </a:solidFill>
          </a:ln>
          <a:effectLst/>
        </p:spPr>
      </p:cxnSp>
      <p:sp>
        <p:nvSpPr>
          <p:cNvPr id="30" name="TextBox 2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31" name="TextBox 3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Accepted identity is authoritative; indexing is derived.</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scripts/verify_m5.py --gates storage --environment &lt;env&gt;</a:t>
            </a:r>
          </a:p>
        </p:txBody>
      </p:sp>
      <p:sp>
        <p:nvSpPr>
          <p:cNvPr id="10" name="TextBox 9"/>
          <p:cNvSpPr txBox="1"/>
          <p:nvPr/>
        </p:nvSpPr>
        <p:spPr>
          <a:xfrm>
            <a:off x="609600" y="3358286"/>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--output &lt;fresh&gt;</a:t>
            </a:r>
          </a:p>
        </p:txBody>
      </p:sp>
      <p:sp>
        <p:nvSpPr>
          <p:cNvPr id="11" name="TextBox 10"/>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Build pinned native providers first. Storage gate uses real DeTTa; fixture passes cannot substitute for it.</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fusion/atoms.py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fusion/atom_feed.py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fusion/adapters/fixture_feed.py</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docs/module-interfaces/m5-contracts.md</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AtomStorage · C0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AtomStorage · C0</dc:title>
  <dc:subject>Scoped immutable typed envelopes, mutation replay and the M5 accepted commit feed.</dc:subject>
  <dc:creator>Omega × ASI module-interface project</dc:creator>
  <cp:keywords>Omega, ASI, M5, ELI16, AtomStorage · C0</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