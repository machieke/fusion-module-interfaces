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Own scoped mailbox acceptance, committed inbox ordering, repeated polling and acknowledgment replay. A lost reply must not lose accepted work or imply delivery that never happened. Separate mailbox ownership lets execution retry completion safely. Do not treat the analogy as an additional experiment. This is a standalone talk about one responsibility, not a claim that every module is a separate service or repository.</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Agent messaging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MessagingSession.send reads AtomStorage before enqueue. MessageOwner owns only acceptance/delivery state. Execution uses the narrow trusted CompletionDelivery.accept port, not public mutation routes.</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MessagingSession.send reads AtomStorage before enqueue. MessageOwner owns only acceptance/delivery state. Execution uses the narrow trusted CompletionDelivery.accept port, not public mutation routes. The left node is a caller or caller class; the right nodes distinguish foreign ports, pure helpers, local state and runtime internals. There is no implied shared transaction. AtomStorage owns bytes; Execution owns terminal job/outbox state.</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Inbox + ordering: Durable accepted message, scope/route and committed local sequence. Acknowledgment replay: Recipient acknowledgment identity and stable response. Result payloads and jobs: AtomStorage owns bytes; Execution owns terminal job/outbox state. Exactly-once delivery: Poll may repeat; no global ordering or guaranteed remote arrival. Explicit compatibility: durable-mailbox/2 · explicit legacy profile retained · wire 1.0.0. Limits: Finite configured unacknowledged-route capacity; replay records retained for journal lifetime.</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send: Validate reference and registered routes; accept; Acceptance reports delivery not-observed. poll: Return oldest unacknowledged message for owner; Repeats until acknowledged. ack: Commit recipient acknowledgment and replay; Current route ownership still checked. Trusted accept: CompletionDelivery.accept: execution-to-mailbox handoff; Return after mailbox commit; not public dispatch.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Finish job: Execution has a durable completion outbox row. 2. Accept mailbox: Mailbox commits that completion independently. 3. Lose marking: Worker dies before marking its outbox sent. 4. Retry handoff: Same message is accepted once; recipient polls and acks. Evidence classification: REAL owner persistence + separate worker process · protocol counterparty is a fixture. Do not infer performance, broad production readiness or extra runtime integrations from this example.</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Acceptance before reply: A success receipt follows the mailbox commit. Repeat until acknowledgment: Poll observation does not consume the delivery. Scoped recipient control: Only the registered owner can poll/ack its route. Semantic replay: Same delivery identity/body replays; changed meaning conflicts. The supporting tests and runtime evidence are in the linked sources; this slide does not claim a formal proof or a production security audit.</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Mailbox accepted; outbox not marked: Execution retries trusted accept with the same identity. No duplicate logical message. Acknowledgment reply lost: Retry recovers durable acknowledgment after reauthorization. No resurrection of consumed delivery. Full / revoked reply route: Outbox remains pending until a valid retry can succeed. No dropped completion.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2 Messages in the preserved inspect workflow: One reference share + one completion. 0 Pending outbox after recovery demos: Observed logical handoff completion. FIFO Committed inbox sequence per route: Ordering contract, not global message order. These are delivery/replay observations from shared workflows. No isolated mailbox throughput, delivery p95, multi-consumer scale or network-loss benchmark is recorded. Proposed: vary backlog, ack delay, replay ratio and route capacity; measure send/poll/ack p50/p95, backlog age and duplicate physical deliveries under fixed semantics. No new benchmark is executed for this presentation. Do not compare overlapping suite times or use a one-run workflow measurement as a latency percentile.</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SQLite mailbox owner and actual native caller binding; real process restarts. Fixture: Protocol peer/counterparty, generated messages, local route policy and injected faults. Blocked or unsupported: No required current gate blocked; a full or revoked route intentionally delays completion. Unrun: Two production agents, remote brokers, distributed ordering, power loss and general messaging federation. All required M5 gates passed in the recorded final run, including legacy M1–M4 behavior; this presentation does not rerun those integrations. Human maintainers remain unassigned.</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Measure backlog and replay costs requires Rate-controlled sends/acks with fixed capacity; success means No loss while reporting tail latency and queue age. Qualify a remote transport requires Preserve authority, acceptance and acknowledgment meanings; success means Failure injection across actual network partitions. Specify retention/compaction requires Replay lifetime and acknowledgment contract first; success means No duplicate acceptance after tombstone expiry. No new cognition, scheduler, migration or chain capability is implemented by this series. Any changed numerical semantics, placement or replay lifetime requires separate design and verification rather than a presentation claim.</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A durable receipt must say which delivery fact was observed. The reproduction entrypoint is uv run --python 3.11 --locked python scripts/verify_m11.py. Runs the provider/binding conformance matrix and real DeTTa gate when available. Fixture-only is a distinct mode; it is not native Hive proof.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[messaging.py](https://github.com/machieke/fusion-module-interfaces/blob/494df69a1ac401c3d3b2cf79dbfde07f74b5e277/fusion/messaging.py), [execution.py](https://github.com/machieke/fusion-module-interfaces/blob/494df69a1ac401c3d3b2cf79dbfde07f74b5e277/fusion/execution.py), [test_contract.py](https://github.com/machieke/fusion-module-interfaces/blob/494df69a1ac401c3d3b2cf79dbfde07f74b5e277/tests/test_contract.py), [test_m11.py](https://github.com/machieke/fusion-module-interfaces/blob/494df69a1ac401c3d3b2cf79dbfde07f74b5e277/tests/test_m11.py), [m11-swap-demo.json](https://github.com/machieke/fusion-module-interfaces/blob/494df69a1ac401c3d3b2cf79dbfde07f74b5e277/docs/module-interfaces/evidence/m1_2/m11-swap-demo.json), [same-artifact.json](https://github.com/machieke/fusion-module-interfaces/blob/494df69a1ac401c3d3b2cf79dbfde07f74b5e277/evidence/m4/final/same-artifact.json).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Agent messaging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Agent messaging</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Accept durably.</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Deliver repeatedly until acknowledged.</a:t>
            </a:r>
          </a:p>
        </p:txBody>
      </p:sp>
      <p:sp>
        <p:nvSpPr>
          <p:cNvPr id="6" name="Rounded Rectangle 5"/>
          <p:cNvSpPr/>
          <p:nvPr/>
        </p:nvSpPr>
        <p:spPr>
          <a:xfrm>
            <a:off x="579120" y="3208020"/>
            <a:ext cx="3112204" cy="274320"/>
          </a:xfrm>
          <a:prstGeom prst="roundRect">
            <a:avLst>
              <a:gd name="adj" fmla="val 19444"/>
            </a:avLst>
          </a:prstGeom>
          <a:solidFill>
            <a:srgbClr val="E4EBF5"/>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Registered post: accepting an envelope, showing it to its recipient and receiving a</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signature are three different events.</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A lost reply must not lose accepted work or imply delivery that never happened.</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Separate mailbox ownership lets execution retry completion safely.</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Agent messaging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315E9C"/>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Own scoped mailbox acceptance, committed inbox ordering, repeated polling and acknowledgment</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replay.</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Protocol/native</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caller / execution</a:t>
            </a:r>
          </a:p>
        </p:txBody>
      </p:sp>
      <p:sp>
        <p:nvSpPr>
          <p:cNvPr id="8" name="TextBox 7"/>
          <p:cNvSpPr txBox="1"/>
          <p:nvPr/>
        </p:nvSpPr>
        <p:spPr>
          <a:xfrm>
            <a:off x="716280" y="3186988"/>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outbox</a:t>
            </a:r>
          </a:p>
        </p:txBody>
      </p:sp>
      <p:sp>
        <p:nvSpPr>
          <p:cNvPr id="9" name="TextBox 8"/>
          <p:cNvSpPr txBox="1"/>
          <p:nvPr/>
        </p:nvSpPr>
        <p:spPr>
          <a:xfrm>
            <a:off x="716280" y="3546043"/>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send · poll · ack; trusted</a:t>
            </a:r>
          </a:p>
        </p:txBody>
      </p:sp>
      <p:sp>
        <p:nvSpPr>
          <p:cNvPr id="10" name="TextBox 9"/>
          <p:cNvSpPr txBox="1"/>
          <p:nvPr/>
        </p:nvSpPr>
        <p:spPr>
          <a:xfrm>
            <a:off x="716280" y="3789883"/>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accept</a:t>
            </a:r>
          </a:p>
        </p:txBody>
      </p:sp>
      <p:sp>
        <p:nvSpPr>
          <p:cNvPr id="11" name="Rounded Rectangle 10"/>
          <p:cNvSpPr/>
          <p:nvPr/>
        </p:nvSpPr>
        <p:spPr>
          <a:xfrm>
            <a:off x="4229100" y="2453640"/>
            <a:ext cx="3238500" cy="1668780"/>
          </a:xfrm>
          <a:prstGeom prst="roundRect">
            <a:avLst>
              <a:gd name="adj" fmla="val 5936"/>
            </a:avLst>
          </a:prstGeom>
          <a:solidFill>
            <a:srgbClr val="E4EBF5"/>
          </a:solidFill>
          <a:ln w="7620">
            <a:solidFill>
              <a:srgbClr val="315E9C"/>
            </a:solidFill>
          </a:ln>
          <a:effectLst/>
        </p:spPr>
        <p:txBody>
          <a:bodyPr rtlCol="0" anchor="ctr"/>
          <a:lstStyle/>
          <a:p>
            <a:pPr algn="ctr"/>
          </a:p>
        </p:txBody>
      </p:sp>
      <p:sp>
        <p:nvSpPr>
          <p:cNvPr id="12" name="TextBox 11"/>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315E9C"/>
                </a:solidFill>
                <a:latin typeface="DejaVu Sans"/>
              </a:rPr>
              <a:t>Agent messaging</a:t>
            </a:r>
          </a:p>
        </p:txBody>
      </p:sp>
      <p:sp>
        <p:nvSpPr>
          <p:cNvPr id="13" name="TextBox 12"/>
          <p:cNvSpPr txBox="1"/>
          <p:nvPr/>
        </p:nvSpPr>
        <p:spPr>
          <a:xfrm>
            <a:off x="4396740" y="301934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Own scoped mailbox</a:t>
            </a:r>
          </a:p>
        </p:txBody>
      </p:sp>
      <p:sp>
        <p:nvSpPr>
          <p:cNvPr id="14" name="TextBox 13"/>
          <p:cNvSpPr txBox="1"/>
          <p:nvPr/>
        </p:nvSpPr>
        <p:spPr>
          <a:xfrm>
            <a:off x="4396740" y="326318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acceptance, committed inbox</a:t>
            </a:r>
          </a:p>
        </p:txBody>
      </p:sp>
      <p:sp>
        <p:nvSpPr>
          <p:cNvPr id="15" name="TextBox 14"/>
          <p:cNvSpPr txBox="1"/>
          <p:nvPr/>
        </p:nvSpPr>
        <p:spPr>
          <a:xfrm>
            <a:off x="4396740" y="350702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ordering, repeated polling</a:t>
            </a:r>
          </a:p>
        </p:txBody>
      </p:sp>
      <p:sp>
        <p:nvSpPr>
          <p:cNvPr id="16" name="TextBox 15"/>
          <p:cNvSpPr txBox="1"/>
          <p:nvPr/>
        </p:nvSpPr>
        <p:spPr>
          <a:xfrm>
            <a:off x="4396740" y="3750868"/>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and acknowledgment replay.</a:t>
            </a:r>
          </a:p>
        </p:txBody>
      </p:sp>
      <p:cxnSp>
        <p:nvCxnSpPr>
          <p:cNvPr id="17" name="Connector 16"/>
          <p:cNvCxnSpPr/>
          <p:nvPr/>
        </p:nvCxnSpPr>
        <p:spPr>
          <a:xfrm>
            <a:off x="3406140" y="3284219"/>
            <a:ext cx="822960" cy="0"/>
          </a:xfrm>
          <a:prstGeom prst="line">
            <a:avLst/>
          </a:prstGeom>
          <a:ln w="15240">
            <a:solidFill>
              <a:srgbClr val="315E9C"/>
            </a:solidFill>
          </a:ln>
          <a:effectLst/>
        </p:spPr>
      </p:cxnSp>
      <p:sp>
        <p:nvSpPr>
          <p:cNvPr id="18" name="Freeform 17"/>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9" name="Rounded Rectangle 18"/>
          <p:cNvSpPr/>
          <p:nvPr/>
        </p:nvSpPr>
        <p:spPr>
          <a:xfrm>
            <a:off x="8404860" y="198120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0" name="TextBox 19"/>
          <p:cNvSpPr txBox="1"/>
          <p:nvPr/>
        </p:nvSpPr>
        <p:spPr>
          <a:xfrm>
            <a:off x="8572500" y="21488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AtomStorage.get</a:t>
            </a:r>
          </a:p>
        </p:txBody>
      </p:sp>
      <p:sp>
        <p:nvSpPr>
          <p:cNvPr id="21" name="TextBox 20"/>
          <p:cNvSpPr txBox="1"/>
          <p:nvPr/>
        </p:nvSpPr>
        <p:spPr>
          <a:xfrm>
            <a:off x="8572500" y="248838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Public send validates the</a:t>
            </a:r>
          </a:p>
        </p:txBody>
      </p:sp>
      <p:sp>
        <p:nvSpPr>
          <p:cNvPr id="22" name="TextBox 21"/>
          <p:cNvSpPr txBox="1"/>
          <p:nvPr/>
        </p:nvSpPr>
        <p:spPr>
          <a:xfrm>
            <a:off x="8572500" y="270296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referenced bytes</a:t>
            </a:r>
          </a:p>
        </p:txBody>
      </p:sp>
      <p:cxnSp>
        <p:nvCxnSpPr>
          <p:cNvPr id="23" name="Connector 22"/>
          <p:cNvCxnSpPr/>
          <p:nvPr/>
        </p:nvCxnSpPr>
        <p:spPr>
          <a:xfrm>
            <a:off x="7467600" y="3284219"/>
            <a:ext cx="426720" cy="0"/>
          </a:xfrm>
          <a:prstGeom prst="line">
            <a:avLst/>
          </a:prstGeom>
          <a:ln w="15240">
            <a:solidFill>
              <a:srgbClr val="315E9C"/>
            </a:solidFill>
          </a:ln>
          <a:effectLst/>
        </p:spPr>
      </p:cxnSp>
      <p:cxnSp>
        <p:nvCxnSpPr>
          <p:cNvPr id="24" name="Connector 23"/>
          <p:cNvCxnSpPr/>
          <p:nvPr/>
        </p:nvCxnSpPr>
        <p:spPr>
          <a:xfrm flipV="1">
            <a:off x="7894320" y="2484120"/>
            <a:ext cx="0" cy="800099"/>
          </a:xfrm>
          <a:prstGeom prst="line">
            <a:avLst/>
          </a:prstGeom>
          <a:ln w="15240">
            <a:solidFill>
              <a:srgbClr val="315E9C"/>
            </a:solidFill>
          </a:ln>
          <a:effectLst/>
        </p:spPr>
      </p:cxnSp>
      <p:cxnSp>
        <p:nvCxnSpPr>
          <p:cNvPr id="25" name="Connector 24"/>
          <p:cNvCxnSpPr/>
          <p:nvPr/>
        </p:nvCxnSpPr>
        <p:spPr>
          <a:xfrm>
            <a:off x="7894320" y="2484120"/>
            <a:ext cx="510540" cy="0"/>
          </a:xfrm>
          <a:prstGeom prst="line">
            <a:avLst/>
          </a:prstGeom>
          <a:ln w="15240">
            <a:solidFill>
              <a:srgbClr val="315E9C"/>
            </a:solidFill>
          </a:ln>
          <a:effectLst/>
        </p:spPr>
      </p:cxnSp>
      <p:sp>
        <p:nvSpPr>
          <p:cNvPr id="26" name="Freeform 25"/>
          <p:cNvSpPr/>
          <p:nvPr/>
        </p:nvSpPr>
        <p:spPr>
          <a:xfrm>
            <a:off x="8305800" y="24460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7" name="Rounded Rectangle 26"/>
          <p:cNvSpPr/>
          <p:nvPr/>
        </p:nvSpPr>
        <p:spPr>
          <a:xfrm>
            <a:off x="8404860" y="317754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8" name="TextBox 27"/>
          <p:cNvSpPr txBox="1"/>
          <p:nvPr/>
        </p:nvSpPr>
        <p:spPr>
          <a:xfrm>
            <a:off x="8572500" y="33451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Live route/scope policy</a:t>
            </a:r>
          </a:p>
        </p:txBody>
      </p:sp>
      <p:sp>
        <p:nvSpPr>
          <p:cNvPr id="29" name="TextBox 28"/>
          <p:cNvSpPr txBox="1"/>
          <p:nvPr/>
        </p:nvSpPr>
        <p:spPr>
          <a:xfrm>
            <a:off x="8572500" y="368472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Sender reply route and recipient</a:t>
            </a:r>
          </a:p>
        </p:txBody>
      </p:sp>
      <p:sp>
        <p:nvSpPr>
          <p:cNvPr id="30" name="TextBox 29"/>
          <p:cNvSpPr txBox="1"/>
          <p:nvPr/>
        </p:nvSpPr>
        <p:spPr>
          <a:xfrm>
            <a:off x="8572500" y="389930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ownership</a:t>
            </a:r>
          </a:p>
        </p:txBody>
      </p:sp>
      <p:cxnSp>
        <p:nvCxnSpPr>
          <p:cNvPr id="31" name="Connector 30"/>
          <p:cNvCxnSpPr/>
          <p:nvPr/>
        </p:nvCxnSpPr>
        <p:spPr>
          <a:xfrm>
            <a:off x="7467600" y="3284219"/>
            <a:ext cx="426720" cy="0"/>
          </a:xfrm>
          <a:prstGeom prst="line">
            <a:avLst/>
          </a:prstGeom>
          <a:ln w="15240">
            <a:solidFill>
              <a:srgbClr val="315E9C"/>
            </a:solidFill>
          </a:ln>
          <a:effectLst/>
        </p:spPr>
      </p:cxnSp>
      <p:cxnSp>
        <p:nvCxnSpPr>
          <p:cNvPr id="32" name="Connector 31"/>
          <p:cNvCxnSpPr/>
          <p:nvPr/>
        </p:nvCxnSpPr>
        <p:spPr>
          <a:xfrm>
            <a:off x="7894320" y="3284219"/>
            <a:ext cx="0" cy="396241"/>
          </a:xfrm>
          <a:prstGeom prst="line">
            <a:avLst/>
          </a:prstGeom>
          <a:ln w="15240">
            <a:solidFill>
              <a:srgbClr val="315E9C"/>
            </a:solidFill>
          </a:ln>
          <a:effectLst/>
        </p:spPr>
      </p:cxnSp>
      <p:cxnSp>
        <p:nvCxnSpPr>
          <p:cNvPr id="33" name="Connector 32"/>
          <p:cNvCxnSpPr/>
          <p:nvPr/>
        </p:nvCxnSpPr>
        <p:spPr>
          <a:xfrm>
            <a:off x="7894320" y="3680460"/>
            <a:ext cx="510540" cy="0"/>
          </a:xfrm>
          <a:prstGeom prst="line">
            <a:avLst/>
          </a:prstGeom>
          <a:ln w="15240">
            <a:solidFill>
              <a:srgbClr val="315E9C"/>
            </a:solidFill>
          </a:ln>
          <a:effectLst/>
        </p:spPr>
      </p:cxnSp>
      <p:sp>
        <p:nvSpPr>
          <p:cNvPr id="34" name="Freeform 33"/>
          <p:cNvSpPr/>
          <p:nvPr/>
        </p:nvSpPr>
        <p:spPr>
          <a:xfrm>
            <a:off x="8305800" y="36423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5" name="Rounded Rectangle 34"/>
          <p:cNvSpPr/>
          <p:nvPr/>
        </p:nvSpPr>
        <p:spPr>
          <a:xfrm>
            <a:off x="8404860" y="437388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36" name="TextBox 35"/>
          <p:cNvSpPr txBox="1"/>
          <p:nvPr/>
        </p:nvSpPr>
        <p:spPr>
          <a:xfrm>
            <a:off x="8572500" y="45415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Own mailbox journal</a:t>
            </a:r>
          </a:p>
        </p:txBody>
      </p:sp>
      <p:sp>
        <p:nvSpPr>
          <p:cNvPr id="37" name="TextBox 36"/>
          <p:cNvSpPr txBox="1"/>
          <p:nvPr/>
        </p:nvSpPr>
        <p:spPr>
          <a:xfrm>
            <a:off x="8572500" y="488106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Messages, sequence and</a:t>
            </a:r>
          </a:p>
        </p:txBody>
      </p:sp>
      <p:sp>
        <p:nvSpPr>
          <p:cNvPr id="38" name="TextBox 37"/>
          <p:cNvSpPr txBox="1"/>
          <p:nvPr/>
        </p:nvSpPr>
        <p:spPr>
          <a:xfrm>
            <a:off x="8572500" y="509564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acknowledgment replay</a:t>
            </a:r>
          </a:p>
        </p:txBody>
      </p:sp>
      <p:cxnSp>
        <p:nvCxnSpPr>
          <p:cNvPr id="39" name="Connector 38"/>
          <p:cNvCxnSpPr/>
          <p:nvPr/>
        </p:nvCxnSpPr>
        <p:spPr>
          <a:xfrm>
            <a:off x="7467600" y="3284219"/>
            <a:ext cx="426720" cy="0"/>
          </a:xfrm>
          <a:prstGeom prst="line">
            <a:avLst/>
          </a:prstGeom>
          <a:ln w="15240">
            <a:solidFill>
              <a:srgbClr val="315E9C"/>
            </a:solidFill>
          </a:ln>
          <a:effectLst/>
        </p:spPr>
      </p:cxnSp>
      <p:cxnSp>
        <p:nvCxnSpPr>
          <p:cNvPr id="40" name="Connector 39"/>
          <p:cNvCxnSpPr/>
          <p:nvPr/>
        </p:nvCxnSpPr>
        <p:spPr>
          <a:xfrm>
            <a:off x="7894320" y="3284219"/>
            <a:ext cx="0" cy="1592581"/>
          </a:xfrm>
          <a:prstGeom prst="line">
            <a:avLst/>
          </a:prstGeom>
          <a:ln w="15240">
            <a:solidFill>
              <a:srgbClr val="315E9C"/>
            </a:solidFill>
          </a:ln>
          <a:effectLst/>
        </p:spPr>
      </p:cxnSp>
      <p:cxnSp>
        <p:nvCxnSpPr>
          <p:cNvPr id="41" name="Connector 40"/>
          <p:cNvCxnSpPr/>
          <p:nvPr/>
        </p:nvCxnSpPr>
        <p:spPr>
          <a:xfrm>
            <a:off x="7894320" y="4876800"/>
            <a:ext cx="510540" cy="0"/>
          </a:xfrm>
          <a:prstGeom prst="line">
            <a:avLst/>
          </a:prstGeom>
          <a:ln w="15240">
            <a:solidFill>
              <a:srgbClr val="315E9C"/>
            </a:solidFill>
          </a:ln>
          <a:effectLst/>
        </p:spPr>
      </p:cxnSp>
      <p:sp>
        <p:nvSpPr>
          <p:cNvPr id="42" name="Freeform 41"/>
          <p:cNvSpPr/>
          <p:nvPr/>
        </p:nvSpPr>
        <p:spPr>
          <a:xfrm>
            <a:off x="8305800" y="48387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3" name="Rounded Rectangle 4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4" name="TextBox 43"/>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Inbox + ordering</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Durable accepted message, scope/route and</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committed local sequence</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Acknowledgment replay</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Recipient acknowledgment identity and stable</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response</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Result payloads and jobs</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AtomStorage owns bytes; Execution owns terminal</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job/outbox state</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Exactly-once delivery</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Poll may repeat; no global ordering or guaranteed</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remote arrival</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durable-mailbox/2 · explicit legacy profile retained · wire 1.0.0</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send</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Validate reference and registered</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routes; accept</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Acceptance reports delivery</a:t>
            </a:r>
          </a:p>
        </p:txBody>
      </p:sp>
      <p:sp>
        <p:nvSpPr>
          <p:cNvPr id="13" name="TextBox 12"/>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not-observed</a:t>
            </a:r>
          </a:p>
        </p:txBody>
      </p:sp>
      <p:sp>
        <p:nvSpPr>
          <p:cNvPr id="14" name="Rounded Rectangle 13"/>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5" name="TextBox 14"/>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poll</a:t>
            </a:r>
          </a:p>
        </p:txBody>
      </p:sp>
      <p:sp>
        <p:nvSpPr>
          <p:cNvPr id="16" name="TextBox 15"/>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Return oldest unacknowledged</a:t>
            </a:r>
          </a:p>
        </p:txBody>
      </p:sp>
      <p:sp>
        <p:nvSpPr>
          <p:cNvPr id="17" name="TextBox 16"/>
          <p:cNvSpPr txBox="1"/>
          <p:nvPr/>
        </p:nvSpPr>
        <p:spPr>
          <a:xfrm>
            <a:off x="3718560" y="331470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message for owner</a:t>
            </a:r>
          </a:p>
        </p:txBody>
      </p:sp>
      <p:sp>
        <p:nvSpPr>
          <p:cNvPr id="18" name="TextBox 17"/>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Repeats until acknowledged</a:t>
            </a:r>
          </a:p>
        </p:txBody>
      </p:sp>
      <p:sp>
        <p:nvSpPr>
          <p:cNvPr id="19" name="Rounded Rectangle 18"/>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20" name="TextBox 19"/>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ack</a:t>
            </a:r>
          </a:p>
        </p:txBody>
      </p:sp>
      <p:sp>
        <p:nvSpPr>
          <p:cNvPr id="21" name="TextBox 20"/>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Commit recipient acknowledgment and</a:t>
            </a:r>
          </a:p>
        </p:txBody>
      </p:sp>
      <p:sp>
        <p:nvSpPr>
          <p:cNvPr id="22" name="TextBox 21"/>
          <p:cNvSpPr txBox="1"/>
          <p:nvPr/>
        </p:nvSpPr>
        <p:spPr>
          <a:xfrm>
            <a:off x="3718560" y="4145279"/>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replay</a:t>
            </a:r>
          </a:p>
        </p:txBody>
      </p:sp>
      <p:sp>
        <p:nvSpPr>
          <p:cNvPr id="23" name="TextBox 22"/>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route ownership still checked</a:t>
            </a:r>
          </a:p>
        </p:txBody>
      </p:sp>
      <p:sp>
        <p:nvSpPr>
          <p:cNvPr id="24" name="Rounded Rectangle 23"/>
          <p:cNvSpPr/>
          <p:nvPr/>
        </p:nvSpPr>
        <p:spPr>
          <a:xfrm>
            <a:off x="548640" y="4602480"/>
            <a:ext cx="11094720" cy="792480"/>
          </a:xfrm>
          <a:prstGeom prst="roundRect">
            <a:avLst>
              <a:gd name="adj" fmla="val 5769"/>
            </a:avLst>
          </a:prstGeom>
          <a:solidFill>
            <a:srgbClr val="FFFFFF"/>
          </a:solidFill>
          <a:ln>
            <a:noFill/>
          </a:ln>
          <a:effectLst/>
        </p:spPr>
        <p:txBody>
          <a:bodyPr rtlCol="0" anchor="ctr"/>
          <a:lstStyle/>
          <a:p>
            <a:pPr algn="ctr"/>
          </a:p>
        </p:txBody>
      </p:sp>
      <p:sp>
        <p:nvSpPr>
          <p:cNvPr id="25" name="TextBox 24"/>
          <p:cNvSpPr txBox="1"/>
          <p:nvPr/>
        </p:nvSpPr>
        <p:spPr>
          <a:xfrm>
            <a:off x="670560" y="47320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Trusted accept</a:t>
            </a:r>
          </a:p>
        </p:txBody>
      </p:sp>
      <p:sp>
        <p:nvSpPr>
          <p:cNvPr id="26" name="TextBox 25"/>
          <p:cNvSpPr txBox="1"/>
          <p:nvPr/>
        </p:nvSpPr>
        <p:spPr>
          <a:xfrm>
            <a:off x="3718560" y="47320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CompletionDelivery.accept:</a:t>
            </a:r>
          </a:p>
        </p:txBody>
      </p:sp>
      <p:sp>
        <p:nvSpPr>
          <p:cNvPr id="27" name="TextBox 26"/>
          <p:cNvSpPr txBox="1"/>
          <p:nvPr/>
        </p:nvSpPr>
        <p:spPr>
          <a:xfrm>
            <a:off x="3718560" y="4975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execution-to-mailbox handoff</a:t>
            </a:r>
          </a:p>
        </p:txBody>
      </p:sp>
      <p:sp>
        <p:nvSpPr>
          <p:cNvPr id="28" name="TextBox 27"/>
          <p:cNvSpPr txBox="1"/>
          <p:nvPr/>
        </p:nvSpPr>
        <p:spPr>
          <a:xfrm>
            <a:off x="7795259" y="47320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Return after mailbox commit; not</a:t>
            </a:r>
          </a:p>
        </p:txBody>
      </p:sp>
      <p:sp>
        <p:nvSpPr>
          <p:cNvPr id="29" name="TextBox 28"/>
          <p:cNvSpPr txBox="1"/>
          <p:nvPr/>
        </p:nvSpPr>
        <p:spPr>
          <a:xfrm>
            <a:off x="7795259" y="4975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public dispatch</a:t>
            </a:r>
          </a:p>
        </p:txBody>
      </p:sp>
      <p:sp>
        <p:nvSpPr>
          <p:cNvPr id="30" name="Rounded Rectangle 2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1" name="TextBox 30"/>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Finite configured unacknowledged-route capacity; replay records retained for journal lifetime.</a:t>
            </a:r>
          </a:p>
        </p:txBody>
      </p:sp>
      <p:cxnSp>
        <p:nvCxnSpPr>
          <p:cNvPr id="32" name="Connector 31"/>
          <p:cNvCxnSpPr/>
          <p:nvPr/>
        </p:nvCxnSpPr>
        <p:spPr>
          <a:xfrm>
            <a:off x="548640" y="6393180"/>
            <a:ext cx="11094720" cy="0"/>
          </a:xfrm>
          <a:prstGeom prst="line">
            <a:avLst/>
          </a:prstGeom>
          <a:ln w="7620">
            <a:solidFill>
              <a:srgbClr val="C9D2D4"/>
            </a:solidFill>
          </a:ln>
          <a:effectLst/>
        </p:spPr>
      </p:cxnSp>
      <p:sp>
        <p:nvSpPr>
          <p:cNvPr id="33" name="TextBox 3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34" name="TextBox 3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REAL owner persistence + separate worker process · protocol counterparty is a fixture</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Finish job</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Execution has a</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durable completion</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outbox row.</a:t>
            </a:r>
          </a:p>
        </p:txBody>
      </p:sp>
      <p:cxnSp>
        <p:nvCxnSpPr>
          <p:cNvPr id="11" name="Connector 10"/>
          <p:cNvCxnSpPr/>
          <p:nvPr/>
        </p:nvCxnSpPr>
        <p:spPr>
          <a:xfrm>
            <a:off x="3185160" y="3238500"/>
            <a:ext cx="182880" cy="0"/>
          </a:xfrm>
          <a:prstGeom prst="line">
            <a:avLst/>
          </a:prstGeom>
          <a:ln w="15240">
            <a:solidFill>
              <a:srgbClr val="315E9C"/>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Accept mailbox</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Mailbox commits</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that completion</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independently.</a:t>
            </a:r>
          </a:p>
        </p:txBody>
      </p:sp>
      <p:cxnSp>
        <p:nvCxnSpPr>
          <p:cNvPr id="19" name="Connector 18"/>
          <p:cNvCxnSpPr/>
          <p:nvPr/>
        </p:nvCxnSpPr>
        <p:spPr>
          <a:xfrm>
            <a:off x="6004559" y="3238500"/>
            <a:ext cx="182881" cy="0"/>
          </a:xfrm>
          <a:prstGeom prst="line">
            <a:avLst/>
          </a:prstGeom>
          <a:ln w="15240">
            <a:solidFill>
              <a:srgbClr val="315E9C"/>
            </a:solidFill>
          </a:ln>
          <a:effectLst/>
        </p:spPr>
      </p:cxnSp>
      <p:sp>
        <p:nvSpPr>
          <p:cNvPr id="20" name="Freeform 19"/>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1" name="Rounded Rectangle 20"/>
          <p:cNvSpPr/>
          <p:nvPr/>
        </p:nvSpPr>
        <p:spPr>
          <a:xfrm>
            <a:off x="61874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2" name="TextBox 21"/>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03 · STEP</a:t>
            </a:r>
          </a:p>
        </p:txBody>
      </p:sp>
      <p:sp>
        <p:nvSpPr>
          <p:cNvPr id="23" name="TextBox 22"/>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Lose marking</a:t>
            </a:r>
          </a:p>
        </p:txBody>
      </p:sp>
      <p:sp>
        <p:nvSpPr>
          <p:cNvPr id="24" name="TextBox 23"/>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Worker dies before</a:t>
            </a:r>
          </a:p>
        </p:txBody>
      </p:sp>
      <p:sp>
        <p:nvSpPr>
          <p:cNvPr id="25" name="TextBox 24"/>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marking its outbox</a:t>
            </a:r>
          </a:p>
        </p:txBody>
      </p:sp>
      <p:sp>
        <p:nvSpPr>
          <p:cNvPr id="26" name="TextBox 25"/>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sent.</a:t>
            </a:r>
          </a:p>
        </p:txBody>
      </p:sp>
      <p:cxnSp>
        <p:nvCxnSpPr>
          <p:cNvPr id="27" name="Connector 26"/>
          <p:cNvCxnSpPr/>
          <p:nvPr/>
        </p:nvCxnSpPr>
        <p:spPr>
          <a:xfrm>
            <a:off x="8823960" y="3238500"/>
            <a:ext cx="182880" cy="0"/>
          </a:xfrm>
          <a:prstGeom prst="line">
            <a:avLst/>
          </a:prstGeom>
          <a:ln w="15240">
            <a:solidFill>
              <a:srgbClr val="315E9C"/>
            </a:solidFill>
          </a:ln>
          <a:effectLst/>
        </p:spPr>
      </p:cxnSp>
      <p:sp>
        <p:nvSpPr>
          <p:cNvPr id="28" name="Freeform 27"/>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9" name="Rounded Rectangle 28"/>
          <p:cNvSpPr/>
          <p:nvPr/>
        </p:nvSpPr>
        <p:spPr>
          <a:xfrm>
            <a:off x="90068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30" name="TextBox 29"/>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04 · STEP</a:t>
            </a:r>
          </a:p>
        </p:txBody>
      </p:sp>
      <p:sp>
        <p:nvSpPr>
          <p:cNvPr id="31" name="TextBox 30"/>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Retry handoff</a:t>
            </a:r>
          </a:p>
        </p:txBody>
      </p:sp>
      <p:sp>
        <p:nvSpPr>
          <p:cNvPr id="32" name="TextBox 31"/>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Same message is</a:t>
            </a:r>
          </a:p>
        </p:txBody>
      </p:sp>
      <p:sp>
        <p:nvSpPr>
          <p:cNvPr id="33" name="TextBox 32"/>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accepted once;</a:t>
            </a:r>
          </a:p>
        </p:txBody>
      </p:sp>
      <p:sp>
        <p:nvSpPr>
          <p:cNvPr id="34" name="TextBox 33"/>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recipient polls and</a:t>
            </a:r>
          </a:p>
        </p:txBody>
      </p:sp>
      <p:sp>
        <p:nvSpPr>
          <p:cNvPr id="35" name="TextBox 34"/>
          <p:cNvSpPr txBox="1"/>
          <p:nvPr/>
        </p:nvSpPr>
        <p:spPr>
          <a:xfrm>
            <a:off x="9174480" y="3613404"/>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acks.</a:t>
            </a:r>
          </a:p>
        </p:txBody>
      </p:sp>
      <p:sp>
        <p:nvSpPr>
          <p:cNvPr id="36" name="Rounded Rectangle 35"/>
          <p:cNvSpPr/>
          <p:nvPr/>
        </p:nvSpPr>
        <p:spPr>
          <a:xfrm>
            <a:off x="548640" y="486156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37" name="TextBox 36"/>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What the example establishes</a:t>
            </a:r>
          </a:p>
        </p:txBody>
      </p:sp>
      <p:sp>
        <p:nvSpPr>
          <p:cNvPr id="38" name="TextBox 37"/>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durable receipt must say which delivery fact was observed.</a:t>
            </a:r>
          </a:p>
        </p:txBody>
      </p:sp>
      <p:cxnSp>
        <p:nvCxnSpPr>
          <p:cNvPr id="39" name="Connector 38"/>
          <p:cNvCxnSpPr/>
          <p:nvPr/>
        </p:nvCxnSpPr>
        <p:spPr>
          <a:xfrm>
            <a:off x="548640" y="6393180"/>
            <a:ext cx="11094720" cy="0"/>
          </a:xfrm>
          <a:prstGeom prst="line">
            <a:avLst/>
          </a:prstGeom>
          <a:ln w="7620">
            <a:solidFill>
              <a:srgbClr val="C9D2D4"/>
            </a:solidFill>
          </a:ln>
          <a:effectLst/>
        </p:spPr>
      </p:cxnSp>
      <p:sp>
        <p:nvSpPr>
          <p:cNvPr id="40" name="TextBox 3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41" name="TextBox 4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Acceptance before reply</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success receipt follows the mailbox commit.</a:t>
            </a:r>
          </a:p>
        </p:txBody>
      </p:sp>
      <p:sp>
        <p:nvSpPr>
          <p:cNvPr id="9" name="Rounded Rectangle 8"/>
          <p:cNvSpPr/>
          <p:nvPr/>
        </p:nvSpPr>
        <p:spPr>
          <a:xfrm>
            <a:off x="621792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0" name="TextBox 9"/>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I2</a:t>
            </a:r>
          </a:p>
        </p:txBody>
      </p:sp>
      <p:sp>
        <p:nvSpPr>
          <p:cNvPr id="11" name="TextBox 10"/>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Repeat until acknowledgment</a:t>
            </a:r>
          </a:p>
        </p:txBody>
      </p:sp>
      <p:sp>
        <p:nvSpPr>
          <p:cNvPr id="12" name="TextBox 11"/>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Poll observation does not consume the delivery.</a:t>
            </a:r>
          </a:p>
        </p:txBody>
      </p:sp>
      <p:sp>
        <p:nvSpPr>
          <p:cNvPr id="13" name="Rounded Rectangle 12"/>
          <p:cNvSpPr/>
          <p:nvPr/>
        </p:nvSpPr>
        <p:spPr>
          <a:xfrm>
            <a:off x="54864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4" name="TextBox 13"/>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I3</a:t>
            </a:r>
          </a:p>
        </p:txBody>
      </p:sp>
      <p:sp>
        <p:nvSpPr>
          <p:cNvPr id="15" name="TextBox 14"/>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Scoped recipient control</a:t>
            </a:r>
          </a:p>
        </p:txBody>
      </p:sp>
      <p:sp>
        <p:nvSpPr>
          <p:cNvPr id="16" name="TextBox 15"/>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Only the registered owner can poll/ack its route.</a:t>
            </a:r>
          </a:p>
        </p:txBody>
      </p:sp>
      <p:sp>
        <p:nvSpPr>
          <p:cNvPr id="17" name="Rounded Rectangle 16"/>
          <p:cNvSpPr/>
          <p:nvPr/>
        </p:nvSpPr>
        <p:spPr>
          <a:xfrm>
            <a:off x="621792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8" name="TextBox 17"/>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I4</a:t>
            </a:r>
          </a:p>
        </p:txBody>
      </p:sp>
      <p:sp>
        <p:nvSpPr>
          <p:cNvPr id="19" name="TextBox 18"/>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Semantic replay</a:t>
            </a:r>
          </a:p>
        </p:txBody>
      </p:sp>
      <p:sp>
        <p:nvSpPr>
          <p:cNvPr id="20" name="TextBox 19"/>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Same delivery identity/body replays; changed</a:t>
            </a:r>
          </a:p>
        </p:txBody>
      </p:sp>
      <p:sp>
        <p:nvSpPr>
          <p:cNvPr id="21" name="TextBox 20"/>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meaning conflicts.</a:t>
            </a:r>
          </a:p>
        </p:txBody>
      </p:sp>
      <p:cxnSp>
        <p:nvCxnSpPr>
          <p:cNvPr id="22" name="Connector 21"/>
          <p:cNvCxnSpPr/>
          <p:nvPr/>
        </p:nvCxnSpPr>
        <p:spPr>
          <a:xfrm>
            <a:off x="548640" y="6393180"/>
            <a:ext cx="11094720" cy="0"/>
          </a:xfrm>
          <a:prstGeom prst="line">
            <a:avLst/>
          </a:prstGeom>
          <a:ln w="7620">
            <a:solidFill>
              <a:srgbClr val="C9D2D4"/>
            </a:solidFill>
          </a:ln>
          <a:effectLst/>
        </p:spPr>
      </p:cxnSp>
      <p:sp>
        <p:nvSpPr>
          <p:cNvPr id="23" name="TextBox 2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24" name="TextBox 2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Mailbox accepted; outbox not</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marked</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Execution retries trusted accept with the</a:t>
            </a:r>
          </a:p>
        </p:txBody>
      </p:sp>
      <p:sp>
        <p:nvSpPr>
          <p:cNvPr id="12" name="TextBox 11"/>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same identity.</a:t>
            </a:r>
          </a:p>
        </p:txBody>
      </p:sp>
      <p:sp>
        <p:nvSpPr>
          <p:cNvPr id="13" name="TextBox 12"/>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duplicate logical message</a:t>
            </a:r>
          </a:p>
        </p:txBody>
      </p:sp>
      <p:sp>
        <p:nvSpPr>
          <p:cNvPr id="14" name="Rounded Rectangle 13"/>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5" name="TextBox 14"/>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Acknowledgment reply lost</a:t>
            </a:r>
          </a:p>
        </p:txBody>
      </p:sp>
      <p:sp>
        <p:nvSpPr>
          <p:cNvPr id="16" name="TextBox 15"/>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Retry recovers durable acknowledgment</a:t>
            </a:r>
          </a:p>
        </p:txBody>
      </p:sp>
      <p:sp>
        <p:nvSpPr>
          <p:cNvPr id="17" name="TextBox 16"/>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after reauthorization.</a:t>
            </a:r>
          </a:p>
        </p:txBody>
      </p:sp>
      <p:sp>
        <p:nvSpPr>
          <p:cNvPr id="18" name="TextBox 17"/>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resurrection of consumed</a:t>
            </a:r>
          </a:p>
        </p:txBody>
      </p:sp>
      <p:sp>
        <p:nvSpPr>
          <p:cNvPr id="19" name="TextBox 18"/>
          <p:cNvSpPr txBox="1"/>
          <p:nvPr/>
        </p:nvSpPr>
        <p:spPr>
          <a:xfrm>
            <a:off x="8595360" y="358901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delivery</a:t>
            </a:r>
          </a:p>
        </p:txBody>
      </p:sp>
      <p:sp>
        <p:nvSpPr>
          <p:cNvPr id="20" name="Rounded Rectangle 19"/>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1" name="TextBox 20"/>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Full / revoked reply route</a:t>
            </a:r>
          </a:p>
        </p:txBody>
      </p:sp>
      <p:sp>
        <p:nvSpPr>
          <p:cNvPr id="22" name="TextBox 21"/>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Outbox remains pending until a valid retry</a:t>
            </a:r>
          </a:p>
        </p:txBody>
      </p:sp>
      <p:sp>
        <p:nvSpPr>
          <p:cNvPr id="23" name="TextBox 22"/>
          <p:cNvSpPr txBox="1"/>
          <p:nvPr/>
        </p:nvSpPr>
        <p:spPr>
          <a:xfrm>
            <a:off x="4137660" y="46939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can succeed.</a:t>
            </a:r>
          </a:p>
        </p:txBody>
      </p:sp>
      <p:sp>
        <p:nvSpPr>
          <p:cNvPr id="24" name="TextBox 23"/>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dropped completion</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2</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Messages in the preserved</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inspect workflow</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One reference share + one</a:t>
            </a:r>
          </a:p>
        </p:txBody>
      </p:sp>
      <p:sp>
        <p:nvSpPr>
          <p:cNvPr id="10" name="TextBox 9"/>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completion</a:t>
            </a:r>
          </a:p>
        </p:txBody>
      </p:sp>
      <p:sp>
        <p:nvSpPr>
          <p:cNvPr id="11" name="Rounded Rectangle 10"/>
          <p:cNvSpPr/>
          <p:nvPr/>
        </p:nvSpPr>
        <p:spPr>
          <a:xfrm>
            <a:off x="432816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2" name="TextBox 11"/>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0</a:t>
            </a:r>
          </a:p>
        </p:txBody>
      </p:sp>
      <p:sp>
        <p:nvSpPr>
          <p:cNvPr id="13" name="TextBox 12"/>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Pending outbox after</a:t>
            </a:r>
          </a:p>
        </p:txBody>
      </p:sp>
      <p:sp>
        <p:nvSpPr>
          <p:cNvPr id="14" name="TextBox 13"/>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recovery demos</a:t>
            </a:r>
          </a:p>
        </p:txBody>
      </p:sp>
      <p:sp>
        <p:nvSpPr>
          <p:cNvPr id="15" name="TextBox 14"/>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Observed logical handoff completion</a:t>
            </a:r>
          </a:p>
        </p:txBody>
      </p:sp>
      <p:sp>
        <p:nvSpPr>
          <p:cNvPr id="16" name="Rounded Rectangle 15"/>
          <p:cNvSpPr/>
          <p:nvPr/>
        </p:nvSpPr>
        <p:spPr>
          <a:xfrm>
            <a:off x="810768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7" name="TextBox 16"/>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FIFO</a:t>
            </a:r>
          </a:p>
        </p:txBody>
      </p:sp>
      <p:sp>
        <p:nvSpPr>
          <p:cNvPr id="18" name="TextBox 17"/>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Committed inbox sequence</a:t>
            </a:r>
          </a:p>
        </p:txBody>
      </p:sp>
      <p:sp>
        <p:nvSpPr>
          <p:cNvPr id="19" name="TextBox 18"/>
          <p:cNvSpPr txBox="1"/>
          <p:nvPr/>
        </p:nvSpPr>
        <p:spPr>
          <a:xfrm>
            <a:off x="8282939"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per route</a:t>
            </a:r>
          </a:p>
        </p:txBody>
      </p:sp>
      <p:sp>
        <p:nvSpPr>
          <p:cNvPr id="20" name="TextBox 19"/>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Ordering contract, not global</a:t>
            </a:r>
          </a:p>
        </p:txBody>
      </p:sp>
      <p:sp>
        <p:nvSpPr>
          <p:cNvPr id="21" name="TextBox 20"/>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message order</a:t>
            </a:r>
          </a:p>
        </p:txBody>
      </p:sp>
      <p:sp>
        <p:nvSpPr>
          <p:cNvPr id="22" name="TextBox 21"/>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delivery/replay observations from shared workflows. No isolated mailbox throughput, delivery p95,</a:t>
            </a:r>
          </a:p>
        </p:txBody>
      </p:sp>
      <p:sp>
        <p:nvSpPr>
          <p:cNvPr id="23" name="TextBox 22"/>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multi-consumer scale or network-loss benchmark is recorded.</a:t>
            </a:r>
          </a:p>
        </p:txBody>
      </p:sp>
      <p:sp>
        <p:nvSpPr>
          <p:cNvPr id="24" name="Rounded Rectangle 23"/>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5" name="TextBox 24"/>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6" name="TextBox 25"/>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vary backlog, ack delay, replay ratio and route capacity; measure send/poll/ack p50/p95, backlog age and</a:t>
            </a:r>
          </a:p>
        </p:txBody>
      </p:sp>
      <p:sp>
        <p:nvSpPr>
          <p:cNvPr id="27" name="TextBox 26"/>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duplicate physical deliveries under fixed semantics.</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SQLite mailbox owner and actual native caller binding; real process restarts.</a:t>
            </a:r>
          </a:p>
        </p:txBody>
      </p:sp>
      <p:sp>
        <p:nvSpPr>
          <p:cNvPr id="10" name="Rounded Rectangle 9"/>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1" name="TextBox 10"/>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2" name="TextBox 11"/>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3" name="TextBox 12"/>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Protocol peer/counterparty, generated messages, local route policy and injected</a:t>
            </a:r>
          </a:p>
        </p:txBody>
      </p:sp>
      <p:sp>
        <p:nvSpPr>
          <p:cNvPr id="14" name="TextBox 13"/>
          <p:cNvSpPr txBox="1"/>
          <p:nvPr/>
        </p:nvSpPr>
        <p:spPr>
          <a:xfrm>
            <a:off x="3566160" y="33375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faults.</a:t>
            </a:r>
          </a:p>
        </p:txBody>
      </p:sp>
      <p:sp>
        <p:nvSpPr>
          <p:cNvPr id="15" name="Rounded Rectangle 14"/>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6" name="TextBox 15"/>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7" name="TextBox 16"/>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8" name="TextBox 17"/>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current gate blocked; a full or revoked route intentionally delays</a:t>
            </a:r>
          </a:p>
        </p:txBody>
      </p:sp>
      <p:sp>
        <p:nvSpPr>
          <p:cNvPr id="19" name="TextBox 18"/>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completion.</a:t>
            </a:r>
          </a:p>
        </p:txBody>
      </p:sp>
      <p:sp>
        <p:nvSpPr>
          <p:cNvPr id="20" name="Rounded Rectangle 19"/>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1" name="TextBox 20"/>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2" name="TextBox 21"/>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Two production agents, remote brokers, distributed ordering, power loss and</a:t>
            </a:r>
          </a:p>
        </p:txBody>
      </p:sp>
      <p:sp>
        <p:nvSpPr>
          <p:cNvPr id="23" name="TextBox 22"/>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general messaging federation.</a:t>
            </a:r>
          </a:p>
        </p:txBody>
      </p:sp>
      <p:sp>
        <p:nvSpPr>
          <p:cNvPr id="24" name="Rounded Rectangle 2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5" name="TextBox 24"/>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 backlog and</a:t>
            </a:r>
          </a:p>
        </p:txBody>
      </p:sp>
      <p:sp>
        <p:nvSpPr>
          <p:cNvPr id="10" name="TextBox 9"/>
          <p:cNvSpPr txBox="1"/>
          <p:nvPr/>
        </p:nvSpPr>
        <p:spPr>
          <a:xfrm>
            <a:off x="670560" y="248412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replay costs</a:t>
            </a:r>
          </a:p>
        </p:txBody>
      </p:sp>
      <p:sp>
        <p:nvSpPr>
          <p:cNvPr id="11" name="TextBox 10"/>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Rate-controlled sends/acks with fixed</a:t>
            </a:r>
          </a:p>
        </p:txBody>
      </p:sp>
      <p:sp>
        <p:nvSpPr>
          <p:cNvPr id="12" name="TextBox 11"/>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capacity</a:t>
            </a:r>
          </a:p>
        </p:txBody>
      </p:sp>
      <p:sp>
        <p:nvSpPr>
          <p:cNvPr id="13" name="TextBox 12"/>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loss while reporting tail latency</a:t>
            </a:r>
          </a:p>
        </p:txBody>
      </p:sp>
      <p:sp>
        <p:nvSpPr>
          <p:cNvPr id="14" name="TextBox 13"/>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and queue age</a:t>
            </a:r>
          </a:p>
        </p:txBody>
      </p:sp>
      <p:sp>
        <p:nvSpPr>
          <p:cNvPr id="15" name="Rounded Rectangle 14"/>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6" name="TextBox 15"/>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Qualify a remote transport</a:t>
            </a:r>
          </a:p>
        </p:txBody>
      </p:sp>
      <p:sp>
        <p:nvSpPr>
          <p:cNvPr id="17" name="TextBox 16"/>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Preserve authority, acceptance and</a:t>
            </a:r>
          </a:p>
        </p:txBody>
      </p:sp>
      <p:sp>
        <p:nvSpPr>
          <p:cNvPr id="18" name="TextBox 17"/>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acknowledgment meanings</a:t>
            </a:r>
          </a:p>
        </p:txBody>
      </p:sp>
      <p:sp>
        <p:nvSpPr>
          <p:cNvPr id="19" name="TextBox 18"/>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Failure injection across actual</a:t>
            </a:r>
          </a:p>
        </p:txBody>
      </p:sp>
      <p:sp>
        <p:nvSpPr>
          <p:cNvPr id="20" name="TextBox 19"/>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network partitions</a:t>
            </a:r>
          </a:p>
        </p:txBody>
      </p:sp>
      <p:sp>
        <p:nvSpPr>
          <p:cNvPr id="21" name="Rounded Rectangle 20"/>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2" name="TextBox 21"/>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Specify</a:t>
            </a:r>
          </a:p>
        </p:txBody>
      </p:sp>
      <p:sp>
        <p:nvSpPr>
          <p:cNvPr id="23" name="TextBox 22"/>
          <p:cNvSpPr txBox="1"/>
          <p:nvPr/>
        </p:nvSpPr>
        <p:spPr>
          <a:xfrm>
            <a:off x="670560" y="46786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retention/compaction</a:t>
            </a:r>
          </a:p>
        </p:txBody>
      </p:sp>
      <p:sp>
        <p:nvSpPr>
          <p:cNvPr id="24" name="TextBox 23"/>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Replay lifetime and acknowledgment</a:t>
            </a:r>
          </a:p>
        </p:txBody>
      </p:sp>
      <p:sp>
        <p:nvSpPr>
          <p:cNvPr id="25" name="TextBox 24"/>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contract first</a:t>
            </a:r>
          </a:p>
        </p:txBody>
      </p:sp>
      <p:sp>
        <p:nvSpPr>
          <p:cNvPr id="26" name="TextBox 25"/>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duplicate acceptance after</a:t>
            </a:r>
          </a:p>
        </p:txBody>
      </p:sp>
      <p:sp>
        <p:nvSpPr>
          <p:cNvPr id="27" name="TextBox 26"/>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tombstone expiry</a:t>
            </a:r>
          </a:p>
        </p:txBody>
      </p:sp>
      <p:sp>
        <p:nvSpPr>
          <p:cNvPr id="28" name="Rounded Rectangle 2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9" name="TextBox 28"/>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30" name="Connector 29"/>
          <p:cNvCxnSpPr/>
          <p:nvPr/>
        </p:nvCxnSpPr>
        <p:spPr>
          <a:xfrm>
            <a:off x="548640" y="6393180"/>
            <a:ext cx="11094720" cy="0"/>
          </a:xfrm>
          <a:prstGeom prst="line">
            <a:avLst/>
          </a:prstGeom>
          <a:ln w="7620">
            <a:solidFill>
              <a:srgbClr val="C9D2D4"/>
            </a:solidFill>
          </a:ln>
          <a:effectLst/>
        </p:spPr>
      </p:cxnSp>
      <p:sp>
        <p:nvSpPr>
          <p:cNvPr id="31" name="TextBox 3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32" name="TextBox 3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 durable receipt must say which delivery fact was observed.</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scripts/verify_m11.py</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Runs the provider/binding conformance matrix and real DeTTa gate when available. Fixture-only is a distinct</a:t>
            </a:r>
          </a:p>
        </p:txBody>
      </p:sp>
      <p:sp>
        <p:nvSpPr>
          <p:cNvPr id="11" name="TextBox 10"/>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mode; it is not native Hive proof.</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fusion/messaging.py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fusion/execution.py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tests/test_contract.py</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tests/test_m11.py</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Agent messaging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Agent messaging</dc:title>
  <dc:subject>Own scoped mailbox acceptance, committed inbox ordering, repeated polling and acknowledgment replay.</dc:subject>
  <dc:creator>Omega × ASI module-interface project</dc:creator>
  <cp:keywords>Omega, ASI, M5, ELI16, Agent messaging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